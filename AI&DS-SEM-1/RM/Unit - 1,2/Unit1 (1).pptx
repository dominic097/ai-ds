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405" r:id="rId4"/>
    <p:sldId id="406" r:id="rId5"/>
    <p:sldId id="413" r:id="rId6"/>
    <p:sldId id="407" r:id="rId7"/>
    <p:sldId id="258" r:id="rId8"/>
    <p:sldId id="260" r:id="rId9"/>
    <p:sldId id="408" r:id="rId10"/>
    <p:sldId id="259" r:id="rId11"/>
    <p:sldId id="409" r:id="rId12"/>
    <p:sldId id="266" r:id="rId13"/>
    <p:sldId id="262" r:id="rId14"/>
    <p:sldId id="264" r:id="rId15"/>
    <p:sldId id="265" r:id="rId16"/>
    <p:sldId id="272" r:id="rId17"/>
    <p:sldId id="410" r:id="rId18"/>
    <p:sldId id="411" r:id="rId19"/>
    <p:sldId id="412" r:id="rId20"/>
    <p:sldId id="273" r:id="rId21"/>
    <p:sldId id="274" r:id="rId22"/>
    <p:sldId id="275" r:id="rId23"/>
    <p:sldId id="276" r:id="rId24"/>
    <p:sldId id="278" r:id="rId25"/>
    <p:sldId id="279" r:id="rId26"/>
    <p:sldId id="280" r:id="rId27"/>
    <p:sldId id="281" r:id="rId28"/>
    <p:sldId id="282" r:id="rId29"/>
    <p:sldId id="283" r:id="rId30"/>
    <p:sldId id="284" r:id="rId31"/>
    <p:sldId id="285" r:id="rId32"/>
    <p:sldId id="286" r:id="rId33"/>
    <p:sldId id="287" r:id="rId34"/>
    <p:sldId id="288" r:id="rId35"/>
    <p:sldId id="290" r:id="rId36"/>
    <p:sldId id="291" r:id="rId37"/>
    <p:sldId id="293" r:id="rId38"/>
    <p:sldId id="294" r:id="rId39"/>
    <p:sldId id="298" r:id="rId40"/>
    <p:sldId id="299" r:id="rId41"/>
    <p:sldId id="301" r:id="rId42"/>
    <p:sldId id="307" r:id="rId43"/>
    <p:sldId id="308" r:id="rId44"/>
    <p:sldId id="309" r:id="rId45"/>
    <p:sldId id="310" r:id="rId46"/>
    <p:sldId id="311" r:id="rId47"/>
    <p:sldId id="312" r:id="rId48"/>
    <p:sldId id="313" r:id="rId49"/>
    <p:sldId id="314" r:id="rId50"/>
    <p:sldId id="315" r:id="rId51"/>
    <p:sldId id="316" r:id="rId52"/>
    <p:sldId id="317" r:id="rId53"/>
    <p:sldId id="318" r:id="rId54"/>
    <p:sldId id="323" r:id="rId55"/>
    <p:sldId id="324" r:id="rId56"/>
    <p:sldId id="325" r:id="rId57"/>
    <p:sldId id="326" r:id="rId58"/>
    <p:sldId id="327" r:id="rId59"/>
    <p:sldId id="328" r:id="rId60"/>
    <p:sldId id="329" r:id="rId61"/>
    <p:sldId id="330" r:id="rId62"/>
    <p:sldId id="332" r:id="rId63"/>
    <p:sldId id="333" r:id="rId64"/>
    <p:sldId id="334" r:id="rId65"/>
    <p:sldId id="335" r:id="rId66"/>
    <p:sldId id="336" r:id="rId67"/>
    <p:sldId id="337" r:id="rId68"/>
    <p:sldId id="339" r:id="rId69"/>
    <p:sldId id="414" r:id="rId70"/>
    <p:sldId id="417" r:id="rId71"/>
    <p:sldId id="415" r:id="rId72"/>
    <p:sldId id="416" r:id="rId73"/>
    <p:sldId id="340" r:id="rId74"/>
    <p:sldId id="261" r:id="rId75"/>
    <p:sldId id="341" r:id="rId76"/>
    <p:sldId id="263" r:id="rId77"/>
    <p:sldId id="342" r:id="rId78"/>
    <p:sldId id="343" r:id="rId79"/>
    <p:sldId id="344" r:id="rId80"/>
    <p:sldId id="267" r:id="rId81"/>
    <p:sldId id="403" r:id="rId82"/>
    <p:sldId id="268" r:id="rId83"/>
    <p:sldId id="269" r:id="rId84"/>
    <p:sldId id="270" r:id="rId85"/>
    <p:sldId id="271" r:id="rId86"/>
    <p:sldId id="345" r:id="rId87"/>
    <p:sldId id="346" r:id="rId88"/>
    <p:sldId id="347" r:id="rId89"/>
    <p:sldId id="277" r:id="rId90"/>
    <p:sldId id="350" r:id="rId91"/>
    <p:sldId id="351" r:id="rId92"/>
    <p:sldId id="353" r:id="rId93"/>
    <p:sldId id="354" r:id="rId94"/>
    <p:sldId id="355" r:id="rId95"/>
    <p:sldId id="356" r:id="rId96"/>
    <p:sldId id="362" r:id="rId97"/>
    <p:sldId id="292" r:id="rId98"/>
    <p:sldId id="363" r:id="rId99"/>
    <p:sldId id="364" r:id="rId100"/>
    <p:sldId id="295" r:id="rId101"/>
    <p:sldId id="296" r:id="rId102"/>
    <p:sldId id="297" r:id="rId103"/>
    <p:sldId id="365" r:id="rId104"/>
    <p:sldId id="366" r:id="rId105"/>
    <p:sldId id="300" r:id="rId106"/>
    <p:sldId id="367" r:id="rId107"/>
    <p:sldId id="302" r:id="rId108"/>
    <p:sldId id="303" r:id="rId109"/>
    <p:sldId id="304" r:id="rId110"/>
    <p:sldId id="305" r:id="rId111"/>
    <p:sldId id="369" r:id="rId112"/>
    <p:sldId id="370" r:id="rId113"/>
    <p:sldId id="371" r:id="rId114"/>
    <p:sldId id="374" r:id="rId115"/>
    <p:sldId id="375" r:id="rId116"/>
    <p:sldId id="376" r:id="rId117"/>
    <p:sldId id="319" r:id="rId118"/>
    <p:sldId id="320" r:id="rId119"/>
    <p:sldId id="321" r:id="rId120"/>
    <p:sldId id="322" r:id="rId121"/>
    <p:sldId id="379" r:id="rId122"/>
    <p:sldId id="380" r:id="rId123"/>
    <p:sldId id="381" r:id="rId124"/>
    <p:sldId id="382" r:id="rId125"/>
    <p:sldId id="386" r:id="rId126"/>
    <p:sldId id="331" r:id="rId127"/>
    <p:sldId id="387" r:id="rId128"/>
    <p:sldId id="388" r:id="rId129"/>
    <p:sldId id="389" r:id="rId130"/>
    <p:sldId id="390" r:id="rId131"/>
    <p:sldId id="391" r:id="rId132"/>
    <p:sldId id="392" r:id="rId133"/>
    <p:sldId id="393" r:id="rId134"/>
    <p:sldId id="394" r:id="rId135"/>
    <p:sldId id="395" r:id="rId136"/>
    <p:sldId id="396" r:id="rId137"/>
    <p:sldId id="400" r:id="rId138"/>
    <p:sldId id="401" r:id="rId139"/>
    <p:sldId id="402" r:id="rId1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66"/>
    <a:srgbClr val="CC66FF"/>
    <a:srgbClr val="CC0099"/>
    <a:srgbClr val="008000"/>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showGuides="1">
      <p:cViewPr>
        <p:scale>
          <a:sx n="70" d="100"/>
          <a:sy n="70" d="100"/>
        </p:scale>
        <p:origin x="468" y="-164"/>
      </p:cViewPr>
      <p:guideLst>
        <p:guide orient="horz" pos="2137"/>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68270A0-2EE0-4A8E-BBDE-1F8EBF3E5407}" type="datetimeFigureOut">
              <a:rPr lang="en-IN" smtClean="0"/>
              <a:t>23-08-2025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6FC40B-7170-4FFF-904A-B14CE0A09475}" type="slidenum">
              <a:rPr lang="en-IN" smtClean="0"/>
              <a:t>‹#›</a:t>
            </a:fld>
            <a:endParaRPr lang="en-IN"/>
          </a:p>
        </p:txBody>
      </p:sp>
    </p:spTree>
    <p:extLst>
      <p:ext uri="{BB962C8B-B14F-4D97-AF65-F5344CB8AC3E}">
        <p14:creationId xmlns:p14="http://schemas.microsoft.com/office/powerpoint/2010/main" val="224737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68270A0-2EE0-4A8E-BBDE-1F8EBF3E5407}" type="datetimeFigureOut">
              <a:rPr lang="en-IN" smtClean="0"/>
              <a:t>23-08-2025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6FC40B-7170-4FFF-904A-B14CE0A09475}" type="slidenum">
              <a:rPr lang="en-IN" smtClean="0"/>
              <a:t>‹#›</a:t>
            </a:fld>
            <a:endParaRPr lang="en-IN"/>
          </a:p>
        </p:txBody>
      </p:sp>
    </p:spTree>
    <p:extLst>
      <p:ext uri="{BB962C8B-B14F-4D97-AF65-F5344CB8AC3E}">
        <p14:creationId xmlns:p14="http://schemas.microsoft.com/office/powerpoint/2010/main" val="2254729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68270A0-2EE0-4A8E-BBDE-1F8EBF3E5407}" type="datetimeFigureOut">
              <a:rPr lang="en-IN" smtClean="0"/>
              <a:t>23-08-2025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6FC40B-7170-4FFF-904A-B14CE0A09475}" type="slidenum">
              <a:rPr lang="en-IN" smtClean="0"/>
              <a:t>‹#›</a:t>
            </a:fld>
            <a:endParaRPr lang="en-IN"/>
          </a:p>
        </p:txBody>
      </p:sp>
    </p:spTree>
    <p:extLst>
      <p:ext uri="{BB962C8B-B14F-4D97-AF65-F5344CB8AC3E}">
        <p14:creationId xmlns:p14="http://schemas.microsoft.com/office/powerpoint/2010/main" val="1661032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668270A0-2EE0-4A8E-BBDE-1F8EBF3E5407}" type="datetimeFigureOut">
              <a:rPr lang="en-IN" smtClean="0"/>
              <a:t>23-08-2025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F6FC40B-7170-4FFF-904A-B14CE0A09475}" type="slidenum">
              <a:rPr lang="en-IN" smtClean="0"/>
              <a:t>‹#›</a:t>
            </a:fld>
            <a:endParaRPr lang="en-IN"/>
          </a:p>
        </p:txBody>
      </p:sp>
    </p:spTree>
    <p:extLst>
      <p:ext uri="{BB962C8B-B14F-4D97-AF65-F5344CB8AC3E}">
        <p14:creationId xmlns:p14="http://schemas.microsoft.com/office/powerpoint/2010/main" val="182683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668270A0-2EE0-4A8E-BBDE-1F8EBF3E5407}" type="datetimeFigureOut">
              <a:rPr lang="en-IN" smtClean="0"/>
              <a:t>23-08-2025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F6FC40B-7170-4FFF-904A-B14CE0A09475}" type="slidenum">
              <a:rPr lang="en-IN" smtClean="0"/>
              <a:t>‹#›</a:t>
            </a:fld>
            <a:endParaRPr lang="en-IN"/>
          </a:p>
        </p:txBody>
      </p:sp>
    </p:spTree>
    <p:extLst>
      <p:ext uri="{BB962C8B-B14F-4D97-AF65-F5344CB8AC3E}">
        <p14:creationId xmlns:p14="http://schemas.microsoft.com/office/powerpoint/2010/main" val="65554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68270A0-2EE0-4A8E-BBDE-1F8EBF3E5407}" type="datetimeFigureOut">
              <a:rPr lang="en-IN" smtClean="0"/>
              <a:t>23-08-2025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F6FC40B-7170-4FFF-904A-B14CE0A09475}" type="slidenum">
              <a:rPr lang="en-IN" smtClean="0"/>
              <a:t>‹#›</a:t>
            </a:fld>
            <a:endParaRPr lang="en-IN"/>
          </a:p>
        </p:txBody>
      </p:sp>
    </p:spTree>
    <p:extLst>
      <p:ext uri="{BB962C8B-B14F-4D97-AF65-F5344CB8AC3E}">
        <p14:creationId xmlns:p14="http://schemas.microsoft.com/office/powerpoint/2010/main" val="638467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8270A0-2EE0-4A8E-BBDE-1F8EBF3E5407}" type="datetimeFigureOut">
              <a:rPr lang="en-IN" smtClean="0"/>
              <a:t>23-08-2025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F6FC40B-7170-4FFF-904A-B14CE0A09475}" type="slidenum">
              <a:rPr lang="en-IN" smtClean="0"/>
              <a:t>‹#›</a:t>
            </a:fld>
            <a:endParaRPr lang="en-IN"/>
          </a:p>
        </p:txBody>
      </p:sp>
    </p:spTree>
    <p:extLst>
      <p:ext uri="{BB962C8B-B14F-4D97-AF65-F5344CB8AC3E}">
        <p14:creationId xmlns:p14="http://schemas.microsoft.com/office/powerpoint/2010/main" val="403201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68270A0-2EE0-4A8E-BBDE-1F8EBF3E5407}" type="datetimeFigureOut">
              <a:rPr lang="en-IN" smtClean="0"/>
              <a:t>23-08-2025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F6FC40B-7170-4FFF-904A-B14CE0A09475}" type="slidenum">
              <a:rPr lang="en-IN" smtClean="0"/>
              <a:t>‹#›</a:t>
            </a:fld>
            <a:endParaRPr lang="en-IN"/>
          </a:p>
        </p:txBody>
      </p:sp>
    </p:spTree>
    <p:extLst>
      <p:ext uri="{BB962C8B-B14F-4D97-AF65-F5344CB8AC3E}">
        <p14:creationId xmlns:p14="http://schemas.microsoft.com/office/powerpoint/2010/main" val="8853628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68270A0-2EE0-4A8E-BBDE-1F8EBF3E5407}" type="datetimeFigureOut">
              <a:rPr lang="en-IN" smtClean="0"/>
              <a:t>23-08-2025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F6FC40B-7170-4FFF-904A-B14CE0A09475}" type="slidenum">
              <a:rPr lang="en-IN" smtClean="0"/>
              <a:t>‹#›</a:t>
            </a:fld>
            <a:endParaRPr lang="en-IN"/>
          </a:p>
        </p:txBody>
      </p:sp>
    </p:spTree>
    <p:extLst>
      <p:ext uri="{BB962C8B-B14F-4D97-AF65-F5344CB8AC3E}">
        <p14:creationId xmlns:p14="http://schemas.microsoft.com/office/powerpoint/2010/main" val="1451745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68270A0-2EE0-4A8E-BBDE-1F8EBF3E5407}" type="datetimeFigureOut">
              <a:rPr lang="en-IN" smtClean="0"/>
              <a:t>23-08-2025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6FC40B-7170-4FFF-904A-B14CE0A09475}" type="slidenum">
              <a:rPr lang="en-IN" smtClean="0"/>
              <a:t>‹#›</a:t>
            </a:fld>
            <a:endParaRPr lang="en-IN"/>
          </a:p>
        </p:txBody>
      </p:sp>
    </p:spTree>
    <p:extLst>
      <p:ext uri="{BB962C8B-B14F-4D97-AF65-F5344CB8AC3E}">
        <p14:creationId xmlns:p14="http://schemas.microsoft.com/office/powerpoint/2010/main" val="4170596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68270A0-2EE0-4A8E-BBDE-1F8EBF3E5407}" type="datetimeFigureOut">
              <a:rPr lang="en-IN" smtClean="0"/>
              <a:t>23-08-2025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6FC40B-7170-4FFF-904A-B14CE0A09475}" type="slidenum">
              <a:rPr lang="en-IN" smtClean="0"/>
              <a:t>‹#›</a:t>
            </a:fld>
            <a:endParaRPr lang="en-IN"/>
          </a:p>
        </p:txBody>
      </p:sp>
    </p:spTree>
    <p:extLst>
      <p:ext uri="{BB962C8B-B14F-4D97-AF65-F5344CB8AC3E}">
        <p14:creationId xmlns:p14="http://schemas.microsoft.com/office/powerpoint/2010/main" val="3678096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8270A0-2EE0-4A8E-BBDE-1F8EBF3E5407}" type="datetimeFigureOut">
              <a:rPr lang="en-IN" smtClean="0"/>
              <a:t>23-08-2025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6FC40B-7170-4FFF-904A-B14CE0A09475}" type="slidenum">
              <a:rPr lang="en-IN" smtClean="0"/>
              <a:t>‹#›</a:t>
            </a:fld>
            <a:endParaRPr lang="en-IN"/>
          </a:p>
        </p:txBody>
      </p:sp>
    </p:spTree>
    <p:extLst>
      <p:ext uri="{BB962C8B-B14F-4D97-AF65-F5344CB8AC3E}">
        <p14:creationId xmlns:p14="http://schemas.microsoft.com/office/powerpoint/2010/main" val="42278730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6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8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7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9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260.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0121" y="547522"/>
            <a:ext cx="11589488" cy="2387600"/>
          </a:xfrm>
        </p:spPr>
        <p:txBody>
          <a:bodyPr>
            <a:normAutofit/>
          </a:bodyPr>
          <a:lstStyle/>
          <a:p>
            <a:r>
              <a:rPr lang="en-US" sz="4800" b="1" dirty="0">
                <a:solidFill>
                  <a:srgbClr val="C00000"/>
                </a:solidFill>
              </a:rPr>
              <a:t>21IPC501J</a:t>
            </a:r>
            <a:br>
              <a:rPr lang="en-GB" sz="6000" dirty="0">
                <a:solidFill>
                  <a:srgbClr val="C00000"/>
                </a:solidFill>
                <a:effectLst/>
                <a:latin typeface="Garamond" panose="02020404030301010803" pitchFamily="18" charset="0"/>
                <a:ea typeface="Calibri" panose="020F0502020204030204" pitchFamily="34" charset="0"/>
                <a:cs typeface="Times New Roman" panose="02020603050405020304" pitchFamily="18" charset="0"/>
              </a:rPr>
            </a:br>
            <a:r>
              <a:rPr lang="en-US" sz="4800" b="1" dirty="0">
                <a:solidFill>
                  <a:srgbClr val="C00000"/>
                </a:solidFill>
              </a:rPr>
              <a:t> Research Methodology and Publication Ethics</a:t>
            </a:r>
            <a:endParaRPr lang="en-IN" sz="4800" b="1" dirty="0">
              <a:solidFill>
                <a:srgbClr val="C00000"/>
              </a:solidFill>
            </a:endParaRPr>
          </a:p>
        </p:txBody>
      </p:sp>
      <p:sp>
        <p:nvSpPr>
          <p:cNvPr id="3" name="Subtitle 2">
            <a:extLst>
              <a:ext uri="{FF2B5EF4-FFF2-40B4-BE49-F238E27FC236}">
                <a16:creationId xmlns:a16="http://schemas.microsoft.com/office/drawing/2014/main" id="{35A3BCA5-0EA4-44DB-5A57-B9E8F71CB118}"/>
              </a:ext>
            </a:extLst>
          </p:cNvPr>
          <p:cNvSpPr>
            <a:spLocks noGrp="1"/>
          </p:cNvSpPr>
          <p:nvPr/>
        </p:nvSpPr>
        <p:spPr>
          <a:xfrm>
            <a:off x="3484997" y="3572003"/>
            <a:ext cx="5455920" cy="1712913"/>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dirty="0">
                <a:solidFill>
                  <a:srgbClr val="0033CC"/>
                </a:solidFill>
                <a:latin typeface="Berlin Sans FB Demi" panose="020E0802020502020306" pitchFamily="34" charset="0"/>
              </a:rPr>
              <a:t>Prepared by – </a:t>
            </a:r>
          </a:p>
          <a:p>
            <a:r>
              <a:rPr lang="en-IN" dirty="0">
                <a:solidFill>
                  <a:srgbClr val="0033CC"/>
                </a:solidFill>
                <a:latin typeface="Berlin Sans FB Demi" panose="020E0802020502020306" pitchFamily="34" charset="0"/>
              </a:rPr>
              <a:t>Dr. Banu Priya P / 103206</a:t>
            </a:r>
          </a:p>
          <a:p>
            <a:r>
              <a:rPr lang="en-IN" dirty="0">
                <a:solidFill>
                  <a:srgbClr val="0033CC"/>
                </a:solidFill>
                <a:latin typeface="Berlin Sans FB Demi" panose="020E0802020502020306" pitchFamily="34" charset="0"/>
              </a:rPr>
              <a:t>Assistant Professor / NWC/ SOC</a:t>
            </a:r>
          </a:p>
          <a:p>
            <a:r>
              <a:rPr lang="en-IN" dirty="0">
                <a:solidFill>
                  <a:srgbClr val="0033CC"/>
                </a:solidFill>
                <a:latin typeface="Berlin Sans FB Demi" panose="020E0802020502020306" pitchFamily="34" charset="0"/>
              </a:rPr>
              <a:t>SRMIST, KTR</a:t>
            </a:r>
          </a:p>
        </p:txBody>
      </p:sp>
    </p:spTree>
    <p:extLst>
      <p:ext uri="{BB962C8B-B14F-4D97-AF65-F5344CB8AC3E}">
        <p14:creationId xmlns:p14="http://schemas.microsoft.com/office/powerpoint/2010/main" val="4274993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25212"/>
          </a:xfrm>
        </p:spPr>
        <p:txBody>
          <a:bodyPr>
            <a:normAutofit fontScale="90000"/>
          </a:bodyPr>
          <a:lstStyle/>
          <a:p>
            <a:pPr algn="ctr"/>
            <a:r>
              <a:rPr lang="en-US" sz="3200" b="1" dirty="0">
                <a:solidFill>
                  <a:srgbClr val="0000FF"/>
                </a:solidFill>
              </a:rPr>
              <a:t>Module-1 – RESEARCH PREPARATION, PLANNING AND RESOURCES</a:t>
            </a:r>
            <a:endParaRPr lang="en-IN" sz="3200" b="1" dirty="0">
              <a:solidFill>
                <a:srgbClr val="0000FF"/>
              </a:solidFill>
            </a:endParaRPr>
          </a:p>
        </p:txBody>
      </p:sp>
      <p:sp>
        <p:nvSpPr>
          <p:cNvPr id="3" name="Content Placeholder 2"/>
          <p:cNvSpPr>
            <a:spLocks noGrp="1"/>
          </p:cNvSpPr>
          <p:nvPr>
            <p:ph idx="1"/>
          </p:nvPr>
        </p:nvSpPr>
        <p:spPr>
          <a:xfrm>
            <a:off x="950167" y="1063256"/>
            <a:ext cx="10515600" cy="5316279"/>
          </a:xfrm>
        </p:spPr>
        <p:txBody>
          <a:bodyPr>
            <a:normAutofit/>
          </a:bodyPr>
          <a:lstStyle/>
          <a:p>
            <a:pPr marL="0" indent="0">
              <a:buNone/>
            </a:pPr>
            <a:r>
              <a:rPr lang="en-US" sz="3200" dirty="0">
                <a:solidFill>
                  <a:srgbClr val="0000FF"/>
                </a:solidFill>
              </a:rPr>
              <a:t>Topics</a:t>
            </a:r>
            <a:endParaRPr lang="en-IN" sz="3200" dirty="0">
              <a:solidFill>
                <a:srgbClr val="0000FF"/>
              </a:solidFill>
            </a:endParaRPr>
          </a:p>
          <a:p>
            <a:pPr algn="just"/>
            <a:r>
              <a:rPr lang="en-GB" sz="2400" dirty="0">
                <a:effectLst/>
                <a:latin typeface="Garamond" panose="02020404030301010803" pitchFamily="18" charset="0"/>
                <a:ea typeface="Calibri" panose="020F0502020204030204" pitchFamily="34" charset="0"/>
                <a:cs typeface="Times New Roman" panose="02020603050405020304" pitchFamily="18" charset="0"/>
              </a:rPr>
              <a:t>Research – objectives, definitions – knowledge economy; </a:t>
            </a:r>
            <a:endParaRPr lang="en-GB" sz="2400" dirty="0">
              <a:latin typeface="Garamond" panose="02020404030301010803" pitchFamily="18" charset="0"/>
              <a:ea typeface="Calibri" panose="020F0502020204030204" pitchFamily="34" charset="0"/>
              <a:cs typeface="Times New Roman" panose="02020603050405020304" pitchFamily="18" charset="0"/>
            </a:endParaRPr>
          </a:p>
          <a:p>
            <a:pPr algn="just"/>
            <a:r>
              <a:rPr lang="en-GB" sz="2400" dirty="0">
                <a:effectLst/>
                <a:latin typeface="Garamond" panose="02020404030301010803" pitchFamily="18" charset="0"/>
                <a:ea typeface="Calibri" panose="020F0502020204030204" pitchFamily="34" charset="0"/>
                <a:cs typeface="Times New Roman" panose="02020603050405020304" pitchFamily="18" charset="0"/>
              </a:rPr>
              <a:t>Perspectives of stakeholders;</a:t>
            </a:r>
          </a:p>
          <a:p>
            <a:pPr algn="just"/>
            <a:r>
              <a:rPr lang="en-GB" sz="2400" dirty="0">
                <a:effectLst/>
                <a:latin typeface="Garamond" panose="02020404030301010803" pitchFamily="18" charset="0"/>
                <a:ea typeface="Calibri" panose="020F0502020204030204" pitchFamily="34" charset="0"/>
                <a:cs typeface="Times New Roman" panose="02020603050405020304" pitchFamily="18" charset="0"/>
              </a:rPr>
              <a:t>Types of research;</a:t>
            </a:r>
          </a:p>
          <a:p>
            <a:pPr algn="just"/>
            <a:r>
              <a:rPr lang="en-GB" sz="2400" dirty="0">
                <a:effectLst/>
                <a:latin typeface="Garamond" panose="02020404030301010803" pitchFamily="18" charset="0"/>
                <a:ea typeface="Calibri" panose="020F0502020204030204" pitchFamily="34" charset="0"/>
                <a:cs typeface="Times New Roman" panose="02020603050405020304" pitchFamily="18" charset="0"/>
              </a:rPr>
              <a:t>Critical &amp; creative thinking;</a:t>
            </a:r>
          </a:p>
          <a:p>
            <a:pPr algn="just"/>
            <a:r>
              <a:rPr lang="en-GB" sz="2400" dirty="0">
                <a:effectLst/>
                <a:latin typeface="Garamond" panose="02020404030301010803" pitchFamily="18" charset="0"/>
                <a:ea typeface="Calibri" panose="020F0502020204030204" pitchFamily="34" charset="0"/>
                <a:cs typeface="Times New Roman" panose="02020603050405020304" pitchFamily="18" charset="0"/>
              </a:rPr>
              <a:t>Generating research topic;</a:t>
            </a:r>
          </a:p>
          <a:p>
            <a:pPr algn="just"/>
            <a:r>
              <a:rPr lang="en-GB" sz="2400" dirty="0">
                <a:effectLst/>
                <a:latin typeface="Garamond" panose="02020404030301010803" pitchFamily="18" charset="0"/>
                <a:ea typeface="Calibri" panose="020F0502020204030204" pitchFamily="34" charset="0"/>
                <a:cs typeface="Times New Roman" panose="02020603050405020304" pitchFamily="18" charset="0"/>
              </a:rPr>
              <a:t>Identifying broad research question and objectives – design of questionnaire; </a:t>
            </a:r>
          </a:p>
          <a:p>
            <a:pPr algn="just"/>
            <a:r>
              <a:rPr lang="en-GB" sz="2400" dirty="0">
                <a:effectLst/>
                <a:latin typeface="Garamond" panose="02020404030301010803" pitchFamily="18" charset="0"/>
                <a:ea typeface="Calibri" panose="020F0502020204030204" pitchFamily="34" charset="0"/>
                <a:cs typeface="Times New Roman" panose="02020603050405020304" pitchFamily="18" charset="0"/>
              </a:rPr>
              <a:t>Characteristics of a good research – research design; </a:t>
            </a:r>
          </a:p>
          <a:p>
            <a:pPr algn="just"/>
            <a:r>
              <a:rPr lang="en-GB" sz="2400" dirty="0">
                <a:effectLst/>
                <a:latin typeface="Garamond" panose="02020404030301010803" pitchFamily="18" charset="0"/>
                <a:ea typeface="Calibri" panose="020F0502020204030204" pitchFamily="34" charset="0"/>
                <a:cs typeface="Times New Roman" panose="02020603050405020304" pitchFamily="18" charset="0"/>
              </a:rPr>
              <a:t>Methods of scientific enquiry – theoretical, experimental and empirical; </a:t>
            </a:r>
          </a:p>
          <a:p>
            <a:pPr algn="just"/>
            <a:r>
              <a:rPr lang="en-US" sz="2400" dirty="0">
                <a:latin typeface="Garamond" panose="02020404030301010803" pitchFamily="18" charset="0"/>
                <a:ea typeface="Calibri" panose="020F0502020204030204" pitchFamily="34" charset="0"/>
                <a:cs typeface="Times New Roman" panose="02020603050405020304" pitchFamily="18" charset="0"/>
              </a:rPr>
              <a:t>Hypothesis – formulation &amp; testing.</a:t>
            </a:r>
            <a:endParaRPr lang="en-GB" sz="2400" dirty="0">
              <a:effectLst/>
              <a:latin typeface="Garamond" panose="02020404030301010803" pitchFamily="18" charset="0"/>
              <a:ea typeface="Calibri" panose="020F0502020204030204" pitchFamily="34" charset="0"/>
              <a:cs typeface="Times New Roman" panose="02020603050405020304" pitchFamily="18" charset="0"/>
            </a:endParaRPr>
          </a:p>
          <a:p>
            <a:pPr marL="0" indent="0">
              <a:buNone/>
            </a:pPr>
            <a:endParaRPr lang="en-IN" sz="3200" dirty="0"/>
          </a:p>
        </p:txBody>
      </p:sp>
    </p:spTree>
    <p:extLst>
      <p:ext uri="{BB962C8B-B14F-4D97-AF65-F5344CB8AC3E}">
        <p14:creationId xmlns:p14="http://schemas.microsoft.com/office/powerpoint/2010/main" val="2671738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85DAB-D158-F8D6-26D9-326EB83E63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FC0A54-CE28-5A5D-DC5F-581B270ED5BB}"/>
              </a:ext>
            </a:extLst>
          </p:cNvPr>
          <p:cNvSpPr>
            <a:spLocks noGrp="1"/>
          </p:cNvSpPr>
          <p:nvPr>
            <p:ph type="title"/>
          </p:nvPr>
        </p:nvSpPr>
        <p:spPr>
          <a:xfrm>
            <a:off x="838200" y="365126"/>
            <a:ext cx="10515600" cy="525212"/>
          </a:xfrm>
        </p:spPr>
        <p:txBody>
          <a:bodyPr>
            <a:normAutofit fontScale="90000"/>
          </a:bodyPr>
          <a:lstStyle/>
          <a:p>
            <a:pPr algn="ctr"/>
            <a:r>
              <a:rPr lang="en-US" sz="3200" b="1" dirty="0">
                <a:solidFill>
                  <a:srgbClr val="0000FF"/>
                </a:solidFill>
              </a:rPr>
              <a:t>Module-1 – RESEARCH PREPARATION, PLANNING AND RESOURCES</a:t>
            </a:r>
            <a:endParaRPr lang="en-IN" sz="3200" b="1" dirty="0">
              <a:solidFill>
                <a:srgbClr val="0000FF"/>
              </a:solidFill>
            </a:endParaRPr>
          </a:p>
        </p:txBody>
      </p:sp>
      <p:sp>
        <p:nvSpPr>
          <p:cNvPr id="3" name="Content Placeholder 2">
            <a:extLst>
              <a:ext uri="{FF2B5EF4-FFF2-40B4-BE49-F238E27FC236}">
                <a16:creationId xmlns:a16="http://schemas.microsoft.com/office/drawing/2014/main" id="{9729374B-7C67-6275-9C43-9ECF7D2C4439}"/>
              </a:ext>
            </a:extLst>
          </p:cNvPr>
          <p:cNvSpPr>
            <a:spLocks noGrp="1"/>
          </p:cNvSpPr>
          <p:nvPr>
            <p:ph idx="1"/>
          </p:nvPr>
        </p:nvSpPr>
        <p:spPr>
          <a:xfrm>
            <a:off x="950166" y="1063256"/>
            <a:ext cx="10788177" cy="5316279"/>
          </a:xfrm>
        </p:spPr>
        <p:txBody>
          <a:bodyPr>
            <a:normAutofit/>
          </a:bodyPr>
          <a:lstStyle/>
          <a:p>
            <a:pPr marL="0" indent="0">
              <a:buNone/>
            </a:pPr>
            <a:r>
              <a:rPr lang="en-US" sz="3200" dirty="0">
                <a:solidFill>
                  <a:srgbClr val="0000FF"/>
                </a:solidFill>
              </a:rPr>
              <a:t>Topics</a:t>
            </a:r>
            <a:endParaRPr lang="en-IN" sz="3200" dirty="0">
              <a:solidFill>
                <a:srgbClr val="0000FF"/>
              </a:solidFill>
            </a:endParaRPr>
          </a:p>
          <a:p>
            <a:pPr algn="just"/>
            <a:r>
              <a:rPr lang="en-US" sz="2400" dirty="0">
                <a:effectLst/>
                <a:latin typeface="Garamond" panose="02020404030301010803" pitchFamily="18" charset="0"/>
                <a:ea typeface="Calibri" panose="020F0502020204030204" pitchFamily="34" charset="0"/>
                <a:cs typeface="Times New Roman" panose="02020603050405020304" pitchFamily="18" charset="0"/>
              </a:rPr>
              <a:t>Sources of information – ICT enabled tools; </a:t>
            </a:r>
          </a:p>
          <a:p>
            <a:pPr algn="just"/>
            <a:r>
              <a:rPr lang="en-US" sz="2400" dirty="0">
                <a:effectLst/>
                <a:latin typeface="Garamond" panose="02020404030301010803" pitchFamily="18" charset="0"/>
                <a:ea typeface="Calibri" panose="020F0502020204030204" pitchFamily="34" charset="0"/>
                <a:cs typeface="Times New Roman" panose="02020603050405020304" pitchFamily="18" charset="0"/>
              </a:rPr>
              <a:t>Databases, repositories, public and private sources, indexes; </a:t>
            </a:r>
          </a:p>
          <a:p>
            <a:pPr algn="just"/>
            <a:r>
              <a:rPr lang="en-US" sz="2400" dirty="0">
                <a:effectLst/>
                <a:latin typeface="Garamond" panose="02020404030301010803" pitchFamily="18" charset="0"/>
                <a:ea typeface="Calibri" panose="020F0502020204030204" pitchFamily="34" charset="0"/>
                <a:cs typeface="Times New Roman" panose="02020603050405020304" pitchFamily="18" charset="0"/>
              </a:rPr>
              <a:t>Literature search – keyword; </a:t>
            </a:r>
          </a:p>
          <a:p>
            <a:pPr algn="just"/>
            <a:r>
              <a:rPr lang="en-US" sz="2400" dirty="0">
                <a:effectLst/>
                <a:latin typeface="Garamond" panose="02020404030301010803" pitchFamily="18" charset="0"/>
                <a:ea typeface="Calibri" panose="020F0502020204030204" pitchFamily="34" charset="0"/>
                <a:cs typeface="Times New Roman" panose="02020603050405020304" pitchFamily="18" charset="0"/>
              </a:rPr>
              <a:t>Backward and forward search; </a:t>
            </a:r>
          </a:p>
          <a:p>
            <a:pPr algn="just"/>
            <a:r>
              <a:rPr lang="en-US" sz="2400" dirty="0">
                <a:effectLst/>
                <a:latin typeface="Garamond" panose="02020404030301010803" pitchFamily="18" charset="0"/>
                <a:ea typeface="Calibri" panose="020F0502020204030204" pitchFamily="34" charset="0"/>
                <a:cs typeface="Times New Roman" panose="02020603050405020304" pitchFamily="18" charset="0"/>
              </a:rPr>
              <a:t>Quality measurement tools: journal metrics, author-level metrics; </a:t>
            </a:r>
          </a:p>
          <a:p>
            <a:pPr algn="just"/>
            <a:r>
              <a:rPr lang="en-US" sz="2400" dirty="0">
                <a:effectLst/>
                <a:latin typeface="Garamond" panose="02020404030301010803" pitchFamily="18" charset="0"/>
                <a:ea typeface="Calibri" panose="020F0502020204030204" pitchFamily="34" charset="0"/>
                <a:cs typeface="Times New Roman" panose="02020603050405020304" pitchFamily="18" charset="0"/>
              </a:rPr>
              <a:t>Meta-analysis of research findings; </a:t>
            </a:r>
          </a:p>
          <a:p>
            <a:pPr algn="just"/>
            <a:r>
              <a:rPr lang="en-US" sz="2400" dirty="0">
                <a:effectLst/>
                <a:latin typeface="Garamond" panose="02020404030301010803" pitchFamily="18" charset="0"/>
                <a:ea typeface="Calibri" panose="020F0502020204030204" pitchFamily="34" charset="0"/>
                <a:cs typeface="Times New Roman" panose="02020603050405020304" pitchFamily="18" charset="0"/>
              </a:rPr>
              <a:t>Literature review: grouping, </a:t>
            </a:r>
            <a:r>
              <a:rPr lang="en-US" sz="2400" dirty="0" err="1">
                <a:effectLst/>
                <a:latin typeface="Garamond" panose="02020404030301010803" pitchFamily="18" charset="0"/>
                <a:ea typeface="Calibri" panose="020F0502020204030204" pitchFamily="34" charset="0"/>
                <a:cs typeface="Times New Roman" panose="02020603050405020304" pitchFamily="18" charset="0"/>
              </a:rPr>
              <a:t>analysing</a:t>
            </a:r>
            <a:r>
              <a:rPr lang="en-US" sz="2400" dirty="0">
                <a:effectLst/>
                <a:latin typeface="Garamond" panose="02020404030301010803" pitchFamily="18" charset="0"/>
                <a:ea typeface="Calibri" panose="020F0502020204030204" pitchFamily="34" charset="0"/>
                <a:cs typeface="Times New Roman" panose="02020603050405020304" pitchFamily="18" charset="0"/>
              </a:rPr>
              <a:t> &amp; comparison: Identification of research Methods; </a:t>
            </a:r>
          </a:p>
          <a:p>
            <a:pPr algn="just"/>
            <a:r>
              <a:rPr lang="en-US" sz="2400" dirty="0">
                <a:effectLst/>
                <a:latin typeface="Garamond" panose="02020404030301010803" pitchFamily="18" charset="0"/>
                <a:ea typeface="Calibri" panose="020F0502020204030204" pitchFamily="34" charset="0"/>
                <a:cs typeface="Times New Roman" panose="02020603050405020304" pitchFamily="18" charset="0"/>
              </a:rPr>
              <a:t>Intellectual Property Rights; </a:t>
            </a:r>
          </a:p>
          <a:p>
            <a:pPr algn="just"/>
            <a:r>
              <a:rPr lang="en-US" sz="2400" dirty="0">
                <a:effectLst/>
                <a:latin typeface="Garamond" panose="02020404030301010803" pitchFamily="18" charset="0"/>
                <a:ea typeface="Calibri" panose="020F0502020204030204" pitchFamily="34" charset="0"/>
                <a:cs typeface="Times New Roman" panose="02020603050405020304" pitchFamily="18" charset="0"/>
              </a:rPr>
              <a:t>Copyright – patent –geographical indication – industrial designs – technology transfer.</a:t>
            </a:r>
          </a:p>
          <a:p>
            <a:pPr marL="0" indent="0">
              <a:buNone/>
            </a:pPr>
            <a:endParaRPr lang="en-IN" sz="3200" dirty="0"/>
          </a:p>
        </p:txBody>
      </p:sp>
    </p:spTree>
    <p:extLst>
      <p:ext uri="{BB962C8B-B14F-4D97-AF65-F5344CB8AC3E}">
        <p14:creationId xmlns:p14="http://schemas.microsoft.com/office/powerpoint/2010/main" val="449784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201352" y="385993"/>
            <a:ext cx="3189870" cy="178838"/>
          </a:xfrm>
          <a:prstGeom prst="rect">
            <a:avLst/>
          </a:prstGeom>
        </p:spPr>
      </p:pic>
      <p:sp>
        <p:nvSpPr>
          <p:cNvPr id="3" name="object 3"/>
          <p:cNvSpPr txBox="1"/>
          <p:nvPr/>
        </p:nvSpPr>
        <p:spPr>
          <a:xfrm>
            <a:off x="5196078" y="299084"/>
            <a:ext cx="3171190" cy="299720"/>
          </a:xfrm>
          <a:prstGeom prst="rect">
            <a:avLst/>
          </a:prstGeom>
        </p:spPr>
        <p:txBody>
          <a:bodyPr vert="horz" wrap="square" lIns="0" tIns="12700" rIns="0" bIns="0" rtlCol="0">
            <a:spAutoFit/>
          </a:bodyPr>
          <a:lstStyle/>
          <a:p>
            <a:pPr marL="12700">
              <a:spcBef>
                <a:spcPts val="100"/>
              </a:spcBef>
            </a:pPr>
            <a:r>
              <a:rPr b="1" i="1" dirty="0">
                <a:solidFill>
                  <a:srgbClr val="C00000"/>
                </a:solidFill>
                <a:latin typeface="Times New Roman"/>
                <a:cs typeface="Times New Roman"/>
              </a:rPr>
              <a:t>DEFINITIONS</a:t>
            </a:r>
            <a:r>
              <a:rPr b="1" i="1" spc="-20" dirty="0">
                <a:solidFill>
                  <a:srgbClr val="C00000"/>
                </a:solidFill>
                <a:latin typeface="Times New Roman"/>
                <a:cs typeface="Times New Roman"/>
              </a:rPr>
              <a:t> </a:t>
            </a:r>
            <a:r>
              <a:rPr b="1" i="1" dirty="0">
                <a:solidFill>
                  <a:srgbClr val="C00000"/>
                </a:solidFill>
                <a:latin typeface="Times New Roman"/>
                <a:cs typeface="Times New Roman"/>
              </a:rPr>
              <a:t>OF</a:t>
            </a:r>
            <a:r>
              <a:rPr b="1" i="1" spc="-75" dirty="0">
                <a:solidFill>
                  <a:srgbClr val="C00000"/>
                </a:solidFill>
                <a:latin typeface="Times New Roman"/>
                <a:cs typeface="Times New Roman"/>
              </a:rPr>
              <a:t> </a:t>
            </a:r>
            <a:r>
              <a:rPr b="1" i="1" spc="-10" dirty="0">
                <a:solidFill>
                  <a:srgbClr val="C00000"/>
                </a:solidFill>
                <a:latin typeface="Times New Roman"/>
                <a:cs typeface="Times New Roman"/>
              </a:rPr>
              <a:t>RESEARCH</a:t>
            </a:r>
            <a:endParaRPr>
              <a:latin typeface="Times New Roman"/>
              <a:cs typeface="Times New Roman"/>
            </a:endParaRPr>
          </a:p>
        </p:txBody>
      </p:sp>
      <p:sp>
        <p:nvSpPr>
          <p:cNvPr id="4" name="object 4"/>
          <p:cNvSpPr/>
          <p:nvPr/>
        </p:nvSpPr>
        <p:spPr>
          <a:xfrm>
            <a:off x="1670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4F81BC"/>
          </a:solidFill>
        </p:spPr>
        <p:txBody>
          <a:bodyPr wrap="square" lIns="0" tIns="0" rIns="0" bIns="0" rtlCol="0"/>
          <a:lstStyle/>
          <a:p>
            <a:endParaRPr/>
          </a:p>
        </p:txBody>
      </p:sp>
      <p:sp>
        <p:nvSpPr>
          <p:cNvPr id="5" name="object 5"/>
          <p:cNvSpPr txBox="1">
            <a:spLocks noGrp="1"/>
          </p:cNvSpPr>
          <p:nvPr>
            <p:ph type="title"/>
          </p:nvPr>
        </p:nvSpPr>
        <p:spPr>
          <a:xfrm>
            <a:off x="1983741" y="862331"/>
            <a:ext cx="1171575" cy="330835"/>
          </a:xfrm>
          <a:prstGeom prst="rect">
            <a:avLst/>
          </a:prstGeom>
        </p:spPr>
        <p:txBody>
          <a:bodyPr vert="horz" wrap="square" lIns="0" tIns="13335" rIns="0" bIns="0" rtlCol="0" anchor="ctr">
            <a:spAutoFit/>
          </a:bodyPr>
          <a:lstStyle/>
          <a:p>
            <a:pPr marL="12700">
              <a:lnSpc>
                <a:spcPct val="100000"/>
              </a:lnSpc>
              <a:spcBef>
                <a:spcPts val="105"/>
              </a:spcBef>
            </a:pPr>
            <a:r>
              <a:rPr sz="2000" dirty="0">
                <a:latin typeface="Times New Roman"/>
                <a:cs typeface="Times New Roman"/>
              </a:rPr>
              <a:t>Research</a:t>
            </a:r>
            <a:r>
              <a:rPr sz="2000" spc="-55" dirty="0">
                <a:latin typeface="Times New Roman"/>
                <a:cs typeface="Times New Roman"/>
              </a:rPr>
              <a:t> </a:t>
            </a:r>
            <a:r>
              <a:rPr sz="2000" spc="-50" dirty="0">
                <a:latin typeface="Times New Roman"/>
                <a:cs typeface="Times New Roman"/>
              </a:rPr>
              <a:t>:</a:t>
            </a:r>
            <a:endParaRPr sz="2000">
              <a:latin typeface="Times New Roman"/>
              <a:cs typeface="Times New Roman"/>
            </a:endParaRPr>
          </a:p>
        </p:txBody>
      </p:sp>
      <p:sp>
        <p:nvSpPr>
          <p:cNvPr id="6" name="object 6"/>
          <p:cNvSpPr txBox="1"/>
          <p:nvPr/>
        </p:nvSpPr>
        <p:spPr>
          <a:xfrm>
            <a:off x="1983740" y="1328674"/>
            <a:ext cx="8300720" cy="2886046"/>
          </a:xfrm>
          <a:prstGeom prst="rect">
            <a:avLst/>
          </a:prstGeom>
        </p:spPr>
        <p:txBody>
          <a:bodyPr vert="horz" wrap="square" lIns="0" tIns="13335" rIns="0" bIns="0" rtlCol="0">
            <a:spAutoFit/>
          </a:bodyPr>
          <a:lstStyle/>
          <a:p>
            <a:pPr algn="ctr">
              <a:spcBef>
                <a:spcPts val="105"/>
              </a:spcBef>
            </a:pPr>
            <a:r>
              <a:rPr sz="2000" b="1" dirty="0">
                <a:solidFill>
                  <a:srgbClr val="001F5F"/>
                </a:solidFill>
                <a:latin typeface="Times New Roman"/>
                <a:cs typeface="Times New Roman"/>
              </a:rPr>
              <a:t>Research</a:t>
            </a:r>
            <a:r>
              <a:rPr sz="2000" b="1" spc="-35" dirty="0">
                <a:solidFill>
                  <a:srgbClr val="001F5F"/>
                </a:solidFill>
                <a:latin typeface="Times New Roman"/>
                <a:cs typeface="Times New Roman"/>
              </a:rPr>
              <a:t> </a:t>
            </a:r>
            <a:r>
              <a:rPr sz="2000" b="1" dirty="0">
                <a:solidFill>
                  <a:srgbClr val="001F5F"/>
                </a:solidFill>
                <a:latin typeface="Times New Roman"/>
                <a:cs typeface="Times New Roman"/>
              </a:rPr>
              <a:t>=</a:t>
            </a:r>
            <a:r>
              <a:rPr sz="2000" b="1" spc="-30" dirty="0">
                <a:solidFill>
                  <a:srgbClr val="001F5F"/>
                </a:solidFill>
                <a:latin typeface="Times New Roman"/>
                <a:cs typeface="Times New Roman"/>
              </a:rPr>
              <a:t> </a:t>
            </a:r>
            <a:r>
              <a:rPr sz="2000" b="1" dirty="0">
                <a:solidFill>
                  <a:srgbClr val="001F5F"/>
                </a:solidFill>
                <a:latin typeface="Times New Roman"/>
                <a:cs typeface="Times New Roman"/>
              </a:rPr>
              <a:t>Re</a:t>
            </a:r>
            <a:r>
              <a:rPr sz="2000" b="1" spc="-10" dirty="0">
                <a:solidFill>
                  <a:srgbClr val="001F5F"/>
                </a:solidFill>
                <a:latin typeface="Times New Roman"/>
                <a:cs typeface="Times New Roman"/>
              </a:rPr>
              <a:t> </a:t>
            </a:r>
            <a:r>
              <a:rPr sz="2000" b="1" dirty="0">
                <a:solidFill>
                  <a:srgbClr val="001F5F"/>
                </a:solidFill>
                <a:latin typeface="Times New Roman"/>
                <a:cs typeface="Times New Roman"/>
              </a:rPr>
              <a:t>+</a:t>
            </a:r>
            <a:r>
              <a:rPr sz="2000" b="1" spc="-20" dirty="0">
                <a:solidFill>
                  <a:srgbClr val="001F5F"/>
                </a:solidFill>
                <a:latin typeface="Times New Roman"/>
                <a:cs typeface="Times New Roman"/>
              </a:rPr>
              <a:t> </a:t>
            </a:r>
            <a:r>
              <a:rPr sz="2000" b="1" spc="-10" dirty="0">
                <a:solidFill>
                  <a:srgbClr val="001F5F"/>
                </a:solidFill>
                <a:latin typeface="Times New Roman"/>
                <a:cs typeface="Times New Roman"/>
              </a:rPr>
              <a:t>Search</a:t>
            </a:r>
            <a:endParaRPr sz="2000" dirty="0">
              <a:latin typeface="Times New Roman"/>
              <a:cs typeface="Times New Roman"/>
            </a:endParaRPr>
          </a:p>
          <a:p>
            <a:pPr marL="285115" indent="-272415">
              <a:spcBef>
                <a:spcPts val="1689"/>
              </a:spcBef>
              <a:buClr>
                <a:srgbClr val="C00000"/>
              </a:buClr>
              <a:buSzPct val="85000"/>
              <a:buFont typeface="Wingdings 2"/>
              <a:buChar char=""/>
              <a:tabLst>
                <a:tab pos="285115" algn="l"/>
              </a:tabLst>
            </a:pPr>
            <a:r>
              <a:rPr sz="2000" spc="-10" dirty="0">
                <a:solidFill>
                  <a:srgbClr val="001F5F"/>
                </a:solidFill>
                <a:latin typeface="Times New Roman"/>
                <a:cs typeface="Times New Roman"/>
              </a:rPr>
              <a:t>‘Re’</a:t>
            </a:r>
            <a:r>
              <a:rPr sz="2000" spc="-165" dirty="0">
                <a:solidFill>
                  <a:srgbClr val="001F5F"/>
                </a:solidFill>
                <a:latin typeface="Times New Roman"/>
                <a:cs typeface="Times New Roman"/>
              </a:rPr>
              <a:t> </a:t>
            </a:r>
            <a:r>
              <a:rPr sz="2000" dirty="0">
                <a:solidFill>
                  <a:srgbClr val="001F5F"/>
                </a:solidFill>
                <a:latin typeface="Times New Roman"/>
                <a:cs typeface="Times New Roman"/>
              </a:rPr>
              <a:t>means</a:t>
            </a:r>
            <a:r>
              <a:rPr sz="2000" spc="-15" dirty="0">
                <a:solidFill>
                  <a:srgbClr val="001F5F"/>
                </a:solidFill>
                <a:latin typeface="Times New Roman"/>
                <a:cs typeface="Times New Roman"/>
              </a:rPr>
              <a:t> </a:t>
            </a:r>
            <a:r>
              <a:rPr sz="2000" dirty="0">
                <a:solidFill>
                  <a:srgbClr val="001F5F"/>
                </a:solidFill>
                <a:latin typeface="Times New Roman"/>
                <a:cs typeface="Times New Roman"/>
              </a:rPr>
              <a:t>again</a:t>
            </a:r>
            <a:r>
              <a:rPr sz="2000" spc="-15" dirty="0">
                <a:solidFill>
                  <a:srgbClr val="001F5F"/>
                </a:solidFill>
                <a:latin typeface="Times New Roman"/>
                <a:cs typeface="Times New Roman"/>
              </a:rPr>
              <a:t> </a:t>
            </a:r>
            <a:r>
              <a:rPr sz="2000" dirty="0">
                <a:solidFill>
                  <a:srgbClr val="001F5F"/>
                </a:solidFill>
                <a:latin typeface="Times New Roman"/>
                <a:cs typeface="Times New Roman"/>
              </a:rPr>
              <a:t>and</a:t>
            </a:r>
            <a:r>
              <a:rPr sz="2000" spc="-20" dirty="0">
                <a:solidFill>
                  <a:srgbClr val="001F5F"/>
                </a:solidFill>
                <a:latin typeface="Times New Roman"/>
                <a:cs typeface="Times New Roman"/>
              </a:rPr>
              <a:t> </a:t>
            </a:r>
            <a:r>
              <a:rPr sz="2000" dirty="0">
                <a:solidFill>
                  <a:srgbClr val="001F5F"/>
                </a:solidFill>
                <a:latin typeface="Times New Roman"/>
                <a:cs typeface="Times New Roman"/>
              </a:rPr>
              <a:t>again</a:t>
            </a:r>
            <a:r>
              <a:rPr sz="2000" spc="-20" dirty="0">
                <a:solidFill>
                  <a:srgbClr val="001F5F"/>
                </a:solidFill>
                <a:latin typeface="Times New Roman"/>
                <a:cs typeface="Times New Roman"/>
              </a:rPr>
              <a:t> </a:t>
            </a:r>
            <a:r>
              <a:rPr sz="2000" dirty="0">
                <a:solidFill>
                  <a:srgbClr val="001F5F"/>
                </a:solidFill>
                <a:latin typeface="Times New Roman"/>
                <a:cs typeface="Times New Roman"/>
              </a:rPr>
              <a:t>and</a:t>
            </a:r>
            <a:r>
              <a:rPr sz="2000" spc="-10" dirty="0">
                <a:solidFill>
                  <a:srgbClr val="001F5F"/>
                </a:solidFill>
                <a:latin typeface="Times New Roman"/>
                <a:cs typeface="Times New Roman"/>
              </a:rPr>
              <a:t> </a:t>
            </a:r>
            <a:r>
              <a:rPr sz="2000" dirty="0">
                <a:solidFill>
                  <a:srgbClr val="001F5F"/>
                </a:solidFill>
                <a:latin typeface="Times New Roman"/>
                <a:cs typeface="Times New Roman"/>
              </a:rPr>
              <a:t>‘search’</a:t>
            </a:r>
            <a:r>
              <a:rPr sz="2000" spc="-195" dirty="0">
                <a:solidFill>
                  <a:srgbClr val="001F5F"/>
                </a:solidFill>
                <a:latin typeface="Times New Roman"/>
                <a:cs typeface="Times New Roman"/>
              </a:rPr>
              <a:t> </a:t>
            </a:r>
            <a:r>
              <a:rPr sz="2000" dirty="0">
                <a:solidFill>
                  <a:srgbClr val="001F5F"/>
                </a:solidFill>
                <a:latin typeface="Times New Roman"/>
                <a:cs typeface="Times New Roman"/>
              </a:rPr>
              <a:t>means</a:t>
            </a:r>
            <a:r>
              <a:rPr sz="2000" spc="-5" dirty="0">
                <a:solidFill>
                  <a:srgbClr val="001F5F"/>
                </a:solidFill>
                <a:latin typeface="Times New Roman"/>
                <a:cs typeface="Times New Roman"/>
              </a:rPr>
              <a:t> </a:t>
            </a:r>
            <a:r>
              <a:rPr sz="2000" dirty="0">
                <a:solidFill>
                  <a:srgbClr val="001F5F"/>
                </a:solidFill>
                <a:latin typeface="Times New Roman"/>
                <a:cs typeface="Times New Roman"/>
              </a:rPr>
              <a:t>to</a:t>
            </a:r>
            <a:r>
              <a:rPr sz="2000" spc="-10" dirty="0">
                <a:solidFill>
                  <a:srgbClr val="001F5F"/>
                </a:solidFill>
                <a:latin typeface="Times New Roman"/>
                <a:cs typeface="Times New Roman"/>
              </a:rPr>
              <a:t> </a:t>
            </a:r>
            <a:r>
              <a:rPr sz="2000" dirty="0">
                <a:solidFill>
                  <a:srgbClr val="001F5F"/>
                </a:solidFill>
                <a:latin typeface="Times New Roman"/>
                <a:cs typeface="Times New Roman"/>
              </a:rPr>
              <a:t>find</a:t>
            </a:r>
            <a:r>
              <a:rPr sz="2000" spc="-30" dirty="0">
                <a:solidFill>
                  <a:srgbClr val="001F5F"/>
                </a:solidFill>
                <a:latin typeface="Times New Roman"/>
                <a:cs typeface="Times New Roman"/>
              </a:rPr>
              <a:t> </a:t>
            </a:r>
            <a:r>
              <a:rPr sz="2000" dirty="0">
                <a:solidFill>
                  <a:srgbClr val="001F5F"/>
                </a:solidFill>
                <a:latin typeface="Times New Roman"/>
                <a:cs typeface="Times New Roman"/>
              </a:rPr>
              <a:t>out</a:t>
            </a:r>
            <a:r>
              <a:rPr sz="2000" spc="-30" dirty="0">
                <a:solidFill>
                  <a:srgbClr val="001F5F"/>
                </a:solidFill>
                <a:latin typeface="Times New Roman"/>
                <a:cs typeface="Times New Roman"/>
              </a:rPr>
              <a:t> </a:t>
            </a:r>
            <a:r>
              <a:rPr sz="2000" spc="-10" dirty="0">
                <a:solidFill>
                  <a:srgbClr val="001F5F"/>
                </a:solidFill>
                <a:latin typeface="Times New Roman"/>
                <a:cs typeface="Times New Roman"/>
              </a:rPr>
              <a:t>something.</a:t>
            </a:r>
            <a:endParaRPr sz="2000" dirty="0">
              <a:latin typeface="Times New Roman"/>
              <a:cs typeface="Times New Roman"/>
            </a:endParaRPr>
          </a:p>
          <a:p>
            <a:pPr marL="285115" marR="5080" indent="-273050">
              <a:lnSpc>
                <a:spcPct val="150000"/>
              </a:lnSpc>
              <a:spcBef>
                <a:spcPts val="505"/>
              </a:spcBef>
              <a:buClr>
                <a:srgbClr val="C00000"/>
              </a:buClr>
              <a:buSzPct val="85000"/>
              <a:buFont typeface="Wingdings 2"/>
              <a:buChar char=""/>
              <a:tabLst>
                <a:tab pos="285115" algn="l"/>
                <a:tab pos="817244" algn="l"/>
                <a:tab pos="1473835" algn="l"/>
                <a:tab pos="2454275" algn="l"/>
                <a:tab pos="2757805" algn="l"/>
                <a:tab pos="4157979" algn="l"/>
                <a:tab pos="4505960" algn="l"/>
                <a:tab pos="5062220" algn="l"/>
                <a:tab pos="5565140" algn="l"/>
                <a:tab pos="6636384" algn="l"/>
                <a:tab pos="7392670" algn="l"/>
                <a:tab pos="8174355" algn="l"/>
              </a:tabLst>
            </a:pPr>
            <a:r>
              <a:rPr sz="2000" spc="-25" dirty="0">
                <a:solidFill>
                  <a:srgbClr val="001F5F"/>
                </a:solidFill>
                <a:latin typeface="Times New Roman"/>
                <a:cs typeface="Times New Roman"/>
              </a:rPr>
              <a:t>The</a:t>
            </a:r>
            <a:r>
              <a:rPr sz="2000" dirty="0">
                <a:solidFill>
                  <a:srgbClr val="001F5F"/>
                </a:solidFill>
                <a:latin typeface="Times New Roman"/>
                <a:cs typeface="Times New Roman"/>
              </a:rPr>
              <a:t>	</a:t>
            </a:r>
            <a:r>
              <a:rPr sz="2000" spc="-20" dirty="0">
                <a:solidFill>
                  <a:srgbClr val="001F5F"/>
                </a:solidFill>
                <a:latin typeface="Times New Roman"/>
                <a:cs typeface="Times New Roman"/>
              </a:rPr>
              <a:t>word</a:t>
            </a:r>
            <a:r>
              <a:rPr sz="2000" dirty="0">
                <a:solidFill>
                  <a:srgbClr val="001F5F"/>
                </a:solidFill>
                <a:latin typeface="Times New Roman"/>
                <a:cs typeface="Times New Roman"/>
              </a:rPr>
              <a:t>	</a:t>
            </a:r>
            <a:r>
              <a:rPr sz="2000" spc="-10" dirty="0">
                <a:solidFill>
                  <a:srgbClr val="001F5F"/>
                </a:solidFill>
                <a:latin typeface="Times New Roman"/>
                <a:cs typeface="Times New Roman"/>
              </a:rPr>
              <a:t>research</a:t>
            </a:r>
            <a:r>
              <a:rPr sz="2000" dirty="0">
                <a:solidFill>
                  <a:srgbClr val="001F5F"/>
                </a:solidFill>
                <a:latin typeface="Times New Roman"/>
                <a:cs typeface="Times New Roman"/>
              </a:rPr>
              <a:t>	</a:t>
            </a:r>
            <a:r>
              <a:rPr sz="2000" spc="-25" dirty="0">
                <a:solidFill>
                  <a:srgbClr val="001F5F"/>
                </a:solidFill>
                <a:latin typeface="Times New Roman"/>
                <a:cs typeface="Times New Roman"/>
              </a:rPr>
              <a:t>is</a:t>
            </a:r>
            <a:r>
              <a:rPr sz="2000" dirty="0">
                <a:solidFill>
                  <a:srgbClr val="001F5F"/>
                </a:solidFill>
                <a:latin typeface="Times New Roman"/>
                <a:cs typeface="Times New Roman"/>
              </a:rPr>
              <a:t>	</a:t>
            </a:r>
            <a:r>
              <a:rPr sz="2000" spc="-10" dirty="0">
                <a:solidFill>
                  <a:srgbClr val="001F5F"/>
                </a:solidFill>
                <a:latin typeface="Times New Roman"/>
                <a:cs typeface="Times New Roman"/>
              </a:rPr>
              <a:t>combination</a:t>
            </a:r>
            <a:r>
              <a:rPr sz="2000" dirty="0">
                <a:solidFill>
                  <a:srgbClr val="001F5F"/>
                </a:solidFill>
                <a:latin typeface="Times New Roman"/>
                <a:cs typeface="Times New Roman"/>
              </a:rPr>
              <a:t>	</a:t>
            </a:r>
            <a:r>
              <a:rPr sz="2000" spc="-25" dirty="0">
                <a:solidFill>
                  <a:srgbClr val="001F5F"/>
                </a:solidFill>
                <a:latin typeface="Times New Roman"/>
                <a:cs typeface="Times New Roman"/>
              </a:rPr>
              <a:t>of</a:t>
            </a:r>
            <a:r>
              <a:rPr sz="2000" dirty="0">
                <a:solidFill>
                  <a:srgbClr val="001F5F"/>
                </a:solidFill>
                <a:latin typeface="Times New Roman"/>
                <a:cs typeface="Times New Roman"/>
              </a:rPr>
              <a:t>	</a:t>
            </a:r>
            <a:r>
              <a:rPr sz="2000" spc="-20" dirty="0">
                <a:solidFill>
                  <a:srgbClr val="001F5F"/>
                </a:solidFill>
                <a:latin typeface="Times New Roman"/>
                <a:cs typeface="Times New Roman"/>
              </a:rPr>
              <a:t>“re”</a:t>
            </a:r>
            <a:r>
              <a:rPr sz="2000" dirty="0">
                <a:solidFill>
                  <a:srgbClr val="001F5F"/>
                </a:solidFill>
                <a:latin typeface="Times New Roman"/>
                <a:cs typeface="Times New Roman"/>
              </a:rPr>
              <a:t>	</a:t>
            </a:r>
            <a:r>
              <a:rPr sz="2000" spc="-25" dirty="0">
                <a:solidFill>
                  <a:srgbClr val="001F5F"/>
                </a:solidFill>
                <a:latin typeface="Times New Roman"/>
                <a:cs typeface="Times New Roman"/>
              </a:rPr>
              <a:t>and</a:t>
            </a:r>
            <a:r>
              <a:rPr sz="2000" dirty="0">
                <a:solidFill>
                  <a:srgbClr val="001F5F"/>
                </a:solidFill>
                <a:latin typeface="Times New Roman"/>
                <a:cs typeface="Times New Roman"/>
              </a:rPr>
              <a:t>	</a:t>
            </a:r>
            <a:r>
              <a:rPr sz="2000" spc="-10" dirty="0">
                <a:solidFill>
                  <a:srgbClr val="001F5F"/>
                </a:solidFill>
                <a:latin typeface="Times New Roman"/>
                <a:cs typeface="Times New Roman"/>
              </a:rPr>
              <a:t>“search,”</a:t>
            </a:r>
            <a:r>
              <a:rPr sz="2000" dirty="0">
                <a:solidFill>
                  <a:srgbClr val="001F5F"/>
                </a:solidFill>
                <a:latin typeface="Times New Roman"/>
                <a:cs typeface="Times New Roman"/>
              </a:rPr>
              <a:t>	</a:t>
            </a:r>
            <a:r>
              <a:rPr sz="2000" spc="-10" dirty="0">
                <a:solidFill>
                  <a:srgbClr val="001F5F"/>
                </a:solidFill>
                <a:latin typeface="Times New Roman"/>
                <a:cs typeface="Times New Roman"/>
              </a:rPr>
              <a:t>which</a:t>
            </a:r>
            <a:r>
              <a:rPr sz="2000" dirty="0">
                <a:solidFill>
                  <a:srgbClr val="001F5F"/>
                </a:solidFill>
                <a:latin typeface="Times New Roman"/>
                <a:cs typeface="Times New Roman"/>
              </a:rPr>
              <a:t>	</a:t>
            </a:r>
            <a:r>
              <a:rPr sz="2000" spc="-10" dirty="0">
                <a:solidFill>
                  <a:srgbClr val="001F5F"/>
                </a:solidFill>
                <a:latin typeface="Times New Roman"/>
                <a:cs typeface="Times New Roman"/>
              </a:rPr>
              <a:t>means</a:t>
            </a:r>
            <a:r>
              <a:rPr sz="2000" dirty="0">
                <a:solidFill>
                  <a:srgbClr val="001F5F"/>
                </a:solidFill>
                <a:latin typeface="Times New Roman"/>
                <a:cs typeface="Times New Roman"/>
              </a:rPr>
              <a:t>	</a:t>
            </a:r>
            <a:r>
              <a:rPr sz="2000" spc="-50" dirty="0">
                <a:solidFill>
                  <a:srgbClr val="001F5F"/>
                </a:solidFill>
                <a:latin typeface="Times New Roman"/>
                <a:cs typeface="Times New Roman"/>
              </a:rPr>
              <a:t>a </a:t>
            </a:r>
            <a:r>
              <a:rPr sz="2000" dirty="0">
                <a:solidFill>
                  <a:srgbClr val="001F5F"/>
                </a:solidFill>
                <a:latin typeface="Times New Roman"/>
                <a:cs typeface="Times New Roman"/>
              </a:rPr>
              <a:t>systematic</a:t>
            </a:r>
            <a:r>
              <a:rPr sz="2000" spc="-20" dirty="0">
                <a:solidFill>
                  <a:srgbClr val="001F5F"/>
                </a:solidFill>
                <a:latin typeface="Times New Roman"/>
                <a:cs typeface="Times New Roman"/>
              </a:rPr>
              <a:t> </a:t>
            </a:r>
            <a:r>
              <a:rPr sz="2000" dirty="0">
                <a:solidFill>
                  <a:srgbClr val="001F5F"/>
                </a:solidFill>
                <a:latin typeface="Times New Roman"/>
                <a:cs typeface="Times New Roman"/>
              </a:rPr>
              <a:t>investigation</a:t>
            </a:r>
            <a:r>
              <a:rPr sz="2000" spc="-35" dirty="0">
                <a:solidFill>
                  <a:srgbClr val="001F5F"/>
                </a:solidFill>
                <a:latin typeface="Times New Roman"/>
                <a:cs typeface="Times New Roman"/>
              </a:rPr>
              <a:t> </a:t>
            </a:r>
            <a:r>
              <a:rPr sz="2000" dirty="0">
                <a:solidFill>
                  <a:srgbClr val="001F5F"/>
                </a:solidFill>
                <a:latin typeface="Times New Roman"/>
                <a:cs typeface="Times New Roman"/>
              </a:rPr>
              <a:t>to</a:t>
            </a:r>
            <a:r>
              <a:rPr sz="2000" spc="-20" dirty="0">
                <a:solidFill>
                  <a:srgbClr val="001F5F"/>
                </a:solidFill>
                <a:latin typeface="Times New Roman"/>
                <a:cs typeface="Times New Roman"/>
              </a:rPr>
              <a:t> </a:t>
            </a:r>
            <a:r>
              <a:rPr sz="2000" dirty="0">
                <a:solidFill>
                  <a:srgbClr val="001F5F"/>
                </a:solidFill>
                <a:latin typeface="Times New Roman"/>
                <a:cs typeface="Times New Roman"/>
              </a:rPr>
              <a:t>gain</a:t>
            </a:r>
            <a:r>
              <a:rPr sz="2000" spc="-25" dirty="0">
                <a:solidFill>
                  <a:srgbClr val="001F5F"/>
                </a:solidFill>
                <a:latin typeface="Times New Roman"/>
                <a:cs typeface="Times New Roman"/>
              </a:rPr>
              <a:t> </a:t>
            </a:r>
            <a:r>
              <a:rPr sz="2000" dirty="0">
                <a:solidFill>
                  <a:srgbClr val="001F5F"/>
                </a:solidFill>
                <a:latin typeface="Times New Roman"/>
                <a:cs typeface="Times New Roman"/>
              </a:rPr>
              <a:t>new</a:t>
            </a:r>
            <a:r>
              <a:rPr sz="2000" spc="-25" dirty="0">
                <a:solidFill>
                  <a:srgbClr val="001F5F"/>
                </a:solidFill>
                <a:latin typeface="Times New Roman"/>
                <a:cs typeface="Times New Roman"/>
              </a:rPr>
              <a:t> </a:t>
            </a:r>
            <a:r>
              <a:rPr sz="2000" dirty="0">
                <a:solidFill>
                  <a:srgbClr val="001F5F"/>
                </a:solidFill>
                <a:latin typeface="Times New Roman"/>
                <a:cs typeface="Times New Roman"/>
              </a:rPr>
              <a:t>knowledge</a:t>
            </a:r>
            <a:r>
              <a:rPr sz="2000" spc="-50" dirty="0">
                <a:solidFill>
                  <a:srgbClr val="001F5F"/>
                </a:solidFill>
                <a:latin typeface="Times New Roman"/>
                <a:cs typeface="Times New Roman"/>
              </a:rPr>
              <a:t> </a:t>
            </a:r>
            <a:r>
              <a:rPr sz="2000" dirty="0">
                <a:solidFill>
                  <a:srgbClr val="001F5F"/>
                </a:solidFill>
                <a:latin typeface="Times New Roman"/>
                <a:cs typeface="Times New Roman"/>
              </a:rPr>
              <a:t>from</a:t>
            </a:r>
            <a:r>
              <a:rPr sz="2000" spc="-40" dirty="0">
                <a:solidFill>
                  <a:srgbClr val="001F5F"/>
                </a:solidFill>
                <a:latin typeface="Times New Roman"/>
                <a:cs typeface="Times New Roman"/>
              </a:rPr>
              <a:t> </a:t>
            </a:r>
            <a:r>
              <a:rPr sz="2000" dirty="0">
                <a:solidFill>
                  <a:srgbClr val="001F5F"/>
                </a:solidFill>
                <a:latin typeface="Times New Roman"/>
                <a:cs typeface="Times New Roman"/>
              </a:rPr>
              <a:t>already</a:t>
            </a:r>
            <a:r>
              <a:rPr sz="2000" spc="-35" dirty="0">
                <a:solidFill>
                  <a:srgbClr val="001F5F"/>
                </a:solidFill>
                <a:latin typeface="Times New Roman"/>
                <a:cs typeface="Times New Roman"/>
              </a:rPr>
              <a:t> </a:t>
            </a:r>
            <a:r>
              <a:rPr sz="2000" dirty="0">
                <a:solidFill>
                  <a:srgbClr val="001F5F"/>
                </a:solidFill>
                <a:latin typeface="Times New Roman"/>
                <a:cs typeface="Times New Roman"/>
              </a:rPr>
              <a:t>existing</a:t>
            </a:r>
            <a:r>
              <a:rPr sz="2000" spc="-30" dirty="0">
                <a:solidFill>
                  <a:srgbClr val="001F5F"/>
                </a:solidFill>
                <a:latin typeface="Times New Roman"/>
                <a:cs typeface="Times New Roman"/>
              </a:rPr>
              <a:t> </a:t>
            </a:r>
            <a:r>
              <a:rPr sz="2000" spc="-10" dirty="0">
                <a:solidFill>
                  <a:srgbClr val="001F5F"/>
                </a:solidFill>
                <a:latin typeface="Times New Roman"/>
                <a:cs typeface="Times New Roman"/>
              </a:rPr>
              <a:t>facts.</a:t>
            </a:r>
            <a:endParaRPr lang="en-IN" sz="2000" spc="-10" dirty="0">
              <a:solidFill>
                <a:srgbClr val="001F5F"/>
              </a:solidFill>
              <a:latin typeface="Times New Roman"/>
              <a:cs typeface="Times New Roman"/>
            </a:endParaRPr>
          </a:p>
          <a:p>
            <a:pPr marL="285115" marR="5080" indent="-273050">
              <a:lnSpc>
                <a:spcPct val="150000"/>
              </a:lnSpc>
              <a:spcBef>
                <a:spcPts val="505"/>
              </a:spcBef>
              <a:buClr>
                <a:srgbClr val="C00000"/>
              </a:buClr>
              <a:buSzPct val="85000"/>
              <a:buFont typeface="Wingdings 2"/>
              <a:buChar char=""/>
              <a:tabLst>
                <a:tab pos="285115" algn="l"/>
                <a:tab pos="817244" algn="l"/>
                <a:tab pos="1473835" algn="l"/>
                <a:tab pos="2454275" algn="l"/>
                <a:tab pos="2757805" algn="l"/>
                <a:tab pos="4157979" algn="l"/>
                <a:tab pos="4505960" algn="l"/>
                <a:tab pos="5062220" algn="l"/>
                <a:tab pos="5565140" algn="l"/>
                <a:tab pos="6636384" algn="l"/>
                <a:tab pos="7392670" algn="l"/>
                <a:tab pos="8174355" algn="l"/>
              </a:tabLst>
            </a:pPr>
            <a:r>
              <a:rPr lang="en-US" sz="2000" dirty="0">
                <a:solidFill>
                  <a:srgbClr val="001F5F"/>
                </a:solidFill>
                <a:latin typeface="Times New Roman"/>
                <a:cs typeface="Times New Roman"/>
              </a:rPr>
              <a:t>It</a:t>
            </a:r>
            <a:r>
              <a:rPr lang="en-US" sz="2000" spc="-30" dirty="0">
                <a:solidFill>
                  <a:srgbClr val="001F5F"/>
                </a:solidFill>
                <a:latin typeface="Times New Roman"/>
                <a:cs typeface="Times New Roman"/>
              </a:rPr>
              <a:t> </a:t>
            </a:r>
            <a:r>
              <a:rPr lang="en-US" sz="2000" dirty="0">
                <a:solidFill>
                  <a:srgbClr val="001F5F"/>
                </a:solidFill>
                <a:latin typeface="Times New Roman"/>
                <a:cs typeface="Times New Roman"/>
              </a:rPr>
              <a:t>is</a:t>
            </a:r>
            <a:r>
              <a:rPr lang="en-US" sz="2000" spc="-15" dirty="0">
                <a:solidFill>
                  <a:srgbClr val="001F5F"/>
                </a:solidFill>
                <a:latin typeface="Times New Roman"/>
                <a:cs typeface="Times New Roman"/>
              </a:rPr>
              <a:t> </a:t>
            </a:r>
            <a:r>
              <a:rPr lang="en-US" sz="2000" dirty="0">
                <a:solidFill>
                  <a:srgbClr val="001F5F"/>
                </a:solidFill>
                <a:latin typeface="Times New Roman"/>
                <a:cs typeface="Times New Roman"/>
              </a:rPr>
              <a:t>basically</a:t>
            </a:r>
            <a:r>
              <a:rPr lang="en-US" sz="2000" spc="-30" dirty="0">
                <a:solidFill>
                  <a:srgbClr val="001F5F"/>
                </a:solidFill>
                <a:latin typeface="Times New Roman"/>
                <a:cs typeface="Times New Roman"/>
              </a:rPr>
              <a:t> </a:t>
            </a:r>
            <a:r>
              <a:rPr lang="en-US" sz="2000" dirty="0">
                <a:solidFill>
                  <a:srgbClr val="001F5F"/>
                </a:solidFill>
                <a:latin typeface="Times New Roman"/>
                <a:cs typeface="Times New Roman"/>
              </a:rPr>
              <a:t>search</a:t>
            </a:r>
            <a:r>
              <a:rPr lang="en-US" sz="2000" spc="-20" dirty="0">
                <a:solidFill>
                  <a:srgbClr val="001F5F"/>
                </a:solidFill>
                <a:latin typeface="Times New Roman"/>
                <a:cs typeface="Times New Roman"/>
              </a:rPr>
              <a:t> </a:t>
            </a:r>
            <a:r>
              <a:rPr lang="en-US" sz="2000" dirty="0">
                <a:solidFill>
                  <a:srgbClr val="001F5F"/>
                </a:solidFill>
                <a:latin typeface="Times New Roman"/>
                <a:cs typeface="Times New Roman"/>
              </a:rPr>
              <a:t>for</a:t>
            </a:r>
            <a:r>
              <a:rPr lang="en-US" sz="2000" spc="-25" dirty="0">
                <a:solidFill>
                  <a:srgbClr val="001F5F"/>
                </a:solidFill>
                <a:latin typeface="Times New Roman"/>
                <a:cs typeface="Times New Roman"/>
              </a:rPr>
              <a:t> </a:t>
            </a:r>
            <a:r>
              <a:rPr lang="en-US" sz="2000" spc="-10" dirty="0">
                <a:solidFill>
                  <a:srgbClr val="001F5F"/>
                </a:solidFill>
                <a:latin typeface="Times New Roman"/>
                <a:cs typeface="Times New Roman"/>
              </a:rPr>
              <a:t>truth.</a:t>
            </a:r>
            <a:endParaRPr sz="2000" dirty="0">
              <a:latin typeface="Times New Roman"/>
              <a:cs typeface="Times New Roman"/>
            </a:endParaRPr>
          </a:p>
          <a:p>
            <a:pPr marL="344805" indent="-332105">
              <a:spcBef>
                <a:spcPts val="1705"/>
              </a:spcBef>
              <a:buClr>
                <a:srgbClr val="C00000"/>
              </a:buClr>
              <a:buSzPct val="85000"/>
              <a:buFont typeface="Wingdings 2"/>
              <a:buChar char=""/>
              <a:tabLst>
                <a:tab pos="344805" algn="l"/>
              </a:tabLst>
            </a:pPr>
            <a:r>
              <a:rPr sz="2000" dirty="0">
                <a:solidFill>
                  <a:srgbClr val="001F5F"/>
                </a:solidFill>
                <a:latin typeface="Times New Roman"/>
                <a:cs typeface="Times New Roman"/>
              </a:rPr>
              <a:t>The</a:t>
            </a:r>
            <a:r>
              <a:rPr sz="2000" spc="-15" dirty="0">
                <a:solidFill>
                  <a:srgbClr val="001F5F"/>
                </a:solidFill>
                <a:latin typeface="Times New Roman"/>
                <a:cs typeface="Times New Roman"/>
              </a:rPr>
              <a:t> </a:t>
            </a:r>
            <a:r>
              <a:rPr sz="2000" dirty="0">
                <a:solidFill>
                  <a:srgbClr val="001F5F"/>
                </a:solidFill>
                <a:latin typeface="Times New Roman"/>
                <a:cs typeface="Times New Roman"/>
              </a:rPr>
              <a:t>following</a:t>
            </a:r>
            <a:r>
              <a:rPr sz="2000" spc="-45" dirty="0">
                <a:solidFill>
                  <a:srgbClr val="001F5F"/>
                </a:solidFill>
                <a:latin typeface="Times New Roman"/>
                <a:cs typeface="Times New Roman"/>
              </a:rPr>
              <a:t> </a:t>
            </a:r>
            <a:r>
              <a:rPr sz="2000" dirty="0">
                <a:solidFill>
                  <a:srgbClr val="001F5F"/>
                </a:solidFill>
                <a:latin typeface="Times New Roman"/>
                <a:cs typeface="Times New Roman"/>
              </a:rPr>
              <a:t>is</a:t>
            </a:r>
            <a:r>
              <a:rPr sz="2000" spc="-15" dirty="0">
                <a:solidFill>
                  <a:srgbClr val="001F5F"/>
                </a:solidFill>
                <a:latin typeface="Times New Roman"/>
                <a:cs typeface="Times New Roman"/>
              </a:rPr>
              <a:t> </a:t>
            </a:r>
            <a:r>
              <a:rPr sz="2000" dirty="0">
                <a:solidFill>
                  <a:srgbClr val="001F5F"/>
                </a:solidFill>
                <a:latin typeface="Times New Roman"/>
                <a:cs typeface="Times New Roman"/>
              </a:rPr>
              <a:t>the</a:t>
            </a:r>
            <a:r>
              <a:rPr sz="2000" spc="-20" dirty="0">
                <a:solidFill>
                  <a:srgbClr val="001F5F"/>
                </a:solidFill>
                <a:latin typeface="Times New Roman"/>
                <a:cs typeface="Times New Roman"/>
              </a:rPr>
              <a:t> </a:t>
            </a:r>
            <a:r>
              <a:rPr sz="2000" spc="-10" dirty="0">
                <a:solidFill>
                  <a:srgbClr val="001F5F"/>
                </a:solidFill>
                <a:latin typeface="Times New Roman"/>
                <a:cs typeface="Times New Roman"/>
              </a:rPr>
              <a:t>process,</a:t>
            </a:r>
            <a:endParaRPr sz="2000" dirty="0">
              <a:latin typeface="Times New Roman"/>
              <a:cs typeface="Times New Roman"/>
            </a:endParaRPr>
          </a:p>
        </p:txBody>
      </p:sp>
      <p:pic>
        <p:nvPicPr>
          <p:cNvPr id="7" name="object 7"/>
          <p:cNvPicPr/>
          <p:nvPr/>
        </p:nvPicPr>
        <p:blipFill>
          <a:blip r:embed="rId3" cstate="print"/>
          <a:stretch>
            <a:fillRect/>
          </a:stretch>
        </p:blipFill>
        <p:spPr>
          <a:xfrm>
            <a:off x="1905000" y="0"/>
            <a:ext cx="1905000" cy="914400"/>
          </a:xfrm>
          <a:prstGeom prst="rect">
            <a:avLst/>
          </a:prstGeom>
        </p:spPr>
      </p:pic>
      <p:pic>
        <p:nvPicPr>
          <p:cNvPr id="8" name="object 8"/>
          <p:cNvPicPr/>
          <p:nvPr/>
        </p:nvPicPr>
        <p:blipFill>
          <a:blip r:embed="rId4" cstate="print"/>
          <a:stretch>
            <a:fillRect/>
          </a:stretch>
        </p:blipFill>
        <p:spPr>
          <a:xfrm>
            <a:off x="2376816" y="4628994"/>
            <a:ext cx="6952876" cy="923925"/>
          </a:xfrm>
          <a:prstGeom prst="rect">
            <a:avLst/>
          </a:prstGeom>
        </p:spPr>
      </p:pic>
      <p:sp>
        <p:nvSpPr>
          <p:cNvPr id="13" name="Slide Number Placeholder 12"/>
          <p:cNvSpPr>
            <a:spLocks noGrp="1"/>
          </p:cNvSpPr>
          <p:nvPr>
            <p:ph type="sldNum" sz="quarter" idx="7"/>
          </p:nvPr>
        </p:nvSpPr>
        <p:spPr>
          <a:xfrm>
            <a:off x="230428" y="6329531"/>
            <a:ext cx="299720" cy="227965"/>
          </a:xfrm>
          <a:prstGeom prst="rect">
            <a:avLst/>
          </a:prstGeom>
        </p:spPr>
        <p:txBody>
          <a:bodyPr wrap="square" lIns="0" tIns="0" rIns="0" bIns="0">
            <a:spAutoFit/>
          </a:bodyPr>
          <a:lstStyle>
            <a:defPPr>
              <a:defRPr kern="0"/>
            </a:defPPr>
            <a:lvl1pPr>
              <a:defRPr sz="1400" b="0" i="0">
                <a:solidFill>
                  <a:schemeClr val="bg1"/>
                </a:solidFill>
                <a:latin typeface="Franklin Gothic Book"/>
                <a:cs typeface="Franklin Gothic Book"/>
              </a:defRPr>
            </a:lvl1pPr>
          </a:lstStyle>
          <a:p>
            <a:pPr marL="38100">
              <a:lnSpc>
                <a:spcPts val="1664"/>
              </a:lnSpc>
            </a:pPr>
            <a:fld id="{81D60167-4931-47E6-BA6A-407CBD079E47}" type="slidenum">
              <a:rPr lang="en-IN" spc="-25" smtClean="0"/>
              <a:pPr marL="38100">
                <a:lnSpc>
                  <a:spcPts val="1664"/>
                </a:lnSpc>
              </a:pPr>
              <a:t>4</a:t>
            </a:fld>
            <a:endParaRPr lang="en-US" spc="-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A4A75-2247-C805-6451-55562781B8D8}"/>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7A99853A-1379-2F8C-579A-DA97698BA3DA}"/>
              </a:ext>
            </a:extLst>
          </p:cNvPr>
          <p:cNvPicPr/>
          <p:nvPr/>
        </p:nvPicPr>
        <p:blipFill>
          <a:blip r:embed="rId2" cstate="print"/>
          <a:stretch>
            <a:fillRect/>
          </a:stretch>
        </p:blipFill>
        <p:spPr>
          <a:xfrm>
            <a:off x="5201352" y="385993"/>
            <a:ext cx="3189870" cy="178838"/>
          </a:xfrm>
          <a:prstGeom prst="rect">
            <a:avLst/>
          </a:prstGeom>
        </p:spPr>
      </p:pic>
      <p:sp>
        <p:nvSpPr>
          <p:cNvPr id="3" name="object 3">
            <a:extLst>
              <a:ext uri="{FF2B5EF4-FFF2-40B4-BE49-F238E27FC236}">
                <a16:creationId xmlns:a16="http://schemas.microsoft.com/office/drawing/2014/main" id="{B3E0EE6A-4279-21E2-6DD2-A4C7AB9DB5EB}"/>
              </a:ext>
            </a:extLst>
          </p:cNvPr>
          <p:cNvSpPr txBox="1"/>
          <p:nvPr/>
        </p:nvSpPr>
        <p:spPr>
          <a:xfrm>
            <a:off x="5196077" y="299084"/>
            <a:ext cx="4458285" cy="289823"/>
          </a:xfrm>
          <a:prstGeom prst="rect">
            <a:avLst/>
          </a:prstGeom>
        </p:spPr>
        <p:txBody>
          <a:bodyPr vert="horz" wrap="square" lIns="0" tIns="12700" rIns="0" bIns="0" rtlCol="0">
            <a:spAutoFit/>
          </a:bodyPr>
          <a:lstStyle/>
          <a:p>
            <a:pPr marL="12700">
              <a:spcBef>
                <a:spcPts val="100"/>
              </a:spcBef>
            </a:pPr>
            <a:r>
              <a:rPr b="1" i="1" dirty="0">
                <a:solidFill>
                  <a:srgbClr val="C00000"/>
                </a:solidFill>
                <a:latin typeface="Times New Roman"/>
                <a:cs typeface="Times New Roman"/>
              </a:rPr>
              <a:t>DEFINITIONS</a:t>
            </a:r>
            <a:r>
              <a:rPr b="1" i="1" spc="-20" dirty="0">
                <a:solidFill>
                  <a:srgbClr val="C00000"/>
                </a:solidFill>
                <a:latin typeface="Times New Roman"/>
                <a:cs typeface="Times New Roman"/>
              </a:rPr>
              <a:t> </a:t>
            </a:r>
            <a:r>
              <a:rPr b="1" i="1" dirty="0">
                <a:solidFill>
                  <a:srgbClr val="C00000"/>
                </a:solidFill>
                <a:latin typeface="Times New Roman"/>
                <a:cs typeface="Times New Roman"/>
              </a:rPr>
              <a:t>OF</a:t>
            </a:r>
            <a:r>
              <a:rPr b="1" i="1" spc="-75" dirty="0">
                <a:solidFill>
                  <a:srgbClr val="C00000"/>
                </a:solidFill>
                <a:latin typeface="Times New Roman"/>
                <a:cs typeface="Times New Roman"/>
              </a:rPr>
              <a:t> </a:t>
            </a:r>
            <a:r>
              <a:rPr b="1" i="1" spc="-10" dirty="0">
                <a:solidFill>
                  <a:srgbClr val="C00000"/>
                </a:solidFill>
                <a:latin typeface="Times New Roman"/>
                <a:cs typeface="Times New Roman"/>
              </a:rPr>
              <a:t>RESEARCH</a:t>
            </a:r>
            <a:endParaRPr dirty="0">
              <a:latin typeface="Times New Roman"/>
              <a:cs typeface="Times New Roman"/>
            </a:endParaRPr>
          </a:p>
        </p:txBody>
      </p:sp>
      <p:sp>
        <p:nvSpPr>
          <p:cNvPr id="4" name="object 4">
            <a:extLst>
              <a:ext uri="{FF2B5EF4-FFF2-40B4-BE49-F238E27FC236}">
                <a16:creationId xmlns:a16="http://schemas.microsoft.com/office/drawing/2014/main" id="{F9834F56-0915-87F2-9C70-3D1D8A99EA9E}"/>
              </a:ext>
            </a:extLst>
          </p:cNvPr>
          <p:cNvSpPr/>
          <p:nvPr/>
        </p:nvSpPr>
        <p:spPr>
          <a:xfrm>
            <a:off x="1670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4F81BC"/>
          </a:solidFill>
        </p:spPr>
        <p:txBody>
          <a:bodyPr wrap="square" lIns="0" tIns="0" rIns="0" bIns="0" rtlCol="0"/>
          <a:lstStyle/>
          <a:p>
            <a:endParaRPr/>
          </a:p>
        </p:txBody>
      </p:sp>
      <p:sp>
        <p:nvSpPr>
          <p:cNvPr id="6" name="object 6">
            <a:extLst>
              <a:ext uri="{FF2B5EF4-FFF2-40B4-BE49-F238E27FC236}">
                <a16:creationId xmlns:a16="http://schemas.microsoft.com/office/drawing/2014/main" id="{0365B6B4-267B-5963-4074-5E5E19CA2669}"/>
              </a:ext>
            </a:extLst>
          </p:cNvPr>
          <p:cNvSpPr txBox="1"/>
          <p:nvPr/>
        </p:nvSpPr>
        <p:spPr>
          <a:xfrm>
            <a:off x="679003" y="914400"/>
            <a:ext cx="11069973" cy="4925066"/>
          </a:xfrm>
          <a:prstGeom prst="rect">
            <a:avLst/>
          </a:prstGeom>
        </p:spPr>
        <p:txBody>
          <a:bodyPr vert="horz" wrap="square" lIns="0" tIns="13335" rIns="0" bIns="0" rtlCol="0">
            <a:spAutoFit/>
          </a:bodyPr>
          <a:lstStyle/>
          <a:p>
            <a:pPr marL="285115" indent="-272415">
              <a:spcBef>
                <a:spcPts val="1689"/>
              </a:spcBef>
              <a:buClr>
                <a:srgbClr val="C00000"/>
              </a:buClr>
              <a:buSzPct val="85000"/>
              <a:buFont typeface="Wingdings 2"/>
              <a:buChar char=""/>
              <a:tabLst>
                <a:tab pos="285115" algn="l"/>
              </a:tabLst>
            </a:pPr>
            <a:r>
              <a:rPr lang="en-US" sz="2200" spc="-10" dirty="0">
                <a:solidFill>
                  <a:srgbClr val="001F5F"/>
                </a:solidFill>
                <a:latin typeface="Times New Roman"/>
                <a:cs typeface="Times New Roman"/>
              </a:rPr>
              <a:t>Research is a systematic process where a person repeatedly observes a phenomenon, collects and analyzes data, and then draws conclusions.</a:t>
            </a:r>
          </a:p>
          <a:p>
            <a:pPr marL="285115" indent="-272415">
              <a:spcBef>
                <a:spcPts val="1689"/>
              </a:spcBef>
              <a:buClr>
                <a:srgbClr val="C00000"/>
              </a:buClr>
              <a:buSzPct val="85000"/>
              <a:buFont typeface="Wingdings 2"/>
              <a:buChar char=""/>
              <a:tabLst>
                <a:tab pos="285115" algn="l"/>
              </a:tabLst>
            </a:pPr>
            <a:r>
              <a:rPr lang="en-US" sz="2200" spc="-10" dirty="0">
                <a:solidFill>
                  <a:srgbClr val="001F5F"/>
                </a:solidFill>
                <a:latin typeface="Times New Roman"/>
                <a:cs typeface="Times New Roman"/>
              </a:rPr>
              <a:t> Example:</a:t>
            </a:r>
          </a:p>
          <a:p>
            <a:pPr marL="742315" lvl="1" indent="-272415">
              <a:spcBef>
                <a:spcPts val="1689"/>
              </a:spcBef>
              <a:buClr>
                <a:srgbClr val="C00000"/>
              </a:buClr>
              <a:buSzPct val="85000"/>
              <a:buFont typeface="Wingdings 2"/>
              <a:buChar char=""/>
              <a:tabLst>
                <a:tab pos="285115" algn="l"/>
              </a:tabLst>
            </a:pPr>
            <a:r>
              <a:rPr lang="en-US" sz="2200" spc="-10" dirty="0">
                <a:solidFill>
                  <a:srgbClr val="001F5F"/>
                </a:solidFill>
                <a:latin typeface="Times New Roman"/>
                <a:cs typeface="Times New Roman"/>
              </a:rPr>
              <a:t>A student notices that some plants in the garden grow faster than others.</a:t>
            </a:r>
          </a:p>
          <a:p>
            <a:pPr marL="742315" lvl="1" indent="-272415">
              <a:spcBef>
                <a:spcPts val="1689"/>
              </a:spcBef>
              <a:buClr>
                <a:srgbClr val="C00000"/>
              </a:buClr>
              <a:buSzPct val="85000"/>
              <a:buFont typeface="Wingdings 2"/>
              <a:buChar char=""/>
              <a:tabLst>
                <a:tab pos="285115" algn="l"/>
              </a:tabLst>
            </a:pPr>
            <a:r>
              <a:rPr lang="en-US" sz="2200" spc="-10" dirty="0">
                <a:solidFill>
                  <a:srgbClr val="001F5F"/>
                </a:solidFill>
                <a:latin typeface="Times New Roman"/>
                <a:cs typeface="Times New Roman"/>
              </a:rPr>
              <a:t>They observe this repeatedly.</a:t>
            </a:r>
          </a:p>
          <a:p>
            <a:pPr marL="742315" lvl="1" indent="-272415">
              <a:spcBef>
                <a:spcPts val="1689"/>
              </a:spcBef>
              <a:buClr>
                <a:srgbClr val="C00000"/>
              </a:buClr>
              <a:buSzPct val="85000"/>
              <a:buFont typeface="Wingdings 2"/>
              <a:buChar char=""/>
              <a:tabLst>
                <a:tab pos="285115" algn="l"/>
              </a:tabLst>
            </a:pPr>
            <a:r>
              <a:rPr lang="en-US" sz="2200" spc="-10" dirty="0">
                <a:solidFill>
                  <a:srgbClr val="001F5F"/>
                </a:solidFill>
                <a:latin typeface="Times New Roman"/>
                <a:cs typeface="Times New Roman"/>
              </a:rPr>
              <a:t>They collect data on sunlight, water, and soil type.</a:t>
            </a:r>
          </a:p>
          <a:p>
            <a:pPr marL="742315" lvl="1" indent="-272415">
              <a:spcBef>
                <a:spcPts val="1689"/>
              </a:spcBef>
              <a:buClr>
                <a:srgbClr val="C00000"/>
              </a:buClr>
              <a:buSzPct val="85000"/>
              <a:buFont typeface="Wingdings 2"/>
              <a:buChar char=""/>
              <a:tabLst>
                <a:tab pos="285115" algn="l"/>
              </a:tabLst>
            </a:pPr>
            <a:r>
              <a:rPr lang="en-US" sz="2200" spc="-10" dirty="0">
                <a:solidFill>
                  <a:srgbClr val="001F5F"/>
                </a:solidFill>
                <a:latin typeface="Times New Roman"/>
                <a:cs typeface="Times New Roman"/>
              </a:rPr>
              <a:t>They analyze the data to find the relation.</a:t>
            </a:r>
          </a:p>
          <a:p>
            <a:pPr marL="742315" lvl="1" indent="-272415">
              <a:spcBef>
                <a:spcPts val="1689"/>
              </a:spcBef>
              <a:buClr>
                <a:srgbClr val="C00000"/>
              </a:buClr>
              <a:buSzPct val="85000"/>
              <a:buFont typeface="Wingdings 2"/>
              <a:buChar char=""/>
              <a:tabLst>
                <a:tab pos="285115" algn="l"/>
              </a:tabLst>
            </a:pPr>
            <a:r>
              <a:rPr lang="en-US" sz="2200" spc="-10" dirty="0">
                <a:solidFill>
                  <a:srgbClr val="001F5F"/>
                </a:solidFill>
                <a:latin typeface="Times New Roman"/>
                <a:cs typeface="Times New Roman"/>
              </a:rPr>
              <a:t>They reach the conclusion that plants with more sunlight grow faster.</a:t>
            </a:r>
          </a:p>
          <a:p>
            <a:pPr marL="742315" lvl="1" indent="-272415">
              <a:spcBef>
                <a:spcPts val="1689"/>
              </a:spcBef>
              <a:buClr>
                <a:srgbClr val="C00000"/>
              </a:buClr>
              <a:buSzPct val="85000"/>
              <a:buFont typeface="Wingdings 2"/>
              <a:buChar char=""/>
              <a:tabLst>
                <a:tab pos="285115" algn="l"/>
              </a:tabLst>
            </a:pPr>
            <a:r>
              <a:rPr lang="en-US" sz="2200" spc="-10" dirty="0">
                <a:solidFill>
                  <a:srgbClr val="001F5F"/>
                </a:solidFill>
                <a:latin typeface="Times New Roman"/>
                <a:cs typeface="Times New Roman"/>
              </a:rPr>
              <a:t>So, research : “Carefully observing, collecting data, analyzing it, and concluding to understand or solve a problem.”</a:t>
            </a:r>
            <a:endParaRPr sz="2200" dirty="0">
              <a:latin typeface="Times New Roman"/>
              <a:cs typeface="Times New Roman"/>
            </a:endParaRPr>
          </a:p>
        </p:txBody>
      </p:sp>
      <p:pic>
        <p:nvPicPr>
          <p:cNvPr id="7" name="object 7">
            <a:extLst>
              <a:ext uri="{FF2B5EF4-FFF2-40B4-BE49-F238E27FC236}">
                <a16:creationId xmlns:a16="http://schemas.microsoft.com/office/drawing/2014/main" id="{74550DA0-B0D5-ACD7-7058-A36251D5048B}"/>
              </a:ext>
            </a:extLst>
          </p:cNvPr>
          <p:cNvPicPr/>
          <p:nvPr/>
        </p:nvPicPr>
        <p:blipFill>
          <a:blip r:embed="rId3" cstate="print"/>
          <a:stretch>
            <a:fillRect/>
          </a:stretch>
        </p:blipFill>
        <p:spPr>
          <a:xfrm>
            <a:off x="1905000" y="0"/>
            <a:ext cx="1905000" cy="914400"/>
          </a:xfrm>
          <a:prstGeom prst="rect">
            <a:avLst/>
          </a:prstGeom>
        </p:spPr>
      </p:pic>
      <p:sp>
        <p:nvSpPr>
          <p:cNvPr id="13" name="Slide Number Placeholder 12">
            <a:extLst>
              <a:ext uri="{FF2B5EF4-FFF2-40B4-BE49-F238E27FC236}">
                <a16:creationId xmlns:a16="http://schemas.microsoft.com/office/drawing/2014/main" id="{79DF6AE1-2C23-4B78-2DDF-0552943663A6}"/>
              </a:ext>
            </a:extLst>
          </p:cNvPr>
          <p:cNvSpPr>
            <a:spLocks noGrp="1"/>
          </p:cNvSpPr>
          <p:nvPr>
            <p:ph type="sldNum" sz="quarter" idx="7"/>
          </p:nvPr>
        </p:nvSpPr>
        <p:spPr>
          <a:xfrm>
            <a:off x="230428" y="6329531"/>
            <a:ext cx="299720" cy="227965"/>
          </a:xfrm>
          <a:prstGeom prst="rect">
            <a:avLst/>
          </a:prstGeom>
        </p:spPr>
        <p:txBody>
          <a:bodyPr wrap="square" lIns="0" tIns="0" rIns="0" bIns="0">
            <a:spAutoFit/>
          </a:bodyPr>
          <a:lstStyle>
            <a:defPPr>
              <a:defRPr kern="0"/>
            </a:defPPr>
            <a:lvl1pPr>
              <a:defRPr sz="1400" b="0" i="0">
                <a:solidFill>
                  <a:schemeClr val="bg1"/>
                </a:solidFill>
                <a:latin typeface="Franklin Gothic Book"/>
                <a:cs typeface="Franklin Gothic Book"/>
              </a:defRPr>
            </a:lvl1pPr>
          </a:lstStyle>
          <a:p>
            <a:pPr marL="38100">
              <a:lnSpc>
                <a:spcPts val="1664"/>
              </a:lnSpc>
            </a:pPr>
            <a:fld id="{81D60167-4931-47E6-BA6A-407CBD079E47}" type="slidenum">
              <a:rPr lang="en-IN" spc="-25" smtClean="0"/>
              <a:pPr marL="38100">
                <a:lnSpc>
                  <a:spcPts val="1664"/>
                </a:lnSpc>
              </a:pPr>
              <a:t>5</a:t>
            </a:fld>
            <a:endParaRPr lang="en-US" spc="-25" dirty="0"/>
          </a:p>
        </p:txBody>
      </p:sp>
    </p:spTree>
    <p:extLst>
      <p:ext uri="{BB962C8B-B14F-4D97-AF65-F5344CB8AC3E}">
        <p14:creationId xmlns:p14="http://schemas.microsoft.com/office/powerpoint/2010/main" val="1724262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201352" y="385993"/>
            <a:ext cx="3189870" cy="178838"/>
          </a:xfrm>
          <a:prstGeom prst="rect">
            <a:avLst/>
          </a:prstGeom>
        </p:spPr>
      </p:pic>
      <p:sp>
        <p:nvSpPr>
          <p:cNvPr id="4" name="object 4"/>
          <p:cNvSpPr/>
          <p:nvPr/>
        </p:nvSpPr>
        <p:spPr>
          <a:xfrm>
            <a:off x="1670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4F81BC"/>
          </a:solidFill>
        </p:spPr>
        <p:txBody>
          <a:bodyPr wrap="square" lIns="0" tIns="0" rIns="0" bIns="0" rtlCol="0"/>
          <a:lstStyle/>
          <a:p>
            <a:endParaRPr/>
          </a:p>
        </p:txBody>
      </p:sp>
      <p:sp>
        <p:nvSpPr>
          <p:cNvPr id="5" name="object 5"/>
          <p:cNvSpPr txBox="1">
            <a:spLocks noGrp="1"/>
          </p:cNvSpPr>
          <p:nvPr>
            <p:ph type="title"/>
          </p:nvPr>
        </p:nvSpPr>
        <p:spPr>
          <a:xfrm>
            <a:off x="2013001" y="869442"/>
            <a:ext cx="1171575" cy="330835"/>
          </a:xfrm>
          <a:prstGeom prst="rect">
            <a:avLst/>
          </a:prstGeom>
        </p:spPr>
        <p:txBody>
          <a:bodyPr vert="horz" wrap="square" lIns="0" tIns="13335" rIns="0" bIns="0" rtlCol="0" anchor="ctr">
            <a:spAutoFit/>
          </a:bodyPr>
          <a:lstStyle/>
          <a:p>
            <a:pPr marL="12700">
              <a:lnSpc>
                <a:spcPct val="100000"/>
              </a:lnSpc>
              <a:spcBef>
                <a:spcPts val="105"/>
              </a:spcBef>
            </a:pPr>
            <a:r>
              <a:rPr sz="2000" dirty="0">
                <a:solidFill>
                  <a:srgbClr val="FF0000"/>
                </a:solidFill>
                <a:latin typeface="Times New Roman"/>
                <a:cs typeface="Times New Roman"/>
              </a:rPr>
              <a:t>Research</a:t>
            </a:r>
            <a:r>
              <a:rPr sz="2000" spc="-65" dirty="0">
                <a:solidFill>
                  <a:srgbClr val="FF0000"/>
                </a:solidFill>
                <a:latin typeface="Times New Roman"/>
                <a:cs typeface="Times New Roman"/>
              </a:rPr>
              <a:t> </a:t>
            </a:r>
            <a:r>
              <a:rPr sz="2000" spc="-50" dirty="0">
                <a:solidFill>
                  <a:srgbClr val="FF0000"/>
                </a:solidFill>
                <a:latin typeface="Times New Roman"/>
                <a:cs typeface="Times New Roman"/>
              </a:rPr>
              <a:t>:</a:t>
            </a:r>
            <a:endParaRPr sz="2000" dirty="0">
              <a:solidFill>
                <a:srgbClr val="FF0000"/>
              </a:solidFill>
              <a:latin typeface="Times New Roman"/>
              <a:cs typeface="Times New Roman"/>
            </a:endParaRPr>
          </a:p>
        </p:txBody>
      </p:sp>
      <p:sp>
        <p:nvSpPr>
          <p:cNvPr id="6" name="object 6"/>
          <p:cNvSpPr txBox="1"/>
          <p:nvPr/>
        </p:nvSpPr>
        <p:spPr>
          <a:xfrm>
            <a:off x="2013001" y="1335787"/>
            <a:ext cx="8301355" cy="4433714"/>
          </a:xfrm>
          <a:prstGeom prst="rect">
            <a:avLst/>
          </a:prstGeom>
        </p:spPr>
        <p:txBody>
          <a:bodyPr vert="horz" wrap="square" lIns="0" tIns="13335" rIns="0" bIns="0" rtlCol="0">
            <a:spAutoFit/>
          </a:bodyPr>
          <a:lstStyle/>
          <a:p>
            <a:pPr marL="285750" marR="5080" indent="-273685">
              <a:lnSpc>
                <a:spcPct val="150000"/>
              </a:lnSpc>
              <a:spcBef>
                <a:spcPts val="490"/>
              </a:spcBef>
              <a:buClr>
                <a:srgbClr val="C00000"/>
              </a:buClr>
              <a:buSzPct val="85000"/>
              <a:buFont typeface="Wingdings 2"/>
              <a:buChar char=""/>
              <a:tabLst>
                <a:tab pos="285750" algn="l"/>
              </a:tabLst>
            </a:pPr>
            <a:r>
              <a:rPr sz="2000" dirty="0">
                <a:solidFill>
                  <a:srgbClr val="001F5F"/>
                </a:solidFill>
                <a:latin typeface="Times New Roman"/>
                <a:cs typeface="Times New Roman"/>
              </a:rPr>
              <a:t>Research</a:t>
            </a:r>
            <a:r>
              <a:rPr sz="2000" spc="180" dirty="0">
                <a:solidFill>
                  <a:srgbClr val="001F5F"/>
                </a:solidFill>
                <a:latin typeface="Times New Roman"/>
                <a:cs typeface="Times New Roman"/>
              </a:rPr>
              <a:t> </a:t>
            </a:r>
            <a:r>
              <a:rPr sz="2000" dirty="0">
                <a:solidFill>
                  <a:srgbClr val="001F5F"/>
                </a:solidFill>
                <a:latin typeface="Times New Roman"/>
                <a:cs typeface="Times New Roman"/>
              </a:rPr>
              <a:t>contributes</a:t>
            </a:r>
            <a:r>
              <a:rPr sz="2000" spc="170" dirty="0">
                <a:solidFill>
                  <a:srgbClr val="001F5F"/>
                </a:solidFill>
                <a:latin typeface="Times New Roman"/>
                <a:cs typeface="Times New Roman"/>
              </a:rPr>
              <a:t> </a:t>
            </a:r>
            <a:r>
              <a:rPr sz="2000" dirty="0">
                <a:solidFill>
                  <a:srgbClr val="001F5F"/>
                </a:solidFill>
                <a:latin typeface="Times New Roman"/>
                <a:cs typeface="Times New Roman"/>
              </a:rPr>
              <a:t>significantly</a:t>
            </a:r>
            <a:r>
              <a:rPr sz="2000" spc="165" dirty="0">
                <a:solidFill>
                  <a:srgbClr val="001F5F"/>
                </a:solidFill>
                <a:latin typeface="Times New Roman"/>
                <a:cs typeface="Times New Roman"/>
              </a:rPr>
              <a:t> </a:t>
            </a:r>
            <a:r>
              <a:rPr sz="2000" dirty="0">
                <a:solidFill>
                  <a:srgbClr val="001F5F"/>
                </a:solidFill>
                <a:latin typeface="Times New Roman"/>
                <a:cs typeface="Times New Roman"/>
              </a:rPr>
              <a:t>to</a:t>
            </a:r>
            <a:r>
              <a:rPr sz="2000" spc="185" dirty="0">
                <a:solidFill>
                  <a:srgbClr val="001F5F"/>
                </a:solidFill>
                <a:latin typeface="Times New Roman"/>
                <a:cs typeface="Times New Roman"/>
              </a:rPr>
              <a:t> </a:t>
            </a:r>
            <a:r>
              <a:rPr sz="2000" dirty="0">
                <a:solidFill>
                  <a:srgbClr val="001F5F"/>
                </a:solidFill>
                <a:latin typeface="Times New Roman"/>
                <a:cs typeface="Times New Roman"/>
              </a:rPr>
              <a:t>the</a:t>
            </a:r>
            <a:r>
              <a:rPr sz="2000" spc="165" dirty="0">
                <a:solidFill>
                  <a:srgbClr val="001F5F"/>
                </a:solidFill>
                <a:latin typeface="Times New Roman"/>
                <a:cs typeface="Times New Roman"/>
              </a:rPr>
              <a:t> </a:t>
            </a:r>
            <a:r>
              <a:rPr sz="2000" dirty="0">
                <a:solidFill>
                  <a:srgbClr val="001F5F"/>
                </a:solidFill>
                <a:latin typeface="Times New Roman"/>
                <a:cs typeface="Times New Roman"/>
              </a:rPr>
              <a:t>progress</a:t>
            </a:r>
            <a:r>
              <a:rPr sz="2000" spc="170" dirty="0">
                <a:solidFill>
                  <a:srgbClr val="001F5F"/>
                </a:solidFill>
                <a:latin typeface="Times New Roman"/>
                <a:cs typeface="Times New Roman"/>
              </a:rPr>
              <a:t> </a:t>
            </a:r>
            <a:r>
              <a:rPr sz="2000" dirty="0">
                <a:solidFill>
                  <a:srgbClr val="001F5F"/>
                </a:solidFill>
                <a:latin typeface="Times New Roman"/>
                <a:cs typeface="Times New Roman"/>
              </a:rPr>
              <a:t>of</a:t>
            </a:r>
            <a:r>
              <a:rPr sz="2000" spc="180" dirty="0">
                <a:solidFill>
                  <a:srgbClr val="001F5F"/>
                </a:solidFill>
                <a:latin typeface="Times New Roman"/>
                <a:cs typeface="Times New Roman"/>
              </a:rPr>
              <a:t> </a:t>
            </a:r>
            <a:r>
              <a:rPr sz="2000" dirty="0">
                <a:solidFill>
                  <a:srgbClr val="001F5F"/>
                </a:solidFill>
                <a:latin typeface="Times New Roman"/>
                <a:cs typeface="Times New Roman"/>
              </a:rPr>
              <a:t>the</a:t>
            </a:r>
            <a:r>
              <a:rPr sz="2000" spc="170" dirty="0">
                <a:solidFill>
                  <a:srgbClr val="001F5F"/>
                </a:solidFill>
                <a:latin typeface="Times New Roman"/>
                <a:cs typeface="Times New Roman"/>
              </a:rPr>
              <a:t> </a:t>
            </a:r>
            <a:r>
              <a:rPr sz="2000" dirty="0">
                <a:solidFill>
                  <a:srgbClr val="001F5F"/>
                </a:solidFill>
                <a:latin typeface="Times New Roman"/>
                <a:cs typeface="Times New Roman"/>
              </a:rPr>
              <a:t>nation</a:t>
            </a:r>
            <a:r>
              <a:rPr sz="2000" spc="190" dirty="0">
                <a:solidFill>
                  <a:srgbClr val="001F5F"/>
                </a:solidFill>
                <a:latin typeface="Times New Roman"/>
                <a:cs typeface="Times New Roman"/>
              </a:rPr>
              <a:t> </a:t>
            </a:r>
            <a:r>
              <a:rPr sz="2000" dirty="0">
                <a:solidFill>
                  <a:srgbClr val="001F5F"/>
                </a:solidFill>
                <a:latin typeface="Times New Roman"/>
                <a:cs typeface="Times New Roman"/>
              </a:rPr>
              <a:t>as</a:t>
            </a:r>
            <a:r>
              <a:rPr sz="2000" spc="180" dirty="0">
                <a:solidFill>
                  <a:srgbClr val="001F5F"/>
                </a:solidFill>
                <a:latin typeface="Times New Roman"/>
                <a:cs typeface="Times New Roman"/>
              </a:rPr>
              <a:t> </a:t>
            </a:r>
            <a:r>
              <a:rPr sz="2000" dirty="0">
                <a:solidFill>
                  <a:srgbClr val="001F5F"/>
                </a:solidFill>
                <a:latin typeface="Times New Roman"/>
                <a:cs typeface="Times New Roman"/>
              </a:rPr>
              <a:t>well</a:t>
            </a:r>
            <a:r>
              <a:rPr sz="2000" spc="155" dirty="0">
                <a:solidFill>
                  <a:srgbClr val="001F5F"/>
                </a:solidFill>
                <a:latin typeface="Times New Roman"/>
                <a:cs typeface="Times New Roman"/>
              </a:rPr>
              <a:t> </a:t>
            </a:r>
            <a:r>
              <a:rPr sz="2000" dirty="0">
                <a:solidFill>
                  <a:srgbClr val="001F5F"/>
                </a:solidFill>
                <a:latin typeface="Times New Roman"/>
                <a:cs typeface="Times New Roman"/>
              </a:rPr>
              <a:t>as</a:t>
            </a:r>
            <a:r>
              <a:rPr sz="2000" spc="180" dirty="0">
                <a:solidFill>
                  <a:srgbClr val="001F5F"/>
                </a:solidFill>
                <a:latin typeface="Times New Roman"/>
                <a:cs typeface="Times New Roman"/>
              </a:rPr>
              <a:t> </a:t>
            </a:r>
            <a:r>
              <a:rPr sz="2000" spc="-25" dirty="0">
                <a:solidFill>
                  <a:srgbClr val="001F5F"/>
                </a:solidFill>
                <a:latin typeface="Times New Roman"/>
                <a:cs typeface="Times New Roman"/>
              </a:rPr>
              <a:t>an </a:t>
            </a:r>
            <a:r>
              <a:rPr sz="2000" dirty="0">
                <a:solidFill>
                  <a:srgbClr val="001F5F"/>
                </a:solidFill>
                <a:latin typeface="Times New Roman"/>
                <a:cs typeface="Times New Roman"/>
              </a:rPr>
              <a:t>individual</a:t>
            </a:r>
            <a:r>
              <a:rPr sz="2000" spc="-65" dirty="0">
                <a:solidFill>
                  <a:srgbClr val="001F5F"/>
                </a:solidFill>
                <a:latin typeface="Times New Roman"/>
                <a:cs typeface="Times New Roman"/>
              </a:rPr>
              <a:t> </a:t>
            </a:r>
            <a:r>
              <a:rPr sz="2000" dirty="0">
                <a:solidFill>
                  <a:srgbClr val="001F5F"/>
                </a:solidFill>
                <a:latin typeface="Times New Roman"/>
                <a:cs typeface="Times New Roman"/>
              </a:rPr>
              <a:t>with</a:t>
            </a:r>
            <a:r>
              <a:rPr sz="2000" spc="-35" dirty="0">
                <a:solidFill>
                  <a:srgbClr val="001F5F"/>
                </a:solidFill>
                <a:latin typeface="Times New Roman"/>
                <a:cs typeface="Times New Roman"/>
              </a:rPr>
              <a:t> </a:t>
            </a:r>
            <a:r>
              <a:rPr sz="2000" dirty="0">
                <a:solidFill>
                  <a:srgbClr val="001F5F"/>
                </a:solidFill>
                <a:latin typeface="Times New Roman"/>
                <a:cs typeface="Times New Roman"/>
              </a:rPr>
              <a:t>commercial,</a:t>
            </a:r>
            <a:r>
              <a:rPr sz="2000" spc="-5" dirty="0">
                <a:solidFill>
                  <a:srgbClr val="001F5F"/>
                </a:solidFill>
                <a:latin typeface="Times New Roman"/>
                <a:cs typeface="Times New Roman"/>
              </a:rPr>
              <a:t> </a:t>
            </a:r>
            <a:r>
              <a:rPr sz="2000" dirty="0">
                <a:solidFill>
                  <a:srgbClr val="001F5F"/>
                </a:solidFill>
                <a:latin typeface="Times New Roman"/>
                <a:cs typeface="Times New Roman"/>
              </a:rPr>
              <a:t>social,</a:t>
            </a:r>
            <a:r>
              <a:rPr sz="2000" spc="-30" dirty="0">
                <a:solidFill>
                  <a:srgbClr val="001F5F"/>
                </a:solidFill>
                <a:latin typeface="Times New Roman"/>
                <a:cs typeface="Times New Roman"/>
              </a:rPr>
              <a:t> </a:t>
            </a:r>
            <a:r>
              <a:rPr sz="2000" dirty="0">
                <a:solidFill>
                  <a:srgbClr val="001F5F"/>
                </a:solidFill>
                <a:latin typeface="Times New Roman"/>
                <a:cs typeface="Times New Roman"/>
              </a:rPr>
              <a:t>and</a:t>
            </a:r>
            <a:r>
              <a:rPr sz="2000" spc="-25" dirty="0">
                <a:solidFill>
                  <a:srgbClr val="001F5F"/>
                </a:solidFill>
                <a:latin typeface="Times New Roman"/>
                <a:cs typeface="Times New Roman"/>
              </a:rPr>
              <a:t> </a:t>
            </a:r>
            <a:r>
              <a:rPr sz="2000" dirty="0">
                <a:solidFill>
                  <a:srgbClr val="001F5F"/>
                </a:solidFill>
                <a:latin typeface="Times New Roman"/>
                <a:cs typeface="Times New Roman"/>
              </a:rPr>
              <a:t>educational</a:t>
            </a:r>
            <a:r>
              <a:rPr sz="2000" spc="-55" dirty="0">
                <a:solidFill>
                  <a:srgbClr val="001F5F"/>
                </a:solidFill>
                <a:latin typeface="Times New Roman"/>
                <a:cs typeface="Times New Roman"/>
              </a:rPr>
              <a:t> </a:t>
            </a:r>
            <a:r>
              <a:rPr sz="2000" spc="-10" dirty="0">
                <a:solidFill>
                  <a:srgbClr val="001F5F"/>
                </a:solidFill>
                <a:latin typeface="Times New Roman"/>
                <a:cs typeface="Times New Roman"/>
              </a:rPr>
              <a:t>advantages.</a:t>
            </a:r>
            <a:endParaRPr sz="2000" dirty="0">
              <a:latin typeface="Times New Roman"/>
              <a:cs typeface="Times New Roman"/>
            </a:endParaRPr>
          </a:p>
          <a:p>
            <a:pPr marL="285115" indent="-272415">
              <a:spcBef>
                <a:spcPts val="1705"/>
              </a:spcBef>
              <a:buClr>
                <a:srgbClr val="C00000"/>
              </a:buClr>
              <a:buSzPct val="85000"/>
              <a:buFont typeface="Wingdings 2"/>
              <a:buChar char=""/>
              <a:tabLst>
                <a:tab pos="285115" algn="l"/>
              </a:tabLst>
            </a:pPr>
            <a:r>
              <a:rPr sz="2000" dirty="0">
                <a:solidFill>
                  <a:srgbClr val="001F5F"/>
                </a:solidFill>
                <a:latin typeface="Times New Roman"/>
                <a:cs typeface="Times New Roman"/>
              </a:rPr>
              <a:t>Research</a:t>
            </a:r>
            <a:r>
              <a:rPr sz="2000" spc="-25" dirty="0">
                <a:solidFill>
                  <a:srgbClr val="001F5F"/>
                </a:solidFill>
                <a:latin typeface="Times New Roman"/>
                <a:cs typeface="Times New Roman"/>
              </a:rPr>
              <a:t> </a:t>
            </a:r>
            <a:r>
              <a:rPr sz="2000" dirty="0">
                <a:solidFill>
                  <a:srgbClr val="001F5F"/>
                </a:solidFill>
                <a:latin typeface="Times New Roman"/>
                <a:cs typeface="Times New Roman"/>
              </a:rPr>
              <a:t>is</a:t>
            </a:r>
            <a:r>
              <a:rPr sz="2000" spc="-15" dirty="0">
                <a:solidFill>
                  <a:srgbClr val="001F5F"/>
                </a:solidFill>
                <a:latin typeface="Times New Roman"/>
                <a:cs typeface="Times New Roman"/>
              </a:rPr>
              <a:t> </a:t>
            </a:r>
            <a:r>
              <a:rPr sz="2000" dirty="0">
                <a:solidFill>
                  <a:srgbClr val="001F5F"/>
                </a:solidFill>
                <a:latin typeface="Times New Roman"/>
                <a:cs typeface="Times New Roman"/>
              </a:rPr>
              <a:t>an</a:t>
            </a:r>
            <a:r>
              <a:rPr sz="2000" spc="-15" dirty="0">
                <a:solidFill>
                  <a:srgbClr val="001F5F"/>
                </a:solidFill>
                <a:latin typeface="Times New Roman"/>
                <a:cs typeface="Times New Roman"/>
              </a:rPr>
              <a:t> </a:t>
            </a:r>
            <a:r>
              <a:rPr sz="2000" dirty="0">
                <a:solidFill>
                  <a:srgbClr val="001F5F"/>
                </a:solidFill>
                <a:latin typeface="Times New Roman"/>
                <a:cs typeface="Times New Roman"/>
              </a:rPr>
              <a:t>important</a:t>
            </a:r>
            <a:r>
              <a:rPr sz="2000" spc="-25" dirty="0">
                <a:solidFill>
                  <a:srgbClr val="001F5F"/>
                </a:solidFill>
                <a:latin typeface="Times New Roman"/>
                <a:cs typeface="Times New Roman"/>
              </a:rPr>
              <a:t> </a:t>
            </a:r>
            <a:r>
              <a:rPr sz="2000" dirty="0">
                <a:solidFill>
                  <a:srgbClr val="001F5F"/>
                </a:solidFill>
                <a:latin typeface="Times New Roman"/>
                <a:cs typeface="Times New Roman"/>
              </a:rPr>
              <a:t>parameter</a:t>
            </a:r>
            <a:r>
              <a:rPr sz="2000" spc="-25" dirty="0">
                <a:solidFill>
                  <a:srgbClr val="001F5F"/>
                </a:solidFill>
                <a:latin typeface="Times New Roman"/>
                <a:cs typeface="Times New Roman"/>
              </a:rPr>
              <a:t> </a:t>
            </a:r>
            <a:r>
              <a:rPr sz="2000" dirty="0">
                <a:solidFill>
                  <a:srgbClr val="001F5F"/>
                </a:solidFill>
                <a:latin typeface="Times New Roman"/>
                <a:cs typeface="Times New Roman"/>
              </a:rPr>
              <a:t>to</a:t>
            </a:r>
            <a:r>
              <a:rPr sz="2000" spc="-10" dirty="0">
                <a:solidFill>
                  <a:srgbClr val="001F5F"/>
                </a:solidFill>
                <a:latin typeface="Times New Roman"/>
                <a:cs typeface="Times New Roman"/>
              </a:rPr>
              <a:t> </a:t>
            </a:r>
            <a:r>
              <a:rPr sz="2000" dirty="0">
                <a:solidFill>
                  <a:srgbClr val="001F5F"/>
                </a:solidFill>
                <a:latin typeface="Times New Roman"/>
                <a:cs typeface="Times New Roman"/>
              </a:rPr>
              <a:t>judge</a:t>
            </a:r>
            <a:r>
              <a:rPr sz="2000" spc="-55" dirty="0">
                <a:solidFill>
                  <a:srgbClr val="001F5F"/>
                </a:solidFill>
                <a:latin typeface="Times New Roman"/>
                <a:cs typeface="Times New Roman"/>
              </a:rPr>
              <a:t> </a:t>
            </a:r>
            <a:r>
              <a:rPr sz="2000" dirty="0">
                <a:solidFill>
                  <a:srgbClr val="001F5F"/>
                </a:solidFill>
                <a:latin typeface="Times New Roman"/>
                <a:cs typeface="Times New Roman"/>
              </a:rPr>
              <a:t>the</a:t>
            </a:r>
            <a:r>
              <a:rPr sz="2000" spc="-15" dirty="0">
                <a:solidFill>
                  <a:srgbClr val="001F5F"/>
                </a:solidFill>
                <a:latin typeface="Times New Roman"/>
                <a:cs typeface="Times New Roman"/>
              </a:rPr>
              <a:t> </a:t>
            </a:r>
            <a:r>
              <a:rPr sz="2000" dirty="0">
                <a:solidFill>
                  <a:srgbClr val="001F5F"/>
                </a:solidFill>
                <a:latin typeface="Times New Roman"/>
                <a:cs typeface="Times New Roman"/>
              </a:rPr>
              <a:t>development</a:t>
            </a:r>
            <a:r>
              <a:rPr sz="2000" spc="-35" dirty="0">
                <a:solidFill>
                  <a:srgbClr val="001F5F"/>
                </a:solidFill>
                <a:latin typeface="Times New Roman"/>
                <a:cs typeface="Times New Roman"/>
              </a:rPr>
              <a:t> </a:t>
            </a:r>
            <a:r>
              <a:rPr sz="2000" dirty="0">
                <a:solidFill>
                  <a:srgbClr val="001F5F"/>
                </a:solidFill>
                <a:latin typeface="Times New Roman"/>
                <a:cs typeface="Times New Roman"/>
              </a:rPr>
              <a:t>of</a:t>
            </a:r>
            <a:r>
              <a:rPr sz="2000" spc="-25" dirty="0">
                <a:solidFill>
                  <a:srgbClr val="001F5F"/>
                </a:solidFill>
                <a:latin typeface="Times New Roman"/>
                <a:cs typeface="Times New Roman"/>
              </a:rPr>
              <a:t> </a:t>
            </a:r>
            <a:r>
              <a:rPr sz="2000" dirty="0">
                <a:solidFill>
                  <a:srgbClr val="001F5F"/>
                </a:solidFill>
                <a:latin typeface="Times New Roman"/>
                <a:cs typeface="Times New Roman"/>
              </a:rPr>
              <a:t>any</a:t>
            </a:r>
            <a:r>
              <a:rPr sz="2000" spc="-5" dirty="0">
                <a:solidFill>
                  <a:srgbClr val="001F5F"/>
                </a:solidFill>
                <a:latin typeface="Times New Roman"/>
                <a:cs typeface="Times New Roman"/>
              </a:rPr>
              <a:t> </a:t>
            </a:r>
            <a:r>
              <a:rPr sz="2000" spc="-10" dirty="0">
                <a:solidFill>
                  <a:srgbClr val="001F5F"/>
                </a:solidFill>
                <a:latin typeface="Times New Roman"/>
                <a:cs typeface="Times New Roman"/>
              </a:rPr>
              <a:t>nation.</a:t>
            </a:r>
            <a:endParaRPr sz="2000" dirty="0">
              <a:latin typeface="Times New Roman"/>
              <a:cs typeface="Times New Roman"/>
            </a:endParaRPr>
          </a:p>
          <a:p>
            <a:pPr marL="285115" indent="-272415">
              <a:spcBef>
                <a:spcPts val="1705"/>
              </a:spcBef>
              <a:buClr>
                <a:srgbClr val="C00000"/>
              </a:buClr>
              <a:buSzPct val="85000"/>
              <a:buFont typeface="Wingdings 2"/>
              <a:buChar char=""/>
              <a:tabLst>
                <a:tab pos="285115" algn="l"/>
              </a:tabLst>
            </a:pPr>
            <a:r>
              <a:rPr sz="2000" dirty="0">
                <a:solidFill>
                  <a:srgbClr val="001F5F"/>
                </a:solidFill>
                <a:latin typeface="Times New Roman"/>
                <a:cs typeface="Times New Roman"/>
              </a:rPr>
              <a:t>Research</a:t>
            </a:r>
            <a:r>
              <a:rPr sz="2000" spc="-25" dirty="0">
                <a:solidFill>
                  <a:srgbClr val="001F5F"/>
                </a:solidFill>
                <a:latin typeface="Times New Roman"/>
                <a:cs typeface="Times New Roman"/>
              </a:rPr>
              <a:t> </a:t>
            </a:r>
            <a:r>
              <a:rPr sz="2000" dirty="0">
                <a:solidFill>
                  <a:srgbClr val="001F5F"/>
                </a:solidFill>
                <a:latin typeface="Times New Roman"/>
                <a:cs typeface="Times New Roman"/>
              </a:rPr>
              <a:t>is</a:t>
            </a:r>
            <a:r>
              <a:rPr sz="2000" spc="-15" dirty="0">
                <a:solidFill>
                  <a:srgbClr val="001F5F"/>
                </a:solidFill>
                <a:latin typeface="Times New Roman"/>
                <a:cs typeface="Times New Roman"/>
              </a:rPr>
              <a:t> </a:t>
            </a:r>
            <a:r>
              <a:rPr sz="2000" dirty="0">
                <a:solidFill>
                  <a:srgbClr val="001F5F"/>
                </a:solidFill>
                <a:latin typeface="Times New Roman"/>
                <a:cs typeface="Times New Roman"/>
              </a:rPr>
              <a:t>an</a:t>
            </a:r>
            <a:r>
              <a:rPr sz="2000" spc="-10" dirty="0">
                <a:solidFill>
                  <a:srgbClr val="001F5F"/>
                </a:solidFill>
                <a:latin typeface="Times New Roman"/>
                <a:cs typeface="Times New Roman"/>
              </a:rPr>
              <a:t> </a:t>
            </a:r>
            <a:r>
              <a:rPr sz="2000" dirty="0">
                <a:solidFill>
                  <a:srgbClr val="001F5F"/>
                </a:solidFill>
                <a:latin typeface="Times New Roman"/>
                <a:cs typeface="Times New Roman"/>
              </a:rPr>
              <a:t>important</a:t>
            </a:r>
            <a:r>
              <a:rPr sz="2000" spc="-25" dirty="0">
                <a:solidFill>
                  <a:srgbClr val="001F5F"/>
                </a:solidFill>
                <a:latin typeface="Times New Roman"/>
                <a:cs typeface="Times New Roman"/>
              </a:rPr>
              <a:t> </a:t>
            </a:r>
            <a:r>
              <a:rPr sz="2000" dirty="0">
                <a:solidFill>
                  <a:srgbClr val="001F5F"/>
                </a:solidFill>
                <a:latin typeface="Times New Roman"/>
                <a:cs typeface="Times New Roman"/>
              </a:rPr>
              <a:t>component</a:t>
            </a:r>
            <a:r>
              <a:rPr sz="2000" spc="-45" dirty="0">
                <a:solidFill>
                  <a:srgbClr val="001F5F"/>
                </a:solidFill>
                <a:latin typeface="Times New Roman"/>
                <a:cs typeface="Times New Roman"/>
              </a:rPr>
              <a:t> </a:t>
            </a:r>
            <a:r>
              <a:rPr sz="2000" dirty="0">
                <a:solidFill>
                  <a:srgbClr val="001F5F"/>
                </a:solidFill>
                <a:latin typeface="Times New Roman"/>
                <a:cs typeface="Times New Roman"/>
              </a:rPr>
              <a:t>of</a:t>
            </a:r>
            <a:r>
              <a:rPr sz="2000" spc="-20" dirty="0">
                <a:solidFill>
                  <a:srgbClr val="001F5F"/>
                </a:solidFill>
                <a:latin typeface="Times New Roman"/>
                <a:cs typeface="Times New Roman"/>
              </a:rPr>
              <a:t> </a:t>
            </a:r>
            <a:r>
              <a:rPr sz="2000" dirty="0">
                <a:solidFill>
                  <a:srgbClr val="001F5F"/>
                </a:solidFill>
                <a:latin typeface="Times New Roman"/>
                <a:cs typeface="Times New Roman"/>
              </a:rPr>
              <a:t>private</a:t>
            </a:r>
            <a:r>
              <a:rPr sz="2000" spc="-45" dirty="0">
                <a:solidFill>
                  <a:srgbClr val="001F5F"/>
                </a:solidFill>
                <a:latin typeface="Times New Roman"/>
                <a:cs typeface="Times New Roman"/>
              </a:rPr>
              <a:t> </a:t>
            </a:r>
            <a:r>
              <a:rPr sz="2000" dirty="0">
                <a:solidFill>
                  <a:srgbClr val="001F5F"/>
                </a:solidFill>
                <a:latin typeface="Times New Roman"/>
                <a:cs typeface="Times New Roman"/>
              </a:rPr>
              <a:t>and</a:t>
            </a:r>
            <a:r>
              <a:rPr sz="2000" spc="-5" dirty="0">
                <a:solidFill>
                  <a:srgbClr val="001F5F"/>
                </a:solidFill>
                <a:latin typeface="Times New Roman"/>
                <a:cs typeface="Times New Roman"/>
              </a:rPr>
              <a:t> </a:t>
            </a:r>
            <a:r>
              <a:rPr sz="2000" dirty="0">
                <a:solidFill>
                  <a:srgbClr val="001F5F"/>
                </a:solidFill>
                <a:latin typeface="Times New Roman"/>
                <a:cs typeface="Times New Roman"/>
              </a:rPr>
              <a:t>government</a:t>
            </a:r>
            <a:r>
              <a:rPr sz="2000" spc="-30" dirty="0">
                <a:solidFill>
                  <a:srgbClr val="001F5F"/>
                </a:solidFill>
                <a:latin typeface="Times New Roman"/>
                <a:cs typeface="Times New Roman"/>
              </a:rPr>
              <a:t> </a:t>
            </a:r>
            <a:r>
              <a:rPr sz="2000" spc="-10" dirty="0">
                <a:solidFill>
                  <a:srgbClr val="001F5F"/>
                </a:solidFill>
                <a:latin typeface="Times New Roman"/>
                <a:cs typeface="Times New Roman"/>
              </a:rPr>
              <a:t>sectors.</a:t>
            </a:r>
            <a:endParaRPr sz="2000" dirty="0">
              <a:latin typeface="Times New Roman"/>
              <a:cs typeface="Times New Roman"/>
            </a:endParaRPr>
          </a:p>
          <a:p>
            <a:pPr marL="285115" indent="-272415">
              <a:spcBef>
                <a:spcPts val="1695"/>
              </a:spcBef>
              <a:buClr>
                <a:srgbClr val="C00000"/>
              </a:buClr>
              <a:buSzPct val="85000"/>
              <a:buFont typeface="Wingdings 2"/>
              <a:buChar char=""/>
              <a:tabLst>
                <a:tab pos="285115" algn="l"/>
              </a:tabLst>
            </a:pPr>
            <a:r>
              <a:rPr sz="2000" dirty="0">
                <a:solidFill>
                  <a:srgbClr val="001F5F"/>
                </a:solidFill>
                <a:latin typeface="Times New Roman"/>
                <a:cs typeface="Times New Roman"/>
              </a:rPr>
              <a:t>Nowadays,</a:t>
            </a:r>
            <a:r>
              <a:rPr sz="2000" spc="-45" dirty="0">
                <a:solidFill>
                  <a:srgbClr val="001F5F"/>
                </a:solidFill>
                <a:latin typeface="Times New Roman"/>
                <a:cs typeface="Times New Roman"/>
              </a:rPr>
              <a:t> </a:t>
            </a:r>
            <a:r>
              <a:rPr sz="2000" dirty="0">
                <a:solidFill>
                  <a:srgbClr val="001F5F"/>
                </a:solidFill>
                <a:latin typeface="Times New Roman"/>
                <a:cs typeface="Times New Roman"/>
              </a:rPr>
              <a:t>interdisciplinary</a:t>
            </a:r>
            <a:r>
              <a:rPr sz="2000" spc="-45" dirty="0">
                <a:solidFill>
                  <a:srgbClr val="001F5F"/>
                </a:solidFill>
                <a:latin typeface="Times New Roman"/>
                <a:cs typeface="Times New Roman"/>
              </a:rPr>
              <a:t> </a:t>
            </a:r>
            <a:r>
              <a:rPr sz="2000" dirty="0">
                <a:solidFill>
                  <a:srgbClr val="001F5F"/>
                </a:solidFill>
                <a:latin typeface="Times New Roman"/>
                <a:cs typeface="Times New Roman"/>
              </a:rPr>
              <a:t>research</a:t>
            </a:r>
            <a:r>
              <a:rPr sz="2000" spc="-35" dirty="0">
                <a:solidFill>
                  <a:srgbClr val="001F5F"/>
                </a:solidFill>
                <a:latin typeface="Times New Roman"/>
                <a:cs typeface="Times New Roman"/>
              </a:rPr>
              <a:t> </a:t>
            </a:r>
            <a:r>
              <a:rPr sz="2000" dirty="0">
                <a:solidFill>
                  <a:srgbClr val="001F5F"/>
                </a:solidFill>
                <a:latin typeface="Times New Roman"/>
                <a:cs typeface="Times New Roman"/>
              </a:rPr>
              <a:t>is</a:t>
            </a:r>
            <a:r>
              <a:rPr sz="2000" spc="-20" dirty="0">
                <a:solidFill>
                  <a:srgbClr val="001F5F"/>
                </a:solidFill>
                <a:latin typeface="Times New Roman"/>
                <a:cs typeface="Times New Roman"/>
              </a:rPr>
              <a:t> </a:t>
            </a:r>
            <a:r>
              <a:rPr sz="2000" dirty="0">
                <a:solidFill>
                  <a:srgbClr val="001F5F"/>
                </a:solidFill>
                <a:latin typeface="Times New Roman"/>
                <a:cs typeface="Times New Roman"/>
              </a:rPr>
              <a:t>at</a:t>
            </a:r>
            <a:r>
              <a:rPr sz="2000" spc="-25" dirty="0">
                <a:solidFill>
                  <a:srgbClr val="001F5F"/>
                </a:solidFill>
                <a:latin typeface="Times New Roman"/>
                <a:cs typeface="Times New Roman"/>
              </a:rPr>
              <a:t> </a:t>
            </a:r>
            <a:r>
              <a:rPr sz="2000" dirty="0">
                <a:solidFill>
                  <a:srgbClr val="001F5F"/>
                </a:solidFill>
                <a:latin typeface="Times New Roman"/>
                <a:cs typeface="Times New Roman"/>
              </a:rPr>
              <a:t>high</a:t>
            </a:r>
            <a:r>
              <a:rPr sz="2000" spc="-25" dirty="0">
                <a:solidFill>
                  <a:srgbClr val="001F5F"/>
                </a:solidFill>
                <a:latin typeface="Times New Roman"/>
                <a:cs typeface="Times New Roman"/>
              </a:rPr>
              <a:t> </a:t>
            </a:r>
            <a:r>
              <a:rPr sz="2000" spc="-10" dirty="0">
                <a:solidFill>
                  <a:srgbClr val="001F5F"/>
                </a:solidFill>
                <a:latin typeface="Times New Roman"/>
                <a:cs typeface="Times New Roman"/>
              </a:rPr>
              <a:t>demand.</a:t>
            </a:r>
            <a:endParaRPr sz="2000" dirty="0">
              <a:latin typeface="Times New Roman"/>
              <a:cs typeface="Times New Roman"/>
            </a:endParaRPr>
          </a:p>
          <a:p>
            <a:pPr marL="285115" indent="-272415">
              <a:spcBef>
                <a:spcPts val="1705"/>
              </a:spcBef>
              <a:buClr>
                <a:srgbClr val="C00000"/>
              </a:buClr>
              <a:buSzPct val="85000"/>
              <a:buFont typeface="Wingdings 2"/>
              <a:buChar char=""/>
              <a:tabLst>
                <a:tab pos="285115" algn="l"/>
                <a:tab pos="1381125" algn="l"/>
                <a:tab pos="2221230" algn="l"/>
                <a:tab pos="3089910" algn="l"/>
                <a:tab pos="3630929" algn="l"/>
                <a:tab pos="3978275" algn="l"/>
                <a:tab pos="5129530" algn="l"/>
                <a:tab pos="6130925" algn="l"/>
                <a:tab pos="7209790" algn="l"/>
                <a:tab pos="7569834" algn="l"/>
              </a:tabLst>
            </a:pPr>
            <a:r>
              <a:rPr sz="2000" spc="-10" dirty="0">
                <a:solidFill>
                  <a:srgbClr val="001F5F"/>
                </a:solidFill>
                <a:latin typeface="Times New Roman"/>
                <a:cs typeface="Times New Roman"/>
              </a:rPr>
              <a:t>Research</a:t>
            </a:r>
            <a:r>
              <a:rPr sz="2000" dirty="0">
                <a:solidFill>
                  <a:srgbClr val="001F5F"/>
                </a:solidFill>
                <a:latin typeface="Times New Roman"/>
                <a:cs typeface="Times New Roman"/>
              </a:rPr>
              <a:t>	</a:t>
            </a:r>
            <a:r>
              <a:rPr sz="2000" spc="-10" dirty="0">
                <a:solidFill>
                  <a:srgbClr val="001F5F"/>
                </a:solidFill>
                <a:latin typeface="Times New Roman"/>
                <a:cs typeface="Times New Roman"/>
              </a:rPr>
              <a:t>should</a:t>
            </a:r>
            <a:r>
              <a:rPr sz="2000" dirty="0">
                <a:solidFill>
                  <a:srgbClr val="001F5F"/>
                </a:solidFill>
                <a:latin typeface="Times New Roman"/>
                <a:cs typeface="Times New Roman"/>
              </a:rPr>
              <a:t>	</a:t>
            </a:r>
            <a:r>
              <a:rPr sz="2000" spc="-10" dirty="0">
                <a:solidFill>
                  <a:srgbClr val="001F5F"/>
                </a:solidFill>
                <a:latin typeface="Times New Roman"/>
                <a:cs typeface="Times New Roman"/>
              </a:rPr>
              <a:t>always</a:t>
            </a:r>
            <a:r>
              <a:rPr sz="2000" dirty="0">
                <a:solidFill>
                  <a:srgbClr val="001F5F"/>
                </a:solidFill>
                <a:latin typeface="Times New Roman"/>
                <a:cs typeface="Times New Roman"/>
              </a:rPr>
              <a:t>	</a:t>
            </a:r>
            <a:r>
              <a:rPr sz="2000" spc="-25" dirty="0">
                <a:solidFill>
                  <a:srgbClr val="001F5F"/>
                </a:solidFill>
                <a:latin typeface="Times New Roman"/>
                <a:cs typeface="Times New Roman"/>
              </a:rPr>
              <a:t>aim</a:t>
            </a:r>
            <a:r>
              <a:rPr sz="2000" dirty="0">
                <a:solidFill>
                  <a:srgbClr val="001F5F"/>
                </a:solidFill>
                <a:latin typeface="Times New Roman"/>
                <a:cs typeface="Times New Roman"/>
              </a:rPr>
              <a:t>	</a:t>
            </a:r>
            <a:r>
              <a:rPr sz="2000" spc="-25" dirty="0">
                <a:solidFill>
                  <a:srgbClr val="001F5F"/>
                </a:solidFill>
                <a:latin typeface="Times New Roman"/>
                <a:cs typeface="Times New Roman"/>
              </a:rPr>
              <a:t>at</a:t>
            </a:r>
            <a:r>
              <a:rPr sz="2000" dirty="0">
                <a:solidFill>
                  <a:srgbClr val="001F5F"/>
                </a:solidFill>
                <a:latin typeface="Times New Roman"/>
                <a:cs typeface="Times New Roman"/>
              </a:rPr>
              <a:t>	</a:t>
            </a:r>
            <a:r>
              <a:rPr sz="2000" spc="-10" dirty="0">
                <a:solidFill>
                  <a:srgbClr val="001F5F"/>
                </a:solidFill>
                <a:latin typeface="Times New Roman"/>
                <a:cs typeface="Times New Roman"/>
              </a:rPr>
              <a:t>providing</a:t>
            </a:r>
            <a:r>
              <a:rPr sz="2000" dirty="0">
                <a:solidFill>
                  <a:srgbClr val="001F5F"/>
                </a:solidFill>
                <a:latin typeface="Times New Roman"/>
                <a:cs typeface="Times New Roman"/>
              </a:rPr>
              <a:t>	</a:t>
            </a:r>
            <a:r>
              <a:rPr sz="2000" spc="-10" dirty="0">
                <a:solidFill>
                  <a:srgbClr val="001F5F"/>
                </a:solidFill>
                <a:latin typeface="Times New Roman"/>
                <a:cs typeface="Times New Roman"/>
              </a:rPr>
              <a:t>efficient</a:t>
            </a:r>
            <a:r>
              <a:rPr sz="2000" dirty="0">
                <a:solidFill>
                  <a:srgbClr val="001F5F"/>
                </a:solidFill>
                <a:latin typeface="Times New Roman"/>
                <a:cs typeface="Times New Roman"/>
              </a:rPr>
              <a:t>	</a:t>
            </a:r>
            <a:r>
              <a:rPr sz="2000" spc="-10" dirty="0">
                <a:solidFill>
                  <a:srgbClr val="001F5F"/>
                </a:solidFill>
                <a:latin typeface="Times New Roman"/>
                <a:cs typeface="Times New Roman"/>
              </a:rPr>
              <a:t>solutions</a:t>
            </a:r>
            <a:r>
              <a:rPr sz="2000" dirty="0">
                <a:solidFill>
                  <a:srgbClr val="001F5F"/>
                </a:solidFill>
                <a:latin typeface="Times New Roman"/>
                <a:cs typeface="Times New Roman"/>
              </a:rPr>
              <a:t>	</a:t>
            </a:r>
            <a:r>
              <a:rPr sz="2000" spc="-25" dirty="0">
                <a:solidFill>
                  <a:srgbClr val="001F5F"/>
                </a:solidFill>
                <a:latin typeface="Times New Roman"/>
                <a:cs typeface="Times New Roman"/>
              </a:rPr>
              <a:t>to</a:t>
            </a:r>
            <a:r>
              <a:rPr sz="2000" dirty="0">
                <a:solidFill>
                  <a:srgbClr val="001F5F"/>
                </a:solidFill>
                <a:latin typeface="Times New Roman"/>
                <a:cs typeface="Times New Roman"/>
              </a:rPr>
              <a:t>	</a:t>
            </a:r>
            <a:r>
              <a:rPr sz="2000" spc="-10" dirty="0">
                <a:solidFill>
                  <a:srgbClr val="001F5F"/>
                </a:solidFill>
                <a:latin typeface="Times New Roman"/>
                <a:cs typeface="Times New Roman"/>
              </a:rPr>
              <a:t>routine</a:t>
            </a:r>
            <a:endParaRPr sz="2000" dirty="0">
              <a:latin typeface="Times New Roman"/>
              <a:cs typeface="Times New Roman"/>
            </a:endParaRPr>
          </a:p>
          <a:p>
            <a:pPr marL="285750">
              <a:spcBef>
                <a:spcPts val="1200"/>
              </a:spcBef>
            </a:pPr>
            <a:r>
              <a:rPr sz="2000" spc="-10" dirty="0">
                <a:solidFill>
                  <a:srgbClr val="001F5F"/>
                </a:solidFill>
                <a:latin typeface="Times New Roman"/>
                <a:cs typeface="Times New Roman"/>
              </a:rPr>
              <a:t>problems.</a:t>
            </a:r>
            <a:endParaRPr sz="2000" dirty="0">
              <a:latin typeface="Times New Roman"/>
              <a:cs typeface="Times New Roman"/>
            </a:endParaRPr>
          </a:p>
          <a:p>
            <a:pPr marL="285750" marR="6350" indent="-273685">
              <a:lnSpc>
                <a:spcPct val="150000"/>
              </a:lnSpc>
              <a:spcBef>
                <a:spcPts val="505"/>
              </a:spcBef>
              <a:buClr>
                <a:srgbClr val="C00000"/>
              </a:buClr>
              <a:buSzPct val="85000"/>
              <a:buFont typeface="Wingdings 2"/>
              <a:buChar char=""/>
              <a:tabLst>
                <a:tab pos="285750" algn="l"/>
                <a:tab pos="1644650" algn="l"/>
                <a:tab pos="2454275" algn="l"/>
                <a:tab pos="3484879" algn="l"/>
                <a:tab pos="4323080" algn="l"/>
                <a:tab pos="4763770" algn="l"/>
                <a:tab pos="6049645" algn="l"/>
                <a:tab pos="7028815" algn="l"/>
                <a:tab pos="7920355" algn="l"/>
              </a:tabLst>
            </a:pPr>
            <a:r>
              <a:rPr sz="2000" spc="-10" dirty="0">
                <a:solidFill>
                  <a:srgbClr val="001F5F"/>
                </a:solidFill>
                <a:latin typeface="Times New Roman"/>
                <a:cs typeface="Times New Roman"/>
              </a:rPr>
              <a:t>Researchers</a:t>
            </a:r>
            <a:r>
              <a:rPr sz="2000" dirty="0">
                <a:solidFill>
                  <a:srgbClr val="001F5F"/>
                </a:solidFill>
                <a:latin typeface="Times New Roman"/>
                <a:cs typeface="Times New Roman"/>
              </a:rPr>
              <a:t>	</a:t>
            </a:r>
            <a:r>
              <a:rPr sz="2000" spc="-10" dirty="0">
                <a:solidFill>
                  <a:srgbClr val="001F5F"/>
                </a:solidFill>
                <a:latin typeface="Times New Roman"/>
                <a:cs typeface="Times New Roman"/>
              </a:rPr>
              <a:t>should</a:t>
            </a:r>
            <a:r>
              <a:rPr sz="2000" dirty="0">
                <a:solidFill>
                  <a:srgbClr val="001F5F"/>
                </a:solidFill>
                <a:latin typeface="Times New Roman"/>
                <a:cs typeface="Times New Roman"/>
              </a:rPr>
              <a:t>	</a:t>
            </a:r>
            <a:r>
              <a:rPr sz="2000" spc="-10" dirty="0">
                <a:solidFill>
                  <a:srgbClr val="001F5F"/>
                </a:solidFill>
                <a:latin typeface="Times New Roman"/>
                <a:cs typeface="Times New Roman"/>
              </a:rPr>
              <a:t>carefully</a:t>
            </a:r>
            <a:r>
              <a:rPr sz="2000" dirty="0">
                <a:solidFill>
                  <a:srgbClr val="001F5F"/>
                </a:solidFill>
                <a:latin typeface="Times New Roman"/>
                <a:cs typeface="Times New Roman"/>
              </a:rPr>
              <a:t>	</a:t>
            </a:r>
            <a:r>
              <a:rPr sz="2000" spc="-10" dirty="0">
                <a:solidFill>
                  <a:srgbClr val="001F5F"/>
                </a:solidFill>
                <a:latin typeface="Times New Roman"/>
                <a:cs typeface="Times New Roman"/>
              </a:rPr>
              <a:t>choose</a:t>
            </a:r>
            <a:r>
              <a:rPr sz="2000" dirty="0">
                <a:solidFill>
                  <a:srgbClr val="001F5F"/>
                </a:solidFill>
                <a:latin typeface="Times New Roman"/>
                <a:cs typeface="Times New Roman"/>
              </a:rPr>
              <a:t>	</a:t>
            </a:r>
            <a:r>
              <a:rPr sz="2000" spc="-25" dirty="0">
                <a:solidFill>
                  <a:srgbClr val="001F5F"/>
                </a:solidFill>
                <a:latin typeface="Times New Roman"/>
                <a:cs typeface="Times New Roman"/>
              </a:rPr>
              <a:t>the</a:t>
            </a:r>
            <a:r>
              <a:rPr sz="2000" dirty="0">
                <a:solidFill>
                  <a:srgbClr val="001F5F"/>
                </a:solidFill>
                <a:latin typeface="Times New Roman"/>
                <a:cs typeface="Times New Roman"/>
              </a:rPr>
              <a:t>	</a:t>
            </a:r>
            <a:r>
              <a:rPr sz="2000" spc="-10" dirty="0">
                <a:solidFill>
                  <a:srgbClr val="001F5F"/>
                </a:solidFill>
                <a:latin typeface="Times New Roman"/>
                <a:cs typeface="Times New Roman"/>
              </a:rPr>
              <a:t>appropriate</a:t>
            </a:r>
            <a:r>
              <a:rPr sz="2000" dirty="0">
                <a:solidFill>
                  <a:srgbClr val="001F5F"/>
                </a:solidFill>
                <a:latin typeface="Times New Roman"/>
                <a:cs typeface="Times New Roman"/>
              </a:rPr>
              <a:t>	</a:t>
            </a:r>
            <a:r>
              <a:rPr sz="2000" spc="-10" dirty="0">
                <a:solidFill>
                  <a:srgbClr val="001F5F"/>
                </a:solidFill>
                <a:latin typeface="Times New Roman"/>
                <a:cs typeface="Times New Roman"/>
              </a:rPr>
              <a:t>research</a:t>
            </a:r>
            <a:r>
              <a:rPr sz="2000" dirty="0">
                <a:solidFill>
                  <a:srgbClr val="001F5F"/>
                </a:solidFill>
                <a:latin typeface="Times New Roman"/>
                <a:cs typeface="Times New Roman"/>
              </a:rPr>
              <a:t>	</a:t>
            </a:r>
            <a:r>
              <a:rPr sz="2000" spc="-10" dirty="0">
                <a:solidFill>
                  <a:srgbClr val="001F5F"/>
                </a:solidFill>
                <a:latin typeface="Times New Roman"/>
                <a:cs typeface="Times New Roman"/>
              </a:rPr>
              <a:t>method</a:t>
            </a:r>
            <a:r>
              <a:rPr sz="2000" dirty="0">
                <a:solidFill>
                  <a:srgbClr val="001F5F"/>
                </a:solidFill>
                <a:latin typeface="Times New Roman"/>
                <a:cs typeface="Times New Roman"/>
              </a:rPr>
              <a:t>	</a:t>
            </a:r>
            <a:r>
              <a:rPr sz="2000" spc="-25" dirty="0">
                <a:solidFill>
                  <a:srgbClr val="001F5F"/>
                </a:solidFill>
                <a:latin typeface="Times New Roman"/>
                <a:cs typeface="Times New Roman"/>
              </a:rPr>
              <a:t>and </a:t>
            </a:r>
            <a:r>
              <a:rPr sz="2000" dirty="0">
                <a:solidFill>
                  <a:srgbClr val="001F5F"/>
                </a:solidFill>
                <a:latin typeface="Times New Roman"/>
                <a:cs typeface="Times New Roman"/>
              </a:rPr>
              <a:t>follow</a:t>
            </a:r>
            <a:r>
              <a:rPr sz="2000" spc="-25" dirty="0">
                <a:solidFill>
                  <a:srgbClr val="001F5F"/>
                </a:solidFill>
                <a:latin typeface="Times New Roman"/>
                <a:cs typeface="Times New Roman"/>
              </a:rPr>
              <a:t> </a:t>
            </a:r>
            <a:r>
              <a:rPr sz="2000" dirty="0">
                <a:solidFill>
                  <a:srgbClr val="001F5F"/>
                </a:solidFill>
                <a:latin typeface="Times New Roman"/>
                <a:cs typeface="Times New Roman"/>
              </a:rPr>
              <a:t>a</a:t>
            </a:r>
            <a:r>
              <a:rPr sz="2000" spc="-5" dirty="0">
                <a:solidFill>
                  <a:srgbClr val="001F5F"/>
                </a:solidFill>
                <a:latin typeface="Times New Roman"/>
                <a:cs typeface="Times New Roman"/>
              </a:rPr>
              <a:t> </a:t>
            </a:r>
            <a:r>
              <a:rPr sz="2000" dirty="0">
                <a:solidFill>
                  <a:srgbClr val="001F5F"/>
                </a:solidFill>
                <a:latin typeface="Times New Roman"/>
                <a:cs typeface="Times New Roman"/>
              </a:rPr>
              <a:t>research</a:t>
            </a:r>
            <a:r>
              <a:rPr sz="2000" spc="-30" dirty="0">
                <a:solidFill>
                  <a:srgbClr val="001F5F"/>
                </a:solidFill>
                <a:latin typeface="Times New Roman"/>
                <a:cs typeface="Times New Roman"/>
              </a:rPr>
              <a:t> </a:t>
            </a:r>
            <a:r>
              <a:rPr sz="2000" dirty="0">
                <a:solidFill>
                  <a:srgbClr val="001F5F"/>
                </a:solidFill>
                <a:latin typeface="Times New Roman"/>
                <a:cs typeface="Times New Roman"/>
              </a:rPr>
              <a:t>process</a:t>
            </a:r>
            <a:r>
              <a:rPr sz="2000" spc="-45" dirty="0">
                <a:solidFill>
                  <a:srgbClr val="001F5F"/>
                </a:solidFill>
                <a:latin typeface="Times New Roman"/>
                <a:cs typeface="Times New Roman"/>
              </a:rPr>
              <a:t> </a:t>
            </a:r>
            <a:r>
              <a:rPr sz="2000" dirty="0">
                <a:solidFill>
                  <a:srgbClr val="001F5F"/>
                </a:solidFill>
                <a:latin typeface="Times New Roman"/>
                <a:cs typeface="Times New Roman"/>
              </a:rPr>
              <a:t>by</a:t>
            </a:r>
            <a:r>
              <a:rPr sz="2000" spc="-20" dirty="0">
                <a:solidFill>
                  <a:srgbClr val="001F5F"/>
                </a:solidFill>
                <a:latin typeface="Times New Roman"/>
                <a:cs typeface="Times New Roman"/>
              </a:rPr>
              <a:t> </a:t>
            </a:r>
            <a:r>
              <a:rPr sz="2000" dirty="0">
                <a:solidFill>
                  <a:srgbClr val="001F5F"/>
                </a:solidFill>
                <a:latin typeface="Times New Roman"/>
                <a:cs typeface="Times New Roman"/>
              </a:rPr>
              <a:t>referring</a:t>
            </a:r>
            <a:r>
              <a:rPr sz="2000" spc="-35" dirty="0">
                <a:solidFill>
                  <a:srgbClr val="001F5F"/>
                </a:solidFill>
                <a:latin typeface="Times New Roman"/>
                <a:cs typeface="Times New Roman"/>
              </a:rPr>
              <a:t> </a:t>
            </a:r>
            <a:r>
              <a:rPr sz="2000" dirty="0">
                <a:solidFill>
                  <a:srgbClr val="001F5F"/>
                </a:solidFill>
                <a:latin typeface="Times New Roman"/>
                <a:cs typeface="Times New Roman"/>
              </a:rPr>
              <a:t>to</a:t>
            </a:r>
            <a:r>
              <a:rPr sz="2000" spc="-5" dirty="0">
                <a:solidFill>
                  <a:srgbClr val="001F5F"/>
                </a:solidFill>
                <a:latin typeface="Times New Roman"/>
                <a:cs typeface="Times New Roman"/>
              </a:rPr>
              <a:t> </a:t>
            </a:r>
            <a:r>
              <a:rPr sz="2000" dirty="0">
                <a:solidFill>
                  <a:srgbClr val="001F5F"/>
                </a:solidFill>
                <a:latin typeface="Times New Roman"/>
                <a:cs typeface="Times New Roman"/>
              </a:rPr>
              <a:t>existing</a:t>
            </a:r>
            <a:r>
              <a:rPr sz="2000" spc="-25" dirty="0">
                <a:solidFill>
                  <a:srgbClr val="001F5F"/>
                </a:solidFill>
                <a:latin typeface="Times New Roman"/>
                <a:cs typeface="Times New Roman"/>
              </a:rPr>
              <a:t> </a:t>
            </a:r>
            <a:r>
              <a:rPr sz="2000" spc="-10" dirty="0">
                <a:solidFill>
                  <a:srgbClr val="001F5F"/>
                </a:solidFill>
                <a:latin typeface="Times New Roman"/>
                <a:cs typeface="Times New Roman"/>
              </a:rPr>
              <a:t>theories.</a:t>
            </a:r>
            <a:endParaRPr sz="2000" dirty="0">
              <a:latin typeface="Times New Roman"/>
              <a:cs typeface="Times New Roman"/>
            </a:endParaRPr>
          </a:p>
        </p:txBody>
      </p:sp>
      <p:pic>
        <p:nvPicPr>
          <p:cNvPr id="7" name="object 7"/>
          <p:cNvPicPr/>
          <p:nvPr/>
        </p:nvPicPr>
        <p:blipFill>
          <a:blip r:embed="rId3" cstate="print"/>
          <a:stretch>
            <a:fillRect/>
          </a:stretch>
        </p:blipFill>
        <p:spPr>
          <a:xfrm>
            <a:off x="1905000" y="0"/>
            <a:ext cx="1905000" cy="914400"/>
          </a:xfrm>
          <a:prstGeom prst="rect">
            <a:avLst/>
          </a:prstGeom>
        </p:spPr>
      </p:pic>
      <p:sp>
        <p:nvSpPr>
          <p:cNvPr id="12" name="Slide Number Placeholder 11"/>
          <p:cNvSpPr>
            <a:spLocks noGrp="1"/>
          </p:cNvSpPr>
          <p:nvPr>
            <p:ph type="sldNum" sz="quarter" idx="7"/>
          </p:nvPr>
        </p:nvSpPr>
        <p:spPr>
          <a:xfrm>
            <a:off x="230428" y="6329531"/>
            <a:ext cx="299720" cy="227965"/>
          </a:xfrm>
          <a:prstGeom prst="rect">
            <a:avLst/>
          </a:prstGeom>
        </p:spPr>
        <p:txBody>
          <a:bodyPr wrap="square" lIns="0" tIns="0" rIns="0" bIns="0">
            <a:spAutoFit/>
          </a:bodyPr>
          <a:lstStyle>
            <a:defPPr>
              <a:defRPr kern="0"/>
            </a:defPPr>
            <a:lvl1pPr>
              <a:defRPr sz="1400" b="0" i="0">
                <a:solidFill>
                  <a:schemeClr val="bg1"/>
                </a:solidFill>
                <a:latin typeface="Franklin Gothic Book"/>
                <a:cs typeface="Franklin Gothic Book"/>
              </a:defRPr>
            </a:lvl1pPr>
          </a:lstStyle>
          <a:p>
            <a:pPr marL="38100">
              <a:lnSpc>
                <a:spcPts val="1664"/>
              </a:lnSpc>
            </a:pPr>
            <a:fld id="{81D60167-4931-47E6-BA6A-407CBD079E47}" type="slidenum">
              <a:rPr lang="en-IN" spc="-25" smtClean="0"/>
              <a:pPr marL="38100">
                <a:lnSpc>
                  <a:spcPts val="1664"/>
                </a:lnSpc>
              </a:pPr>
              <a:t>6</a:t>
            </a:fld>
            <a:endParaRPr lang="en-US" spc="-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05686"/>
          </a:xfrm>
        </p:spPr>
        <p:txBody>
          <a:bodyPr>
            <a:normAutofit/>
          </a:bodyPr>
          <a:lstStyle/>
          <a:p>
            <a:pPr algn="ctr"/>
            <a:r>
              <a:rPr lang="en-US" sz="3200" b="1" dirty="0">
                <a:solidFill>
                  <a:srgbClr val="0000FF"/>
                </a:solidFill>
              </a:rPr>
              <a:t>Definition of Research in Common Parlance</a:t>
            </a:r>
            <a:endParaRPr lang="en-IN" sz="3200" b="1" dirty="0">
              <a:solidFill>
                <a:srgbClr val="0000FF"/>
              </a:solidFill>
            </a:endParaRPr>
          </a:p>
        </p:txBody>
      </p:sp>
      <p:sp>
        <p:nvSpPr>
          <p:cNvPr id="3" name="Content Placeholder 2"/>
          <p:cNvSpPr>
            <a:spLocks noGrp="1"/>
          </p:cNvSpPr>
          <p:nvPr>
            <p:ph idx="1"/>
          </p:nvPr>
        </p:nvSpPr>
        <p:spPr>
          <a:xfrm>
            <a:off x="838200" y="1070812"/>
            <a:ext cx="10515600" cy="5106151"/>
          </a:xfrm>
        </p:spPr>
        <p:txBody>
          <a:bodyPr>
            <a:normAutofit/>
          </a:bodyPr>
          <a:lstStyle/>
          <a:p>
            <a:pPr marL="0" indent="0">
              <a:buNone/>
            </a:pPr>
            <a:r>
              <a:rPr lang="en-US" dirty="0">
                <a:solidFill>
                  <a:srgbClr val="0000FF"/>
                </a:solidFill>
              </a:rPr>
              <a:t>Research has many definitions in common parlance:</a:t>
            </a:r>
          </a:p>
          <a:p>
            <a:pPr lvl="1"/>
            <a:r>
              <a:rPr lang="en-US" dirty="0"/>
              <a:t>Search for knowledge</a:t>
            </a:r>
            <a:endParaRPr lang="en-IN" sz="1050" dirty="0"/>
          </a:p>
          <a:p>
            <a:pPr lvl="1"/>
            <a:r>
              <a:rPr lang="en-US" dirty="0"/>
              <a:t>Scientific and systematic search for pertinent information on a topic</a:t>
            </a:r>
            <a:endParaRPr lang="en-IN" sz="1050" dirty="0"/>
          </a:p>
          <a:p>
            <a:pPr lvl="1"/>
            <a:r>
              <a:rPr lang="en-US" dirty="0"/>
              <a:t>Systematic investigation of inquiry specifically</a:t>
            </a:r>
            <a:r>
              <a:rPr lang="en-IN" sz="1050" dirty="0"/>
              <a:t> </a:t>
            </a:r>
            <a:r>
              <a:rPr lang="en-US" dirty="0"/>
              <a:t>searching for new facts in any discipline</a:t>
            </a:r>
            <a:endParaRPr lang="en-IN" sz="1200" dirty="0"/>
          </a:p>
          <a:p>
            <a:pPr lvl="1"/>
            <a:r>
              <a:rPr lang="en-US" dirty="0"/>
              <a:t>Movement using known facts to unknown or</a:t>
            </a:r>
            <a:r>
              <a:rPr lang="en-IN" sz="1050" dirty="0"/>
              <a:t> </a:t>
            </a:r>
            <a:r>
              <a:rPr lang="en-US" dirty="0"/>
              <a:t>unexplained issues</a:t>
            </a:r>
            <a:endParaRPr lang="en-IN" sz="1200" dirty="0"/>
          </a:p>
          <a:p>
            <a:pPr lvl="1"/>
            <a:r>
              <a:rPr lang="en-US" dirty="0"/>
              <a:t>Art of scientific investigation</a:t>
            </a:r>
            <a:endParaRPr lang="en-IN" dirty="0"/>
          </a:p>
          <a:p>
            <a:pPr lvl="1"/>
            <a:r>
              <a:rPr lang="en-US" dirty="0"/>
              <a:t>Voyage of discovery</a:t>
            </a:r>
            <a:endParaRPr lang="en-IN" sz="1050" dirty="0"/>
          </a:p>
          <a:p>
            <a:pPr lvl="1"/>
            <a:r>
              <a:rPr lang="en-US" dirty="0"/>
              <a:t>Events primed by inquisitiveness as driving force</a:t>
            </a:r>
            <a:endParaRPr lang="en-IN" sz="1050" dirty="0"/>
          </a:p>
          <a:p>
            <a:pPr lvl="1"/>
            <a:r>
              <a:rPr lang="en-US" dirty="0"/>
              <a:t>Academic activity used in a technical sense</a:t>
            </a:r>
            <a:endParaRPr lang="en-IN" sz="1050" dirty="0"/>
          </a:p>
          <a:p>
            <a:endParaRPr lang="en-IN" dirty="0"/>
          </a:p>
          <a:p>
            <a:endParaRPr lang="en-IN" dirty="0"/>
          </a:p>
        </p:txBody>
      </p:sp>
    </p:spTree>
    <p:extLst>
      <p:ext uri="{BB962C8B-B14F-4D97-AF65-F5344CB8AC3E}">
        <p14:creationId xmlns:p14="http://schemas.microsoft.com/office/powerpoint/2010/main" val="33356827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201352" y="385993"/>
            <a:ext cx="3189870" cy="178838"/>
          </a:xfrm>
          <a:prstGeom prst="rect">
            <a:avLst/>
          </a:prstGeom>
        </p:spPr>
      </p:pic>
      <p:sp>
        <p:nvSpPr>
          <p:cNvPr id="3" name="object 3"/>
          <p:cNvSpPr txBox="1"/>
          <p:nvPr/>
        </p:nvSpPr>
        <p:spPr>
          <a:xfrm>
            <a:off x="5196078" y="299084"/>
            <a:ext cx="3171190" cy="299720"/>
          </a:xfrm>
          <a:prstGeom prst="rect">
            <a:avLst/>
          </a:prstGeom>
        </p:spPr>
        <p:txBody>
          <a:bodyPr vert="horz" wrap="square" lIns="0" tIns="12700" rIns="0" bIns="0" rtlCol="0">
            <a:spAutoFit/>
          </a:bodyPr>
          <a:lstStyle/>
          <a:p>
            <a:pPr marL="12700">
              <a:spcBef>
                <a:spcPts val="100"/>
              </a:spcBef>
            </a:pPr>
            <a:r>
              <a:rPr b="1" i="1" dirty="0">
                <a:solidFill>
                  <a:srgbClr val="C00000"/>
                </a:solidFill>
                <a:latin typeface="Times New Roman"/>
                <a:cs typeface="Times New Roman"/>
              </a:rPr>
              <a:t>DEFINITIONS</a:t>
            </a:r>
            <a:r>
              <a:rPr b="1" i="1" spc="-20" dirty="0">
                <a:solidFill>
                  <a:srgbClr val="C00000"/>
                </a:solidFill>
                <a:latin typeface="Times New Roman"/>
                <a:cs typeface="Times New Roman"/>
              </a:rPr>
              <a:t> </a:t>
            </a:r>
            <a:r>
              <a:rPr b="1" i="1" dirty="0">
                <a:solidFill>
                  <a:srgbClr val="C00000"/>
                </a:solidFill>
                <a:latin typeface="Times New Roman"/>
                <a:cs typeface="Times New Roman"/>
              </a:rPr>
              <a:t>OF</a:t>
            </a:r>
            <a:r>
              <a:rPr b="1" i="1" spc="-75" dirty="0">
                <a:solidFill>
                  <a:srgbClr val="C00000"/>
                </a:solidFill>
                <a:latin typeface="Times New Roman"/>
                <a:cs typeface="Times New Roman"/>
              </a:rPr>
              <a:t> </a:t>
            </a:r>
            <a:r>
              <a:rPr b="1" i="1" spc="-10" dirty="0">
                <a:solidFill>
                  <a:srgbClr val="C00000"/>
                </a:solidFill>
                <a:latin typeface="Times New Roman"/>
                <a:cs typeface="Times New Roman"/>
              </a:rPr>
              <a:t>RESEARCH</a:t>
            </a:r>
            <a:endParaRPr>
              <a:latin typeface="Times New Roman"/>
              <a:cs typeface="Times New Roman"/>
            </a:endParaRPr>
          </a:p>
        </p:txBody>
      </p:sp>
      <p:sp>
        <p:nvSpPr>
          <p:cNvPr id="4" name="object 4"/>
          <p:cNvSpPr/>
          <p:nvPr/>
        </p:nvSpPr>
        <p:spPr>
          <a:xfrm>
            <a:off x="1670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4F81BC"/>
          </a:solidFill>
        </p:spPr>
        <p:txBody>
          <a:bodyPr wrap="square" lIns="0" tIns="0" rIns="0" bIns="0" rtlCol="0"/>
          <a:lstStyle/>
          <a:p>
            <a:endParaRPr/>
          </a:p>
        </p:txBody>
      </p:sp>
      <p:sp>
        <p:nvSpPr>
          <p:cNvPr id="6" name="object 6"/>
          <p:cNvSpPr txBox="1"/>
          <p:nvPr/>
        </p:nvSpPr>
        <p:spPr>
          <a:xfrm>
            <a:off x="871869" y="1183742"/>
            <a:ext cx="10696353" cy="2716449"/>
          </a:xfrm>
          <a:prstGeom prst="rect">
            <a:avLst/>
          </a:prstGeom>
        </p:spPr>
        <p:txBody>
          <a:bodyPr vert="horz" wrap="square" lIns="0" tIns="12700" rIns="0" bIns="0" rtlCol="0">
            <a:spAutoFit/>
          </a:bodyPr>
          <a:lstStyle/>
          <a:p>
            <a:pPr marL="284480" marR="5080" indent="-272415" algn="just">
              <a:lnSpc>
                <a:spcPct val="150000"/>
              </a:lnSpc>
              <a:spcBef>
                <a:spcPts val="100"/>
              </a:spcBef>
              <a:buClr>
                <a:srgbClr val="C00000"/>
              </a:buClr>
              <a:buSzPct val="85000"/>
              <a:buFont typeface="Wingdings 2"/>
              <a:buChar char=""/>
              <a:tabLst>
                <a:tab pos="285750" algn="l"/>
              </a:tabLst>
            </a:pPr>
            <a:r>
              <a:rPr sz="2400" dirty="0">
                <a:solidFill>
                  <a:srgbClr val="001F5F"/>
                </a:solidFill>
                <a:latin typeface="Times New Roman"/>
                <a:cs typeface="Times New Roman"/>
              </a:rPr>
              <a:t>Research</a:t>
            </a:r>
            <a:r>
              <a:rPr sz="2400" spc="110" dirty="0">
                <a:solidFill>
                  <a:srgbClr val="001F5F"/>
                </a:solidFill>
                <a:latin typeface="Times New Roman"/>
                <a:cs typeface="Times New Roman"/>
              </a:rPr>
              <a:t>  </a:t>
            </a:r>
            <a:r>
              <a:rPr sz="2400" dirty="0">
                <a:solidFill>
                  <a:srgbClr val="001F5F"/>
                </a:solidFill>
                <a:latin typeface="Times New Roman"/>
                <a:cs typeface="Times New Roman"/>
              </a:rPr>
              <a:t>refers</a:t>
            </a:r>
            <a:r>
              <a:rPr sz="2400" spc="110" dirty="0">
                <a:solidFill>
                  <a:srgbClr val="001F5F"/>
                </a:solidFill>
                <a:latin typeface="Times New Roman"/>
                <a:cs typeface="Times New Roman"/>
              </a:rPr>
              <a:t>  </a:t>
            </a:r>
            <a:r>
              <a:rPr sz="2400" dirty="0">
                <a:solidFill>
                  <a:srgbClr val="001F5F"/>
                </a:solidFill>
                <a:latin typeface="Times New Roman"/>
                <a:cs typeface="Times New Roman"/>
              </a:rPr>
              <a:t>to</a:t>
            </a:r>
            <a:r>
              <a:rPr sz="2400" spc="114" dirty="0">
                <a:solidFill>
                  <a:srgbClr val="001F5F"/>
                </a:solidFill>
                <a:latin typeface="Times New Roman"/>
                <a:cs typeface="Times New Roman"/>
              </a:rPr>
              <a:t>  </a:t>
            </a:r>
            <a:r>
              <a:rPr sz="2400" dirty="0">
                <a:solidFill>
                  <a:srgbClr val="001F5F"/>
                </a:solidFill>
                <a:latin typeface="Times New Roman"/>
                <a:cs typeface="Times New Roman"/>
              </a:rPr>
              <a:t>the</a:t>
            </a:r>
            <a:r>
              <a:rPr sz="2400" spc="110" dirty="0">
                <a:solidFill>
                  <a:srgbClr val="001F5F"/>
                </a:solidFill>
                <a:latin typeface="Times New Roman"/>
                <a:cs typeface="Times New Roman"/>
              </a:rPr>
              <a:t>  </a:t>
            </a:r>
            <a:r>
              <a:rPr sz="2400" dirty="0">
                <a:solidFill>
                  <a:srgbClr val="001F5F"/>
                </a:solidFill>
                <a:latin typeface="Times New Roman"/>
                <a:cs typeface="Times New Roman"/>
              </a:rPr>
              <a:t>systematic</a:t>
            </a:r>
            <a:r>
              <a:rPr sz="2400" spc="110" dirty="0">
                <a:solidFill>
                  <a:srgbClr val="001F5F"/>
                </a:solidFill>
                <a:latin typeface="Times New Roman"/>
                <a:cs typeface="Times New Roman"/>
              </a:rPr>
              <a:t>  </a:t>
            </a:r>
            <a:r>
              <a:rPr sz="2400" dirty="0">
                <a:solidFill>
                  <a:srgbClr val="001F5F"/>
                </a:solidFill>
                <a:latin typeface="Times New Roman"/>
                <a:cs typeface="Times New Roman"/>
              </a:rPr>
              <a:t>method</a:t>
            </a:r>
            <a:r>
              <a:rPr sz="2400" spc="110" dirty="0">
                <a:solidFill>
                  <a:srgbClr val="001F5F"/>
                </a:solidFill>
                <a:latin typeface="Times New Roman"/>
                <a:cs typeface="Times New Roman"/>
              </a:rPr>
              <a:t>  </a:t>
            </a:r>
            <a:r>
              <a:rPr sz="2400" dirty="0">
                <a:solidFill>
                  <a:srgbClr val="001F5F"/>
                </a:solidFill>
                <a:latin typeface="Times New Roman"/>
                <a:cs typeface="Times New Roman"/>
              </a:rPr>
              <a:t>consisting</a:t>
            </a:r>
            <a:r>
              <a:rPr sz="2400" spc="110" dirty="0">
                <a:solidFill>
                  <a:srgbClr val="001F5F"/>
                </a:solidFill>
                <a:latin typeface="Times New Roman"/>
                <a:cs typeface="Times New Roman"/>
              </a:rPr>
              <a:t>  </a:t>
            </a:r>
            <a:r>
              <a:rPr sz="2400" dirty="0">
                <a:solidFill>
                  <a:srgbClr val="001F5F"/>
                </a:solidFill>
                <a:latin typeface="Times New Roman"/>
                <a:cs typeface="Times New Roman"/>
              </a:rPr>
              <a:t>of</a:t>
            </a:r>
            <a:r>
              <a:rPr sz="2400" spc="110" dirty="0">
                <a:solidFill>
                  <a:srgbClr val="001F5F"/>
                </a:solidFill>
                <a:latin typeface="Times New Roman"/>
                <a:cs typeface="Times New Roman"/>
              </a:rPr>
              <a:t>  </a:t>
            </a:r>
            <a:r>
              <a:rPr sz="2400" dirty="0">
                <a:solidFill>
                  <a:srgbClr val="001F5F"/>
                </a:solidFill>
                <a:latin typeface="Times New Roman"/>
                <a:cs typeface="Times New Roman"/>
              </a:rPr>
              <a:t>enunciating</a:t>
            </a:r>
            <a:r>
              <a:rPr sz="2400" spc="110" dirty="0">
                <a:solidFill>
                  <a:srgbClr val="001F5F"/>
                </a:solidFill>
                <a:latin typeface="Times New Roman"/>
                <a:cs typeface="Times New Roman"/>
              </a:rPr>
              <a:t>  </a:t>
            </a:r>
            <a:r>
              <a:rPr sz="2400" spc="-25" dirty="0">
                <a:solidFill>
                  <a:srgbClr val="001F5F"/>
                </a:solidFill>
                <a:latin typeface="Times New Roman"/>
                <a:cs typeface="Times New Roman"/>
              </a:rPr>
              <a:t>the 	</a:t>
            </a:r>
            <a:r>
              <a:rPr sz="2400" dirty="0">
                <a:solidFill>
                  <a:srgbClr val="001F5F"/>
                </a:solidFill>
                <a:latin typeface="Times New Roman"/>
                <a:cs typeface="Times New Roman"/>
              </a:rPr>
              <a:t>problem,</a:t>
            </a:r>
            <a:r>
              <a:rPr sz="2400" spc="150" dirty="0">
                <a:solidFill>
                  <a:srgbClr val="001F5F"/>
                </a:solidFill>
                <a:latin typeface="Times New Roman"/>
                <a:cs typeface="Times New Roman"/>
              </a:rPr>
              <a:t> </a:t>
            </a:r>
            <a:r>
              <a:rPr sz="2400" dirty="0">
                <a:solidFill>
                  <a:srgbClr val="001F5F"/>
                </a:solidFill>
                <a:latin typeface="Times New Roman"/>
                <a:cs typeface="Times New Roman"/>
              </a:rPr>
              <a:t>formulating</a:t>
            </a:r>
            <a:r>
              <a:rPr sz="2400" spc="160" dirty="0">
                <a:solidFill>
                  <a:srgbClr val="001F5F"/>
                </a:solidFill>
                <a:latin typeface="Times New Roman"/>
                <a:cs typeface="Times New Roman"/>
              </a:rPr>
              <a:t> </a:t>
            </a:r>
            <a:r>
              <a:rPr sz="2400" dirty="0">
                <a:solidFill>
                  <a:srgbClr val="001F5F"/>
                </a:solidFill>
                <a:latin typeface="Times New Roman"/>
                <a:cs typeface="Times New Roman"/>
              </a:rPr>
              <a:t>a</a:t>
            </a:r>
            <a:r>
              <a:rPr sz="2400" spc="130" dirty="0">
                <a:solidFill>
                  <a:srgbClr val="001F5F"/>
                </a:solidFill>
                <a:latin typeface="Times New Roman"/>
                <a:cs typeface="Times New Roman"/>
              </a:rPr>
              <a:t> </a:t>
            </a:r>
            <a:r>
              <a:rPr sz="2400" dirty="0">
                <a:solidFill>
                  <a:srgbClr val="001F5F"/>
                </a:solidFill>
                <a:latin typeface="Times New Roman"/>
                <a:cs typeface="Times New Roman"/>
              </a:rPr>
              <a:t>hypothesis,</a:t>
            </a:r>
            <a:r>
              <a:rPr sz="2400" spc="150" dirty="0">
                <a:solidFill>
                  <a:srgbClr val="001F5F"/>
                </a:solidFill>
                <a:latin typeface="Times New Roman"/>
                <a:cs typeface="Times New Roman"/>
              </a:rPr>
              <a:t> </a:t>
            </a:r>
            <a:r>
              <a:rPr sz="2400" dirty="0">
                <a:solidFill>
                  <a:srgbClr val="001F5F"/>
                </a:solidFill>
                <a:latin typeface="Times New Roman"/>
                <a:cs typeface="Times New Roman"/>
              </a:rPr>
              <a:t>collecting</a:t>
            </a:r>
            <a:r>
              <a:rPr sz="2400" spc="165" dirty="0">
                <a:solidFill>
                  <a:srgbClr val="001F5F"/>
                </a:solidFill>
                <a:latin typeface="Times New Roman"/>
                <a:cs typeface="Times New Roman"/>
              </a:rPr>
              <a:t> </a:t>
            </a:r>
            <a:r>
              <a:rPr sz="2400" dirty="0">
                <a:solidFill>
                  <a:srgbClr val="001F5F"/>
                </a:solidFill>
                <a:latin typeface="Times New Roman"/>
                <a:cs typeface="Times New Roman"/>
              </a:rPr>
              <a:t>the</a:t>
            </a:r>
            <a:r>
              <a:rPr sz="2400" spc="150" dirty="0">
                <a:solidFill>
                  <a:srgbClr val="001F5F"/>
                </a:solidFill>
                <a:latin typeface="Times New Roman"/>
                <a:cs typeface="Times New Roman"/>
              </a:rPr>
              <a:t> </a:t>
            </a:r>
            <a:r>
              <a:rPr sz="2400" dirty="0">
                <a:solidFill>
                  <a:srgbClr val="001F5F"/>
                </a:solidFill>
                <a:latin typeface="Times New Roman"/>
                <a:cs typeface="Times New Roman"/>
              </a:rPr>
              <a:t>facts</a:t>
            </a:r>
            <a:r>
              <a:rPr sz="2400" spc="140" dirty="0">
                <a:solidFill>
                  <a:srgbClr val="001F5F"/>
                </a:solidFill>
                <a:latin typeface="Times New Roman"/>
                <a:cs typeface="Times New Roman"/>
              </a:rPr>
              <a:t> </a:t>
            </a:r>
            <a:r>
              <a:rPr sz="2400" dirty="0">
                <a:solidFill>
                  <a:srgbClr val="001F5F"/>
                </a:solidFill>
                <a:latin typeface="Times New Roman"/>
                <a:cs typeface="Times New Roman"/>
              </a:rPr>
              <a:t>or</a:t>
            </a:r>
            <a:r>
              <a:rPr sz="2400" spc="150" dirty="0">
                <a:solidFill>
                  <a:srgbClr val="001F5F"/>
                </a:solidFill>
                <a:latin typeface="Times New Roman"/>
                <a:cs typeface="Times New Roman"/>
              </a:rPr>
              <a:t> </a:t>
            </a:r>
            <a:r>
              <a:rPr sz="2400" dirty="0">
                <a:solidFill>
                  <a:srgbClr val="001F5F"/>
                </a:solidFill>
                <a:latin typeface="Times New Roman"/>
                <a:cs typeface="Times New Roman"/>
              </a:rPr>
              <a:t>data,</a:t>
            </a:r>
            <a:r>
              <a:rPr sz="2400" spc="155" dirty="0">
                <a:solidFill>
                  <a:srgbClr val="001F5F"/>
                </a:solidFill>
                <a:latin typeface="Times New Roman"/>
                <a:cs typeface="Times New Roman"/>
              </a:rPr>
              <a:t> </a:t>
            </a:r>
            <a:r>
              <a:rPr sz="2400" dirty="0">
                <a:solidFill>
                  <a:srgbClr val="001F5F"/>
                </a:solidFill>
                <a:latin typeface="Times New Roman"/>
                <a:cs typeface="Times New Roman"/>
              </a:rPr>
              <a:t>analyzing</a:t>
            </a:r>
            <a:r>
              <a:rPr sz="2400" spc="155" dirty="0">
                <a:solidFill>
                  <a:srgbClr val="001F5F"/>
                </a:solidFill>
                <a:latin typeface="Times New Roman"/>
                <a:cs typeface="Times New Roman"/>
              </a:rPr>
              <a:t> </a:t>
            </a:r>
            <a:r>
              <a:rPr sz="2400" spc="-25" dirty="0">
                <a:solidFill>
                  <a:srgbClr val="001F5F"/>
                </a:solidFill>
                <a:latin typeface="Times New Roman"/>
                <a:cs typeface="Times New Roman"/>
              </a:rPr>
              <a:t>the 	</a:t>
            </a:r>
            <a:r>
              <a:rPr sz="2400" dirty="0">
                <a:solidFill>
                  <a:srgbClr val="001F5F"/>
                </a:solidFill>
                <a:latin typeface="Times New Roman"/>
                <a:cs typeface="Times New Roman"/>
              </a:rPr>
              <a:t>fact</a:t>
            </a:r>
            <a:r>
              <a:rPr sz="2400" spc="195" dirty="0">
                <a:solidFill>
                  <a:srgbClr val="001F5F"/>
                </a:solidFill>
                <a:latin typeface="Times New Roman"/>
                <a:cs typeface="Times New Roman"/>
              </a:rPr>
              <a:t> </a:t>
            </a:r>
            <a:r>
              <a:rPr sz="2400" dirty="0">
                <a:solidFill>
                  <a:srgbClr val="001F5F"/>
                </a:solidFill>
                <a:latin typeface="Times New Roman"/>
                <a:cs typeface="Times New Roman"/>
              </a:rPr>
              <a:t>and</a:t>
            </a:r>
            <a:r>
              <a:rPr sz="2400" spc="210" dirty="0">
                <a:solidFill>
                  <a:srgbClr val="001F5F"/>
                </a:solidFill>
                <a:latin typeface="Times New Roman"/>
                <a:cs typeface="Times New Roman"/>
              </a:rPr>
              <a:t> </a:t>
            </a:r>
            <a:r>
              <a:rPr sz="2400" dirty="0">
                <a:solidFill>
                  <a:srgbClr val="001F5F"/>
                </a:solidFill>
                <a:latin typeface="Times New Roman"/>
                <a:cs typeface="Times New Roman"/>
              </a:rPr>
              <a:t>reaching</a:t>
            </a:r>
            <a:r>
              <a:rPr sz="2400" spc="220" dirty="0">
                <a:solidFill>
                  <a:srgbClr val="001F5F"/>
                </a:solidFill>
                <a:latin typeface="Times New Roman"/>
                <a:cs typeface="Times New Roman"/>
              </a:rPr>
              <a:t> </a:t>
            </a:r>
            <a:r>
              <a:rPr sz="2400" dirty="0">
                <a:solidFill>
                  <a:srgbClr val="001F5F"/>
                </a:solidFill>
                <a:latin typeface="Times New Roman"/>
                <a:cs typeface="Times New Roman"/>
              </a:rPr>
              <a:t>certain</a:t>
            </a:r>
            <a:r>
              <a:rPr sz="2400" spc="220" dirty="0">
                <a:solidFill>
                  <a:srgbClr val="001F5F"/>
                </a:solidFill>
                <a:latin typeface="Times New Roman"/>
                <a:cs typeface="Times New Roman"/>
              </a:rPr>
              <a:t> </a:t>
            </a:r>
            <a:r>
              <a:rPr sz="2400" dirty="0">
                <a:solidFill>
                  <a:srgbClr val="001F5F"/>
                </a:solidFill>
                <a:latin typeface="Times New Roman"/>
                <a:cs typeface="Times New Roman"/>
              </a:rPr>
              <a:t>conclusions</a:t>
            </a:r>
            <a:r>
              <a:rPr sz="2400" spc="210" dirty="0">
                <a:solidFill>
                  <a:srgbClr val="001F5F"/>
                </a:solidFill>
                <a:latin typeface="Times New Roman"/>
                <a:cs typeface="Times New Roman"/>
              </a:rPr>
              <a:t> </a:t>
            </a:r>
            <a:r>
              <a:rPr sz="2400" dirty="0">
                <a:solidFill>
                  <a:srgbClr val="001F5F"/>
                </a:solidFill>
                <a:latin typeface="Times New Roman"/>
                <a:cs typeface="Times New Roman"/>
              </a:rPr>
              <a:t>either</a:t>
            </a:r>
            <a:r>
              <a:rPr sz="2400" spc="210" dirty="0">
                <a:solidFill>
                  <a:srgbClr val="001F5F"/>
                </a:solidFill>
                <a:latin typeface="Times New Roman"/>
                <a:cs typeface="Times New Roman"/>
              </a:rPr>
              <a:t> </a:t>
            </a:r>
            <a:r>
              <a:rPr sz="2400" dirty="0">
                <a:solidFill>
                  <a:srgbClr val="001F5F"/>
                </a:solidFill>
                <a:latin typeface="Times New Roman"/>
                <a:cs typeface="Times New Roman"/>
              </a:rPr>
              <a:t>in</a:t>
            </a:r>
            <a:r>
              <a:rPr sz="2400" spc="210" dirty="0">
                <a:solidFill>
                  <a:srgbClr val="001F5F"/>
                </a:solidFill>
                <a:latin typeface="Times New Roman"/>
                <a:cs typeface="Times New Roman"/>
              </a:rPr>
              <a:t> </a:t>
            </a:r>
            <a:r>
              <a:rPr sz="2400" dirty="0">
                <a:solidFill>
                  <a:srgbClr val="001F5F"/>
                </a:solidFill>
                <a:latin typeface="Times New Roman"/>
                <a:cs typeface="Times New Roman"/>
              </a:rPr>
              <a:t>the</a:t>
            </a:r>
            <a:r>
              <a:rPr sz="2400" spc="204" dirty="0">
                <a:solidFill>
                  <a:srgbClr val="001F5F"/>
                </a:solidFill>
                <a:latin typeface="Times New Roman"/>
                <a:cs typeface="Times New Roman"/>
              </a:rPr>
              <a:t> </a:t>
            </a:r>
            <a:r>
              <a:rPr sz="2400" dirty="0">
                <a:solidFill>
                  <a:srgbClr val="001F5F"/>
                </a:solidFill>
                <a:latin typeface="Times New Roman"/>
                <a:cs typeface="Times New Roman"/>
              </a:rPr>
              <a:t>form</a:t>
            </a:r>
            <a:r>
              <a:rPr sz="2400" spc="195" dirty="0">
                <a:solidFill>
                  <a:srgbClr val="001F5F"/>
                </a:solidFill>
                <a:latin typeface="Times New Roman"/>
                <a:cs typeface="Times New Roman"/>
              </a:rPr>
              <a:t> </a:t>
            </a:r>
            <a:r>
              <a:rPr sz="2400" dirty="0">
                <a:solidFill>
                  <a:srgbClr val="001F5F"/>
                </a:solidFill>
                <a:latin typeface="Times New Roman"/>
                <a:cs typeface="Times New Roman"/>
              </a:rPr>
              <a:t>solutions(s)</a:t>
            </a:r>
            <a:r>
              <a:rPr sz="2400" spc="225" dirty="0">
                <a:solidFill>
                  <a:srgbClr val="001F5F"/>
                </a:solidFill>
                <a:latin typeface="Times New Roman"/>
                <a:cs typeface="Times New Roman"/>
              </a:rPr>
              <a:t> </a:t>
            </a:r>
            <a:r>
              <a:rPr sz="2400" spc="-10" dirty="0">
                <a:solidFill>
                  <a:srgbClr val="001F5F"/>
                </a:solidFill>
                <a:latin typeface="Times New Roman"/>
                <a:cs typeface="Times New Roman"/>
              </a:rPr>
              <a:t>towards </a:t>
            </a:r>
            <a:r>
              <a:rPr sz="2400" dirty="0">
                <a:solidFill>
                  <a:srgbClr val="001F5F"/>
                </a:solidFill>
                <a:latin typeface="Times New Roman"/>
                <a:cs typeface="Times New Roman"/>
              </a:rPr>
              <a:t>the</a:t>
            </a:r>
            <a:r>
              <a:rPr sz="2400" spc="45" dirty="0">
                <a:solidFill>
                  <a:srgbClr val="001F5F"/>
                </a:solidFill>
                <a:latin typeface="Times New Roman"/>
                <a:cs typeface="Times New Roman"/>
              </a:rPr>
              <a:t>  </a:t>
            </a:r>
            <a:r>
              <a:rPr sz="2400" dirty="0">
                <a:solidFill>
                  <a:srgbClr val="001F5F"/>
                </a:solidFill>
                <a:latin typeface="Times New Roman"/>
                <a:cs typeface="Times New Roman"/>
              </a:rPr>
              <a:t>concerned</a:t>
            </a:r>
            <a:r>
              <a:rPr sz="2400" spc="45" dirty="0">
                <a:solidFill>
                  <a:srgbClr val="001F5F"/>
                </a:solidFill>
                <a:latin typeface="Times New Roman"/>
                <a:cs typeface="Times New Roman"/>
              </a:rPr>
              <a:t>  </a:t>
            </a:r>
            <a:r>
              <a:rPr sz="2400" dirty="0">
                <a:solidFill>
                  <a:srgbClr val="001F5F"/>
                </a:solidFill>
                <a:latin typeface="Times New Roman"/>
                <a:cs typeface="Times New Roman"/>
              </a:rPr>
              <a:t>problem</a:t>
            </a:r>
            <a:r>
              <a:rPr sz="2400" spc="35" dirty="0">
                <a:solidFill>
                  <a:srgbClr val="001F5F"/>
                </a:solidFill>
                <a:latin typeface="Times New Roman"/>
                <a:cs typeface="Times New Roman"/>
              </a:rPr>
              <a:t>  </a:t>
            </a:r>
            <a:r>
              <a:rPr sz="2400" dirty="0">
                <a:solidFill>
                  <a:srgbClr val="001F5F"/>
                </a:solidFill>
                <a:latin typeface="Times New Roman"/>
                <a:cs typeface="Times New Roman"/>
              </a:rPr>
              <a:t>or</a:t>
            </a:r>
            <a:r>
              <a:rPr sz="2400" spc="40" dirty="0">
                <a:solidFill>
                  <a:srgbClr val="001F5F"/>
                </a:solidFill>
                <a:latin typeface="Times New Roman"/>
                <a:cs typeface="Times New Roman"/>
              </a:rPr>
              <a:t>  </a:t>
            </a:r>
            <a:r>
              <a:rPr sz="2400" dirty="0">
                <a:solidFill>
                  <a:srgbClr val="001F5F"/>
                </a:solidFill>
                <a:latin typeface="Times New Roman"/>
                <a:cs typeface="Times New Roman"/>
              </a:rPr>
              <a:t>in</a:t>
            </a:r>
            <a:r>
              <a:rPr sz="2400" spc="45" dirty="0">
                <a:solidFill>
                  <a:srgbClr val="001F5F"/>
                </a:solidFill>
                <a:latin typeface="Times New Roman"/>
                <a:cs typeface="Times New Roman"/>
              </a:rPr>
              <a:t>  </a:t>
            </a:r>
            <a:r>
              <a:rPr sz="2400" dirty="0">
                <a:solidFill>
                  <a:srgbClr val="001F5F"/>
                </a:solidFill>
                <a:latin typeface="Times New Roman"/>
                <a:cs typeface="Times New Roman"/>
              </a:rPr>
              <a:t>certain</a:t>
            </a:r>
            <a:r>
              <a:rPr sz="2400" spc="50" dirty="0">
                <a:solidFill>
                  <a:srgbClr val="001F5F"/>
                </a:solidFill>
                <a:latin typeface="Times New Roman"/>
                <a:cs typeface="Times New Roman"/>
              </a:rPr>
              <a:t>  </a:t>
            </a:r>
            <a:r>
              <a:rPr sz="2400" dirty="0">
                <a:solidFill>
                  <a:srgbClr val="001F5F"/>
                </a:solidFill>
                <a:latin typeface="Times New Roman"/>
                <a:cs typeface="Times New Roman"/>
              </a:rPr>
              <a:t>generalizations</a:t>
            </a:r>
            <a:r>
              <a:rPr sz="2400" spc="45" dirty="0">
                <a:solidFill>
                  <a:srgbClr val="001F5F"/>
                </a:solidFill>
                <a:latin typeface="Times New Roman"/>
                <a:cs typeface="Times New Roman"/>
              </a:rPr>
              <a:t>  </a:t>
            </a:r>
            <a:r>
              <a:rPr sz="2400" dirty="0">
                <a:solidFill>
                  <a:srgbClr val="001F5F"/>
                </a:solidFill>
                <a:latin typeface="Times New Roman"/>
                <a:cs typeface="Times New Roman"/>
              </a:rPr>
              <a:t>for</a:t>
            </a:r>
            <a:r>
              <a:rPr sz="2400" spc="45" dirty="0">
                <a:solidFill>
                  <a:srgbClr val="001F5F"/>
                </a:solidFill>
                <a:latin typeface="Times New Roman"/>
                <a:cs typeface="Times New Roman"/>
              </a:rPr>
              <a:t>  </a:t>
            </a:r>
            <a:r>
              <a:rPr sz="2400" dirty="0">
                <a:solidFill>
                  <a:srgbClr val="001F5F"/>
                </a:solidFill>
                <a:latin typeface="Times New Roman"/>
                <a:cs typeface="Times New Roman"/>
              </a:rPr>
              <a:t>some</a:t>
            </a:r>
            <a:r>
              <a:rPr sz="2400" spc="45" dirty="0">
                <a:solidFill>
                  <a:srgbClr val="001F5F"/>
                </a:solidFill>
                <a:latin typeface="Times New Roman"/>
                <a:cs typeface="Times New Roman"/>
              </a:rPr>
              <a:t>  </a:t>
            </a:r>
            <a:r>
              <a:rPr sz="2400" spc="-10" dirty="0">
                <a:solidFill>
                  <a:srgbClr val="001F5F"/>
                </a:solidFill>
                <a:latin typeface="Times New Roman"/>
                <a:cs typeface="Times New Roman"/>
              </a:rPr>
              <a:t>theoretical 	formulation.</a:t>
            </a:r>
            <a:endParaRPr sz="2400" dirty="0">
              <a:latin typeface="Times New Roman"/>
              <a:cs typeface="Times New Roman"/>
            </a:endParaRPr>
          </a:p>
        </p:txBody>
      </p:sp>
      <p:pic>
        <p:nvPicPr>
          <p:cNvPr id="7" name="object 7"/>
          <p:cNvPicPr/>
          <p:nvPr/>
        </p:nvPicPr>
        <p:blipFill>
          <a:blip r:embed="rId3" cstate="print"/>
          <a:stretch>
            <a:fillRect/>
          </a:stretch>
        </p:blipFill>
        <p:spPr>
          <a:xfrm>
            <a:off x="1905000" y="0"/>
            <a:ext cx="1905000" cy="914400"/>
          </a:xfrm>
          <a:prstGeom prst="rect">
            <a:avLst/>
          </a:prstGeom>
        </p:spPr>
      </p:pic>
      <p:sp>
        <p:nvSpPr>
          <p:cNvPr id="12" name="Slide Number Placeholder 11"/>
          <p:cNvSpPr>
            <a:spLocks noGrp="1"/>
          </p:cNvSpPr>
          <p:nvPr>
            <p:ph type="sldNum" sz="quarter" idx="7"/>
          </p:nvPr>
        </p:nvSpPr>
        <p:spPr>
          <a:xfrm>
            <a:off x="230428" y="6329531"/>
            <a:ext cx="299720" cy="227965"/>
          </a:xfrm>
          <a:prstGeom prst="rect">
            <a:avLst/>
          </a:prstGeom>
        </p:spPr>
        <p:txBody>
          <a:bodyPr wrap="square" lIns="0" tIns="0" rIns="0" bIns="0">
            <a:spAutoFit/>
          </a:bodyPr>
          <a:lstStyle>
            <a:defPPr>
              <a:defRPr kern="0"/>
            </a:defPPr>
            <a:lvl1pPr>
              <a:defRPr sz="1400" b="0" i="0">
                <a:solidFill>
                  <a:schemeClr val="bg1"/>
                </a:solidFill>
                <a:latin typeface="Franklin Gothic Book"/>
                <a:cs typeface="Franklin Gothic Book"/>
              </a:defRPr>
            </a:lvl1pPr>
          </a:lstStyle>
          <a:p>
            <a:pPr marL="38100">
              <a:lnSpc>
                <a:spcPts val="1664"/>
              </a:lnSpc>
            </a:pPr>
            <a:fld id="{81D60167-4931-47E6-BA6A-407CBD079E47}" type="slidenum">
              <a:rPr lang="en-IN" spc="-25" smtClean="0"/>
              <a:pPr marL="38100">
                <a:lnSpc>
                  <a:spcPts val="1664"/>
                </a:lnSpc>
              </a:pPr>
              <a:t>8</a:t>
            </a:fld>
            <a:endParaRPr lang="en-US" spc="-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588584" y="385993"/>
            <a:ext cx="2419936" cy="178838"/>
          </a:xfrm>
          <a:prstGeom prst="rect">
            <a:avLst/>
          </a:prstGeom>
        </p:spPr>
      </p:pic>
      <p:sp>
        <p:nvSpPr>
          <p:cNvPr id="3" name="object 3"/>
          <p:cNvSpPr/>
          <p:nvPr/>
        </p:nvSpPr>
        <p:spPr>
          <a:xfrm>
            <a:off x="1670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4F81BC"/>
          </a:solidFill>
        </p:spPr>
        <p:txBody>
          <a:bodyPr wrap="square" lIns="0" tIns="0" rIns="0" bIns="0" rtlCol="0"/>
          <a:lstStyle/>
          <a:p>
            <a:endParaRPr/>
          </a:p>
        </p:txBody>
      </p:sp>
      <p:sp>
        <p:nvSpPr>
          <p:cNvPr id="4" name="object 4"/>
          <p:cNvSpPr txBox="1"/>
          <p:nvPr/>
        </p:nvSpPr>
        <p:spPr>
          <a:xfrm>
            <a:off x="1983741" y="299084"/>
            <a:ext cx="8648817" cy="5734903"/>
          </a:xfrm>
          <a:prstGeom prst="rect">
            <a:avLst/>
          </a:prstGeom>
        </p:spPr>
        <p:txBody>
          <a:bodyPr vert="horz" wrap="square" lIns="0" tIns="12700" rIns="0" bIns="0" rtlCol="0">
            <a:spAutoFit/>
          </a:bodyPr>
          <a:lstStyle/>
          <a:p>
            <a:pPr marL="3611879">
              <a:spcBef>
                <a:spcPts val="100"/>
              </a:spcBef>
            </a:pPr>
            <a:r>
              <a:rPr b="1" i="1" dirty="0">
                <a:solidFill>
                  <a:srgbClr val="C00000"/>
                </a:solidFill>
                <a:latin typeface="Times New Roman"/>
                <a:cs typeface="Times New Roman"/>
              </a:rPr>
              <a:t>STAGE</a:t>
            </a:r>
            <a:r>
              <a:rPr lang="en-IN" b="1" i="1" dirty="0">
                <a:solidFill>
                  <a:srgbClr val="C00000"/>
                </a:solidFill>
                <a:latin typeface="Times New Roman"/>
                <a:cs typeface="Times New Roman"/>
              </a:rPr>
              <a:t>S</a:t>
            </a:r>
            <a:r>
              <a:rPr b="1" i="1" spc="-65" dirty="0">
                <a:solidFill>
                  <a:srgbClr val="C00000"/>
                </a:solidFill>
                <a:latin typeface="Times New Roman"/>
                <a:cs typeface="Times New Roman"/>
              </a:rPr>
              <a:t> </a:t>
            </a:r>
            <a:r>
              <a:rPr b="1" i="1" dirty="0">
                <a:solidFill>
                  <a:srgbClr val="C00000"/>
                </a:solidFill>
                <a:latin typeface="Times New Roman"/>
                <a:cs typeface="Times New Roman"/>
              </a:rPr>
              <a:t>OF</a:t>
            </a:r>
            <a:r>
              <a:rPr b="1" i="1" spc="-85" dirty="0">
                <a:solidFill>
                  <a:srgbClr val="C00000"/>
                </a:solidFill>
                <a:latin typeface="Times New Roman"/>
                <a:cs typeface="Times New Roman"/>
              </a:rPr>
              <a:t> </a:t>
            </a:r>
            <a:r>
              <a:rPr b="1" i="1" spc="-10" dirty="0">
                <a:solidFill>
                  <a:srgbClr val="C00000"/>
                </a:solidFill>
                <a:latin typeface="Times New Roman"/>
                <a:cs typeface="Times New Roman"/>
              </a:rPr>
              <a:t>RESEARCH</a:t>
            </a:r>
            <a:endParaRPr dirty="0">
              <a:latin typeface="Times New Roman"/>
              <a:cs typeface="Times New Roman"/>
            </a:endParaRPr>
          </a:p>
          <a:p>
            <a:pPr>
              <a:spcBef>
                <a:spcPts val="975"/>
              </a:spcBef>
            </a:pPr>
            <a:endParaRPr dirty="0">
              <a:latin typeface="Times New Roman"/>
              <a:cs typeface="Times New Roman"/>
            </a:endParaRPr>
          </a:p>
          <a:p>
            <a:pPr marL="285115" indent="-272415">
              <a:buClr>
                <a:srgbClr val="C00000"/>
              </a:buClr>
              <a:buSzPct val="85000"/>
              <a:buFont typeface="Wingdings 2"/>
              <a:buChar char=""/>
              <a:tabLst>
                <a:tab pos="285115" algn="l"/>
              </a:tabLst>
            </a:pPr>
            <a:r>
              <a:rPr sz="2000" dirty="0">
                <a:solidFill>
                  <a:srgbClr val="001F5F"/>
                </a:solidFill>
                <a:latin typeface="Times New Roman"/>
                <a:cs typeface="Times New Roman"/>
              </a:rPr>
              <a:t>Selection</a:t>
            </a:r>
            <a:r>
              <a:rPr sz="2000" spc="-35" dirty="0">
                <a:solidFill>
                  <a:srgbClr val="001F5F"/>
                </a:solidFill>
                <a:latin typeface="Times New Roman"/>
                <a:cs typeface="Times New Roman"/>
              </a:rPr>
              <a:t> </a:t>
            </a:r>
            <a:r>
              <a:rPr sz="2000" dirty="0">
                <a:solidFill>
                  <a:srgbClr val="001F5F"/>
                </a:solidFill>
                <a:latin typeface="Times New Roman"/>
                <a:cs typeface="Times New Roman"/>
              </a:rPr>
              <a:t>of</a:t>
            </a:r>
            <a:r>
              <a:rPr sz="2000" spc="-10" dirty="0">
                <a:solidFill>
                  <a:srgbClr val="001F5F"/>
                </a:solidFill>
                <a:latin typeface="Times New Roman"/>
                <a:cs typeface="Times New Roman"/>
              </a:rPr>
              <a:t> </a:t>
            </a:r>
            <a:r>
              <a:rPr sz="2000" dirty="0">
                <a:solidFill>
                  <a:srgbClr val="001F5F"/>
                </a:solidFill>
                <a:latin typeface="Times New Roman"/>
                <a:cs typeface="Times New Roman"/>
              </a:rPr>
              <a:t>a</a:t>
            </a:r>
            <a:r>
              <a:rPr sz="2000" spc="-15" dirty="0">
                <a:solidFill>
                  <a:srgbClr val="001F5F"/>
                </a:solidFill>
                <a:latin typeface="Times New Roman"/>
                <a:cs typeface="Times New Roman"/>
              </a:rPr>
              <a:t> </a:t>
            </a:r>
            <a:r>
              <a:rPr sz="2000" dirty="0">
                <a:solidFill>
                  <a:srgbClr val="001F5F"/>
                </a:solidFill>
                <a:latin typeface="Times New Roman"/>
                <a:cs typeface="Times New Roman"/>
              </a:rPr>
              <a:t>Research</a:t>
            </a:r>
            <a:r>
              <a:rPr sz="2000" spc="-55" dirty="0">
                <a:solidFill>
                  <a:srgbClr val="001F5F"/>
                </a:solidFill>
                <a:latin typeface="Times New Roman"/>
                <a:cs typeface="Times New Roman"/>
              </a:rPr>
              <a:t> </a:t>
            </a:r>
            <a:r>
              <a:rPr sz="2000" spc="-20" dirty="0">
                <a:solidFill>
                  <a:srgbClr val="001F5F"/>
                </a:solidFill>
                <a:latin typeface="Times New Roman"/>
                <a:cs typeface="Times New Roman"/>
              </a:rPr>
              <a:t>Topic</a:t>
            </a:r>
            <a:endParaRPr sz="2000" dirty="0">
              <a:latin typeface="Times New Roman"/>
              <a:cs typeface="Times New Roman"/>
            </a:endParaRPr>
          </a:p>
          <a:p>
            <a:pPr marL="285115" indent="-272415">
              <a:spcBef>
                <a:spcPts val="1705"/>
              </a:spcBef>
              <a:buClr>
                <a:srgbClr val="C00000"/>
              </a:buClr>
              <a:buSzPct val="85000"/>
              <a:buFont typeface="Wingdings 2"/>
              <a:buChar char=""/>
              <a:tabLst>
                <a:tab pos="285115" algn="l"/>
              </a:tabLst>
            </a:pPr>
            <a:r>
              <a:rPr sz="2000" dirty="0">
                <a:solidFill>
                  <a:srgbClr val="001F5F"/>
                </a:solidFill>
                <a:latin typeface="Times New Roman"/>
                <a:cs typeface="Times New Roman"/>
              </a:rPr>
              <a:t>Definition</a:t>
            </a:r>
            <a:r>
              <a:rPr sz="2000" spc="-40" dirty="0">
                <a:solidFill>
                  <a:srgbClr val="001F5F"/>
                </a:solidFill>
                <a:latin typeface="Times New Roman"/>
                <a:cs typeface="Times New Roman"/>
              </a:rPr>
              <a:t> </a:t>
            </a:r>
            <a:r>
              <a:rPr sz="2000" dirty="0">
                <a:solidFill>
                  <a:srgbClr val="001F5F"/>
                </a:solidFill>
                <a:latin typeface="Times New Roman"/>
                <a:cs typeface="Times New Roman"/>
              </a:rPr>
              <a:t>of</a:t>
            </a:r>
            <a:r>
              <a:rPr sz="2000" spc="-20" dirty="0">
                <a:solidFill>
                  <a:srgbClr val="001F5F"/>
                </a:solidFill>
                <a:latin typeface="Times New Roman"/>
                <a:cs typeface="Times New Roman"/>
              </a:rPr>
              <a:t> </a:t>
            </a:r>
            <a:r>
              <a:rPr sz="2000" dirty="0">
                <a:solidFill>
                  <a:srgbClr val="001F5F"/>
                </a:solidFill>
                <a:latin typeface="Times New Roman"/>
                <a:cs typeface="Times New Roman"/>
              </a:rPr>
              <a:t>a</a:t>
            </a:r>
            <a:r>
              <a:rPr sz="2000" spc="-5" dirty="0">
                <a:solidFill>
                  <a:srgbClr val="001F5F"/>
                </a:solidFill>
                <a:latin typeface="Times New Roman"/>
                <a:cs typeface="Times New Roman"/>
              </a:rPr>
              <a:t> </a:t>
            </a:r>
            <a:r>
              <a:rPr sz="2000" dirty="0">
                <a:solidFill>
                  <a:srgbClr val="001F5F"/>
                </a:solidFill>
                <a:latin typeface="Times New Roman"/>
                <a:cs typeface="Times New Roman"/>
              </a:rPr>
              <a:t>Research</a:t>
            </a:r>
            <a:r>
              <a:rPr sz="2000" spc="-15" dirty="0">
                <a:solidFill>
                  <a:srgbClr val="001F5F"/>
                </a:solidFill>
                <a:latin typeface="Times New Roman"/>
                <a:cs typeface="Times New Roman"/>
              </a:rPr>
              <a:t> </a:t>
            </a:r>
            <a:r>
              <a:rPr sz="2000" spc="-10" dirty="0">
                <a:solidFill>
                  <a:srgbClr val="001F5F"/>
                </a:solidFill>
                <a:latin typeface="Times New Roman"/>
                <a:cs typeface="Times New Roman"/>
              </a:rPr>
              <a:t>Problem</a:t>
            </a:r>
            <a:endParaRPr sz="2000" dirty="0">
              <a:latin typeface="Times New Roman"/>
              <a:cs typeface="Times New Roman"/>
            </a:endParaRPr>
          </a:p>
          <a:p>
            <a:pPr marL="285115" indent="-272415">
              <a:spcBef>
                <a:spcPts val="1689"/>
              </a:spcBef>
              <a:buClr>
                <a:srgbClr val="C00000"/>
              </a:buClr>
              <a:buSzPct val="85000"/>
              <a:buFont typeface="Wingdings 2"/>
              <a:buChar char=""/>
              <a:tabLst>
                <a:tab pos="285115" algn="l"/>
              </a:tabLst>
            </a:pPr>
            <a:r>
              <a:rPr sz="2000" dirty="0">
                <a:solidFill>
                  <a:srgbClr val="001F5F"/>
                </a:solidFill>
                <a:latin typeface="Times New Roman"/>
                <a:cs typeface="Times New Roman"/>
              </a:rPr>
              <a:t>Literature</a:t>
            </a:r>
            <a:r>
              <a:rPr sz="2000" spc="-50" dirty="0">
                <a:solidFill>
                  <a:srgbClr val="001F5F"/>
                </a:solidFill>
                <a:latin typeface="Times New Roman"/>
                <a:cs typeface="Times New Roman"/>
              </a:rPr>
              <a:t> </a:t>
            </a:r>
            <a:r>
              <a:rPr sz="2000" dirty="0">
                <a:solidFill>
                  <a:srgbClr val="001F5F"/>
                </a:solidFill>
                <a:latin typeface="Times New Roman"/>
                <a:cs typeface="Times New Roman"/>
              </a:rPr>
              <a:t>Survey</a:t>
            </a:r>
            <a:r>
              <a:rPr sz="2000" spc="-45" dirty="0">
                <a:solidFill>
                  <a:srgbClr val="001F5F"/>
                </a:solidFill>
                <a:latin typeface="Times New Roman"/>
                <a:cs typeface="Times New Roman"/>
              </a:rPr>
              <a:t> </a:t>
            </a:r>
            <a:r>
              <a:rPr sz="2000" dirty="0">
                <a:solidFill>
                  <a:srgbClr val="001F5F"/>
                </a:solidFill>
                <a:latin typeface="Times New Roman"/>
                <a:cs typeface="Times New Roman"/>
              </a:rPr>
              <a:t>and</a:t>
            </a:r>
            <a:r>
              <a:rPr sz="2000" spc="-5" dirty="0">
                <a:solidFill>
                  <a:srgbClr val="001F5F"/>
                </a:solidFill>
                <a:latin typeface="Times New Roman"/>
                <a:cs typeface="Times New Roman"/>
              </a:rPr>
              <a:t> </a:t>
            </a:r>
            <a:r>
              <a:rPr sz="2000" dirty="0">
                <a:solidFill>
                  <a:srgbClr val="001F5F"/>
                </a:solidFill>
                <a:latin typeface="Times New Roman"/>
                <a:cs typeface="Times New Roman"/>
              </a:rPr>
              <a:t>Reference</a:t>
            </a:r>
            <a:r>
              <a:rPr sz="2000" spc="-40" dirty="0">
                <a:solidFill>
                  <a:srgbClr val="001F5F"/>
                </a:solidFill>
                <a:latin typeface="Times New Roman"/>
                <a:cs typeface="Times New Roman"/>
              </a:rPr>
              <a:t> </a:t>
            </a:r>
            <a:r>
              <a:rPr sz="2000" spc="-10" dirty="0">
                <a:solidFill>
                  <a:srgbClr val="001F5F"/>
                </a:solidFill>
                <a:latin typeface="Times New Roman"/>
                <a:cs typeface="Times New Roman"/>
              </a:rPr>
              <a:t>Collection</a:t>
            </a:r>
            <a:endParaRPr sz="2000" dirty="0">
              <a:latin typeface="Times New Roman"/>
              <a:cs typeface="Times New Roman"/>
            </a:endParaRPr>
          </a:p>
          <a:p>
            <a:pPr marL="285115" indent="-272415">
              <a:spcBef>
                <a:spcPts val="1710"/>
              </a:spcBef>
              <a:buClr>
                <a:srgbClr val="C00000"/>
              </a:buClr>
              <a:buSzPct val="85000"/>
              <a:buFont typeface="Wingdings 2"/>
              <a:buChar char=""/>
              <a:tabLst>
                <a:tab pos="285115" algn="l"/>
              </a:tabLst>
            </a:pPr>
            <a:r>
              <a:rPr sz="2000" dirty="0">
                <a:solidFill>
                  <a:srgbClr val="001F5F"/>
                </a:solidFill>
                <a:latin typeface="Times New Roman"/>
                <a:cs typeface="Times New Roman"/>
              </a:rPr>
              <a:t>Assessment</a:t>
            </a:r>
            <a:r>
              <a:rPr sz="2000" spc="-25" dirty="0">
                <a:solidFill>
                  <a:srgbClr val="001F5F"/>
                </a:solidFill>
                <a:latin typeface="Times New Roman"/>
                <a:cs typeface="Times New Roman"/>
              </a:rPr>
              <a:t> </a:t>
            </a:r>
            <a:r>
              <a:rPr sz="2000" dirty="0">
                <a:solidFill>
                  <a:srgbClr val="001F5F"/>
                </a:solidFill>
                <a:latin typeface="Times New Roman"/>
                <a:cs typeface="Times New Roman"/>
              </a:rPr>
              <a:t>of</a:t>
            </a:r>
            <a:r>
              <a:rPr sz="2000" spc="-20" dirty="0">
                <a:solidFill>
                  <a:srgbClr val="001F5F"/>
                </a:solidFill>
                <a:latin typeface="Times New Roman"/>
                <a:cs typeface="Times New Roman"/>
              </a:rPr>
              <a:t> </a:t>
            </a:r>
            <a:r>
              <a:rPr sz="2000" dirty="0">
                <a:solidFill>
                  <a:srgbClr val="001F5F"/>
                </a:solidFill>
                <a:latin typeface="Times New Roman"/>
                <a:cs typeface="Times New Roman"/>
              </a:rPr>
              <a:t>Current</a:t>
            </a:r>
            <a:r>
              <a:rPr sz="2000" spc="-35" dirty="0">
                <a:solidFill>
                  <a:srgbClr val="001F5F"/>
                </a:solidFill>
                <a:latin typeface="Times New Roman"/>
                <a:cs typeface="Times New Roman"/>
              </a:rPr>
              <a:t> </a:t>
            </a:r>
            <a:r>
              <a:rPr sz="2000" dirty="0">
                <a:solidFill>
                  <a:srgbClr val="001F5F"/>
                </a:solidFill>
                <a:latin typeface="Times New Roman"/>
                <a:cs typeface="Times New Roman"/>
              </a:rPr>
              <a:t>status</a:t>
            </a:r>
            <a:r>
              <a:rPr sz="2000" spc="-20" dirty="0">
                <a:solidFill>
                  <a:srgbClr val="001F5F"/>
                </a:solidFill>
                <a:latin typeface="Times New Roman"/>
                <a:cs typeface="Times New Roman"/>
              </a:rPr>
              <a:t> </a:t>
            </a:r>
            <a:r>
              <a:rPr sz="2000" dirty="0">
                <a:solidFill>
                  <a:srgbClr val="001F5F"/>
                </a:solidFill>
                <a:latin typeface="Times New Roman"/>
                <a:cs typeface="Times New Roman"/>
              </a:rPr>
              <a:t>of</a:t>
            </a:r>
            <a:r>
              <a:rPr sz="2000" spc="-25" dirty="0">
                <a:solidFill>
                  <a:srgbClr val="001F5F"/>
                </a:solidFill>
                <a:latin typeface="Times New Roman"/>
                <a:cs typeface="Times New Roman"/>
              </a:rPr>
              <a:t> </a:t>
            </a:r>
            <a:r>
              <a:rPr sz="2000" dirty="0">
                <a:solidFill>
                  <a:srgbClr val="001F5F"/>
                </a:solidFill>
                <a:latin typeface="Times New Roman"/>
                <a:cs typeface="Times New Roman"/>
              </a:rPr>
              <a:t>the</a:t>
            </a:r>
            <a:r>
              <a:rPr sz="2000" spc="-10" dirty="0">
                <a:solidFill>
                  <a:srgbClr val="001F5F"/>
                </a:solidFill>
                <a:latin typeface="Times New Roman"/>
                <a:cs typeface="Times New Roman"/>
              </a:rPr>
              <a:t> </a:t>
            </a:r>
            <a:r>
              <a:rPr sz="2000" dirty="0">
                <a:solidFill>
                  <a:srgbClr val="001F5F"/>
                </a:solidFill>
                <a:latin typeface="Times New Roman"/>
                <a:cs typeface="Times New Roman"/>
              </a:rPr>
              <a:t>topic</a:t>
            </a:r>
            <a:r>
              <a:rPr sz="2000" spc="-25" dirty="0">
                <a:solidFill>
                  <a:srgbClr val="001F5F"/>
                </a:solidFill>
                <a:latin typeface="Times New Roman"/>
                <a:cs typeface="Times New Roman"/>
              </a:rPr>
              <a:t> </a:t>
            </a:r>
            <a:r>
              <a:rPr sz="2000" spc="-10" dirty="0">
                <a:solidFill>
                  <a:srgbClr val="001F5F"/>
                </a:solidFill>
                <a:latin typeface="Times New Roman"/>
                <a:cs typeface="Times New Roman"/>
              </a:rPr>
              <a:t>chosen</a:t>
            </a:r>
            <a:endParaRPr sz="2000" dirty="0">
              <a:latin typeface="Times New Roman"/>
              <a:cs typeface="Times New Roman"/>
            </a:endParaRPr>
          </a:p>
          <a:p>
            <a:pPr marL="285115" indent="-272415">
              <a:spcBef>
                <a:spcPts val="1705"/>
              </a:spcBef>
              <a:buClr>
                <a:srgbClr val="C00000"/>
              </a:buClr>
              <a:buSzPct val="85000"/>
              <a:buFont typeface="Wingdings 2"/>
              <a:buChar char=""/>
              <a:tabLst>
                <a:tab pos="285115" algn="l"/>
              </a:tabLst>
            </a:pPr>
            <a:r>
              <a:rPr sz="2000" dirty="0">
                <a:solidFill>
                  <a:srgbClr val="001F5F"/>
                </a:solidFill>
                <a:latin typeface="Times New Roman"/>
                <a:cs typeface="Times New Roman"/>
              </a:rPr>
              <a:t>Formulation</a:t>
            </a:r>
            <a:r>
              <a:rPr sz="2000" spc="-30" dirty="0">
                <a:solidFill>
                  <a:srgbClr val="001F5F"/>
                </a:solidFill>
                <a:latin typeface="Times New Roman"/>
                <a:cs typeface="Times New Roman"/>
              </a:rPr>
              <a:t> </a:t>
            </a:r>
            <a:r>
              <a:rPr sz="2000" dirty="0">
                <a:solidFill>
                  <a:srgbClr val="001F5F"/>
                </a:solidFill>
                <a:latin typeface="Times New Roman"/>
                <a:cs typeface="Times New Roman"/>
              </a:rPr>
              <a:t>of</a:t>
            </a:r>
            <a:r>
              <a:rPr sz="2000" spc="-30" dirty="0">
                <a:solidFill>
                  <a:srgbClr val="001F5F"/>
                </a:solidFill>
                <a:latin typeface="Times New Roman"/>
                <a:cs typeface="Times New Roman"/>
              </a:rPr>
              <a:t> </a:t>
            </a:r>
            <a:r>
              <a:rPr sz="2000" spc="-10" dirty="0">
                <a:solidFill>
                  <a:srgbClr val="001F5F"/>
                </a:solidFill>
                <a:latin typeface="Times New Roman"/>
                <a:cs typeface="Times New Roman"/>
              </a:rPr>
              <a:t>hypothesis</a:t>
            </a:r>
            <a:endParaRPr sz="2000" dirty="0">
              <a:latin typeface="Times New Roman"/>
              <a:cs typeface="Times New Roman"/>
            </a:endParaRPr>
          </a:p>
          <a:p>
            <a:pPr marL="285115" indent="-272415">
              <a:spcBef>
                <a:spcPts val="1689"/>
              </a:spcBef>
              <a:buClr>
                <a:srgbClr val="C00000"/>
              </a:buClr>
              <a:buSzPct val="85000"/>
              <a:buFont typeface="Wingdings 2"/>
              <a:buChar char=""/>
              <a:tabLst>
                <a:tab pos="285115" algn="l"/>
              </a:tabLst>
            </a:pPr>
            <a:r>
              <a:rPr sz="2000" dirty="0">
                <a:solidFill>
                  <a:srgbClr val="001F5F"/>
                </a:solidFill>
                <a:latin typeface="Times New Roman"/>
                <a:cs typeface="Times New Roman"/>
              </a:rPr>
              <a:t>Materials</a:t>
            </a:r>
            <a:r>
              <a:rPr sz="2000" spc="-40" dirty="0">
                <a:solidFill>
                  <a:srgbClr val="001F5F"/>
                </a:solidFill>
                <a:latin typeface="Times New Roman"/>
                <a:cs typeface="Times New Roman"/>
              </a:rPr>
              <a:t> </a:t>
            </a:r>
            <a:r>
              <a:rPr sz="2000" dirty="0">
                <a:solidFill>
                  <a:srgbClr val="001F5F"/>
                </a:solidFill>
                <a:latin typeface="Times New Roman"/>
                <a:cs typeface="Times New Roman"/>
              </a:rPr>
              <a:t>and</a:t>
            </a:r>
            <a:r>
              <a:rPr sz="2000" spc="-25" dirty="0">
                <a:solidFill>
                  <a:srgbClr val="001F5F"/>
                </a:solidFill>
                <a:latin typeface="Times New Roman"/>
                <a:cs typeface="Times New Roman"/>
              </a:rPr>
              <a:t> </a:t>
            </a:r>
            <a:r>
              <a:rPr sz="2000" dirty="0">
                <a:solidFill>
                  <a:srgbClr val="001F5F"/>
                </a:solidFill>
                <a:latin typeface="Times New Roman"/>
                <a:cs typeface="Times New Roman"/>
              </a:rPr>
              <a:t>Methods</a:t>
            </a:r>
            <a:r>
              <a:rPr sz="2000" spc="-35" dirty="0">
                <a:solidFill>
                  <a:srgbClr val="001F5F"/>
                </a:solidFill>
                <a:latin typeface="Times New Roman"/>
                <a:cs typeface="Times New Roman"/>
              </a:rPr>
              <a:t> </a:t>
            </a:r>
            <a:r>
              <a:rPr sz="2000" dirty="0">
                <a:solidFill>
                  <a:srgbClr val="001F5F"/>
                </a:solidFill>
                <a:latin typeface="Times New Roman"/>
                <a:cs typeface="Times New Roman"/>
              </a:rPr>
              <a:t>(Research</a:t>
            </a:r>
            <a:r>
              <a:rPr sz="2000" spc="-40" dirty="0">
                <a:solidFill>
                  <a:srgbClr val="001F5F"/>
                </a:solidFill>
                <a:latin typeface="Times New Roman"/>
                <a:cs typeface="Times New Roman"/>
              </a:rPr>
              <a:t> </a:t>
            </a:r>
            <a:r>
              <a:rPr sz="2000" spc="-10" dirty="0">
                <a:solidFill>
                  <a:srgbClr val="001F5F"/>
                </a:solidFill>
                <a:latin typeface="Times New Roman"/>
                <a:cs typeface="Times New Roman"/>
              </a:rPr>
              <a:t>Design)</a:t>
            </a:r>
            <a:endParaRPr sz="2000" dirty="0">
              <a:latin typeface="Times New Roman"/>
              <a:cs typeface="Times New Roman"/>
            </a:endParaRPr>
          </a:p>
          <a:p>
            <a:pPr marL="285115" indent="-272415">
              <a:spcBef>
                <a:spcPts val="1705"/>
              </a:spcBef>
              <a:buClr>
                <a:srgbClr val="C00000"/>
              </a:buClr>
              <a:buSzPct val="85000"/>
              <a:buFont typeface="Wingdings 2"/>
              <a:buChar char=""/>
              <a:tabLst>
                <a:tab pos="285115" algn="l"/>
              </a:tabLst>
            </a:pPr>
            <a:r>
              <a:rPr sz="2000" dirty="0">
                <a:solidFill>
                  <a:srgbClr val="001F5F"/>
                </a:solidFill>
                <a:latin typeface="Times New Roman"/>
                <a:cs typeface="Times New Roman"/>
              </a:rPr>
              <a:t>Conduct</a:t>
            </a:r>
            <a:r>
              <a:rPr sz="2000" spc="-50" dirty="0">
                <a:solidFill>
                  <a:srgbClr val="001F5F"/>
                </a:solidFill>
                <a:latin typeface="Times New Roman"/>
                <a:cs typeface="Times New Roman"/>
              </a:rPr>
              <a:t> </a:t>
            </a:r>
            <a:r>
              <a:rPr sz="2000" dirty="0">
                <a:solidFill>
                  <a:srgbClr val="001F5F"/>
                </a:solidFill>
                <a:latin typeface="Times New Roman"/>
                <a:cs typeface="Times New Roman"/>
              </a:rPr>
              <a:t>of</a:t>
            </a:r>
            <a:r>
              <a:rPr sz="2000" spc="-20" dirty="0">
                <a:solidFill>
                  <a:srgbClr val="001F5F"/>
                </a:solidFill>
                <a:latin typeface="Times New Roman"/>
                <a:cs typeface="Times New Roman"/>
              </a:rPr>
              <a:t> </a:t>
            </a:r>
            <a:r>
              <a:rPr sz="2000" dirty="0">
                <a:solidFill>
                  <a:srgbClr val="001F5F"/>
                </a:solidFill>
                <a:latin typeface="Times New Roman"/>
                <a:cs typeface="Times New Roman"/>
              </a:rPr>
              <a:t>Experiments</a:t>
            </a:r>
            <a:r>
              <a:rPr sz="2000" spc="-15" dirty="0">
                <a:solidFill>
                  <a:srgbClr val="001F5F"/>
                </a:solidFill>
                <a:latin typeface="Times New Roman"/>
                <a:cs typeface="Times New Roman"/>
              </a:rPr>
              <a:t> </a:t>
            </a:r>
            <a:r>
              <a:rPr sz="2000" dirty="0">
                <a:solidFill>
                  <a:srgbClr val="001F5F"/>
                </a:solidFill>
                <a:latin typeface="Times New Roman"/>
                <a:cs typeface="Times New Roman"/>
              </a:rPr>
              <a:t>(Actual</a:t>
            </a:r>
            <a:r>
              <a:rPr sz="2000" spc="-35" dirty="0">
                <a:solidFill>
                  <a:srgbClr val="001F5F"/>
                </a:solidFill>
                <a:latin typeface="Times New Roman"/>
                <a:cs typeface="Times New Roman"/>
              </a:rPr>
              <a:t> </a:t>
            </a:r>
            <a:r>
              <a:rPr sz="2000" spc="-10" dirty="0">
                <a:solidFill>
                  <a:srgbClr val="001F5F"/>
                </a:solidFill>
                <a:latin typeface="Times New Roman"/>
                <a:cs typeface="Times New Roman"/>
              </a:rPr>
              <a:t>Investigations)</a:t>
            </a:r>
            <a:endParaRPr sz="2000" dirty="0">
              <a:latin typeface="Times New Roman"/>
              <a:cs typeface="Times New Roman"/>
            </a:endParaRPr>
          </a:p>
          <a:p>
            <a:pPr marL="285115" indent="-272415">
              <a:spcBef>
                <a:spcPts val="1705"/>
              </a:spcBef>
              <a:buClr>
                <a:srgbClr val="C00000"/>
              </a:buClr>
              <a:buSzPct val="85000"/>
              <a:buFont typeface="Wingdings 2"/>
              <a:buChar char=""/>
              <a:tabLst>
                <a:tab pos="285115" algn="l"/>
              </a:tabLst>
            </a:pPr>
            <a:r>
              <a:rPr sz="2000" dirty="0">
                <a:solidFill>
                  <a:srgbClr val="001F5F"/>
                </a:solidFill>
                <a:latin typeface="Times New Roman"/>
                <a:cs typeface="Times New Roman"/>
              </a:rPr>
              <a:t>Data</a:t>
            </a:r>
            <a:r>
              <a:rPr sz="2000" spc="-120" dirty="0">
                <a:solidFill>
                  <a:srgbClr val="001F5F"/>
                </a:solidFill>
                <a:latin typeface="Times New Roman"/>
                <a:cs typeface="Times New Roman"/>
              </a:rPr>
              <a:t> </a:t>
            </a:r>
            <a:r>
              <a:rPr sz="2000" spc="-10" dirty="0">
                <a:solidFill>
                  <a:srgbClr val="001F5F"/>
                </a:solidFill>
                <a:latin typeface="Times New Roman"/>
                <a:cs typeface="Times New Roman"/>
              </a:rPr>
              <a:t>Analysis</a:t>
            </a:r>
            <a:endParaRPr sz="2000" dirty="0">
              <a:latin typeface="Times New Roman"/>
              <a:cs typeface="Times New Roman"/>
            </a:endParaRPr>
          </a:p>
          <a:p>
            <a:pPr marL="285115" indent="-272415">
              <a:spcBef>
                <a:spcPts val="1689"/>
              </a:spcBef>
              <a:buClr>
                <a:srgbClr val="C00000"/>
              </a:buClr>
              <a:buSzPct val="85000"/>
              <a:buFont typeface="Wingdings 2"/>
              <a:buChar char=""/>
              <a:tabLst>
                <a:tab pos="285115" algn="l"/>
              </a:tabLst>
            </a:pPr>
            <a:r>
              <a:rPr sz="2000" dirty="0">
                <a:solidFill>
                  <a:srgbClr val="001F5F"/>
                </a:solidFill>
                <a:latin typeface="Times New Roman"/>
                <a:cs typeface="Times New Roman"/>
              </a:rPr>
              <a:t>Interpretation</a:t>
            </a:r>
            <a:r>
              <a:rPr sz="2000" spc="-45" dirty="0">
                <a:solidFill>
                  <a:srgbClr val="001F5F"/>
                </a:solidFill>
                <a:latin typeface="Times New Roman"/>
                <a:cs typeface="Times New Roman"/>
              </a:rPr>
              <a:t> </a:t>
            </a:r>
            <a:r>
              <a:rPr sz="2000" dirty="0">
                <a:solidFill>
                  <a:srgbClr val="001F5F"/>
                </a:solidFill>
                <a:latin typeface="Times New Roman"/>
                <a:cs typeface="Times New Roman"/>
              </a:rPr>
              <a:t>of</a:t>
            </a:r>
            <a:r>
              <a:rPr sz="2000" spc="-35" dirty="0">
                <a:solidFill>
                  <a:srgbClr val="001F5F"/>
                </a:solidFill>
                <a:latin typeface="Times New Roman"/>
                <a:cs typeface="Times New Roman"/>
              </a:rPr>
              <a:t> </a:t>
            </a:r>
            <a:r>
              <a:rPr sz="2000" dirty="0">
                <a:solidFill>
                  <a:srgbClr val="001F5F"/>
                </a:solidFill>
                <a:latin typeface="Times New Roman"/>
                <a:cs typeface="Times New Roman"/>
              </a:rPr>
              <a:t>the</a:t>
            </a:r>
            <a:r>
              <a:rPr sz="2000" spc="-30" dirty="0">
                <a:solidFill>
                  <a:srgbClr val="001F5F"/>
                </a:solidFill>
                <a:latin typeface="Times New Roman"/>
                <a:cs typeface="Times New Roman"/>
              </a:rPr>
              <a:t> </a:t>
            </a:r>
            <a:r>
              <a:rPr sz="2000" spc="-10" dirty="0">
                <a:solidFill>
                  <a:srgbClr val="001F5F"/>
                </a:solidFill>
                <a:latin typeface="Times New Roman"/>
                <a:cs typeface="Times New Roman"/>
              </a:rPr>
              <a:t>Results</a:t>
            </a:r>
            <a:endParaRPr sz="2000" dirty="0">
              <a:latin typeface="Times New Roman"/>
              <a:cs typeface="Times New Roman"/>
            </a:endParaRPr>
          </a:p>
          <a:p>
            <a:pPr marL="285115" indent="-272415">
              <a:spcBef>
                <a:spcPts val="1710"/>
              </a:spcBef>
              <a:buClr>
                <a:srgbClr val="C00000"/>
              </a:buClr>
              <a:buSzPct val="85000"/>
              <a:buFont typeface="Wingdings 2"/>
              <a:buChar char=""/>
              <a:tabLst>
                <a:tab pos="285115" algn="l"/>
              </a:tabLst>
            </a:pPr>
            <a:r>
              <a:rPr sz="2000" dirty="0">
                <a:solidFill>
                  <a:srgbClr val="001F5F"/>
                </a:solidFill>
                <a:latin typeface="Times New Roman"/>
                <a:cs typeface="Times New Roman"/>
              </a:rPr>
              <a:t>Findings</a:t>
            </a:r>
            <a:r>
              <a:rPr sz="2000" spc="-40" dirty="0">
                <a:solidFill>
                  <a:srgbClr val="001F5F"/>
                </a:solidFill>
                <a:latin typeface="Times New Roman"/>
                <a:cs typeface="Times New Roman"/>
              </a:rPr>
              <a:t> </a:t>
            </a:r>
            <a:r>
              <a:rPr sz="2000" dirty="0">
                <a:solidFill>
                  <a:srgbClr val="001F5F"/>
                </a:solidFill>
                <a:latin typeface="Times New Roman"/>
                <a:cs typeface="Times New Roman"/>
              </a:rPr>
              <a:t>and</a:t>
            </a:r>
            <a:r>
              <a:rPr sz="2000" spc="-5" dirty="0">
                <a:solidFill>
                  <a:srgbClr val="001F5F"/>
                </a:solidFill>
                <a:latin typeface="Times New Roman"/>
                <a:cs typeface="Times New Roman"/>
              </a:rPr>
              <a:t> </a:t>
            </a:r>
            <a:r>
              <a:rPr sz="2000" spc="-10" dirty="0">
                <a:solidFill>
                  <a:srgbClr val="001F5F"/>
                </a:solidFill>
                <a:latin typeface="Times New Roman"/>
                <a:cs typeface="Times New Roman"/>
              </a:rPr>
              <a:t>conclusions</a:t>
            </a:r>
            <a:endParaRPr sz="2000" dirty="0">
              <a:latin typeface="Times New Roman"/>
              <a:cs typeface="Times New Roman"/>
            </a:endParaRPr>
          </a:p>
        </p:txBody>
      </p:sp>
      <p:pic>
        <p:nvPicPr>
          <p:cNvPr id="5" name="object 5"/>
          <p:cNvPicPr/>
          <p:nvPr/>
        </p:nvPicPr>
        <p:blipFill>
          <a:blip r:embed="rId3" cstate="print"/>
          <a:stretch>
            <a:fillRect/>
          </a:stretch>
        </p:blipFill>
        <p:spPr>
          <a:xfrm>
            <a:off x="1905000" y="0"/>
            <a:ext cx="1905000" cy="914400"/>
          </a:xfrm>
          <a:prstGeom prst="rect">
            <a:avLst/>
          </a:prstGeom>
        </p:spPr>
      </p:pic>
      <p:sp>
        <p:nvSpPr>
          <p:cNvPr id="10" name="Slide Number Placeholder 9"/>
          <p:cNvSpPr>
            <a:spLocks noGrp="1"/>
          </p:cNvSpPr>
          <p:nvPr>
            <p:ph type="sldNum" sz="quarter" idx="7"/>
          </p:nvPr>
        </p:nvSpPr>
        <p:spPr>
          <a:xfrm>
            <a:off x="230428" y="6329531"/>
            <a:ext cx="299720" cy="227965"/>
          </a:xfrm>
          <a:prstGeom prst="rect">
            <a:avLst/>
          </a:prstGeom>
        </p:spPr>
        <p:txBody>
          <a:bodyPr wrap="square" lIns="0" tIns="0" rIns="0" bIns="0">
            <a:spAutoFit/>
          </a:bodyPr>
          <a:lstStyle>
            <a:defPPr>
              <a:defRPr kern="0"/>
            </a:defPPr>
            <a:lvl1pPr>
              <a:defRPr sz="1400" b="0" i="0">
                <a:solidFill>
                  <a:schemeClr val="bg1"/>
                </a:solidFill>
                <a:latin typeface="Franklin Gothic Book"/>
                <a:cs typeface="Franklin Gothic Book"/>
              </a:defRPr>
            </a:lvl1pPr>
          </a:lstStyle>
          <a:p>
            <a:pPr marL="38100">
              <a:lnSpc>
                <a:spcPts val="1664"/>
              </a:lnSpc>
            </a:pPr>
            <a:fld id="{81D60167-4931-47E6-BA6A-407CBD079E47}" type="slidenum">
              <a:rPr lang="en-IN" spc="-25" smtClean="0"/>
              <a:pPr marL="38100">
                <a:lnSpc>
                  <a:spcPts val="1664"/>
                </a:lnSpc>
              </a:pPr>
              <a:t>9</a:t>
            </a:fld>
            <a:endParaRPr lang="en-US" spc="-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3048"/>
          </a:xfrm>
        </p:spPr>
        <p:txBody>
          <a:bodyPr>
            <a:normAutofit/>
          </a:bodyPr>
          <a:lstStyle/>
          <a:p>
            <a:pPr algn="ctr"/>
            <a:r>
              <a:rPr lang="en-US" sz="3200" b="1" dirty="0">
                <a:solidFill>
                  <a:srgbClr val="0000FF"/>
                </a:solidFill>
              </a:rPr>
              <a:t>Technical Definitions of Research</a:t>
            </a:r>
            <a:endParaRPr lang="en-IN" sz="3200" b="1" dirty="0">
              <a:solidFill>
                <a:srgbClr val="0000FF"/>
              </a:solidFill>
            </a:endParaRPr>
          </a:p>
        </p:txBody>
      </p:sp>
      <p:sp>
        <p:nvSpPr>
          <p:cNvPr id="3" name="Content Placeholder 2"/>
          <p:cNvSpPr>
            <a:spLocks noGrp="1"/>
          </p:cNvSpPr>
          <p:nvPr>
            <p:ph idx="1"/>
          </p:nvPr>
        </p:nvSpPr>
        <p:spPr>
          <a:xfrm>
            <a:off x="838200" y="1078174"/>
            <a:ext cx="10515600" cy="5336274"/>
          </a:xfrm>
        </p:spPr>
        <p:txBody>
          <a:bodyPr>
            <a:normAutofit fontScale="92500" lnSpcReduction="10000"/>
          </a:bodyPr>
          <a:lstStyle/>
          <a:p>
            <a:pPr algn="just"/>
            <a:r>
              <a:rPr lang="en-US" dirty="0"/>
              <a:t>Defining and redefining problems, formulating hypothesis or suggested solutions, collecting, organizing and evaluating data, making deductions and reaching conclusions, and at last carefully testing the conclusions to determine whether they fit the formulating hypothesis. (Clifford Woody)</a:t>
            </a:r>
          </a:p>
          <a:p>
            <a:pPr algn="just"/>
            <a:r>
              <a:rPr lang="en-US" dirty="0"/>
              <a:t>The manipulation of things, concepts or symbols for the purpose of generalizing to extend, correct or verify knowledge, whether the knowledge extends to the construction of a theory or the practice of an art. (Slesinger and Stephenson)</a:t>
            </a:r>
          </a:p>
          <a:p>
            <a:pPr lvl="0" algn="just"/>
            <a:r>
              <a:rPr lang="en-US" dirty="0"/>
              <a:t>Research is a tool that is building a block and a sustaining pillar of</a:t>
            </a:r>
            <a:r>
              <a:rPr lang="en-IN" dirty="0"/>
              <a:t> </a:t>
            </a:r>
            <a:r>
              <a:rPr lang="en-US" dirty="0"/>
              <a:t>every discipline — scientific or otherwise that one  knows.</a:t>
            </a:r>
          </a:p>
          <a:p>
            <a:pPr lvl="0" algn="just"/>
            <a:r>
              <a:rPr lang="en-US" dirty="0"/>
              <a:t>Research refers to the systematic method consisting of enunciating the problem, formulating a hypothesis, collecting the facts or data, analyzing the fact and reaching certain conclusions either in the form solutions(s) towards the concerned problem or in certain generalizations for some theoretical formulation.</a:t>
            </a:r>
            <a:endParaRPr lang="en-IN" dirty="0"/>
          </a:p>
          <a:p>
            <a:endParaRPr lang="en-US" dirty="0"/>
          </a:p>
          <a:p>
            <a:endParaRPr lang="en-IN" dirty="0"/>
          </a:p>
          <a:p>
            <a:pPr marL="0" indent="0">
              <a:buNone/>
            </a:pPr>
            <a:endParaRPr lang="en-IN" dirty="0"/>
          </a:p>
        </p:txBody>
      </p:sp>
    </p:spTree>
    <p:extLst>
      <p:ext uri="{BB962C8B-B14F-4D97-AF65-F5344CB8AC3E}">
        <p14:creationId xmlns:p14="http://schemas.microsoft.com/office/powerpoint/2010/main" val="16806362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271447" y="385993"/>
            <a:ext cx="3071011" cy="178838"/>
          </a:xfrm>
          <a:prstGeom prst="rect">
            <a:avLst/>
          </a:prstGeom>
        </p:spPr>
      </p:pic>
      <p:sp>
        <p:nvSpPr>
          <p:cNvPr id="3" name="object 3"/>
          <p:cNvSpPr txBox="1"/>
          <p:nvPr/>
        </p:nvSpPr>
        <p:spPr>
          <a:xfrm>
            <a:off x="5247895" y="299084"/>
            <a:ext cx="3068955" cy="299720"/>
          </a:xfrm>
          <a:prstGeom prst="rect">
            <a:avLst/>
          </a:prstGeom>
        </p:spPr>
        <p:txBody>
          <a:bodyPr vert="horz" wrap="square" lIns="0" tIns="12700" rIns="0" bIns="0" rtlCol="0">
            <a:spAutoFit/>
          </a:bodyPr>
          <a:lstStyle/>
          <a:p>
            <a:pPr marL="12700">
              <a:spcBef>
                <a:spcPts val="100"/>
              </a:spcBef>
            </a:pPr>
            <a:r>
              <a:rPr b="1" i="1" dirty="0">
                <a:solidFill>
                  <a:srgbClr val="C00000"/>
                </a:solidFill>
                <a:latin typeface="Times New Roman"/>
                <a:cs typeface="Times New Roman"/>
              </a:rPr>
              <a:t>OBJECTIVES</a:t>
            </a:r>
            <a:r>
              <a:rPr b="1" i="1" spc="-15" dirty="0">
                <a:solidFill>
                  <a:srgbClr val="C00000"/>
                </a:solidFill>
                <a:latin typeface="Times New Roman"/>
                <a:cs typeface="Times New Roman"/>
              </a:rPr>
              <a:t> </a:t>
            </a:r>
            <a:r>
              <a:rPr b="1" i="1" dirty="0">
                <a:solidFill>
                  <a:srgbClr val="C00000"/>
                </a:solidFill>
                <a:latin typeface="Times New Roman"/>
                <a:cs typeface="Times New Roman"/>
              </a:rPr>
              <a:t>OF</a:t>
            </a:r>
            <a:r>
              <a:rPr b="1" i="1" spc="-40" dirty="0">
                <a:solidFill>
                  <a:srgbClr val="C00000"/>
                </a:solidFill>
                <a:latin typeface="Times New Roman"/>
                <a:cs typeface="Times New Roman"/>
              </a:rPr>
              <a:t> </a:t>
            </a:r>
            <a:r>
              <a:rPr b="1" i="1" spc="-10" dirty="0">
                <a:solidFill>
                  <a:srgbClr val="C00000"/>
                </a:solidFill>
                <a:latin typeface="Times New Roman"/>
                <a:cs typeface="Times New Roman"/>
              </a:rPr>
              <a:t>RESEARCH</a:t>
            </a:r>
            <a:endParaRPr>
              <a:latin typeface="Times New Roman"/>
              <a:cs typeface="Times New Roman"/>
            </a:endParaRPr>
          </a:p>
        </p:txBody>
      </p:sp>
      <p:sp>
        <p:nvSpPr>
          <p:cNvPr id="4" name="object 4"/>
          <p:cNvSpPr/>
          <p:nvPr/>
        </p:nvSpPr>
        <p:spPr>
          <a:xfrm>
            <a:off x="1670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4F81BC"/>
          </a:solidFill>
        </p:spPr>
        <p:txBody>
          <a:bodyPr wrap="square" lIns="0" tIns="0" rIns="0" bIns="0" rtlCol="0"/>
          <a:lstStyle/>
          <a:p>
            <a:endParaRPr/>
          </a:p>
        </p:txBody>
      </p:sp>
      <p:sp>
        <p:nvSpPr>
          <p:cNvPr id="5" name="object 5"/>
          <p:cNvSpPr txBox="1">
            <a:spLocks noGrp="1"/>
          </p:cNvSpPr>
          <p:nvPr>
            <p:ph type="title"/>
          </p:nvPr>
        </p:nvSpPr>
        <p:spPr>
          <a:xfrm>
            <a:off x="1983740" y="1371727"/>
            <a:ext cx="2494280" cy="330835"/>
          </a:xfrm>
          <a:prstGeom prst="rect">
            <a:avLst/>
          </a:prstGeom>
        </p:spPr>
        <p:txBody>
          <a:bodyPr vert="horz" wrap="square" lIns="0" tIns="13335" rIns="0" bIns="0" rtlCol="0" anchor="ctr">
            <a:spAutoFit/>
          </a:bodyPr>
          <a:lstStyle/>
          <a:p>
            <a:pPr marL="12700">
              <a:lnSpc>
                <a:spcPct val="100000"/>
              </a:lnSpc>
              <a:spcBef>
                <a:spcPts val="105"/>
              </a:spcBef>
            </a:pPr>
            <a:r>
              <a:rPr sz="2000" dirty="0"/>
              <a:t>Objectives</a:t>
            </a:r>
            <a:r>
              <a:rPr sz="2000" spc="-40" dirty="0"/>
              <a:t> </a:t>
            </a:r>
            <a:r>
              <a:rPr sz="2000" dirty="0"/>
              <a:t>of</a:t>
            </a:r>
            <a:r>
              <a:rPr sz="2000" spc="-40" dirty="0"/>
              <a:t> </a:t>
            </a:r>
            <a:r>
              <a:rPr sz="2000" spc="-10" dirty="0"/>
              <a:t>Research:</a:t>
            </a:r>
            <a:endParaRPr sz="2000" dirty="0"/>
          </a:p>
        </p:txBody>
      </p:sp>
      <p:sp>
        <p:nvSpPr>
          <p:cNvPr id="6" name="object 6"/>
          <p:cNvSpPr txBox="1"/>
          <p:nvPr/>
        </p:nvSpPr>
        <p:spPr>
          <a:xfrm>
            <a:off x="1983740" y="1740464"/>
            <a:ext cx="8301990" cy="2896870"/>
          </a:xfrm>
          <a:prstGeom prst="rect">
            <a:avLst/>
          </a:prstGeom>
        </p:spPr>
        <p:txBody>
          <a:bodyPr vert="horz" wrap="square" lIns="0" tIns="165735" rIns="0" bIns="0" rtlCol="0">
            <a:spAutoFit/>
          </a:bodyPr>
          <a:lstStyle/>
          <a:p>
            <a:pPr marL="285115" indent="-272415">
              <a:spcBef>
                <a:spcPts val="1305"/>
              </a:spcBef>
              <a:buClr>
                <a:srgbClr val="C00000"/>
              </a:buClr>
              <a:buSzPct val="85000"/>
              <a:buFont typeface="Wingdings 2"/>
              <a:buChar char=""/>
              <a:tabLst>
                <a:tab pos="285115" algn="l"/>
              </a:tabLst>
            </a:pPr>
            <a:r>
              <a:rPr sz="2000" dirty="0">
                <a:solidFill>
                  <a:srgbClr val="001F5F"/>
                </a:solidFill>
                <a:latin typeface="Times New Roman"/>
                <a:cs typeface="Times New Roman"/>
              </a:rPr>
              <a:t>The</a:t>
            </a:r>
            <a:r>
              <a:rPr sz="2000" spc="100" dirty="0">
                <a:solidFill>
                  <a:srgbClr val="001F5F"/>
                </a:solidFill>
                <a:latin typeface="Times New Roman"/>
                <a:cs typeface="Times New Roman"/>
              </a:rPr>
              <a:t> </a:t>
            </a:r>
            <a:r>
              <a:rPr sz="2000" dirty="0">
                <a:solidFill>
                  <a:srgbClr val="001F5F"/>
                </a:solidFill>
                <a:latin typeface="Times New Roman"/>
                <a:cs typeface="Times New Roman"/>
              </a:rPr>
              <a:t>main</a:t>
            </a:r>
            <a:r>
              <a:rPr sz="2000" spc="100" dirty="0">
                <a:solidFill>
                  <a:srgbClr val="001F5F"/>
                </a:solidFill>
                <a:latin typeface="Times New Roman"/>
                <a:cs typeface="Times New Roman"/>
              </a:rPr>
              <a:t> </a:t>
            </a:r>
            <a:r>
              <a:rPr sz="2000" dirty="0">
                <a:solidFill>
                  <a:srgbClr val="001F5F"/>
                </a:solidFill>
                <a:latin typeface="Times New Roman"/>
                <a:cs typeface="Times New Roman"/>
              </a:rPr>
              <a:t>purpose</a:t>
            </a:r>
            <a:r>
              <a:rPr sz="2000" spc="95" dirty="0">
                <a:solidFill>
                  <a:srgbClr val="001F5F"/>
                </a:solidFill>
                <a:latin typeface="Times New Roman"/>
                <a:cs typeface="Times New Roman"/>
              </a:rPr>
              <a:t> </a:t>
            </a:r>
            <a:r>
              <a:rPr sz="2000" dirty="0">
                <a:solidFill>
                  <a:srgbClr val="001F5F"/>
                </a:solidFill>
                <a:latin typeface="Times New Roman"/>
                <a:cs typeface="Times New Roman"/>
              </a:rPr>
              <a:t>of</a:t>
            </a:r>
            <a:r>
              <a:rPr sz="2000" spc="90" dirty="0">
                <a:solidFill>
                  <a:srgbClr val="001F5F"/>
                </a:solidFill>
                <a:latin typeface="Times New Roman"/>
                <a:cs typeface="Times New Roman"/>
              </a:rPr>
              <a:t> </a:t>
            </a:r>
            <a:r>
              <a:rPr sz="2000" dirty="0">
                <a:solidFill>
                  <a:srgbClr val="001F5F"/>
                </a:solidFill>
                <a:latin typeface="Times New Roman"/>
                <a:cs typeface="Times New Roman"/>
              </a:rPr>
              <a:t>research</a:t>
            </a:r>
            <a:r>
              <a:rPr sz="2000" spc="95" dirty="0">
                <a:solidFill>
                  <a:srgbClr val="001F5F"/>
                </a:solidFill>
                <a:latin typeface="Times New Roman"/>
                <a:cs typeface="Times New Roman"/>
              </a:rPr>
              <a:t> </a:t>
            </a:r>
            <a:r>
              <a:rPr sz="2000" dirty="0">
                <a:solidFill>
                  <a:srgbClr val="001F5F"/>
                </a:solidFill>
                <a:latin typeface="Times New Roman"/>
                <a:cs typeface="Times New Roman"/>
              </a:rPr>
              <a:t>is</a:t>
            </a:r>
            <a:r>
              <a:rPr sz="2000" spc="100" dirty="0">
                <a:solidFill>
                  <a:srgbClr val="001F5F"/>
                </a:solidFill>
                <a:latin typeface="Times New Roman"/>
                <a:cs typeface="Times New Roman"/>
              </a:rPr>
              <a:t> </a:t>
            </a:r>
            <a:r>
              <a:rPr sz="2000" dirty="0">
                <a:solidFill>
                  <a:srgbClr val="001F5F"/>
                </a:solidFill>
                <a:latin typeface="Times New Roman"/>
                <a:cs typeface="Times New Roman"/>
              </a:rPr>
              <a:t>to</a:t>
            </a:r>
            <a:r>
              <a:rPr sz="2000" spc="90" dirty="0">
                <a:solidFill>
                  <a:srgbClr val="001F5F"/>
                </a:solidFill>
                <a:latin typeface="Times New Roman"/>
                <a:cs typeface="Times New Roman"/>
              </a:rPr>
              <a:t> </a:t>
            </a:r>
            <a:r>
              <a:rPr sz="2000" dirty="0">
                <a:solidFill>
                  <a:srgbClr val="001F5F"/>
                </a:solidFill>
                <a:latin typeface="Times New Roman"/>
                <a:cs typeface="Times New Roman"/>
              </a:rPr>
              <a:t>find</a:t>
            </a:r>
            <a:r>
              <a:rPr sz="2000" spc="95" dirty="0">
                <a:solidFill>
                  <a:srgbClr val="001F5F"/>
                </a:solidFill>
                <a:latin typeface="Times New Roman"/>
                <a:cs typeface="Times New Roman"/>
              </a:rPr>
              <a:t> </a:t>
            </a:r>
            <a:r>
              <a:rPr sz="2000" dirty="0">
                <a:solidFill>
                  <a:srgbClr val="001F5F"/>
                </a:solidFill>
                <a:latin typeface="Times New Roman"/>
                <a:cs typeface="Times New Roman"/>
              </a:rPr>
              <a:t>solutions</a:t>
            </a:r>
            <a:r>
              <a:rPr sz="2000" spc="110" dirty="0">
                <a:solidFill>
                  <a:srgbClr val="001F5F"/>
                </a:solidFill>
                <a:latin typeface="Times New Roman"/>
                <a:cs typeface="Times New Roman"/>
              </a:rPr>
              <a:t> </a:t>
            </a:r>
            <a:r>
              <a:rPr sz="2000" dirty="0">
                <a:solidFill>
                  <a:srgbClr val="001F5F"/>
                </a:solidFill>
                <a:latin typeface="Times New Roman"/>
                <a:cs typeface="Times New Roman"/>
              </a:rPr>
              <a:t>to</a:t>
            </a:r>
            <a:r>
              <a:rPr sz="2000" spc="90" dirty="0">
                <a:solidFill>
                  <a:srgbClr val="001F5F"/>
                </a:solidFill>
                <a:latin typeface="Times New Roman"/>
                <a:cs typeface="Times New Roman"/>
              </a:rPr>
              <a:t> </a:t>
            </a:r>
            <a:r>
              <a:rPr sz="2000" dirty="0">
                <a:solidFill>
                  <a:srgbClr val="001F5F"/>
                </a:solidFill>
                <a:latin typeface="Times New Roman"/>
                <a:cs typeface="Times New Roman"/>
              </a:rPr>
              <a:t>unsolved</a:t>
            </a:r>
            <a:r>
              <a:rPr sz="2000" spc="90" dirty="0">
                <a:solidFill>
                  <a:srgbClr val="001F5F"/>
                </a:solidFill>
                <a:latin typeface="Times New Roman"/>
                <a:cs typeface="Times New Roman"/>
              </a:rPr>
              <a:t> </a:t>
            </a:r>
            <a:r>
              <a:rPr sz="2000" dirty="0">
                <a:solidFill>
                  <a:srgbClr val="001F5F"/>
                </a:solidFill>
                <a:latin typeface="Times New Roman"/>
                <a:cs typeface="Times New Roman"/>
              </a:rPr>
              <a:t>problems</a:t>
            </a:r>
            <a:r>
              <a:rPr sz="2000" spc="100" dirty="0">
                <a:solidFill>
                  <a:srgbClr val="001F5F"/>
                </a:solidFill>
                <a:latin typeface="Times New Roman"/>
                <a:cs typeface="Times New Roman"/>
              </a:rPr>
              <a:t> </a:t>
            </a:r>
            <a:r>
              <a:rPr sz="2000" spc="-10" dirty="0">
                <a:solidFill>
                  <a:srgbClr val="001F5F"/>
                </a:solidFill>
                <a:latin typeface="Times New Roman"/>
                <a:cs typeface="Times New Roman"/>
              </a:rPr>
              <a:t>using</a:t>
            </a:r>
            <a:endParaRPr sz="2000">
              <a:latin typeface="Times New Roman"/>
              <a:cs typeface="Times New Roman"/>
            </a:endParaRPr>
          </a:p>
          <a:p>
            <a:pPr marL="285115">
              <a:spcBef>
                <a:spcPts val="1200"/>
              </a:spcBef>
            </a:pPr>
            <a:r>
              <a:rPr sz="2000" dirty="0">
                <a:solidFill>
                  <a:srgbClr val="001F5F"/>
                </a:solidFill>
                <a:latin typeface="Times New Roman"/>
                <a:cs typeface="Times New Roman"/>
              </a:rPr>
              <a:t>scientific</a:t>
            </a:r>
            <a:r>
              <a:rPr sz="2000" spc="-50" dirty="0">
                <a:solidFill>
                  <a:srgbClr val="001F5F"/>
                </a:solidFill>
                <a:latin typeface="Times New Roman"/>
                <a:cs typeface="Times New Roman"/>
              </a:rPr>
              <a:t> </a:t>
            </a:r>
            <a:r>
              <a:rPr sz="2000" dirty="0">
                <a:solidFill>
                  <a:srgbClr val="001F5F"/>
                </a:solidFill>
                <a:latin typeface="Times New Roman"/>
                <a:cs typeface="Times New Roman"/>
              </a:rPr>
              <a:t>procedures</a:t>
            </a:r>
            <a:r>
              <a:rPr sz="2000" spc="-50" dirty="0">
                <a:solidFill>
                  <a:srgbClr val="001F5F"/>
                </a:solidFill>
                <a:latin typeface="Times New Roman"/>
                <a:cs typeface="Times New Roman"/>
              </a:rPr>
              <a:t> </a:t>
            </a:r>
            <a:r>
              <a:rPr sz="2000" dirty="0">
                <a:solidFill>
                  <a:srgbClr val="001F5F"/>
                </a:solidFill>
                <a:latin typeface="Times New Roman"/>
                <a:cs typeface="Times New Roman"/>
              </a:rPr>
              <a:t>and</a:t>
            </a:r>
            <a:r>
              <a:rPr sz="2000" spc="-15" dirty="0">
                <a:solidFill>
                  <a:srgbClr val="001F5F"/>
                </a:solidFill>
                <a:latin typeface="Times New Roman"/>
                <a:cs typeface="Times New Roman"/>
              </a:rPr>
              <a:t> </a:t>
            </a:r>
            <a:r>
              <a:rPr sz="2000" dirty="0">
                <a:solidFill>
                  <a:srgbClr val="001F5F"/>
                </a:solidFill>
                <a:latin typeface="Times New Roman"/>
                <a:cs typeface="Times New Roman"/>
              </a:rPr>
              <a:t>also</a:t>
            </a:r>
            <a:r>
              <a:rPr sz="2000" spc="-10" dirty="0">
                <a:solidFill>
                  <a:srgbClr val="001F5F"/>
                </a:solidFill>
                <a:latin typeface="Times New Roman"/>
                <a:cs typeface="Times New Roman"/>
              </a:rPr>
              <a:t> </a:t>
            </a:r>
            <a:r>
              <a:rPr sz="2000" dirty="0">
                <a:solidFill>
                  <a:srgbClr val="001F5F"/>
                </a:solidFill>
                <a:latin typeface="Times New Roman"/>
                <a:cs typeface="Times New Roman"/>
              </a:rPr>
              <a:t>to</a:t>
            </a:r>
            <a:r>
              <a:rPr sz="2000" spc="-15" dirty="0">
                <a:solidFill>
                  <a:srgbClr val="001F5F"/>
                </a:solidFill>
                <a:latin typeface="Times New Roman"/>
                <a:cs typeface="Times New Roman"/>
              </a:rPr>
              <a:t> </a:t>
            </a:r>
            <a:r>
              <a:rPr sz="2000" dirty="0">
                <a:solidFill>
                  <a:srgbClr val="001F5F"/>
                </a:solidFill>
                <a:latin typeface="Times New Roman"/>
                <a:cs typeface="Times New Roman"/>
              </a:rPr>
              <a:t>understand</a:t>
            </a:r>
            <a:r>
              <a:rPr sz="2000" spc="-45" dirty="0">
                <a:solidFill>
                  <a:srgbClr val="001F5F"/>
                </a:solidFill>
                <a:latin typeface="Times New Roman"/>
                <a:cs typeface="Times New Roman"/>
              </a:rPr>
              <a:t> </a:t>
            </a:r>
            <a:r>
              <a:rPr sz="2000" dirty="0">
                <a:solidFill>
                  <a:srgbClr val="001F5F"/>
                </a:solidFill>
                <a:latin typeface="Times New Roman"/>
                <a:cs typeface="Times New Roman"/>
              </a:rPr>
              <a:t>various</a:t>
            </a:r>
            <a:r>
              <a:rPr sz="2000" spc="-35" dirty="0">
                <a:solidFill>
                  <a:srgbClr val="001F5F"/>
                </a:solidFill>
                <a:latin typeface="Times New Roman"/>
                <a:cs typeface="Times New Roman"/>
              </a:rPr>
              <a:t> </a:t>
            </a:r>
            <a:r>
              <a:rPr sz="2000" dirty="0">
                <a:solidFill>
                  <a:srgbClr val="001F5F"/>
                </a:solidFill>
                <a:latin typeface="Times New Roman"/>
                <a:cs typeface="Times New Roman"/>
              </a:rPr>
              <a:t>phenomena</a:t>
            </a:r>
            <a:r>
              <a:rPr sz="2000" spc="-25" dirty="0">
                <a:solidFill>
                  <a:srgbClr val="001F5F"/>
                </a:solidFill>
                <a:latin typeface="Times New Roman"/>
                <a:cs typeface="Times New Roman"/>
              </a:rPr>
              <a:t> </a:t>
            </a:r>
            <a:r>
              <a:rPr sz="2000" spc="-10" dirty="0">
                <a:solidFill>
                  <a:srgbClr val="001F5F"/>
                </a:solidFill>
                <a:latin typeface="Times New Roman"/>
                <a:cs typeface="Times New Roman"/>
              </a:rPr>
              <a:t>scientifically.</a:t>
            </a:r>
            <a:endParaRPr sz="2000">
              <a:latin typeface="Times New Roman"/>
              <a:cs typeface="Times New Roman"/>
            </a:endParaRPr>
          </a:p>
          <a:p>
            <a:pPr marL="285115" indent="-272415">
              <a:spcBef>
                <a:spcPts val="1689"/>
              </a:spcBef>
              <a:buClr>
                <a:srgbClr val="C00000"/>
              </a:buClr>
              <a:buSzPct val="85000"/>
              <a:buFont typeface="Wingdings 2"/>
              <a:buChar char=""/>
              <a:tabLst>
                <a:tab pos="285115" algn="l"/>
              </a:tabLst>
            </a:pPr>
            <a:r>
              <a:rPr sz="2000" dirty="0">
                <a:solidFill>
                  <a:srgbClr val="001F5F"/>
                </a:solidFill>
                <a:latin typeface="Times New Roman"/>
                <a:cs typeface="Times New Roman"/>
              </a:rPr>
              <a:t>In</a:t>
            </a:r>
            <a:r>
              <a:rPr sz="2000" spc="254" dirty="0">
                <a:solidFill>
                  <a:srgbClr val="001F5F"/>
                </a:solidFill>
                <a:latin typeface="Times New Roman"/>
                <a:cs typeface="Times New Roman"/>
              </a:rPr>
              <a:t> </a:t>
            </a:r>
            <a:r>
              <a:rPr sz="2000" dirty="0">
                <a:solidFill>
                  <a:srgbClr val="001F5F"/>
                </a:solidFill>
                <a:latin typeface="Times New Roman"/>
                <a:cs typeface="Times New Roman"/>
              </a:rPr>
              <a:t>addition,</a:t>
            </a:r>
            <a:r>
              <a:rPr sz="2000" spc="254" dirty="0">
                <a:solidFill>
                  <a:srgbClr val="001F5F"/>
                </a:solidFill>
                <a:latin typeface="Times New Roman"/>
                <a:cs typeface="Times New Roman"/>
              </a:rPr>
              <a:t> </a:t>
            </a:r>
            <a:r>
              <a:rPr sz="2000" dirty="0">
                <a:solidFill>
                  <a:srgbClr val="001F5F"/>
                </a:solidFill>
                <a:latin typeface="Times New Roman"/>
                <a:cs typeface="Times New Roman"/>
              </a:rPr>
              <a:t>one</a:t>
            </a:r>
            <a:r>
              <a:rPr sz="2000" spc="254" dirty="0">
                <a:solidFill>
                  <a:srgbClr val="001F5F"/>
                </a:solidFill>
                <a:latin typeface="Times New Roman"/>
                <a:cs typeface="Times New Roman"/>
              </a:rPr>
              <a:t> </a:t>
            </a:r>
            <a:r>
              <a:rPr sz="2000" dirty="0">
                <a:solidFill>
                  <a:srgbClr val="001F5F"/>
                </a:solidFill>
                <a:latin typeface="Times New Roman"/>
                <a:cs typeface="Times New Roman"/>
              </a:rPr>
              <a:t>of</a:t>
            </a:r>
            <a:r>
              <a:rPr sz="2000" spc="254" dirty="0">
                <a:solidFill>
                  <a:srgbClr val="001F5F"/>
                </a:solidFill>
                <a:latin typeface="Times New Roman"/>
                <a:cs typeface="Times New Roman"/>
              </a:rPr>
              <a:t> </a:t>
            </a:r>
            <a:r>
              <a:rPr sz="2000" dirty="0">
                <a:solidFill>
                  <a:srgbClr val="001F5F"/>
                </a:solidFill>
                <a:latin typeface="Times New Roman"/>
                <a:cs typeface="Times New Roman"/>
              </a:rPr>
              <a:t>the</a:t>
            </a:r>
            <a:r>
              <a:rPr sz="2000" spc="260" dirty="0">
                <a:solidFill>
                  <a:srgbClr val="001F5F"/>
                </a:solidFill>
                <a:latin typeface="Times New Roman"/>
                <a:cs typeface="Times New Roman"/>
              </a:rPr>
              <a:t> </a:t>
            </a:r>
            <a:r>
              <a:rPr sz="2000" dirty="0">
                <a:solidFill>
                  <a:srgbClr val="001F5F"/>
                </a:solidFill>
                <a:latin typeface="Times New Roman"/>
                <a:cs typeface="Times New Roman"/>
              </a:rPr>
              <a:t>major</a:t>
            </a:r>
            <a:r>
              <a:rPr sz="2000" spc="250" dirty="0">
                <a:solidFill>
                  <a:srgbClr val="001F5F"/>
                </a:solidFill>
                <a:latin typeface="Times New Roman"/>
                <a:cs typeface="Times New Roman"/>
              </a:rPr>
              <a:t> </a:t>
            </a:r>
            <a:r>
              <a:rPr sz="2000" dirty="0">
                <a:solidFill>
                  <a:srgbClr val="001F5F"/>
                </a:solidFill>
                <a:latin typeface="Times New Roman"/>
                <a:cs typeface="Times New Roman"/>
              </a:rPr>
              <a:t>objectives</a:t>
            </a:r>
            <a:r>
              <a:rPr sz="2000" spc="254" dirty="0">
                <a:solidFill>
                  <a:srgbClr val="001F5F"/>
                </a:solidFill>
                <a:latin typeface="Times New Roman"/>
                <a:cs typeface="Times New Roman"/>
              </a:rPr>
              <a:t> </a:t>
            </a:r>
            <a:r>
              <a:rPr sz="2000" dirty="0">
                <a:solidFill>
                  <a:srgbClr val="001F5F"/>
                </a:solidFill>
                <a:latin typeface="Times New Roman"/>
                <a:cs typeface="Times New Roman"/>
              </a:rPr>
              <a:t>of</a:t>
            </a:r>
            <a:r>
              <a:rPr sz="2000" spc="245" dirty="0">
                <a:solidFill>
                  <a:srgbClr val="001F5F"/>
                </a:solidFill>
                <a:latin typeface="Times New Roman"/>
                <a:cs typeface="Times New Roman"/>
              </a:rPr>
              <a:t> </a:t>
            </a:r>
            <a:r>
              <a:rPr sz="2000" dirty="0">
                <a:solidFill>
                  <a:srgbClr val="001F5F"/>
                </a:solidFill>
                <a:latin typeface="Times New Roman"/>
                <a:cs typeface="Times New Roman"/>
              </a:rPr>
              <a:t>research</a:t>
            </a:r>
            <a:r>
              <a:rPr sz="2000" spc="254" dirty="0">
                <a:solidFill>
                  <a:srgbClr val="001F5F"/>
                </a:solidFill>
                <a:latin typeface="Times New Roman"/>
                <a:cs typeface="Times New Roman"/>
              </a:rPr>
              <a:t> </a:t>
            </a:r>
            <a:r>
              <a:rPr sz="2000" dirty="0">
                <a:solidFill>
                  <a:srgbClr val="001F5F"/>
                </a:solidFill>
                <a:latin typeface="Times New Roman"/>
                <a:cs typeface="Times New Roman"/>
              </a:rPr>
              <a:t>is</a:t>
            </a:r>
            <a:r>
              <a:rPr sz="2000" spc="250" dirty="0">
                <a:solidFill>
                  <a:srgbClr val="001F5F"/>
                </a:solidFill>
                <a:latin typeface="Times New Roman"/>
                <a:cs typeface="Times New Roman"/>
              </a:rPr>
              <a:t> </a:t>
            </a:r>
            <a:r>
              <a:rPr sz="2000" dirty="0">
                <a:solidFill>
                  <a:srgbClr val="001F5F"/>
                </a:solidFill>
                <a:latin typeface="Times New Roman"/>
                <a:cs typeface="Times New Roman"/>
              </a:rPr>
              <a:t>to</a:t>
            </a:r>
            <a:r>
              <a:rPr sz="2000" spc="254" dirty="0">
                <a:solidFill>
                  <a:srgbClr val="001F5F"/>
                </a:solidFill>
                <a:latin typeface="Times New Roman"/>
                <a:cs typeface="Times New Roman"/>
              </a:rPr>
              <a:t> </a:t>
            </a:r>
            <a:r>
              <a:rPr sz="2000" dirty="0">
                <a:solidFill>
                  <a:srgbClr val="001F5F"/>
                </a:solidFill>
                <a:latin typeface="Times New Roman"/>
                <a:cs typeface="Times New Roman"/>
              </a:rPr>
              <a:t>find</a:t>
            </a:r>
            <a:r>
              <a:rPr sz="2000" spc="250" dirty="0">
                <a:solidFill>
                  <a:srgbClr val="001F5F"/>
                </a:solidFill>
                <a:latin typeface="Times New Roman"/>
                <a:cs typeface="Times New Roman"/>
              </a:rPr>
              <a:t> </a:t>
            </a:r>
            <a:r>
              <a:rPr sz="2000" dirty="0">
                <a:solidFill>
                  <a:srgbClr val="001F5F"/>
                </a:solidFill>
                <a:latin typeface="Times New Roman"/>
                <a:cs typeface="Times New Roman"/>
              </a:rPr>
              <a:t>out</a:t>
            </a:r>
            <a:r>
              <a:rPr sz="2000" spc="260" dirty="0">
                <a:solidFill>
                  <a:srgbClr val="001F5F"/>
                </a:solidFill>
                <a:latin typeface="Times New Roman"/>
                <a:cs typeface="Times New Roman"/>
              </a:rPr>
              <a:t> </a:t>
            </a:r>
            <a:r>
              <a:rPr sz="2000" dirty="0">
                <a:solidFill>
                  <a:srgbClr val="001F5F"/>
                </a:solidFill>
                <a:latin typeface="Times New Roman"/>
                <a:cs typeface="Times New Roman"/>
              </a:rPr>
              <a:t>a</a:t>
            </a:r>
            <a:r>
              <a:rPr sz="2000" spc="235" dirty="0">
                <a:solidFill>
                  <a:srgbClr val="001F5F"/>
                </a:solidFill>
                <a:latin typeface="Times New Roman"/>
                <a:cs typeface="Times New Roman"/>
              </a:rPr>
              <a:t> </a:t>
            </a:r>
            <a:r>
              <a:rPr sz="2000" spc="-10" dirty="0">
                <a:solidFill>
                  <a:srgbClr val="001F5F"/>
                </a:solidFill>
                <a:latin typeface="Times New Roman"/>
                <a:cs typeface="Times New Roman"/>
              </a:rPr>
              <a:t>hidden,</a:t>
            </a:r>
            <a:endParaRPr sz="2000">
              <a:latin typeface="Times New Roman"/>
              <a:cs typeface="Times New Roman"/>
            </a:endParaRPr>
          </a:p>
          <a:p>
            <a:pPr marL="285115">
              <a:spcBef>
                <a:spcPts val="1200"/>
              </a:spcBef>
            </a:pPr>
            <a:r>
              <a:rPr sz="2000" dirty="0">
                <a:solidFill>
                  <a:srgbClr val="001F5F"/>
                </a:solidFill>
                <a:latin typeface="Times New Roman"/>
                <a:cs typeface="Times New Roman"/>
              </a:rPr>
              <a:t>undiscovered</a:t>
            </a:r>
            <a:r>
              <a:rPr sz="2000" spc="-55" dirty="0">
                <a:solidFill>
                  <a:srgbClr val="001F5F"/>
                </a:solidFill>
                <a:latin typeface="Times New Roman"/>
                <a:cs typeface="Times New Roman"/>
              </a:rPr>
              <a:t> </a:t>
            </a:r>
            <a:r>
              <a:rPr sz="2000" spc="-10" dirty="0">
                <a:solidFill>
                  <a:srgbClr val="001F5F"/>
                </a:solidFill>
                <a:latin typeface="Times New Roman"/>
                <a:cs typeface="Times New Roman"/>
              </a:rPr>
              <a:t>truth.</a:t>
            </a:r>
            <a:endParaRPr sz="2000">
              <a:latin typeface="Times New Roman"/>
              <a:cs typeface="Times New Roman"/>
            </a:endParaRPr>
          </a:p>
          <a:p>
            <a:pPr marL="285115" marR="6350" indent="-273050">
              <a:lnSpc>
                <a:spcPct val="150000"/>
              </a:lnSpc>
              <a:spcBef>
                <a:spcPts val="509"/>
              </a:spcBef>
              <a:buClr>
                <a:srgbClr val="C00000"/>
              </a:buClr>
              <a:buSzPct val="85000"/>
              <a:buFont typeface="Wingdings 2"/>
              <a:buChar char=""/>
              <a:tabLst>
                <a:tab pos="285115" algn="l"/>
              </a:tabLst>
            </a:pPr>
            <a:r>
              <a:rPr sz="2000" dirty="0">
                <a:solidFill>
                  <a:srgbClr val="001F5F"/>
                </a:solidFill>
                <a:latin typeface="Times New Roman"/>
                <a:cs typeface="Times New Roman"/>
              </a:rPr>
              <a:t>There</a:t>
            </a:r>
            <a:r>
              <a:rPr sz="2000" spc="340" dirty="0">
                <a:solidFill>
                  <a:srgbClr val="001F5F"/>
                </a:solidFill>
                <a:latin typeface="Times New Roman"/>
                <a:cs typeface="Times New Roman"/>
              </a:rPr>
              <a:t> </a:t>
            </a:r>
            <a:r>
              <a:rPr sz="2000" dirty="0">
                <a:solidFill>
                  <a:srgbClr val="001F5F"/>
                </a:solidFill>
                <a:latin typeface="Times New Roman"/>
                <a:cs typeface="Times New Roman"/>
              </a:rPr>
              <a:t>are</a:t>
            </a:r>
            <a:r>
              <a:rPr sz="2000" spc="330" dirty="0">
                <a:solidFill>
                  <a:srgbClr val="001F5F"/>
                </a:solidFill>
                <a:latin typeface="Times New Roman"/>
                <a:cs typeface="Times New Roman"/>
              </a:rPr>
              <a:t> </a:t>
            </a:r>
            <a:r>
              <a:rPr sz="2000" dirty="0">
                <a:solidFill>
                  <a:srgbClr val="001F5F"/>
                </a:solidFill>
                <a:latin typeface="Times New Roman"/>
                <a:cs typeface="Times New Roman"/>
              </a:rPr>
              <a:t>various</a:t>
            </a:r>
            <a:r>
              <a:rPr sz="2000" spc="340" dirty="0">
                <a:solidFill>
                  <a:srgbClr val="001F5F"/>
                </a:solidFill>
                <a:latin typeface="Times New Roman"/>
                <a:cs typeface="Times New Roman"/>
              </a:rPr>
              <a:t> </a:t>
            </a:r>
            <a:r>
              <a:rPr sz="2000" dirty="0">
                <a:solidFill>
                  <a:srgbClr val="001F5F"/>
                </a:solidFill>
                <a:latin typeface="Times New Roman"/>
                <a:cs typeface="Times New Roman"/>
              </a:rPr>
              <a:t>objectives</a:t>
            </a:r>
            <a:r>
              <a:rPr sz="2000" spc="330" dirty="0">
                <a:solidFill>
                  <a:srgbClr val="001F5F"/>
                </a:solidFill>
                <a:latin typeface="Times New Roman"/>
                <a:cs typeface="Times New Roman"/>
              </a:rPr>
              <a:t> </a:t>
            </a:r>
            <a:r>
              <a:rPr sz="2000" dirty="0">
                <a:solidFill>
                  <a:srgbClr val="001F5F"/>
                </a:solidFill>
                <a:latin typeface="Times New Roman"/>
                <a:cs typeface="Times New Roman"/>
              </a:rPr>
              <a:t>behind</a:t>
            </a:r>
            <a:r>
              <a:rPr sz="2000" spc="340" dirty="0">
                <a:solidFill>
                  <a:srgbClr val="001F5F"/>
                </a:solidFill>
                <a:latin typeface="Times New Roman"/>
                <a:cs typeface="Times New Roman"/>
              </a:rPr>
              <a:t> </a:t>
            </a:r>
            <a:r>
              <a:rPr sz="2000" dirty="0">
                <a:solidFill>
                  <a:srgbClr val="001F5F"/>
                </a:solidFill>
                <a:latin typeface="Times New Roman"/>
                <a:cs typeface="Times New Roman"/>
              </a:rPr>
              <a:t>undertaking</a:t>
            </a:r>
            <a:r>
              <a:rPr sz="2000" spc="345" dirty="0">
                <a:solidFill>
                  <a:srgbClr val="001F5F"/>
                </a:solidFill>
                <a:latin typeface="Times New Roman"/>
                <a:cs typeface="Times New Roman"/>
              </a:rPr>
              <a:t> </a:t>
            </a:r>
            <a:r>
              <a:rPr sz="2000" dirty="0">
                <a:solidFill>
                  <a:srgbClr val="001F5F"/>
                </a:solidFill>
                <a:latin typeface="Times New Roman"/>
                <a:cs typeface="Times New Roman"/>
              </a:rPr>
              <a:t>research</a:t>
            </a:r>
            <a:r>
              <a:rPr sz="2000" spc="330" dirty="0">
                <a:solidFill>
                  <a:srgbClr val="001F5F"/>
                </a:solidFill>
                <a:latin typeface="Times New Roman"/>
                <a:cs typeface="Times New Roman"/>
              </a:rPr>
              <a:t> </a:t>
            </a:r>
            <a:r>
              <a:rPr sz="2000" dirty="0">
                <a:solidFill>
                  <a:srgbClr val="001F5F"/>
                </a:solidFill>
                <a:latin typeface="Times New Roman"/>
                <a:cs typeface="Times New Roman"/>
              </a:rPr>
              <a:t>by</a:t>
            </a:r>
            <a:r>
              <a:rPr sz="2000" spc="335" dirty="0">
                <a:solidFill>
                  <a:srgbClr val="001F5F"/>
                </a:solidFill>
                <a:latin typeface="Times New Roman"/>
                <a:cs typeface="Times New Roman"/>
              </a:rPr>
              <a:t> </a:t>
            </a:r>
            <a:r>
              <a:rPr sz="2000" dirty="0">
                <a:solidFill>
                  <a:srgbClr val="001F5F"/>
                </a:solidFill>
                <a:latin typeface="Times New Roman"/>
                <a:cs typeface="Times New Roman"/>
              </a:rPr>
              <a:t>individuals</a:t>
            </a:r>
            <a:r>
              <a:rPr sz="2000" spc="345" dirty="0">
                <a:solidFill>
                  <a:srgbClr val="001F5F"/>
                </a:solidFill>
                <a:latin typeface="Times New Roman"/>
                <a:cs typeface="Times New Roman"/>
              </a:rPr>
              <a:t> </a:t>
            </a:r>
            <a:r>
              <a:rPr sz="2000" spc="-25" dirty="0">
                <a:solidFill>
                  <a:srgbClr val="001F5F"/>
                </a:solidFill>
                <a:latin typeface="Times New Roman"/>
                <a:cs typeface="Times New Roman"/>
              </a:rPr>
              <a:t>as </a:t>
            </a:r>
            <a:r>
              <a:rPr sz="2000" dirty="0">
                <a:solidFill>
                  <a:srgbClr val="001F5F"/>
                </a:solidFill>
                <a:latin typeface="Times New Roman"/>
                <a:cs typeface="Times New Roman"/>
              </a:rPr>
              <a:t>well</a:t>
            </a:r>
            <a:r>
              <a:rPr sz="2000" spc="-15" dirty="0">
                <a:solidFill>
                  <a:srgbClr val="001F5F"/>
                </a:solidFill>
                <a:latin typeface="Times New Roman"/>
                <a:cs typeface="Times New Roman"/>
              </a:rPr>
              <a:t> </a:t>
            </a:r>
            <a:r>
              <a:rPr sz="2000" dirty="0">
                <a:solidFill>
                  <a:srgbClr val="001F5F"/>
                </a:solidFill>
                <a:latin typeface="Times New Roman"/>
                <a:cs typeface="Times New Roman"/>
              </a:rPr>
              <a:t>as</a:t>
            </a:r>
            <a:r>
              <a:rPr sz="2000" spc="-10" dirty="0">
                <a:solidFill>
                  <a:srgbClr val="001F5F"/>
                </a:solidFill>
                <a:latin typeface="Times New Roman"/>
                <a:cs typeface="Times New Roman"/>
              </a:rPr>
              <a:t> </a:t>
            </a:r>
            <a:r>
              <a:rPr sz="2000" dirty="0">
                <a:solidFill>
                  <a:srgbClr val="001F5F"/>
                </a:solidFill>
                <a:latin typeface="Times New Roman"/>
                <a:cs typeface="Times New Roman"/>
              </a:rPr>
              <a:t>various</a:t>
            </a:r>
            <a:r>
              <a:rPr sz="2000" spc="-30" dirty="0">
                <a:solidFill>
                  <a:srgbClr val="001F5F"/>
                </a:solidFill>
                <a:latin typeface="Times New Roman"/>
                <a:cs typeface="Times New Roman"/>
              </a:rPr>
              <a:t> </a:t>
            </a:r>
            <a:r>
              <a:rPr sz="2000" spc="-10" dirty="0">
                <a:solidFill>
                  <a:srgbClr val="001F5F"/>
                </a:solidFill>
                <a:latin typeface="Times New Roman"/>
                <a:cs typeface="Times New Roman"/>
              </a:rPr>
              <a:t>organizations.</a:t>
            </a:r>
            <a:endParaRPr sz="2000">
              <a:latin typeface="Times New Roman"/>
              <a:cs typeface="Times New Roman"/>
            </a:endParaRPr>
          </a:p>
        </p:txBody>
      </p:sp>
      <p:pic>
        <p:nvPicPr>
          <p:cNvPr id="7" name="object 7"/>
          <p:cNvPicPr/>
          <p:nvPr/>
        </p:nvPicPr>
        <p:blipFill>
          <a:blip r:embed="rId3" cstate="print"/>
          <a:stretch>
            <a:fillRect/>
          </a:stretch>
        </p:blipFill>
        <p:spPr>
          <a:xfrm>
            <a:off x="1941918" y="341467"/>
            <a:ext cx="1831162" cy="536264"/>
          </a:xfrm>
          <a:prstGeom prst="rect">
            <a:avLst/>
          </a:prstGeom>
        </p:spPr>
      </p:pic>
      <p:sp>
        <p:nvSpPr>
          <p:cNvPr id="12" name="Slide Number Placeholder 11"/>
          <p:cNvSpPr>
            <a:spLocks noGrp="1"/>
          </p:cNvSpPr>
          <p:nvPr>
            <p:ph type="sldNum" sz="quarter" idx="7"/>
          </p:nvPr>
        </p:nvSpPr>
        <p:spPr>
          <a:xfrm>
            <a:off x="230428" y="6329531"/>
            <a:ext cx="299720" cy="227965"/>
          </a:xfrm>
          <a:prstGeom prst="rect">
            <a:avLst/>
          </a:prstGeom>
        </p:spPr>
        <p:txBody>
          <a:bodyPr wrap="square" lIns="0" tIns="0" rIns="0" bIns="0">
            <a:spAutoFit/>
          </a:bodyPr>
          <a:lstStyle>
            <a:defPPr>
              <a:defRPr kern="0"/>
            </a:defPPr>
            <a:lvl1pPr>
              <a:defRPr sz="1400" b="0" i="0">
                <a:solidFill>
                  <a:schemeClr val="bg1"/>
                </a:solidFill>
                <a:latin typeface="Franklin Gothic Book"/>
                <a:cs typeface="Franklin Gothic Book"/>
              </a:defRPr>
            </a:lvl1pPr>
          </a:lstStyle>
          <a:p>
            <a:pPr marL="38100">
              <a:lnSpc>
                <a:spcPts val="1664"/>
              </a:lnSpc>
            </a:pPr>
            <a:fld id="{81D60167-4931-47E6-BA6A-407CBD079E47}" type="slidenum">
              <a:rPr lang="en-IN" spc="-25" smtClean="0"/>
              <a:pPr marL="38100">
                <a:lnSpc>
                  <a:spcPts val="1664"/>
                </a:lnSpc>
              </a:pPr>
              <a:t>11</a:t>
            </a:fld>
            <a:endParaRPr lang="en-US" spc="-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77085"/>
          </a:xfrm>
        </p:spPr>
        <p:txBody>
          <a:bodyPr>
            <a:normAutofit fontScale="90000"/>
          </a:bodyPr>
          <a:lstStyle/>
          <a:p>
            <a:pPr algn="ctr"/>
            <a:r>
              <a:rPr lang="en-US" sz="3200" b="1" dirty="0">
                <a:solidFill>
                  <a:srgbClr val="0000FF"/>
                </a:solidFill>
              </a:rPr>
              <a:t>Objectives of Research</a:t>
            </a:r>
            <a:endParaRPr lang="en-IN" sz="3200" b="1" dirty="0">
              <a:solidFill>
                <a:srgbClr val="0000FF"/>
              </a:solidFill>
            </a:endParaRPr>
          </a:p>
        </p:txBody>
      </p:sp>
      <p:sp>
        <p:nvSpPr>
          <p:cNvPr id="3" name="Content Placeholder 2"/>
          <p:cNvSpPr>
            <a:spLocks noGrp="1"/>
          </p:cNvSpPr>
          <p:nvPr>
            <p:ph idx="1"/>
          </p:nvPr>
        </p:nvSpPr>
        <p:spPr>
          <a:xfrm>
            <a:off x="838200" y="842212"/>
            <a:ext cx="10515600" cy="6015788"/>
          </a:xfrm>
        </p:spPr>
        <p:txBody>
          <a:bodyPr>
            <a:normAutofit lnSpcReduction="10000"/>
          </a:bodyPr>
          <a:lstStyle/>
          <a:p>
            <a:r>
              <a:rPr lang="en-US" dirty="0"/>
              <a:t>The purpose of research is to discover answers to questions through the application of scientific procedures. The main aim of research is to find out the truth which is hidden and which has not been discovered as yet. The objectives may be classified as:</a:t>
            </a:r>
            <a:endParaRPr lang="en-IN" dirty="0"/>
          </a:p>
          <a:p>
            <a:r>
              <a:rPr lang="en-US" dirty="0"/>
              <a:t>To gain familiarity with a phenomenon or to achieve new insights into it (studies with this object in view are termed as exploratory or formulative research studies)</a:t>
            </a:r>
            <a:endParaRPr lang="en-IN" dirty="0"/>
          </a:p>
          <a:p>
            <a:r>
              <a:rPr lang="en-US" dirty="0"/>
              <a:t>To portray accurately the characteristics of a particular individual, situation or a group (studies with this object in view are known as descriptive research studies)</a:t>
            </a:r>
            <a:endParaRPr lang="en-IN" dirty="0"/>
          </a:p>
          <a:p>
            <a:r>
              <a:rPr lang="en-US" dirty="0"/>
              <a:t>To determine the frequency with which something occurs or with which it is associated with something else (studies with this object in view are known as diagnostic research studies)</a:t>
            </a:r>
          </a:p>
          <a:p>
            <a:r>
              <a:rPr lang="en-US" dirty="0"/>
              <a:t>To test a hypothesis of a causal relationship between variables (such studies are known as hypothesis-testing research studies)</a:t>
            </a:r>
          </a:p>
          <a:p>
            <a:endParaRPr lang="en-IN" dirty="0"/>
          </a:p>
          <a:p>
            <a:endParaRPr lang="en-IN" dirty="0"/>
          </a:p>
        </p:txBody>
      </p:sp>
    </p:spTree>
    <p:extLst>
      <p:ext uri="{BB962C8B-B14F-4D97-AF65-F5344CB8AC3E}">
        <p14:creationId xmlns:p14="http://schemas.microsoft.com/office/powerpoint/2010/main" val="881270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9400"/>
          </a:xfrm>
        </p:spPr>
        <p:txBody>
          <a:bodyPr>
            <a:normAutofit/>
          </a:bodyPr>
          <a:lstStyle/>
          <a:p>
            <a:pPr algn="ctr"/>
            <a:r>
              <a:rPr lang="en-US" sz="3200" b="1" dirty="0">
                <a:solidFill>
                  <a:srgbClr val="0000FF"/>
                </a:solidFill>
              </a:rPr>
              <a:t>Research and Knowledge Economy</a:t>
            </a:r>
            <a:endParaRPr lang="en-IN" sz="3200" b="1" dirty="0">
              <a:solidFill>
                <a:srgbClr val="0000FF"/>
              </a:solidFill>
            </a:endParaRPr>
          </a:p>
        </p:txBody>
      </p:sp>
      <p:sp>
        <p:nvSpPr>
          <p:cNvPr id="3" name="Content Placeholder 2"/>
          <p:cNvSpPr>
            <a:spLocks noGrp="1"/>
          </p:cNvSpPr>
          <p:nvPr>
            <p:ph idx="1"/>
          </p:nvPr>
        </p:nvSpPr>
        <p:spPr>
          <a:xfrm>
            <a:off x="838200" y="1064526"/>
            <a:ext cx="10515600" cy="5112437"/>
          </a:xfrm>
        </p:spPr>
        <p:txBody>
          <a:bodyPr>
            <a:normAutofit/>
          </a:bodyPr>
          <a:lstStyle/>
          <a:p>
            <a:pPr lvl="0" algn="just"/>
            <a:r>
              <a:rPr lang="en-US" dirty="0"/>
              <a:t>A </a:t>
            </a:r>
            <a:r>
              <a:rPr lang="en-US" dirty="0">
                <a:solidFill>
                  <a:srgbClr val="FF0066"/>
                </a:solidFill>
              </a:rPr>
              <a:t>poorly developed </a:t>
            </a:r>
            <a:r>
              <a:rPr lang="en-US" dirty="0"/>
              <a:t>country is agriculture and manufacturing - based</a:t>
            </a:r>
            <a:r>
              <a:rPr lang="en-IN" dirty="0"/>
              <a:t> </a:t>
            </a:r>
            <a:r>
              <a:rPr lang="en-US" dirty="0"/>
              <a:t>economy</a:t>
            </a:r>
            <a:endParaRPr lang="en-IN" dirty="0"/>
          </a:p>
          <a:p>
            <a:pPr lvl="0" algn="just"/>
            <a:r>
              <a:rPr lang="en-US" dirty="0"/>
              <a:t>A </a:t>
            </a:r>
            <a:r>
              <a:rPr lang="en-US" dirty="0">
                <a:solidFill>
                  <a:srgbClr val="FF0066"/>
                </a:solidFill>
              </a:rPr>
              <a:t>developing country </a:t>
            </a:r>
            <a:r>
              <a:rPr lang="en-US" dirty="0"/>
              <a:t>is manufacturing and service - based economy</a:t>
            </a:r>
            <a:endParaRPr lang="en-IN" dirty="0"/>
          </a:p>
          <a:p>
            <a:pPr lvl="0" algn="just"/>
            <a:r>
              <a:rPr lang="en-US" dirty="0"/>
              <a:t>A </a:t>
            </a:r>
            <a:r>
              <a:rPr lang="en-US" dirty="0">
                <a:solidFill>
                  <a:srgbClr val="FF0066"/>
                </a:solidFill>
              </a:rPr>
              <a:t>developed country </a:t>
            </a:r>
            <a:r>
              <a:rPr lang="en-US" dirty="0"/>
              <a:t>is knowledge - based economy</a:t>
            </a:r>
            <a:endParaRPr lang="en-IN" dirty="0"/>
          </a:p>
          <a:p>
            <a:pPr lvl="0" algn="just"/>
            <a:r>
              <a:rPr lang="en-US" dirty="0"/>
              <a:t>Knowledge economy is a system of consumption and production based on </a:t>
            </a:r>
            <a:r>
              <a:rPr lang="en-US" dirty="0">
                <a:solidFill>
                  <a:srgbClr val="FF0066"/>
                </a:solidFill>
              </a:rPr>
              <a:t>intellectual capital</a:t>
            </a:r>
            <a:r>
              <a:rPr lang="en-US" dirty="0"/>
              <a:t>, which refers to the ability to capitalize on discoveries emanating from basic and applied research</a:t>
            </a:r>
            <a:endParaRPr lang="en-IN" dirty="0"/>
          </a:p>
          <a:p>
            <a:pPr lvl="0" algn="just"/>
            <a:r>
              <a:rPr lang="en-US" dirty="0"/>
              <a:t>Hence, a significant contribution to the knowledge - economy emanates from intangible assets such as research, technical support, and consulting and intellectual property rights and royalties</a:t>
            </a:r>
            <a:endParaRPr lang="en-IN" dirty="0"/>
          </a:p>
          <a:p>
            <a:pPr lvl="0" algn="just"/>
            <a:r>
              <a:rPr lang="en-US" dirty="0"/>
              <a:t>Hence, research plays an important part in the growth of an</a:t>
            </a:r>
            <a:r>
              <a:rPr lang="en-IN" dirty="0"/>
              <a:t> </a:t>
            </a:r>
            <a:r>
              <a:rPr lang="en-US" dirty="0"/>
              <a:t>economy</a:t>
            </a:r>
            <a:endParaRPr lang="en-IN" dirty="0"/>
          </a:p>
          <a:p>
            <a:endParaRPr lang="en-IN" dirty="0"/>
          </a:p>
        </p:txBody>
      </p:sp>
    </p:spTree>
    <p:extLst>
      <p:ext uri="{BB962C8B-B14F-4D97-AF65-F5344CB8AC3E}">
        <p14:creationId xmlns:p14="http://schemas.microsoft.com/office/powerpoint/2010/main" val="26912454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6285"/>
            <a:ext cx="10515600" cy="582708"/>
          </a:xfrm>
        </p:spPr>
        <p:txBody>
          <a:bodyPr>
            <a:normAutofit/>
          </a:bodyPr>
          <a:lstStyle/>
          <a:p>
            <a:pPr algn="ctr"/>
            <a:r>
              <a:rPr lang="en-US" sz="3200" b="1" dirty="0">
                <a:solidFill>
                  <a:srgbClr val="0000FF"/>
                </a:solidFill>
              </a:rPr>
              <a:t>Research and Stakeholders Perspectives</a:t>
            </a:r>
            <a:endParaRPr lang="en-IN" sz="3200" b="1" dirty="0">
              <a:solidFill>
                <a:srgbClr val="0000FF"/>
              </a:solidFill>
            </a:endParaRPr>
          </a:p>
        </p:txBody>
      </p:sp>
      <p:sp>
        <p:nvSpPr>
          <p:cNvPr id="3" name="Content Placeholder 2"/>
          <p:cNvSpPr>
            <a:spLocks noGrp="1"/>
          </p:cNvSpPr>
          <p:nvPr>
            <p:ph idx="1"/>
          </p:nvPr>
        </p:nvSpPr>
        <p:spPr>
          <a:xfrm>
            <a:off x="838200" y="748991"/>
            <a:ext cx="10515600" cy="6193230"/>
          </a:xfrm>
        </p:spPr>
        <p:txBody>
          <a:bodyPr/>
          <a:lstStyle/>
          <a:p>
            <a:r>
              <a:rPr lang="en-US" sz="1400" dirty="0"/>
              <a:t>Stakeholders are individuals or organizations who have an interest in your research project, or who affect or are affected by its outcomes.</a:t>
            </a:r>
            <a:endParaRPr lang="en-IN" sz="1400" dirty="0"/>
          </a:p>
          <a:p>
            <a:pPr marL="0" indent="0">
              <a:buNone/>
            </a:pPr>
            <a:endParaRPr lang="en-IN" dirty="0"/>
          </a:p>
        </p:txBody>
      </p:sp>
      <p:sp>
        <p:nvSpPr>
          <p:cNvPr id="5" name="Oval 4"/>
          <p:cNvSpPr/>
          <p:nvPr/>
        </p:nvSpPr>
        <p:spPr>
          <a:xfrm>
            <a:off x="5831640" y="1418520"/>
            <a:ext cx="1109057" cy="50034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The media</a:t>
            </a:r>
            <a:endParaRPr lang="en-IN" sz="1000" dirty="0"/>
          </a:p>
        </p:txBody>
      </p:sp>
      <p:sp>
        <p:nvSpPr>
          <p:cNvPr id="7" name="Oval 6"/>
          <p:cNvSpPr/>
          <p:nvPr/>
        </p:nvSpPr>
        <p:spPr>
          <a:xfrm>
            <a:off x="6267254" y="5529846"/>
            <a:ext cx="1189611" cy="5707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Social enterprises</a:t>
            </a:r>
            <a:endParaRPr lang="en-IN" sz="1000" dirty="0"/>
          </a:p>
        </p:txBody>
      </p:sp>
      <p:sp>
        <p:nvSpPr>
          <p:cNvPr id="8" name="Oval 7"/>
          <p:cNvSpPr/>
          <p:nvPr/>
        </p:nvSpPr>
        <p:spPr>
          <a:xfrm>
            <a:off x="7278666" y="2652696"/>
            <a:ext cx="1311443" cy="6617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Communities of place</a:t>
            </a:r>
            <a:endParaRPr lang="en-IN" dirty="0"/>
          </a:p>
        </p:txBody>
      </p:sp>
      <p:sp>
        <p:nvSpPr>
          <p:cNvPr id="9" name="Oval 8"/>
          <p:cNvSpPr/>
          <p:nvPr/>
        </p:nvSpPr>
        <p:spPr>
          <a:xfrm>
            <a:off x="4946056" y="5521991"/>
            <a:ext cx="1023723" cy="5922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Business and industry</a:t>
            </a:r>
            <a:endParaRPr lang="en-IN" sz="1000" dirty="0"/>
          </a:p>
        </p:txBody>
      </p:sp>
      <p:sp>
        <p:nvSpPr>
          <p:cNvPr id="10" name="Oval 9"/>
          <p:cNvSpPr/>
          <p:nvPr/>
        </p:nvSpPr>
        <p:spPr>
          <a:xfrm>
            <a:off x="4004363" y="4972418"/>
            <a:ext cx="1345246" cy="60859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dirty="0"/>
              <a:t>Local authority /  strategic bodies</a:t>
            </a:r>
          </a:p>
        </p:txBody>
      </p:sp>
      <p:sp>
        <p:nvSpPr>
          <p:cNvPr id="11" name="Oval 10"/>
          <p:cNvSpPr/>
          <p:nvPr/>
        </p:nvSpPr>
        <p:spPr>
          <a:xfrm>
            <a:off x="3570533" y="3015005"/>
            <a:ext cx="1413649" cy="6229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Health and well being </a:t>
            </a:r>
            <a:r>
              <a:rPr lang="en-IN" sz="1000" dirty="0"/>
              <a:t>agencies</a:t>
            </a:r>
          </a:p>
        </p:txBody>
      </p:sp>
      <p:sp>
        <p:nvSpPr>
          <p:cNvPr id="12" name="Oval 11"/>
          <p:cNvSpPr/>
          <p:nvPr/>
        </p:nvSpPr>
        <p:spPr>
          <a:xfrm>
            <a:off x="3447838" y="3715863"/>
            <a:ext cx="1311443" cy="4907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dirty="0"/>
              <a:t>Quangos and govt. agencies</a:t>
            </a:r>
          </a:p>
        </p:txBody>
      </p:sp>
      <p:sp>
        <p:nvSpPr>
          <p:cNvPr id="13" name="Oval 12"/>
          <p:cNvSpPr/>
          <p:nvPr/>
        </p:nvSpPr>
        <p:spPr>
          <a:xfrm>
            <a:off x="4315657" y="1778661"/>
            <a:ext cx="1797395" cy="5132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Schools, Colleges and lifelong learning</a:t>
            </a:r>
            <a:endParaRPr lang="en-IN" sz="1000" dirty="0"/>
          </a:p>
        </p:txBody>
      </p:sp>
      <p:sp>
        <p:nvSpPr>
          <p:cNvPr id="14" name="Oval 13"/>
          <p:cNvSpPr/>
          <p:nvPr/>
        </p:nvSpPr>
        <p:spPr>
          <a:xfrm>
            <a:off x="6993184" y="4857376"/>
            <a:ext cx="1311443" cy="6617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Voluntary organizations</a:t>
            </a:r>
            <a:endParaRPr lang="en-IN" sz="1000" dirty="0"/>
          </a:p>
          <a:p>
            <a:pPr algn="ctr"/>
            <a:r>
              <a:rPr lang="en-US" sz="1000" dirty="0"/>
              <a:t>And Charities</a:t>
            </a:r>
            <a:endParaRPr lang="en-IN" sz="1000" dirty="0"/>
          </a:p>
        </p:txBody>
      </p:sp>
      <p:sp>
        <p:nvSpPr>
          <p:cNvPr id="15" name="Oval 14"/>
          <p:cNvSpPr/>
          <p:nvPr/>
        </p:nvSpPr>
        <p:spPr>
          <a:xfrm>
            <a:off x="7343874" y="3418505"/>
            <a:ext cx="1426235" cy="58840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Non Governmental organizations</a:t>
            </a:r>
            <a:endParaRPr lang="en-IN" sz="1000" dirty="0"/>
          </a:p>
        </p:txBody>
      </p:sp>
      <p:sp>
        <p:nvSpPr>
          <p:cNvPr id="16" name="Oval 15"/>
          <p:cNvSpPr/>
          <p:nvPr/>
        </p:nvSpPr>
        <p:spPr>
          <a:xfrm>
            <a:off x="3810566" y="2301593"/>
            <a:ext cx="1509965" cy="6520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dirty="0"/>
              <a:t>Cultural and leisure services</a:t>
            </a:r>
          </a:p>
        </p:txBody>
      </p:sp>
      <p:sp>
        <p:nvSpPr>
          <p:cNvPr id="17" name="Oval 16"/>
          <p:cNvSpPr/>
          <p:nvPr/>
        </p:nvSpPr>
        <p:spPr>
          <a:xfrm>
            <a:off x="6656325" y="1918865"/>
            <a:ext cx="1311443" cy="6273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Communities of interest</a:t>
            </a:r>
            <a:endParaRPr lang="en-IN" sz="1000" dirty="0"/>
          </a:p>
        </p:txBody>
      </p:sp>
      <p:sp>
        <p:nvSpPr>
          <p:cNvPr id="18" name="Oval 17"/>
          <p:cNvSpPr/>
          <p:nvPr/>
        </p:nvSpPr>
        <p:spPr>
          <a:xfrm>
            <a:off x="7278667" y="4128932"/>
            <a:ext cx="1311443" cy="6617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Community organizations</a:t>
            </a:r>
            <a:endParaRPr lang="en-IN" sz="1000" dirty="0"/>
          </a:p>
          <a:p>
            <a:pPr algn="ctr"/>
            <a:r>
              <a:rPr lang="en-US" sz="1000" dirty="0"/>
              <a:t>And societies</a:t>
            </a:r>
            <a:endParaRPr lang="en-IN" sz="1000" dirty="0"/>
          </a:p>
        </p:txBody>
      </p:sp>
      <p:sp>
        <p:nvSpPr>
          <p:cNvPr id="20" name="Oval 19"/>
          <p:cNvSpPr/>
          <p:nvPr/>
        </p:nvSpPr>
        <p:spPr>
          <a:xfrm>
            <a:off x="3593664" y="4288781"/>
            <a:ext cx="1336856" cy="5987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Local /  regional  / national govt.</a:t>
            </a:r>
            <a:endParaRPr lang="en-IN" sz="1000" dirty="0"/>
          </a:p>
        </p:txBody>
      </p:sp>
      <p:sp>
        <p:nvSpPr>
          <p:cNvPr id="27" name="Oval 26"/>
          <p:cNvSpPr/>
          <p:nvPr/>
        </p:nvSpPr>
        <p:spPr>
          <a:xfrm>
            <a:off x="3357586" y="1306619"/>
            <a:ext cx="5486582" cy="507797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ounded Rectangle 25"/>
          <p:cNvSpPr/>
          <p:nvPr/>
        </p:nvSpPr>
        <p:spPr>
          <a:xfrm>
            <a:off x="7044277" y="1194368"/>
            <a:ext cx="1471041" cy="519137"/>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The Public </a:t>
            </a:r>
            <a:endParaRPr lang="en-IN" sz="1200" dirty="0"/>
          </a:p>
        </p:txBody>
      </p:sp>
      <p:sp>
        <p:nvSpPr>
          <p:cNvPr id="21" name="Rounded Rectangle 20"/>
          <p:cNvSpPr/>
          <p:nvPr/>
        </p:nvSpPr>
        <p:spPr>
          <a:xfrm>
            <a:off x="8590109" y="3997539"/>
            <a:ext cx="2085295" cy="312647"/>
          </a:xfrm>
          <a:prstGeom prst="roundRect">
            <a:avLst/>
          </a:prstGeom>
          <a:solidFill>
            <a:srgbClr val="8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Community and 3</a:t>
            </a:r>
            <a:r>
              <a:rPr lang="en-US" sz="1200" baseline="30000" dirty="0"/>
              <a:t>rd</a:t>
            </a:r>
            <a:r>
              <a:rPr lang="en-US" sz="1200" dirty="0"/>
              <a:t> sector</a:t>
            </a:r>
            <a:endParaRPr lang="en-IN" sz="1200" dirty="0"/>
          </a:p>
        </p:txBody>
      </p:sp>
      <p:sp>
        <p:nvSpPr>
          <p:cNvPr id="23" name="Rounded Rectangle 22"/>
          <p:cNvSpPr/>
          <p:nvPr/>
        </p:nvSpPr>
        <p:spPr>
          <a:xfrm>
            <a:off x="2333852" y="5232192"/>
            <a:ext cx="1642311" cy="697645"/>
          </a:xfrm>
          <a:prstGeom prst="round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International Community</a:t>
            </a:r>
            <a:endParaRPr lang="en-IN" sz="1200" dirty="0"/>
          </a:p>
        </p:txBody>
      </p:sp>
      <p:sp>
        <p:nvSpPr>
          <p:cNvPr id="24" name="Rounded Rectangle 23"/>
          <p:cNvSpPr/>
          <p:nvPr/>
        </p:nvSpPr>
        <p:spPr>
          <a:xfrm>
            <a:off x="1791727" y="3590694"/>
            <a:ext cx="1642311" cy="697645"/>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Policy Community</a:t>
            </a:r>
            <a:endParaRPr lang="en-IN" sz="1200" dirty="0"/>
          </a:p>
        </p:txBody>
      </p:sp>
      <p:sp>
        <p:nvSpPr>
          <p:cNvPr id="25" name="Rounded Rectangle 24"/>
          <p:cNvSpPr/>
          <p:nvPr/>
        </p:nvSpPr>
        <p:spPr>
          <a:xfrm>
            <a:off x="3069531" y="1561482"/>
            <a:ext cx="1112740" cy="697645"/>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Public sector</a:t>
            </a:r>
            <a:endParaRPr lang="en-IN" sz="1200" dirty="0"/>
          </a:p>
        </p:txBody>
      </p:sp>
      <p:sp>
        <p:nvSpPr>
          <p:cNvPr id="22" name="Rounded Rectangle 21"/>
          <p:cNvSpPr/>
          <p:nvPr/>
        </p:nvSpPr>
        <p:spPr>
          <a:xfrm>
            <a:off x="5261282" y="6220092"/>
            <a:ext cx="1642311" cy="234024"/>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Business Community</a:t>
            </a:r>
            <a:endParaRPr lang="en-IN" sz="1200" dirty="0"/>
          </a:p>
        </p:txBody>
      </p:sp>
    </p:spTree>
    <p:extLst>
      <p:ext uri="{BB962C8B-B14F-4D97-AF65-F5344CB8AC3E}">
        <p14:creationId xmlns:p14="http://schemas.microsoft.com/office/powerpoint/2010/main" val="17285404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53812"/>
          </a:xfrm>
        </p:spPr>
        <p:txBody>
          <a:bodyPr>
            <a:normAutofit/>
          </a:bodyPr>
          <a:lstStyle/>
          <a:p>
            <a:pPr algn="ctr"/>
            <a:r>
              <a:rPr lang="en-US" b="1" dirty="0">
                <a:solidFill>
                  <a:srgbClr val="0000FF"/>
                </a:solidFill>
              </a:rPr>
              <a:t>Research and Stakeholders Perspectives</a:t>
            </a:r>
            <a:endParaRPr lang="en-IN" sz="3200" b="1" dirty="0">
              <a:solidFill>
                <a:srgbClr val="0000FF"/>
              </a:solidFill>
            </a:endParaRPr>
          </a:p>
        </p:txBody>
      </p:sp>
      <p:sp>
        <p:nvSpPr>
          <p:cNvPr id="3" name="Content Placeholder 2"/>
          <p:cNvSpPr>
            <a:spLocks noGrp="1"/>
          </p:cNvSpPr>
          <p:nvPr>
            <p:ph idx="1"/>
          </p:nvPr>
        </p:nvSpPr>
        <p:spPr>
          <a:xfrm>
            <a:off x="838200" y="1118938"/>
            <a:ext cx="10515600" cy="5058025"/>
          </a:xfrm>
        </p:spPr>
        <p:txBody>
          <a:bodyPr>
            <a:normAutofit fontScale="92500"/>
          </a:bodyPr>
          <a:lstStyle/>
          <a:p>
            <a:pPr algn="just"/>
            <a:r>
              <a:rPr lang="en-US" dirty="0"/>
              <a:t>They maybe groups and organizations, such as funders, donors, community members, advocacy organizations, patients, trade associations, businesses, policymakers, policy advocates (NGO), and product developers.</a:t>
            </a:r>
            <a:endParaRPr lang="en-IN" dirty="0"/>
          </a:p>
          <a:p>
            <a:pPr algn="just"/>
            <a:r>
              <a:rPr lang="en-US" dirty="0"/>
              <a:t>A stakeholder may serve multiple roles and bring several perspectives to a project: setting priorities, shaping the research questions, designing or Implementing studies, funding programs, assessing applications, communicating findings, and moving the results into practice.</a:t>
            </a:r>
          </a:p>
          <a:p>
            <a:pPr algn="just"/>
            <a:r>
              <a:rPr lang="en-US" dirty="0"/>
              <a:t>Importantly. stakeholder engagement can bring knowledge and expertise different experiences and perspectives to your research, provide data and resources, build shared understanding, and make information from your research relevant for effective decision making.</a:t>
            </a:r>
          </a:p>
          <a:p>
            <a:pPr algn="just"/>
            <a:r>
              <a:rPr lang="en-US" dirty="0"/>
              <a:t>Hence stakeholders perspectives play a significant role in research</a:t>
            </a:r>
            <a:endParaRPr lang="en-IN" dirty="0"/>
          </a:p>
          <a:p>
            <a:pPr algn="just"/>
            <a:endParaRPr lang="en-IN" dirty="0"/>
          </a:p>
        </p:txBody>
      </p:sp>
    </p:spTree>
    <p:extLst>
      <p:ext uri="{BB962C8B-B14F-4D97-AF65-F5344CB8AC3E}">
        <p14:creationId xmlns:p14="http://schemas.microsoft.com/office/powerpoint/2010/main" val="6267055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65316"/>
          </a:xfrm>
        </p:spPr>
        <p:txBody>
          <a:bodyPr>
            <a:normAutofit/>
          </a:bodyPr>
          <a:lstStyle/>
          <a:p>
            <a:pPr algn="ctr"/>
            <a:r>
              <a:rPr lang="en-US" sz="3200" b="1" dirty="0">
                <a:solidFill>
                  <a:srgbClr val="0000FF"/>
                </a:solidFill>
              </a:rPr>
              <a:t>Types of Research </a:t>
            </a:r>
            <a:endParaRPr lang="en-IN" sz="3200" b="1" dirty="0">
              <a:solidFill>
                <a:srgbClr val="0000FF"/>
              </a:solidFill>
            </a:endParaRPr>
          </a:p>
        </p:txBody>
      </p:sp>
      <p:sp>
        <p:nvSpPr>
          <p:cNvPr id="3" name="Content Placeholder 2"/>
          <p:cNvSpPr>
            <a:spLocks noGrp="1"/>
          </p:cNvSpPr>
          <p:nvPr>
            <p:ph idx="1"/>
          </p:nvPr>
        </p:nvSpPr>
        <p:spPr>
          <a:xfrm>
            <a:off x="838200" y="930442"/>
            <a:ext cx="10515600" cy="5775158"/>
          </a:xfrm>
        </p:spPr>
        <p:txBody>
          <a:bodyPr>
            <a:normAutofit fontScale="92500" lnSpcReduction="10000"/>
          </a:bodyPr>
          <a:lstStyle/>
          <a:p>
            <a:pPr algn="just"/>
            <a:r>
              <a:rPr lang="en-US" sz="1600" dirty="0"/>
              <a:t>Types of research may be categorized depending on applicability, the mode of enquiry in conducting the study, and major objectives of the study. In fact, a research problem may use multiple research types.</a:t>
            </a:r>
          </a:p>
          <a:p>
            <a:pPr algn="just"/>
            <a:endParaRPr lang="en-US" sz="1600" dirty="0"/>
          </a:p>
          <a:p>
            <a:pPr algn="just"/>
            <a:endParaRPr lang="en-US" sz="1600" dirty="0"/>
          </a:p>
          <a:p>
            <a:pPr algn="just"/>
            <a:endParaRPr lang="en-US" sz="1600" dirty="0"/>
          </a:p>
          <a:p>
            <a:pPr algn="just"/>
            <a:endParaRPr lang="en-US" sz="1600" dirty="0"/>
          </a:p>
          <a:p>
            <a:pPr algn="just"/>
            <a:endParaRPr lang="en-US" sz="1600" dirty="0"/>
          </a:p>
          <a:p>
            <a:pPr algn="just"/>
            <a:endParaRPr lang="en-US" sz="1600" dirty="0"/>
          </a:p>
          <a:p>
            <a:pPr algn="just"/>
            <a:endParaRPr lang="en-US" sz="1600" dirty="0"/>
          </a:p>
          <a:p>
            <a:pPr algn="just"/>
            <a:endParaRPr lang="en-US" sz="1600" dirty="0"/>
          </a:p>
          <a:p>
            <a:pPr algn="just"/>
            <a:endParaRPr lang="en-US" sz="1600" dirty="0"/>
          </a:p>
          <a:p>
            <a:pPr algn="just"/>
            <a:endParaRPr lang="en-US" sz="1600" dirty="0"/>
          </a:p>
          <a:p>
            <a:pPr algn="just"/>
            <a:endParaRPr lang="en-US" sz="1600" dirty="0"/>
          </a:p>
          <a:p>
            <a:pPr algn="just"/>
            <a:endParaRPr lang="en-US" sz="1600" dirty="0"/>
          </a:p>
          <a:p>
            <a:pPr marL="0" indent="0" algn="just">
              <a:buNone/>
            </a:pPr>
            <a:endParaRPr lang="en-US" sz="1700" dirty="0"/>
          </a:p>
          <a:p>
            <a:pPr marL="0" indent="0" algn="just">
              <a:buNone/>
            </a:pPr>
            <a:endParaRPr lang="en-US" sz="1600" dirty="0"/>
          </a:p>
          <a:p>
            <a:pPr marL="0" indent="0" algn="just">
              <a:buNone/>
            </a:pPr>
            <a:r>
              <a:rPr lang="en-US" sz="1600" dirty="0"/>
              <a:t>                                     </a:t>
            </a:r>
          </a:p>
          <a:p>
            <a:pPr marL="0" indent="0" algn="just">
              <a:buNone/>
            </a:pPr>
            <a:r>
              <a:rPr lang="en-US" sz="1600" dirty="0"/>
              <a:t>                                   Ref : Research Methodology A Practical and Scientific Approach, </a:t>
            </a:r>
            <a:r>
              <a:rPr lang="en-US" sz="1600" dirty="0" err="1"/>
              <a:t>Biragi</a:t>
            </a:r>
            <a:r>
              <a:rPr lang="en-US" sz="1600" dirty="0"/>
              <a:t> and </a:t>
            </a:r>
            <a:r>
              <a:rPr lang="en-US" sz="1600" dirty="0" err="1"/>
              <a:t>Munot</a:t>
            </a:r>
            <a:r>
              <a:rPr lang="en-US" sz="1600" dirty="0"/>
              <a:t>, CRC Press, 2019</a:t>
            </a:r>
            <a:endParaRPr lang="en-IN" sz="1600" dirty="0"/>
          </a:p>
        </p:txBody>
      </p:sp>
      <p:sp>
        <p:nvSpPr>
          <p:cNvPr id="8" name="Rectangle 7"/>
          <p:cNvSpPr/>
          <p:nvPr/>
        </p:nvSpPr>
        <p:spPr>
          <a:xfrm>
            <a:off x="838200" y="3160900"/>
            <a:ext cx="2021305" cy="5560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Types of Research</a:t>
            </a:r>
            <a:endParaRPr lang="en-IN" dirty="0"/>
          </a:p>
        </p:txBody>
      </p:sp>
      <p:sp>
        <p:nvSpPr>
          <p:cNvPr id="11" name="Rectangle 10"/>
          <p:cNvSpPr/>
          <p:nvPr/>
        </p:nvSpPr>
        <p:spPr>
          <a:xfrm>
            <a:off x="6645438" y="2858858"/>
            <a:ext cx="2604840" cy="3020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Experimental Research</a:t>
            </a:r>
            <a:endParaRPr lang="en-IN" dirty="0"/>
          </a:p>
        </p:txBody>
      </p:sp>
      <p:sp>
        <p:nvSpPr>
          <p:cNvPr id="12" name="Rectangle 11"/>
          <p:cNvSpPr/>
          <p:nvPr/>
        </p:nvSpPr>
        <p:spPr>
          <a:xfrm>
            <a:off x="6655468" y="3778892"/>
            <a:ext cx="2592805" cy="2900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Exploratory Research</a:t>
            </a:r>
            <a:endParaRPr lang="en-IN" dirty="0"/>
          </a:p>
        </p:txBody>
      </p:sp>
      <p:sp>
        <p:nvSpPr>
          <p:cNvPr id="13" name="Rectangle 12"/>
          <p:cNvSpPr/>
          <p:nvPr/>
        </p:nvSpPr>
        <p:spPr>
          <a:xfrm>
            <a:off x="6655468" y="5499868"/>
            <a:ext cx="2592805" cy="3546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Applied Research</a:t>
            </a:r>
            <a:endParaRPr lang="en-IN" dirty="0"/>
          </a:p>
        </p:txBody>
      </p:sp>
      <p:sp>
        <p:nvSpPr>
          <p:cNvPr id="14" name="Rectangle 13"/>
          <p:cNvSpPr/>
          <p:nvPr/>
        </p:nvSpPr>
        <p:spPr>
          <a:xfrm>
            <a:off x="6641430" y="4214812"/>
            <a:ext cx="2592805" cy="275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Quantitative Research</a:t>
            </a:r>
            <a:endParaRPr lang="en-IN" dirty="0"/>
          </a:p>
        </p:txBody>
      </p:sp>
      <p:sp>
        <p:nvSpPr>
          <p:cNvPr id="15" name="Rectangle 14"/>
          <p:cNvSpPr/>
          <p:nvPr/>
        </p:nvSpPr>
        <p:spPr>
          <a:xfrm>
            <a:off x="6655468" y="4634299"/>
            <a:ext cx="2606842" cy="2475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Qualitative Research</a:t>
            </a:r>
            <a:endParaRPr lang="en-IN" dirty="0"/>
          </a:p>
        </p:txBody>
      </p:sp>
      <p:sp>
        <p:nvSpPr>
          <p:cNvPr id="16" name="Rectangle 15"/>
          <p:cNvSpPr/>
          <p:nvPr/>
        </p:nvSpPr>
        <p:spPr>
          <a:xfrm>
            <a:off x="6641429" y="5017636"/>
            <a:ext cx="2592805" cy="3179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Basic Research</a:t>
            </a:r>
            <a:endParaRPr lang="en-IN" dirty="0"/>
          </a:p>
        </p:txBody>
      </p:sp>
      <p:sp>
        <p:nvSpPr>
          <p:cNvPr id="17" name="Rectangle 16"/>
          <p:cNvSpPr/>
          <p:nvPr/>
        </p:nvSpPr>
        <p:spPr>
          <a:xfrm>
            <a:off x="6641431" y="3298189"/>
            <a:ext cx="2606842" cy="3634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Explanatory Research </a:t>
            </a:r>
            <a:endParaRPr lang="en-IN" dirty="0"/>
          </a:p>
        </p:txBody>
      </p:sp>
      <p:sp>
        <p:nvSpPr>
          <p:cNvPr id="18" name="Rectangle 17"/>
          <p:cNvSpPr/>
          <p:nvPr/>
        </p:nvSpPr>
        <p:spPr>
          <a:xfrm>
            <a:off x="6641431" y="2486101"/>
            <a:ext cx="2606842" cy="2509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Analytical Research</a:t>
            </a:r>
            <a:endParaRPr lang="en-IN" dirty="0"/>
          </a:p>
        </p:txBody>
      </p:sp>
      <p:sp>
        <p:nvSpPr>
          <p:cNvPr id="19" name="Rectangle 18"/>
          <p:cNvSpPr/>
          <p:nvPr/>
        </p:nvSpPr>
        <p:spPr>
          <a:xfrm>
            <a:off x="6641431" y="2043758"/>
            <a:ext cx="2592805" cy="3310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Correlational  Research</a:t>
            </a:r>
            <a:endParaRPr lang="en-IN" dirty="0"/>
          </a:p>
        </p:txBody>
      </p:sp>
      <p:sp>
        <p:nvSpPr>
          <p:cNvPr id="20" name="Rectangle 19"/>
          <p:cNvSpPr/>
          <p:nvPr/>
        </p:nvSpPr>
        <p:spPr>
          <a:xfrm>
            <a:off x="6641431" y="1607800"/>
            <a:ext cx="2606842" cy="3264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Descriptive Research</a:t>
            </a:r>
            <a:endParaRPr lang="en-IN" dirty="0"/>
          </a:p>
        </p:txBody>
      </p:sp>
      <p:cxnSp>
        <p:nvCxnSpPr>
          <p:cNvPr id="10" name="Straight Connector 9"/>
          <p:cNvCxnSpPr>
            <a:stCxn id="8" idx="3"/>
            <a:endCxn id="20" idx="1"/>
          </p:cNvCxnSpPr>
          <p:nvPr/>
        </p:nvCxnSpPr>
        <p:spPr>
          <a:xfrm flipV="1">
            <a:off x="2859505" y="1771005"/>
            <a:ext cx="3781926" cy="166793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8" idx="3"/>
            <a:endCxn id="19" idx="1"/>
          </p:cNvCxnSpPr>
          <p:nvPr/>
        </p:nvCxnSpPr>
        <p:spPr>
          <a:xfrm flipV="1">
            <a:off x="2859505" y="2209265"/>
            <a:ext cx="3781926" cy="122967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8" idx="3"/>
            <a:endCxn id="18" idx="1"/>
          </p:cNvCxnSpPr>
          <p:nvPr/>
        </p:nvCxnSpPr>
        <p:spPr>
          <a:xfrm flipV="1">
            <a:off x="2859505" y="2611568"/>
            <a:ext cx="3781926" cy="827374"/>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8" idx="3"/>
            <a:endCxn id="11" idx="1"/>
          </p:cNvCxnSpPr>
          <p:nvPr/>
        </p:nvCxnSpPr>
        <p:spPr>
          <a:xfrm flipV="1">
            <a:off x="2859505" y="3009879"/>
            <a:ext cx="3785933" cy="429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a:stCxn id="8" idx="3"/>
            <a:endCxn id="17" idx="1"/>
          </p:cNvCxnSpPr>
          <p:nvPr/>
        </p:nvCxnSpPr>
        <p:spPr>
          <a:xfrm>
            <a:off x="2859505" y="3438942"/>
            <a:ext cx="3781926" cy="40994"/>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8" idx="3"/>
            <a:endCxn id="12" idx="1"/>
          </p:cNvCxnSpPr>
          <p:nvPr/>
        </p:nvCxnSpPr>
        <p:spPr>
          <a:xfrm>
            <a:off x="2859505" y="3438942"/>
            <a:ext cx="3795963" cy="484996"/>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a:stCxn id="8" idx="3"/>
            <a:endCxn id="14" idx="1"/>
          </p:cNvCxnSpPr>
          <p:nvPr/>
        </p:nvCxnSpPr>
        <p:spPr>
          <a:xfrm>
            <a:off x="2859505" y="3438942"/>
            <a:ext cx="3781925" cy="913758"/>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a:stCxn id="8" idx="3"/>
            <a:endCxn id="15" idx="1"/>
          </p:cNvCxnSpPr>
          <p:nvPr/>
        </p:nvCxnSpPr>
        <p:spPr>
          <a:xfrm>
            <a:off x="2859505" y="3438942"/>
            <a:ext cx="3795963" cy="1319136"/>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8" idx="3"/>
            <a:endCxn id="16" idx="1"/>
          </p:cNvCxnSpPr>
          <p:nvPr/>
        </p:nvCxnSpPr>
        <p:spPr>
          <a:xfrm>
            <a:off x="2859505" y="3438942"/>
            <a:ext cx="3781924" cy="173764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a:stCxn id="8" idx="3"/>
            <a:endCxn id="13" idx="1"/>
          </p:cNvCxnSpPr>
          <p:nvPr/>
        </p:nvCxnSpPr>
        <p:spPr>
          <a:xfrm>
            <a:off x="2859505" y="3438942"/>
            <a:ext cx="3795963" cy="223822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17624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754706" y="473964"/>
            <a:ext cx="4238625" cy="513715"/>
            <a:chOff x="3230705" y="473963"/>
            <a:chExt cx="4238625" cy="513715"/>
          </a:xfrm>
        </p:grpSpPr>
        <p:pic>
          <p:nvPicPr>
            <p:cNvPr id="3" name="object 3"/>
            <p:cNvPicPr/>
            <p:nvPr/>
          </p:nvPicPr>
          <p:blipFill>
            <a:blip r:embed="rId2" cstate="print"/>
            <a:stretch>
              <a:fillRect/>
            </a:stretch>
          </p:blipFill>
          <p:spPr>
            <a:xfrm>
              <a:off x="3230705" y="616117"/>
              <a:ext cx="1086980" cy="178838"/>
            </a:xfrm>
            <a:prstGeom prst="rect">
              <a:avLst/>
            </a:prstGeom>
          </p:spPr>
        </p:pic>
        <p:pic>
          <p:nvPicPr>
            <p:cNvPr id="4" name="object 4"/>
            <p:cNvPicPr/>
            <p:nvPr/>
          </p:nvPicPr>
          <p:blipFill>
            <a:blip r:embed="rId3" cstate="print"/>
            <a:stretch>
              <a:fillRect/>
            </a:stretch>
          </p:blipFill>
          <p:spPr>
            <a:xfrm>
              <a:off x="4192524" y="473963"/>
              <a:ext cx="3276600" cy="513588"/>
            </a:xfrm>
            <a:prstGeom prst="rect">
              <a:avLst/>
            </a:prstGeom>
          </p:spPr>
        </p:pic>
      </p:grpSp>
      <p:sp>
        <p:nvSpPr>
          <p:cNvPr id="5" name="object 5"/>
          <p:cNvSpPr txBox="1"/>
          <p:nvPr/>
        </p:nvSpPr>
        <p:spPr>
          <a:xfrm>
            <a:off x="4722114" y="528573"/>
            <a:ext cx="4121150" cy="299720"/>
          </a:xfrm>
          <a:prstGeom prst="rect">
            <a:avLst/>
          </a:prstGeom>
        </p:spPr>
        <p:txBody>
          <a:bodyPr vert="horz" wrap="square" lIns="0" tIns="12700" rIns="0" bIns="0" rtlCol="0">
            <a:spAutoFit/>
          </a:bodyPr>
          <a:lstStyle/>
          <a:p>
            <a:pPr marL="12700">
              <a:spcBef>
                <a:spcPts val="100"/>
              </a:spcBef>
            </a:pPr>
            <a:r>
              <a:rPr b="1" i="1" dirty="0">
                <a:solidFill>
                  <a:srgbClr val="C00000"/>
                </a:solidFill>
                <a:latin typeface="Times New Roman"/>
                <a:cs typeface="Times New Roman"/>
              </a:rPr>
              <a:t>TYPES</a:t>
            </a:r>
            <a:r>
              <a:rPr b="1" i="1" spc="-20" dirty="0">
                <a:solidFill>
                  <a:srgbClr val="C00000"/>
                </a:solidFill>
                <a:latin typeface="Times New Roman"/>
                <a:cs typeface="Times New Roman"/>
              </a:rPr>
              <a:t> </a:t>
            </a:r>
            <a:r>
              <a:rPr b="1" i="1" dirty="0">
                <a:solidFill>
                  <a:srgbClr val="C00000"/>
                </a:solidFill>
                <a:latin typeface="Times New Roman"/>
                <a:cs typeface="Times New Roman"/>
              </a:rPr>
              <a:t>OF</a:t>
            </a:r>
            <a:r>
              <a:rPr b="1" i="1" spc="-40" dirty="0">
                <a:solidFill>
                  <a:srgbClr val="C00000"/>
                </a:solidFill>
                <a:latin typeface="Times New Roman"/>
                <a:cs typeface="Times New Roman"/>
              </a:rPr>
              <a:t> </a:t>
            </a:r>
            <a:r>
              <a:rPr b="1" i="1" dirty="0">
                <a:solidFill>
                  <a:srgbClr val="C00000"/>
                </a:solidFill>
                <a:latin typeface="Times New Roman"/>
                <a:cs typeface="Times New Roman"/>
              </a:rPr>
              <a:t>RESEARCH</a:t>
            </a:r>
            <a:r>
              <a:rPr b="1" i="1" spc="-70" dirty="0">
                <a:solidFill>
                  <a:srgbClr val="C00000"/>
                </a:solidFill>
                <a:latin typeface="Times New Roman"/>
                <a:cs typeface="Times New Roman"/>
              </a:rPr>
              <a:t> </a:t>
            </a:r>
            <a:r>
              <a:rPr b="1" i="1" dirty="0">
                <a:solidFill>
                  <a:srgbClr val="C00000"/>
                </a:solidFill>
                <a:latin typeface="Times New Roman"/>
                <a:cs typeface="Times New Roman"/>
              </a:rPr>
              <a:t>AND</a:t>
            </a:r>
            <a:r>
              <a:rPr b="1" i="1" spc="-10" dirty="0">
                <a:solidFill>
                  <a:srgbClr val="C00000"/>
                </a:solidFill>
                <a:latin typeface="Times New Roman"/>
                <a:cs typeface="Times New Roman"/>
              </a:rPr>
              <a:t> </a:t>
            </a:r>
            <a:r>
              <a:rPr b="1" i="1" dirty="0">
                <a:solidFill>
                  <a:srgbClr val="C00000"/>
                </a:solidFill>
                <a:latin typeface="Times New Roman"/>
                <a:cs typeface="Times New Roman"/>
              </a:rPr>
              <a:t>ITS</a:t>
            </a:r>
            <a:r>
              <a:rPr b="1" i="1" spc="-5" dirty="0">
                <a:solidFill>
                  <a:srgbClr val="C00000"/>
                </a:solidFill>
                <a:latin typeface="Times New Roman"/>
                <a:cs typeface="Times New Roman"/>
              </a:rPr>
              <a:t> </a:t>
            </a:r>
            <a:r>
              <a:rPr b="1" i="1" spc="-10" dirty="0">
                <a:solidFill>
                  <a:srgbClr val="C00000"/>
                </a:solidFill>
                <a:latin typeface="Times New Roman"/>
                <a:cs typeface="Times New Roman"/>
              </a:rPr>
              <a:t>GOALS</a:t>
            </a:r>
            <a:endParaRPr>
              <a:latin typeface="Times New Roman"/>
              <a:cs typeface="Times New Roman"/>
            </a:endParaRPr>
          </a:p>
        </p:txBody>
      </p:sp>
      <p:sp>
        <p:nvSpPr>
          <p:cNvPr id="6" name="object 6"/>
          <p:cNvSpPr/>
          <p:nvPr/>
        </p:nvSpPr>
        <p:spPr>
          <a:xfrm>
            <a:off x="1670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4F81BC"/>
          </a:solidFill>
        </p:spPr>
        <p:txBody>
          <a:bodyPr wrap="square" lIns="0" tIns="0" rIns="0" bIns="0" rtlCol="0"/>
          <a:lstStyle/>
          <a:p>
            <a:endParaRPr/>
          </a:p>
        </p:txBody>
      </p:sp>
      <p:sp>
        <p:nvSpPr>
          <p:cNvPr id="7" name="object 7"/>
          <p:cNvSpPr txBox="1">
            <a:spLocks noGrp="1"/>
          </p:cNvSpPr>
          <p:nvPr>
            <p:ph type="title"/>
          </p:nvPr>
        </p:nvSpPr>
        <p:spPr>
          <a:xfrm>
            <a:off x="1983740" y="1112266"/>
            <a:ext cx="7434580" cy="330835"/>
          </a:xfrm>
          <a:prstGeom prst="rect">
            <a:avLst/>
          </a:prstGeom>
        </p:spPr>
        <p:txBody>
          <a:bodyPr vert="horz" wrap="square" lIns="0" tIns="13335" rIns="0" bIns="0" rtlCol="0" anchor="ctr">
            <a:spAutoFit/>
          </a:bodyPr>
          <a:lstStyle/>
          <a:p>
            <a:pPr marL="12700">
              <a:lnSpc>
                <a:spcPct val="100000"/>
              </a:lnSpc>
              <a:spcBef>
                <a:spcPts val="105"/>
              </a:spcBef>
            </a:pPr>
            <a:r>
              <a:rPr sz="2000" b="1" dirty="0">
                <a:solidFill>
                  <a:srgbClr val="FF0000"/>
                </a:solidFill>
              </a:rPr>
              <a:t>Pure</a:t>
            </a:r>
            <a:r>
              <a:rPr sz="2000" b="1" spc="-20" dirty="0">
                <a:solidFill>
                  <a:srgbClr val="FF0000"/>
                </a:solidFill>
              </a:rPr>
              <a:t> </a:t>
            </a:r>
            <a:r>
              <a:rPr sz="2000" b="1" dirty="0">
                <a:solidFill>
                  <a:srgbClr val="FF0000"/>
                </a:solidFill>
              </a:rPr>
              <a:t>Research</a:t>
            </a:r>
            <a:r>
              <a:rPr sz="2000" b="1" spc="-25" dirty="0">
                <a:solidFill>
                  <a:srgbClr val="FF0000"/>
                </a:solidFill>
              </a:rPr>
              <a:t> </a:t>
            </a:r>
            <a:r>
              <a:rPr sz="2000" b="1" dirty="0">
                <a:solidFill>
                  <a:srgbClr val="FF0000"/>
                </a:solidFill>
              </a:rPr>
              <a:t>(or)</a:t>
            </a:r>
            <a:r>
              <a:rPr sz="2000" b="1" spc="-30" dirty="0">
                <a:solidFill>
                  <a:srgbClr val="FF0000"/>
                </a:solidFill>
              </a:rPr>
              <a:t> </a:t>
            </a:r>
            <a:r>
              <a:rPr sz="2000" b="1" dirty="0">
                <a:solidFill>
                  <a:srgbClr val="FF0000"/>
                </a:solidFill>
              </a:rPr>
              <a:t>Basic</a:t>
            </a:r>
            <a:r>
              <a:rPr sz="2000" b="1" spc="-15" dirty="0">
                <a:solidFill>
                  <a:srgbClr val="FF0000"/>
                </a:solidFill>
              </a:rPr>
              <a:t> </a:t>
            </a:r>
            <a:r>
              <a:rPr sz="2000" b="1" dirty="0">
                <a:solidFill>
                  <a:srgbClr val="FF0000"/>
                </a:solidFill>
              </a:rPr>
              <a:t>(or)</a:t>
            </a:r>
            <a:r>
              <a:rPr sz="2000" b="1" spc="-30" dirty="0">
                <a:solidFill>
                  <a:srgbClr val="FF0000"/>
                </a:solidFill>
              </a:rPr>
              <a:t> </a:t>
            </a:r>
            <a:r>
              <a:rPr sz="2000" b="1" dirty="0">
                <a:solidFill>
                  <a:srgbClr val="FF0000"/>
                </a:solidFill>
              </a:rPr>
              <a:t>Fundamental</a:t>
            </a:r>
            <a:r>
              <a:rPr sz="2000" b="1" spc="-50" dirty="0">
                <a:solidFill>
                  <a:srgbClr val="FF0000"/>
                </a:solidFill>
              </a:rPr>
              <a:t> </a:t>
            </a:r>
            <a:r>
              <a:rPr sz="2000" b="1" dirty="0">
                <a:solidFill>
                  <a:srgbClr val="FF0000"/>
                </a:solidFill>
              </a:rPr>
              <a:t>(or)</a:t>
            </a:r>
            <a:r>
              <a:rPr sz="2000" b="1" spc="-30" dirty="0">
                <a:solidFill>
                  <a:srgbClr val="FF0000"/>
                </a:solidFill>
              </a:rPr>
              <a:t> </a:t>
            </a:r>
            <a:r>
              <a:rPr sz="2000" b="1" dirty="0">
                <a:solidFill>
                  <a:srgbClr val="FF0000"/>
                </a:solidFill>
              </a:rPr>
              <a:t>Theoretical</a:t>
            </a:r>
            <a:r>
              <a:rPr sz="2000" b="1" spc="-40" dirty="0">
                <a:solidFill>
                  <a:srgbClr val="FF0000"/>
                </a:solidFill>
              </a:rPr>
              <a:t> </a:t>
            </a:r>
            <a:r>
              <a:rPr sz="2000" b="1" spc="-10" dirty="0">
                <a:solidFill>
                  <a:srgbClr val="FF0000"/>
                </a:solidFill>
              </a:rPr>
              <a:t>Research</a:t>
            </a:r>
            <a:r>
              <a:rPr lang="en-IN" sz="2000" b="1" spc="-10" dirty="0">
                <a:solidFill>
                  <a:srgbClr val="FF0000"/>
                </a:solidFill>
              </a:rPr>
              <a:t>:</a:t>
            </a:r>
            <a:endParaRPr sz="2000" b="1" dirty="0">
              <a:solidFill>
                <a:srgbClr val="FF0000"/>
              </a:solidFill>
            </a:endParaRPr>
          </a:p>
        </p:txBody>
      </p:sp>
      <p:sp>
        <p:nvSpPr>
          <p:cNvPr id="8" name="object 8"/>
          <p:cNvSpPr txBox="1"/>
          <p:nvPr/>
        </p:nvSpPr>
        <p:spPr>
          <a:xfrm>
            <a:off x="1983741" y="1481302"/>
            <a:ext cx="8072755" cy="1917700"/>
          </a:xfrm>
          <a:prstGeom prst="rect">
            <a:avLst/>
          </a:prstGeom>
        </p:spPr>
        <p:txBody>
          <a:bodyPr vert="horz" wrap="square" lIns="0" tIns="12700" rIns="0" bIns="0" rtlCol="0">
            <a:spAutoFit/>
          </a:bodyPr>
          <a:lstStyle/>
          <a:p>
            <a:pPr marL="285115" marR="5080" indent="-273050">
              <a:lnSpc>
                <a:spcPct val="150100"/>
              </a:lnSpc>
              <a:spcBef>
                <a:spcPts val="100"/>
              </a:spcBef>
              <a:buClr>
                <a:srgbClr val="C00000"/>
              </a:buClr>
              <a:buSzPct val="85000"/>
              <a:buFont typeface="Wingdings 2"/>
              <a:buChar char=""/>
              <a:tabLst>
                <a:tab pos="285115" algn="l"/>
                <a:tab pos="1036955" algn="l"/>
                <a:tab pos="1361440" algn="l"/>
                <a:tab pos="1774189" algn="l"/>
                <a:tab pos="2999740" algn="l"/>
                <a:tab pos="3700779" algn="l"/>
                <a:tab pos="4182745" algn="l"/>
                <a:tab pos="4765040" algn="l"/>
                <a:tab pos="5725160" algn="l"/>
                <a:tab pos="6234430" algn="l"/>
                <a:tab pos="6631940" algn="l"/>
                <a:tab pos="7397115" algn="l"/>
                <a:tab pos="7750809" algn="l"/>
              </a:tabLst>
            </a:pPr>
            <a:r>
              <a:rPr sz="2000" spc="-10" dirty="0">
                <a:solidFill>
                  <a:srgbClr val="001F5F"/>
                </a:solidFill>
                <a:latin typeface="Times New Roman"/>
                <a:cs typeface="Times New Roman"/>
              </a:rPr>
              <a:t>There</a:t>
            </a:r>
            <a:r>
              <a:rPr sz="2000" dirty="0">
                <a:solidFill>
                  <a:srgbClr val="001F5F"/>
                </a:solidFill>
                <a:latin typeface="Times New Roman"/>
                <a:cs typeface="Times New Roman"/>
              </a:rPr>
              <a:t>	</a:t>
            </a:r>
            <a:r>
              <a:rPr sz="2000" spc="-25" dirty="0">
                <a:solidFill>
                  <a:srgbClr val="001F5F"/>
                </a:solidFill>
                <a:latin typeface="Times New Roman"/>
                <a:cs typeface="Times New Roman"/>
              </a:rPr>
              <a:t>is</a:t>
            </a:r>
            <a:r>
              <a:rPr sz="2000" dirty="0">
                <a:solidFill>
                  <a:srgbClr val="001F5F"/>
                </a:solidFill>
                <a:latin typeface="Times New Roman"/>
                <a:cs typeface="Times New Roman"/>
              </a:rPr>
              <a:t>	</a:t>
            </a:r>
            <a:r>
              <a:rPr sz="2000" spc="-25" dirty="0">
                <a:solidFill>
                  <a:srgbClr val="001F5F"/>
                </a:solidFill>
                <a:latin typeface="Times New Roman"/>
                <a:cs typeface="Times New Roman"/>
              </a:rPr>
              <a:t>no</a:t>
            </a:r>
            <a:r>
              <a:rPr sz="2000" dirty="0">
                <a:solidFill>
                  <a:srgbClr val="001F5F"/>
                </a:solidFill>
                <a:latin typeface="Times New Roman"/>
                <a:cs typeface="Times New Roman"/>
              </a:rPr>
              <a:t>	</a:t>
            </a:r>
            <a:r>
              <a:rPr sz="2000" spc="-10" dirty="0">
                <a:solidFill>
                  <a:srgbClr val="001F5F"/>
                </a:solidFill>
                <a:latin typeface="Times New Roman"/>
                <a:cs typeface="Times New Roman"/>
              </a:rPr>
              <a:t>immediate</a:t>
            </a:r>
            <a:r>
              <a:rPr sz="2000" dirty="0">
                <a:solidFill>
                  <a:srgbClr val="001F5F"/>
                </a:solidFill>
                <a:latin typeface="Times New Roman"/>
                <a:cs typeface="Times New Roman"/>
              </a:rPr>
              <a:t>	</a:t>
            </a:r>
            <a:r>
              <a:rPr sz="2000" spc="-10" dirty="0">
                <a:solidFill>
                  <a:srgbClr val="001F5F"/>
                </a:solidFill>
                <a:latin typeface="Times New Roman"/>
                <a:cs typeface="Times New Roman"/>
              </a:rPr>
              <a:t>need,</a:t>
            </a:r>
            <a:r>
              <a:rPr sz="2000" dirty="0">
                <a:solidFill>
                  <a:srgbClr val="001F5F"/>
                </a:solidFill>
                <a:latin typeface="Times New Roman"/>
                <a:cs typeface="Times New Roman"/>
              </a:rPr>
              <a:t>	</a:t>
            </a:r>
            <a:r>
              <a:rPr sz="2000" spc="-25" dirty="0">
                <a:solidFill>
                  <a:srgbClr val="001F5F"/>
                </a:solidFill>
                <a:latin typeface="Times New Roman"/>
                <a:cs typeface="Times New Roman"/>
              </a:rPr>
              <a:t>but</a:t>
            </a:r>
            <a:r>
              <a:rPr sz="2000" dirty="0">
                <a:solidFill>
                  <a:srgbClr val="001F5F"/>
                </a:solidFill>
                <a:latin typeface="Times New Roman"/>
                <a:cs typeface="Times New Roman"/>
              </a:rPr>
              <a:t>	</a:t>
            </a:r>
            <a:r>
              <a:rPr sz="2000" spc="-25" dirty="0">
                <a:solidFill>
                  <a:srgbClr val="001F5F"/>
                </a:solidFill>
                <a:latin typeface="Times New Roman"/>
                <a:cs typeface="Times New Roman"/>
              </a:rPr>
              <a:t>new</a:t>
            </a:r>
            <a:r>
              <a:rPr sz="2000" dirty="0">
                <a:solidFill>
                  <a:srgbClr val="001F5F"/>
                </a:solidFill>
                <a:latin typeface="Times New Roman"/>
                <a:cs typeface="Times New Roman"/>
              </a:rPr>
              <a:t>	</a:t>
            </a:r>
            <a:r>
              <a:rPr sz="2000" spc="-10" dirty="0">
                <a:solidFill>
                  <a:srgbClr val="001F5F"/>
                </a:solidFill>
                <a:latin typeface="Times New Roman"/>
                <a:cs typeface="Times New Roman"/>
              </a:rPr>
              <a:t>theories</a:t>
            </a:r>
            <a:r>
              <a:rPr sz="2000" dirty="0">
                <a:solidFill>
                  <a:srgbClr val="001F5F"/>
                </a:solidFill>
                <a:latin typeface="Times New Roman"/>
                <a:cs typeface="Times New Roman"/>
              </a:rPr>
              <a:t>	</a:t>
            </a:r>
            <a:r>
              <a:rPr sz="2000" spc="-25" dirty="0">
                <a:solidFill>
                  <a:srgbClr val="001F5F"/>
                </a:solidFill>
                <a:latin typeface="Times New Roman"/>
                <a:cs typeface="Times New Roman"/>
              </a:rPr>
              <a:t>can</a:t>
            </a:r>
            <a:r>
              <a:rPr sz="2000" dirty="0">
                <a:solidFill>
                  <a:srgbClr val="001F5F"/>
                </a:solidFill>
                <a:latin typeface="Times New Roman"/>
                <a:cs typeface="Times New Roman"/>
              </a:rPr>
              <a:t>	</a:t>
            </a:r>
            <a:r>
              <a:rPr sz="2000" spc="-25" dirty="0">
                <a:solidFill>
                  <a:srgbClr val="001F5F"/>
                </a:solidFill>
                <a:latin typeface="Times New Roman"/>
                <a:cs typeface="Times New Roman"/>
              </a:rPr>
              <a:t>be</a:t>
            </a:r>
            <a:r>
              <a:rPr sz="2000" dirty="0">
                <a:solidFill>
                  <a:srgbClr val="001F5F"/>
                </a:solidFill>
                <a:latin typeface="Times New Roman"/>
                <a:cs typeface="Times New Roman"/>
              </a:rPr>
              <a:t>	</a:t>
            </a:r>
            <a:r>
              <a:rPr sz="2000" spc="-10" dirty="0">
                <a:solidFill>
                  <a:srgbClr val="001F5F"/>
                </a:solidFill>
                <a:latin typeface="Times New Roman"/>
                <a:cs typeface="Times New Roman"/>
              </a:rPr>
              <a:t>added</a:t>
            </a:r>
            <a:r>
              <a:rPr sz="2000" dirty="0">
                <a:solidFill>
                  <a:srgbClr val="001F5F"/>
                </a:solidFill>
                <a:latin typeface="Times New Roman"/>
                <a:cs typeface="Times New Roman"/>
              </a:rPr>
              <a:t>	</a:t>
            </a:r>
            <a:r>
              <a:rPr sz="2000" spc="-25" dirty="0">
                <a:solidFill>
                  <a:srgbClr val="001F5F"/>
                </a:solidFill>
                <a:latin typeface="Times New Roman"/>
                <a:cs typeface="Times New Roman"/>
              </a:rPr>
              <a:t>to</a:t>
            </a:r>
            <a:r>
              <a:rPr sz="2000" dirty="0">
                <a:solidFill>
                  <a:srgbClr val="001F5F"/>
                </a:solidFill>
                <a:latin typeface="Times New Roman"/>
                <a:cs typeface="Times New Roman"/>
              </a:rPr>
              <a:t>	</a:t>
            </a:r>
            <a:r>
              <a:rPr sz="2000" spc="-25" dirty="0">
                <a:solidFill>
                  <a:srgbClr val="001F5F"/>
                </a:solidFill>
                <a:latin typeface="Times New Roman"/>
                <a:cs typeface="Times New Roman"/>
              </a:rPr>
              <a:t>the </a:t>
            </a:r>
            <a:r>
              <a:rPr sz="2000" dirty="0">
                <a:solidFill>
                  <a:srgbClr val="001F5F"/>
                </a:solidFill>
                <a:latin typeface="Times New Roman"/>
                <a:cs typeface="Times New Roman"/>
              </a:rPr>
              <a:t>knowledge</a:t>
            </a:r>
            <a:r>
              <a:rPr sz="2000" spc="-45" dirty="0">
                <a:solidFill>
                  <a:srgbClr val="001F5F"/>
                </a:solidFill>
                <a:latin typeface="Times New Roman"/>
                <a:cs typeface="Times New Roman"/>
              </a:rPr>
              <a:t> </a:t>
            </a:r>
            <a:r>
              <a:rPr sz="2000" spc="-10" dirty="0">
                <a:solidFill>
                  <a:srgbClr val="001F5F"/>
                </a:solidFill>
                <a:latin typeface="Times New Roman"/>
                <a:cs typeface="Times New Roman"/>
              </a:rPr>
              <a:t>cluster.</a:t>
            </a:r>
            <a:endParaRPr sz="2000">
              <a:latin typeface="Times New Roman"/>
              <a:cs typeface="Times New Roman"/>
            </a:endParaRPr>
          </a:p>
          <a:p>
            <a:pPr marL="285115" marR="5080" indent="-273050">
              <a:lnSpc>
                <a:spcPct val="150000"/>
              </a:lnSpc>
              <a:spcBef>
                <a:spcPts val="490"/>
              </a:spcBef>
              <a:buClr>
                <a:srgbClr val="C00000"/>
              </a:buClr>
              <a:buSzPct val="85000"/>
              <a:buFont typeface="Wingdings 2"/>
              <a:buChar char=""/>
              <a:tabLst>
                <a:tab pos="285115" algn="l"/>
                <a:tab pos="871855" algn="l"/>
                <a:tab pos="1442085" algn="l"/>
                <a:tab pos="1788160" algn="l"/>
                <a:tab pos="2768600" algn="l"/>
                <a:tab pos="3338195" algn="l"/>
                <a:tab pos="4008754" algn="l"/>
                <a:tab pos="5085080" algn="l"/>
                <a:tab pos="5545455" algn="l"/>
                <a:tab pos="6115050" algn="l"/>
                <a:tab pos="6572250" algn="l"/>
                <a:tab pos="7186930" algn="l"/>
              </a:tabLst>
            </a:pPr>
            <a:r>
              <a:rPr sz="2000" spc="-20" dirty="0">
                <a:solidFill>
                  <a:srgbClr val="001F5F"/>
                </a:solidFill>
                <a:latin typeface="Times New Roman"/>
                <a:cs typeface="Times New Roman"/>
              </a:rPr>
              <a:t>This</a:t>
            </a:r>
            <a:r>
              <a:rPr sz="2000" dirty="0">
                <a:solidFill>
                  <a:srgbClr val="001F5F"/>
                </a:solidFill>
                <a:latin typeface="Times New Roman"/>
                <a:cs typeface="Times New Roman"/>
              </a:rPr>
              <a:t>	</a:t>
            </a:r>
            <a:r>
              <a:rPr sz="2000" spc="-20" dirty="0">
                <a:solidFill>
                  <a:srgbClr val="001F5F"/>
                </a:solidFill>
                <a:latin typeface="Times New Roman"/>
                <a:cs typeface="Times New Roman"/>
              </a:rPr>
              <a:t>type</a:t>
            </a:r>
            <a:r>
              <a:rPr sz="2000" dirty="0">
                <a:solidFill>
                  <a:srgbClr val="001F5F"/>
                </a:solidFill>
                <a:latin typeface="Times New Roman"/>
                <a:cs typeface="Times New Roman"/>
              </a:rPr>
              <a:t>	</a:t>
            </a:r>
            <a:r>
              <a:rPr sz="2000" spc="-25" dirty="0">
                <a:solidFill>
                  <a:srgbClr val="001F5F"/>
                </a:solidFill>
                <a:latin typeface="Times New Roman"/>
                <a:cs typeface="Times New Roman"/>
              </a:rPr>
              <a:t>of</a:t>
            </a:r>
            <a:r>
              <a:rPr sz="2000" dirty="0">
                <a:solidFill>
                  <a:srgbClr val="001F5F"/>
                </a:solidFill>
                <a:latin typeface="Times New Roman"/>
                <a:cs typeface="Times New Roman"/>
              </a:rPr>
              <a:t>	</a:t>
            </a:r>
            <a:r>
              <a:rPr sz="2000" spc="-10" dirty="0">
                <a:solidFill>
                  <a:srgbClr val="001F5F"/>
                </a:solidFill>
                <a:latin typeface="Times New Roman"/>
                <a:cs typeface="Times New Roman"/>
              </a:rPr>
              <a:t>research</a:t>
            </a:r>
            <a:r>
              <a:rPr sz="2000" dirty="0">
                <a:solidFill>
                  <a:srgbClr val="001F5F"/>
                </a:solidFill>
                <a:latin typeface="Times New Roman"/>
                <a:cs typeface="Times New Roman"/>
              </a:rPr>
              <a:t>	</a:t>
            </a:r>
            <a:r>
              <a:rPr sz="2000" spc="-25" dirty="0">
                <a:solidFill>
                  <a:srgbClr val="001F5F"/>
                </a:solidFill>
                <a:latin typeface="Times New Roman"/>
                <a:cs typeface="Times New Roman"/>
              </a:rPr>
              <a:t>may</a:t>
            </a:r>
            <a:r>
              <a:rPr sz="2000" dirty="0">
                <a:solidFill>
                  <a:srgbClr val="001F5F"/>
                </a:solidFill>
                <a:latin typeface="Times New Roman"/>
                <a:cs typeface="Times New Roman"/>
              </a:rPr>
              <a:t>	</a:t>
            </a:r>
            <a:r>
              <a:rPr sz="2000" spc="-10" dirty="0">
                <a:solidFill>
                  <a:srgbClr val="001F5F"/>
                </a:solidFill>
                <a:latin typeface="Times New Roman"/>
                <a:cs typeface="Times New Roman"/>
              </a:rPr>
              <a:t>solve</a:t>
            </a:r>
            <a:r>
              <a:rPr sz="2000" dirty="0">
                <a:solidFill>
                  <a:srgbClr val="001F5F"/>
                </a:solidFill>
                <a:latin typeface="Times New Roman"/>
                <a:cs typeface="Times New Roman"/>
              </a:rPr>
              <a:t>	</a:t>
            </a:r>
            <a:r>
              <a:rPr sz="2000" spc="-10" dirty="0">
                <a:solidFill>
                  <a:srgbClr val="001F5F"/>
                </a:solidFill>
                <a:latin typeface="Times New Roman"/>
                <a:cs typeface="Times New Roman"/>
              </a:rPr>
              <a:t>problems</a:t>
            </a:r>
            <a:r>
              <a:rPr sz="2000" dirty="0">
                <a:solidFill>
                  <a:srgbClr val="001F5F"/>
                </a:solidFill>
                <a:latin typeface="Times New Roman"/>
                <a:cs typeface="Times New Roman"/>
              </a:rPr>
              <a:t>	</a:t>
            </a:r>
            <a:r>
              <a:rPr sz="2000" spc="-25" dirty="0">
                <a:solidFill>
                  <a:srgbClr val="001F5F"/>
                </a:solidFill>
                <a:latin typeface="Times New Roman"/>
                <a:cs typeface="Times New Roman"/>
              </a:rPr>
              <a:t>but</a:t>
            </a:r>
            <a:r>
              <a:rPr sz="2000" dirty="0">
                <a:solidFill>
                  <a:srgbClr val="001F5F"/>
                </a:solidFill>
                <a:latin typeface="Times New Roman"/>
                <a:cs typeface="Times New Roman"/>
              </a:rPr>
              <a:t>	</a:t>
            </a:r>
            <a:r>
              <a:rPr sz="2000" spc="-25" dirty="0">
                <a:solidFill>
                  <a:srgbClr val="001F5F"/>
                </a:solidFill>
                <a:latin typeface="Times New Roman"/>
                <a:cs typeface="Times New Roman"/>
              </a:rPr>
              <a:t>may</a:t>
            </a:r>
            <a:r>
              <a:rPr sz="2000" dirty="0">
                <a:solidFill>
                  <a:srgbClr val="001F5F"/>
                </a:solidFill>
                <a:latin typeface="Times New Roman"/>
                <a:cs typeface="Times New Roman"/>
              </a:rPr>
              <a:t>	</a:t>
            </a:r>
            <a:r>
              <a:rPr sz="2000" spc="-25" dirty="0">
                <a:solidFill>
                  <a:srgbClr val="001F5F"/>
                </a:solidFill>
                <a:latin typeface="Times New Roman"/>
                <a:cs typeface="Times New Roman"/>
              </a:rPr>
              <a:t>not</a:t>
            </a:r>
            <a:r>
              <a:rPr sz="2000" dirty="0">
                <a:solidFill>
                  <a:srgbClr val="001F5F"/>
                </a:solidFill>
                <a:latin typeface="Times New Roman"/>
                <a:cs typeface="Times New Roman"/>
              </a:rPr>
              <a:t>	</a:t>
            </a:r>
            <a:r>
              <a:rPr sz="2000" spc="-20" dirty="0">
                <a:solidFill>
                  <a:srgbClr val="001F5F"/>
                </a:solidFill>
                <a:latin typeface="Times New Roman"/>
                <a:cs typeface="Times New Roman"/>
              </a:rPr>
              <a:t>have</a:t>
            </a:r>
            <a:r>
              <a:rPr sz="2000" dirty="0">
                <a:solidFill>
                  <a:srgbClr val="001F5F"/>
                </a:solidFill>
                <a:latin typeface="Times New Roman"/>
                <a:cs typeface="Times New Roman"/>
              </a:rPr>
              <a:t>	</a:t>
            </a:r>
            <a:r>
              <a:rPr sz="2000" spc="-10" dirty="0">
                <a:solidFill>
                  <a:srgbClr val="001F5F"/>
                </a:solidFill>
                <a:latin typeface="Times New Roman"/>
                <a:cs typeface="Times New Roman"/>
              </a:rPr>
              <a:t>practical applications.</a:t>
            </a:r>
            <a:endParaRPr sz="2000">
              <a:latin typeface="Times New Roman"/>
              <a:cs typeface="Times New Roman"/>
            </a:endParaRPr>
          </a:p>
        </p:txBody>
      </p:sp>
      <p:sp>
        <p:nvSpPr>
          <p:cNvPr id="9" name="object 9"/>
          <p:cNvSpPr txBox="1"/>
          <p:nvPr/>
        </p:nvSpPr>
        <p:spPr>
          <a:xfrm>
            <a:off x="7824596" y="4110610"/>
            <a:ext cx="2232660" cy="330835"/>
          </a:xfrm>
          <a:prstGeom prst="rect">
            <a:avLst/>
          </a:prstGeom>
        </p:spPr>
        <p:txBody>
          <a:bodyPr vert="horz" wrap="square" lIns="0" tIns="12700" rIns="0" bIns="0" rtlCol="0">
            <a:spAutoFit/>
          </a:bodyPr>
          <a:lstStyle/>
          <a:p>
            <a:pPr marL="12700">
              <a:spcBef>
                <a:spcPts val="100"/>
              </a:spcBef>
              <a:tabLst>
                <a:tab pos="414655" algn="l"/>
                <a:tab pos="1381125" algn="l"/>
                <a:tab pos="1768475" algn="l"/>
              </a:tabLst>
            </a:pPr>
            <a:r>
              <a:rPr sz="2000" spc="-25" dirty="0">
                <a:solidFill>
                  <a:srgbClr val="001F5F"/>
                </a:solidFill>
                <a:latin typeface="Times New Roman"/>
                <a:cs typeface="Times New Roman"/>
              </a:rPr>
              <a:t>or</a:t>
            </a:r>
            <a:r>
              <a:rPr sz="2000" dirty="0">
                <a:solidFill>
                  <a:srgbClr val="001F5F"/>
                </a:solidFill>
                <a:latin typeface="Times New Roman"/>
                <a:cs typeface="Times New Roman"/>
              </a:rPr>
              <a:t>	</a:t>
            </a:r>
            <a:r>
              <a:rPr sz="2000" spc="-10" dirty="0">
                <a:solidFill>
                  <a:srgbClr val="001F5F"/>
                </a:solidFill>
                <a:latin typeface="Times New Roman"/>
                <a:cs typeface="Times New Roman"/>
              </a:rPr>
              <a:t>relating</a:t>
            </a:r>
            <a:r>
              <a:rPr sz="2000" dirty="0">
                <a:solidFill>
                  <a:srgbClr val="001F5F"/>
                </a:solidFill>
                <a:latin typeface="Times New Roman"/>
                <a:cs typeface="Times New Roman"/>
              </a:rPr>
              <a:t>	</a:t>
            </a:r>
            <a:r>
              <a:rPr sz="2000" spc="-25" dirty="0">
                <a:solidFill>
                  <a:srgbClr val="001F5F"/>
                </a:solidFill>
                <a:latin typeface="Times New Roman"/>
                <a:cs typeface="Times New Roman"/>
              </a:rPr>
              <a:t>to</a:t>
            </a:r>
            <a:r>
              <a:rPr sz="2000" dirty="0">
                <a:solidFill>
                  <a:srgbClr val="001F5F"/>
                </a:solidFill>
                <a:latin typeface="Times New Roman"/>
                <a:cs typeface="Times New Roman"/>
              </a:rPr>
              <a:t>	</a:t>
            </a:r>
            <a:r>
              <a:rPr sz="2000" spc="-20" dirty="0">
                <a:solidFill>
                  <a:srgbClr val="001F5F"/>
                </a:solidFill>
                <a:latin typeface="Times New Roman"/>
                <a:cs typeface="Times New Roman"/>
              </a:rPr>
              <a:t>pure</a:t>
            </a:r>
            <a:endParaRPr sz="2000">
              <a:latin typeface="Times New Roman"/>
              <a:cs typeface="Times New Roman"/>
            </a:endParaRPr>
          </a:p>
        </p:txBody>
      </p:sp>
      <p:sp>
        <p:nvSpPr>
          <p:cNvPr id="10" name="object 10"/>
          <p:cNvSpPr txBox="1"/>
          <p:nvPr/>
        </p:nvSpPr>
        <p:spPr>
          <a:xfrm>
            <a:off x="1983741" y="3589401"/>
            <a:ext cx="5673725" cy="1253356"/>
          </a:xfrm>
          <a:prstGeom prst="rect">
            <a:avLst/>
          </a:prstGeom>
        </p:spPr>
        <p:txBody>
          <a:bodyPr vert="horz" wrap="square" lIns="0" tIns="13335" rIns="0" bIns="0" rtlCol="0">
            <a:spAutoFit/>
          </a:bodyPr>
          <a:lstStyle/>
          <a:p>
            <a:pPr marL="285115" indent="-272415">
              <a:spcBef>
                <a:spcPts val="105"/>
              </a:spcBef>
              <a:buClr>
                <a:srgbClr val="C00000"/>
              </a:buClr>
              <a:buSzPct val="85000"/>
              <a:buFont typeface="Wingdings 2"/>
              <a:buChar char=""/>
              <a:tabLst>
                <a:tab pos="285115" algn="l"/>
              </a:tabLst>
            </a:pPr>
            <a:r>
              <a:rPr sz="2000" dirty="0">
                <a:solidFill>
                  <a:srgbClr val="001F5F"/>
                </a:solidFill>
                <a:latin typeface="Times New Roman"/>
                <a:cs typeface="Times New Roman"/>
              </a:rPr>
              <a:t>It</a:t>
            </a:r>
            <a:r>
              <a:rPr sz="2000" spc="-20" dirty="0">
                <a:solidFill>
                  <a:srgbClr val="001F5F"/>
                </a:solidFill>
                <a:latin typeface="Times New Roman"/>
                <a:cs typeface="Times New Roman"/>
              </a:rPr>
              <a:t> </a:t>
            </a:r>
            <a:r>
              <a:rPr sz="2000" dirty="0">
                <a:solidFill>
                  <a:srgbClr val="001F5F"/>
                </a:solidFill>
                <a:latin typeface="Times New Roman"/>
                <a:cs typeface="Times New Roman"/>
              </a:rPr>
              <a:t>has</a:t>
            </a:r>
            <a:r>
              <a:rPr sz="2000" spc="-15" dirty="0">
                <a:solidFill>
                  <a:srgbClr val="001F5F"/>
                </a:solidFill>
                <a:latin typeface="Times New Roman"/>
                <a:cs typeface="Times New Roman"/>
              </a:rPr>
              <a:t> </a:t>
            </a:r>
            <a:r>
              <a:rPr sz="2000" dirty="0">
                <a:solidFill>
                  <a:srgbClr val="001F5F"/>
                </a:solidFill>
                <a:latin typeface="Times New Roman"/>
                <a:cs typeface="Times New Roman"/>
              </a:rPr>
              <a:t>a broader</a:t>
            </a:r>
            <a:r>
              <a:rPr sz="2000" spc="-40" dirty="0">
                <a:solidFill>
                  <a:srgbClr val="001F5F"/>
                </a:solidFill>
                <a:latin typeface="Times New Roman"/>
                <a:cs typeface="Times New Roman"/>
              </a:rPr>
              <a:t> </a:t>
            </a:r>
            <a:r>
              <a:rPr sz="2000" dirty="0">
                <a:solidFill>
                  <a:srgbClr val="001F5F"/>
                </a:solidFill>
                <a:latin typeface="Times New Roman"/>
                <a:cs typeface="Times New Roman"/>
              </a:rPr>
              <a:t>scope</a:t>
            </a:r>
            <a:r>
              <a:rPr sz="2000" spc="-20" dirty="0">
                <a:solidFill>
                  <a:srgbClr val="001F5F"/>
                </a:solidFill>
                <a:latin typeface="Times New Roman"/>
                <a:cs typeface="Times New Roman"/>
              </a:rPr>
              <a:t> </a:t>
            </a:r>
            <a:r>
              <a:rPr sz="2000" dirty="0">
                <a:solidFill>
                  <a:srgbClr val="001F5F"/>
                </a:solidFill>
                <a:latin typeface="Times New Roman"/>
                <a:cs typeface="Times New Roman"/>
              </a:rPr>
              <a:t>compared</a:t>
            </a:r>
            <a:r>
              <a:rPr sz="2000" spc="-15" dirty="0">
                <a:solidFill>
                  <a:srgbClr val="001F5F"/>
                </a:solidFill>
                <a:latin typeface="Times New Roman"/>
                <a:cs typeface="Times New Roman"/>
              </a:rPr>
              <a:t> </a:t>
            </a:r>
            <a:r>
              <a:rPr sz="2000" dirty="0">
                <a:solidFill>
                  <a:srgbClr val="001F5F"/>
                </a:solidFill>
                <a:latin typeface="Times New Roman"/>
                <a:cs typeface="Times New Roman"/>
              </a:rPr>
              <a:t>to</a:t>
            </a:r>
            <a:r>
              <a:rPr sz="2000" spc="-15" dirty="0">
                <a:solidFill>
                  <a:srgbClr val="001F5F"/>
                </a:solidFill>
                <a:latin typeface="Times New Roman"/>
                <a:cs typeface="Times New Roman"/>
              </a:rPr>
              <a:t> </a:t>
            </a:r>
            <a:r>
              <a:rPr sz="2000" dirty="0">
                <a:solidFill>
                  <a:srgbClr val="001F5F"/>
                </a:solidFill>
                <a:latin typeface="Times New Roman"/>
                <a:cs typeface="Times New Roman"/>
              </a:rPr>
              <a:t>applied</a:t>
            </a:r>
            <a:r>
              <a:rPr sz="2000" spc="-15" dirty="0">
                <a:solidFill>
                  <a:srgbClr val="001F5F"/>
                </a:solidFill>
                <a:latin typeface="Times New Roman"/>
                <a:cs typeface="Times New Roman"/>
              </a:rPr>
              <a:t> </a:t>
            </a:r>
            <a:r>
              <a:rPr sz="2000" spc="-10" dirty="0">
                <a:solidFill>
                  <a:srgbClr val="001F5F"/>
                </a:solidFill>
                <a:latin typeface="Times New Roman"/>
                <a:cs typeface="Times New Roman"/>
              </a:rPr>
              <a:t>research.</a:t>
            </a:r>
            <a:endParaRPr sz="2000">
              <a:latin typeface="Times New Roman"/>
              <a:cs typeface="Times New Roman"/>
            </a:endParaRPr>
          </a:p>
          <a:p>
            <a:pPr marL="285115" marR="5080" indent="-273050">
              <a:lnSpc>
                <a:spcPct val="150000"/>
              </a:lnSpc>
              <a:spcBef>
                <a:spcPts val="500"/>
              </a:spcBef>
              <a:buClr>
                <a:srgbClr val="C00000"/>
              </a:buClr>
              <a:buSzPct val="85000"/>
              <a:buFont typeface="Wingdings 2"/>
              <a:buChar char=""/>
              <a:tabLst>
                <a:tab pos="285115" algn="l"/>
                <a:tab pos="1408430" algn="l"/>
                <a:tab pos="2727325" algn="l"/>
                <a:tab pos="3454400" algn="l"/>
                <a:tab pos="4348480" algn="l"/>
              </a:tabLst>
            </a:pPr>
            <a:r>
              <a:rPr sz="2000" spc="-10" dirty="0">
                <a:solidFill>
                  <a:srgbClr val="001F5F"/>
                </a:solidFill>
                <a:latin typeface="Times New Roman"/>
                <a:cs typeface="Times New Roman"/>
              </a:rPr>
              <a:t>Research</a:t>
            </a:r>
            <a:r>
              <a:rPr sz="2000" dirty="0">
                <a:solidFill>
                  <a:srgbClr val="001F5F"/>
                </a:solidFill>
                <a:latin typeface="Times New Roman"/>
                <a:cs typeface="Times New Roman"/>
              </a:rPr>
              <a:t>	</a:t>
            </a:r>
            <a:r>
              <a:rPr sz="2000" spc="-10" dirty="0">
                <a:solidFill>
                  <a:srgbClr val="001F5F"/>
                </a:solidFill>
                <a:latin typeface="Times New Roman"/>
                <a:cs typeface="Times New Roman"/>
              </a:rPr>
              <a:t>concerning</a:t>
            </a:r>
            <a:r>
              <a:rPr sz="2000" dirty="0">
                <a:solidFill>
                  <a:srgbClr val="001F5F"/>
                </a:solidFill>
                <a:latin typeface="Times New Roman"/>
                <a:cs typeface="Times New Roman"/>
              </a:rPr>
              <a:t>	</a:t>
            </a:r>
            <a:r>
              <a:rPr sz="2000" spc="-20" dirty="0">
                <a:solidFill>
                  <a:srgbClr val="001F5F"/>
                </a:solidFill>
                <a:latin typeface="Times New Roman"/>
                <a:cs typeface="Times New Roman"/>
              </a:rPr>
              <a:t>some</a:t>
            </a:r>
            <a:r>
              <a:rPr sz="2000" dirty="0">
                <a:solidFill>
                  <a:srgbClr val="001F5F"/>
                </a:solidFill>
                <a:latin typeface="Times New Roman"/>
                <a:cs typeface="Times New Roman"/>
              </a:rPr>
              <a:t>	</a:t>
            </a:r>
            <a:r>
              <a:rPr sz="2000" spc="-10" dirty="0">
                <a:solidFill>
                  <a:srgbClr val="001F5F"/>
                </a:solidFill>
                <a:latin typeface="Times New Roman"/>
                <a:cs typeface="Times New Roman"/>
              </a:rPr>
              <a:t>natural</a:t>
            </a:r>
            <a:r>
              <a:rPr sz="2000" dirty="0">
                <a:solidFill>
                  <a:srgbClr val="001F5F"/>
                </a:solidFill>
                <a:latin typeface="Times New Roman"/>
                <a:cs typeface="Times New Roman"/>
              </a:rPr>
              <a:t>	</a:t>
            </a:r>
            <a:r>
              <a:rPr sz="2000" spc="-10" dirty="0">
                <a:solidFill>
                  <a:srgbClr val="001F5F"/>
                </a:solidFill>
                <a:latin typeface="Times New Roman"/>
                <a:cs typeface="Times New Roman"/>
              </a:rPr>
              <a:t>phenomenon </a:t>
            </a:r>
            <a:r>
              <a:rPr sz="2000" dirty="0">
                <a:solidFill>
                  <a:srgbClr val="001F5F"/>
                </a:solidFill>
                <a:latin typeface="Times New Roman"/>
                <a:cs typeface="Times New Roman"/>
              </a:rPr>
              <a:t>mathematics</a:t>
            </a:r>
            <a:r>
              <a:rPr sz="2000" spc="-35" dirty="0">
                <a:solidFill>
                  <a:srgbClr val="001F5F"/>
                </a:solidFill>
                <a:latin typeface="Times New Roman"/>
                <a:cs typeface="Times New Roman"/>
              </a:rPr>
              <a:t> </a:t>
            </a:r>
            <a:r>
              <a:rPr sz="2000" dirty="0">
                <a:solidFill>
                  <a:srgbClr val="001F5F"/>
                </a:solidFill>
                <a:latin typeface="Times New Roman"/>
                <a:cs typeface="Times New Roman"/>
              </a:rPr>
              <a:t>are</a:t>
            </a:r>
            <a:r>
              <a:rPr sz="2000" spc="-45" dirty="0">
                <a:solidFill>
                  <a:srgbClr val="001F5F"/>
                </a:solidFill>
                <a:latin typeface="Times New Roman"/>
                <a:cs typeface="Times New Roman"/>
              </a:rPr>
              <a:t> </a:t>
            </a:r>
            <a:r>
              <a:rPr sz="2000" spc="-10" dirty="0">
                <a:solidFill>
                  <a:srgbClr val="001F5F"/>
                </a:solidFill>
                <a:latin typeface="Times New Roman"/>
                <a:cs typeface="Times New Roman"/>
              </a:rPr>
              <a:t>examples.</a:t>
            </a:r>
            <a:endParaRPr sz="2000">
              <a:latin typeface="Times New Roman"/>
              <a:cs typeface="Times New Roman"/>
            </a:endParaRPr>
          </a:p>
        </p:txBody>
      </p:sp>
      <p:sp>
        <p:nvSpPr>
          <p:cNvPr id="11" name="object 11"/>
          <p:cNvSpPr txBox="1"/>
          <p:nvPr/>
        </p:nvSpPr>
        <p:spPr>
          <a:xfrm>
            <a:off x="1983741" y="5087189"/>
            <a:ext cx="6190615" cy="852805"/>
          </a:xfrm>
          <a:prstGeom prst="rect">
            <a:avLst/>
          </a:prstGeom>
        </p:spPr>
        <p:txBody>
          <a:bodyPr vert="horz" wrap="square" lIns="0" tIns="13335" rIns="0" bIns="0" rtlCol="0">
            <a:spAutoFit/>
          </a:bodyPr>
          <a:lstStyle/>
          <a:p>
            <a:pPr marL="12700">
              <a:spcBef>
                <a:spcPts val="105"/>
              </a:spcBef>
            </a:pPr>
            <a:r>
              <a:rPr sz="2000" b="1" i="1" dirty="0">
                <a:solidFill>
                  <a:srgbClr val="C00000"/>
                </a:solidFill>
                <a:latin typeface="Times New Roman"/>
                <a:cs typeface="Times New Roman"/>
              </a:rPr>
              <a:t>Example:</a:t>
            </a:r>
            <a:r>
              <a:rPr sz="2000" b="1" i="1" spc="-65" dirty="0">
                <a:solidFill>
                  <a:srgbClr val="C00000"/>
                </a:solidFill>
                <a:latin typeface="Times New Roman"/>
                <a:cs typeface="Times New Roman"/>
              </a:rPr>
              <a:t> </a:t>
            </a:r>
            <a:r>
              <a:rPr sz="2000" spc="-10" dirty="0">
                <a:solidFill>
                  <a:srgbClr val="001F5F"/>
                </a:solidFill>
                <a:latin typeface="Times New Roman"/>
                <a:cs typeface="Times New Roman"/>
              </a:rPr>
              <a:t>Newton’s</a:t>
            </a:r>
            <a:r>
              <a:rPr sz="2000" spc="-45" dirty="0">
                <a:solidFill>
                  <a:srgbClr val="001F5F"/>
                </a:solidFill>
                <a:latin typeface="Times New Roman"/>
                <a:cs typeface="Times New Roman"/>
              </a:rPr>
              <a:t> </a:t>
            </a:r>
            <a:r>
              <a:rPr sz="2000" dirty="0">
                <a:solidFill>
                  <a:srgbClr val="001F5F"/>
                </a:solidFill>
                <a:latin typeface="Times New Roman"/>
                <a:cs typeface="Times New Roman"/>
              </a:rPr>
              <a:t>laws</a:t>
            </a:r>
            <a:r>
              <a:rPr sz="2000" spc="-15" dirty="0">
                <a:solidFill>
                  <a:srgbClr val="001F5F"/>
                </a:solidFill>
                <a:latin typeface="Times New Roman"/>
                <a:cs typeface="Times New Roman"/>
              </a:rPr>
              <a:t> </a:t>
            </a:r>
            <a:r>
              <a:rPr sz="2000" dirty="0">
                <a:solidFill>
                  <a:srgbClr val="001F5F"/>
                </a:solidFill>
                <a:latin typeface="Times New Roman"/>
                <a:cs typeface="Times New Roman"/>
              </a:rPr>
              <a:t>of</a:t>
            </a:r>
            <a:r>
              <a:rPr sz="2000" spc="-30" dirty="0">
                <a:solidFill>
                  <a:srgbClr val="001F5F"/>
                </a:solidFill>
                <a:latin typeface="Times New Roman"/>
                <a:cs typeface="Times New Roman"/>
              </a:rPr>
              <a:t> </a:t>
            </a:r>
            <a:r>
              <a:rPr sz="2000" spc="-10" dirty="0">
                <a:solidFill>
                  <a:srgbClr val="001F5F"/>
                </a:solidFill>
                <a:latin typeface="Times New Roman"/>
                <a:cs typeface="Times New Roman"/>
              </a:rPr>
              <a:t>motion.</a:t>
            </a:r>
            <a:endParaRPr sz="2000">
              <a:latin typeface="Times New Roman"/>
              <a:cs typeface="Times New Roman"/>
            </a:endParaRPr>
          </a:p>
          <a:p>
            <a:pPr marL="285115" indent="-272415">
              <a:spcBef>
                <a:spcPts val="1705"/>
              </a:spcBef>
              <a:buClr>
                <a:srgbClr val="C00000"/>
              </a:buClr>
              <a:buSzPct val="85000"/>
              <a:buFont typeface="Wingdings 2"/>
              <a:buChar char=""/>
              <a:tabLst>
                <a:tab pos="285115" algn="l"/>
              </a:tabLst>
            </a:pPr>
            <a:r>
              <a:rPr sz="2000" dirty="0">
                <a:solidFill>
                  <a:srgbClr val="001F5F"/>
                </a:solidFill>
                <a:latin typeface="Times New Roman"/>
                <a:cs typeface="Times New Roman"/>
              </a:rPr>
              <a:t>This</a:t>
            </a:r>
            <a:r>
              <a:rPr sz="2000" spc="-25" dirty="0">
                <a:solidFill>
                  <a:srgbClr val="001F5F"/>
                </a:solidFill>
                <a:latin typeface="Times New Roman"/>
                <a:cs typeface="Times New Roman"/>
              </a:rPr>
              <a:t> </a:t>
            </a:r>
            <a:r>
              <a:rPr sz="2000" dirty="0">
                <a:solidFill>
                  <a:srgbClr val="001F5F"/>
                </a:solidFill>
                <a:latin typeface="Times New Roman"/>
                <a:cs typeface="Times New Roman"/>
              </a:rPr>
              <a:t>has</a:t>
            </a:r>
            <a:r>
              <a:rPr sz="2000" spc="-5" dirty="0">
                <a:solidFill>
                  <a:srgbClr val="001F5F"/>
                </a:solidFill>
                <a:latin typeface="Times New Roman"/>
                <a:cs typeface="Times New Roman"/>
              </a:rPr>
              <a:t> </a:t>
            </a:r>
            <a:r>
              <a:rPr sz="2000" dirty="0">
                <a:solidFill>
                  <a:srgbClr val="001F5F"/>
                </a:solidFill>
                <a:latin typeface="Times New Roman"/>
                <a:cs typeface="Times New Roman"/>
              </a:rPr>
              <a:t>been</a:t>
            </a:r>
            <a:r>
              <a:rPr sz="2000" spc="-20" dirty="0">
                <a:solidFill>
                  <a:srgbClr val="001F5F"/>
                </a:solidFill>
                <a:latin typeface="Times New Roman"/>
                <a:cs typeface="Times New Roman"/>
              </a:rPr>
              <a:t> </a:t>
            </a:r>
            <a:r>
              <a:rPr sz="2000" dirty="0">
                <a:solidFill>
                  <a:srgbClr val="001F5F"/>
                </a:solidFill>
                <a:latin typeface="Times New Roman"/>
                <a:cs typeface="Times New Roman"/>
              </a:rPr>
              <a:t>applied</a:t>
            </a:r>
            <a:r>
              <a:rPr sz="2000" spc="-15" dirty="0">
                <a:solidFill>
                  <a:srgbClr val="001F5F"/>
                </a:solidFill>
                <a:latin typeface="Times New Roman"/>
                <a:cs typeface="Times New Roman"/>
              </a:rPr>
              <a:t> </a:t>
            </a:r>
            <a:r>
              <a:rPr sz="2000" dirty="0">
                <a:solidFill>
                  <a:srgbClr val="001F5F"/>
                </a:solidFill>
                <a:latin typeface="Times New Roman"/>
                <a:cs typeface="Times New Roman"/>
              </a:rPr>
              <a:t>in</a:t>
            </a:r>
            <a:r>
              <a:rPr sz="2000" spc="-20" dirty="0">
                <a:solidFill>
                  <a:srgbClr val="001F5F"/>
                </a:solidFill>
                <a:latin typeface="Times New Roman"/>
                <a:cs typeface="Times New Roman"/>
              </a:rPr>
              <a:t> </a:t>
            </a:r>
            <a:r>
              <a:rPr sz="2000" dirty="0">
                <a:solidFill>
                  <a:srgbClr val="001F5F"/>
                </a:solidFill>
                <a:latin typeface="Times New Roman"/>
                <a:cs typeface="Times New Roman"/>
              </a:rPr>
              <a:t>many</a:t>
            </a:r>
            <a:r>
              <a:rPr sz="2000" spc="15" dirty="0">
                <a:solidFill>
                  <a:srgbClr val="001F5F"/>
                </a:solidFill>
                <a:latin typeface="Times New Roman"/>
                <a:cs typeface="Times New Roman"/>
              </a:rPr>
              <a:t> </a:t>
            </a:r>
            <a:r>
              <a:rPr sz="2000" dirty="0">
                <a:solidFill>
                  <a:srgbClr val="001F5F"/>
                </a:solidFill>
                <a:latin typeface="Times New Roman"/>
                <a:cs typeface="Times New Roman"/>
              </a:rPr>
              <a:t>product</a:t>
            </a:r>
            <a:r>
              <a:rPr sz="2000" spc="-35" dirty="0">
                <a:solidFill>
                  <a:srgbClr val="001F5F"/>
                </a:solidFill>
                <a:latin typeface="Times New Roman"/>
                <a:cs typeface="Times New Roman"/>
              </a:rPr>
              <a:t> </a:t>
            </a:r>
            <a:r>
              <a:rPr sz="2000" dirty="0">
                <a:solidFill>
                  <a:srgbClr val="001F5F"/>
                </a:solidFill>
                <a:latin typeface="Times New Roman"/>
                <a:cs typeface="Times New Roman"/>
              </a:rPr>
              <a:t>design</a:t>
            </a:r>
            <a:r>
              <a:rPr sz="2000" spc="-25" dirty="0">
                <a:solidFill>
                  <a:srgbClr val="001F5F"/>
                </a:solidFill>
                <a:latin typeface="Times New Roman"/>
                <a:cs typeface="Times New Roman"/>
              </a:rPr>
              <a:t> </a:t>
            </a:r>
            <a:r>
              <a:rPr sz="2000" dirty="0">
                <a:solidFill>
                  <a:srgbClr val="001F5F"/>
                </a:solidFill>
                <a:latin typeface="Times New Roman"/>
                <a:cs typeface="Times New Roman"/>
              </a:rPr>
              <a:t>and</a:t>
            </a:r>
            <a:r>
              <a:rPr sz="2000" spc="-10" dirty="0">
                <a:solidFill>
                  <a:srgbClr val="001F5F"/>
                </a:solidFill>
                <a:latin typeface="Times New Roman"/>
                <a:cs typeface="Times New Roman"/>
              </a:rPr>
              <a:t> testing.</a:t>
            </a:r>
            <a:endParaRPr sz="2000">
              <a:latin typeface="Times New Roman"/>
              <a:cs typeface="Times New Roman"/>
            </a:endParaRPr>
          </a:p>
        </p:txBody>
      </p:sp>
      <p:pic>
        <p:nvPicPr>
          <p:cNvPr id="12" name="object 12"/>
          <p:cNvPicPr/>
          <p:nvPr/>
        </p:nvPicPr>
        <p:blipFill>
          <a:blip r:embed="rId4" cstate="print"/>
          <a:stretch>
            <a:fillRect/>
          </a:stretch>
        </p:blipFill>
        <p:spPr>
          <a:xfrm>
            <a:off x="1941918" y="417667"/>
            <a:ext cx="1831162" cy="536264"/>
          </a:xfrm>
          <a:prstGeom prst="rect">
            <a:avLst/>
          </a:prstGeom>
        </p:spPr>
      </p:pic>
      <p:sp>
        <p:nvSpPr>
          <p:cNvPr id="17" name="Slide Number Placeholder 16"/>
          <p:cNvSpPr>
            <a:spLocks noGrp="1"/>
          </p:cNvSpPr>
          <p:nvPr>
            <p:ph type="sldNum" sz="quarter" idx="7"/>
          </p:nvPr>
        </p:nvSpPr>
        <p:spPr>
          <a:xfrm>
            <a:off x="230428" y="6329531"/>
            <a:ext cx="299720" cy="227965"/>
          </a:xfrm>
          <a:prstGeom prst="rect">
            <a:avLst/>
          </a:prstGeom>
        </p:spPr>
        <p:txBody>
          <a:bodyPr wrap="square" lIns="0" tIns="0" rIns="0" bIns="0">
            <a:spAutoFit/>
          </a:bodyPr>
          <a:lstStyle>
            <a:defPPr>
              <a:defRPr kern="0"/>
            </a:defPPr>
            <a:lvl1pPr>
              <a:defRPr sz="1400" b="0" i="0">
                <a:solidFill>
                  <a:schemeClr val="bg1"/>
                </a:solidFill>
                <a:latin typeface="Franklin Gothic Book"/>
                <a:cs typeface="Franklin Gothic Book"/>
              </a:defRPr>
            </a:lvl1pPr>
          </a:lstStyle>
          <a:p>
            <a:pPr marL="38100">
              <a:lnSpc>
                <a:spcPts val="1664"/>
              </a:lnSpc>
            </a:pPr>
            <a:fld id="{81D60167-4931-47E6-BA6A-407CBD079E47}" type="slidenum">
              <a:rPr lang="en-IN" spc="-25" smtClean="0"/>
              <a:pPr marL="38100">
                <a:lnSpc>
                  <a:spcPts val="1664"/>
                </a:lnSpc>
              </a:pPr>
              <a:t>17</a:t>
            </a:fld>
            <a:endParaRPr lang="en-US" spc="-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754879" y="616117"/>
            <a:ext cx="4101084" cy="178838"/>
          </a:xfrm>
          <a:prstGeom prst="rect">
            <a:avLst/>
          </a:prstGeom>
        </p:spPr>
      </p:pic>
      <p:sp>
        <p:nvSpPr>
          <p:cNvPr id="4" name="object 4"/>
          <p:cNvSpPr/>
          <p:nvPr/>
        </p:nvSpPr>
        <p:spPr>
          <a:xfrm>
            <a:off x="1670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4F81BC"/>
          </a:solidFill>
        </p:spPr>
        <p:txBody>
          <a:bodyPr wrap="square" lIns="0" tIns="0" rIns="0" bIns="0" rtlCol="0"/>
          <a:lstStyle/>
          <a:p>
            <a:endParaRPr/>
          </a:p>
        </p:txBody>
      </p:sp>
      <p:sp>
        <p:nvSpPr>
          <p:cNvPr id="5" name="object 5"/>
          <p:cNvSpPr txBox="1"/>
          <p:nvPr/>
        </p:nvSpPr>
        <p:spPr>
          <a:xfrm>
            <a:off x="1983741" y="1188466"/>
            <a:ext cx="8074025" cy="4827905"/>
          </a:xfrm>
          <a:prstGeom prst="rect">
            <a:avLst/>
          </a:prstGeom>
        </p:spPr>
        <p:txBody>
          <a:bodyPr vert="horz" wrap="square" lIns="0" tIns="13335" rIns="0" bIns="0" rtlCol="0">
            <a:spAutoFit/>
          </a:bodyPr>
          <a:lstStyle/>
          <a:p>
            <a:pPr marL="12700">
              <a:spcBef>
                <a:spcPts val="105"/>
              </a:spcBef>
            </a:pPr>
            <a:r>
              <a:rPr sz="2000" b="1" i="1" dirty="0">
                <a:solidFill>
                  <a:srgbClr val="C00000"/>
                </a:solidFill>
                <a:latin typeface="Times New Roman"/>
                <a:cs typeface="Times New Roman"/>
              </a:rPr>
              <a:t>Applied</a:t>
            </a:r>
            <a:r>
              <a:rPr sz="2000" b="1" i="1" spc="-10" dirty="0">
                <a:solidFill>
                  <a:srgbClr val="C00000"/>
                </a:solidFill>
                <a:latin typeface="Times New Roman"/>
                <a:cs typeface="Times New Roman"/>
              </a:rPr>
              <a:t> Research:</a:t>
            </a:r>
            <a:endParaRPr sz="2000">
              <a:latin typeface="Times New Roman"/>
              <a:cs typeface="Times New Roman"/>
            </a:endParaRPr>
          </a:p>
          <a:p>
            <a:pPr marL="285115" marR="8255" indent="-273050">
              <a:lnSpc>
                <a:spcPct val="150100"/>
              </a:lnSpc>
              <a:spcBef>
                <a:spcPts val="500"/>
              </a:spcBef>
              <a:buClr>
                <a:srgbClr val="C00000"/>
              </a:buClr>
              <a:buSzPct val="85000"/>
              <a:buFont typeface="Wingdings 2"/>
              <a:buChar char=""/>
              <a:tabLst>
                <a:tab pos="285115" algn="l"/>
              </a:tabLst>
            </a:pPr>
            <a:r>
              <a:rPr sz="2000" dirty="0">
                <a:solidFill>
                  <a:srgbClr val="001F5F"/>
                </a:solidFill>
                <a:latin typeface="Times New Roman"/>
                <a:cs typeface="Times New Roman"/>
              </a:rPr>
              <a:t>Applied</a:t>
            </a:r>
            <a:r>
              <a:rPr sz="2000" spc="345" dirty="0">
                <a:solidFill>
                  <a:srgbClr val="001F5F"/>
                </a:solidFill>
                <a:latin typeface="Times New Roman"/>
                <a:cs typeface="Times New Roman"/>
              </a:rPr>
              <a:t> </a:t>
            </a:r>
            <a:r>
              <a:rPr sz="2000" dirty="0">
                <a:solidFill>
                  <a:srgbClr val="001F5F"/>
                </a:solidFill>
                <a:latin typeface="Times New Roman"/>
                <a:cs typeface="Times New Roman"/>
              </a:rPr>
              <a:t>Research</a:t>
            </a:r>
            <a:r>
              <a:rPr sz="2000" spc="355" dirty="0">
                <a:solidFill>
                  <a:srgbClr val="001F5F"/>
                </a:solidFill>
                <a:latin typeface="Times New Roman"/>
                <a:cs typeface="Times New Roman"/>
              </a:rPr>
              <a:t> </a:t>
            </a:r>
            <a:r>
              <a:rPr sz="2000" dirty="0">
                <a:solidFill>
                  <a:srgbClr val="001F5F"/>
                </a:solidFill>
                <a:latin typeface="Times New Roman"/>
                <a:cs typeface="Times New Roman"/>
              </a:rPr>
              <a:t>tries</a:t>
            </a:r>
            <a:r>
              <a:rPr sz="2000" spc="350" dirty="0">
                <a:solidFill>
                  <a:srgbClr val="001F5F"/>
                </a:solidFill>
                <a:latin typeface="Times New Roman"/>
                <a:cs typeface="Times New Roman"/>
              </a:rPr>
              <a:t> </a:t>
            </a:r>
            <a:r>
              <a:rPr sz="2000" dirty="0">
                <a:solidFill>
                  <a:srgbClr val="001F5F"/>
                </a:solidFill>
                <a:latin typeface="Times New Roman"/>
                <a:cs typeface="Times New Roman"/>
              </a:rPr>
              <a:t>to</a:t>
            </a:r>
            <a:r>
              <a:rPr sz="2000" spc="355" dirty="0">
                <a:solidFill>
                  <a:srgbClr val="001F5F"/>
                </a:solidFill>
                <a:latin typeface="Times New Roman"/>
                <a:cs typeface="Times New Roman"/>
              </a:rPr>
              <a:t> </a:t>
            </a:r>
            <a:r>
              <a:rPr sz="2000" dirty="0">
                <a:solidFill>
                  <a:srgbClr val="001F5F"/>
                </a:solidFill>
                <a:latin typeface="Times New Roman"/>
                <a:cs typeface="Times New Roman"/>
              </a:rPr>
              <a:t>solve</a:t>
            </a:r>
            <a:r>
              <a:rPr sz="2000" spc="355" dirty="0">
                <a:solidFill>
                  <a:srgbClr val="001F5F"/>
                </a:solidFill>
                <a:latin typeface="Times New Roman"/>
                <a:cs typeface="Times New Roman"/>
              </a:rPr>
              <a:t> </a:t>
            </a:r>
            <a:r>
              <a:rPr sz="2000" dirty="0">
                <a:solidFill>
                  <a:srgbClr val="001F5F"/>
                </a:solidFill>
                <a:latin typeface="Times New Roman"/>
                <a:cs typeface="Times New Roman"/>
              </a:rPr>
              <a:t>an</a:t>
            </a:r>
            <a:r>
              <a:rPr sz="2000" spc="350" dirty="0">
                <a:solidFill>
                  <a:srgbClr val="001F5F"/>
                </a:solidFill>
                <a:latin typeface="Times New Roman"/>
                <a:cs typeface="Times New Roman"/>
              </a:rPr>
              <a:t> </a:t>
            </a:r>
            <a:r>
              <a:rPr sz="2000" dirty="0">
                <a:solidFill>
                  <a:srgbClr val="001F5F"/>
                </a:solidFill>
                <a:latin typeface="Times New Roman"/>
                <a:cs typeface="Times New Roman"/>
              </a:rPr>
              <a:t>immediate</a:t>
            </a:r>
            <a:r>
              <a:rPr sz="2000" spc="350" dirty="0">
                <a:solidFill>
                  <a:srgbClr val="001F5F"/>
                </a:solidFill>
                <a:latin typeface="Times New Roman"/>
                <a:cs typeface="Times New Roman"/>
              </a:rPr>
              <a:t> </a:t>
            </a:r>
            <a:r>
              <a:rPr sz="2000" dirty="0">
                <a:solidFill>
                  <a:srgbClr val="001F5F"/>
                </a:solidFill>
                <a:latin typeface="Times New Roman"/>
                <a:cs typeface="Times New Roman"/>
              </a:rPr>
              <a:t>specific</a:t>
            </a:r>
            <a:r>
              <a:rPr sz="2000" spc="335" dirty="0">
                <a:solidFill>
                  <a:srgbClr val="001F5F"/>
                </a:solidFill>
                <a:latin typeface="Times New Roman"/>
                <a:cs typeface="Times New Roman"/>
              </a:rPr>
              <a:t> </a:t>
            </a:r>
            <a:r>
              <a:rPr sz="2000" dirty="0">
                <a:solidFill>
                  <a:srgbClr val="001F5F"/>
                </a:solidFill>
                <a:latin typeface="Times New Roman"/>
                <a:cs typeface="Times New Roman"/>
              </a:rPr>
              <a:t>problem</a:t>
            </a:r>
            <a:r>
              <a:rPr sz="2000" spc="330" dirty="0">
                <a:solidFill>
                  <a:srgbClr val="001F5F"/>
                </a:solidFill>
                <a:latin typeface="Times New Roman"/>
                <a:cs typeface="Times New Roman"/>
              </a:rPr>
              <a:t> </a:t>
            </a:r>
            <a:r>
              <a:rPr sz="2000" dirty="0">
                <a:solidFill>
                  <a:srgbClr val="001F5F"/>
                </a:solidFill>
                <a:latin typeface="Times New Roman"/>
                <a:cs typeface="Times New Roman"/>
              </a:rPr>
              <a:t>faced</a:t>
            </a:r>
            <a:r>
              <a:rPr sz="2000" spc="360" dirty="0">
                <a:solidFill>
                  <a:srgbClr val="001F5F"/>
                </a:solidFill>
                <a:latin typeface="Times New Roman"/>
                <a:cs typeface="Times New Roman"/>
              </a:rPr>
              <a:t> </a:t>
            </a:r>
            <a:r>
              <a:rPr sz="2000" spc="-25" dirty="0">
                <a:solidFill>
                  <a:srgbClr val="001F5F"/>
                </a:solidFill>
                <a:latin typeface="Times New Roman"/>
                <a:cs typeface="Times New Roman"/>
              </a:rPr>
              <a:t>by </a:t>
            </a:r>
            <a:r>
              <a:rPr sz="2000" dirty="0">
                <a:solidFill>
                  <a:srgbClr val="001F5F"/>
                </a:solidFill>
                <a:latin typeface="Times New Roman"/>
                <a:cs typeface="Times New Roman"/>
              </a:rPr>
              <a:t>industry</a:t>
            </a:r>
            <a:r>
              <a:rPr sz="2000" spc="-40" dirty="0">
                <a:solidFill>
                  <a:srgbClr val="001F5F"/>
                </a:solidFill>
                <a:latin typeface="Times New Roman"/>
                <a:cs typeface="Times New Roman"/>
              </a:rPr>
              <a:t> </a:t>
            </a:r>
            <a:r>
              <a:rPr sz="2000" dirty="0">
                <a:solidFill>
                  <a:srgbClr val="001F5F"/>
                </a:solidFill>
                <a:latin typeface="Times New Roman"/>
                <a:cs typeface="Times New Roman"/>
              </a:rPr>
              <a:t>or</a:t>
            </a:r>
            <a:r>
              <a:rPr sz="2000" spc="-10" dirty="0">
                <a:solidFill>
                  <a:srgbClr val="001F5F"/>
                </a:solidFill>
                <a:latin typeface="Times New Roman"/>
                <a:cs typeface="Times New Roman"/>
              </a:rPr>
              <a:t> society.</a:t>
            </a:r>
            <a:endParaRPr sz="2000">
              <a:latin typeface="Times New Roman"/>
              <a:cs typeface="Times New Roman"/>
            </a:endParaRPr>
          </a:p>
          <a:p>
            <a:pPr marL="285115" indent="-272415">
              <a:spcBef>
                <a:spcPts val="1689"/>
              </a:spcBef>
              <a:buClr>
                <a:srgbClr val="C00000"/>
              </a:buClr>
              <a:buSzPct val="85000"/>
              <a:buFont typeface="Wingdings 2"/>
              <a:buChar char=""/>
              <a:tabLst>
                <a:tab pos="285115" algn="l"/>
              </a:tabLst>
            </a:pPr>
            <a:r>
              <a:rPr sz="2000" dirty="0">
                <a:solidFill>
                  <a:srgbClr val="001F5F"/>
                </a:solidFill>
                <a:latin typeface="Times New Roman"/>
                <a:cs typeface="Times New Roman"/>
              </a:rPr>
              <a:t>The</a:t>
            </a:r>
            <a:r>
              <a:rPr sz="2000" spc="-20" dirty="0">
                <a:solidFill>
                  <a:srgbClr val="001F5F"/>
                </a:solidFill>
                <a:latin typeface="Times New Roman"/>
                <a:cs typeface="Times New Roman"/>
              </a:rPr>
              <a:t> </a:t>
            </a:r>
            <a:r>
              <a:rPr sz="2000" dirty="0">
                <a:solidFill>
                  <a:srgbClr val="001F5F"/>
                </a:solidFill>
                <a:latin typeface="Times New Roman"/>
                <a:cs typeface="Times New Roman"/>
              </a:rPr>
              <a:t>obtained</a:t>
            </a:r>
            <a:r>
              <a:rPr sz="2000" spc="-30" dirty="0">
                <a:solidFill>
                  <a:srgbClr val="001F5F"/>
                </a:solidFill>
                <a:latin typeface="Times New Roman"/>
                <a:cs typeface="Times New Roman"/>
              </a:rPr>
              <a:t> </a:t>
            </a:r>
            <a:r>
              <a:rPr sz="2000" dirty="0">
                <a:solidFill>
                  <a:srgbClr val="001F5F"/>
                </a:solidFill>
                <a:latin typeface="Times New Roman"/>
                <a:cs typeface="Times New Roman"/>
              </a:rPr>
              <a:t>solution</a:t>
            </a:r>
            <a:r>
              <a:rPr sz="2000" spc="-30" dirty="0">
                <a:solidFill>
                  <a:srgbClr val="001F5F"/>
                </a:solidFill>
                <a:latin typeface="Times New Roman"/>
                <a:cs typeface="Times New Roman"/>
              </a:rPr>
              <a:t> </a:t>
            </a:r>
            <a:r>
              <a:rPr sz="2000" dirty="0">
                <a:solidFill>
                  <a:srgbClr val="001F5F"/>
                </a:solidFill>
                <a:latin typeface="Times New Roman"/>
                <a:cs typeface="Times New Roman"/>
              </a:rPr>
              <a:t>can</a:t>
            </a:r>
            <a:r>
              <a:rPr sz="2000" spc="-10" dirty="0">
                <a:solidFill>
                  <a:srgbClr val="001F5F"/>
                </a:solidFill>
                <a:latin typeface="Times New Roman"/>
                <a:cs typeface="Times New Roman"/>
              </a:rPr>
              <a:t> </a:t>
            </a:r>
            <a:r>
              <a:rPr sz="2000" dirty="0">
                <a:solidFill>
                  <a:srgbClr val="001F5F"/>
                </a:solidFill>
                <a:latin typeface="Times New Roman"/>
                <a:cs typeface="Times New Roman"/>
              </a:rPr>
              <a:t>be</a:t>
            </a:r>
            <a:r>
              <a:rPr sz="2000" spc="-15" dirty="0">
                <a:solidFill>
                  <a:srgbClr val="001F5F"/>
                </a:solidFill>
                <a:latin typeface="Times New Roman"/>
                <a:cs typeface="Times New Roman"/>
              </a:rPr>
              <a:t> </a:t>
            </a:r>
            <a:r>
              <a:rPr sz="2000" dirty="0">
                <a:solidFill>
                  <a:srgbClr val="001F5F"/>
                </a:solidFill>
                <a:latin typeface="Times New Roman"/>
                <a:cs typeface="Times New Roman"/>
              </a:rPr>
              <a:t>deployed</a:t>
            </a:r>
            <a:r>
              <a:rPr sz="2000" spc="-25" dirty="0">
                <a:solidFill>
                  <a:srgbClr val="001F5F"/>
                </a:solidFill>
                <a:latin typeface="Times New Roman"/>
                <a:cs typeface="Times New Roman"/>
              </a:rPr>
              <a:t> </a:t>
            </a:r>
            <a:r>
              <a:rPr sz="2000" dirty="0">
                <a:solidFill>
                  <a:srgbClr val="001F5F"/>
                </a:solidFill>
                <a:latin typeface="Times New Roman"/>
                <a:cs typeface="Times New Roman"/>
              </a:rPr>
              <a:t>to</a:t>
            </a:r>
            <a:r>
              <a:rPr sz="2000" spc="-10" dirty="0">
                <a:solidFill>
                  <a:srgbClr val="001F5F"/>
                </a:solidFill>
                <a:latin typeface="Times New Roman"/>
                <a:cs typeface="Times New Roman"/>
              </a:rPr>
              <a:t> </a:t>
            </a:r>
            <a:r>
              <a:rPr sz="2000" dirty="0">
                <a:solidFill>
                  <a:srgbClr val="001F5F"/>
                </a:solidFill>
                <a:latin typeface="Times New Roman"/>
                <a:cs typeface="Times New Roman"/>
              </a:rPr>
              <a:t>solve</a:t>
            </a:r>
            <a:r>
              <a:rPr sz="2000" spc="-35" dirty="0">
                <a:solidFill>
                  <a:srgbClr val="001F5F"/>
                </a:solidFill>
                <a:latin typeface="Times New Roman"/>
                <a:cs typeface="Times New Roman"/>
              </a:rPr>
              <a:t> </a:t>
            </a:r>
            <a:r>
              <a:rPr sz="2000" dirty="0">
                <a:solidFill>
                  <a:srgbClr val="001F5F"/>
                </a:solidFill>
                <a:latin typeface="Times New Roman"/>
                <a:cs typeface="Times New Roman"/>
              </a:rPr>
              <a:t>the</a:t>
            </a:r>
            <a:r>
              <a:rPr sz="2000" spc="-10" dirty="0">
                <a:solidFill>
                  <a:srgbClr val="001F5F"/>
                </a:solidFill>
                <a:latin typeface="Times New Roman"/>
                <a:cs typeface="Times New Roman"/>
              </a:rPr>
              <a:t> problem.</a:t>
            </a:r>
            <a:endParaRPr sz="2000">
              <a:latin typeface="Times New Roman"/>
              <a:cs typeface="Times New Roman"/>
            </a:endParaRPr>
          </a:p>
          <a:p>
            <a:pPr marL="285115" indent="-272415">
              <a:spcBef>
                <a:spcPts val="1705"/>
              </a:spcBef>
              <a:buClr>
                <a:srgbClr val="C00000"/>
              </a:buClr>
              <a:buSzPct val="85000"/>
              <a:buFont typeface="Wingdings 2"/>
              <a:buChar char=""/>
              <a:tabLst>
                <a:tab pos="285115" algn="l"/>
              </a:tabLst>
            </a:pPr>
            <a:r>
              <a:rPr sz="2000" dirty="0">
                <a:solidFill>
                  <a:srgbClr val="001F5F"/>
                </a:solidFill>
                <a:latin typeface="Times New Roman"/>
                <a:cs typeface="Times New Roman"/>
              </a:rPr>
              <a:t>The</a:t>
            </a:r>
            <a:r>
              <a:rPr sz="2000" spc="-10" dirty="0">
                <a:solidFill>
                  <a:srgbClr val="001F5F"/>
                </a:solidFill>
                <a:latin typeface="Times New Roman"/>
                <a:cs typeface="Times New Roman"/>
              </a:rPr>
              <a:t> </a:t>
            </a:r>
            <a:r>
              <a:rPr sz="2000" dirty="0">
                <a:solidFill>
                  <a:srgbClr val="001F5F"/>
                </a:solidFill>
                <a:latin typeface="Times New Roman"/>
                <a:cs typeface="Times New Roman"/>
              </a:rPr>
              <a:t>duration</a:t>
            </a:r>
            <a:r>
              <a:rPr sz="2000" spc="-30" dirty="0">
                <a:solidFill>
                  <a:srgbClr val="001F5F"/>
                </a:solidFill>
                <a:latin typeface="Times New Roman"/>
                <a:cs typeface="Times New Roman"/>
              </a:rPr>
              <a:t> </a:t>
            </a:r>
            <a:r>
              <a:rPr sz="2000" dirty="0">
                <a:solidFill>
                  <a:srgbClr val="001F5F"/>
                </a:solidFill>
                <a:latin typeface="Times New Roman"/>
                <a:cs typeface="Times New Roman"/>
              </a:rPr>
              <a:t>of</a:t>
            </a:r>
            <a:r>
              <a:rPr sz="2000" spc="-25" dirty="0">
                <a:solidFill>
                  <a:srgbClr val="001F5F"/>
                </a:solidFill>
                <a:latin typeface="Times New Roman"/>
                <a:cs typeface="Times New Roman"/>
              </a:rPr>
              <a:t> </a:t>
            </a:r>
            <a:r>
              <a:rPr sz="2000" dirty="0">
                <a:solidFill>
                  <a:srgbClr val="001F5F"/>
                </a:solidFill>
                <a:latin typeface="Times New Roman"/>
                <a:cs typeface="Times New Roman"/>
              </a:rPr>
              <a:t>applied</a:t>
            </a:r>
            <a:r>
              <a:rPr sz="2000" spc="-25" dirty="0">
                <a:solidFill>
                  <a:srgbClr val="001F5F"/>
                </a:solidFill>
                <a:latin typeface="Times New Roman"/>
                <a:cs typeface="Times New Roman"/>
              </a:rPr>
              <a:t> </a:t>
            </a:r>
            <a:r>
              <a:rPr sz="2000" dirty="0">
                <a:solidFill>
                  <a:srgbClr val="001F5F"/>
                </a:solidFill>
                <a:latin typeface="Times New Roman"/>
                <a:cs typeface="Times New Roman"/>
              </a:rPr>
              <a:t>research</a:t>
            </a:r>
            <a:r>
              <a:rPr sz="2000" spc="-30" dirty="0">
                <a:solidFill>
                  <a:srgbClr val="001F5F"/>
                </a:solidFill>
                <a:latin typeface="Times New Roman"/>
                <a:cs typeface="Times New Roman"/>
              </a:rPr>
              <a:t> </a:t>
            </a:r>
            <a:r>
              <a:rPr sz="2000" dirty="0">
                <a:solidFill>
                  <a:srgbClr val="001F5F"/>
                </a:solidFill>
                <a:latin typeface="Times New Roman"/>
                <a:cs typeface="Times New Roman"/>
              </a:rPr>
              <a:t>is</a:t>
            </a:r>
            <a:r>
              <a:rPr sz="2000" spc="-10" dirty="0">
                <a:solidFill>
                  <a:srgbClr val="001F5F"/>
                </a:solidFill>
                <a:latin typeface="Times New Roman"/>
                <a:cs typeface="Times New Roman"/>
              </a:rPr>
              <a:t> </a:t>
            </a:r>
            <a:r>
              <a:rPr sz="2000" dirty="0">
                <a:solidFill>
                  <a:srgbClr val="001F5F"/>
                </a:solidFill>
                <a:latin typeface="Times New Roman"/>
                <a:cs typeface="Times New Roman"/>
              </a:rPr>
              <a:t>shorter</a:t>
            </a:r>
            <a:r>
              <a:rPr sz="2000" spc="-40" dirty="0">
                <a:solidFill>
                  <a:srgbClr val="001F5F"/>
                </a:solidFill>
                <a:latin typeface="Times New Roman"/>
                <a:cs typeface="Times New Roman"/>
              </a:rPr>
              <a:t> </a:t>
            </a:r>
            <a:r>
              <a:rPr sz="2000" dirty="0">
                <a:solidFill>
                  <a:srgbClr val="001F5F"/>
                </a:solidFill>
                <a:latin typeface="Times New Roman"/>
                <a:cs typeface="Times New Roman"/>
              </a:rPr>
              <a:t>as a</a:t>
            </a:r>
            <a:r>
              <a:rPr sz="2000" spc="-15" dirty="0">
                <a:solidFill>
                  <a:srgbClr val="001F5F"/>
                </a:solidFill>
                <a:latin typeface="Times New Roman"/>
                <a:cs typeface="Times New Roman"/>
              </a:rPr>
              <a:t> </a:t>
            </a:r>
            <a:r>
              <a:rPr sz="2000" dirty="0">
                <a:solidFill>
                  <a:srgbClr val="001F5F"/>
                </a:solidFill>
                <a:latin typeface="Times New Roman"/>
                <a:cs typeface="Times New Roman"/>
              </a:rPr>
              <a:t>quick</a:t>
            </a:r>
            <a:r>
              <a:rPr sz="2000" spc="-15" dirty="0">
                <a:solidFill>
                  <a:srgbClr val="001F5F"/>
                </a:solidFill>
                <a:latin typeface="Times New Roman"/>
                <a:cs typeface="Times New Roman"/>
              </a:rPr>
              <a:t> </a:t>
            </a:r>
            <a:r>
              <a:rPr sz="2000" dirty="0">
                <a:solidFill>
                  <a:srgbClr val="001F5F"/>
                </a:solidFill>
                <a:latin typeface="Times New Roman"/>
                <a:cs typeface="Times New Roman"/>
              </a:rPr>
              <a:t>solution</a:t>
            </a:r>
            <a:r>
              <a:rPr sz="2000" spc="-35" dirty="0">
                <a:solidFill>
                  <a:srgbClr val="001F5F"/>
                </a:solidFill>
                <a:latin typeface="Times New Roman"/>
                <a:cs typeface="Times New Roman"/>
              </a:rPr>
              <a:t> </a:t>
            </a:r>
            <a:r>
              <a:rPr sz="2000" dirty="0">
                <a:solidFill>
                  <a:srgbClr val="001F5F"/>
                </a:solidFill>
                <a:latin typeface="Times New Roman"/>
                <a:cs typeface="Times New Roman"/>
              </a:rPr>
              <a:t>is</a:t>
            </a:r>
            <a:r>
              <a:rPr sz="2000" spc="-5" dirty="0">
                <a:solidFill>
                  <a:srgbClr val="001F5F"/>
                </a:solidFill>
                <a:latin typeface="Times New Roman"/>
                <a:cs typeface="Times New Roman"/>
              </a:rPr>
              <a:t> </a:t>
            </a:r>
            <a:r>
              <a:rPr sz="2000" spc="-10" dirty="0">
                <a:solidFill>
                  <a:srgbClr val="001F5F"/>
                </a:solidFill>
                <a:latin typeface="Times New Roman"/>
                <a:cs typeface="Times New Roman"/>
              </a:rPr>
              <a:t>expected.</a:t>
            </a:r>
            <a:endParaRPr sz="2000">
              <a:latin typeface="Times New Roman"/>
              <a:cs typeface="Times New Roman"/>
            </a:endParaRPr>
          </a:p>
          <a:p>
            <a:pPr marL="285115" marR="5080" indent="-273050">
              <a:lnSpc>
                <a:spcPct val="150000"/>
              </a:lnSpc>
              <a:spcBef>
                <a:spcPts val="505"/>
              </a:spcBef>
              <a:buClr>
                <a:srgbClr val="C00000"/>
              </a:buClr>
              <a:buSzPct val="85000"/>
              <a:buFont typeface="Wingdings 2"/>
              <a:buChar char=""/>
              <a:tabLst>
                <a:tab pos="285115" algn="l"/>
              </a:tabLst>
            </a:pPr>
            <a:r>
              <a:rPr sz="2000" dirty="0">
                <a:solidFill>
                  <a:srgbClr val="001F5F"/>
                </a:solidFill>
                <a:latin typeface="Times New Roman"/>
                <a:cs typeface="Times New Roman"/>
              </a:rPr>
              <a:t>The</a:t>
            </a:r>
            <a:r>
              <a:rPr sz="2000" spc="30" dirty="0">
                <a:solidFill>
                  <a:srgbClr val="001F5F"/>
                </a:solidFill>
                <a:latin typeface="Times New Roman"/>
                <a:cs typeface="Times New Roman"/>
              </a:rPr>
              <a:t> </a:t>
            </a:r>
            <a:r>
              <a:rPr sz="2000" dirty="0">
                <a:solidFill>
                  <a:srgbClr val="001F5F"/>
                </a:solidFill>
                <a:latin typeface="Times New Roman"/>
                <a:cs typeface="Times New Roman"/>
              </a:rPr>
              <a:t>outcome</a:t>
            </a:r>
            <a:r>
              <a:rPr sz="2000" spc="40" dirty="0">
                <a:solidFill>
                  <a:srgbClr val="001F5F"/>
                </a:solidFill>
                <a:latin typeface="Times New Roman"/>
                <a:cs typeface="Times New Roman"/>
              </a:rPr>
              <a:t> </a:t>
            </a:r>
            <a:r>
              <a:rPr sz="2000" dirty="0">
                <a:solidFill>
                  <a:srgbClr val="001F5F"/>
                </a:solidFill>
                <a:latin typeface="Times New Roman"/>
                <a:cs typeface="Times New Roman"/>
              </a:rPr>
              <a:t>of</a:t>
            </a:r>
            <a:r>
              <a:rPr sz="2000" spc="35" dirty="0">
                <a:solidFill>
                  <a:srgbClr val="001F5F"/>
                </a:solidFill>
                <a:latin typeface="Times New Roman"/>
                <a:cs typeface="Times New Roman"/>
              </a:rPr>
              <a:t> </a:t>
            </a:r>
            <a:r>
              <a:rPr sz="2000" dirty="0">
                <a:solidFill>
                  <a:srgbClr val="001F5F"/>
                </a:solidFill>
                <a:latin typeface="Times New Roman"/>
                <a:cs typeface="Times New Roman"/>
              </a:rPr>
              <a:t>the</a:t>
            </a:r>
            <a:r>
              <a:rPr sz="2000" spc="30" dirty="0">
                <a:solidFill>
                  <a:srgbClr val="001F5F"/>
                </a:solidFill>
                <a:latin typeface="Times New Roman"/>
                <a:cs typeface="Times New Roman"/>
              </a:rPr>
              <a:t> </a:t>
            </a:r>
            <a:r>
              <a:rPr sz="2000" dirty="0">
                <a:solidFill>
                  <a:srgbClr val="001F5F"/>
                </a:solidFill>
                <a:latin typeface="Times New Roman"/>
                <a:cs typeface="Times New Roman"/>
              </a:rPr>
              <a:t>applied</a:t>
            </a:r>
            <a:r>
              <a:rPr sz="2000" spc="40" dirty="0">
                <a:solidFill>
                  <a:srgbClr val="001F5F"/>
                </a:solidFill>
                <a:latin typeface="Times New Roman"/>
                <a:cs typeface="Times New Roman"/>
              </a:rPr>
              <a:t> </a:t>
            </a:r>
            <a:r>
              <a:rPr sz="2000" dirty="0">
                <a:solidFill>
                  <a:srgbClr val="001F5F"/>
                </a:solidFill>
                <a:latin typeface="Times New Roman"/>
                <a:cs typeface="Times New Roman"/>
              </a:rPr>
              <a:t>research</a:t>
            </a:r>
            <a:r>
              <a:rPr sz="2000" spc="30" dirty="0">
                <a:solidFill>
                  <a:srgbClr val="001F5F"/>
                </a:solidFill>
                <a:latin typeface="Times New Roman"/>
                <a:cs typeface="Times New Roman"/>
              </a:rPr>
              <a:t> </a:t>
            </a:r>
            <a:r>
              <a:rPr sz="2000" dirty="0">
                <a:solidFill>
                  <a:srgbClr val="001F5F"/>
                </a:solidFill>
                <a:latin typeface="Times New Roman"/>
                <a:cs typeface="Times New Roman"/>
              </a:rPr>
              <a:t>either</a:t>
            </a:r>
            <a:r>
              <a:rPr sz="2000" spc="40" dirty="0">
                <a:solidFill>
                  <a:srgbClr val="001F5F"/>
                </a:solidFill>
                <a:latin typeface="Times New Roman"/>
                <a:cs typeface="Times New Roman"/>
              </a:rPr>
              <a:t> </a:t>
            </a:r>
            <a:r>
              <a:rPr sz="2000" dirty="0">
                <a:solidFill>
                  <a:srgbClr val="001F5F"/>
                </a:solidFill>
                <a:latin typeface="Times New Roman"/>
                <a:cs typeface="Times New Roman"/>
              </a:rPr>
              <a:t>address</a:t>
            </a:r>
            <a:r>
              <a:rPr sz="2000" spc="30" dirty="0">
                <a:solidFill>
                  <a:srgbClr val="001F5F"/>
                </a:solidFill>
                <a:latin typeface="Times New Roman"/>
                <a:cs typeface="Times New Roman"/>
              </a:rPr>
              <a:t> </a:t>
            </a:r>
            <a:r>
              <a:rPr sz="2000" dirty="0">
                <a:solidFill>
                  <a:srgbClr val="001F5F"/>
                </a:solidFill>
                <a:latin typeface="Times New Roman"/>
                <a:cs typeface="Times New Roman"/>
              </a:rPr>
              <a:t>the</a:t>
            </a:r>
            <a:r>
              <a:rPr sz="2000" spc="35" dirty="0">
                <a:solidFill>
                  <a:srgbClr val="001F5F"/>
                </a:solidFill>
                <a:latin typeface="Times New Roman"/>
                <a:cs typeface="Times New Roman"/>
              </a:rPr>
              <a:t> </a:t>
            </a:r>
            <a:r>
              <a:rPr sz="2000" dirty="0">
                <a:solidFill>
                  <a:srgbClr val="001F5F"/>
                </a:solidFill>
                <a:latin typeface="Times New Roman"/>
                <a:cs typeface="Times New Roman"/>
              </a:rPr>
              <a:t>unsolved</a:t>
            </a:r>
            <a:r>
              <a:rPr sz="2000" spc="30" dirty="0">
                <a:solidFill>
                  <a:srgbClr val="001F5F"/>
                </a:solidFill>
                <a:latin typeface="Times New Roman"/>
                <a:cs typeface="Times New Roman"/>
              </a:rPr>
              <a:t> </a:t>
            </a:r>
            <a:r>
              <a:rPr sz="2000" dirty="0">
                <a:solidFill>
                  <a:srgbClr val="001F5F"/>
                </a:solidFill>
                <a:latin typeface="Times New Roman"/>
                <a:cs typeface="Times New Roman"/>
              </a:rPr>
              <a:t>problem</a:t>
            </a:r>
            <a:r>
              <a:rPr sz="2000" spc="5" dirty="0">
                <a:solidFill>
                  <a:srgbClr val="001F5F"/>
                </a:solidFill>
                <a:latin typeface="Times New Roman"/>
                <a:cs typeface="Times New Roman"/>
              </a:rPr>
              <a:t> </a:t>
            </a:r>
            <a:r>
              <a:rPr sz="2000" spc="-25" dirty="0">
                <a:solidFill>
                  <a:srgbClr val="001F5F"/>
                </a:solidFill>
                <a:latin typeface="Times New Roman"/>
                <a:cs typeface="Times New Roman"/>
              </a:rPr>
              <a:t>or </a:t>
            </a:r>
            <a:r>
              <a:rPr sz="2000" dirty="0">
                <a:solidFill>
                  <a:srgbClr val="001F5F"/>
                </a:solidFill>
                <a:latin typeface="Times New Roman"/>
                <a:cs typeface="Times New Roman"/>
              </a:rPr>
              <a:t>improve</a:t>
            </a:r>
            <a:r>
              <a:rPr sz="2000" spc="-25" dirty="0">
                <a:solidFill>
                  <a:srgbClr val="001F5F"/>
                </a:solidFill>
                <a:latin typeface="Times New Roman"/>
                <a:cs typeface="Times New Roman"/>
              </a:rPr>
              <a:t> </a:t>
            </a:r>
            <a:r>
              <a:rPr sz="2000" dirty="0">
                <a:solidFill>
                  <a:srgbClr val="001F5F"/>
                </a:solidFill>
                <a:latin typeface="Times New Roman"/>
                <a:cs typeface="Times New Roman"/>
              </a:rPr>
              <a:t>the</a:t>
            </a:r>
            <a:r>
              <a:rPr sz="2000" spc="-20" dirty="0">
                <a:solidFill>
                  <a:srgbClr val="001F5F"/>
                </a:solidFill>
                <a:latin typeface="Times New Roman"/>
                <a:cs typeface="Times New Roman"/>
              </a:rPr>
              <a:t> </a:t>
            </a:r>
            <a:r>
              <a:rPr sz="2000" dirty="0">
                <a:solidFill>
                  <a:srgbClr val="001F5F"/>
                </a:solidFill>
                <a:latin typeface="Times New Roman"/>
                <a:cs typeface="Times New Roman"/>
              </a:rPr>
              <a:t>existing</a:t>
            </a:r>
            <a:r>
              <a:rPr sz="2000" spc="-40" dirty="0">
                <a:solidFill>
                  <a:srgbClr val="001F5F"/>
                </a:solidFill>
                <a:latin typeface="Times New Roman"/>
                <a:cs typeface="Times New Roman"/>
              </a:rPr>
              <a:t> </a:t>
            </a:r>
            <a:r>
              <a:rPr sz="2000" spc="-10" dirty="0">
                <a:solidFill>
                  <a:srgbClr val="001F5F"/>
                </a:solidFill>
                <a:latin typeface="Times New Roman"/>
                <a:cs typeface="Times New Roman"/>
              </a:rPr>
              <a:t>solution.</a:t>
            </a:r>
            <a:endParaRPr sz="2000">
              <a:latin typeface="Times New Roman"/>
              <a:cs typeface="Times New Roman"/>
            </a:endParaRPr>
          </a:p>
          <a:p>
            <a:pPr marL="12700">
              <a:spcBef>
                <a:spcPts val="1695"/>
              </a:spcBef>
            </a:pPr>
            <a:r>
              <a:rPr sz="2000" b="1" i="1" spc="-10" dirty="0">
                <a:solidFill>
                  <a:srgbClr val="C00000"/>
                </a:solidFill>
                <a:latin typeface="Times New Roman"/>
                <a:cs typeface="Times New Roman"/>
              </a:rPr>
              <a:t>Example:</a:t>
            </a:r>
            <a:endParaRPr sz="2000">
              <a:latin typeface="Times New Roman"/>
              <a:cs typeface="Times New Roman"/>
            </a:endParaRPr>
          </a:p>
          <a:p>
            <a:pPr marL="285115" marR="5715" indent="-273050">
              <a:lnSpc>
                <a:spcPct val="150000"/>
              </a:lnSpc>
              <a:spcBef>
                <a:spcPts val="505"/>
              </a:spcBef>
              <a:buClr>
                <a:srgbClr val="C00000"/>
              </a:buClr>
              <a:buSzPct val="85000"/>
              <a:buFont typeface="Wingdings 2"/>
              <a:buChar char=""/>
              <a:tabLst>
                <a:tab pos="285115" algn="l"/>
              </a:tabLst>
            </a:pPr>
            <a:r>
              <a:rPr sz="2000" dirty="0">
                <a:solidFill>
                  <a:srgbClr val="001F5F"/>
                </a:solidFill>
                <a:latin typeface="Times New Roman"/>
                <a:cs typeface="Times New Roman"/>
              </a:rPr>
              <a:t>1.</a:t>
            </a:r>
            <a:r>
              <a:rPr sz="2000" spc="265" dirty="0">
                <a:solidFill>
                  <a:srgbClr val="001F5F"/>
                </a:solidFill>
                <a:latin typeface="Times New Roman"/>
                <a:cs typeface="Times New Roman"/>
              </a:rPr>
              <a:t> </a:t>
            </a:r>
            <a:r>
              <a:rPr sz="2000" dirty="0">
                <a:solidFill>
                  <a:srgbClr val="001F5F"/>
                </a:solidFill>
                <a:latin typeface="Times New Roman"/>
                <a:cs typeface="Times New Roman"/>
              </a:rPr>
              <a:t>An</a:t>
            </a:r>
            <a:r>
              <a:rPr sz="2000" spc="265" dirty="0">
                <a:solidFill>
                  <a:srgbClr val="001F5F"/>
                </a:solidFill>
                <a:latin typeface="Times New Roman"/>
                <a:cs typeface="Times New Roman"/>
              </a:rPr>
              <a:t> </a:t>
            </a:r>
            <a:r>
              <a:rPr sz="2000" dirty="0">
                <a:solidFill>
                  <a:srgbClr val="001F5F"/>
                </a:solidFill>
                <a:latin typeface="Times New Roman"/>
                <a:cs typeface="Times New Roman"/>
              </a:rPr>
              <a:t>optimized</a:t>
            </a:r>
            <a:r>
              <a:rPr sz="2000" spc="270" dirty="0">
                <a:solidFill>
                  <a:srgbClr val="001F5F"/>
                </a:solidFill>
                <a:latin typeface="Times New Roman"/>
                <a:cs typeface="Times New Roman"/>
              </a:rPr>
              <a:t> </a:t>
            </a:r>
            <a:r>
              <a:rPr sz="2000" dirty="0">
                <a:solidFill>
                  <a:srgbClr val="001F5F"/>
                </a:solidFill>
                <a:latin typeface="Times New Roman"/>
                <a:cs typeface="Times New Roman"/>
              </a:rPr>
              <a:t>search</a:t>
            </a:r>
            <a:r>
              <a:rPr sz="2000" spc="270" dirty="0">
                <a:solidFill>
                  <a:srgbClr val="001F5F"/>
                </a:solidFill>
                <a:latin typeface="Times New Roman"/>
                <a:cs typeface="Times New Roman"/>
              </a:rPr>
              <a:t> </a:t>
            </a:r>
            <a:r>
              <a:rPr sz="2000" dirty="0">
                <a:solidFill>
                  <a:srgbClr val="001F5F"/>
                </a:solidFill>
                <a:latin typeface="Times New Roman"/>
                <a:cs typeface="Times New Roman"/>
              </a:rPr>
              <a:t>problem</a:t>
            </a:r>
            <a:r>
              <a:rPr sz="2000" spc="240" dirty="0">
                <a:solidFill>
                  <a:srgbClr val="001F5F"/>
                </a:solidFill>
                <a:latin typeface="Times New Roman"/>
                <a:cs typeface="Times New Roman"/>
              </a:rPr>
              <a:t> </a:t>
            </a:r>
            <a:r>
              <a:rPr sz="2000" dirty="0">
                <a:solidFill>
                  <a:srgbClr val="001F5F"/>
                </a:solidFill>
                <a:latin typeface="Times New Roman"/>
                <a:cs typeface="Times New Roman"/>
              </a:rPr>
              <a:t>on</a:t>
            </a:r>
            <a:r>
              <a:rPr sz="2000" spc="270" dirty="0">
                <a:solidFill>
                  <a:srgbClr val="001F5F"/>
                </a:solidFill>
                <a:latin typeface="Times New Roman"/>
                <a:cs typeface="Times New Roman"/>
              </a:rPr>
              <a:t> </a:t>
            </a:r>
            <a:r>
              <a:rPr sz="2000" dirty="0">
                <a:solidFill>
                  <a:srgbClr val="001F5F"/>
                </a:solidFill>
                <a:latin typeface="Times New Roman"/>
                <a:cs typeface="Times New Roman"/>
              </a:rPr>
              <a:t>the</a:t>
            </a:r>
            <a:r>
              <a:rPr sz="2000" spc="245" dirty="0">
                <a:solidFill>
                  <a:srgbClr val="001F5F"/>
                </a:solidFill>
                <a:latin typeface="Times New Roman"/>
                <a:cs typeface="Times New Roman"/>
              </a:rPr>
              <a:t> </a:t>
            </a:r>
            <a:r>
              <a:rPr sz="2000" dirty="0">
                <a:solidFill>
                  <a:srgbClr val="001F5F"/>
                </a:solidFill>
                <a:latin typeface="Times New Roman"/>
                <a:cs typeface="Times New Roman"/>
              </a:rPr>
              <a:t>Internet</a:t>
            </a:r>
            <a:r>
              <a:rPr sz="2000" spc="265" dirty="0">
                <a:solidFill>
                  <a:srgbClr val="001F5F"/>
                </a:solidFill>
                <a:latin typeface="Times New Roman"/>
                <a:cs typeface="Times New Roman"/>
              </a:rPr>
              <a:t> </a:t>
            </a:r>
            <a:r>
              <a:rPr sz="2000" dirty="0">
                <a:solidFill>
                  <a:srgbClr val="001F5F"/>
                </a:solidFill>
                <a:latin typeface="Times New Roman"/>
                <a:cs typeface="Times New Roman"/>
              </a:rPr>
              <a:t>is</a:t>
            </a:r>
            <a:r>
              <a:rPr sz="2000" spc="260" dirty="0">
                <a:solidFill>
                  <a:srgbClr val="001F5F"/>
                </a:solidFill>
                <a:latin typeface="Times New Roman"/>
                <a:cs typeface="Times New Roman"/>
              </a:rPr>
              <a:t> </a:t>
            </a:r>
            <a:r>
              <a:rPr sz="2000" dirty="0">
                <a:solidFill>
                  <a:srgbClr val="001F5F"/>
                </a:solidFill>
                <a:latin typeface="Times New Roman"/>
                <a:cs typeface="Times New Roman"/>
              </a:rPr>
              <a:t>an</a:t>
            </a:r>
            <a:r>
              <a:rPr sz="2000" spc="270" dirty="0">
                <a:solidFill>
                  <a:srgbClr val="001F5F"/>
                </a:solidFill>
                <a:latin typeface="Times New Roman"/>
                <a:cs typeface="Times New Roman"/>
              </a:rPr>
              <a:t> </a:t>
            </a:r>
            <a:r>
              <a:rPr sz="2000" dirty="0">
                <a:solidFill>
                  <a:srgbClr val="001F5F"/>
                </a:solidFill>
                <a:latin typeface="Times New Roman"/>
                <a:cs typeface="Times New Roman"/>
              </a:rPr>
              <a:t>example</a:t>
            </a:r>
            <a:r>
              <a:rPr sz="2000" spc="260" dirty="0">
                <a:solidFill>
                  <a:srgbClr val="001F5F"/>
                </a:solidFill>
                <a:latin typeface="Times New Roman"/>
                <a:cs typeface="Times New Roman"/>
              </a:rPr>
              <a:t> </a:t>
            </a:r>
            <a:r>
              <a:rPr sz="2000" dirty="0">
                <a:solidFill>
                  <a:srgbClr val="001F5F"/>
                </a:solidFill>
                <a:latin typeface="Times New Roman"/>
                <a:cs typeface="Times New Roman"/>
              </a:rPr>
              <a:t>of</a:t>
            </a:r>
            <a:r>
              <a:rPr sz="2000" spc="265" dirty="0">
                <a:solidFill>
                  <a:srgbClr val="001F5F"/>
                </a:solidFill>
                <a:latin typeface="Times New Roman"/>
                <a:cs typeface="Times New Roman"/>
              </a:rPr>
              <a:t> </a:t>
            </a:r>
            <a:r>
              <a:rPr sz="2000" spc="-10" dirty="0">
                <a:solidFill>
                  <a:srgbClr val="001F5F"/>
                </a:solidFill>
                <a:latin typeface="Times New Roman"/>
                <a:cs typeface="Times New Roman"/>
              </a:rPr>
              <a:t>applied </a:t>
            </a:r>
            <a:r>
              <a:rPr sz="2000" dirty="0">
                <a:solidFill>
                  <a:srgbClr val="001F5F"/>
                </a:solidFill>
                <a:latin typeface="Times New Roman"/>
                <a:cs typeface="Times New Roman"/>
              </a:rPr>
              <a:t>research</a:t>
            </a:r>
            <a:r>
              <a:rPr sz="2000" spc="-45" dirty="0">
                <a:solidFill>
                  <a:srgbClr val="001F5F"/>
                </a:solidFill>
                <a:latin typeface="Times New Roman"/>
                <a:cs typeface="Times New Roman"/>
              </a:rPr>
              <a:t> </a:t>
            </a:r>
            <a:r>
              <a:rPr sz="2000" dirty="0">
                <a:solidFill>
                  <a:srgbClr val="001F5F"/>
                </a:solidFill>
                <a:latin typeface="Times New Roman"/>
                <a:cs typeface="Times New Roman"/>
              </a:rPr>
              <a:t>in</a:t>
            </a:r>
            <a:r>
              <a:rPr sz="2000" spc="-10" dirty="0">
                <a:solidFill>
                  <a:srgbClr val="001F5F"/>
                </a:solidFill>
                <a:latin typeface="Times New Roman"/>
                <a:cs typeface="Times New Roman"/>
              </a:rPr>
              <a:t> </a:t>
            </a:r>
            <a:r>
              <a:rPr sz="2000" dirty="0">
                <a:solidFill>
                  <a:srgbClr val="001F5F"/>
                </a:solidFill>
                <a:latin typeface="Times New Roman"/>
                <a:cs typeface="Times New Roman"/>
              </a:rPr>
              <a:t>the</a:t>
            </a:r>
            <a:r>
              <a:rPr sz="2000" spc="-35" dirty="0">
                <a:solidFill>
                  <a:srgbClr val="001F5F"/>
                </a:solidFill>
                <a:latin typeface="Times New Roman"/>
                <a:cs typeface="Times New Roman"/>
              </a:rPr>
              <a:t> </a:t>
            </a:r>
            <a:r>
              <a:rPr sz="2000" dirty="0">
                <a:solidFill>
                  <a:srgbClr val="001F5F"/>
                </a:solidFill>
                <a:latin typeface="Times New Roman"/>
                <a:cs typeface="Times New Roman"/>
              </a:rPr>
              <a:t>computer</a:t>
            </a:r>
            <a:r>
              <a:rPr sz="2000" spc="-20" dirty="0">
                <a:solidFill>
                  <a:srgbClr val="001F5F"/>
                </a:solidFill>
                <a:latin typeface="Times New Roman"/>
                <a:cs typeface="Times New Roman"/>
              </a:rPr>
              <a:t> </a:t>
            </a:r>
            <a:r>
              <a:rPr sz="2000" dirty="0">
                <a:solidFill>
                  <a:srgbClr val="001F5F"/>
                </a:solidFill>
                <a:latin typeface="Times New Roman"/>
                <a:cs typeface="Times New Roman"/>
              </a:rPr>
              <a:t>engineering</a:t>
            </a:r>
            <a:r>
              <a:rPr sz="2000" spc="-40" dirty="0">
                <a:solidFill>
                  <a:srgbClr val="001F5F"/>
                </a:solidFill>
                <a:latin typeface="Times New Roman"/>
                <a:cs typeface="Times New Roman"/>
              </a:rPr>
              <a:t> </a:t>
            </a:r>
            <a:r>
              <a:rPr sz="2000" spc="-10" dirty="0">
                <a:solidFill>
                  <a:srgbClr val="001F5F"/>
                </a:solidFill>
                <a:latin typeface="Times New Roman"/>
                <a:cs typeface="Times New Roman"/>
              </a:rPr>
              <a:t>domain.</a:t>
            </a:r>
            <a:endParaRPr sz="2000">
              <a:latin typeface="Times New Roman"/>
              <a:cs typeface="Times New Roman"/>
            </a:endParaRPr>
          </a:p>
        </p:txBody>
      </p:sp>
      <p:pic>
        <p:nvPicPr>
          <p:cNvPr id="6" name="object 6"/>
          <p:cNvPicPr/>
          <p:nvPr/>
        </p:nvPicPr>
        <p:blipFill>
          <a:blip r:embed="rId3" cstate="print"/>
          <a:stretch>
            <a:fillRect/>
          </a:stretch>
        </p:blipFill>
        <p:spPr>
          <a:xfrm>
            <a:off x="1941918" y="417667"/>
            <a:ext cx="1831162" cy="536264"/>
          </a:xfrm>
          <a:prstGeom prst="rect">
            <a:avLst/>
          </a:prstGeom>
        </p:spPr>
      </p:pic>
      <p:sp>
        <p:nvSpPr>
          <p:cNvPr id="11" name="Slide Number Placeholder 10"/>
          <p:cNvSpPr>
            <a:spLocks noGrp="1"/>
          </p:cNvSpPr>
          <p:nvPr>
            <p:ph type="sldNum" sz="quarter" idx="7"/>
          </p:nvPr>
        </p:nvSpPr>
        <p:spPr>
          <a:xfrm>
            <a:off x="230428" y="6329531"/>
            <a:ext cx="299720" cy="227965"/>
          </a:xfrm>
          <a:prstGeom prst="rect">
            <a:avLst/>
          </a:prstGeom>
        </p:spPr>
        <p:txBody>
          <a:bodyPr wrap="square" lIns="0" tIns="0" rIns="0" bIns="0">
            <a:spAutoFit/>
          </a:bodyPr>
          <a:lstStyle>
            <a:defPPr>
              <a:defRPr kern="0"/>
            </a:defPPr>
            <a:lvl1pPr>
              <a:defRPr sz="1400" b="0" i="0">
                <a:solidFill>
                  <a:schemeClr val="bg1"/>
                </a:solidFill>
                <a:latin typeface="Franklin Gothic Book"/>
                <a:cs typeface="Franklin Gothic Book"/>
              </a:defRPr>
            </a:lvl1pPr>
          </a:lstStyle>
          <a:p>
            <a:pPr marL="38100">
              <a:lnSpc>
                <a:spcPts val="1664"/>
              </a:lnSpc>
            </a:pPr>
            <a:fld id="{81D60167-4931-47E6-BA6A-407CBD079E47}" type="slidenum">
              <a:rPr lang="en-IN" spc="-25" smtClean="0"/>
              <a:pPr marL="38100">
                <a:lnSpc>
                  <a:spcPts val="1664"/>
                </a:lnSpc>
              </a:pPr>
              <a:t>18</a:t>
            </a:fld>
            <a:endParaRPr lang="en-US" spc="-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754879" y="616117"/>
            <a:ext cx="4101084" cy="178838"/>
          </a:xfrm>
          <a:prstGeom prst="rect">
            <a:avLst/>
          </a:prstGeom>
        </p:spPr>
      </p:pic>
      <p:sp>
        <p:nvSpPr>
          <p:cNvPr id="4" name="object 4"/>
          <p:cNvSpPr/>
          <p:nvPr/>
        </p:nvSpPr>
        <p:spPr>
          <a:xfrm>
            <a:off x="1670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4F81BC"/>
          </a:solidFill>
        </p:spPr>
        <p:txBody>
          <a:bodyPr wrap="square" lIns="0" tIns="0" rIns="0" bIns="0" rtlCol="0"/>
          <a:lstStyle/>
          <a:p>
            <a:endParaRPr/>
          </a:p>
        </p:txBody>
      </p:sp>
      <p:sp>
        <p:nvSpPr>
          <p:cNvPr id="5" name="object 5"/>
          <p:cNvSpPr txBox="1"/>
          <p:nvPr/>
        </p:nvSpPr>
        <p:spPr>
          <a:xfrm>
            <a:off x="1983741" y="1188465"/>
            <a:ext cx="8074025" cy="4306570"/>
          </a:xfrm>
          <a:prstGeom prst="rect">
            <a:avLst/>
          </a:prstGeom>
        </p:spPr>
        <p:txBody>
          <a:bodyPr vert="horz" wrap="square" lIns="0" tIns="13335" rIns="0" bIns="0" rtlCol="0">
            <a:spAutoFit/>
          </a:bodyPr>
          <a:lstStyle/>
          <a:p>
            <a:pPr marL="12700">
              <a:spcBef>
                <a:spcPts val="105"/>
              </a:spcBef>
            </a:pPr>
            <a:r>
              <a:rPr sz="2000" b="1" i="1" spc="-10" dirty="0">
                <a:solidFill>
                  <a:srgbClr val="C00000"/>
                </a:solidFill>
                <a:latin typeface="Times New Roman"/>
                <a:cs typeface="Times New Roman"/>
              </a:rPr>
              <a:t>Example</a:t>
            </a:r>
            <a:r>
              <a:rPr sz="2000" i="1" spc="-10" dirty="0">
                <a:solidFill>
                  <a:srgbClr val="C00000"/>
                </a:solidFill>
                <a:latin typeface="Times New Roman"/>
                <a:cs typeface="Times New Roman"/>
              </a:rPr>
              <a:t>:</a:t>
            </a:r>
            <a:endParaRPr sz="2000" dirty="0">
              <a:latin typeface="Times New Roman"/>
              <a:cs typeface="Times New Roman"/>
            </a:endParaRPr>
          </a:p>
          <a:p>
            <a:pPr marL="285115" marR="6985" indent="-273050">
              <a:lnSpc>
                <a:spcPct val="150100"/>
              </a:lnSpc>
              <a:spcBef>
                <a:spcPts val="500"/>
              </a:spcBef>
              <a:buClr>
                <a:srgbClr val="C00000"/>
              </a:buClr>
              <a:buSzPct val="85000"/>
              <a:buFont typeface="Wingdings 2"/>
              <a:buChar char=""/>
              <a:tabLst>
                <a:tab pos="285115" algn="l"/>
              </a:tabLst>
            </a:pPr>
            <a:r>
              <a:rPr sz="2000" dirty="0">
                <a:solidFill>
                  <a:srgbClr val="001F5F"/>
                </a:solidFill>
                <a:latin typeface="Times New Roman"/>
                <a:cs typeface="Times New Roman"/>
              </a:rPr>
              <a:t>2.</a:t>
            </a:r>
            <a:r>
              <a:rPr sz="2000" spc="40" dirty="0">
                <a:solidFill>
                  <a:srgbClr val="001F5F"/>
                </a:solidFill>
                <a:latin typeface="Times New Roman"/>
                <a:cs typeface="Times New Roman"/>
              </a:rPr>
              <a:t> </a:t>
            </a:r>
            <a:r>
              <a:rPr sz="2000" dirty="0">
                <a:solidFill>
                  <a:srgbClr val="001F5F"/>
                </a:solidFill>
                <a:latin typeface="Times New Roman"/>
                <a:cs typeface="Times New Roman"/>
              </a:rPr>
              <a:t>“Analysis</a:t>
            </a:r>
            <a:r>
              <a:rPr sz="2000" spc="20" dirty="0">
                <a:solidFill>
                  <a:srgbClr val="001F5F"/>
                </a:solidFill>
                <a:latin typeface="Times New Roman"/>
                <a:cs typeface="Times New Roman"/>
              </a:rPr>
              <a:t> </a:t>
            </a:r>
            <a:r>
              <a:rPr sz="2000" dirty="0">
                <a:solidFill>
                  <a:srgbClr val="001F5F"/>
                </a:solidFill>
                <a:latin typeface="Times New Roman"/>
                <a:cs typeface="Times New Roman"/>
              </a:rPr>
              <a:t>of</a:t>
            </a:r>
            <a:r>
              <a:rPr sz="2000" spc="30" dirty="0">
                <a:solidFill>
                  <a:srgbClr val="001F5F"/>
                </a:solidFill>
                <a:latin typeface="Times New Roman"/>
                <a:cs typeface="Times New Roman"/>
              </a:rPr>
              <a:t> </a:t>
            </a:r>
            <a:r>
              <a:rPr sz="2000" dirty="0">
                <a:solidFill>
                  <a:srgbClr val="001F5F"/>
                </a:solidFill>
                <a:latin typeface="Times New Roman"/>
                <a:cs typeface="Times New Roman"/>
              </a:rPr>
              <a:t>cell/body</a:t>
            </a:r>
            <a:r>
              <a:rPr sz="2000" spc="45" dirty="0">
                <a:solidFill>
                  <a:srgbClr val="001F5F"/>
                </a:solidFill>
                <a:latin typeface="Times New Roman"/>
                <a:cs typeface="Times New Roman"/>
              </a:rPr>
              <a:t> </a:t>
            </a:r>
            <a:r>
              <a:rPr sz="2000" dirty="0">
                <a:solidFill>
                  <a:srgbClr val="001F5F"/>
                </a:solidFill>
                <a:latin typeface="Times New Roman"/>
                <a:cs typeface="Times New Roman"/>
              </a:rPr>
              <a:t>organ</a:t>
            </a:r>
            <a:r>
              <a:rPr sz="2000" spc="30" dirty="0">
                <a:solidFill>
                  <a:srgbClr val="001F5F"/>
                </a:solidFill>
                <a:latin typeface="Times New Roman"/>
                <a:cs typeface="Times New Roman"/>
              </a:rPr>
              <a:t> </a:t>
            </a:r>
            <a:r>
              <a:rPr sz="2000" dirty="0">
                <a:solidFill>
                  <a:srgbClr val="001F5F"/>
                </a:solidFill>
                <a:latin typeface="Times New Roman"/>
                <a:cs typeface="Times New Roman"/>
              </a:rPr>
              <a:t>behavior</a:t>
            </a:r>
            <a:r>
              <a:rPr sz="2000" spc="40" dirty="0">
                <a:solidFill>
                  <a:srgbClr val="001F5F"/>
                </a:solidFill>
                <a:latin typeface="Times New Roman"/>
                <a:cs typeface="Times New Roman"/>
              </a:rPr>
              <a:t> </a:t>
            </a:r>
            <a:r>
              <a:rPr sz="2000" dirty="0">
                <a:solidFill>
                  <a:srgbClr val="001F5F"/>
                </a:solidFill>
                <a:latin typeface="Times New Roman"/>
                <a:cs typeface="Times New Roman"/>
              </a:rPr>
              <a:t>in</a:t>
            </a:r>
            <a:r>
              <a:rPr sz="2000" spc="50" dirty="0">
                <a:solidFill>
                  <a:srgbClr val="001F5F"/>
                </a:solidFill>
                <a:latin typeface="Times New Roman"/>
                <a:cs typeface="Times New Roman"/>
              </a:rPr>
              <a:t> </a:t>
            </a:r>
            <a:r>
              <a:rPr sz="2000" dirty="0">
                <a:solidFill>
                  <a:srgbClr val="001F5F"/>
                </a:solidFill>
                <a:latin typeface="Times New Roman"/>
                <a:cs typeface="Times New Roman"/>
              </a:rPr>
              <a:t>cancer”</a:t>
            </a:r>
            <a:r>
              <a:rPr sz="2000" spc="40" dirty="0">
                <a:solidFill>
                  <a:srgbClr val="001F5F"/>
                </a:solidFill>
                <a:latin typeface="Times New Roman"/>
                <a:cs typeface="Times New Roman"/>
              </a:rPr>
              <a:t> </a:t>
            </a:r>
            <a:r>
              <a:rPr sz="2000" dirty="0">
                <a:solidFill>
                  <a:srgbClr val="001F5F"/>
                </a:solidFill>
                <a:latin typeface="Times New Roman"/>
                <a:cs typeface="Times New Roman"/>
              </a:rPr>
              <a:t>is</a:t>
            </a:r>
            <a:r>
              <a:rPr sz="2000" spc="25" dirty="0">
                <a:solidFill>
                  <a:srgbClr val="001F5F"/>
                </a:solidFill>
                <a:latin typeface="Times New Roman"/>
                <a:cs typeface="Times New Roman"/>
              </a:rPr>
              <a:t> </a:t>
            </a:r>
            <a:r>
              <a:rPr sz="2000" dirty="0">
                <a:solidFill>
                  <a:srgbClr val="001F5F"/>
                </a:solidFill>
                <a:latin typeface="Times New Roman"/>
                <a:cs typeface="Times New Roman"/>
              </a:rPr>
              <a:t>an</a:t>
            </a:r>
            <a:r>
              <a:rPr sz="2000" spc="30" dirty="0">
                <a:solidFill>
                  <a:srgbClr val="001F5F"/>
                </a:solidFill>
                <a:latin typeface="Times New Roman"/>
                <a:cs typeface="Times New Roman"/>
              </a:rPr>
              <a:t> </a:t>
            </a:r>
            <a:r>
              <a:rPr sz="2000" dirty="0">
                <a:solidFill>
                  <a:srgbClr val="001F5F"/>
                </a:solidFill>
                <a:latin typeface="Times New Roman"/>
                <a:cs typeface="Times New Roman"/>
              </a:rPr>
              <a:t>example</a:t>
            </a:r>
            <a:r>
              <a:rPr sz="2000" spc="45" dirty="0">
                <a:solidFill>
                  <a:srgbClr val="001F5F"/>
                </a:solidFill>
                <a:latin typeface="Times New Roman"/>
                <a:cs typeface="Times New Roman"/>
              </a:rPr>
              <a:t> </a:t>
            </a:r>
            <a:r>
              <a:rPr sz="2000" dirty="0">
                <a:solidFill>
                  <a:srgbClr val="001F5F"/>
                </a:solidFill>
                <a:latin typeface="Times New Roman"/>
                <a:cs typeface="Times New Roman"/>
              </a:rPr>
              <a:t>of</a:t>
            </a:r>
            <a:r>
              <a:rPr sz="2000" spc="30" dirty="0">
                <a:solidFill>
                  <a:srgbClr val="001F5F"/>
                </a:solidFill>
                <a:latin typeface="Times New Roman"/>
                <a:cs typeface="Times New Roman"/>
              </a:rPr>
              <a:t> </a:t>
            </a:r>
            <a:r>
              <a:rPr sz="2000" spc="-10" dirty="0">
                <a:solidFill>
                  <a:srgbClr val="001F5F"/>
                </a:solidFill>
                <a:latin typeface="Times New Roman"/>
                <a:cs typeface="Times New Roman"/>
              </a:rPr>
              <a:t>hybrid research.</a:t>
            </a:r>
            <a:endParaRPr sz="2000" dirty="0">
              <a:latin typeface="Times New Roman"/>
              <a:cs typeface="Times New Roman"/>
            </a:endParaRPr>
          </a:p>
          <a:p>
            <a:pPr marL="285115" marR="5715" indent="-273050">
              <a:lnSpc>
                <a:spcPct val="150000"/>
              </a:lnSpc>
              <a:spcBef>
                <a:spcPts val="490"/>
              </a:spcBef>
              <a:buClr>
                <a:srgbClr val="C00000"/>
              </a:buClr>
              <a:buSzPct val="85000"/>
              <a:buFont typeface="Wingdings 2"/>
              <a:buChar char=""/>
              <a:tabLst>
                <a:tab pos="285115" algn="l"/>
              </a:tabLst>
            </a:pPr>
            <a:r>
              <a:rPr sz="2000" dirty="0">
                <a:solidFill>
                  <a:srgbClr val="001F5F"/>
                </a:solidFill>
                <a:latin typeface="Times New Roman"/>
                <a:cs typeface="Times New Roman"/>
              </a:rPr>
              <a:t>A</a:t>
            </a:r>
            <a:r>
              <a:rPr sz="2000" spc="345" dirty="0">
                <a:solidFill>
                  <a:srgbClr val="001F5F"/>
                </a:solidFill>
                <a:latin typeface="Times New Roman"/>
                <a:cs typeface="Times New Roman"/>
              </a:rPr>
              <a:t> </a:t>
            </a:r>
            <a:r>
              <a:rPr sz="2000" dirty="0">
                <a:solidFill>
                  <a:srgbClr val="001F5F"/>
                </a:solidFill>
                <a:latin typeface="Times New Roman"/>
                <a:cs typeface="Times New Roman"/>
              </a:rPr>
              <a:t>researcher</a:t>
            </a:r>
            <a:r>
              <a:rPr sz="2000" spc="445" dirty="0">
                <a:solidFill>
                  <a:srgbClr val="001F5F"/>
                </a:solidFill>
                <a:latin typeface="Times New Roman"/>
                <a:cs typeface="Times New Roman"/>
              </a:rPr>
              <a:t> </a:t>
            </a:r>
            <a:r>
              <a:rPr sz="2000" dirty="0">
                <a:solidFill>
                  <a:srgbClr val="001F5F"/>
                </a:solidFill>
                <a:latin typeface="Times New Roman"/>
                <a:cs typeface="Times New Roman"/>
              </a:rPr>
              <a:t>may</a:t>
            </a:r>
            <a:r>
              <a:rPr sz="2000" spc="450" dirty="0">
                <a:solidFill>
                  <a:srgbClr val="001F5F"/>
                </a:solidFill>
                <a:latin typeface="Times New Roman"/>
                <a:cs typeface="Times New Roman"/>
              </a:rPr>
              <a:t> </a:t>
            </a:r>
            <a:r>
              <a:rPr sz="2000" dirty="0">
                <a:solidFill>
                  <a:srgbClr val="001F5F"/>
                </a:solidFill>
                <a:latin typeface="Times New Roman"/>
                <a:cs typeface="Times New Roman"/>
              </a:rPr>
              <a:t>use</a:t>
            </a:r>
            <a:r>
              <a:rPr sz="2000" spc="459" dirty="0">
                <a:solidFill>
                  <a:srgbClr val="001F5F"/>
                </a:solidFill>
                <a:latin typeface="Times New Roman"/>
                <a:cs typeface="Times New Roman"/>
              </a:rPr>
              <a:t> </a:t>
            </a:r>
            <a:r>
              <a:rPr sz="2000" dirty="0">
                <a:solidFill>
                  <a:srgbClr val="001F5F"/>
                </a:solidFill>
                <a:latin typeface="Times New Roman"/>
                <a:cs typeface="Times New Roman"/>
              </a:rPr>
              <a:t>data</a:t>
            </a:r>
            <a:r>
              <a:rPr sz="2000" spc="445" dirty="0">
                <a:solidFill>
                  <a:srgbClr val="001F5F"/>
                </a:solidFill>
                <a:latin typeface="Times New Roman"/>
                <a:cs typeface="Times New Roman"/>
              </a:rPr>
              <a:t> </a:t>
            </a:r>
            <a:r>
              <a:rPr sz="2000" dirty="0">
                <a:solidFill>
                  <a:srgbClr val="001F5F"/>
                </a:solidFill>
                <a:latin typeface="Times New Roman"/>
                <a:cs typeface="Times New Roman"/>
              </a:rPr>
              <a:t>analytics,</a:t>
            </a:r>
            <a:r>
              <a:rPr sz="2000" spc="459" dirty="0">
                <a:solidFill>
                  <a:srgbClr val="001F5F"/>
                </a:solidFill>
                <a:latin typeface="Times New Roman"/>
                <a:cs typeface="Times New Roman"/>
              </a:rPr>
              <a:t> </a:t>
            </a:r>
            <a:r>
              <a:rPr sz="2000" dirty="0">
                <a:solidFill>
                  <a:srgbClr val="001F5F"/>
                </a:solidFill>
                <a:latin typeface="Times New Roman"/>
                <a:cs typeface="Times New Roman"/>
              </a:rPr>
              <a:t>image</a:t>
            </a:r>
            <a:r>
              <a:rPr sz="2000" spc="450" dirty="0">
                <a:solidFill>
                  <a:srgbClr val="001F5F"/>
                </a:solidFill>
                <a:latin typeface="Times New Roman"/>
                <a:cs typeface="Times New Roman"/>
              </a:rPr>
              <a:t> </a:t>
            </a:r>
            <a:r>
              <a:rPr sz="2000" dirty="0">
                <a:solidFill>
                  <a:srgbClr val="001F5F"/>
                </a:solidFill>
                <a:latin typeface="Times New Roman"/>
                <a:cs typeface="Times New Roman"/>
              </a:rPr>
              <a:t>processing,</a:t>
            </a:r>
            <a:r>
              <a:rPr sz="2000" spc="459" dirty="0">
                <a:solidFill>
                  <a:srgbClr val="001F5F"/>
                </a:solidFill>
                <a:latin typeface="Times New Roman"/>
                <a:cs typeface="Times New Roman"/>
              </a:rPr>
              <a:t> </a:t>
            </a:r>
            <a:r>
              <a:rPr sz="2000" dirty="0">
                <a:solidFill>
                  <a:srgbClr val="001F5F"/>
                </a:solidFill>
                <a:latin typeface="Times New Roman"/>
                <a:cs typeface="Times New Roman"/>
              </a:rPr>
              <a:t>algorithms,</a:t>
            </a:r>
            <a:r>
              <a:rPr sz="2000" spc="465" dirty="0">
                <a:solidFill>
                  <a:srgbClr val="001F5F"/>
                </a:solidFill>
                <a:latin typeface="Times New Roman"/>
                <a:cs typeface="Times New Roman"/>
              </a:rPr>
              <a:t> </a:t>
            </a:r>
            <a:r>
              <a:rPr sz="2000" spc="-25" dirty="0">
                <a:solidFill>
                  <a:srgbClr val="001F5F"/>
                </a:solidFill>
                <a:latin typeface="Times New Roman"/>
                <a:cs typeface="Times New Roman"/>
              </a:rPr>
              <a:t>and </a:t>
            </a:r>
            <a:r>
              <a:rPr sz="2000" dirty="0">
                <a:solidFill>
                  <a:srgbClr val="001F5F"/>
                </a:solidFill>
                <a:latin typeface="Times New Roman"/>
                <a:cs typeface="Times New Roman"/>
              </a:rPr>
              <a:t>knowledge</a:t>
            </a:r>
            <a:r>
              <a:rPr sz="2000" spc="-40" dirty="0">
                <a:solidFill>
                  <a:srgbClr val="001F5F"/>
                </a:solidFill>
                <a:latin typeface="Times New Roman"/>
                <a:cs typeface="Times New Roman"/>
              </a:rPr>
              <a:t> </a:t>
            </a:r>
            <a:r>
              <a:rPr sz="2000" dirty="0">
                <a:solidFill>
                  <a:srgbClr val="001F5F"/>
                </a:solidFill>
                <a:latin typeface="Times New Roman"/>
                <a:cs typeface="Times New Roman"/>
              </a:rPr>
              <a:t>of</a:t>
            </a:r>
            <a:r>
              <a:rPr sz="2000" spc="-30" dirty="0">
                <a:solidFill>
                  <a:srgbClr val="001F5F"/>
                </a:solidFill>
                <a:latin typeface="Times New Roman"/>
                <a:cs typeface="Times New Roman"/>
              </a:rPr>
              <a:t> </a:t>
            </a:r>
            <a:r>
              <a:rPr sz="2000" dirty="0">
                <a:solidFill>
                  <a:srgbClr val="001F5F"/>
                </a:solidFill>
                <a:latin typeface="Times New Roman"/>
                <a:cs typeface="Times New Roman"/>
              </a:rPr>
              <a:t>the</a:t>
            </a:r>
            <a:r>
              <a:rPr sz="2000" spc="-20" dirty="0">
                <a:solidFill>
                  <a:srgbClr val="001F5F"/>
                </a:solidFill>
                <a:latin typeface="Times New Roman"/>
                <a:cs typeface="Times New Roman"/>
              </a:rPr>
              <a:t> </a:t>
            </a:r>
            <a:r>
              <a:rPr sz="2000" dirty="0">
                <a:solidFill>
                  <a:srgbClr val="001F5F"/>
                </a:solidFill>
                <a:latin typeface="Times New Roman"/>
                <a:cs typeface="Times New Roman"/>
              </a:rPr>
              <a:t>medical</a:t>
            </a:r>
            <a:r>
              <a:rPr sz="2000" spc="-5" dirty="0">
                <a:solidFill>
                  <a:srgbClr val="001F5F"/>
                </a:solidFill>
                <a:latin typeface="Times New Roman"/>
                <a:cs typeface="Times New Roman"/>
              </a:rPr>
              <a:t> </a:t>
            </a:r>
            <a:r>
              <a:rPr sz="2000" spc="-10" dirty="0">
                <a:solidFill>
                  <a:srgbClr val="001F5F"/>
                </a:solidFill>
                <a:latin typeface="Times New Roman"/>
                <a:cs typeface="Times New Roman"/>
              </a:rPr>
              <a:t>industry.</a:t>
            </a:r>
            <a:endParaRPr sz="2000" dirty="0">
              <a:latin typeface="Times New Roman"/>
              <a:cs typeface="Times New Roman"/>
            </a:endParaRPr>
          </a:p>
          <a:p>
            <a:pPr>
              <a:lnSpc>
                <a:spcPct val="100000"/>
              </a:lnSpc>
            </a:pPr>
            <a:endParaRPr sz="2000" dirty="0">
              <a:latin typeface="Times New Roman"/>
              <a:cs typeface="Times New Roman"/>
            </a:endParaRPr>
          </a:p>
          <a:p>
            <a:pPr>
              <a:spcBef>
                <a:spcPts val="1210"/>
              </a:spcBef>
            </a:pPr>
            <a:endParaRPr sz="2000" dirty="0">
              <a:latin typeface="Times New Roman"/>
              <a:cs typeface="Times New Roman"/>
            </a:endParaRPr>
          </a:p>
          <a:p>
            <a:pPr marL="12700"/>
            <a:r>
              <a:rPr sz="2000" b="1" dirty="0">
                <a:solidFill>
                  <a:srgbClr val="C00000"/>
                </a:solidFill>
                <a:latin typeface="Times New Roman"/>
                <a:cs typeface="Times New Roman"/>
              </a:rPr>
              <a:t>Distinguish</a:t>
            </a:r>
            <a:r>
              <a:rPr sz="2000" b="1" spc="-50" dirty="0">
                <a:solidFill>
                  <a:srgbClr val="C00000"/>
                </a:solidFill>
                <a:latin typeface="Times New Roman"/>
                <a:cs typeface="Times New Roman"/>
              </a:rPr>
              <a:t> </a:t>
            </a:r>
            <a:r>
              <a:rPr sz="2000" b="1" dirty="0">
                <a:solidFill>
                  <a:srgbClr val="C00000"/>
                </a:solidFill>
                <a:latin typeface="Times New Roman"/>
                <a:cs typeface="Times New Roman"/>
              </a:rPr>
              <a:t>between</a:t>
            </a:r>
            <a:r>
              <a:rPr sz="2000" b="1" spc="-35" dirty="0">
                <a:solidFill>
                  <a:srgbClr val="C00000"/>
                </a:solidFill>
                <a:latin typeface="Times New Roman"/>
                <a:cs typeface="Times New Roman"/>
              </a:rPr>
              <a:t> </a:t>
            </a:r>
            <a:r>
              <a:rPr sz="2000" b="1" dirty="0">
                <a:solidFill>
                  <a:srgbClr val="C00000"/>
                </a:solidFill>
                <a:latin typeface="Times New Roman"/>
                <a:cs typeface="Times New Roman"/>
              </a:rPr>
              <a:t>pure</a:t>
            </a:r>
            <a:r>
              <a:rPr sz="2000" b="1" spc="-35" dirty="0">
                <a:solidFill>
                  <a:srgbClr val="C00000"/>
                </a:solidFill>
                <a:latin typeface="Times New Roman"/>
                <a:cs typeface="Times New Roman"/>
              </a:rPr>
              <a:t> </a:t>
            </a:r>
            <a:r>
              <a:rPr sz="2000" b="1" dirty="0">
                <a:solidFill>
                  <a:srgbClr val="C00000"/>
                </a:solidFill>
                <a:latin typeface="Times New Roman"/>
                <a:cs typeface="Times New Roman"/>
              </a:rPr>
              <a:t>research</a:t>
            </a:r>
            <a:r>
              <a:rPr sz="2000" b="1" spc="-40" dirty="0">
                <a:solidFill>
                  <a:srgbClr val="C00000"/>
                </a:solidFill>
                <a:latin typeface="Times New Roman"/>
                <a:cs typeface="Times New Roman"/>
              </a:rPr>
              <a:t> </a:t>
            </a:r>
            <a:r>
              <a:rPr sz="2000" b="1" dirty="0">
                <a:solidFill>
                  <a:srgbClr val="C00000"/>
                </a:solidFill>
                <a:latin typeface="Times New Roman"/>
                <a:cs typeface="Times New Roman"/>
              </a:rPr>
              <a:t>and</a:t>
            </a:r>
            <a:r>
              <a:rPr sz="2000" b="1" spc="-35" dirty="0">
                <a:solidFill>
                  <a:srgbClr val="C00000"/>
                </a:solidFill>
                <a:latin typeface="Times New Roman"/>
                <a:cs typeface="Times New Roman"/>
              </a:rPr>
              <a:t> </a:t>
            </a:r>
            <a:r>
              <a:rPr sz="2000" b="1" dirty="0">
                <a:solidFill>
                  <a:srgbClr val="C00000"/>
                </a:solidFill>
                <a:latin typeface="Times New Roman"/>
                <a:cs typeface="Times New Roman"/>
              </a:rPr>
              <a:t>applied</a:t>
            </a:r>
            <a:r>
              <a:rPr sz="2000" b="1" spc="-40" dirty="0">
                <a:solidFill>
                  <a:srgbClr val="C00000"/>
                </a:solidFill>
                <a:latin typeface="Times New Roman"/>
                <a:cs typeface="Times New Roman"/>
              </a:rPr>
              <a:t> </a:t>
            </a:r>
            <a:r>
              <a:rPr sz="2000" b="1" spc="-10" dirty="0">
                <a:solidFill>
                  <a:srgbClr val="C00000"/>
                </a:solidFill>
                <a:latin typeface="Times New Roman"/>
                <a:cs typeface="Times New Roman"/>
              </a:rPr>
              <a:t>research?</a:t>
            </a:r>
            <a:endParaRPr sz="2000" dirty="0">
              <a:latin typeface="Times New Roman"/>
              <a:cs typeface="Times New Roman"/>
            </a:endParaRPr>
          </a:p>
          <a:p>
            <a:pPr marL="12700" marR="5080">
              <a:lnSpc>
                <a:spcPct val="150100"/>
              </a:lnSpc>
              <a:spcBef>
                <a:spcPts val="490"/>
              </a:spcBef>
              <a:tabLst>
                <a:tab pos="615950" algn="l"/>
                <a:tab pos="1598930" algn="l"/>
                <a:tab pos="2694940" algn="l"/>
                <a:tab pos="3143250" algn="l"/>
                <a:tab pos="3929379" algn="l"/>
                <a:tab pos="4900930" algn="l"/>
                <a:tab pos="5784850" algn="l"/>
                <a:tab pos="6767830" algn="l"/>
                <a:tab pos="7749540" algn="l"/>
              </a:tabLst>
            </a:pPr>
            <a:r>
              <a:rPr sz="2000" spc="-20" dirty="0">
                <a:solidFill>
                  <a:srgbClr val="001F5F"/>
                </a:solidFill>
                <a:latin typeface="Times New Roman"/>
                <a:cs typeface="Times New Roman"/>
              </a:rPr>
              <a:t>Pure</a:t>
            </a:r>
            <a:r>
              <a:rPr sz="2000" dirty="0">
                <a:solidFill>
                  <a:srgbClr val="001F5F"/>
                </a:solidFill>
                <a:latin typeface="Times New Roman"/>
                <a:cs typeface="Times New Roman"/>
              </a:rPr>
              <a:t>	</a:t>
            </a:r>
            <a:r>
              <a:rPr sz="2000" spc="-10" dirty="0">
                <a:solidFill>
                  <a:srgbClr val="001F5F"/>
                </a:solidFill>
                <a:latin typeface="Times New Roman"/>
                <a:cs typeface="Times New Roman"/>
              </a:rPr>
              <a:t>research</a:t>
            </a:r>
            <a:r>
              <a:rPr sz="2000" dirty="0">
                <a:solidFill>
                  <a:srgbClr val="001F5F"/>
                </a:solidFill>
                <a:latin typeface="Times New Roman"/>
                <a:cs typeface="Times New Roman"/>
              </a:rPr>
              <a:t>	</a:t>
            </a:r>
            <a:r>
              <a:rPr sz="2000" spc="-10" dirty="0">
                <a:solidFill>
                  <a:srgbClr val="001F5F"/>
                </a:solidFill>
                <a:latin typeface="Times New Roman"/>
                <a:cs typeface="Times New Roman"/>
              </a:rPr>
              <a:t>enriching</a:t>
            </a:r>
            <a:r>
              <a:rPr sz="2000" dirty="0">
                <a:solidFill>
                  <a:srgbClr val="001F5F"/>
                </a:solidFill>
                <a:latin typeface="Times New Roman"/>
                <a:cs typeface="Times New Roman"/>
              </a:rPr>
              <a:t>	</a:t>
            </a:r>
            <a:r>
              <a:rPr sz="2000" spc="-25" dirty="0">
                <a:solidFill>
                  <a:srgbClr val="001F5F"/>
                </a:solidFill>
                <a:latin typeface="Times New Roman"/>
                <a:cs typeface="Times New Roman"/>
              </a:rPr>
              <a:t>the</a:t>
            </a:r>
            <a:r>
              <a:rPr sz="2000" dirty="0">
                <a:solidFill>
                  <a:srgbClr val="001F5F"/>
                </a:solidFill>
                <a:latin typeface="Times New Roman"/>
                <a:cs typeface="Times New Roman"/>
              </a:rPr>
              <a:t>	</a:t>
            </a:r>
            <a:r>
              <a:rPr sz="2000" spc="-10" dirty="0">
                <a:solidFill>
                  <a:srgbClr val="001F5F"/>
                </a:solidFill>
                <a:latin typeface="Times New Roman"/>
                <a:cs typeface="Times New Roman"/>
              </a:rPr>
              <a:t>theory</a:t>
            </a:r>
            <a:r>
              <a:rPr sz="2000" dirty="0">
                <a:solidFill>
                  <a:srgbClr val="001F5F"/>
                </a:solidFill>
                <a:latin typeface="Times New Roman"/>
                <a:cs typeface="Times New Roman"/>
              </a:rPr>
              <a:t>	</a:t>
            </a:r>
            <a:r>
              <a:rPr sz="2000" spc="-10" dirty="0">
                <a:solidFill>
                  <a:srgbClr val="001F5F"/>
                </a:solidFill>
                <a:latin typeface="Times New Roman"/>
                <a:cs typeface="Times New Roman"/>
              </a:rPr>
              <a:t>whereas</a:t>
            </a:r>
            <a:r>
              <a:rPr sz="2000" dirty="0">
                <a:solidFill>
                  <a:srgbClr val="001F5F"/>
                </a:solidFill>
                <a:latin typeface="Times New Roman"/>
                <a:cs typeface="Times New Roman"/>
              </a:rPr>
              <a:t>	</a:t>
            </a:r>
            <a:r>
              <a:rPr sz="2000" spc="-10" dirty="0">
                <a:solidFill>
                  <a:srgbClr val="001F5F"/>
                </a:solidFill>
                <a:latin typeface="Times New Roman"/>
                <a:cs typeface="Times New Roman"/>
              </a:rPr>
              <a:t>applied</a:t>
            </a:r>
            <a:r>
              <a:rPr sz="2000" dirty="0">
                <a:solidFill>
                  <a:srgbClr val="001F5F"/>
                </a:solidFill>
                <a:latin typeface="Times New Roman"/>
                <a:cs typeface="Times New Roman"/>
              </a:rPr>
              <a:t>	</a:t>
            </a:r>
            <a:r>
              <a:rPr sz="2000" spc="-10" dirty="0">
                <a:solidFill>
                  <a:srgbClr val="001F5F"/>
                </a:solidFill>
                <a:latin typeface="Times New Roman"/>
                <a:cs typeface="Times New Roman"/>
              </a:rPr>
              <a:t>research</a:t>
            </a:r>
            <a:r>
              <a:rPr sz="2000" dirty="0">
                <a:solidFill>
                  <a:srgbClr val="001F5F"/>
                </a:solidFill>
                <a:latin typeface="Times New Roman"/>
                <a:cs typeface="Times New Roman"/>
              </a:rPr>
              <a:t>	</a:t>
            </a:r>
            <a:r>
              <a:rPr sz="2000" spc="-10" dirty="0">
                <a:solidFill>
                  <a:srgbClr val="001F5F"/>
                </a:solidFill>
                <a:latin typeface="Times New Roman"/>
                <a:cs typeface="Times New Roman"/>
              </a:rPr>
              <a:t>enriches</a:t>
            </a:r>
            <a:r>
              <a:rPr sz="2000" dirty="0">
                <a:solidFill>
                  <a:srgbClr val="001F5F"/>
                </a:solidFill>
                <a:latin typeface="Times New Roman"/>
                <a:cs typeface="Times New Roman"/>
              </a:rPr>
              <a:t>	</a:t>
            </a:r>
            <a:r>
              <a:rPr sz="2000" spc="-25" dirty="0">
                <a:solidFill>
                  <a:srgbClr val="001F5F"/>
                </a:solidFill>
                <a:latin typeface="Times New Roman"/>
                <a:cs typeface="Times New Roman"/>
              </a:rPr>
              <a:t>the </a:t>
            </a:r>
            <a:r>
              <a:rPr sz="2000" dirty="0">
                <a:solidFill>
                  <a:srgbClr val="001F5F"/>
                </a:solidFill>
                <a:latin typeface="Times New Roman"/>
                <a:cs typeface="Times New Roman"/>
              </a:rPr>
              <a:t>application</a:t>
            </a:r>
            <a:r>
              <a:rPr sz="2000" spc="-35" dirty="0">
                <a:solidFill>
                  <a:srgbClr val="001F5F"/>
                </a:solidFill>
                <a:latin typeface="Times New Roman"/>
                <a:cs typeface="Times New Roman"/>
              </a:rPr>
              <a:t> </a:t>
            </a:r>
            <a:r>
              <a:rPr sz="2000" dirty="0">
                <a:solidFill>
                  <a:srgbClr val="001F5F"/>
                </a:solidFill>
                <a:latin typeface="Times New Roman"/>
                <a:cs typeface="Times New Roman"/>
              </a:rPr>
              <a:t>of</a:t>
            </a:r>
            <a:r>
              <a:rPr sz="2000" spc="-20" dirty="0">
                <a:solidFill>
                  <a:srgbClr val="001F5F"/>
                </a:solidFill>
                <a:latin typeface="Times New Roman"/>
                <a:cs typeface="Times New Roman"/>
              </a:rPr>
              <a:t> </a:t>
            </a:r>
            <a:r>
              <a:rPr sz="2000" dirty="0">
                <a:solidFill>
                  <a:srgbClr val="001F5F"/>
                </a:solidFill>
                <a:latin typeface="Times New Roman"/>
                <a:cs typeface="Times New Roman"/>
              </a:rPr>
              <a:t>the</a:t>
            </a:r>
            <a:r>
              <a:rPr sz="2000" spc="-10" dirty="0">
                <a:solidFill>
                  <a:srgbClr val="001F5F"/>
                </a:solidFill>
                <a:latin typeface="Times New Roman"/>
                <a:cs typeface="Times New Roman"/>
              </a:rPr>
              <a:t> theory.</a:t>
            </a:r>
            <a:endParaRPr sz="2000" dirty="0">
              <a:latin typeface="Times New Roman"/>
              <a:cs typeface="Times New Roman"/>
            </a:endParaRPr>
          </a:p>
        </p:txBody>
      </p:sp>
      <p:pic>
        <p:nvPicPr>
          <p:cNvPr id="6" name="object 6"/>
          <p:cNvPicPr/>
          <p:nvPr/>
        </p:nvPicPr>
        <p:blipFill>
          <a:blip r:embed="rId3" cstate="print"/>
          <a:stretch>
            <a:fillRect/>
          </a:stretch>
        </p:blipFill>
        <p:spPr>
          <a:xfrm>
            <a:off x="1941918" y="417667"/>
            <a:ext cx="1831162" cy="536264"/>
          </a:xfrm>
          <a:prstGeom prst="rect">
            <a:avLst/>
          </a:prstGeom>
        </p:spPr>
      </p:pic>
      <p:sp>
        <p:nvSpPr>
          <p:cNvPr id="11" name="Slide Number Placeholder 10"/>
          <p:cNvSpPr>
            <a:spLocks noGrp="1"/>
          </p:cNvSpPr>
          <p:nvPr>
            <p:ph type="sldNum" sz="quarter" idx="7"/>
          </p:nvPr>
        </p:nvSpPr>
        <p:spPr>
          <a:xfrm>
            <a:off x="230428" y="6329531"/>
            <a:ext cx="299720" cy="227965"/>
          </a:xfrm>
          <a:prstGeom prst="rect">
            <a:avLst/>
          </a:prstGeom>
        </p:spPr>
        <p:txBody>
          <a:bodyPr wrap="square" lIns="0" tIns="0" rIns="0" bIns="0">
            <a:spAutoFit/>
          </a:bodyPr>
          <a:lstStyle>
            <a:defPPr>
              <a:defRPr kern="0"/>
            </a:defPPr>
            <a:lvl1pPr>
              <a:defRPr sz="1400" b="0" i="0">
                <a:solidFill>
                  <a:schemeClr val="bg1"/>
                </a:solidFill>
                <a:latin typeface="Franklin Gothic Book"/>
                <a:cs typeface="Franklin Gothic Book"/>
              </a:defRPr>
            </a:lvl1pPr>
          </a:lstStyle>
          <a:p>
            <a:pPr marL="38100">
              <a:lnSpc>
                <a:spcPts val="1664"/>
              </a:lnSpc>
            </a:pPr>
            <a:fld id="{81D60167-4931-47E6-BA6A-407CBD079E47}" type="slidenum">
              <a:rPr lang="en-IN" spc="-25" smtClean="0"/>
              <a:pPr marL="38100">
                <a:lnSpc>
                  <a:spcPts val="1664"/>
                </a:lnSpc>
              </a:pPr>
              <a:t>19</a:t>
            </a:fld>
            <a:endParaRPr lang="en-US" spc="-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62923"/>
          </a:xfrm>
        </p:spPr>
        <p:txBody>
          <a:bodyPr>
            <a:normAutofit/>
          </a:bodyPr>
          <a:lstStyle/>
          <a:p>
            <a:pPr algn="ctr"/>
            <a:r>
              <a:rPr lang="en-US" sz="3200" b="1" dirty="0">
                <a:solidFill>
                  <a:srgbClr val="0000FF"/>
                </a:solidFill>
              </a:rPr>
              <a:t>Types of Research</a:t>
            </a:r>
            <a:endParaRPr lang="en-IN" sz="3200" b="1" dirty="0">
              <a:solidFill>
                <a:srgbClr val="0000FF"/>
              </a:solidFill>
            </a:endParaRPr>
          </a:p>
        </p:txBody>
      </p:sp>
      <p:sp>
        <p:nvSpPr>
          <p:cNvPr id="3" name="Content Placeholder 2"/>
          <p:cNvSpPr>
            <a:spLocks noGrp="1"/>
          </p:cNvSpPr>
          <p:nvPr>
            <p:ph idx="1"/>
          </p:nvPr>
        </p:nvSpPr>
        <p:spPr>
          <a:xfrm>
            <a:off x="838200" y="928048"/>
            <a:ext cx="10515600" cy="5248915"/>
          </a:xfrm>
        </p:spPr>
        <p:txBody>
          <a:bodyPr>
            <a:normAutofit/>
          </a:bodyPr>
          <a:lstStyle/>
          <a:p>
            <a:pPr marL="0" indent="0">
              <a:buNone/>
            </a:pPr>
            <a:r>
              <a:rPr lang="en-US" dirty="0"/>
              <a:t>Descriptive Research — </a:t>
            </a:r>
            <a:r>
              <a:rPr lang="en-US" i="1" dirty="0"/>
              <a:t>Ex post facto </a:t>
            </a:r>
            <a:r>
              <a:rPr lang="en-US" dirty="0"/>
              <a:t>research</a:t>
            </a:r>
            <a:endParaRPr lang="en-IN" sz="1200" dirty="0"/>
          </a:p>
          <a:p>
            <a:pPr lvl="1"/>
            <a:r>
              <a:rPr lang="en-US" dirty="0"/>
              <a:t>To portray accurately (survey) the characteristics </a:t>
            </a:r>
          </a:p>
          <a:p>
            <a:pPr marL="457200" lvl="1" indent="0">
              <a:buNone/>
            </a:pPr>
            <a:r>
              <a:rPr lang="en-US" dirty="0"/>
              <a:t>of a particular individual, situation or a group.</a:t>
            </a:r>
            <a:endParaRPr lang="en-IN" sz="1200" dirty="0"/>
          </a:p>
          <a:p>
            <a:pPr lvl="1"/>
            <a:r>
              <a:rPr lang="en-US" dirty="0"/>
              <a:t>Mostly involves primary data — the researcher </a:t>
            </a:r>
          </a:p>
          <a:p>
            <a:pPr marL="457200" lvl="1" indent="0">
              <a:buNone/>
            </a:pPr>
            <a:r>
              <a:rPr lang="en-US" dirty="0"/>
              <a:t>has no control over the variable — he can only report</a:t>
            </a:r>
          </a:p>
          <a:p>
            <a:pPr marL="457200" lvl="1" indent="0">
              <a:buNone/>
            </a:pPr>
            <a:r>
              <a:rPr lang="en-US" dirty="0"/>
              <a:t>what has happened or what is happening. </a:t>
            </a:r>
            <a:r>
              <a:rPr lang="en-US" i="1" dirty="0"/>
              <a:t>(Ex post factor)</a:t>
            </a:r>
            <a:endParaRPr lang="en-IN" dirty="0"/>
          </a:p>
          <a:p>
            <a:pPr lvl="1"/>
            <a:r>
              <a:rPr lang="en-US" dirty="0"/>
              <a:t>Some examples are:</a:t>
            </a:r>
          </a:p>
          <a:p>
            <a:pPr lvl="1">
              <a:buFont typeface="Wingdings" panose="05000000000000000000" pitchFamily="2" charset="2"/>
              <a:buChar char="v"/>
            </a:pPr>
            <a:r>
              <a:rPr lang="en-US" dirty="0"/>
              <a:t>Number of man-days lost in a factory because of accidents</a:t>
            </a:r>
            <a:endParaRPr lang="en-IN" dirty="0"/>
          </a:p>
          <a:p>
            <a:pPr lvl="1">
              <a:buFont typeface="Wingdings" panose="05000000000000000000" pitchFamily="2" charset="2"/>
              <a:buChar char="v"/>
            </a:pPr>
            <a:r>
              <a:rPr lang="en-US" dirty="0"/>
              <a:t>Number of COVID related deaths due to the pandemic</a:t>
            </a:r>
            <a:endParaRPr lang="en-IN" sz="1000" dirty="0"/>
          </a:p>
          <a:p>
            <a:pPr lvl="1">
              <a:buFont typeface="Wingdings" panose="05000000000000000000" pitchFamily="2" charset="2"/>
              <a:buChar char="v"/>
            </a:pPr>
            <a:r>
              <a:rPr lang="en-US" dirty="0"/>
              <a:t>Gender, age and other demographics of a population</a:t>
            </a:r>
            <a:endParaRPr lang="en-IN" sz="1000" dirty="0"/>
          </a:p>
          <a:p>
            <a:endParaRPr lang="en-IN" dirty="0"/>
          </a:p>
        </p:txBody>
      </p:sp>
      <p:sp>
        <p:nvSpPr>
          <p:cNvPr id="6" name="Rectangle 5"/>
          <p:cNvSpPr/>
          <p:nvPr/>
        </p:nvSpPr>
        <p:spPr>
          <a:xfrm>
            <a:off x="8728946" y="3610094"/>
            <a:ext cx="2524922" cy="369332"/>
          </a:xfrm>
          <a:prstGeom prst="rect">
            <a:avLst/>
          </a:prstGeom>
        </p:spPr>
        <p:txBody>
          <a:bodyPr wrap="none">
            <a:spAutoFit/>
          </a:bodyPr>
          <a:lstStyle/>
          <a:p>
            <a:pPr marL="146685" marR="0">
              <a:spcBef>
                <a:spcPts val="895"/>
              </a:spcBef>
              <a:spcAft>
                <a:spcPts val="0"/>
              </a:spcAft>
            </a:pPr>
            <a:r>
              <a:rPr lang="en-US" spc="-10" dirty="0">
                <a:solidFill>
                  <a:srgbClr val="444444"/>
                </a:solidFill>
                <a:latin typeface="Calibri" panose="020F0502020204030204" pitchFamily="34" charset="0"/>
                <a:ea typeface="Calibri" panose="020F0502020204030204" pitchFamily="34" charset="0"/>
              </a:rPr>
              <a:t>DESCRIPTIVE</a:t>
            </a:r>
            <a:r>
              <a:rPr lang="en-US" spc="-50" dirty="0">
                <a:solidFill>
                  <a:srgbClr val="444444"/>
                </a:solidFill>
                <a:latin typeface="Calibri" panose="020F0502020204030204" pitchFamily="34" charset="0"/>
                <a:ea typeface="Calibri" panose="020F0502020204030204" pitchFamily="34" charset="0"/>
              </a:rPr>
              <a:t> </a:t>
            </a:r>
            <a:r>
              <a:rPr lang="en-US" spc="-10" dirty="0">
                <a:solidFill>
                  <a:srgbClr val="4F6275"/>
                </a:solidFill>
                <a:latin typeface="Calibri" panose="020F0502020204030204" pitchFamily="34" charset="0"/>
                <a:ea typeface="Calibri" panose="020F0502020204030204" pitchFamily="34" charset="0"/>
              </a:rPr>
              <a:t>RESEARCH</a:t>
            </a:r>
            <a:endParaRPr lang="en-IN" sz="1050" dirty="0">
              <a:effectLst/>
              <a:latin typeface="Calibri" panose="020F0502020204030204" pitchFamily="34" charset="0"/>
              <a:ea typeface="Calibri" panose="020F0502020204030204" pitchFamily="34" charset="0"/>
            </a:endParaRPr>
          </a:p>
        </p:txBody>
      </p:sp>
      <p:pic>
        <p:nvPicPr>
          <p:cNvPr id="7" name="Image 121"/>
          <p:cNvPicPr/>
          <p:nvPr/>
        </p:nvPicPr>
        <p:blipFill>
          <a:blip r:embed="rId2" cstate="print"/>
          <a:stretch>
            <a:fillRect/>
          </a:stretch>
        </p:blipFill>
        <p:spPr>
          <a:xfrm>
            <a:off x="8629015" y="928048"/>
            <a:ext cx="2724785" cy="2698115"/>
          </a:xfrm>
          <a:prstGeom prst="rect">
            <a:avLst/>
          </a:prstGeom>
        </p:spPr>
      </p:pic>
    </p:spTree>
    <p:extLst>
      <p:ext uri="{BB962C8B-B14F-4D97-AF65-F5344CB8AC3E}">
        <p14:creationId xmlns:p14="http://schemas.microsoft.com/office/powerpoint/2010/main" val="22398725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7093"/>
          </a:xfrm>
        </p:spPr>
        <p:txBody>
          <a:bodyPr/>
          <a:lstStyle/>
          <a:p>
            <a:pPr algn="ctr"/>
            <a:r>
              <a:rPr lang="en-US" b="1" dirty="0">
                <a:solidFill>
                  <a:srgbClr val="0000FF"/>
                </a:solidFill>
              </a:rPr>
              <a:t>Types of Research</a:t>
            </a:r>
            <a:endParaRPr lang="en-IN" b="1" dirty="0"/>
          </a:p>
        </p:txBody>
      </p:sp>
      <p:sp>
        <p:nvSpPr>
          <p:cNvPr id="5" name="Content Placeholder 4"/>
          <p:cNvSpPr>
            <a:spLocks noGrp="1"/>
          </p:cNvSpPr>
          <p:nvPr>
            <p:ph idx="1"/>
          </p:nvPr>
        </p:nvSpPr>
        <p:spPr>
          <a:xfrm>
            <a:off x="838200" y="1122218"/>
            <a:ext cx="10712116" cy="5519213"/>
          </a:xfrm>
        </p:spPr>
        <p:txBody>
          <a:bodyPr>
            <a:normAutofit/>
          </a:bodyPr>
          <a:lstStyle/>
          <a:p>
            <a:pPr marL="0" indent="0">
              <a:buNone/>
            </a:pPr>
            <a:r>
              <a:rPr lang="en-US" dirty="0"/>
              <a:t>Correlation Research — </a:t>
            </a:r>
            <a:r>
              <a:rPr lang="en-US" i="1" dirty="0"/>
              <a:t>constructing models</a:t>
            </a:r>
            <a:endParaRPr lang="en-IN" dirty="0"/>
          </a:p>
          <a:p>
            <a:pPr lvl="0"/>
            <a:r>
              <a:rPr lang="en-US" dirty="0"/>
              <a:t>To establish the existence of relationships </a:t>
            </a:r>
          </a:p>
          <a:p>
            <a:pPr marL="0" lvl="0" indent="0">
              <a:buNone/>
            </a:pPr>
            <a:r>
              <a:rPr lang="en-US" dirty="0"/>
              <a:t>   between two or more aspects of a situation</a:t>
            </a:r>
            <a:endParaRPr lang="en-IN" dirty="0"/>
          </a:p>
          <a:p>
            <a:r>
              <a:rPr lang="en-US" dirty="0"/>
              <a:t>It explores the relationship or association </a:t>
            </a:r>
          </a:p>
          <a:p>
            <a:pPr marL="0" indent="0">
              <a:buNone/>
            </a:pPr>
            <a:r>
              <a:rPr lang="en-US" dirty="0"/>
              <a:t>   between incidences, variables etc.</a:t>
            </a:r>
            <a:endParaRPr lang="en-IN" dirty="0"/>
          </a:p>
          <a:p>
            <a:pPr lvl="0"/>
            <a:r>
              <a:rPr lang="en-US" dirty="0"/>
              <a:t>Examples include:</a:t>
            </a:r>
            <a:endParaRPr lang="en-IN" dirty="0"/>
          </a:p>
          <a:p>
            <a:pPr lvl="1">
              <a:buFont typeface="Wingdings" panose="05000000000000000000" pitchFamily="2" charset="2"/>
              <a:buChar char="v"/>
            </a:pPr>
            <a:r>
              <a:rPr lang="en-US" dirty="0"/>
              <a:t>Effect of cigarette smoking on incidences of lung cancer </a:t>
            </a:r>
          </a:p>
          <a:p>
            <a:pPr lvl="1">
              <a:buFont typeface="Wingdings" panose="05000000000000000000" pitchFamily="2" charset="2"/>
              <a:buChar char="v"/>
            </a:pPr>
            <a:r>
              <a:rPr lang="en-US" dirty="0"/>
              <a:t>Effect of modern lifestyle on obesity</a:t>
            </a:r>
            <a:endParaRPr lang="en-IN" dirty="0"/>
          </a:p>
          <a:p>
            <a:pPr lvl="1">
              <a:buFont typeface="Wingdings" panose="05000000000000000000" pitchFamily="2" charset="2"/>
              <a:buChar char="v"/>
            </a:pPr>
            <a:r>
              <a:rPr lang="en-US" dirty="0"/>
              <a:t>Effect of leaf length on leaf weight</a:t>
            </a:r>
            <a:endParaRPr lang="en-IN" dirty="0"/>
          </a:p>
          <a:p>
            <a:pPr marL="0" indent="0">
              <a:buNone/>
            </a:pPr>
            <a:endParaRPr lang="en-US" dirty="0"/>
          </a:p>
          <a:p>
            <a:pPr marL="0" indent="0">
              <a:buNone/>
            </a:pPr>
            <a:endParaRPr lang="en-IN" dirty="0"/>
          </a:p>
        </p:txBody>
      </p:sp>
      <p:pic>
        <p:nvPicPr>
          <p:cNvPr id="6" name="Image 123"/>
          <p:cNvPicPr/>
          <p:nvPr/>
        </p:nvPicPr>
        <p:blipFill>
          <a:blip r:embed="rId2" cstate="print"/>
          <a:stretch>
            <a:fillRect/>
          </a:stretch>
        </p:blipFill>
        <p:spPr>
          <a:xfrm>
            <a:off x="7988969" y="1488802"/>
            <a:ext cx="2883568" cy="2120671"/>
          </a:xfrm>
          <a:prstGeom prst="rect">
            <a:avLst/>
          </a:prstGeom>
        </p:spPr>
      </p:pic>
    </p:spTree>
    <p:extLst>
      <p:ext uri="{BB962C8B-B14F-4D97-AF65-F5344CB8AC3E}">
        <p14:creationId xmlns:p14="http://schemas.microsoft.com/office/powerpoint/2010/main" val="28704769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92124"/>
          </a:xfrm>
        </p:spPr>
        <p:txBody>
          <a:bodyPr>
            <a:noAutofit/>
          </a:bodyPr>
          <a:lstStyle/>
          <a:p>
            <a:pPr algn="ctr"/>
            <a:r>
              <a:rPr lang="en-US" sz="3200" b="1" dirty="0">
                <a:solidFill>
                  <a:srgbClr val="0000FF"/>
                </a:solidFill>
              </a:rPr>
              <a:t>Types of Research</a:t>
            </a:r>
            <a:endParaRPr lang="en-IN" sz="3200" b="1" dirty="0"/>
          </a:p>
        </p:txBody>
      </p:sp>
      <p:sp>
        <p:nvSpPr>
          <p:cNvPr id="3" name="Content Placeholder 2"/>
          <p:cNvSpPr>
            <a:spLocks noGrp="1"/>
          </p:cNvSpPr>
          <p:nvPr>
            <p:ph idx="1"/>
          </p:nvPr>
        </p:nvSpPr>
        <p:spPr>
          <a:xfrm>
            <a:off x="838200" y="857250"/>
            <a:ext cx="10515600" cy="5319713"/>
          </a:xfrm>
        </p:spPr>
        <p:txBody>
          <a:bodyPr>
            <a:normAutofit/>
          </a:bodyPr>
          <a:lstStyle/>
          <a:p>
            <a:pPr marL="0" indent="0">
              <a:buNone/>
            </a:pPr>
            <a:r>
              <a:rPr lang="en-US" b="1" dirty="0"/>
              <a:t>Analytical Research </a:t>
            </a:r>
            <a:r>
              <a:rPr lang="en-US" dirty="0"/>
              <a:t>- </a:t>
            </a:r>
            <a:r>
              <a:rPr lang="en-US" i="1" dirty="0"/>
              <a:t>cause and effect</a:t>
            </a:r>
            <a:endParaRPr lang="en-IN" dirty="0"/>
          </a:p>
          <a:p>
            <a:pPr lvl="0"/>
            <a:r>
              <a:rPr lang="en-US" dirty="0"/>
              <a:t>Analytical research focuses on cause and effect.</a:t>
            </a:r>
            <a:endParaRPr lang="en-IN" dirty="0"/>
          </a:p>
          <a:p>
            <a:pPr lvl="0"/>
            <a:r>
              <a:rPr lang="en-US" dirty="0"/>
              <a:t>It tells us why our certain hypothesis is true or false,</a:t>
            </a:r>
          </a:p>
          <a:p>
            <a:pPr marL="0" lvl="0" indent="0">
              <a:buNone/>
            </a:pPr>
            <a:r>
              <a:rPr lang="en-US" dirty="0"/>
              <a:t>   which requires critical thinking skills and careful </a:t>
            </a:r>
          </a:p>
          <a:p>
            <a:pPr marL="0" lvl="0" indent="0">
              <a:buNone/>
            </a:pPr>
            <a:r>
              <a:rPr lang="en-US" dirty="0"/>
              <a:t>   assessment of the facts.</a:t>
            </a:r>
            <a:endParaRPr lang="en-IN" dirty="0"/>
          </a:p>
          <a:p>
            <a:pPr lvl="0"/>
            <a:r>
              <a:rPr lang="en-US" dirty="0"/>
              <a:t>Examples are:</a:t>
            </a:r>
            <a:endParaRPr lang="en-IN" dirty="0"/>
          </a:p>
          <a:p>
            <a:pPr lvl="1">
              <a:buFont typeface="Wingdings" panose="05000000000000000000" pitchFamily="2" charset="2"/>
              <a:buChar char="v"/>
            </a:pPr>
            <a:r>
              <a:rPr lang="en-US" dirty="0"/>
              <a:t>Why has the value of INR slid down against the US</a:t>
            </a:r>
            <a:r>
              <a:rPr lang="en-IN" dirty="0"/>
              <a:t> </a:t>
            </a:r>
            <a:r>
              <a:rPr lang="en-US" dirty="0"/>
              <a:t>Dollar</a:t>
            </a:r>
          </a:p>
          <a:p>
            <a:pPr marL="457200" lvl="1" indent="0">
              <a:buNone/>
            </a:pPr>
            <a:r>
              <a:rPr lang="en-US" dirty="0"/>
              <a:t>    over the last three decades</a:t>
            </a:r>
            <a:r>
              <a:rPr lang="en-IN" dirty="0"/>
              <a:t>.</a:t>
            </a:r>
          </a:p>
          <a:p>
            <a:pPr lvl="1">
              <a:buFont typeface="Wingdings" panose="05000000000000000000" pitchFamily="2" charset="2"/>
              <a:buChar char="v"/>
            </a:pPr>
            <a:r>
              <a:rPr lang="en-US" dirty="0"/>
              <a:t>What is the cause for the high rate of suicides in a</a:t>
            </a:r>
            <a:r>
              <a:rPr lang="en-IN" dirty="0"/>
              <a:t> </a:t>
            </a:r>
            <a:r>
              <a:rPr lang="en-US" dirty="0"/>
              <a:t>highly </a:t>
            </a:r>
          </a:p>
          <a:p>
            <a:pPr marL="457200" lvl="1" indent="0">
              <a:buNone/>
            </a:pPr>
            <a:r>
              <a:rPr lang="en-US" dirty="0"/>
              <a:t>    educated society</a:t>
            </a:r>
            <a:endParaRPr lang="en-IN" dirty="0"/>
          </a:p>
          <a:p>
            <a:endParaRPr lang="en-IN" dirty="0"/>
          </a:p>
        </p:txBody>
      </p:sp>
      <p:pic>
        <p:nvPicPr>
          <p:cNvPr id="8" name="Image 127"/>
          <p:cNvPicPr/>
          <p:nvPr/>
        </p:nvPicPr>
        <p:blipFill>
          <a:blip r:embed="rId2" cstate="print"/>
          <a:stretch>
            <a:fillRect/>
          </a:stretch>
        </p:blipFill>
        <p:spPr>
          <a:xfrm>
            <a:off x="8960887" y="1106906"/>
            <a:ext cx="2180356" cy="2481179"/>
          </a:xfrm>
          <a:prstGeom prst="rect">
            <a:avLst/>
          </a:prstGeom>
        </p:spPr>
      </p:pic>
    </p:spTree>
    <p:extLst>
      <p:ext uri="{BB962C8B-B14F-4D97-AF65-F5344CB8AC3E}">
        <p14:creationId xmlns:p14="http://schemas.microsoft.com/office/powerpoint/2010/main" val="26586129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17717"/>
          </a:xfrm>
        </p:spPr>
        <p:txBody>
          <a:bodyPr/>
          <a:lstStyle/>
          <a:p>
            <a:pPr algn="ctr"/>
            <a:r>
              <a:rPr lang="en-US" b="1" dirty="0">
                <a:solidFill>
                  <a:srgbClr val="0000FF"/>
                </a:solidFill>
              </a:rPr>
              <a:t>Types of Research</a:t>
            </a:r>
            <a:endParaRPr lang="en-IN" dirty="0"/>
          </a:p>
        </p:txBody>
      </p:sp>
      <p:sp>
        <p:nvSpPr>
          <p:cNvPr id="3" name="Content Placeholder 2"/>
          <p:cNvSpPr>
            <a:spLocks noGrp="1"/>
          </p:cNvSpPr>
          <p:nvPr>
            <p:ph idx="1"/>
          </p:nvPr>
        </p:nvSpPr>
        <p:spPr>
          <a:xfrm>
            <a:off x="838200" y="1082842"/>
            <a:ext cx="10515600" cy="5094121"/>
          </a:xfrm>
        </p:spPr>
        <p:txBody>
          <a:bodyPr>
            <a:normAutofit fontScale="92500"/>
          </a:bodyPr>
          <a:lstStyle/>
          <a:p>
            <a:pPr marL="0" indent="0">
              <a:buNone/>
            </a:pPr>
            <a:r>
              <a:rPr lang="en-US" dirty="0"/>
              <a:t>Experimental Research</a:t>
            </a:r>
            <a:endParaRPr lang="en-IN" dirty="0"/>
          </a:p>
          <a:p>
            <a:pPr lvl="0"/>
            <a:r>
              <a:rPr lang="en-US" dirty="0"/>
              <a:t>It is a study that adheres to a</a:t>
            </a:r>
            <a:r>
              <a:rPr lang="en-IN" dirty="0"/>
              <a:t> </a:t>
            </a:r>
            <a:r>
              <a:rPr lang="en-US" dirty="0"/>
              <a:t>scientific </a:t>
            </a:r>
          </a:p>
          <a:p>
            <a:pPr marL="0" lvl="0" indent="0">
              <a:buNone/>
            </a:pPr>
            <a:r>
              <a:rPr lang="en-US" dirty="0"/>
              <a:t>   research design.</a:t>
            </a:r>
            <a:endParaRPr lang="en-IN" dirty="0"/>
          </a:p>
          <a:p>
            <a:r>
              <a:rPr lang="en-US" dirty="0"/>
              <a:t>It includes a hypothesis, a dependent </a:t>
            </a:r>
          </a:p>
          <a:p>
            <a:pPr marL="0" indent="0">
              <a:buNone/>
            </a:pPr>
            <a:r>
              <a:rPr lang="en-US" dirty="0"/>
              <a:t>   variables that can be manipulated by the</a:t>
            </a:r>
          </a:p>
          <a:p>
            <a:pPr marL="0" indent="0">
              <a:buNone/>
            </a:pPr>
            <a:r>
              <a:rPr lang="en-US" dirty="0"/>
              <a:t>   researcher, and independent variables that can be measured, </a:t>
            </a:r>
          </a:p>
          <a:p>
            <a:pPr marL="0" indent="0">
              <a:buNone/>
            </a:pPr>
            <a:r>
              <a:rPr lang="en-US" dirty="0"/>
              <a:t>   calculated and compared.</a:t>
            </a:r>
          </a:p>
          <a:p>
            <a:r>
              <a:rPr lang="en-US" dirty="0"/>
              <a:t>The researcher collects data and results will either support or reject the hypothesis.</a:t>
            </a:r>
            <a:endParaRPr lang="en-IN" dirty="0"/>
          </a:p>
          <a:p>
            <a:r>
              <a:rPr lang="en-US" dirty="0"/>
              <a:t>Example of this is the type of research where investigator optimizes the desired independent variable by manipulating the dependent variables.</a:t>
            </a:r>
            <a:endParaRPr lang="en-IN" dirty="0"/>
          </a:p>
          <a:p>
            <a:pPr marL="0" indent="0">
              <a:buNone/>
            </a:pPr>
            <a:endParaRPr lang="en-IN" dirty="0"/>
          </a:p>
        </p:txBody>
      </p:sp>
      <p:pic>
        <p:nvPicPr>
          <p:cNvPr id="9" name="Picture 8"/>
          <p:cNvPicPr>
            <a:picLocks noChangeAspect="1"/>
          </p:cNvPicPr>
          <p:nvPr/>
        </p:nvPicPr>
        <p:blipFill>
          <a:blip r:embed="rId2"/>
          <a:stretch>
            <a:fillRect/>
          </a:stretch>
        </p:blipFill>
        <p:spPr>
          <a:xfrm>
            <a:off x="7119937" y="1069556"/>
            <a:ext cx="3628691" cy="2560346"/>
          </a:xfrm>
          <a:prstGeom prst="rect">
            <a:avLst/>
          </a:prstGeom>
        </p:spPr>
      </p:pic>
    </p:spTree>
    <p:extLst>
      <p:ext uri="{BB962C8B-B14F-4D97-AF65-F5344CB8AC3E}">
        <p14:creationId xmlns:p14="http://schemas.microsoft.com/office/powerpoint/2010/main" val="28452848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11175"/>
          </a:xfrm>
        </p:spPr>
        <p:txBody>
          <a:bodyPr>
            <a:normAutofit fontScale="90000"/>
          </a:bodyPr>
          <a:lstStyle/>
          <a:p>
            <a:pPr algn="ctr"/>
            <a:r>
              <a:rPr lang="en-US" sz="3200" b="1" dirty="0">
                <a:solidFill>
                  <a:srgbClr val="0000FF"/>
                </a:solidFill>
              </a:rPr>
              <a:t>Types of Research</a:t>
            </a:r>
            <a:endParaRPr lang="en-IN" sz="3200" dirty="0"/>
          </a:p>
        </p:txBody>
      </p:sp>
      <p:sp>
        <p:nvSpPr>
          <p:cNvPr id="3" name="Content Placeholder 2"/>
          <p:cNvSpPr>
            <a:spLocks noGrp="1"/>
          </p:cNvSpPr>
          <p:nvPr>
            <p:ph idx="1"/>
          </p:nvPr>
        </p:nvSpPr>
        <p:spPr>
          <a:xfrm>
            <a:off x="838200" y="876300"/>
            <a:ext cx="10515600" cy="5300663"/>
          </a:xfrm>
        </p:spPr>
        <p:txBody>
          <a:bodyPr/>
          <a:lstStyle/>
          <a:p>
            <a:pPr marL="0" indent="0">
              <a:buNone/>
            </a:pPr>
            <a:r>
              <a:rPr lang="en-US" b="1" dirty="0"/>
              <a:t>Explanatory Research</a:t>
            </a:r>
            <a:endParaRPr lang="en-IN" b="1" dirty="0"/>
          </a:p>
          <a:p>
            <a:pPr lvl="0"/>
            <a:r>
              <a:rPr lang="en-US" sz="2400" dirty="0"/>
              <a:t>It is also called causal research and tries to </a:t>
            </a:r>
            <a:r>
              <a:rPr lang="en-US" sz="2400" dirty="0" err="1"/>
              <a:t>analyse</a:t>
            </a:r>
            <a:r>
              <a:rPr lang="en-US" sz="2400" dirty="0"/>
              <a:t> and justify the reason behind the occurrence of particular phenomenon or association between the variables.</a:t>
            </a:r>
            <a:endParaRPr lang="en-IN" sz="2400" dirty="0"/>
          </a:p>
          <a:p>
            <a:pPr lvl="0"/>
            <a:r>
              <a:rPr lang="en-US" sz="2400" dirty="0"/>
              <a:t>It basically answers the “Why” type of questions.</a:t>
            </a:r>
            <a:endParaRPr lang="en-IN" sz="2400" dirty="0"/>
          </a:p>
          <a:p>
            <a:pPr lvl="0"/>
            <a:r>
              <a:rPr lang="en-US" sz="2400" dirty="0"/>
              <a:t>It aims to explain why a relationship, association, or</a:t>
            </a:r>
            <a:r>
              <a:rPr lang="en-IN" sz="2400" dirty="0"/>
              <a:t> </a:t>
            </a:r>
            <a:r>
              <a:rPr lang="en-US" sz="2400" dirty="0"/>
              <a:t>interdependence exist.</a:t>
            </a:r>
            <a:endParaRPr lang="en-IN" sz="2400" dirty="0"/>
          </a:p>
          <a:p>
            <a:pPr lvl="0"/>
            <a:r>
              <a:rPr lang="en-US" sz="2400" dirty="0"/>
              <a:t>Example is: Why do customers prefer to purchase a</a:t>
            </a:r>
            <a:r>
              <a:rPr lang="en-IN" sz="2400" dirty="0"/>
              <a:t> </a:t>
            </a:r>
            <a:r>
              <a:rPr lang="en-US" sz="2400" dirty="0"/>
              <a:t>certain </a:t>
            </a:r>
            <a:r>
              <a:rPr lang="en-US" sz="2400" dirty="0" err="1"/>
              <a:t>colour</a:t>
            </a:r>
            <a:r>
              <a:rPr lang="en-US" sz="2400" dirty="0"/>
              <a:t> packaged items more than others</a:t>
            </a:r>
            <a:endParaRPr lang="en-IN" sz="2400" dirty="0"/>
          </a:p>
        </p:txBody>
      </p:sp>
      <p:pic>
        <p:nvPicPr>
          <p:cNvPr id="4" name="Image 154"/>
          <p:cNvPicPr/>
          <p:nvPr/>
        </p:nvPicPr>
        <p:blipFill>
          <a:blip r:embed="rId2" cstate="print"/>
          <a:stretch>
            <a:fillRect/>
          </a:stretch>
        </p:blipFill>
        <p:spPr>
          <a:xfrm>
            <a:off x="4095433" y="3943351"/>
            <a:ext cx="2096135" cy="2095500"/>
          </a:xfrm>
          <a:prstGeom prst="rect">
            <a:avLst/>
          </a:prstGeom>
        </p:spPr>
      </p:pic>
    </p:spTree>
    <p:extLst>
      <p:ext uri="{BB962C8B-B14F-4D97-AF65-F5344CB8AC3E}">
        <p14:creationId xmlns:p14="http://schemas.microsoft.com/office/powerpoint/2010/main" val="41276617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73075"/>
          </a:xfrm>
        </p:spPr>
        <p:txBody>
          <a:bodyPr>
            <a:noAutofit/>
          </a:bodyPr>
          <a:lstStyle/>
          <a:p>
            <a:pPr algn="ctr"/>
            <a:r>
              <a:rPr lang="en-US" sz="3200" b="1" dirty="0">
                <a:solidFill>
                  <a:srgbClr val="0000FF"/>
                </a:solidFill>
              </a:rPr>
              <a:t>Types of Research</a:t>
            </a:r>
            <a:endParaRPr lang="en-IN" sz="3200" dirty="0"/>
          </a:p>
        </p:txBody>
      </p:sp>
      <p:sp>
        <p:nvSpPr>
          <p:cNvPr id="3" name="Content Placeholder 2"/>
          <p:cNvSpPr>
            <a:spLocks noGrp="1"/>
          </p:cNvSpPr>
          <p:nvPr>
            <p:ph idx="1"/>
          </p:nvPr>
        </p:nvSpPr>
        <p:spPr>
          <a:xfrm>
            <a:off x="838200" y="838200"/>
            <a:ext cx="10515600" cy="5338763"/>
          </a:xfrm>
        </p:spPr>
        <p:txBody>
          <a:bodyPr/>
          <a:lstStyle/>
          <a:p>
            <a:pPr marL="0" indent="0">
              <a:buNone/>
            </a:pPr>
            <a:r>
              <a:rPr lang="en-US" b="1" dirty="0"/>
              <a:t>Exploratory or </a:t>
            </a:r>
            <a:r>
              <a:rPr lang="en-US" b="1" dirty="0" err="1"/>
              <a:t>Formulative</a:t>
            </a:r>
            <a:r>
              <a:rPr lang="en-US" b="1" dirty="0"/>
              <a:t> Research —</a:t>
            </a:r>
            <a:endParaRPr lang="en-IN" b="1" dirty="0"/>
          </a:p>
          <a:p>
            <a:r>
              <a:rPr lang="en-US" i="1" dirty="0"/>
              <a:t>Explore new frontiers</a:t>
            </a:r>
            <a:endParaRPr lang="en-IN" dirty="0"/>
          </a:p>
          <a:p>
            <a:pPr lvl="0"/>
            <a:r>
              <a:rPr lang="en-US" dirty="0"/>
              <a:t>To gain familiarity with a phenomenon or</a:t>
            </a:r>
          </a:p>
          <a:p>
            <a:pPr marL="0" lvl="0" indent="0">
              <a:buNone/>
            </a:pPr>
            <a:r>
              <a:rPr lang="en-US" dirty="0"/>
              <a:t>   to achieve new insights into it.</a:t>
            </a:r>
            <a:endParaRPr lang="en-IN" dirty="0"/>
          </a:p>
          <a:p>
            <a:pPr lvl="0"/>
            <a:r>
              <a:rPr lang="en-US" dirty="0"/>
              <a:t>It does not aim to provide a conclusive </a:t>
            </a:r>
          </a:p>
          <a:p>
            <a:pPr marL="0" lvl="0" indent="0">
              <a:buNone/>
            </a:pPr>
            <a:r>
              <a:rPr lang="en-US" dirty="0"/>
              <a:t>   answer to the research questions, but merely </a:t>
            </a:r>
          </a:p>
          <a:p>
            <a:pPr marL="0" lvl="0" indent="0">
              <a:buNone/>
            </a:pPr>
            <a:r>
              <a:rPr lang="en-US" dirty="0"/>
              <a:t>   explores the research topic to help develop a hypotheses (rather than    </a:t>
            </a:r>
          </a:p>
          <a:p>
            <a:pPr marL="0" lvl="0" indent="0">
              <a:buNone/>
            </a:pPr>
            <a:r>
              <a:rPr lang="en-US" dirty="0"/>
              <a:t>   its testing).</a:t>
            </a:r>
            <a:endParaRPr lang="en-IN" dirty="0"/>
          </a:p>
          <a:p>
            <a:r>
              <a:rPr lang="en-US" dirty="0"/>
              <a:t>Example is a product launch in a particular city to judge the customer </a:t>
            </a:r>
          </a:p>
          <a:p>
            <a:pPr marL="0" indent="0">
              <a:buNone/>
            </a:pPr>
            <a:r>
              <a:rPr lang="en-US" dirty="0"/>
              <a:t>   response before it can be launched nation-wide.</a:t>
            </a:r>
            <a:endParaRPr lang="en-IN" dirty="0"/>
          </a:p>
          <a:p>
            <a:endParaRPr lang="en-IN" dirty="0"/>
          </a:p>
        </p:txBody>
      </p:sp>
      <p:pic>
        <p:nvPicPr>
          <p:cNvPr id="5" name="Image 156"/>
          <p:cNvPicPr/>
          <p:nvPr/>
        </p:nvPicPr>
        <p:blipFill>
          <a:blip r:embed="rId2" cstate="print"/>
          <a:stretch>
            <a:fillRect/>
          </a:stretch>
        </p:blipFill>
        <p:spPr>
          <a:xfrm>
            <a:off x="7873683" y="1009650"/>
            <a:ext cx="2426335" cy="2400300"/>
          </a:xfrm>
          <a:prstGeom prst="rect">
            <a:avLst/>
          </a:prstGeom>
        </p:spPr>
      </p:pic>
      <p:sp>
        <p:nvSpPr>
          <p:cNvPr id="6" name="Rectangle 5"/>
          <p:cNvSpPr/>
          <p:nvPr/>
        </p:nvSpPr>
        <p:spPr>
          <a:xfrm>
            <a:off x="8296275" y="3429000"/>
            <a:ext cx="1581150" cy="6492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EXPLORATORY</a:t>
            </a:r>
            <a:endParaRPr lang="en-IN" dirty="0">
              <a:solidFill>
                <a:schemeClr val="tx1"/>
              </a:solidFill>
            </a:endParaRPr>
          </a:p>
          <a:p>
            <a:pPr algn="ctr"/>
            <a:r>
              <a:rPr lang="en-US" dirty="0">
                <a:solidFill>
                  <a:schemeClr val="tx1"/>
                </a:solidFill>
              </a:rPr>
              <a:t>RESEARCH</a:t>
            </a:r>
            <a:endParaRPr lang="en-IN" dirty="0">
              <a:solidFill>
                <a:schemeClr val="tx1"/>
              </a:solidFill>
            </a:endParaRPr>
          </a:p>
        </p:txBody>
      </p:sp>
    </p:spTree>
    <p:extLst>
      <p:ext uri="{BB962C8B-B14F-4D97-AF65-F5344CB8AC3E}">
        <p14:creationId xmlns:p14="http://schemas.microsoft.com/office/powerpoint/2010/main" val="16271510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25475"/>
          </a:xfrm>
        </p:spPr>
        <p:txBody>
          <a:bodyPr>
            <a:normAutofit/>
          </a:bodyPr>
          <a:lstStyle/>
          <a:p>
            <a:pPr algn="ctr"/>
            <a:r>
              <a:rPr lang="en-US" sz="3200" b="1" dirty="0">
                <a:solidFill>
                  <a:srgbClr val="0000FF"/>
                </a:solidFill>
              </a:rPr>
              <a:t>Types of Research</a:t>
            </a:r>
            <a:endParaRPr lang="en-IN" sz="3200" dirty="0"/>
          </a:p>
        </p:txBody>
      </p:sp>
      <p:sp>
        <p:nvSpPr>
          <p:cNvPr id="3" name="Content Placeholder 2"/>
          <p:cNvSpPr>
            <a:spLocks noGrp="1"/>
          </p:cNvSpPr>
          <p:nvPr>
            <p:ph idx="1"/>
          </p:nvPr>
        </p:nvSpPr>
        <p:spPr>
          <a:xfrm>
            <a:off x="838200" y="990600"/>
            <a:ext cx="10515600" cy="5418613"/>
          </a:xfrm>
        </p:spPr>
        <p:txBody>
          <a:bodyPr/>
          <a:lstStyle/>
          <a:p>
            <a:pPr marL="0" indent="0">
              <a:buNone/>
            </a:pPr>
            <a:r>
              <a:rPr lang="en-US" b="1" dirty="0"/>
              <a:t>Quantitative Research</a:t>
            </a:r>
            <a:endParaRPr lang="en-IN" b="1" dirty="0"/>
          </a:p>
          <a:p>
            <a:pPr lvl="0"/>
            <a:r>
              <a:rPr lang="en-US" dirty="0"/>
              <a:t>As the name suggests, this involves measurements of quantities of a particular characteristic that can be used for the research study.</a:t>
            </a:r>
            <a:endParaRPr lang="en-IN" dirty="0"/>
          </a:p>
          <a:p>
            <a:pPr lvl="0"/>
            <a:r>
              <a:rPr lang="en-US" dirty="0"/>
              <a:t>It uses statistical analysis on parameter values to reach</a:t>
            </a:r>
            <a:r>
              <a:rPr lang="en-IN" dirty="0"/>
              <a:t> </a:t>
            </a:r>
            <a:r>
              <a:rPr lang="en-US" dirty="0"/>
              <a:t>conclusions.</a:t>
            </a:r>
          </a:p>
          <a:p>
            <a:r>
              <a:rPr lang="en-US" dirty="0"/>
              <a:t>Example is the number of fatalities of the COVID pandemic with respect to different criteria such as rural, urban residents, region-wise, educational qualification etc.</a:t>
            </a:r>
            <a:endParaRPr lang="en-IN" dirty="0"/>
          </a:p>
          <a:p>
            <a:endParaRPr lang="en-IN" dirty="0"/>
          </a:p>
        </p:txBody>
      </p:sp>
      <p:pic>
        <p:nvPicPr>
          <p:cNvPr id="4" name="Image 170"/>
          <p:cNvPicPr/>
          <p:nvPr/>
        </p:nvPicPr>
        <p:blipFill>
          <a:blip r:embed="rId2" cstate="print"/>
          <a:stretch>
            <a:fillRect/>
          </a:stretch>
        </p:blipFill>
        <p:spPr>
          <a:xfrm>
            <a:off x="4064952" y="4427855"/>
            <a:ext cx="1406525" cy="1393190"/>
          </a:xfrm>
          <a:prstGeom prst="rect">
            <a:avLst/>
          </a:prstGeom>
        </p:spPr>
      </p:pic>
      <p:pic>
        <p:nvPicPr>
          <p:cNvPr id="5" name="Image 171"/>
          <p:cNvPicPr/>
          <p:nvPr/>
        </p:nvPicPr>
        <p:blipFill>
          <a:blip r:embed="rId3" cstate="print"/>
          <a:stretch>
            <a:fillRect/>
          </a:stretch>
        </p:blipFill>
        <p:spPr>
          <a:xfrm>
            <a:off x="6072822" y="4427855"/>
            <a:ext cx="1406525" cy="1393190"/>
          </a:xfrm>
          <a:prstGeom prst="rect">
            <a:avLst/>
          </a:prstGeom>
        </p:spPr>
      </p:pic>
      <p:sp>
        <p:nvSpPr>
          <p:cNvPr id="8" name="Rectangle 7"/>
          <p:cNvSpPr/>
          <p:nvPr/>
        </p:nvSpPr>
        <p:spPr>
          <a:xfrm>
            <a:off x="3977639" y="5759926"/>
            <a:ext cx="1581150" cy="6492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Qualitative</a:t>
            </a:r>
            <a:endParaRPr lang="en-IN" dirty="0">
              <a:solidFill>
                <a:schemeClr val="tx1"/>
              </a:solidFill>
            </a:endParaRPr>
          </a:p>
        </p:txBody>
      </p:sp>
      <p:sp>
        <p:nvSpPr>
          <p:cNvPr id="9" name="Rectangle 8"/>
          <p:cNvSpPr/>
          <p:nvPr/>
        </p:nvSpPr>
        <p:spPr>
          <a:xfrm>
            <a:off x="5985509" y="5759927"/>
            <a:ext cx="1581150" cy="6492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Quantitative</a:t>
            </a:r>
            <a:endParaRPr lang="en-IN" dirty="0">
              <a:solidFill>
                <a:schemeClr val="tx1"/>
              </a:solidFill>
            </a:endParaRPr>
          </a:p>
        </p:txBody>
      </p:sp>
    </p:spTree>
    <p:extLst>
      <p:ext uri="{BB962C8B-B14F-4D97-AF65-F5344CB8AC3E}">
        <p14:creationId xmlns:p14="http://schemas.microsoft.com/office/powerpoint/2010/main" val="37008406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7375"/>
          </a:xfrm>
        </p:spPr>
        <p:txBody>
          <a:bodyPr>
            <a:normAutofit/>
          </a:bodyPr>
          <a:lstStyle/>
          <a:p>
            <a:pPr algn="ctr"/>
            <a:r>
              <a:rPr lang="en-US" sz="3200" b="1" dirty="0">
                <a:solidFill>
                  <a:srgbClr val="0000FF"/>
                </a:solidFill>
              </a:rPr>
              <a:t>Types of Research</a:t>
            </a:r>
            <a:endParaRPr lang="en-IN" sz="3200" dirty="0"/>
          </a:p>
        </p:txBody>
      </p:sp>
      <p:sp>
        <p:nvSpPr>
          <p:cNvPr id="3" name="Content Placeholder 2"/>
          <p:cNvSpPr>
            <a:spLocks noGrp="1"/>
          </p:cNvSpPr>
          <p:nvPr>
            <p:ph idx="1"/>
          </p:nvPr>
        </p:nvSpPr>
        <p:spPr>
          <a:xfrm>
            <a:off x="838200" y="952500"/>
            <a:ext cx="10515600" cy="5486400"/>
          </a:xfrm>
        </p:spPr>
        <p:txBody>
          <a:bodyPr>
            <a:normAutofit/>
          </a:bodyPr>
          <a:lstStyle/>
          <a:p>
            <a:pPr marL="0" indent="0">
              <a:buNone/>
            </a:pPr>
            <a:r>
              <a:rPr lang="en-US" sz="2000" b="1" dirty="0"/>
              <a:t>Qualitative Research</a:t>
            </a:r>
            <a:endParaRPr lang="en-IN" sz="2000" b="1" dirty="0"/>
          </a:p>
          <a:p>
            <a:pPr lvl="0"/>
            <a:r>
              <a:rPr lang="en-US" sz="2000" dirty="0"/>
              <a:t>This research is about “what” people think and “why”</a:t>
            </a:r>
            <a:r>
              <a:rPr lang="en-IN" sz="2000" dirty="0"/>
              <a:t> </a:t>
            </a:r>
            <a:r>
              <a:rPr lang="en-US" sz="2000" dirty="0"/>
              <a:t>they think so. </a:t>
            </a:r>
          </a:p>
          <a:p>
            <a:pPr marL="0" lvl="0" indent="0">
              <a:buNone/>
            </a:pPr>
            <a:r>
              <a:rPr lang="en-US" sz="2000" dirty="0"/>
              <a:t>   So, it deals with human </a:t>
            </a:r>
            <a:r>
              <a:rPr lang="en-US" sz="2000" dirty="0" err="1"/>
              <a:t>behaviour</a:t>
            </a:r>
            <a:endParaRPr lang="en-IN" sz="2000" dirty="0"/>
          </a:p>
          <a:p>
            <a:r>
              <a:rPr lang="en-US" sz="2000" dirty="0"/>
              <a:t>So it is empirical research where data are not in the form</a:t>
            </a:r>
            <a:r>
              <a:rPr lang="en-IN" sz="2000" dirty="0"/>
              <a:t> </a:t>
            </a:r>
            <a:r>
              <a:rPr lang="en-US" sz="2000" dirty="0"/>
              <a:t>of numbers.</a:t>
            </a:r>
            <a:endParaRPr lang="en-IN" sz="2000" dirty="0"/>
          </a:p>
          <a:p>
            <a:pPr lvl="0"/>
            <a:r>
              <a:rPr lang="en-US" sz="2000" dirty="0"/>
              <a:t>It is based on the disciplines of social sciences like psychology, sociology, and anthropology.</a:t>
            </a:r>
            <a:endParaRPr lang="en-IN" sz="2000" dirty="0"/>
          </a:p>
          <a:p>
            <a:pPr lvl="0"/>
            <a:r>
              <a:rPr lang="en-US" sz="2000" dirty="0"/>
              <a:t>Example is the study of the </a:t>
            </a:r>
            <a:r>
              <a:rPr lang="en-US" sz="2000" dirty="0" err="1"/>
              <a:t>behavioural</a:t>
            </a:r>
            <a:r>
              <a:rPr lang="en-US" sz="2000" dirty="0"/>
              <a:t> response of employees to the </a:t>
            </a:r>
          </a:p>
          <a:p>
            <a:pPr marL="0" lvl="0" indent="0">
              <a:buNone/>
            </a:pPr>
            <a:r>
              <a:rPr lang="en-US" sz="2000" dirty="0"/>
              <a:t>   changes occurring in an organization.</a:t>
            </a:r>
            <a:endParaRPr lang="en-IN" sz="2000" dirty="0"/>
          </a:p>
          <a:p>
            <a:pPr marL="0" indent="0">
              <a:buNone/>
            </a:pPr>
            <a:endParaRPr lang="en-IN" dirty="0"/>
          </a:p>
        </p:txBody>
      </p:sp>
      <p:pic>
        <p:nvPicPr>
          <p:cNvPr id="4" name="Image 173"/>
          <p:cNvPicPr/>
          <p:nvPr/>
        </p:nvPicPr>
        <p:blipFill>
          <a:blip r:embed="rId2" cstate="print"/>
          <a:stretch>
            <a:fillRect/>
          </a:stretch>
        </p:blipFill>
        <p:spPr>
          <a:xfrm>
            <a:off x="3440747" y="3863340"/>
            <a:ext cx="5310505" cy="1836420"/>
          </a:xfrm>
          <a:prstGeom prst="rect">
            <a:avLst/>
          </a:prstGeom>
        </p:spPr>
      </p:pic>
      <p:sp>
        <p:nvSpPr>
          <p:cNvPr id="5" name="Rectangle 4"/>
          <p:cNvSpPr/>
          <p:nvPr/>
        </p:nvSpPr>
        <p:spPr>
          <a:xfrm>
            <a:off x="4957482" y="5848553"/>
            <a:ext cx="2277034" cy="438582"/>
          </a:xfrm>
          <a:prstGeom prst="rect">
            <a:avLst/>
          </a:prstGeom>
        </p:spPr>
        <p:txBody>
          <a:bodyPr wrap="none">
            <a:spAutoFit/>
          </a:bodyPr>
          <a:lstStyle/>
          <a:p>
            <a:pPr marL="229235" marR="0" algn="ctr">
              <a:lnSpc>
                <a:spcPts val="2650"/>
              </a:lnSpc>
              <a:spcBef>
                <a:spcPts val="45"/>
              </a:spcBef>
              <a:spcAft>
                <a:spcPts val="0"/>
              </a:spcAft>
            </a:pPr>
            <a:r>
              <a:rPr lang="en-US" spc="-35" dirty="0">
                <a:solidFill>
                  <a:srgbClr val="4D2875"/>
                </a:solidFill>
                <a:latin typeface="Calibri" panose="020F0502020204030204" pitchFamily="34" charset="0"/>
                <a:ea typeface="Calibri" panose="020F0502020204030204" pitchFamily="34" charset="0"/>
              </a:rPr>
              <a:t>Qualitative </a:t>
            </a:r>
            <a:r>
              <a:rPr lang="en-US" spc="-10" dirty="0">
                <a:solidFill>
                  <a:srgbClr val="50267B"/>
                </a:solidFill>
                <a:latin typeface="Calibri" panose="020F0502020204030204" pitchFamily="34" charset="0"/>
                <a:ea typeface="Calibri" panose="020F0502020204030204" pitchFamily="34" charset="0"/>
              </a:rPr>
              <a:t>Research</a:t>
            </a:r>
            <a:endParaRPr lang="en-IN" sz="10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7783663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7375"/>
          </a:xfrm>
        </p:spPr>
        <p:txBody>
          <a:bodyPr>
            <a:normAutofit/>
          </a:bodyPr>
          <a:lstStyle/>
          <a:p>
            <a:pPr algn="ctr"/>
            <a:r>
              <a:rPr lang="en-US" sz="3200" b="1" dirty="0">
                <a:solidFill>
                  <a:srgbClr val="0000FF"/>
                </a:solidFill>
              </a:rPr>
              <a:t>Types of Research</a:t>
            </a:r>
            <a:endParaRPr lang="en-IN" sz="3200" dirty="0"/>
          </a:p>
        </p:txBody>
      </p:sp>
      <p:sp>
        <p:nvSpPr>
          <p:cNvPr id="3" name="Content Placeholder 2"/>
          <p:cNvSpPr>
            <a:spLocks noGrp="1"/>
          </p:cNvSpPr>
          <p:nvPr>
            <p:ph idx="1"/>
          </p:nvPr>
        </p:nvSpPr>
        <p:spPr>
          <a:xfrm>
            <a:off x="838200" y="952500"/>
            <a:ext cx="10515600" cy="5224463"/>
          </a:xfrm>
        </p:spPr>
        <p:txBody>
          <a:bodyPr>
            <a:normAutofit lnSpcReduction="10000"/>
          </a:bodyPr>
          <a:lstStyle/>
          <a:p>
            <a:r>
              <a:rPr lang="en-US" dirty="0"/>
              <a:t>Basic Research</a:t>
            </a:r>
            <a:r>
              <a:rPr lang="en-IN" dirty="0"/>
              <a:t> </a:t>
            </a:r>
            <a:r>
              <a:rPr lang="en-US" dirty="0"/>
              <a:t>is pure or</a:t>
            </a:r>
            <a:r>
              <a:rPr lang="en-IN" dirty="0"/>
              <a:t> </a:t>
            </a:r>
            <a:r>
              <a:rPr lang="en-US" dirty="0"/>
              <a:t>fundamental </a:t>
            </a:r>
          </a:p>
          <a:p>
            <a:pPr marL="0" indent="0">
              <a:buNone/>
            </a:pPr>
            <a:r>
              <a:rPr lang="en-US" dirty="0"/>
              <a:t>   research.</a:t>
            </a:r>
            <a:endParaRPr lang="en-IN" dirty="0"/>
          </a:p>
          <a:p>
            <a:pPr lvl="0"/>
            <a:r>
              <a:rPr lang="en-US" dirty="0"/>
              <a:t>It aims to obtain a better understanding </a:t>
            </a:r>
          </a:p>
          <a:p>
            <a:pPr marL="0" lvl="0" indent="0">
              <a:buNone/>
            </a:pPr>
            <a:r>
              <a:rPr lang="en-US" dirty="0"/>
              <a:t>   of a subject, phenomenon or basic law </a:t>
            </a:r>
          </a:p>
          <a:p>
            <a:pPr marL="0" lvl="0" indent="0">
              <a:buNone/>
            </a:pPr>
            <a:r>
              <a:rPr lang="en-US" dirty="0"/>
              <a:t>   of nature.</a:t>
            </a:r>
            <a:endParaRPr lang="en-IN" dirty="0"/>
          </a:p>
          <a:p>
            <a:pPr lvl="0"/>
            <a:r>
              <a:rPr lang="en-US" dirty="0"/>
              <a:t>This type of research is primarily</a:t>
            </a:r>
            <a:r>
              <a:rPr lang="en-IN" dirty="0"/>
              <a:t> </a:t>
            </a:r>
            <a:r>
              <a:rPr lang="en-US" dirty="0"/>
              <a:t>focused </a:t>
            </a:r>
          </a:p>
          <a:p>
            <a:pPr marL="0" lvl="0" indent="0">
              <a:buNone/>
            </a:pPr>
            <a:r>
              <a:rPr lang="en-US" dirty="0"/>
              <a:t>   on the advancement of knowledge rather </a:t>
            </a:r>
          </a:p>
          <a:p>
            <a:pPr marL="0" lvl="0" indent="0">
              <a:buNone/>
            </a:pPr>
            <a:r>
              <a:rPr lang="en-US" dirty="0"/>
              <a:t>   than solving a specific problem.</a:t>
            </a:r>
            <a:endParaRPr lang="en-IN" dirty="0"/>
          </a:p>
          <a:p>
            <a:pPr lvl="0"/>
            <a:r>
              <a:rPr lang="en-US" dirty="0"/>
              <a:t>Theories in basic sciences and</a:t>
            </a:r>
            <a:r>
              <a:rPr lang="en-IN" dirty="0"/>
              <a:t> </a:t>
            </a:r>
          </a:p>
          <a:p>
            <a:pPr marL="0" lvl="0" indent="0">
              <a:buNone/>
            </a:pPr>
            <a:r>
              <a:rPr lang="en-IN" dirty="0"/>
              <a:t>   </a:t>
            </a:r>
            <a:r>
              <a:rPr lang="en-US" dirty="0"/>
              <a:t>mathematics are examples of</a:t>
            </a:r>
            <a:r>
              <a:rPr lang="en-IN" dirty="0"/>
              <a:t> </a:t>
            </a:r>
          </a:p>
          <a:p>
            <a:pPr marL="0" lvl="0" indent="0">
              <a:buNone/>
            </a:pPr>
            <a:r>
              <a:rPr lang="en-IN" dirty="0"/>
              <a:t>   </a:t>
            </a:r>
            <a:r>
              <a:rPr lang="en-US" dirty="0"/>
              <a:t>basic research.</a:t>
            </a:r>
            <a:endParaRPr lang="en-IN" dirty="0"/>
          </a:p>
          <a:p>
            <a:endParaRPr lang="en-IN" dirty="0"/>
          </a:p>
        </p:txBody>
      </p:sp>
      <p:pic>
        <p:nvPicPr>
          <p:cNvPr id="4" name="Image 180"/>
          <p:cNvPicPr/>
          <p:nvPr/>
        </p:nvPicPr>
        <p:blipFill>
          <a:blip r:embed="rId2" cstate="print"/>
          <a:stretch>
            <a:fillRect/>
          </a:stretch>
        </p:blipFill>
        <p:spPr>
          <a:xfrm>
            <a:off x="7441565" y="1143000"/>
            <a:ext cx="3245485" cy="4468812"/>
          </a:xfrm>
          <a:prstGeom prst="rect">
            <a:avLst/>
          </a:prstGeom>
        </p:spPr>
      </p:pic>
    </p:spTree>
    <p:extLst>
      <p:ext uri="{BB962C8B-B14F-4D97-AF65-F5344CB8AC3E}">
        <p14:creationId xmlns:p14="http://schemas.microsoft.com/office/powerpoint/2010/main" val="34330364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4525"/>
          </a:xfrm>
        </p:spPr>
        <p:txBody>
          <a:bodyPr>
            <a:normAutofit/>
          </a:bodyPr>
          <a:lstStyle/>
          <a:p>
            <a:pPr algn="ctr"/>
            <a:r>
              <a:rPr lang="en-US" sz="3200" b="1" dirty="0">
                <a:solidFill>
                  <a:srgbClr val="0000FF"/>
                </a:solidFill>
              </a:rPr>
              <a:t>Types of Research</a:t>
            </a:r>
            <a:endParaRPr lang="en-IN" sz="3200" dirty="0"/>
          </a:p>
        </p:txBody>
      </p:sp>
      <p:sp>
        <p:nvSpPr>
          <p:cNvPr id="3" name="Content Placeholder 2"/>
          <p:cNvSpPr>
            <a:spLocks noGrp="1"/>
          </p:cNvSpPr>
          <p:nvPr>
            <p:ph idx="1"/>
          </p:nvPr>
        </p:nvSpPr>
        <p:spPr>
          <a:xfrm>
            <a:off x="838200" y="1009650"/>
            <a:ext cx="10515600" cy="5167313"/>
          </a:xfrm>
        </p:spPr>
        <p:txBody>
          <a:bodyPr/>
          <a:lstStyle/>
          <a:p>
            <a:pPr marL="0" indent="0">
              <a:buNone/>
            </a:pPr>
            <a:r>
              <a:rPr lang="en-US" b="1" dirty="0"/>
              <a:t>Applied Research</a:t>
            </a:r>
            <a:endParaRPr lang="en-IN" b="1" dirty="0"/>
          </a:p>
          <a:p>
            <a:pPr lvl="0"/>
            <a:r>
              <a:rPr lang="en-US" dirty="0"/>
              <a:t>Applied research tries to solve an </a:t>
            </a:r>
          </a:p>
          <a:p>
            <a:pPr marL="0" lvl="0" indent="0">
              <a:buNone/>
            </a:pPr>
            <a:r>
              <a:rPr lang="en-US" dirty="0"/>
              <a:t>   immediate specific problem faced by </a:t>
            </a:r>
          </a:p>
          <a:p>
            <a:pPr marL="0" lvl="0" indent="0">
              <a:buNone/>
            </a:pPr>
            <a:r>
              <a:rPr lang="en-US" dirty="0"/>
              <a:t>   society.</a:t>
            </a:r>
            <a:endParaRPr lang="en-IN" dirty="0"/>
          </a:p>
          <a:p>
            <a:pPr lvl="0"/>
            <a:r>
              <a:rPr lang="en-US" dirty="0"/>
              <a:t>The obtained solution can be</a:t>
            </a:r>
            <a:endParaRPr lang="en-IN" dirty="0"/>
          </a:p>
          <a:p>
            <a:pPr marL="0" indent="0">
              <a:buNone/>
            </a:pPr>
            <a:r>
              <a:rPr lang="en-US" dirty="0"/>
              <a:t>   deployed to solve the problem.</a:t>
            </a:r>
            <a:endParaRPr lang="en-IN" dirty="0"/>
          </a:p>
          <a:p>
            <a:pPr lvl="0"/>
            <a:r>
              <a:rPr lang="en-US" dirty="0"/>
              <a:t>The outcome of applied research should </a:t>
            </a:r>
          </a:p>
          <a:p>
            <a:pPr marL="0" lvl="0" indent="0">
              <a:buNone/>
            </a:pPr>
            <a:r>
              <a:rPr lang="en-US" dirty="0"/>
              <a:t>   either address the unsolved problem or </a:t>
            </a:r>
          </a:p>
          <a:p>
            <a:pPr marL="0" lvl="0" indent="0">
              <a:buNone/>
            </a:pPr>
            <a:r>
              <a:rPr lang="en-US" dirty="0"/>
              <a:t>   improve the existing solution.</a:t>
            </a:r>
            <a:endParaRPr lang="en-IN" dirty="0"/>
          </a:p>
          <a:p>
            <a:pPr lvl="0"/>
            <a:r>
              <a:rPr lang="en-US" dirty="0"/>
              <a:t>Example of applied research is the discovery of drugs to treat diseases</a:t>
            </a:r>
            <a:endParaRPr lang="en-IN" dirty="0"/>
          </a:p>
          <a:p>
            <a:pPr marL="0" indent="0">
              <a:buNone/>
            </a:pPr>
            <a:endParaRPr lang="en-IN" dirty="0"/>
          </a:p>
        </p:txBody>
      </p:sp>
      <p:pic>
        <p:nvPicPr>
          <p:cNvPr id="4" name="Image 181"/>
          <p:cNvPicPr/>
          <p:nvPr/>
        </p:nvPicPr>
        <p:blipFill>
          <a:blip r:embed="rId2" cstate="print"/>
          <a:stretch>
            <a:fillRect/>
          </a:stretch>
        </p:blipFill>
        <p:spPr>
          <a:xfrm>
            <a:off x="7143115" y="1009650"/>
            <a:ext cx="3544570" cy="4559300"/>
          </a:xfrm>
          <a:prstGeom prst="rect">
            <a:avLst/>
          </a:prstGeom>
        </p:spPr>
      </p:pic>
    </p:spTree>
    <p:extLst>
      <p:ext uri="{BB962C8B-B14F-4D97-AF65-F5344CB8AC3E}">
        <p14:creationId xmlns:p14="http://schemas.microsoft.com/office/powerpoint/2010/main" val="31547472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6425"/>
          </a:xfrm>
        </p:spPr>
        <p:txBody>
          <a:bodyPr>
            <a:normAutofit/>
          </a:bodyPr>
          <a:lstStyle/>
          <a:p>
            <a:pPr algn="ctr"/>
            <a:r>
              <a:rPr lang="en-US" sz="3200" b="1" dirty="0">
                <a:solidFill>
                  <a:srgbClr val="0000FF"/>
                </a:solidFill>
              </a:rPr>
              <a:t>Types of Research</a:t>
            </a:r>
            <a:endParaRPr lang="en-IN" sz="3200" dirty="0"/>
          </a:p>
        </p:txBody>
      </p:sp>
      <p:sp>
        <p:nvSpPr>
          <p:cNvPr id="3" name="Content Placeholder 2"/>
          <p:cNvSpPr>
            <a:spLocks noGrp="1"/>
          </p:cNvSpPr>
          <p:nvPr>
            <p:ph idx="1"/>
          </p:nvPr>
        </p:nvSpPr>
        <p:spPr>
          <a:xfrm>
            <a:off x="838200" y="971550"/>
            <a:ext cx="10515600" cy="5205413"/>
          </a:xfrm>
        </p:spPr>
        <p:txBody>
          <a:bodyPr/>
          <a:lstStyle/>
          <a:p>
            <a:pPr marL="0" indent="0" algn="just">
              <a:buNone/>
            </a:pPr>
            <a:r>
              <a:rPr lang="en-US" dirty="0"/>
              <a:t>Some other types of research are:</a:t>
            </a:r>
            <a:endParaRPr lang="en-IN" dirty="0"/>
          </a:p>
          <a:p>
            <a:pPr lvl="0" algn="just"/>
            <a:r>
              <a:rPr lang="en-US" b="1" dirty="0"/>
              <a:t>Diagnostic Research </a:t>
            </a:r>
            <a:r>
              <a:rPr lang="en-US" dirty="0"/>
              <a:t>— to determine the frequency with which something occurs or with which it is associated with something else (Health Science).</a:t>
            </a:r>
            <a:endParaRPr lang="en-IN" dirty="0"/>
          </a:p>
          <a:p>
            <a:pPr lvl="0" algn="just"/>
            <a:r>
              <a:rPr lang="en-US" b="1" dirty="0"/>
              <a:t>Hypothesis-Testing Research </a:t>
            </a:r>
            <a:r>
              <a:rPr lang="en-US" dirty="0"/>
              <a:t>— to test a hypothesis of a causal relationship between variables by forming suitable hypotheses (model assisted studies).</a:t>
            </a:r>
            <a:endParaRPr lang="en-IN" dirty="0"/>
          </a:p>
          <a:p>
            <a:pPr lvl="0" algn="just"/>
            <a:r>
              <a:rPr lang="en-US" b="1" dirty="0"/>
              <a:t>Overt and Covert Research </a:t>
            </a:r>
            <a:r>
              <a:rPr lang="en-US" dirty="0"/>
              <a:t>— overt research means that everyone knows who the researcher is and what research is being conducted. Covert research means that it is an under-cover work and nobody knows who the researcher is and what researcher is being conducted.</a:t>
            </a:r>
            <a:endParaRPr lang="en-IN" dirty="0"/>
          </a:p>
          <a:p>
            <a:pPr algn="just"/>
            <a:endParaRPr lang="en-IN" dirty="0"/>
          </a:p>
        </p:txBody>
      </p:sp>
    </p:spTree>
    <p:extLst>
      <p:ext uri="{BB962C8B-B14F-4D97-AF65-F5344CB8AC3E}">
        <p14:creationId xmlns:p14="http://schemas.microsoft.com/office/powerpoint/2010/main" val="40043188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9497" y="917178"/>
            <a:ext cx="10515600" cy="568325"/>
          </a:xfrm>
        </p:spPr>
        <p:txBody>
          <a:bodyPr>
            <a:normAutofit/>
          </a:bodyPr>
          <a:lstStyle/>
          <a:p>
            <a:pPr algn="ctr"/>
            <a:r>
              <a:rPr lang="en-US" sz="3200" b="1" dirty="0">
                <a:solidFill>
                  <a:srgbClr val="0000FF"/>
                </a:solidFill>
              </a:rPr>
              <a:t>Classification of Research</a:t>
            </a:r>
            <a:endParaRPr lang="en-IN" sz="3200" b="1" dirty="0">
              <a:solidFill>
                <a:srgbClr val="0000FF"/>
              </a:solidFill>
            </a:endParaRPr>
          </a:p>
        </p:txBody>
      </p:sp>
      <p:sp>
        <p:nvSpPr>
          <p:cNvPr id="13" name="Rounded Rectangle 12"/>
          <p:cNvSpPr/>
          <p:nvPr/>
        </p:nvSpPr>
        <p:spPr>
          <a:xfrm>
            <a:off x="2181225" y="1501775"/>
            <a:ext cx="7829550" cy="417195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Straight Connector 14"/>
          <p:cNvCxnSpPr/>
          <p:nvPr/>
        </p:nvCxnSpPr>
        <p:spPr>
          <a:xfrm>
            <a:off x="6096000" y="1885950"/>
            <a:ext cx="0" cy="857250"/>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a:off x="6096000" y="2743200"/>
            <a:ext cx="1981200" cy="0"/>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p:cNvCxnSpPr/>
          <p:nvPr/>
        </p:nvCxnSpPr>
        <p:spPr>
          <a:xfrm>
            <a:off x="4114800" y="2743200"/>
            <a:ext cx="1981200" cy="0"/>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Arrow Connector 22"/>
          <p:cNvCxnSpPr/>
          <p:nvPr/>
        </p:nvCxnSpPr>
        <p:spPr>
          <a:xfrm>
            <a:off x="4114799" y="2743200"/>
            <a:ext cx="0" cy="6858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p:cNvCxnSpPr/>
          <p:nvPr/>
        </p:nvCxnSpPr>
        <p:spPr>
          <a:xfrm>
            <a:off x="8077200" y="2743200"/>
            <a:ext cx="0" cy="6858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 name="Rectangle 32"/>
          <p:cNvSpPr/>
          <p:nvPr/>
        </p:nvSpPr>
        <p:spPr>
          <a:xfrm>
            <a:off x="3213099" y="3429000"/>
            <a:ext cx="1803400" cy="43815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Basic Research</a:t>
            </a:r>
            <a:endParaRPr lang="en-IN" dirty="0"/>
          </a:p>
        </p:txBody>
      </p:sp>
      <p:sp>
        <p:nvSpPr>
          <p:cNvPr id="35" name="Rectangle 34"/>
          <p:cNvSpPr/>
          <p:nvPr/>
        </p:nvSpPr>
        <p:spPr>
          <a:xfrm>
            <a:off x="7175500" y="3461544"/>
            <a:ext cx="1803400" cy="43815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Applied Research</a:t>
            </a:r>
            <a:endParaRPr lang="en-IN" dirty="0"/>
          </a:p>
        </p:txBody>
      </p:sp>
      <p:sp>
        <p:nvSpPr>
          <p:cNvPr id="36" name="Rectangle 35"/>
          <p:cNvSpPr/>
          <p:nvPr/>
        </p:nvSpPr>
        <p:spPr>
          <a:xfrm>
            <a:off x="3011863" y="3984626"/>
            <a:ext cx="2205872" cy="43815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Enriching the theory </a:t>
            </a:r>
            <a:endParaRPr lang="en-IN" dirty="0"/>
          </a:p>
        </p:txBody>
      </p:sp>
      <p:sp>
        <p:nvSpPr>
          <p:cNvPr id="39" name="Rectangle 38"/>
          <p:cNvSpPr/>
          <p:nvPr/>
        </p:nvSpPr>
        <p:spPr>
          <a:xfrm>
            <a:off x="6801142" y="4030139"/>
            <a:ext cx="2552115" cy="1175795"/>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Enriching the applications of theoretical knowledge</a:t>
            </a:r>
            <a:endParaRPr lang="en-IN" dirty="0"/>
          </a:p>
        </p:txBody>
      </p:sp>
    </p:spTree>
    <p:extLst>
      <p:ext uri="{BB962C8B-B14F-4D97-AF65-F5344CB8AC3E}">
        <p14:creationId xmlns:p14="http://schemas.microsoft.com/office/powerpoint/2010/main" val="153910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04896"/>
          </a:xfrm>
        </p:spPr>
        <p:txBody>
          <a:bodyPr>
            <a:noAutofit/>
          </a:bodyPr>
          <a:lstStyle/>
          <a:p>
            <a:pPr algn="ctr"/>
            <a:r>
              <a:rPr lang="en-US" sz="3200" b="1" dirty="0">
                <a:solidFill>
                  <a:srgbClr val="0000FF"/>
                </a:solidFill>
              </a:rPr>
              <a:t>Classification of Research</a:t>
            </a:r>
            <a:endParaRPr lang="en-IN" sz="3200"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987105976"/>
              </p:ext>
            </p:extLst>
          </p:nvPr>
        </p:nvGraphicFramePr>
        <p:xfrm>
          <a:off x="838198" y="770027"/>
          <a:ext cx="10515602" cy="5879898"/>
        </p:xfrm>
        <a:graphic>
          <a:graphicData uri="http://schemas.openxmlformats.org/drawingml/2006/table">
            <a:tbl>
              <a:tblPr firstRow="1" bandRow="1">
                <a:tableStyleId>{5C22544A-7EE6-4342-B048-85BDC9FD1C3A}</a:tableStyleId>
              </a:tblPr>
              <a:tblGrid>
                <a:gridCol w="5257801">
                  <a:extLst>
                    <a:ext uri="{9D8B030D-6E8A-4147-A177-3AD203B41FA5}">
                      <a16:colId xmlns:a16="http://schemas.microsoft.com/office/drawing/2014/main" val="492458885"/>
                    </a:ext>
                  </a:extLst>
                </a:gridCol>
                <a:gridCol w="5257801">
                  <a:extLst>
                    <a:ext uri="{9D8B030D-6E8A-4147-A177-3AD203B41FA5}">
                      <a16:colId xmlns:a16="http://schemas.microsoft.com/office/drawing/2014/main" val="2877852566"/>
                    </a:ext>
                  </a:extLst>
                </a:gridCol>
              </a:tblGrid>
              <a:tr h="305460">
                <a:tc>
                  <a:txBody>
                    <a:bodyPr/>
                    <a:lstStyle/>
                    <a:p>
                      <a:pPr algn="ctr"/>
                      <a:r>
                        <a:rPr lang="en-US" sz="1600" b="1" kern="1200" dirty="0">
                          <a:solidFill>
                            <a:schemeClr val="lt1"/>
                          </a:solidFill>
                          <a:effectLst/>
                          <a:latin typeface="+mn-lt"/>
                          <a:ea typeface="+mn-ea"/>
                          <a:cs typeface="+mn-cs"/>
                        </a:rPr>
                        <a:t>Basic research</a:t>
                      </a:r>
                      <a:endParaRPr lang="en-IN" sz="1600" dirty="0"/>
                    </a:p>
                  </a:txBody>
                  <a:tcPr/>
                </a:tc>
                <a:tc>
                  <a:txBody>
                    <a:bodyPr/>
                    <a:lstStyle/>
                    <a:p>
                      <a:pPr algn="ctr"/>
                      <a:r>
                        <a:rPr lang="en-US" sz="1600" b="1" kern="1200" dirty="0">
                          <a:solidFill>
                            <a:schemeClr val="lt1"/>
                          </a:solidFill>
                          <a:effectLst/>
                          <a:latin typeface="+mn-lt"/>
                          <a:ea typeface="+mn-ea"/>
                          <a:cs typeface="+mn-cs"/>
                        </a:rPr>
                        <a:t>Applied Research</a:t>
                      </a:r>
                      <a:endParaRPr lang="en-IN" sz="1600" dirty="0"/>
                    </a:p>
                  </a:txBody>
                  <a:tcPr/>
                </a:tc>
                <a:extLst>
                  <a:ext uri="{0D108BD9-81ED-4DB2-BD59-A6C34878D82A}">
                    <a16:rowId xmlns:a16="http://schemas.microsoft.com/office/drawing/2014/main" val="2738175361"/>
                  </a:ext>
                </a:extLst>
              </a:tr>
              <a:tr h="602551">
                <a:tc>
                  <a:txBody>
                    <a:bodyPr/>
                    <a:lstStyle/>
                    <a:p>
                      <a:pPr>
                        <a:lnSpc>
                          <a:spcPct val="100000"/>
                        </a:lnSpc>
                      </a:pPr>
                      <a:r>
                        <a:rPr lang="en-US" sz="1600" kern="1200" dirty="0">
                          <a:solidFill>
                            <a:schemeClr val="dk1"/>
                          </a:solidFill>
                          <a:effectLst/>
                          <a:latin typeface="+mn-lt"/>
                          <a:ea typeface="+mn-ea"/>
                          <a:cs typeface="+mn-cs"/>
                        </a:rPr>
                        <a:t>It more theoretical also explores the</a:t>
                      </a:r>
                      <a:r>
                        <a:rPr lang="en-IN" sz="1600" kern="1200" baseline="0" dirty="0">
                          <a:solidFill>
                            <a:schemeClr val="dk1"/>
                          </a:solidFill>
                          <a:effectLst/>
                          <a:latin typeface="+mn-lt"/>
                          <a:ea typeface="+mn-ea"/>
                          <a:cs typeface="+mn-cs"/>
                        </a:rPr>
                        <a:t> </a:t>
                      </a:r>
                      <a:r>
                        <a:rPr lang="en-US" sz="1600" kern="1200" baseline="0" dirty="0">
                          <a:solidFill>
                            <a:schemeClr val="dk1"/>
                          </a:solidFill>
                          <a:effectLst/>
                          <a:latin typeface="+mn-lt"/>
                          <a:ea typeface="+mn-ea"/>
                          <a:cs typeface="+mn-cs"/>
                        </a:rPr>
                        <a:t>i</a:t>
                      </a:r>
                      <a:r>
                        <a:rPr lang="en-US" sz="1600" kern="1200" dirty="0">
                          <a:solidFill>
                            <a:schemeClr val="dk1"/>
                          </a:solidFill>
                          <a:effectLst/>
                          <a:latin typeface="+mn-lt"/>
                          <a:ea typeface="+mn-ea"/>
                          <a:cs typeface="+mn-cs"/>
                        </a:rPr>
                        <a:t>nformation</a:t>
                      </a:r>
                      <a:r>
                        <a:rPr lang="en-US"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that have not applied yet</a:t>
                      </a:r>
                      <a:endParaRPr lang="en-IN" sz="1600" dirty="0"/>
                    </a:p>
                  </a:txBody>
                  <a:tcPr/>
                </a:tc>
                <a:tc>
                  <a:txBody>
                    <a:bodyPr/>
                    <a:lstStyle/>
                    <a:p>
                      <a:pPr>
                        <a:lnSpc>
                          <a:spcPct val="100000"/>
                        </a:lnSpc>
                      </a:pPr>
                      <a:r>
                        <a:rPr lang="en-US" sz="1600" kern="1200" dirty="0">
                          <a:solidFill>
                            <a:schemeClr val="dk1"/>
                          </a:solidFill>
                          <a:effectLst/>
                          <a:latin typeface="+mn-lt"/>
                          <a:ea typeface="+mn-ea"/>
                          <a:cs typeface="+mn-cs"/>
                        </a:rPr>
                        <a:t>Applied research is more practical and</a:t>
                      </a:r>
                      <a:r>
                        <a:rPr lang="en-IN"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descriptive in nature</a:t>
                      </a:r>
                      <a:endParaRPr lang="en-IN" sz="1600" kern="1200" dirty="0">
                        <a:solidFill>
                          <a:schemeClr val="dk1"/>
                        </a:solidFill>
                        <a:effectLst/>
                        <a:latin typeface="+mn-lt"/>
                        <a:ea typeface="+mn-ea"/>
                        <a:cs typeface="+mn-cs"/>
                      </a:endParaRPr>
                    </a:p>
                  </a:txBody>
                  <a:tcPr/>
                </a:tc>
                <a:extLst>
                  <a:ext uri="{0D108BD9-81ED-4DB2-BD59-A6C34878D82A}">
                    <a16:rowId xmlns:a16="http://schemas.microsoft.com/office/drawing/2014/main" val="859734072"/>
                  </a:ext>
                </a:extLst>
              </a:tr>
              <a:tr h="602551">
                <a:tc>
                  <a:txBody>
                    <a:bodyPr/>
                    <a:lstStyle/>
                    <a:p>
                      <a:pPr>
                        <a:lnSpc>
                          <a:spcPct val="100000"/>
                        </a:lnSpc>
                      </a:pPr>
                      <a:r>
                        <a:rPr lang="en-US" sz="1600" kern="1200" dirty="0">
                          <a:solidFill>
                            <a:schemeClr val="dk1"/>
                          </a:solidFill>
                          <a:effectLst/>
                          <a:latin typeface="+mn-lt"/>
                          <a:ea typeface="+mn-ea"/>
                          <a:cs typeface="+mn-cs"/>
                        </a:rPr>
                        <a:t>The scope of basic research is often</a:t>
                      </a:r>
                      <a:r>
                        <a:rPr lang="en-IN"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universal at can be applied in diverse concepts</a:t>
                      </a:r>
                      <a:endParaRPr lang="en-IN" sz="1600" dirty="0"/>
                    </a:p>
                  </a:txBody>
                  <a:tcPr/>
                </a:tc>
                <a:tc>
                  <a:txBody>
                    <a:bodyPr/>
                    <a:lstStyle/>
                    <a:p>
                      <a:pPr marL="0" marR="0" indent="0" algn="l" defTabSz="914400" rtl="0" eaLnBrk="1" latinLnBrk="0" hangingPunct="1">
                        <a:lnSpc>
                          <a:spcPct val="100000"/>
                        </a:lnSpc>
                        <a:spcBef>
                          <a:spcPts val="0"/>
                        </a:spcBef>
                        <a:spcAft>
                          <a:spcPts val="0"/>
                        </a:spcAft>
                      </a:pPr>
                      <a:r>
                        <a:rPr lang="en-US" sz="1600" kern="1200" dirty="0">
                          <a:solidFill>
                            <a:schemeClr val="dk1"/>
                          </a:solidFill>
                          <a:effectLst/>
                          <a:latin typeface="+mn-lt"/>
                          <a:ea typeface="+mn-ea"/>
                          <a:cs typeface="+mn-cs"/>
                        </a:rPr>
                        <a:t>The scope of applied research is largely</a:t>
                      </a:r>
                      <a:r>
                        <a:rPr lang="en-IN" sz="1600" kern="120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focused on the particular topic to get the</a:t>
                      </a:r>
                      <a:r>
                        <a:rPr lang="en-IN" sz="1600" kern="120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answer</a:t>
                      </a:r>
                      <a:endParaRPr lang="en-IN" sz="1600" kern="1200" dirty="0">
                        <a:solidFill>
                          <a:schemeClr val="dk1"/>
                        </a:solidFill>
                        <a:effectLst/>
                        <a:latin typeface="+mn-lt"/>
                        <a:ea typeface="+mn-ea"/>
                        <a:cs typeface="+mn-cs"/>
                      </a:endParaRPr>
                    </a:p>
                  </a:txBody>
                  <a:tcPr/>
                </a:tc>
                <a:extLst>
                  <a:ext uri="{0D108BD9-81ED-4DB2-BD59-A6C34878D82A}">
                    <a16:rowId xmlns:a16="http://schemas.microsoft.com/office/drawing/2014/main" val="2995371574"/>
                  </a:ext>
                </a:extLst>
              </a:tr>
              <a:tr h="527232">
                <a:tc>
                  <a:txBody>
                    <a:bodyPr/>
                    <a:lstStyle/>
                    <a:p>
                      <a:pPr>
                        <a:lnSpc>
                          <a:spcPct val="100000"/>
                        </a:lnSpc>
                      </a:pPr>
                      <a:r>
                        <a:rPr lang="en-US" sz="1600" kern="1200" dirty="0">
                          <a:solidFill>
                            <a:schemeClr val="dk1"/>
                          </a:solidFill>
                          <a:effectLst/>
                          <a:latin typeface="+mn-lt"/>
                          <a:ea typeface="+mn-ea"/>
                          <a:cs typeface="+mn-cs"/>
                        </a:rPr>
                        <a:t>It is lesser involved in improvement of</a:t>
                      </a:r>
                      <a:r>
                        <a:rPr lang="en-IN"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technology</a:t>
                      </a:r>
                      <a:endParaRPr lang="en-IN" sz="1600" dirty="0"/>
                    </a:p>
                  </a:txBody>
                  <a:tcPr/>
                </a:tc>
                <a:tc>
                  <a:txBody>
                    <a:bodyPr/>
                    <a:lstStyle/>
                    <a:p>
                      <a:pPr marL="84138" marR="0" indent="0">
                        <a:lnSpc>
                          <a:spcPct val="100000"/>
                        </a:lnSpc>
                        <a:spcBef>
                          <a:spcPts val="0"/>
                        </a:spcBef>
                        <a:spcAft>
                          <a:spcPts val="0"/>
                        </a:spcAft>
                      </a:pPr>
                      <a:r>
                        <a:rPr lang="en-US" sz="1600" spc="-10" dirty="0">
                          <a:solidFill>
                            <a:srgbClr val="181818"/>
                          </a:solidFill>
                          <a:effectLst/>
                          <a:latin typeface="Calibri" panose="020F0502020204030204" pitchFamily="34" charset="0"/>
                          <a:ea typeface="Calibri" panose="020F0502020204030204" pitchFamily="34" charset="0"/>
                          <a:cs typeface="Times New Roman" panose="02020603050405020304" pitchFamily="18" charset="0"/>
                        </a:rPr>
                        <a:t>It</a:t>
                      </a:r>
                      <a:r>
                        <a:rPr lang="en-US" sz="1600" spc="-25" dirty="0">
                          <a:solidFill>
                            <a:srgbClr val="181818"/>
                          </a:solidFill>
                          <a:effectLst/>
                          <a:latin typeface="Calibri" panose="020F0502020204030204" pitchFamily="34" charset="0"/>
                          <a:ea typeface="Calibri" panose="020F0502020204030204" pitchFamily="34" charset="0"/>
                          <a:cs typeface="Times New Roman" panose="02020603050405020304" pitchFamily="18" charset="0"/>
                        </a:rPr>
                        <a:t> </a:t>
                      </a:r>
                      <a:r>
                        <a:rPr lang="en-US" sz="1600" spc="-10" dirty="0">
                          <a:solidFill>
                            <a:srgbClr val="1F1F1F"/>
                          </a:solidFill>
                          <a:effectLst/>
                          <a:latin typeface="Calibri" panose="020F0502020204030204" pitchFamily="34" charset="0"/>
                          <a:ea typeface="Calibri" panose="020F0502020204030204" pitchFamily="34" charset="0"/>
                          <a:cs typeface="Times New Roman" panose="02020603050405020304" pitchFamily="18" charset="0"/>
                        </a:rPr>
                        <a:t>is</a:t>
                      </a:r>
                      <a:r>
                        <a:rPr lang="en-US" sz="1600" spc="-45" dirty="0">
                          <a:solidFill>
                            <a:srgbClr val="1F1F1F"/>
                          </a:solidFill>
                          <a:effectLst/>
                          <a:latin typeface="Calibri" panose="020F0502020204030204" pitchFamily="34" charset="0"/>
                          <a:ea typeface="Calibri" panose="020F0502020204030204" pitchFamily="34" charset="0"/>
                          <a:cs typeface="Times New Roman" panose="02020603050405020304" pitchFamily="18" charset="0"/>
                        </a:rPr>
                        <a:t> </a:t>
                      </a:r>
                      <a:r>
                        <a:rPr lang="en-US" sz="1600" spc="-10" dirty="0">
                          <a:effectLst/>
                          <a:latin typeface="Calibri" panose="020F0502020204030204" pitchFamily="34" charset="0"/>
                          <a:ea typeface="Calibri" panose="020F0502020204030204" pitchFamily="34" charset="0"/>
                          <a:cs typeface="Times New Roman" panose="02020603050405020304" pitchFamily="18" charset="0"/>
                        </a:rPr>
                        <a:t>comparatively</a:t>
                      </a:r>
                      <a:r>
                        <a:rPr lang="en-US" sz="1600" spc="125" dirty="0">
                          <a:effectLst/>
                          <a:latin typeface="Calibri" panose="020F0502020204030204" pitchFamily="34" charset="0"/>
                          <a:ea typeface="Calibri" panose="020F0502020204030204" pitchFamily="34" charset="0"/>
                          <a:cs typeface="Times New Roman" panose="02020603050405020304" pitchFamily="18" charset="0"/>
                        </a:rPr>
                        <a:t> </a:t>
                      </a:r>
                      <a:r>
                        <a:rPr lang="en-US" sz="1600" spc="-10" dirty="0">
                          <a:effectLst/>
                          <a:latin typeface="Calibri" panose="020F0502020204030204" pitchFamily="34" charset="0"/>
                          <a:ea typeface="Calibri" panose="020F0502020204030204" pitchFamily="34" charset="0"/>
                          <a:cs typeface="Times New Roman" panose="02020603050405020304" pitchFamily="18" charset="0"/>
                        </a:rPr>
                        <a:t>highly applied</a:t>
                      </a:r>
                      <a:r>
                        <a:rPr lang="en-US" sz="1600" spc="70" dirty="0">
                          <a:effectLst/>
                          <a:latin typeface="Calibri" panose="020F0502020204030204" pitchFamily="34" charset="0"/>
                          <a:ea typeface="Calibri" panose="020F0502020204030204" pitchFamily="34" charset="0"/>
                          <a:cs typeface="Times New Roman" panose="02020603050405020304" pitchFamily="18" charset="0"/>
                        </a:rPr>
                        <a:t> </a:t>
                      </a:r>
                      <a:r>
                        <a:rPr lang="en-US" sz="1600" spc="-10" dirty="0">
                          <a:effectLst/>
                          <a:latin typeface="Calibri" panose="020F0502020204030204" pitchFamily="34" charset="0"/>
                          <a:ea typeface="Calibri" panose="020F0502020204030204" pitchFamily="34" charset="0"/>
                          <a:cs typeface="Times New Roman" panose="02020603050405020304" pitchFamily="18" charset="0"/>
                        </a:rPr>
                        <a:t>to</a:t>
                      </a:r>
                      <a:r>
                        <a:rPr lang="en-US" sz="1600" spc="-70" dirty="0">
                          <a:effectLst/>
                          <a:latin typeface="Calibri" panose="020F0502020204030204" pitchFamily="34" charset="0"/>
                          <a:ea typeface="Calibri" panose="020F0502020204030204" pitchFamily="34" charset="0"/>
                          <a:cs typeface="Times New Roman" panose="02020603050405020304" pitchFamily="18" charset="0"/>
                        </a:rPr>
                        <a:t> </a:t>
                      </a:r>
                      <a:r>
                        <a:rPr lang="en-US" sz="1600" spc="-10" dirty="0">
                          <a:effectLst/>
                          <a:latin typeface="Calibri" panose="020F0502020204030204" pitchFamily="34" charset="0"/>
                          <a:ea typeface="Calibri" panose="020F0502020204030204" pitchFamily="34" charset="0"/>
                          <a:cs typeface="Times New Roman" panose="02020603050405020304" pitchFamily="18" charset="0"/>
                        </a:rPr>
                        <a:t>improve</a:t>
                      </a:r>
                      <a:r>
                        <a:rPr lang="en-IN" sz="1600" spc="0" baseline="0" dirty="0">
                          <a:effectLst/>
                          <a:latin typeface="Calibri" panose="020F0502020204030204" pitchFamily="34" charset="0"/>
                          <a:ea typeface="Calibri" panose="020F0502020204030204" pitchFamily="34" charset="0"/>
                          <a:cs typeface="Times New Roman" panose="02020603050405020304" pitchFamily="18" charset="0"/>
                        </a:rPr>
                        <a:t> </a:t>
                      </a:r>
                      <a:r>
                        <a:rPr lang="en-US" sz="1600" spc="-30" dirty="0">
                          <a:effectLst/>
                          <a:latin typeface="Calibri" panose="020F0502020204030204" pitchFamily="34" charset="0"/>
                          <a:ea typeface="Calibri" panose="020F0502020204030204" pitchFamily="34" charset="0"/>
                          <a:cs typeface="Times New Roman" panose="02020603050405020304" pitchFamily="18" charset="0"/>
                        </a:rPr>
                        <a:t>the</a:t>
                      </a:r>
                      <a:r>
                        <a:rPr lang="en-US" sz="1600" spc="-55" dirty="0">
                          <a:effectLst/>
                          <a:latin typeface="Calibri" panose="020F0502020204030204" pitchFamily="34" charset="0"/>
                          <a:ea typeface="Calibri" panose="020F0502020204030204" pitchFamily="34" charset="0"/>
                          <a:cs typeface="Times New Roman" panose="02020603050405020304" pitchFamily="18" charset="0"/>
                        </a:rPr>
                        <a:t> </a:t>
                      </a:r>
                      <a:r>
                        <a:rPr lang="en-US" sz="1600" spc="-30" dirty="0">
                          <a:effectLst/>
                          <a:latin typeface="Calibri" panose="020F0502020204030204" pitchFamily="34" charset="0"/>
                          <a:ea typeface="Calibri" panose="020F0502020204030204" pitchFamily="34" charset="0"/>
                          <a:cs typeface="Times New Roman" panose="02020603050405020304" pitchFamily="18" charset="0"/>
                        </a:rPr>
                        <a:t>technology</a:t>
                      </a:r>
                      <a:r>
                        <a:rPr lang="en-US" sz="1600" spc="-30" baseline="0" dirty="0">
                          <a:effectLst/>
                          <a:latin typeface="Calibri" panose="020F0502020204030204" pitchFamily="34" charset="0"/>
                          <a:ea typeface="Calibri" panose="020F0502020204030204" pitchFamily="34" charset="0"/>
                          <a:cs typeface="Times New Roman" panose="02020603050405020304" pitchFamily="18" charset="0"/>
                        </a:rPr>
                        <a:t> </a:t>
                      </a:r>
                      <a:r>
                        <a:rPr lang="en-US" sz="1600" dirty="0">
                          <a:effectLst/>
                          <a:latin typeface="Calibri" panose="020F0502020204030204" pitchFamily="34" charset="0"/>
                          <a:ea typeface="Calibri" panose="020F0502020204030204" pitchFamily="34" charset="0"/>
                          <a:cs typeface="Times New Roman" panose="02020603050405020304" pitchFamily="18" charset="0"/>
                        </a:rPr>
                        <a:t>and</a:t>
                      </a:r>
                      <a:r>
                        <a:rPr lang="en-US" sz="1600" spc="-75" dirty="0">
                          <a:effectLst/>
                          <a:latin typeface="Calibri" panose="020F0502020204030204" pitchFamily="34" charset="0"/>
                          <a:ea typeface="Calibri" panose="020F0502020204030204" pitchFamily="34" charset="0"/>
                          <a:cs typeface="Times New Roman" panose="02020603050405020304" pitchFamily="18" charset="0"/>
                        </a:rPr>
                        <a:t> </a:t>
                      </a:r>
                      <a:r>
                        <a:rPr lang="en-US" sz="1600" dirty="0">
                          <a:effectLst/>
                          <a:latin typeface="Calibri" panose="020F0502020204030204" pitchFamily="34" charset="0"/>
                          <a:ea typeface="Calibri" panose="020F0502020204030204" pitchFamily="34" charset="0"/>
                          <a:cs typeface="Times New Roman" panose="02020603050405020304" pitchFamily="18" charset="0"/>
                        </a:rPr>
                        <a:t>covers</a:t>
                      </a:r>
                      <a:r>
                        <a:rPr lang="en-US" sz="16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1600" dirty="0">
                          <a:effectLst/>
                          <a:latin typeface="Calibri" panose="020F0502020204030204" pitchFamily="34" charset="0"/>
                          <a:ea typeface="Calibri" panose="020F0502020204030204" pitchFamily="34" charset="0"/>
                          <a:cs typeface="Times New Roman" panose="02020603050405020304" pitchFamily="18" charset="0"/>
                        </a:rPr>
                        <a:t>the</a:t>
                      </a:r>
                      <a:r>
                        <a:rPr lang="en-US" sz="1600" spc="-5" dirty="0">
                          <a:effectLst/>
                          <a:latin typeface="Calibri" panose="020F0502020204030204" pitchFamily="34" charset="0"/>
                          <a:ea typeface="Calibri" panose="020F0502020204030204" pitchFamily="34" charset="0"/>
                          <a:cs typeface="Times New Roman" panose="02020603050405020304" pitchFamily="18" charset="0"/>
                        </a:rPr>
                        <a:t> </a:t>
                      </a:r>
                      <a:r>
                        <a:rPr lang="en-US" sz="1600" dirty="0">
                          <a:effectLst/>
                          <a:latin typeface="Calibri" panose="020F0502020204030204" pitchFamily="34" charset="0"/>
                          <a:ea typeface="Calibri" panose="020F0502020204030204" pitchFamily="34" charset="0"/>
                          <a:cs typeface="Times New Roman" panose="02020603050405020304" pitchFamily="18" charset="0"/>
                        </a:rPr>
                        <a:t>larger</a:t>
                      </a:r>
                      <a:r>
                        <a:rPr lang="en-US" sz="1600" spc="-60" dirty="0">
                          <a:effectLst/>
                          <a:latin typeface="Calibri" panose="020F0502020204030204" pitchFamily="34" charset="0"/>
                          <a:ea typeface="Calibri" panose="020F0502020204030204" pitchFamily="34" charset="0"/>
                          <a:cs typeface="Times New Roman" panose="02020603050405020304" pitchFamily="18" charset="0"/>
                        </a:rPr>
                        <a:t> </a:t>
                      </a:r>
                      <a:r>
                        <a:rPr lang="en-US" sz="1600" spc="-10" dirty="0">
                          <a:solidFill>
                            <a:srgbClr val="3B3B3B"/>
                          </a:solidFill>
                          <a:effectLst/>
                          <a:latin typeface="Calibri" panose="020F0502020204030204" pitchFamily="34" charset="0"/>
                          <a:ea typeface="Calibri" panose="020F0502020204030204" pitchFamily="34" charset="0"/>
                          <a:cs typeface="Times New Roman" panose="02020603050405020304" pitchFamily="18" charset="0"/>
                        </a:rPr>
                        <a:t>a</a:t>
                      </a:r>
                      <a:r>
                        <a:rPr lang="en-US" sz="1600" spc="-10" dirty="0">
                          <a:solidFill>
                            <a:srgbClr val="383838"/>
                          </a:solidFill>
                          <a:effectLst/>
                          <a:latin typeface="Calibri" panose="020F0502020204030204" pitchFamily="34" charset="0"/>
                          <a:ea typeface="Calibri" panose="020F0502020204030204" pitchFamily="34" charset="0"/>
                          <a:cs typeface="Times New Roman" panose="02020603050405020304" pitchFamily="18" charset="0"/>
                        </a:rPr>
                        <a:t>re</a:t>
                      </a:r>
                      <a:r>
                        <a:rPr lang="en-US" sz="1600" spc="-10" dirty="0">
                          <a:effectLst/>
                          <a:latin typeface="Calibri" panose="020F0502020204030204" pitchFamily="34" charset="0"/>
                          <a:ea typeface="Calibri" panose="020F0502020204030204" pitchFamily="34" charset="0"/>
                          <a:cs typeface="Times New Roman" panose="02020603050405020304" pitchFamily="18" charset="0"/>
                        </a:rPr>
                        <a:t>as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896430680"/>
                  </a:ext>
                </a:extLst>
              </a:tr>
              <a:tr h="602551">
                <a:tc>
                  <a:txBody>
                    <a:bodyPr/>
                    <a:lstStyle/>
                    <a:p>
                      <a:pPr>
                        <a:lnSpc>
                          <a:spcPct val="100000"/>
                        </a:lnSpc>
                      </a:pPr>
                      <a:r>
                        <a:rPr lang="en-US" sz="1600" kern="1200" dirty="0">
                          <a:solidFill>
                            <a:schemeClr val="dk1"/>
                          </a:solidFill>
                          <a:effectLst/>
                          <a:latin typeface="+mn-lt"/>
                          <a:ea typeface="+mn-ea"/>
                          <a:cs typeface="+mn-cs"/>
                        </a:rPr>
                        <a:t>It aims to predict future research and analyze the gap between the researches</a:t>
                      </a:r>
                      <a:r>
                        <a:rPr lang="en-US"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prior done</a:t>
                      </a:r>
                      <a:endParaRPr lang="en-IN" sz="1600" dirty="0"/>
                    </a:p>
                  </a:txBody>
                  <a:tcPr/>
                </a:tc>
                <a:tc>
                  <a:txBody>
                    <a:bodyPr/>
                    <a:lstStyle/>
                    <a:p>
                      <a:pPr>
                        <a:lnSpc>
                          <a:spcPct val="100000"/>
                        </a:lnSpc>
                      </a:pPr>
                      <a:r>
                        <a:rPr lang="en-US" sz="1600" kern="1200" dirty="0">
                          <a:solidFill>
                            <a:schemeClr val="dk1"/>
                          </a:solidFill>
                          <a:effectLst/>
                          <a:latin typeface="+mn-lt"/>
                          <a:ea typeface="+mn-ea"/>
                          <a:cs typeface="+mn-cs"/>
                        </a:rPr>
                        <a:t>Applied seeking to prevent the predicted</a:t>
                      </a:r>
                      <a:r>
                        <a:rPr lang="en-IN"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problem having potential to create challenges in the future</a:t>
                      </a:r>
                      <a:endParaRPr lang="en-IN" sz="1600" dirty="0"/>
                    </a:p>
                  </a:txBody>
                  <a:tcPr/>
                </a:tc>
                <a:extLst>
                  <a:ext uri="{0D108BD9-81ED-4DB2-BD59-A6C34878D82A}">
                    <a16:rowId xmlns:a16="http://schemas.microsoft.com/office/drawing/2014/main" val="3894009695"/>
                  </a:ext>
                </a:extLst>
              </a:tr>
              <a:tr h="602551">
                <a:tc>
                  <a:txBody>
                    <a:bodyPr/>
                    <a:lstStyle/>
                    <a:p>
                      <a:pPr>
                        <a:lnSpc>
                          <a:spcPct val="100000"/>
                        </a:lnSpc>
                      </a:pPr>
                      <a:r>
                        <a:rPr lang="en-US" sz="1600" kern="1200" dirty="0">
                          <a:solidFill>
                            <a:schemeClr val="dk1"/>
                          </a:solidFill>
                          <a:effectLst/>
                          <a:latin typeface="+mn-lt"/>
                          <a:ea typeface="+mn-ea"/>
                          <a:cs typeface="+mn-cs"/>
                        </a:rPr>
                        <a:t>It is driven by curiosity</a:t>
                      </a:r>
                      <a:endParaRPr lang="en-IN" sz="1600" dirty="0"/>
                    </a:p>
                  </a:txBody>
                  <a:tcPr/>
                </a:tc>
                <a:tc>
                  <a:txBody>
                    <a:bodyPr/>
                    <a:lstStyle/>
                    <a:p>
                      <a:pPr>
                        <a:lnSpc>
                          <a:spcPct val="100000"/>
                        </a:lnSpc>
                      </a:pPr>
                      <a:r>
                        <a:rPr lang="en-US" sz="1600" kern="1200" dirty="0">
                          <a:solidFill>
                            <a:schemeClr val="dk1"/>
                          </a:solidFill>
                          <a:effectLst/>
                          <a:latin typeface="+mn-lt"/>
                          <a:ea typeface="+mn-ea"/>
                          <a:cs typeface="+mn-cs"/>
                        </a:rPr>
                        <a:t>It is usually driven by clients and conducted to</a:t>
                      </a:r>
                      <a:r>
                        <a:rPr lang="en-IN"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understand the fundamental concept required</a:t>
                      </a:r>
                      <a:r>
                        <a:rPr lang="en-IN"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to solve the</a:t>
                      </a:r>
                      <a:r>
                        <a:rPr lang="en-US"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peoples problem</a:t>
                      </a:r>
                      <a:endParaRPr lang="en-IN" sz="1600" dirty="0"/>
                    </a:p>
                  </a:txBody>
                  <a:tcPr/>
                </a:tc>
                <a:extLst>
                  <a:ext uri="{0D108BD9-81ED-4DB2-BD59-A6C34878D82A}">
                    <a16:rowId xmlns:a16="http://schemas.microsoft.com/office/drawing/2014/main" val="1605941747"/>
                  </a:ext>
                </a:extLst>
              </a:tr>
              <a:tr h="338935">
                <a:tc>
                  <a:txBody>
                    <a:bodyPr/>
                    <a:lstStyle/>
                    <a:p>
                      <a:pPr>
                        <a:lnSpc>
                          <a:spcPct val="100000"/>
                        </a:lnSpc>
                      </a:pPr>
                      <a:r>
                        <a:rPr lang="en-US" sz="1600" kern="1200" dirty="0">
                          <a:solidFill>
                            <a:schemeClr val="dk1"/>
                          </a:solidFill>
                          <a:effectLst/>
                          <a:latin typeface="+mn-lt"/>
                          <a:ea typeface="+mn-ea"/>
                          <a:cs typeface="+mn-cs"/>
                        </a:rPr>
                        <a:t>In case of basic research, it is primarily</a:t>
                      </a:r>
                      <a:r>
                        <a:rPr lang="en-US" sz="1600" kern="1200" baseline="0" dirty="0">
                          <a:solidFill>
                            <a:schemeClr val="dk1"/>
                          </a:solidFill>
                          <a:effectLst/>
                          <a:latin typeface="+mn-lt"/>
                          <a:ea typeface="+mn-ea"/>
                          <a:cs typeface="+mn-cs"/>
                        </a:rPr>
                        <a:t> applicable to academic areas</a:t>
                      </a:r>
                      <a:endParaRPr lang="en-IN" sz="1600" dirty="0"/>
                    </a:p>
                  </a:txBody>
                  <a:tcPr/>
                </a:tc>
                <a:tc>
                  <a:txBody>
                    <a:bodyPr/>
                    <a:lstStyle/>
                    <a:p>
                      <a:pPr>
                        <a:lnSpc>
                          <a:spcPct val="100000"/>
                        </a:lnSpc>
                      </a:pPr>
                      <a:r>
                        <a:rPr lang="en-US" sz="1600" kern="1200" dirty="0">
                          <a:solidFill>
                            <a:schemeClr val="dk1"/>
                          </a:solidFill>
                          <a:effectLst/>
                          <a:latin typeface="+mn-lt"/>
                          <a:ea typeface="+mn-ea"/>
                          <a:cs typeface="+mn-cs"/>
                        </a:rPr>
                        <a:t>It is closely linked to commercial products</a:t>
                      </a:r>
                      <a:endParaRPr lang="en-IN" sz="1600" dirty="0"/>
                    </a:p>
                  </a:txBody>
                  <a:tcPr/>
                </a:tc>
                <a:extLst>
                  <a:ext uri="{0D108BD9-81ED-4DB2-BD59-A6C34878D82A}">
                    <a16:rowId xmlns:a16="http://schemas.microsoft.com/office/drawing/2014/main" val="970698824"/>
                  </a:ext>
                </a:extLst>
              </a:tr>
              <a:tr h="602551">
                <a:tc>
                  <a:txBody>
                    <a:bodyPr/>
                    <a:lstStyle/>
                    <a:p>
                      <a:pPr>
                        <a:lnSpc>
                          <a:spcPct val="100000"/>
                        </a:lnSpc>
                      </a:pPr>
                      <a:r>
                        <a:rPr lang="en-US" sz="1600" kern="1200" dirty="0">
                          <a:solidFill>
                            <a:schemeClr val="dk1"/>
                          </a:solidFill>
                          <a:effectLst/>
                          <a:latin typeface="+mn-lt"/>
                          <a:ea typeface="+mn-ea"/>
                          <a:cs typeface="+mn-cs"/>
                        </a:rPr>
                        <a:t>Basic research occurs in highly sterile and</a:t>
                      </a:r>
                      <a:r>
                        <a:rPr lang="en-US" sz="1600" kern="1200" baseline="0" dirty="0">
                          <a:solidFill>
                            <a:schemeClr val="dk1"/>
                          </a:solidFill>
                          <a:effectLst/>
                          <a:latin typeface="+mn-lt"/>
                          <a:ea typeface="+mn-ea"/>
                          <a:cs typeface="+mn-cs"/>
                        </a:rPr>
                        <a:t> controlled environment</a:t>
                      </a:r>
                      <a:endParaRPr lang="en-IN" sz="1600" kern="1200" dirty="0">
                        <a:solidFill>
                          <a:schemeClr val="dk1"/>
                        </a:solidFill>
                        <a:effectLst/>
                        <a:latin typeface="+mn-lt"/>
                        <a:ea typeface="+mn-ea"/>
                        <a:cs typeface="+mn-cs"/>
                      </a:endParaRPr>
                    </a:p>
                  </a:txBody>
                  <a:tcPr/>
                </a:tc>
                <a:tc>
                  <a:txBody>
                    <a:bodyPr/>
                    <a:lstStyle/>
                    <a:p>
                      <a:pPr>
                        <a:lnSpc>
                          <a:spcPct val="100000"/>
                        </a:lnSpc>
                      </a:pPr>
                      <a:r>
                        <a:rPr lang="en-US" sz="1600" kern="1200" dirty="0">
                          <a:solidFill>
                            <a:schemeClr val="dk1"/>
                          </a:solidFill>
                          <a:effectLst/>
                          <a:latin typeface="+mn-lt"/>
                          <a:ea typeface="+mn-ea"/>
                          <a:cs typeface="+mn-cs"/>
                        </a:rPr>
                        <a:t>It takes</a:t>
                      </a:r>
                      <a:r>
                        <a:rPr lang="en-US"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place in world setting where other</a:t>
                      </a:r>
                      <a:r>
                        <a:rPr lang="en-US" sz="1600" kern="1200" baseline="0" dirty="0">
                          <a:solidFill>
                            <a:schemeClr val="dk1"/>
                          </a:solidFill>
                          <a:effectLst/>
                          <a:latin typeface="+mn-lt"/>
                          <a:ea typeface="+mn-ea"/>
                          <a:cs typeface="+mn-cs"/>
                        </a:rPr>
                        <a:t> unexpected variable may intervene</a:t>
                      </a:r>
                      <a:endParaRPr lang="en-IN" sz="1600" kern="1200" dirty="0">
                        <a:solidFill>
                          <a:schemeClr val="dk1"/>
                        </a:solidFill>
                        <a:effectLst/>
                        <a:latin typeface="+mn-lt"/>
                        <a:ea typeface="+mn-ea"/>
                        <a:cs typeface="+mn-cs"/>
                      </a:endParaRPr>
                    </a:p>
                  </a:txBody>
                  <a:tcPr/>
                </a:tc>
                <a:extLst>
                  <a:ext uri="{0D108BD9-81ED-4DB2-BD59-A6C34878D82A}">
                    <a16:rowId xmlns:a16="http://schemas.microsoft.com/office/drawing/2014/main" val="3843978407"/>
                  </a:ext>
                </a:extLst>
              </a:tr>
              <a:tr h="6025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effectLst/>
                          <a:latin typeface="+mn-lt"/>
                          <a:ea typeface="+mn-ea"/>
                          <a:cs typeface="+mn-cs"/>
                        </a:rPr>
                        <a:t>Example</a:t>
                      </a:r>
                      <a:r>
                        <a:rPr lang="en-US" sz="1600" kern="1200" baseline="0" dirty="0">
                          <a:solidFill>
                            <a:schemeClr val="dk1"/>
                          </a:solidFill>
                          <a:effectLst/>
                          <a:latin typeface="+mn-lt"/>
                          <a:ea typeface="+mn-ea"/>
                          <a:cs typeface="+mn-cs"/>
                        </a:rPr>
                        <a:t> - </a:t>
                      </a:r>
                      <a:r>
                        <a:rPr lang="en-US" sz="1600" kern="1200" dirty="0">
                          <a:solidFill>
                            <a:schemeClr val="dk1"/>
                          </a:solidFill>
                          <a:effectLst/>
                          <a:latin typeface="+mn-lt"/>
                          <a:ea typeface="+mn-ea"/>
                          <a:cs typeface="+mn-cs"/>
                        </a:rPr>
                        <a:t>Research on identifying secondary</a:t>
                      </a:r>
                      <a:r>
                        <a:rPr lang="en-US"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symptoms of human</a:t>
                      </a:r>
                      <a:r>
                        <a:rPr lang="en-US"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papilloma virus</a:t>
                      </a:r>
                      <a:endParaRPr lang="en-IN" sz="160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effectLst/>
                          <a:latin typeface="+mn-lt"/>
                          <a:ea typeface="+mn-ea"/>
                          <a:cs typeface="+mn-cs"/>
                        </a:rPr>
                        <a:t>Example- Research into marijuana healing properties</a:t>
                      </a:r>
                      <a:endParaRPr lang="en-IN" sz="1600" kern="1200" dirty="0">
                        <a:solidFill>
                          <a:schemeClr val="dk1"/>
                        </a:solidFill>
                        <a:effectLst/>
                        <a:latin typeface="+mn-lt"/>
                        <a:ea typeface="+mn-ea"/>
                        <a:cs typeface="+mn-cs"/>
                      </a:endParaRPr>
                    </a:p>
                  </a:txBody>
                  <a:tcPr/>
                </a:tc>
                <a:extLst>
                  <a:ext uri="{0D108BD9-81ED-4DB2-BD59-A6C34878D82A}">
                    <a16:rowId xmlns:a16="http://schemas.microsoft.com/office/drawing/2014/main" val="1556868773"/>
                  </a:ext>
                </a:extLst>
              </a:tr>
              <a:tr h="602551">
                <a:tc>
                  <a:txBody>
                    <a:bodyPr/>
                    <a:lstStyle/>
                    <a:p>
                      <a:pPr>
                        <a:lnSpc>
                          <a:spcPct val="100000"/>
                        </a:lnSpc>
                      </a:pPr>
                      <a:r>
                        <a:rPr lang="en-US" sz="1600" kern="1200" dirty="0">
                          <a:solidFill>
                            <a:schemeClr val="dk1"/>
                          </a:solidFill>
                          <a:effectLst/>
                          <a:latin typeface="+mn-lt"/>
                          <a:ea typeface="+mn-ea"/>
                          <a:cs typeface="+mn-cs"/>
                        </a:rPr>
                        <a:t>It approaches</a:t>
                      </a:r>
                      <a:r>
                        <a:rPr lang="en-US"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flexible time scales where</a:t>
                      </a:r>
                      <a:r>
                        <a:rPr lang="en-IN"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choices of the topic is determined by the</a:t>
                      </a:r>
                      <a:r>
                        <a:rPr lang="en-IN"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researchers</a:t>
                      </a:r>
                      <a:endParaRPr lang="en-IN" sz="1600" dirty="0"/>
                    </a:p>
                  </a:txBody>
                  <a:tcPr/>
                </a:tc>
                <a:tc>
                  <a:txBody>
                    <a:bodyPr/>
                    <a:lstStyle/>
                    <a:p>
                      <a:pPr>
                        <a:lnSpc>
                          <a:spcPct val="100000"/>
                        </a:lnSpc>
                      </a:pPr>
                      <a:r>
                        <a:rPr lang="en-US" sz="1600" kern="1200" dirty="0">
                          <a:solidFill>
                            <a:schemeClr val="dk1"/>
                          </a:solidFill>
                          <a:effectLst/>
                          <a:latin typeface="+mn-lt"/>
                          <a:ea typeface="+mn-ea"/>
                          <a:cs typeface="+mn-cs"/>
                        </a:rPr>
                        <a:t>It approaches tight time scale where objectives are negotiated with originator</a:t>
                      </a:r>
                      <a:endParaRPr lang="en-IN" sz="1600" dirty="0"/>
                    </a:p>
                  </a:txBody>
                  <a:tcPr/>
                </a:tc>
                <a:extLst>
                  <a:ext uri="{0D108BD9-81ED-4DB2-BD59-A6C34878D82A}">
                    <a16:rowId xmlns:a16="http://schemas.microsoft.com/office/drawing/2014/main" val="49589558"/>
                  </a:ext>
                </a:extLst>
              </a:tr>
            </a:tbl>
          </a:graphicData>
        </a:graphic>
      </p:graphicFrame>
    </p:spTree>
    <p:extLst>
      <p:ext uri="{BB962C8B-B14F-4D97-AF65-F5344CB8AC3E}">
        <p14:creationId xmlns:p14="http://schemas.microsoft.com/office/powerpoint/2010/main" val="28475031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20415"/>
            <a:ext cx="10515600" cy="581359"/>
          </a:xfrm>
        </p:spPr>
        <p:txBody>
          <a:bodyPr>
            <a:normAutofit/>
          </a:bodyPr>
          <a:lstStyle/>
          <a:p>
            <a:pPr algn="ctr"/>
            <a:r>
              <a:rPr lang="en-US" sz="3200" b="1" dirty="0">
                <a:solidFill>
                  <a:srgbClr val="0000FF"/>
                </a:solidFill>
              </a:rPr>
              <a:t>Classification of Research</a:t>
            </a:r>
            <a:endParaRPr lang="en-IN" sz="3200" dirty="0"/>
          </a:p>
        </p:txBody>
      </p:sp>
      <p:sp>
        <p:nvSpPr>
          <p:cNvPr id="4" name="Rounded Rectangle 3"/>
          <p:cNvSpPr/>
          <p:nvPr/>
        </p:nvSpPr>
        <p:spPr>
          <a:xfrm>
            <a:off x="2181225" y="1501775"/>
            <a:ext cx="7829550" cy="417195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 name="Straight Connector 4"/>
          <p:cNvCxnSpPr/>
          <p:nvPr/>
        </p:nvCxnSpPr>
        <p:spPr>
          <a:xfrm>
            <a:off x="6096000" y="1885950"/>
            <a:ext cx="0" cy="857250"/>
          </a:xfrm>
          <a:prstGeom prst="line">
            <a:avLst/>
          </a:prstGeom>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a:off x="6096000" y="2743200"/>
            <a:ext cx="1981200" cy="0"/>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4114800" y="2743200"/>
            <a:ext cx="1981200" cy="0"/>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Arrow Connector 7"/>
          <p:cNvCxnSpPr/>
          <p:nvPr/>
        </p:nvCxnSpPr>
        <p:spPr>
          <a:xfrm>
            <a:off x="4114799" y="2743200"/>
            <a:ext cx="0" cy="6858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p:cNvCxnSpPr/>
          <p:nvPr/>
        </p:nvCxnSpPr>
        <p:spPr>
          <a:xfrm>
            <a:off x="8077200" y="2743200"/>
            <a:ext cx="0" cy="6858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Rectangle 9"/>
          <p:cNvSpPr/>
          <p:nvPr/>
        </p:nvSpPr>
        <p:spPr>
          <a:xfrm>
            <a:off x="3213099" y="3429000"/>
            <a:ext cx="1803400" cy="43815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Overt Research</a:t>
            </a:r>
            <a:endParaRPr lang="en-IN" dirty="0"/>
          </a:p>
        </p:txBody>
      </p:sp>
      <p:sp>
        <p:nvSpPr>
          <p:cNvPr id="11" name="Rectangle 10"/>
          <p:cNvSpPr/>
          <p:nvPr/>
        </p:nvSpPr>
        <p:spPr>
          <a:xfrm>
            <a:off x="7175500" y="3461544"/>
            <a:ext cx="1803400" cy="43815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Covert Research</a:t>
            </a:r>
            <a:endParaRPr lang="en-IN" dirty="0"/>
          </a:p>
        </p:txBody>
      </p:sp>
      <p:sp>
        <p:nvSpPr>
          <p:cNvPr id="12" name="Rectangle 11"/>
          <p:cNvSpPr/>
          <p:nvPr/>
        </p:nvSpPr>
        <p:spPr>
          <a:xfrm>
            <a:off x="3011863" y="3984626"/>
            <a:ext cx="2201821" cy="122130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Everyone knows</a:t>
            </a:r>
            <a:endParaRPr lang="en-IN" dirty="0"/>
          </a:p>
          <a:p>
            <a:pPr algn="ctr"/>
            <a:r>
              <a:rPr lang="en-US" dirty="0"/>
              <a:t>who the researcher is and what research is being conducted</a:t>
            </a:r>
            <a:endParaRPr lang="en-IN" dirty="0"/>
          </a:p>
          <a:p>
            <a:pPr algn="ctr"/>
            <a:endParaRPr lang="en-IN" dirty="0"/>
          </a:p>
        </p:txBody>
      </p:sp>
      <p:sp>
        <p:nvSpPr>
          <p:cNvPr id="13" name="Rectangle 12"/>
          <p:cNvSpPr/>
          <p:nvPr/>
        </p:nvSpPr>
        <p:spPr>
          <a:xfrm>
            <a:off x="6801141" y="4030138"/>
            <a:ext cx="2727869" cy="150438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Under-cover work</a:t>
            </a:r>
            <a:endParaRPr lang="en-IN" dirty="0"/>
          </a:p>
          <a:p>
            <a:pPr algn="ctr"/>
            <a:r>
              <a:rPr lang="en-US" dirty="0"/>
              <a:t>and nobody knows who the researcher is and what research is being conducted</a:t>
            </a:r>
            <a:endParaRPr lang="en-IN" dirty="0"/>
          </a:p>
          <a:p>
            <a:pPr algn="ctr"/>
            <a:endParaRPr lang="en-IN" dirty="0"/>
          </a:p>
        </p:txBody>
      </p:sp>
    </p:spTree>
    <p:extLst>
      <p:ext uri="{BB962C8B-B14F-4D97-AF65-F5344CB8AC3E}">
        <p14:creationId xmlns:p14="http://schemas.microsoft.com/office/powerpoint/2010/main" val="18008601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97400"/>
          </a:xfrm>
        </p:spPr>
        <p:txBody>
          <a:bodyPr>
            <a:normAutofit/>
          </a:bodyPr>
          <a:lstStyle/>
          <a:p>
            <a:pPr algn="ctr"/>
            <a:r>
              <a:rPr lang="en-US" sz="3200" b="1" dirty="0">
                <a:solidFill>
                  <a:srgbClr val="0000FF"/>
                </a:solidFill>
              </a:rPr>
              <a:t>Classification of Research</a:t>
            </a:r>
            <a:endParaRPr lang="en-IN" sz="3200" dirty="0"/>
          </a:p>
        </p:txBody>
      </p:sp>
      <p:grpSp>
        <p:nvGrpSpPr>
          <p:cNvPr id="32" name="Group 31"/>
          <p:cNvGrpSpPr/>
          <p:nvPr/>
        </p:nvGrpSpPr>
        <p:grpSpPr>
          <a:xfrm>
            <a:off x="4699584" y="1000329"/>
            <a:ext cx="2206617" cy="405326"/>
            <a:chOff x="4729204" y="1040985"/>
            <a:chExt cx="2733591" cy="405326"/>
          </a:xfrm>
        </p:grpSpPr>
        <p:cxnSp>
          <p:nvCxnSpPr>
            <p:cNvPr id="4" name="Straight Connector 3"/>
            <p:cNvCxnSpPr/>
            <p:nvPr/>
          </p:nvCxnSpPr>
          <p:spPr>
            <a:xfrm>
              <a:off x="6096000" y="1040985"/>
              <a:ext cx="0" cy="141635"/>
            </a:xfrm>
            <a:prstGeom prst="line">
              <a:avLst/>
            </a:prstGeom>
          </p:spPr>
          <p:style>
            <a:lnRef idx="1">
              <a:schemeClr val="dk1"/>
            </a:lnRef>
            <a:fillRef idx="0">
              <a:schemeClr val="dk1"/>
            </a:fillRef>
            <a:effectRef idx="0">
              <a:schemeClr val="dk1"/>
            </a:effectRef>
            <a:fontRef idx="minor">
              <a:schemeClr val="tx1"/>
            </a:fontRef>
          </p:style>
        </p:cxnSp>
        <p:cxnSp>
          <p:nvCxnSpPr>
            <p:cNvPr id="5" name="Straight Connector 4"/>
            <p:cNvCxnSpPr/>
            <p:nvPr/>
          </p:nvCxnSpPr>
          <p:spPr>
            <a:xfrm>
              <a:off x="6096000" y="1182620"/>
              <a:ext cx="1366795" cy="0"/>
            </a:xfrm>
            <a:prstGeom prst="line">
              <a:avLst/>
            </a:prstGeom>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a:off x="4729205" y="1182620"/>
              <a:ext cx="1366795" cy="0"/>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Arrow Connector 6"/>
            <p:cNvCxnSpPr/>
            <p:nvPr/>
          </p:nvCxnSpPr>
          <p:spPr>
            <a:xfrm flipH="1">
              <a:off x="4729204" y="1182620"/>
              <a:ext cx="1" cy="2493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p:cNvCxnSpPr/>
            <p:nvPr/>
          </p:nvCxnSpPr>
          <p:spPr>
            <a:xfrm flipH="1">
              <a:off x="7462794" y="1182620"/>
              <a:ext cx="1" cy="2636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9" name="Rectangle 8"/>
          <p:cNvSpPr/>
          <p:nvPr/>
        </p:nvSpPr>
        <p:spPr>
          <a:xfrm>
            <a:off x="4127813" y="1401735"/>
            <a:ext cx="1152690" cy="438150"/>
          </a:xfrm>
          <a:prstGeom prst="rect">
            <a:avLst/>
          </a:prstGeom>
          <a:solidFill>
            <a:schemeClr val="bg2"/>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Experimental Research</a:t>
            </a:r>
            <a:endParaRPr lang="en-IN" sz="1400" dirty="0"/>
          </a:p>
        </p:txBody>
      </p:sp>
      <p:sp>
        <p:nvSpPr>
          <p:cNvPr id="10" name="Rectangle 9"/>
          <p:cNvSpPr/>
          <p:nvPr/>
        </p:nvSpPr>
        <p:spPr>
          <a:xfrm>
            <a:off x="6052626" y="1399087"/>
            <a:ext cx="1707148" cy="463530"/>
          </a:xfrm>
          <a:prstGeom prst="rect">
            <a:avLst/>
          </a:prstGeom>
          <a:solidFill>
            <a:schemeClr val="bg2"/>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Non – experimental Research</a:t>
            </a:r>
            <a:endParaRPr lang="en-IN" sz="1400" dirty="0"/>
          </a:p>
        </p:txBody>
      </p:sp>
      <p:sp>
        <p:nvSpPr>
          <p:cNvPr id="30" name="Rectangle 29"/>
          <p:cNvSpPr/>
          <p:nvPr/>
        </p:nvSpPr>
        <p:spPr>
          <a:xfrm>
            <a:off x="7238579" y="2284028"/>
            <a:ext cx="1031720" cy="508052"/>
          </a:xfrm>
          <a:prstGeom prst="rect">
            <a:avLst/>
          </a:prstGeom>
          <a:solidFill>
            <a:schemeClr val="bg2"/>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Descriptive Research</a:t>
            </a:r>
            <a:endParaRPr lang="en-IN" sz="1400" dirty="0"/>
          </a:p>
        </p:txBody>
      </p:sp>
      <p:sp>
        <p:nvSpPr>
          <p:cNvPr id="31" name="Rectangle 30"/>
          <p:cNvSpPr/>
          <p:nvPr/>
        </p:nvSpPr>
        <p:spPr>
          <a:xfrm>
            <a:off x="5568928" y="2299236"/>
            <a:ext cx="1103502" cy="493916"/>
          </a:xfrm>
          <a:prstGeom prst="rect">
            <a:avLst/>
          </a:prstGeom>
          <a:solidFill>
            <a:schemeClr val="bg2"/>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Exploratory Research</a:t>
            </a:r>
            <a:endParaRPr lang="en-IN" sz="1400" dirty="0"/>
          </a:p>
        </p:txBody>
      </p:sp>
      <p:grpSp>
        <p:nvGrpSpPr>
          <p:cNvPr id="33" name="Group 32"/>
          <p:cNvGrpSpPr/>
          <p:nvPr/>
        </p:nvGrpSpPr>
        <p:grpSpPr>
          <a:xfrm>
            <a:off x="6118061" y="1884826"/>
            <a:ext cx="1636379" cy="405326"/>
            <a:chOff x="4729204" y="1040985"/>
            <a:chExt cx="2733591" cy="405326"/>
          </a:xfrm>
        </p:grpSpPr>
        <p:cxnSp>
          <p:nvCxnSpPr>
            <p:cNvPr id="34" name="Straight Connector 33"/>
            <p:cNvCxnSpPr/>
            <p:nvPr/>
          </p:nvCxnSpPr>
          <p:spPr>
            <a:xfrm>
              <a:off x="6096000" y="1040985"/>
              <a:ext cx="0" cy="141635"/>
            </a:xfrm>
            <a:prstGeom prst="line">
              <a:avLst/>
            </a:prstGeom>
          </p:spPr>
          <p:style>
            <a:lnRef idx="1">
              <a:schemeClr val="dk1"/>
            </a:lnRef>
            <a:fillRef idx="0">
              <a:schemeClr val="dk1"/>
            </a:fillRef>
            <a:effectRef idx="0">
              <a:schemeClr val="dk1"/>
            </a:effectRef>
            <a:fontRef idx="minor">
              <a:schemeClr val="tx1"/>
            </a:fontRef>
          </p:style>
        </p:cxnSp>
        <p:cxnSp>
          <p:nvCxnSpPr>
            <p:cNvPr id="35" name="Straight Connector 34"/>
            <p:cNvCxnSpPr/>
            <p:nvPr/>
          </p:nvCxnSpPr>
          <p:spPr>
            <a:xfrm>
              <a:off x="6096000" y="1182620"/>
              <a:ext cx="1366795" cy="0"/>
            </a:xfrm>
            <a:prstGeom prst="line">
              <a:avLst/>
            </a:prstGeom>
          </p:spPr>
          <p:style>
            <a:lnRef idx="1">
              <a:schemeClr val="dk1"/>
            </a:lnRef>
            <a:fillRef idx="0">
              <a:schemeClr val="dk1"/>
            </a:fillRef>
            <a:effectRef idx="0">
              <a:schemeClr val="dk1"/>
            </a:effectRef>
            <a:fontRef idx="minor">
              <a:schemeClr val="tx1"/>
            </a:fontRef>
          </p:style>
        </p:cxnSp>
        <p:cxnSp>
          <p:nvCxnSpPr>
            <p:cNvPr id="36" name="Straight Connector 35"/>
            <p:cNvCxnSpPr/>
            <p:nvPr/>
          </p:nvCxnSpPr>
          <p:spPr>
            <a:xfrm>
              <a:off x="4729205" y="1182620"/>
              <a:ext cx="1366795" cy="0"/>
            </a:xfrm>
            <a:prstGeom prst="line">
              <a:avLst/>
            </a:prstGeom>
          </p:spPr>
          <p:style>
            <a:lnRef idx="1">
              <a:schemeClr val="dk1"/>
            </a:lnRef>
            <a:fillRef idx="0">
              <a:schemeClr val="dk1"/>
            </a:fillRef>
            <a:effectRef idx="0">
              <a:schemeClr val="dk1"/>
            </a:effectRef>
            <a:fontRef idx="minor">
              <a:schemeClr val="tx1"/>
            </a:fontRef>
          </p:style>
        </p:cxnSp>
        <p:cxnSp>
          <p:nvCxnSpPr>
            <p:cNvPr id="37" name="Straight Arrow Connector 36"/>
            <p:cNvCxnSpPr/>
            <p:nvPr/>
          </p:nvCxnSpPr>
          <p:spPr>
            <a:xfrm flipH="1">
              <a:off x="4729204" y="1182620"/>
              <a:ext cx="1" cy="2493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p:cNvCxnSpPr/>
            <p:nvPr/>
          </p:nvCxnSpPr>
          <p:spPr>
            <a:xfrm flipH="1">
              <a:off x="7462794" y="1182620"/>
              <a:ext cx="1" cy="2636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cxnSp>
        <p:nvCxnSpPr>
          <p:cNvPr id="40" name="Straight Connector 39"/>
          <p:cNvCxnSpPr/>
          <p:nvPr/>
        </p:nvCxnSpPr>
        <p:spPr>
          <a:xfrm>
            <a:off x="8017495" y="2806365"/>
            <a:ext cx="0" cy="141635"/>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p:cNvCxnSpPr/>
          <p:nvPr/>
        </p:nvCxnSpPr>
        <p:spPr>
          <a:xfrm>
            <a:off x="8017495" y="2948000"/>
            <a:ext cx="1413598" cy="0"/>
          </a:xfrm>
          <a:prstGeom prst="line">
            <a:avLst/>
          </a:prstGeom>
        </p:spPr>
        <p:style>
          <a:lnRef idx="1">
            <a:schemeClr val="dk1"/>
          </a:lnRef>
          <a:fillRef idx="0">
            <a:schemeClr val="dk1"/>
          </a:fillRef>
          <a:effectRef idx="0">
            <a:schemeClr val="dk1"/>
          </a:effectRef>
          <a:fontRef idx="minor">
            <a:schemeClr val="tx1"/>
          </a:fontRef>
        </p:style>
      </p:cxnSp>
      <p:cxnSp>
        <p:nvCxnSpPr>
          <p:cNvPr id="42" name="Straight Connector 41"/>
          <p:cNvCxnSpPr/>
          <p:nvPr/>
        </p:nvCxnSpPr>
        <p:spPr>
          <a:xfrm>
            <a:off x="6603897" y="2948000"/>
            <a:ext cx="1413598" cy="0"/>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Arrow Connector 42"/>
          <p:cNvCxnSpPr/>
          <p:nvPr/>
        </p:nvCxnSpPr>
        <p:spPr>
          <a:xfrm flipH="1">
            <a:off x="6603896" y="2948000"/>
            <a:ext cx="1" cy="2493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p:cNvCxnSpPr/>
          <p:nvPr/>
        </p:nvCxnSpPr>
        <p:spPr>
          <a:xfrm flipH="1">
            <a:off x="9431092" y="2948000"/>
            <a:ext cx="1" cy="2636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p:cNvCxnSpPr/>
          <p:nvPr/>
        </p:nvCxnSpPr>
        <p:spPr>
          <a:xfrm flipH="1">
            <a:off x="8017492" y="2958101"/>
            <a:ext cx="1" cy="2636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6" name="Rectangle 45"/>
          <p:cNvSpPr/>
          <p:nvPr/>
        </p:nvSpPr>
        <p:spPr>
          <a:xfrm>
            <a:off x="6311099" y="3222189"/>
            <a:ext cx="594931" cy="197758"/>
          </a:xfrm>
          <a:prstGeom prst="rect">
            <a:avLst/>
          </a:prstGeom>
          <a:solidFill>
            <a:schemeClr val="bg2"/>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Static</a:t>
            </a:r>
            <a:endParaRPr lang="en-IN" sz="1400" dirty="0"/>
          </a:p>
        </p:txBody>
      </p:sp>
      <p:sp>
        <p:nvSpPr>
          <p:cNvPr id="47" name="Rectangle 46"/>
          <p:cNvSpPr/>
          <p:nvPr/>
        </p:nvSpPr>
        <p:spPr>
          <a:xfrm>
            <a:off x="7617452" y="3222208"/>
            <a:ext cx="818185" cy="207208"/>
          </a:xfrm>
          <a:prstGeom prst="rect">
            <a:avLst/>
          </a:prstGeom>
          <a:solidFill>
            <a:schemeClr val="bg2"/>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Dynamic</a:t>
            </a:r>
            <a:endParaRPr lang="en-IN" sz="1400" dirty="0"/>
          </a:p>
        </p:txBody>
      </p:sp>
      <p:sp>
        <p:nvSpPr>
          <p:cNvPr id="48" name="Rectangle 47"/>
          <p:cNvSpPr/>
          <p:nvPr/>
        </p:nvSpPr>
        <p:spPr>
          <a:xfrm>
            <a:off x="8966897" y="3231242"/>
            <a:ext cx="946496" cy="220006"/>
          </a:xfrm>
          <a:prstGeom prst="rect">
            <a:avLst/>
          </a:prstGeom>
          <a:solidFill>
            <a:schemeClr val="bg2"/>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Historical</a:t>
            </a:r>
            <a:endParaRPr lang="en-IN" sz="1400" dirty="0"/>
          </a:p>
        </p:txBody>
      </p:sp>
      <p:grpSp>
        <p:nvGrpSpPr>
          <p:cNvPr id="49" name="Group 48"/>
          <p:cNvGrpSpPr/>
          <p:nvPr/>
        </p:nvGrpSpPr>
        <p:grpSpPr>
          <a:xfrm>
            <a:off x="7199302" y="3436197"/>
            <a:ext cx="1636379" cy="405326"/>
            <a:chOff x="4729204" y="1040985"/>
            <a:chExt cx="2733591" cy="405326"/>
          </a:xfrm>
        </p:grpSpPr>
        <p:cxnSp>
          <p:nvCxnSpPr>
            <p:cNvPr id="50" name="Straight Connector 49"/>
            <p:cNvCxnSpPr/>
            <p:nvPr/>
          </p:nvCxnSpPr>
          <p:spPr>
            <a:xfrm>
              <a:off x="6096000" y="1040985"/>
              <a:ext cx="0" cy="141635"/>
            </a:xfrm>
            <a:prstGeom prst="line">
              <a:avLst/>
            </a:prstGeom>
          </p:spPr>
          <p:style>
            <a:lnRef idx="1">
              <a:schemeClr val="dk1"/>
            </a:lnRef>
            <a:fillRef idx="0">
              <a:schemeClr val="dk1"/>
            </a:fillRef>
            <a:effectRef idx="0">
              <a:schemeClr val="dk1"/>
            </a:effectRef>
            <a:fontRef idx="minor">
              <a:schemeClr val="tx1"/>
            </a:fontRef>
          </p:style>
        </p:cxnSp>
        <p:cxnSp>
          <p:nvCxnSpPr>
            <p:cNvPr id="51" name="Straight Connector 50"/>
            <p:cNvCxnSpPr/>
            <p:nvPr/>
          </p:nvCxnSpPr>
          <p:spPr>
            <a:xfrm>
              <a:off x="6096000" y="1182620"/>
              <a:ext cx="1366795" cy="0"/>
            </a:xfrm>
            <a:prstGeom prst="line">
              <a:avLst/>
            </a:prstGeom>
          </p:spPr>
          <p:style>
            <a:lnRef idx="1">
              <a:schemeClr val="dk1"/>
            </a:lnRef>
            <a:fillRef idx="0">
              <a:schemeClr val="dk1"/>
            </a:fillRef>
            <a:effectRef idx="0">
              <a:schemeClr val="dk1"/>
            </a:effectRef>
            <a:fontRef idx="minor">
              <a:schemeClr val="tx1"/>
            </a:fontRef>
          </p:style>
        </p:cxnSp>
        <p:cxnSp>
          <p:nvCxnSpPr>
            <p:cNvPr id="52" name="Straight Connector 51"/>
            <p:cNvCxnSpPr/>
            <p:nvPr/>
          </p:nvCxnSpPr>
          <p:spPr>
            <a:xfrm>
              <a:off x="4729205" y="1182620"/>
              <a:ext cx="1366795" cy="0"/>
            </a:xfrm>
            <a:prstGeom prst="line">
              <a:avLst/>
            </a:prstGeom>
          </p:spPr>
          <p:style>
            <a:lnRef idx="1">
              <a:schemeClr val="dk1"/>
            </a:lnRef>
            <a:fillRef idx="0">
              <a:schemeClr val="dk1"/>
            </a:fillRef>
            <a:effectRef idx="0">
              <a:schemeClr val="dk1"/>
            </a:effectRef>
            <a:fontRef idx="minor">
              <a:schemeClr val="tx1"/>
            </a:fontRef>
          </p:style>
        </p:cxnSp>
        <p:cxnSp>
          <p:nvCxnSpPr>
            <p:cNvPr id="53" name="Straight Arrow Connector 52"/>
            <p:cNvCxnSpPr/>
            <p:nvPr/>
          </p:nvCxnSpPr>
          <p:spPr>
            <a:xfrm flipH="1">
              <a:off x="4729204" y="1182620"/>
              <a:ext cx="1" cy="2493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p:cNvCxnSpPr/>
            <p:nvPr/>
          </p:nvCxnSpPr>
          <p:spPr>
            <a:xfrm flipH="1">
              <a:off x="7462794" y="1182620"/>
              <a:ext cx="1" cy="2636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62" name="Rectangle 61"/>
          <p:cNvSpPr/>
          <p:nvPr/>
        </p:nvSpPr>
        <p:spPr>
          <a:xfrm>
            <a:off x="6514330" y="3838063"/>
            <a:ext cx="1369944" cy="299611"/>
          </a:xfrm>
          <a:prstGeom prst="rect">
            <a:avLst/>
          </a:prstGeom>
          <a:solidFill>
            <a:schemeClr val="bg2"/>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Cross - sectional</a:t>
            </a:r>
            <a:endParaRPr lang="en-IN" sz="1400" dirty="0"/>
          </a:p>
        </p:txBody>
      </p:sp>
      <p:sp>
        <p:nvSpPr>
          <p:cNvPr id="63" name="Rectangle 62"/>
          <p:cNvSpPr/>
          <p:nvPr/>
        </p:nvSpPr>
        <p:spPr>
          <a:xfrm>
            <a:off x="8254482" y="3838063"/>
            <a:ext cx="1194479" cy="299611"/>
          </a:xfrm>
          <a:prstGeom prst="rect">
            <a:avLst/>
          </a:prstGeom>
          <a:solidFill>
            <a:schemeClr val="bg2"/>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Panel Study</a:t>
            </a:r>
            <a:endParaRPr lang="en-IN" sz="1400" dirty="0"/>
          </a:p>
        </p:txBody>
      </p:sp>
      <p:sp>
        <p:nvSpPr>
          <p:cNvPr id="64" name="Rectangle 63"/>
          <p:cNvSpPr/>
          <p:nvPr/>
        </p:nvSpPr>
        <p:spPr>
          <a:xfrm>
            <a:off x="7800633" y="1237592"/>
            <a:ext cx="3191036" cy="79634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marL="176213" indent="-176213">
              <a:buFont typeface="+mj-lt"/>
              <a:buAutoNum type="arabicPeriod"/>
            </a:pPr>
            <a:r>
              <a:rPr lang="en-US" sz="1400" dirty="0"/>
              <a:t>Applied mostly in sociological sciences</a:t>
            </a:r>
          </a:p>
          <a:p>
            <a:pPr marL="176213" indent="-176213">
              <a:buFont typeface="+mj-lt"/>
              <a:buAutoNum type="arabicPeriod"/>
            </a:pPr>
            <a:r>
              <a:rPr lang="en-US" sz="1400" dirty="0"/>
              <a:t>Hypothesis not essential</a:t>
            </a:r>
          </a:p>
          <a:p>
            <a:pPr marL="176213" indent="-176213">
              <a:buFont typeface="+mj-lt"/>
              <a:buAutoNum type="arabicPeriod"/>
            </a:pPr>
            <a:r>
              <a:rPr lang="en-US" sz="1400" dirty="0"/>
              <a:t>Wide scope</a:t>
            </a:r>
            <a:endParaRPr lang="en-IN" sz="1400" dirty="0"/>
          </a:p>
        </p:txBody>
      </p:sp>
      <p:sp>
        <p:nvSpPr>
          <p:cNvPr id="65" name="Rectangle 64"/>
          <p:cNvSpPr/>
          <p:nvPr/>
        </p:nvSpPr>
        <p:spPr>
          <a:xfrm>
            <a:off x="8306190" y="2119987"/>
            <a:ext cx="3191036" cy="79634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marL="176213" indent="-176213">
              <a:buFont typeface="+mj-lt"/>
              <a:buAutoNum type="arabicPeriod"/>
            </a:pPr>
            <a:r>
              <a:rPr lang="en-US" sz="1400" dirty="0"/>
              <a:t>Portray (survey) the characteristics of a particular individual, situation or group</a:t>
            </a:r>
          </a:p>
          <a:p>
            <a:r>
              <a:rPr lang="en-US" sz="1400" dirty="0"/>
              <a:t>e.g. Gender, age and other demographics of a population survey</a:t>
            </a:r>
            <a:endParaRPr lang="en-IN" sz="1400" dirty="0"/>
          </a:p>
        </p:txBody>
      </p:sp>
      <p:sp>
        <p:nvSpPr>
          <p:cNvPr id="66" name="Rectangle 65"/>
          <p:cNvSpPr/>
          <p:nvPr/>
        </p:nvSpPr>
        <p:spPr>
          <a:xfrm>
            <a:off x="9988732" y="3000482"/>
            <a:ext cx="2203268" cy="681525"/>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sz="1400" dirty="0"/>
              <a:t>What happened in history, say during the reign of </a:t>
            </a:r>
            <a:r>
              <a:rPr lang="en-US" sz="1400" dirty="0" err="1"/>
              <a:t>Ashoka</a:t>
            </a:r>
            <a:r>
              <a:rPr lang="en-US" sz="1400" dirty="0"/>
              <a:t>.</a:t>
            </a:r>
            <a:endParaRPr lang="en-IN" sz="1400" dirty="0"/>
          </a:p>
        </p:txBody>
      </p:sp>
      <p:sp>
        <p:nvSpPr>
          <p:cNvPr id="67" name="Rectangle 66"/>
          <p:cNvSpPr/>
          <p:nvPr/>
        </p:nvSpPr>
        <p:spPr>
          <a:xfrm>
            <a:off x="8532131" y="4225576"/>
            <a:ext cx="2459538" cy="270788"/>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sz="1400" dirty="0"/>
              <a:t>Survey over long period of time</a:t>
            </a:r>
            <a:endParaRPr lang="en-IN" sz="1400" dirty="0"/>
          </a:p>
        </p:txBody>
      </p:sp>
      <p:sp>
        <p:nvSpPr>
          <p:cNvPr id="68" name="Rectangle 67"/>
          <p:cNvSpPr/>
          <p:nvPr/>
        </p:nvSpPr>
        <p:spPr>
          <a:xfrm>
            <a:off x="529392" y="1061701"/>
            <a:ext cx="3541863" cy="1148236"/>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marL="176213" indent="-176213">
              <a:buFont typeface="+mj-lt"/>
              <a:buAutoNum type="arabicPeriod"/>
            </a:pPr>
            <a:r>
              <a:rPr lang="en-US" sz="1400" dirty="0"/>
              <a:t>Applied in natural sciences</a:t>
            </a:r>
          </a:p>
          <a:p>
            <a:pPr marL="176213" indent="-176213">
              <a:buFont typeface="+mj-lt"/>
              <a:buAutoNum type="arabicPeriod"/>
            </a:pPr>
            <a:r>
              <a:rPr lang="en-US" sz="1400" dirty="0"/>
              <a:t>Hypothesis driven, e.g. Null, alternate</a:t>
            </a:r>
          </a:p>
          <a:p>
            <a:pPr marL="176213" indent="-176213">
              <a:buFont typeface="+mj-lt"/>
              <a:buAutoNum type="arabicPeriod"/>
            </a:pPr>
            <a:r>
              <a:rPr lang="en-US" sz="1400" dirty="0"/>
              <a:t>Data collection to establish cause and effect relationship</a:t>
            </a:r>
          </a:p>
          <a:p>
            <a:pPr marL="176213" indent="-176213">
              <a:buFont typeface="+mj-lt"/>
              <a:buAutoNum type="arabicPeriod"/>
            </a:pPr>
            <a:r>
              <a:rPr lang="en-US" sz="1400" dirty="0"/>
              <a:t>Narrow scope</a:t>
            </a:r>
            <a:endParaRPr lang="en-IN" sz="1400" dirty="0"/>
          </a:p>
        </p:txBody>
      </p:sp>
      <p:sp>
        <p:nvSpPr>
          <p:cNvPr id="69" name="Rectangle 68"/>
          <p:cNvSpPr/>
          <p:nvPr/>
        </p:nvSpPr>
        <p:spPr>
          <a:xfrm>
            <a:off x="2330128" y="2309112"/>
            <a:ext cx="3202909" cy="54545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marL="176213" indent="-176213">
              <a:buFont typeface="+mj-lt"/>
              <a:buAutoNum type="arabicPeriod"/>
            </a:pPr>
            <a:r>
              <a:rPr lang="en-US" sz="1400" dirty="0"/>
              <a:t>Explore a topic to develop a hypothesis</a:t>
            </a:r>
          </a:p>
          <a:p>
            <a:r>
              <a:rPr lang="en-US" sz="1400" dirty="0"/>
              <a:t>e.g. New product launch in a city</a:t>
            </a:r>
            <a:endParaRPr lang="en-IN" sz="1400" dirty="0"/>
          </a:p>
        </p:txBody>
      </p:sp>
      <p:sp>
        <p:nvSpPr>
          <p:cNvPr id="70" name="Rectangle 69"/>
          <p:cNvSpPr/>
          <p:nvPr/>
        </p:nvSpPr>
        <p:spPr>
          <a:xfrm>
            <a:off x="3824459" y="3089946"/>
            <a:ext cx="2426865" cy="465653"/>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marL="176213" indent="-176213">
              <a:buFont typeface="+mj-lt"/>
              <a:buAutoNum type="arabicPeriod"/>
            </a:pPr>
            <a:r>
              <a:rPr lang="en-US" sz="1400" dirty="0"/>
              <a:t>Data at a given point of time</a:t>
            </a:r>
          </a:p>
          <a:p>
            <a:r>
              <a:rPr lang="en-US" sz="1400" dirty="0"/>
              <a:t>e.g. Pre – poll survey</a:t>
            </a:r>
            <a:endParaRPr lang="en-IN" sz="1400" dirty="0"/>
          </a:p>
        </p:txBody>
      </p:sp>
      <p:sp>
        <p:nvSpPr>
          <p:cNvPr id="71" name="Rectangle 70"/>
          <p:cNvSpPr/>
          <p:nvPr/>
        </p:nvSpPr>
        <p:spPr>
          <a:xfrm>
            <a:off x="6928522" y="3003395"/>
            <a:ext cx="794337" cy="436794"/>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900" i="1" dirty="0"/>
              <a:t>Time – dependent survey data</a:t>
            </a:r>
          </a:p>
        </p:txBody>
      </p:sp>
      <p:sp>
        <p:nvSpPr>
          <p:cNvPr id="72" name="Rectangle 71"/>
          <p:cNvSpPr/>
          <p:nvPr/>
        </p:nvSpPr>
        <p:spPr>
          <a:xfrm>
            <a:off x="4837235" y="4187767"/>
            <a:ext cx="3191036" cy="63387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sz="1400" dirty="0"/>
              <a:t>e.g. Gender, age and other demographics survey over short period of time, say every 5 years</a:t>
            </a:r>
            <a:endParaRPr lang="en-IN" sz="1400" dirty="0"/>
          </a:p>
        </p:txBody>
      </p:sp>
    </p:spTree>
    <p:extLst>
      <p:ext uri="{BB962C8B-B14F-4D97-AF65-F5344CB8AC3E}">
        <p14:creationId xmlns:p14="http://schemas.microsoft.com/office/powerpoint/2010/main" val="40498305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95770"/>
          </a:xfrm>
        </p:spPr>
        <p:txBody>
          <a:bodyPr>
            <a:normAutofit/>
          </a:bodyPr>
          <a:lstStyle/>
          <a:p>
            <a:pPr algn="ctr"/>
            <a:r>
              <a:rPr lang="en-US" sz="3200" b="1" dirty="0">
                <a:solidFill>
                  <a:srgbClr val="0000FF"/>
                </a:solidFill>
              </a:rPr>
              <a:t>Research Methods vs. Research Methodology</a:t>
            </a:r>
            <a:endParaRPr lang="en-IN" sz="3200" b="1" dirty="0">
              <a:solidFill>
                <a:srgbClr val="0000FF"/>
              </a:solidFill>
            </a:endParaRPr>
          </a:p>
        </p:txBody>
      </p:sp>
      <p:sp>
        <p:nvSpPr>
          <p:cNvPr id="3" name="Content Placeholder 2"/>
          <p:cNvSpPr>
            <a:spLocks noGrp="1"/>
          </p:cNvSpPr>
          <p:nvPr>
            <p:ph idx="1"/>
          </p:nvPr>
        </p:nvSpPr>
        <p:spPr>
          <a:xfrm>
            <a:off x="838200" y="960896"/>
            <a:ext cx="10515600" cy="5216067"/>
          </a:xfrm>
        </p:spPr>
        <p:txBody>
          <a:bodyPr>
            <a:normAutofit fontScale="92500"/>
          </a:bodyPr>
          <a:lstStyle/>
          <a:p>
            <a:pPr lvl="0"/>
            <a:r>
              <a:rPr lang="en-US" sz="2600" b="1" dirty="0"/>
              <a:t>Research methods </a:t>
            </a:r>
            <a:r>
              <a:rPr lang="en-US" sz="2600" dirty="0"/>
              <a:t>may be understood as all those </a:t>
            </a:r>
            <a:r>
              <a:rPr lang="en-US" sz="2600" b="1" dirty="0"/>
              <a:t>methods/ techniques </a:t>
            </a:r>
            <a:r>
              <a:rPr lang="en-US" sz="2600" dirty="0"/>
              <a:t>that are used for conduction of research.</a:t>
            </a:r>
            <a:endParaRPr lang="en-IN" sz="2600" dirty="0"/>
          </a:p>
          <a:p>
            <a:pPr lvl="0"/>
            <a:r>
              <a:rPr lang="en-US" sz="2600" dirty="0"/>
              <a:t>Since the object of research, particularly the applied research, is to arrive at a solution for a given problem, the available data and the unknown aspects of the problem have to be related to each other to make a solution possible.</a:t>
            </a:r>
            <a:endParaRPr lang="en-IN" sz="2600" dirty="0"/>
          </a:p>
          <a:p>
            <a:pPr lvl="0"/>
            <a:r>
              <a:rPr lang="en-US" sz="2600" dirty="0"/>
              <a:t>Keeping this in view, research methods can be put into the</a:t>
            </a:r>
            <a:r>
              <a:rPr lang="en-IN" sz="2600" dirty="0"/>
              <a:t> </a:t>
            </a:r>
            <a:r>
              <a:rPr lang="en-US" sz="2600" dirty="0"/>
              <a:t>following three groups:</a:t>
            </a:r>
            <a:endParaRPr lang="en-IN" sz="2600" dirty="0"/>
          </a:p>
          <a:p>
            <a:pPr marL="895350" lvl="1" indent="-438150">
              <a:buFont typeface="+mj-lt"/>
              <a:buAutoNum type="arabicPeriod"/>
            </a:pPr>
            <a:r>
              <a:rPr lang="en-US" sz="2600" dirty="0"/>
              <a:t>In the first group we include those methods which are concerned with the collection of data, </a:t>
            </a:r>
            <a:r>
              <a:rPr lang="en-US" sz="2600" i="1" dirty="0"/>
              <a:t>e.g</a:t>
            </a:r>
            <a:r>
              <a:rPr lang="en-US" sz="2600" b="1" i="1" dirty="0"/>
              <a:t>. </a:t>
            </a:r>
            <a:r>
              <a:rPr lang="en-US" sz="2600" b="1" dirty="0"/>
              <a:t>experimental (instrumental) methods, survey </a:t>
            </a:r>
            <a:r>
              <a:rPr lang="en-US" sz="2600" dirty="0"/>
              <a:t>etc.</a:t>
            </a:r>
            <a:endParaRPr lang="en-IN" sz="2600" dirty="0"/>
          </a:p>
          <a:p>
            <a:pPr marL="895350" lvl="1" indent="-438150">
              <a:buFont typeface="+mj-lt"/>
              <a:buAutoNum type="arabicPeriod"/>
            </a:pPr>
            <a:r>
              <a:rPr lang="en-US" sz="2600" dirty="0"/>
              <a:t>The second group consists of those </a:t>
            </a:r>
            <a:r>
              <a:rPr lang="en-US" sz="2600" b="1" dirty="0"/>
              <a:t>statistical techniques </a:t>
            </a:r>
            <a:r>
              <a:rPr lang="en-US" sz="2600" dirty="0"/>
              <a:t>which are used for establishing relationships between the data and the unknowns</a:t>
            </a:r>
            <a:endParaRPr lang="en-IN" sz="2600" dirty="0"/>
          </a:p>
          <a:p>
            <a:pPr marL="895350" lvl="1" indent="-438150">
              <a:buFont typeface="+mj-lt"/>
              <a:buAutoNum type="arabicPeriod"/>
            </a:pPr>
            <a:r>
              <a:rPr lang="en-US" sz="2600" dirty="0"/>
              <a:t>The third group consists of those methods which are used to evaluate the</a:t>
            </a:r>
            <a:r>
              <a:rPr lang="en-IN" sz="2600" dirty="0"/>
              <a:t> </a:t>
            </a:r>
            <a:r>
              <a:rPr lang="en-US" sz="2600" dirty="0"/>
              <a:t>accuracy of the results obtained</a:t>
            </a:r>
            <a:endParaRPr lang="en-IN" sz="2600" dirty="0"/>
          </a:p>
          <a:p>
            <a:endParaRPr lang="en-IN" dirty="0"/>
          </a:p>
        </p:txBody>
      </p:sp>
    </p:spTree>
    <p:extLst>
      <p:ext uri="{BB962C8B-B14F-4D97-AF65-F5344CB8AC3E}">
        <p14:creationId xmlns:p14="http://schemas.microsoft.com/office/powerpoint/2010/main" val="32466051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4525"/>
          </a:xfrm>
        </p:spPr>
        <p:txBody>
          <a:bodyPr>
            <a:normAutofit/>
          </a:bodyPr>
          <a:lstStyle/>
          <a:p>
            <a:pPr algn="ctr"/>
            <a:r>
              <a:rPr lang="en-US" sz="3200" b="1" dirty="0">
                <a:solidFill>
                  <a:srgbClr val="0000FF"/>
                </a:solidFill>
              </a:rPr>
              <a:t>Research Methods vs. Research Methodology</a:t>
            </a:r>
            <a:endParaRPr lang="en-IN" sz="3200" dirty="0"/>
          </a:p>
        </p:txBody>
      </p:sp>
      <p:sp>
        <p:nvSpPr>
          <p:cNvPr id="3" name="Content Placeholder 2"/>
          <p:cNvSpPr>
            <a:spLocks noGrp="1"/>
          </p:cNvSpPr>
          <p:nvPr>
            <p:ph idx="1"/>
          </p:nvPr>
        </p:nvSpPr>
        <p:spPr>
          <a:xfrm>
            <a:off x="838200" y="1009650"/>
            <a:ext cx="10515600" cy="5638800"/>
          </a:xfrm>
        </p:spPr>
        <p:txBody>
          <a:bodyPr>
            <a:normAutofit fontScale="92500" lnSpcReduction="10000"/>
          </a:bodyPr>
          <a:lstStyle/>
          <a:p>
            <a:pPr lvl="0" algn="just">
              <a:lnSpc>
                <a:spcPct val="110000"/>
              </a:lnSpc>
            </a:pPr>
            <a:r>
              <a:rPr lang="en-US" dirty="0"/>
              <a:t>Research methodology is a way to systematically solve the research problem in a logical step-by-step manner.</a:t>
            </a:r>
            <a:endParaRPr lang="en-IN" dirty="0"/>
          </a:p>
          <a:p>
            <a:pPr lvl="0" algn="just">
              <a:lnSpc>
                <a:spcPct val="110000"/>
              </a:lnSpc>
            </a:pPr>
            <a:r>
              <a:rPr lang="en-US" dirty="0"/>
              <a:t>Hence, It is necessary for the researcher to know not only the</a:t>
            </a:r>
            <a:r>
              <a:rPr lang="en-IN" dirty="0"/>
              <a:t> </a:t>
            </a:r>
            <a:r>
              <a:rPr lang="en-US" dirty="0"/>
              <a:t>research methods / techniques but also the methodology.</a:t>
            </a:r>
            <a:endParaRPr lang="en-IN" dirty="0"/>
          </a:p>
          <a:p>
            <a:pPr lvl="0" algn="just">
              <a:lnSpc>
                <a:spcPct val="110000"/>
              </a:lnSpc>
            </a:pPr>
            <a:r>
              <a:rPr lang="en-US" dirty="0"/>
              <a:t>The scope of research methodology is wider than that of research methods.</a:t>
            </a:r>
            <a:endParaRPr lang="en-IN" dirty="0"/>
          </a:p>
          <a:p>
            <a:pPr lvl="0" algn="just">
              <a:lnSpc>
                <a:spcPct val="110000"/>
              </a:lnSpc>
            </a:pPr>
            <a:r>
              <a:rPr lang="en-US" dirty="0"/>
              <a:t>Thus, when we talk of research methodology we not only talk of the research methods but also consider the logic behind the methods we use in the context of our research study </a:t>
            </a:r>
          </a:p>
          <a:p>
            <a:pPr lvl="0" algn="just">
              <a:lnSpc>
                <a:spcPct val="110000"/>
              </a:lnSpc>
            </a:pPr>
            <a:r>
              <a:rPr lang="en-US" dirty="0"/>
              <a:t>Explain why we are using a particular method or technique and why we are not using others so that research results are capable of being evaluated either by the researcher himself or by others.</a:t>
            </a:r>
            <a:endParaRPr lang="en-IN" dirty="0"/>
          </a:p>
          <a:p>
            <a:pPr marL="0" indent="0">
              <a:lnSpc>
                <a:spcPct val="110000"/>
              </a:lnSpc>
              <a:buNone/>
            </a:pPr>
            <a:endParaRPr lang="en-IN" dirty="0"/>
          </a:p>
        </p:txBody>
      </p:sp>
    </p:spTree>
    <p:extLst>
      <p:ext uri="{BB962C8B-B14F-4D97-AF65-F5344CB8AC3E}">
        <p14:creationId xmlns:p14="http://schemas.microsoft.com/office/powerpoint/2010/main" val="27567610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10222"/>
          </a:xfrm>
        </p:spPr>
        <p:txBody>
          <a:bodyPr>
            <a:normAutofit fontScale="90000"/>
          </a:bodyPr>
          <a:lstStyle/>
          <a:p>
            <a:pPr algn="ctr"/>
            <a:r>
              <a:rPr lang="en-US" sz="3200" b="1" dirty="0">
                <a:solidFill>
                  <a:srgbClr val="0000FF"/>
                </a:solidFill>
              </a:rPr>
              <a:t>Attributes of Good Researcher</a:t>
            </a:r>
            <a:br>
              <a:rPr lang="en-US" sz="3200" b="1" dirty="0">
                <a:solidFill>
                  <a:srgbClr val="0000FF"/>
                </a:solidFill>
              </a:rPr>
            </a:br>
            <a:r>
              <a:rPr lang="en-US" sz="3200" b="1" dirty="0">
                <a:solidFill>
                  <a:srgbClr val="FF0066"/>
                </a:solidFill>
              </a:rPr>
              <a:t>Role of Critical Thinking and Creative Thinking</a:t>
            </a:r>
            <a:endParaRPr lang="en-IN" sz="3200" b="1" dirty="0">
              <a:solidFill>
                <a:srgbClr val="0000FF"/>
              </a:solidFill>
            </a:endParaRPr>
          </a:p>
        </p:txBody>
      </p:sp>
      <p:sp>
        <p:nvSpPr>
          <p:cNvPr id="3" name="Content Placeholder 2"/>
          <p:cNvSpPr>
            <a:spLocks noGrp="1"/>
          </p:cNvSpPr>
          <p:nvPr>
            <p:ph idx="1"/>
          </p:nvPr>
        </p:nvSpPr>
        <p:spPr>
          <a:xfrm>
            <a:off x="838200" y="1467853"/>
            <a:ext cx="10515600" cy="4709110"/>
          </a:xfrm>
        </p:spPr>
        <p:txBody>
          <a:bodyPr/>
          <a:lstStyle/>
          <a:p>
            <a:pPr lvl="0"/>
            <a:r>
              <a:rPr lang="en-US" sz="1400" dirty="0"/>
              <a:t>A good researcher should</a:t>
            </a:r>
            <a:r>
              <a:rPr lang="en-IN" sz="1400" dirty="0"/>
              <a:t> </a:t>
            </a:r>
            <a:r>
              <a:rPr lang="en-US" sz="1400" dirty="0"/>
              <a:t>possess technical as well as</a:t>
            </a:r>
            <a:r>
              <a:rPr lang="en-IN" sz="1400" dirty="0"/>
              <a:t> </a:t>
            </a:r>
            <a:r>
              <a:rPr lang="en-US" sz="1400" dirty="0"/>
              <a:t>professional skill-sets</a:t>
            </a:r>
            <a:endParaRPr lang="en-IN" sz="1400" dirty="0"/>
          </a:p>
          <a:p>
            <a:r>
              <a:rPr lang="en-US" sz="1400" dirty="0"/>
              <a:t>The technical skill-set deals with domain knowledge and requires critical thinking</a:t>
            </a:r>
            <a:endParaRPr lang="en-IN" sz="1400" dirty="0"/>
          </a:p>
          <a:p>
            <a:r>
              <a:rPr lang="en-US" sz="1400" dirty="0"/>
              <a:t>The professional skill – sets deal with the other aspects, including creative thinking mentioned in the figure</a:t>
            </a:r>
          </a:p>
          <a:p>
            <a:r>
              <a:rPr lang="en-US" sz="1400" dirty="0"/>
              <a:t>Both critical and creative thinking are essential for research</a:t>
            </a:r>
            <a:endParaRPr lang="en-IN" sz="1400" dirty="0"/>
          </a:p>
          <a:p>
            <a:pPr marL="0" indent="0">
              <a:buNone/>
            </a:pPr>
            <a:endParaRPr lang="en-IN" dirty="0"/>
          </a:p>
        </p:txBody>
      </p:sp>
      <p:sp>
        <p:nvSpPr>
          <p:cNvPr id="9" name="Oval 8"/>
          <p:cNvSpPr/>
          <p:nvPr/>
        </p:nvSpPr>
        <p:spPr>
          <a:xfrm>
            <a:off x="5141330" y="3573583"/>
            <a:ext cx="2010058" cy="1875108"/>
          </a:xfrm>
          <a:prstGeom prst="ellipse">
            <a:avLst/>
          </a:prstGeom>
          <a:solidFill>
            <a:schemeClr val="bg1">
              <a:lumMod val="65000"/>
            </a:schemeClr>
          </a:solidFill>
          <a:ln>
            <a:noFill/>
          </a:ln>
          <a:effectLst/>
          <a:scene3d>
            <a:camera prst="orthographicFront">
              <a:rot lat="0" lon="0" rev="0"/>
            </a:camera>
            <a:lightRig rig="contrasting" dir="t">
              <a:rot lat="0" lon="0" rev="7800000"/>
            </a:lightRig>
          </a:scene3d>
          <a:sp3d>
            <a:bevelT w="139700" h="139700"/>
          </a:sp3d>
        </p:spPr>
        <p:style>
          <a:lnRef idx="1">
            <a:schemeClr val="dk1"/>
          </a:lnRef>
          <a:fillRef idx="2">
            <a:schemeClr val="dk1"/>
          </a:fillRef>
          <a:effectRef idx="1">
            <a:schemeClr val="dk1"/>
          </a:effectRef>
          <a:fontRef idx="minor">
            <a:schemeClr val="dk1"/>
          </a:fontRef>
        </p:style>
        <p:txBody>
          <a:bodyPr rtlCol="0" anchor="ctr"/>
          <a:lstStyle/>
          <a:p>
            <a:pPr algn="ctr"/>
            <a:r>
              <a:rPr lang="en-US" sz="1200" dirty="0"/>
              <a:t>Ingredients</a:t>
            </a:r>
            <a:r>
              <a:rPr lang="en-US" sz="1400" dirty="0"/>
              <a:t> for Good Researcher</a:t>
            </a:r>
            <a:endParaRPr lang="en-IN" sz="1400" dirty="0"/>
          </a:p>
        </p:txBody>
      </p:sp>
      <p:sp>
        <p:nvSpPr>
          <p:cNvPr id="14" name="Oval 13"/>
          <p:cNvSpPr/>
          <p:nvPr/>
        </p:nvSpPr>
        <p:spPr>
          <a:xfrm>
            <a:off x="6727034" y="4379393"/>
            <a:ext cx="1759555" cy="627157"/>
          </a:xfrm>
          <a:prstGeom prst="ellipse">
            <a:avLst/>
          </a:prstGeom>
          <a:solidFill>
            <a:schemeClr val="bg1">
              <a:lumMod val="85000"/>
            </a:schemeClr>
          </a:solidFill>
          <a:ln>
            <a:noFill/>
          </a:ln>
          <a:effectLst/>
          <a:scene3d>
            <a:camera prst="orthographicFront">
              <a:rot lat="0" lon="0" rev="0"/>
            </a:camera>
            <a:lightRig rig="contrasting" dir="t">
              <a:rot lat="0" lon="0" rev="7800000"/>
            </a:lightRig>
          </a:scene3d>
          <a:sp3d>
            <a:bevelT w="139700" h="139700"/>
          </a:sp3d>
        </p:spPr>
        <p:style>
          <a:lnRef idx="1">
            <a:schemeClr val="dk1"/>
          </a:lnRef>
          <a:fillRef idx="2">
            <a:schemeClr val="dk1"/>
          </a:fillRef>
          <a:effectRef idx="1">
            <a:schemeClr val="dk1"/>
          </a:effectRef>
          <a:fontRef idx="minor">
            <a:schemeClr val="dk1"/>
          </a:fontRef>
        </p:style>
        <p:txBody>
          <a:bodyPr rtlCol="0" anchor="ctr"/>
          <a:lstStyle/>
          <a:p>
            <a:pPr algn="ctr"/>
            <a:r>
              <a:rPr lang="en-US" sz="1400" dirty="0"/>
              <a:t>Domain Knowledge</a:t>
            </a:r>
            <a:endParaRPr lang="en-IN" sz="1400" dirty="0"/>
          </a:p>
        </p:txBody>
      </p:sp>
      <p:sp>
        <p:nvSpPr>
          <p:cNvPr id="15" name="Oval 14"/>
          <p:cNvSpPr/>
          <p:nvPr/>
        </p:nvSpPr>
        <p:spPr>
          <a:xfrm>
            <a:off x="6570533" y="3476956"/>
            <a:ext cx="1670532" cy="644348"/>
          </a:xfrm>
          <a:prstGeom prst="ellipse">
            <a:avLst/>
          </a:prstGeom>
          <a:solidFill>
            <a:schemeClr val="bg1">
              <a:lumMod val="85000"/>
            </a:schemeClr>
          </a:solidFill>
          <a:ln>
            <a:noFill/>
          </a:ln>
          <a:effectLst/>
          <a:scene3d>
            <a:camera prst="orthographicFront">
              <a:rot lat="0" lon="0" rev="0"/>
            </a:camera>
            <a:lightRig rig="contrasting" dir="t">
              <a:rot lat="0" lon="0" rev="7800000"/>
            </a:lightRig>
          </a:scene3d>
          <a:sp3d>
            <a:bevelT w="139700" h="139700"/>
          </a:sp3d>
        </p:spPr>
        <p:style>
          <a:lnRef idx="1">
            <a:schemeClr val="dk1"/>
          </a:lnRef>
          <a:fillRef idx="2">
            <a:schemeClr val="dk1"/>
          </a:fillRef>
          <a:effectRef idx="1">
            <a:schemeClr val="dk1"/>
          </a:effectRef>
          <a:fontRef idx="minor">
            <a:schemeClr val="dk1"/>
          </a:fontRef>
        </p:style>
        <p:txBody>
          <a:bodyPr rtlCol="0" anchor="ctr"/>
          <a:lstStyle/>
          <a:p>
            <a:pPr algn="ctr"/>
            <a:r>
              <a:rPr lang="en-US" sz="1200" dirty="0"/>
              <a:t>Verbal Communication</a:t>
            </a:r>
            <a:endParaRPr lang="en-IN" sz="1200" dirty="0"/>
          </a:p>
        </p:txBody>
      </p:sp>
      <p:sp>
        <p:nvSpPr>
          <p:cNvPr id="16" name="Oval 15"/>
          <p:cNvSpPr/>
          <p:nvPr/>
        </p:nvSpPr>
        <p:spPr>
          <a:xfrm>
            <a:off x="5220147" y="5203174"/>
            <a:ext cx="1751132" cy="788364"/>
          </a:xfrm>
          <a:prstGeom prst="ellipse">
            <a:avLst/>
          </a:prstGeom>
          <a:solidFill>
            <a:schemeClr val="bg1">
              <a:lumMod val="85000"/>
            </a:schemeClr>
          </a:solidFill>
          <a:ln>
            <a:noFill/>
          </a:ln>
          <a:effectLst/>
          <a:scene3d>
            <a:camera prst="orthographicFront">
              <a:rot lat="0" lon="0" rev="0"/>
            </a:camera>
            <a:lightRig rig="contrasting" dir="t">
              <a:rot lat="0" lon="0" rev="7800000"/>
            </a:lightRig>
          </a:scene3d>
          <a:sp3d>
            <a:bevelT w="139700" h="139700"/>
          </a:sp3d>
        </p:spPr>
        <p:style>
          <a:lnRef idx="1">
            <a:schemeClr val="dk1"/>
          </a:lnRef>
          <a:fillRef idx="2">
            <a:schemeClr val="dk1"/>
          </a:fillRef>
          <a:effectRef idx="1">
            <a:schemeClr val="dk1"/>
          </a:effectRef>
          <a:fontRef idx="minor">
            <a:schemeClr val="dk1"/>
          </a:fontRef>
        </p:style>
        <p:txBody>
          <a:bodyPr rtlCol="0" anchor="ctr"/>
          <a:lstStyle/>
          <a:p>
            <a:pPr algn="ctr"/>
            <a:r>
              <a:rPr lang="en-US" sz="1200" dirty="0"/>
              <a:t>Written Communication</a:t>
            </a:r>
            <a:endParaRPr lang="en-IN" sz="1200" dirty="0"/>
          </a:p>
        </p:txBody>
      </p:sp>
      <p:sp>
        <p:nvSpPr>
          <p:cNvPr id="17" name="Oval 16"/>
          <p:cNvSpPr/>
          <p:nvPr/>
        </p:nvSpPr>
        <p:spPr>
          <a:xfrm>
            <a:off x="3949937" y="4294674"/>
            <a:ext cx="1420676" cy="796593"/>
          </a:xfrm>
          <a:prstGeom prst="ellipse">
            <a:avLst/>
          </a:prstGeom>
          <a:solidFill>
            <a:schemeClr val="bg1">
              <a:lumMod val="85000"/>
            </a:schemeClr>
          </a:solidFill>
          <a:ln>
            <a:noFill/>
          </a:ln>
          <a:effectLst/>
          <a:scene3d>
            <a:camera prst="orthographicFront">
              <a:rot lat="0" lon="0" rev="0"/>
            </a:camera>
            <a:lightRig rig="contrasting" dir="t">
              <a:rot lat="0" lon="0" rev="7800000"/>
            </a:lightRig>
          </a:scene3d>
          <a:sp3d>
            <a:bevelT w="139700" h="139700"/>
          </a:sp3d>
        </p:spPr>
        <p:style>
          <a:lnRef idx="1">
            <a:schemeClr val="dk1"/>
          </a:lnRef>
          <a:fillRef idx="2">
            <a:schemeClr val="dk1"/>
          </a:fillRef>
          <a:effectRef idx="1">
            <a:schemeClr val="dk1"/>
          </a:effectRef>
          <a:fontRef idx="minor">
            <a:schemeClr val="dk1"/>
          </a:fontRef>
        </p:style>
        <p:txBody>
          <a:bodyPr rtlCol="0" anchor="ctr"/>
          <a:lstStyle/>
          <a:p>
            <a:pPr algn="ctr"/>
            <a:r>
              <a:rPr lang="en-US" sz="1200" dirty="0"/>
              <a:t>Consistency and Patience</a:t>
            </a:r>
            <a:endParaRPr lang="en-IN" sz="1200" dirty="0"/>
          </a:p>
        </p:txBody>
      </p:sp>
      <p:sp>
        <p:nvSpPr>
          <p:cNvPr id="18" name="Oval 17"/>
          <p:cNvSpPr/>
          <p:nvPr/>
        </p:nvSpPr>
        <p:spPr>
          <a:xfrm>
            <a:off x="5549434" y="2853375"/>
            <a:ext cx="1093132" cy="818815"/>
          </a:xfrm>
          <a:prstGeom prst="ellipse">
            <a:avLst/>
          </a:prstGeom>
          <a:solidFill>
            <a:schemeClr val="bg1">
              <a:lumMod val="85000"/>
            </a:schemeClr>
          </a:solidFill>
          <a:ln>
            <a:noFill/>
          </a:ln>
          <a:effectLst/>
          <a:scene3d>
            <a:camera prst="orthographicFront">
              <a:rot lat="0" lon="0" rev="0"/>
            </a:camera>
            <a:lightRig rig="contrasting" dir="t">
              <a:rot lat="0" lon="0" rev="7800000"/>
            </a:lightRig>
          </a:scene3d>
          <a:sp3d>
            <a:bevelT w="139700" h="139700"/>
          </a:sp3d>
        </p:spPr>
        <p:style>
          <a:lnRef idx="1">
            <a:schemeClr val="dk1"/>
          </a:lnRef>
          <a:fillRef idx="2">
            <a:schemeClr val="dk1"/>
          </a:fillRef>
          <a:effectRef idx="1">
            <a:schemeClr val="dk1"/>
          </a:effectRef>
          <a:fontRef idx="minor">
            <a:schemeClr val="dk1"/>
          </a:fontRef>
        </p:style>
        <p:txBody>
          <a:bodyPr rtlCol="0" anchor="ctr"/>
          <a:lstStyle/>
          <a:p>
            <a:pPr algn="ctr"/>
            <a:r>
              <a:rPr lang="en-US" sz="1200" dirty="0"/>
              <a:t>Creativity</a:t>
            </a:r>
            <a:endParaRPr lang="en-IN" sz="1200" dirty="0"/>
          </a:p>
        </p:txBody>
      </p:sp>
      <p:sp>
        <p:nvSpPr>
          <p:cNvPr id="19" name="Oval 18"/>
          <p:cNvSpPr/>
          <p:nvPr/>
        </p:nvSpPr>
        <p:spPr>
          <a:xfrm>
            <a:off x="3806129" y="3440981"/>
            <a:ext cx="1883474" cy="762853"/>
          </a:xfrm>
          <a:prstGeom prst="ellipse">
            <a:avLst/>
          </a:prstGeom>
          <a:solidFill>
            <a:schemeClr val="bg1">
              <a:lumMod val="85000"/>
            </a:schemeClr>
          </a:solidFill>
          <a:ln>
            <a:noFill/>
          </a:ln>
          <a:effectLst/>
          <a:scene3d>
            <a:camera prst="orthographicFront">
              <a:rot lat="0" lon="0" rev="0"/>
            </a:camera>
            <a:lightRig rig="contrasting" dir="t">
              <a:rot lat="0" lon="0" rev="7800000"/>
            </a:lightRig>
          </a:scene3d>
          <a:sp3d>
            <a:bevelT w="139700" h="139700"/>
          </a:sp3d>
        </p:spPr>
        <p:style>
          <a:lnRef idx="1">
            <a:schemeClr val="dk1"/>
          </a:lnRef>
          <a:fillRef idx="2">
            <a:schemeClr val="dk1"/>
          </a:fillRef>
          <a:effectRef idx="1">
            <a:schemeClr val="dk1"/>
          </a:effectRef>
          <a:fontRef idx="minor">
            <a:schemeClr val="dk1"/>
          </a:fontRef>
        </p:style>
        <p:txBody>
          <a:bodyPr rtlCol="0" anchor="ctr"/>
          <a:lstStyle/>
          <a:p>
            <a:pPr algn="ctr"/>
            <a:r>
              <a:rPr lang="en-US" sz="1400" dirty="0"/>
              <a:t>Dedication </a:t>
            </a:r>
            <a:r>
              <a:rPr lang="en-US" sz="1200" dirty="0"/>
              <a:t>and</a:t>
            </a:r>
            <a:r>
              <a:rPr lang="en-US" sz="1400" dirty="0"/>
              <a:t> Commitment</a:t>
            </a:r>
            <a:endParaRPr lang="en-IN" sz="1400" dirty="0"/>
          </a:p>
        </p:txBody>
      </p:sp>
      <p:sp>
        <p:nvSpPr>
          <p:cNvPr id="10" name="Rectangle 9"/>
          <p:cNvSpPr/>
          <p:nvPr/>
        </p:nvSpPr>
        <p:spPr>
          <a:xfrm>
            <a:off x="6395998" y="2746475"/>
            <a:ext cx="2091636" cy="3976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66"/>
                </a:solidFill>
              </a:rPr>
              <a:t>Creative Thinking</a:t>
            </a:r>
            <a:endParaRPr lang="en-IN" dirty="0">
              <a:solidFill>
                <a:srgbClr val="FF0066"/>
              </a:solidFill>
            </a:endParaRPr>
          </a:p>
        </p:txBody>
      </p:sp>
      <p:sp>
        <p:nvSpPr>
          <p:cNvPr id="21" name="Rectangle 20"/>
          <p:cNvSpPr/>
          <p:nvPr/>
        </p:nvSpPr>
        <p:spPr>
          <a:xfrm>
            <a:off x="6971279" y="5453451"/>
            <a:ext cx="2091636" cy="3976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66"/>
                </a:solidFill>
              </a:rPr>
              <a:t>Critical Thinking</a:t>
            </a:r>
            <a:endParaRPr lang="en-IN" dirty="0">
              <a:solidFill>
                <a:srgbClr val="FF0066"/>
              </a:solidFill>
            </a:endParaRPr>
          </a:p>
        </p:txBody>
      </p:sp>
    </p:spTree>
    <p:extLst>
      <p:ext uri="{BB962C8B-B14F-4D97-AF65-F5344CB8AC3E}">
        <p14:creationId xmlns:p14="http://schemas.microsoft.com/office/powerpoint/2010/main" val="6135623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68325"/>
          </a:xfrm>
        </p:spPr>
        <p:txBody>
          <a:bodyPr>
            <a:normAutofit/>
          </a:bodyPr>
          <a:lstStyle/>
          <a:p>
            <a:pPr algn="ctr"/>
            <a:r>
              <a:rPr lang="en-US" sz="3200" b="1" dirty="0">
                <a:solidFill>
                  <a:srgbClr val="0000FF"/>
                </a:solidFill>
              </a:rPr>
              <a:t>Critical Thinking </a:t>
            </a:r>
            <a:r>
              <a:rPr lang="en-US" sz="3200" b="1" i="1" dirty="0">
                <a:solidFill>
                  <a:srgbClr val="0000FF"/>
                </a:solidFill>
              </a:rPr>
              <a:t>vs. </a:t>
            </a:r>
            <a:r>
              <a:rPr lang="en-US" sz="3200" b="1" dirty="0">
                <a:solidFill>
                  <a:srgbClr val="0000FF"/>
                </a:solidFill>
              </a:rPr>
              <a:t>Creative Thinking</a:t>
            </a:r>
            <a:endParaRPr lang="en-IN" sz="3200" b="1" dirty="0">
              <a:solidFill>
                <a:srgbClr val="0000FF"/>
              </a:solidFill>
            </a:endParaRPr>
          </a:p>
        </p:txBody>
      </p:sp>
      <p:sp>
        <p:nvSpPr>
          <p:cNvPr id="3" name="Content Placeholder 2"/>
          <p:cNvSpPr>
            <a:spLocks noGrp="1"/>
          </p:cNvSpPr>
          <p:nvPr>
            <p:ph idx="1"/>
          </p:nvPr>
        </p:nvSpPr>
        <p:spPr>
          <a:xfrm>
            <a:off x="838200" y="933450"/>
            <a:ext cx="10515600" cy="5243513"/>
          </a:xfrm>
        </p:spPr>
        <p:txBody>
          <a:bodyPr>
            <a:normAutofit/>
          </a:bodyPr>
          <a:lstStyle/>
          <a:p>
            <a:pPr lvl="1"/>
            <a:r>
              <a:rPr lang="en-US" dirty="0">
                <a:solidFill>
                  <a:srgbClr val="FF0000"/>
                </a:solidFill>
              </a:rPr>
              <a:t>Critical thinking </a:t>
            </a:r>
            <a:r>
              <a:rPr lang="en-US" dirty="0"/>
              <a:t>is the ability to clearly and logically evaluate information that is presented. So, it is an analytical action.</a:t>
            </a:r>
            <a:endParaRPr lang="en-IN" sz="1050" dirty="0"/>
          </a:p>
          <a:p>
            <a:pPr lvl="1"/>
            <a:r>
              <a:rPr lang="en-US" dirty="0"/>
              <a:t>It can also be defined as the purposeful and reflective judgment about what to believe and what to do in response to the observations, experience, verbal or written expressions or </a:t>
            </a:r>
            <a:r>
              <a:rPr lang="en-US" sz="2500" dirty="0"/>
              <a:t>arguments.</a:t>
            </a:r>
            <a:endParaRPr lang="en-IN" sz="3200" dirty="0"/>
          </a:p>
          <a:p>
            <a:pPr lvl="1"/>
            <a:r>
              <a:rPr lang="en-US" dirty="0">
                <a:solidFill>
                  <a:srgbClr val="FF0000"/>
                </a:solidFill>
              </a:rPr>
              <a:t>Creative thinking </a:t>
            </a:r>
            <a:r>
              <a:rPr lang="en-US" dirty="0"/>
              <a:t>is about reflecting on different perspectives or truths and then generating new, novel, or useful ideas. So, it is </a:t>
            </a:r>
            <a:r>
              <a:rPr lang="en-US" sz="2450" dirty="0"/>
              <a:t>an generative action.</a:t>
            </a:r>
            <a:endParaRPr lang="en-IN" sz="3200" dirty="0"/>
          </a:p>
          <a:p>
            <a:pPr lvl="1"/>
            <a:r>
              <a:rPr lang="en-US" dirty="0"/>
              <a:t>Critical and Creative thinking are complementary skills which are used in different stages when trying to solve a problem or forming a judgment about something.</a:t>
            </a:r>
            <a:endParaRPr lang="en-IN" sz="1050" dirty="0"/>
          </a:p>
          <a:p>
            <a:endParaRPr lang="en-IN" dirty="0"/>
          </a:p>
        </p:txBody>
      </p:sp>
    </p:spTree>
    <p:extLst>
      <p:ext uri="{BB962C8B-B14F-4D97-AF65-F5344CB8AC3E}">
        <p14:creationId xmlns:p14="http://schemas.microsoft.com/office/powerpoint/2010/main" val="31350765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65317"/>
          </a:xfrm>
        </p:spPr>
        <p:txBody>
          <a:bodyPr>
            <a:normAutofit/>
          </a:bodyPr>
          <a:lstStyle/>
          <a:p>
            <a:pPr algn="ctr"/>
            <a:r>
              <a:rPr lang="en-US" sz="3200" b="1" dirty="0">
                <a:solidFill>
                  <a:srgbClr val="0000FF"/>
                </a:solidFill>
              </a:rPr>
              <a:t>Critical Thinking and Bloom's Taxonomy</a:t>
            </a:r>
            <a:endParaRPr lang="en-IN" sz="3200" b="1" dirty="0">
              <a:solidFill>
                <a:srgbClr val="0000FF"/>
              </a:solidFill>
            </a:endParaRPr>
          </a:p>
        </p:txBody>
      </p:sp>
      <p:sp>
        <p:nvSpPr>
          <p:cNvPr id="3" name="Content Placeholder 2"/>
          <p:cNvSpPr>
            <a:spLocks noGrp="1"/>
          </p:cNvSpPr>
          <p:nvPr>
            <p:ph idx="1"/>
          </p:nvPr>
        </p:nvSpPr>
        <p:spPr>
          <a:xfrm>
            <a:off x="838200" y="930442"/>
            <a:ext cx="10515600" cy="5927558"/>
          </a:xfrm>
        </p:spPr>
        <p:txBody>
          <a:bodyPr/>
          <a:lstStyle/>
          <a:p>
            <a:r>
              <a:rPr lang="en-US" sz="2400" dirty="0">
                <a:solidFill>
                  <a:srgbClr val="FF0000"/>
                </a:solidFill>
              </a:rPr>
              <a:t>Critical thinking </a:t>
            </a:r>
            <a:r>
              <a:rPr lang="en-US" sz="2400" dirty="0"/>
              <a:t>is the ability to clearly and logically evaluate information that is presented to us. So, it is an analytical action.</a:t>
            </a:r>
            <a:endParaRPr lang="en-IN" sz="2400" dirty="0"/>
          </a:p>
          <a:p>
            <a:pPr marL="0" indent="0" algn="ctr">
              <a:buNone/>
            </a:pPr>
            <a:r>
              <a:rPr lang="en-US" dirty="0"/>
              <a:t>Bloom’s Taxonomy Framework</a:t>
            </a:r>
            <a:endParaRPr lang="en-IN" dirty="0"/>
          </a:p>
        </p:txBody>
      </p:sp>
      <p:sp>
        <p:nvSpPr>
          <p:cNvPr id="15" name="Freeform 14"/>
          <p:cNvSpPr/>
          <p:nvPr/>
        </p:nvSpPr>
        <p:spPr>
          <a:xfrm>
            <a:off x="5601680" y="2245892"/>
            <a:ext cx="1039752" cy="946485"/>
          </a:xfrm>
          <a:custGeom>
            <a:avLst/>
            <a:gdLst>
              <a:gd name="connsiteX0" fmla="*/ 460529 w 921058"/>
              <a:gd name="connsiteY0" fmla="*/ 0 h 786562"/>
              <a:gd name="connsiteX1" fmla="*/ 921058 w 921058"/>
              <a:gd name="connsiteY1" fmla="*/ 786562 h 786562"/>
              <a:gd name="connsiteX2" fmla="*/ 0 w 921058"/>
              <a:gd name="connsiteY2" fmla="*/ 786562 h 786562"/>
              <a:gd name="connsiteX3" fmla="*/ 460529 w 921058"/>
              <a:gd name="connsiteY3" fmla="*/ 0 h 786562"/>
            </a:gdLst>
            <a:ahLst/>
            <a:cxnLst>
              <a:cxn ang="0">
                <a:pos x="connsiteX0" y="connsiteY0"/>
              </a:cxn>
              <a:cxn ang="0">
                <a:pos x="connsiteX1" y="connsiteY1"/>
              </a:cxn>
              <a:cxn ang="0">
                <a:pos x="connsiteX2" y="connsiteY2"/>
              </a:cxn>
              <a:cxn ang="0">
                <a:pos x="connsiteX3" y="connsiteY3"/>
              </a:cxn>
            </a:cxnLst>
            <a:rect l="l" t="t" r="r" b="b"/>
            <a:pathLst>
              <a:path w="921058" h="786562">
                <a:moveTo>
                  <a:pt x="460529" y="0"/>
                </a:moveTo>
                <a:lnTo>
                  <a:pt x="921058" y="786562"/>
                </a:lnTo>
                <a:lnTo>
                  <a:pt x="0" y="786562"/>
                </a:lnTo>
                <a:lnTo>
                  <a:pt x="460529" y="0"/>
                </a:lnTo>
                <a:close/>
              </a:path>
            </a:pathLst>
          </a:cu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a:p>
            <a:pPr algn="ctr"/>
            <a:r>
              <a:rPr lang="en-US" sz="1000" dirty="0"/>
              <a:t>Creating</a:t>
            </a:r>
            <a:endParaRPr lang="en-IN" sz="1000" dirty="0"/>
          </a:p>
        </p:txBody>
      </p:sp>
      <p:sp>
        <p:nvSpPr>
          <p:cNvPr id="16" name="Freeform 15"/>
          <p:cNvSpPr/>
          <p:nvPr/>
        </p:nvSpPr>
        <p:spPr>
          <a:xfrm>
            <a:off x="5214981" y="3258353"/>
            <a:ext cx="1829322" cy="622758"/>
          </a:xfrm>
          <a:custGeom>
            <a:avLst/>
            <a:gdLst>
              <a:gd name="connsiteX0" fmla="*/ 303850 w 1595681"/>
              <a:gd name="connsiteY0" fmla="*/ 0 h 518962"/>
              <a:gd name="connsiteX1" fmla="*/ 1291830 w 1595681"/>
              <a:gd name="connsiteY1" fmla="*/ 0 h 518962"/>
              <a:gd name="connsiteX2" fmla="*/ 1595681 w 1595681"/>
              <a:gd name="connsiteY2" fmla="*/ 518962 h 518962"/>
              <a:gd name="connsiteX3" fmla="*/ 0 w 1595681"/>
              <a:gd name="connsiteY3" fmla="*/ 518962 h 518962"/>
              <a:gd name="connsiteX4" fmla="*/ 303850 w 1595681"/>
              <a:gd name="connsiteY4" fmla="*/ 0 h 518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5681" h="518962">
                <a:moveTo>
                  <a:pt x="303850" y="0"/>
                </a:moveTo>
                <a:lnTo>
                  <a:pt x="1291830" y="0"/>
                </a:lnTo>
                <a:lnTo>
                  <a:pt x="1595681" y="518962"/>
                </a:lnTo>
                <a:lnTo>
                  <a:pt x="0" y="518962"/>
                </a:lnTo>
                <a:lnTo>
                  <a:pt x="303850" y="0"/>
                </a:ln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Evaluating</a:t>
            </a:r>
            <a:endParaRPr lang="en-IN" sz="1000" dirty="0">
              <a:solidFill>
                <a:schemeClr val="tx1"/>
              </a:solidFill>
            </a:endParaRPr>
          </a:p>
        </p:txBody>
      </p:sp>
      <p:sp>
        <p:nvSpPr>
          <p:cNvPr id="17" name="Freeform 16"/>
          <p:cNvSpPr/>
          <p:nvPr/>
        </p:nvSpPr>
        <p:spPr>
          <a:xfrm>
            <a:off x="4828278" y="3949691"/>
            <a:ext cx="2602724" cy="622758"/>
          </a:xfrm>
          <a:custGeom>
            <a:avLst/>
            <a:gdLst>
              <a:gd name="connsiteX0" fmla="*/ 303851 w 2270304"/>
              <a:gd name="connsiteY0" fmla="*/ 0 h 518962"/>
              <a:gd name="connsiteX1" fmla="*/ 1966454 w 2270304"/>
              <a:gd name="connsiteY1" fmla="*/ 0 h 518962"/>
              <a:gd name="connsiteX2" fmla="*/ 2270304 w 2270304"/>
              <a:gd name="connsiteY2" fmla="*/ 518962 h 518962"/>
              <a:gd name="connsiteX3" fmla="*/ 0 w 2270304"/>
              <a:gd name="connsiteY3" fmla="*/ 518962 h 518962"/>
              <a:gd name="connsiteX4" fmla="*/ 303851 w 2270304"/>
              <a:gd name="connsiteY4" fmla="*/ 0 h 518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0304" h="518962">
                <a:moveTo>
                  <a:pt x="303851" y="0"/>
                </a:moveTo>
                <a:lnTo>
                  <a:pt x="1966454" y="0"/>
                </a:lnTo>
                <a:lnTo>
                  <a:pt x="2270304" y="518962"/>
                </a:lnTo>
                <a:lnTo>
                  <a:pt x="0" y="518962"/>
                </a:lnTo>
                <a:lnTo>
                  <a:pt x="303851"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Analyzing</a:t>
            </a:r>
            <a:endParaRPr lang="en-IN" sz="1000" dirty="0"/>
          </a:p>
        </p:txBody>
      </p:sp>
      <p:sp>
        <p:nvSpPr>
          <p:cNvPr id="18" name="Freeform 17"/>
          <p:cNvSpPr/>
          <p:nvPr/>
        </p:nvSpPr>
        <p:spPr>
          <a:xfrm>
            <a:off x="4441579" y="4641029"/>
            <a:ext cx="3376126" cy="622758"/>
          </a:xfrm>
          <a:custGeom>
            <a:avLst/>
            <a:gdLst>
              <a:gd name="connsiteX0" fmla="*/ 303850 w 2944927"/>
              <a:gd name="connsiteY0" fmla="*/ 0 h 518962"/>
              <a:gd name="connsiteX1" fmla="*/ 2641076 w 2944927"/>
              <a:gd name="connsiteY1" fmla="*/ 0 h 518962"/>
              <a:gd name="connsiteX2" fmla="*/ 2944927 w 2944927"/>
              <a:gd name="connsiteY2" fmla="*/ 518962 h 518962"/>
              <a:gd name="connsiteX3" fmla="*/ 0 w 2944927"/>
              <a:gd name="connsiteY3" fmla="*/ 518962 h 518962"/>
              <a:gd name="connsiteX4" fmla="*/ 303850 w 2944927"/>
              <a:gd name="connsiteY4" fmla="*/ 0 h 518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4927" h="518962">
                <a:moveTo>
                  <a:pt x="303850" y="0"/>
                </a:moveTo>
                <a:lnTo>
                  <a:pt x="2641076" y="0"/>
                </a:lnTo>
                <a:lnTo>
                  <a:pt x="2944927" y="518962"/>
                </a:lnTo>
                <a:lnTo>
                  <a:pt x="0" y="518962"/>
                </a:lnTo>
                <a:lnTo>
                  <a:pt x="30385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Applying</a:t>
            </a:r>
            <a:endParaRPr lang="en-IN" sz="1000" dirty="0"/>
          </a:p>
        </p:txBody>
      </p:sp>
      <p:sp>
        <p:nvSpPr>
          <p:cNvPr id="19" name="Freeform 18"/>
          <p:cNvSpPr/>
          <p:nvPr/>
        </p:nvSpPr>
        <p:spPr>
          <a:xfrm>
            <a:off x="4054877" y="5332368"/>
            <a:ext cx="4149528" cy="622758"/>
          </a:xfrm>
          <a:custGeom>
            <a:avLst/>
            <a:gdLst>
              <a:gd name="connsiteX0" fmla="*/ 303851 w 3619550"/>
              <a:gd name="connsiteY0" fmla="*/ 0 h 518962"/>
              <a:gd name="connsiteX1" fmla="*/ 3315700 w 3619550"/>
              <a:gd name="connsiteY1" fmla="*/ 0 h 518962"/>
              <a:gd name="connsiteX2" fmla="*/ 3619550 w 3619550"/>
              <a:gd name="connsiteY2" fmla="*/ 518962 h 518962"/>
              <a:gd name="connsiteX3" fmla="*/ 0 w 3619550"/>
              <a:gd name="connsiteY3" fmla="*/ 518962 h 518962"/>
              <a:gd name="connsiteX4" fmla="*/ 303851 w 3619550"/>
              <a:gd name="connsiteY4" fmla="*/ 0 h 518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9550" h="518962">
                <a:moveTo>
                  <a:pt x="303851" y="0"/>
                </a:moveTo>
                <a:lnTo>
                  <a:pt x="3315700" y="0"/>
                </a:lnTo>
                <a:lnTo>
                  <a:pt x="3619550" y="518962"/>
                </a:lnTo>
                <a:lnTo>
                  <a:pt x="0" y="518962"/>
                </a:lnTo>
                <a:lnTo>
                  <a:pt x="303851" y="0"/>
                </a:lnTo>
                <a:close/>
              </a:path>
            </a:pathLst>
          </a:custGeom>
          <a:solidFill>
            <a:srgbClr val="CC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Understanding</a:t>
            </a:r>
            <a:endParaRPr lang="en-IN" sz="1000" dirty="0"/>
          </a:p>
        </p:txBody>
      </p:sp>
      <p:sp>
        <p:nvSpPr>
          <p:cNvPr id="20" name="Freeform 19"/>
          <p:cNvSpPr/>
          <p:nvPr/>
        </p:nvSpPr>
        <p:spPr>
          <a:xfrm>
            <a:off x="3668175" y="6023706"/>
            <a:ext cx="4922931" cy="622760"/>
          </a:xfrm>
          <a:custGeom>
            <a:avLst/>
            <a:gdLst>
              <a:gd name="connsiteX0" fmla="*/ 303851 w 4294174"/>
              <a:gd name="connsiteY0" fmla="*/ 0 h 518964"/>
              <a:gd name="connsiteX1" fmla="*/ 3990323 w 4294174"/>
              <a:gd name="connsiteY1" fmla="*/ 0 h 518964"/>
              <a:gd name="connsiteX2" fmla="*/ 4294174 w 4294174"/>
              <a:gd name="connsiteY2" fmla="*/ 518964 h 518964"/>
              <a:gd name="connsiteX3" fmla="*/ 0 w 4294174"/>
              <a:gd name="connsiteY3" fmla="*/ 518964 h 518964"/>
              <a:gd name="connsiteX4" fmla="*/ 303851 w 4294174"/>
              <a:gd name="connsiteY4" fmla="*/ 0 h 518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94174" h="518964">
                <a:moveTo>
                  <a:pt x="303851" y="0"/>
                </a:moveTo>
                <a:lnTo>
                  <a:pt x="3990323" y="0"/>
                </a:lnTo>
                <a:lnTo>
                  <a:pt x="4294174" y="518964"/>
                </a:lnTo>
                <a:lnTo>
                  <a:pt x="0" y="518964"/>
                </a:lnTo>
                <a:lnTo>
                  <a:pt x="303851" y="0"/>
                </a:lnTo>
                <a:close/>
              </a:path>
            </a:pathLst>
          </a:custGeom>
          <a:solidFill>
            <a:srgbClr val="CC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Remembering</a:t>
            </a:r>
            <a:endParaRPr lang="en-IN" sz="1000" dirty="0"/>
          </a:p>
        </p:txBody>
      </p:sp>
      <p:cxnSp>
        <p:nvCxnSpPr>
          <p:cNvPr id="24" name="Straight Connector 23"/>
          <p:cNvCxnSpPr>
            <a:stCxn id="15" idx="0"/>
          </p:cNvCxnSpPr>
          <p:nvPr/>
        </p:nvCxnSpPr>
        <p:spPr>
          <a:xfrm>
            <a:off x="6121556" y="2245892"/>
            <a:ext cx="3263076"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6" name="Straight Connector 25"/>
          <p:cNvCxnSpPr/>
          <p:nvPr/>
        </p:nvCxnSpPr>
        <p:spPr>
          <a:xfrm>
            <a:off x="7463086" y="4641029"/>
            <a:ext cx="3263076"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7" name="Straight Connector 26"/>
          <p:cNvCxnSpPr/>
          <p:nvPr/>
        </p:nvCxnSpPr>
        <p:spPr>
          <a:xfrm>
            <a:off x="8591106" y="6630424"/>
            <a:ext cx="3263076" cy="0"/>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28" name="Right Brace 27"/>
          <p:cNvSpPr/>
          <p:nvPr/>
        </p:nvSpPr>
        <p:spPr>
          <a:xfrm>
            <a:off x="8352537" y="2280182"/>
            <a:ext cx="238569" cy="232655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9" name="Right Brace 28"/>
          <p:cNvSpPr/>
          <p:nvPr/>
        </p:nvSpPr>
        <p:spPr>
          <a:xfrm>
            <a:off x="9160042" y="4675320"/>
            <a:ext cx="224590" cy="193906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0" name="Rectangle 29"/>
          <p:cNvSpPr/>
          <p:nvPr/>
        </p:nvSpPr>
        <p:spPr>
          <a:xfrm>
            <a:off x="8500422" y="2899018"/>
            <a:ext cx="1283369" cy="11384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Higher Order Abilities</a:t>
            </a:r>
            <a:endParaRPr lang="en-IN" dirty="0">
              <a:solidFill>
                <a:schemeClr val="tx1"/>
              </a:solidFill>
            </a:endParaRPr>
          </a:p>
        </p:txBody>
      </p:sp>
      <p:sp>
        <p:nvSpPr>
          <p:cNvPr id="31" name="Rectangle 30"/>
          <p:cNvSpPr/>
          <p:nvPr/>
        </p:nvSpPr>
        <p:spPr>
          <a:xfrm>
            <a:off x="9433008" y="5332368"/>
            <a:ext cx="1536032" cy="561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Lower Order Abilities</a:t>
            </a:r>
            <a:endParaRPr lang="en-IN" dirty="0">
              <a:solidFill>
                <a:schemeClr val="tx1"/>
              </a:solidFill>
            </a:endParaRPr>
          </a:p>
        </p:txBody>
      </p:sp>
      <p:cxnSp>
        <p:nvCxnSpPr>
          <p:cNvPr id="33" name="Straight Arrow Connector 32"/>
          <p:cNvCxnSpPr/>
          <p:nvPr/>
        </p:nvCxnSpPr>
        <p:spPr>
          <a:xfrm flipV="1">
            <a:off x="3288365" y="2343953"/>
            <a:ext cx="0" cy="41439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4" name="Rectangle 33"/>
          <p:cNvSpPr/>
          <p:nvPr/>
        </p:nvSpPr>
        <p:spPr>
          <a:xfrm rot="16200000">
            <a:off x="1645883" y="3905773"/>
            <a:ext cx="2228497" cy="4875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Higher Order Abilities</a:t>
            </a:r>
            <a:endParaRPr lang="en-IN" dirty="0">
              <a:solidFill>
                <a:schemeClr val="tx1"/>
              </a:solidFill>
            </a:endParaRPr>
          </a:p>
        </p:txBody>
      </p:sp>
    </p:spTree>
    <p:extLst>
      <p:ext uri="{BB962C8B-B14F-4D97-AF65-F5344CB8AC3E}">
        <p14:creationId xmlns:p14="http://schemas.microsoft.com/office/powerpoint/2010/main" val="6982768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93654"/>
          </a:xfrm>
        </p:spPr>
        <p:txBody>
          <a:bodyPr>
            <a:normAutofit/>
          </a:bodyPr>
          <a:lstStyle/>
          <a:p>
            <a:pPr algn="ctr"/>
            <a:r>
              <a:rPr lang="en-US" sz="3200" b="1" dirty="0">
                <a:solidFill>
                  <a:srgbClr val="0000FF"/>
                </a:solidFill>
              </a:rPr>
              <a:t>Tools of Critical Thinking</a:t>
            </a:r>
            <a:endParaRPr lang="en-IN" b="1" dirty="0">
              <a:solidFill>
                <a:srgbClr val="0000FF"/>
              </a:solidFill>
            </a:endParaRPr>
          </a:p>
        </p:txBody>
      </p:sp>
      <p:sp>
        <p:nvSpPr>
          <p:cNvPr id="3" name="Content Placeholder 2"/>
          <p:cNvSpPr>
            <a:spLocks noGrp="1"/>
          </p:cNvSpPr>
          <p:nvPr>
            <p:ph idx="1"/>
          </p:nvPr>
        </p:nvSpPr>
        <p:spPr>
          <a:xfrm>
            <a:off x="838200" y="1058779"/>
            <a:ext cx="10515600" cy="5513472"/>
          </a:xfrm>
        </p:spPr>
        <p:txBody>
          <a:bodyPr>
            <a:normAutofit fontScale="92500" lnSpcReduction="20000"/>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indent="0">
              <a:buNone/>
            </a:pPr>
            <a:r>
              <a:rPr lang="en-US" sz="2600" dirty="0"/>
              <a:t>There are four stages in critical thinking:</a:t>
            </a:r>
          </a:p>
          <a:p>
            <a:pPr marL="358775" indent="365125">
              <a:buFont typeface="+mj-lt"/>
              <a:buAutoNum type="romanLcPeriod"/>
            </a:pPr>
            <a:r>
              <a:rPr lang="en-US" sz="2600" dirty="0"/>
              <a:t>Collecting data</a:t>
            </a:r>
          </a:p>
          <a:p>
            <a:pPr marL="358775" indent="365125">
              <a:buFont typeface="+mj-lt"/>
              <a:buAutoNum type="romanLcPeriod"/>
            </a:pPr>
            <a:r>
              <a:rPr lang="en-US" sz="2600" dirty="0"/>
              <a:t>Evaluating it</a:t>
            </a:r>
          </a:p>
          <a:p>
            <a:pPr marL="358775" indent="365125">
              <a:buFont typeface="+mj-lt"/>
              <a:buAutoNum type="romanLcPeriod"/>
            </a:pPr>
            <a:r>
              <a:rPr lang="en-US" sz="2600" dirty="0"/>
              <a:t>Drawing logical conclusions and</a:t>
            </a:r>
          </a:p>
          <a:p>
            <a:pPr marL="358775" indent="365125">
              <a:buFont typeface="+mj-lt"/>
              <a:buAutoNum type="romanLcPeriod"/>
            </a:pPr>
            <a:r>
              <a:rPr lang="en-US" sz="2600" dirty="0"/>
              <a:t>Evaluating the validity of the conclusion</a:t>
            </a:r>
            <a:endParaRPr lang="en-IN" sz="2600" dirty="0"/>
          </a:p>
        </p:txBody>
      </p:sp>
      <p:sp>
        <p:nvSpPr>
          <p:cNvPr id="44" name="Oval 43"/>
          <p:cNvSpPr/>
          <p:nvPr/>
        </p:nvSpPr>
        <p:spPr>
          <a:xfrm>
            <a:off x="1945353" y="1798173"/>
            <a:ext cx="1539041"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Collects Information</a:t>
            </a:r>
            <a:endParaRPr lang="en-IN" sz="1400" dirty="0"/>
          </a:p>
        </p:txBody>
      </p:sp>
      <p:sp>
        <p:nvSpPr>
          <p:cNvPr id="45" name="Oval 44"/>
          <p:cNvSpPr/>
          <p:nvPr/>
        </p:nvSpPr>
        <p:spPr>
          <a:xfrm>
            <a:off x="8736183" y="3157607"/>
            <a:ext cx="1539041" cy="91440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Draws Conclusions (using Logic)</a:t>
            </a:r>
            <a:endParaRPr lang="en-IN" sz="1400" dirty="0"/>
          </a:p>
        </p:txBody>
      </p:sp>
      <p:sp>
        <p:nvSpPr>
          <p:cNvPr id="46" name="Oval 45"/>
          <p:cNvSpPr/>
          <p:nvPr/>
        </p:nvSpPr>
        <p:spPr>
          <a:xfrm>
            <a:off x="5326479" y="3157607"/>
            <a:ext cx="1558488" cy="91440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Evaluates Logical Conclusions</a:t>
            </a:r>
            <a:endParaRPr lang="en-IN" sz="1400" dirty="0"/>
          </a:p>
        </p:txBody>
      </p:sp>
      <p:sp>
        <p:nvSpPr>
          <p:cNvPr id="47" name="Oval 46"/>
          <p:cNvSpPr/>
          <p:nvPr/>
        </p:nvSpPr>
        <p:spPr>
          <a:xfrm>
            <a:off x="8736182" y="1808199"/>
            <a:ext cx="1539042" cy="9304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Evaluates Information</a:t>
            </a:r>
            <a:endParaRPr lang="en-IN" sz="1400" dirty="0"/>
          </a:p>
        </p:txBody>
      </p:sp>
      <p:sp>
        <p:nvSpPr>
          <p:cNvPr id="48" name="Oval 47"/>
          <p:cNvSpPr/>
          <p:nvPr/>
        </p:nvSpPr>
        <p:spPr>
          <a:xfrm>
            <a:off x="5326479" y="1803734"/>
            <a:ext cx="1539042" cy="90883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Collects Information</a:t>
            </a:r>
            <a:endParaRPr lang="en-IN" sz="1400" dirty="0"/>
          </a:p>
        </p:txBody>
      </p:sp>
      <p:sp>
        <p:nvSpPr>
          <p:cNvPr id="49" name="Oval 48"/>
          <p:cNvSpPr/>
          <p:nvPr/>
        </p:nvSpPr>
        <p:spPr>
          <a:xfrm>
            <a:off x="1945352" y="3157608"/>
            <a:ext cx="1539041" cy="91440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Draws Conclusions (without Logic)</a:t>
            </a:r>
            <a:endParaRPr lang="en-IN" sz="1400" dirty="0"/>
          </a:p>
        </p:txBody>
      </p:sp>
      <p:cxnSp>
        <p:nvCxnSpPr>
          <p:cNvPr id="51" name="Straight Connector 50"/>
          <p:cNvCxnSpPr/>
          <p:nvPr/>
        </p:nvCxnSpPr>
        <p:spPr>
          <a:xfrm>
            <a:off x="4133850" y="1058779"/>
            <a:ext cx="0" cy="3013229"/>
          </a:xfrm>
          <a:prstGeom prst="line">
            <a:avLst/>
          </a:prstGeom>
          <a:ln w="19050">
            <a:prstDash val="dash"/>
          </a:ln>
        </p:spPr>
        <p:style>
          <a:lnRef idx="1">
            <a:schemeClr val="dk1"/>
          </a:lnRef>
          <a:fillRef idx="0">
            <a:schemeClr val="dk1"/>
          </a:fillRef>
          <a:effectRef idx="0">
            <a:schemeClr val="dk1"/>
          </a:effectRef>
          <a:fontRef idx="minor">
            <a:schemeClr val="tx1"/>
          </a:fontRef>
        </p:style>
      </p:cxnSp>
      <p:cxnSp>
        <p:nvCxnSpPr>
          <p:cNvPr id="53" name="Straight Arrow Connector 52"/>
          <p:cNvCxnSpPr/>
          <p:nvPr/>
        </p:nvCxnSpPr>
        <p:spPr>
          <a:xfrm>
            <a:off x="7181850" y="2266950"/>
            <a:ext cx="14097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p:cNvCxnSpPr/>
          <p:nvPr/>
        </p:nvCxnSpPr>
        <p:spPr>
          <a:xfrm>
            <a:off x="2705100" y="2757692"/>
            <a:ext cx="0" cy="319157"/>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62" name="Straight Arrow Connector 61"/>
          <p:cNvCxnSpPr/>
          <p:nvPr/>
        </p:nvCxnSpPr>
        <p:spPr>
          <a:xfrm>
            <a:off x="9505950" y="2776742"/>
            <a:ext cx="0" cy="319157"/>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67" name="Straight Arrow Connector 66"/>
          <p:cNvCxnSpPr/>
          <p:nvPr/>
        </p:nvCxnSpPr>
        <p:spPr>
          <a:xfrm flipH="1">
            <a:off x="7181850" y="3619500"/>
            <a:ext cx="14097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8" name="Rectangle 67"/>
          <p:cNvSpPr/>
          <p:nvPr/>
        </p:nvSpPr>
        <p:spPr>
          <a:xfrm>
            <a:off x="1487025" y="1185588"/>
            <a:ext cx="2455693" cy="4540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Non – Critical Thinker</a:t>
            </a:r>
            <a:endParaRPr lang="en-IN" dirty="0">
              <a:solidFill>
                <a:schemeClr val="tx1"/>
              </a:solidFill>
            </a:endParaRPr>
          </a:p>
        </p:txBody>
      </p:sp>
      <p:sp>
        <p:nvSpPr>
          <p:cNvPr id="69" name="Rectangle 68"/>
          <p:cNvSpPr/>
          <p:nvPr/>
        </p:nvSpPr>
        <p:spPr>
          <a:xfrm>
            <a:off x="6515979" y="1185588"/>
            <a:ext cx="2220203" cy="4540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Critical Thinker</a:t>
            </a:r>
            <a:endParaRPr lang="en-IN" dirty="0">
              <a:solidFill>
                <a:schemeClr val="tx1"/>
              </a:solidFill>
            </a:endParaRPr>
          </a:p>
        </p:txBody>
      </p:sp>
    </p:spTree>
    <p:extLst>
      <p:ext uri="{BB962C8B-B14F-4D97-AF65-F5344CB8AC3E}">
        <p14:creationId xmlns:p14="http://schemas.microsoft.com/office/powerpoint/2010/main" val="12378631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7375"/>
          </a:xfrm>
        </p:spPr>
        <p:txBody>
          <a:bodyPr>
            <a:normAutofit/>
          </a:bodyPr>
          <a:lstStyle/>
          <a:p>
            <a:pPr algn="ctr"/>
            <a:r>
              <a:rPr lang="en-US" sz="3200" b="1" dirty="0">
                <a:solidFill>
                  <a:srgbClr val="0000FF"/>
                </a:solidFill>
              </a:rPr>
              <a:t>Stages of Research</a:t>
            </a:r>
            <a:endParaRPr lang="en-IN" sz="3200" b="1" dirty="0">
              <a:solidFill>
                <a:srgbClr val="0000FF"/>
              </a:solidFill>
            </a:endParaRPr>
          </a:p>
        </p:txBody>
      </p:sp>
      <p:sp>
        <p:nvSpPr>
          <p:cNvPr id="4" name="Rectangle 3"/>
          <p:cNvSpPr/>
          <p:nvPr/>
        </p:nvSpPr>
        <p:spPr>
          <a:xfrm>
            <a:off x="4567237" y="1071960"/>
            <a:ext cx="3076575" cy="2174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Selection of Research Area / Topic</a:t>
            </a:r>
            <a:endParaRPr lang="en-IN" sz="1400" dirty="0"/>
          </a:p>
        </p:txBody>
      </p:sp>
      <p:sp>
        <p:nvSpPr>
          <p:cNvPr id="5" name="Rectangle 4"/>
          <p:cNvSpPr/>
          <p:nvPr/>
        </p:nvSpPr>
        <p:spPr>
          <a:xfrm>
            <a:off x="4752975" y="1510407"/>
            <a:ext cx="2686050" cy="2496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Definition of Research Problem</a:t>
            </a:r>
            <a:endParaRPr lang="en-IN" sz="1400" dirty="0"/>
          </a:p>
        </p:txBody>
      </p:sp>
      <p:sp>
        <p:nvSpPr>
          <p:cNvPr id="6" name="Rectangle 5"/>
          <p:cNvSpPr/>
          <p:nvPr/>
        </p:nvSpPr>
        <p:spPr>
          <a:xfrm>
            <a:off x="4371975" y="2041025"/>
            <a:ext cx="3429000" cy="2877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Literature Survey and Reference Collection</a:t>
            </a:r>
            <a:endParaRPr lang="en-IN" sz="1400" dirty="0"/>
          </a:p>
        </p:txBody>
      </p:sp>
      <p:sp>
        <p:nvSpPr>
          <p:cNvPr id="7" name="Rectangle 6"/>
          <p:cNvSpPr/>
          <p:nvPr/>
        </p:nvSpPr>
        <p:spPr>
          <a:xfrm>
            <a:off x="3381375" y="2574169"/>
            <a:ext cx="5410200" cy="3040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Assessment of Current Status and Formulation of Problem Statement</a:t>
            </a:r>
            <a:endParaRPr lang="en-IN" sz="1400" dirty="0"/>
          </a:p>
        </p:txBody>
      </p:sp>
      <p:sp>
        <p:nvSpPr>
          <p:cNvPr id="8" name="Rectangle 7"/>
          <p:cNvSpPr/>
          <p:nvPr/>
        </p:nvSpPr>
        <p:spPr>
          <a:xfrm>
            <a:off x="2343150" y="3143262"/>
            <a:ext cx="2076450" cy="2885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Modeling New Theories</a:t>
            </a:r>
            <a:endParaRPr lang="en-IN" sz="1400" dirty="0"/>
          </a:p>
        </p:txBody>
      </p:sp>
      <p:sp>
        <p:nvSpPr>
          <p:cNvPr id="9" name="Rectangle 8"/>
          <p:cNvSpPr/>
          <p:nvPr/>
        </p:nvSpPr>
        <p:spPr>
          <a:xfrm>
            <a:off x="8077200" y="3150625"/>
            <a:ext cx="1428750" cy="3190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Existing Models</a:t>
            </a:r>
            <a:endParaRPr lang="en-IN" sz="1400" dirty="0"/>
          </a:p>
        </p:txBody>
      </p:sp>
      <p:sp>
        <p:nvSpPr>
          <p:cNvPr id="10" name="Rectangle 9"/>
          <p:cNvSpPr/>
          <p:nvPr/>
        </p:nvSpPr>
        <p:spPr>
          <a:xfrm>
            <a:off x="4867275" y="3678858"/>
            <a:ext cx="2438400" cy="2432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Formulation of Hypothesis</a:t>
            </a:r>
            <a:endParaRPr lang="en-IN" sz="1400" dirty="0"/>
          </a:p>
        </p:txBody>
      </p:sp>
      <p:sp>
        <p:nvSpPr>
          <p:cNvPr id="11" name="Rectangle 10"/>
          <p:cNvSpPr/>
          <p:nvPr/>
        </p:nvSpPr>
        <p:spPr>
          <a:xfrm>
            <a:off x="4357687" y="4206460"/>
            <a:ext cx="3486150" cy="3057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Research Design – Materials and Methods</a:t>
            </a:r>
            <a:endParaRPr lang="en-IN" sz="1400" dirty="0"/>
          </a:p>
        </p:txBody>
      </p:sp>
      <p:sp>
        <p:nvSpPr>
          <p:cNvPr id="12" name="Rectangle 11"/>
          <p:cNvSpPr/>
          <p:nvPr/>
        </p:nvSpPr>
        <p:spPr>
          <a:xfrm>
            <a:off x="3595687" y="4817956"/>
            <a:ext cx="4981575" cy="2724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Conduct of Experiments (Actual Investigations and Collect Data)</a:t>
            </a:r>
            <a:endParaRPr lang="en-IN" sz="1400" dirty="0"/>
          </a:p>
        </p:txBody>
      </p:sp>
      <p:sp>
        <p:nvSpPr>
          <p:cNvPr id="13" name="Rectangle 12"/>
          <p:cNvSpPr/>
          <p:nvPr/>
        </p:nvSpPr>
        <p:spPr>
          <a:xfrm>
            <a:off x="5486399" y="5345082"/>
            <a:ext cx="1238250" cy="2883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Data Analysis</a:t>
            </a:r>
            <a:endParaRPr lang="en-IN" sz="1400" dirty="0"/>
          </a:p>
        </p:txBody>
      </p:sp>
      <p:sp>
        <p:nvSpPr>
          <p:cNvPr id="14" name="Rectangle 13"/>
          <p:cNvSpPr/>
          <p:nvPr/>
        </p:nvSpPr>
        <p:spPr>
          <a:xfrm>
            <a:off x="5086349" y="5844729"/>
            <a:ext cx="2038350" cy="3509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Interpretation of Results</a:t>
            </a:r>
            <a:endParaRPr lang="en-IN" sz="1400" dirty="0"/>
          </a:p>
        </p:txBody>
      </p:sp>
      <p:sp>
        <p:nvSpPr>
          <p:cNvPr id="15" name="Rectangle 14"/>
          <p:cNvSpPr/>
          <p:nvPr/>
        </p:nvSpPr>
        <p:spPr>
          <a:xfrm>
            <a:off x="5019674" y="6353031"/>
            <a:ext cx="2171700" cy="3672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Findings and Conclusions</a:t>
            </a:r>
            <a:endParaRPr lang="en-IN" sz="1400" dirty="0"/>
          </a:p>
        </p:txBody>
      </p:sp>
      <p:cxnSp>
        <p:nvCxnSpPr>
          <p:cNvPr id="17" name="Straight Arrow Connector 16"/>
          <p:cNvCxnSpPr>
            <a:endCxn id="5" idx="0"/>
          </p:cNvCxnSpPr>
          <p:nvPr/>
        </p:nvCxnSpPr>
        <p:spPr>
          <a:xfrm flipH="1">
            <a:off x="6096000" y="1289447"/>
            <a:ext cx="4762" cy="2209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p:cNvCxnSpPr/>
          <p:nvPr/>
        </p:nvCxnSpPr>
        <p:spPr>
          <a:xfrm>
            <a:off x="6097106" y="1763259"/>
            <a:ext cx="1" cy="2724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p:cNvCxnSpPr/>
          <p:nvPr/>
        </p:nvCxnSpPr>
        <p:spPr>
          <a:xfrm>
            <a:off x="6097106" y="2328760"/>
            <a:ext cx="1" cy="2454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p:cNvCxnSpPr/>
          <p:nvPr/>
        </p:nvCxnSpPr>
        <p:spPr>
          <a:xfrm flipH="1">
            <a:off x="6097106" y="3922143"/>
            <a:ext cx="1" cy="2724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p:cNvCxnSpPr>
            <a:stCxn id="11" idx="2"/>
          </p:cNvCxnSpPr>
          <p:nvPr/>
        </p:nvCxnSpPr>
        <p:spPr>
          <a:xfrm flipH="1">
            <a:off x="6096000" y="4512253"/>
            <a:ext cx="4762" cy="28431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p:cNvCxnSpPr/>
          <p:nvPr/>
        </p:nvCxnSpPr>
        <p:spPr>
          <a:xfrm>
            <a:off x="6105524" y="5095849"/>
            <a:ext cx="0" cy="2332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p:cNvCxnSpPr/>
          <p:nvPr/>
        </p:nvCxnSpPr>
        <p:spPr>
          <a:xfrm>
            <a:off x="6096000" y="5633412"/>
            <a:ext cx="0" cy="21131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p:cNvCxnSpPr>
            <a:stCxn id="14" idx="2"/>
            <a:endCxn id="15" idx="0"/>
          </p:cNvCxnSpPr>
          <p:nvPr/>
        </p:nvCxnSpPr>
        <p:spPr>
          <a:xfrm>
            <a:off x="6105524" y="6195666"/>
            <a:ext cx="0" cy="1573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p:cNvCxnSpPr/>
          <p:nvPr/>
        </p:nvCxnSpPr>
        <p:spPr>
          <a:xfrm flipH="1">
            <a:off x="4419600" y="3392488"/>
            <a:ext cx="36576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p:cNvCxnSpPr/>
          <p:nvPr/>
        </p:nvCxnSpPr>
        <p:spPr>
          <a:xfrm flipV="1">
            <a:off x="4419600" y="3236182"/>
            <a:ext cx="3657600" cy="115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69" name="Group 68"/>
          <p:cNvGrpSpPr/>
          <p:nvPr/>
        </p:nvGrpSpPr>
        <p:grpSpPr>
          <a:xfrm>
            <a:off x="3381375" y="3431791"/>
            <a:ext cx="1485900" cy="368710"/>
            <a:chOff x="3381375" y="3431791"/>
            <a:chExt cx="1485900" cy="368710"/>
          </a:xfrm>
        </p:grpSpPr>
        <p:cxnSp>
          <p:nvCxnSpPr>
            <p:cNvPr id="55" name="Straight Connector 54"/>
            <p:cNvCxnSpPr>
              <a:stCxn id="8" idx="2"/>
            </p:cNvCxnSpPr>
            <p:nvPr/>
          </p:nvCxnSpPr>
          <p:spPr>
            <a:xfrm>
              <a:off x="3381375" y="3431791"/>
              <a:ext cx="0" cy="360981"/>
            </a:xfrm>
            <a:prstGeom prst="line">
              <a:avLst/>
            </a:prstGeom>
          </p:spPr>
          <p:style>
            <a:lnRef idx="1">
              <a:schemeClr val="dk1"/>
            </a:lnRef>
            <a:fillRef idx="0">
              <a:schemeClr val="dk1"/>
            </a:fillRef>
            <a:effectRef idx="0">
              <a:schemeClr val="dk1"/>
            </a:effectRef>
            <a:fontRef idx="minor">
              <a:schemeClr val="tx1"/>
            </a:fontRef>
          </p:style>
        </p:cxnSp>
        <p:cxnSp>
          <p:nvCxnSpPr>
            <p:cNvPr id="57" name="Straight Arrow Connector 56"/>
            <p:cNvCxnSpPr>
              <a:endCxn id="10" idx="1"/>
            </p:cNvCxnSpPr>
            <p:nvPr/>
          </p:nvCxnSpPr>
          <p:spPr>
            <a:xfrm>
              <a:off x="3381375" y="3792772"/>
              <a:ext cx="1485900" cy="77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cxnSp>
        <p:nvCxnSpPr>
          <p:cNvPr id="62" name="Straight Arrow Connector 61"/>
          <p:cNvCxnSpPr/>
          <p:nvPr/>
        </p:nvCxnSpPr>
        <p:spPr>
          <a:xfrm flipH="1">
            <a:off x="2886323" y="5489247"/>
            <a:ext cx="260007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4" name="Straight Connector 63"/>
          <p:cNvCxnSpPr/>
          <p:nvPr/>
        </p:nvCxnSpPr>
        <p:spPr>
          <a:xfrm flipH="1">
            <a:off x="2886323" y="4954183"/>
            <a:ext cx="1" cy="535064"/>
          </a:xfrm>
          <a:prstGeom prst="line">
            <a:avLst/>
          </a:prstGeom>
        </p:spPr>
        <p:style>
          <a:lnRef idx="1">
            <a:schemeClr val="dk1"/>
          </a:lnRef>
          <a:fillRef idx="0">
            <a:schemeClr val="dk1"/>
          </a:fillRef>
          <a:effectRef idx="0">
            <a:schemeClr val="dk1"/>
          </a:effectRef>
          <a:fontRef idx="minor">
            <a:schemeClr val="tx1"/>
          </a:fontRef>
        </p:style>
      </p:cxnSp>
      <p:cxnSp>
        <p:nvCxnSpPr>
          <p:cNvPr id="66" name="Straight Arrow Connector 65"/>
          <p:cNvCxnSpPr/>
          <p:nvPr/>
        </p:nvCxnSpPr>
        <p:spPr>
          <a:xfrm>
            <a:off x="2886323" y="4961616"/>
            <a:ext cx="70936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70" name="Group 69"/>
          <p:cNvGrpSpPr/>
          <p:nvPr/>
        </p:nvGrpSpPr>
        <p:grpSpPr>
          <a:xfrm flipH="1">
            <a:off x="7305674" y="3424062"/>
            <a:ext cx="1485900" cy="368710"/>
            <a:chOff x="3381375" y="3431791"/>
            <a:chExt cx="1485900" cy="368710"/>
          </a:xfrm>
        </p:grpSpPr>
        <p:cxnSp>
          <p:nvCxnSpPr>
            <p:cNvPr id="71" name="Straight Connector 70"/>
            <p:cNvCxnSpPr/>
            <p:nvPr/>
          </p:nvCxnSpPr>
          <p:spPr>
            <a:xfrm>
              <a:off x="3381375" y="3431791"/>
              <a:ext cx="0" cy="360981"/>
            </a:xfrm>
            <a:prstGeom prst="line">
              <a:avLst/>
            </a:prstGeom>
          </p:spPr>
          <p:style>
            <a:lnRef idx="1">
              <a:schemeClr val="dk1"/>
            </a:lnRef>
            <a:fillRef idx="0">
              <a:schemeClr val="dk1"/>
            </a:fillRef>
            <a:effectRef idx="0">
              <a:schemeClr val="dk1"/>
            </a:effectRef>
            <a:fontRef idx="minor">
              <a:schemeClr val="tx1"/>
            </a:fontRef>
          </p:style>
        </p:cxnSp>
        <p:cxnSp>
          <p:nvCxnSpPr>
            <p:cNvPr id="72" name="Straight Arrow Connector 71"/>
            <p:cNvCxnSpPr/>
            <p:nvPr/>
          </p:nvCxnSpPr>
          <p:spPr>
            <a:xfrm>
              <a:off x="3381375" y="3792772"/>
              <a:ext cx="1485900" cy="77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cxnSp>
        <p:nvCxnSpPr>
          <p:cNvPr id="74" name="Straight Arrow Connector 73"/>
          <p:cNvCxnSpPr/>
          <p:nvPr/>
        </p:nvCxnSpPr>
        <p:spPr>
          <a:xfrm>
            <a:off x="3857626" y="2877030"/>
            <a:ext cx="0" cy="2638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6" name="Straight Arrow Connector 75"/>
          <p:cNvCxnSpPr/>
          <p:nvPr/>
        </p:nvCxnSpPr>
        <p:spPr>
          <a:xfrm>
            <a:off x="8373979" y="2878175"/>
            <a:ext cx="0" cy="2724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8" name="Straight Arrow Connector 77"/>
          <p:cNvCxnSpPr>
            <a:stCxn id="7" idx="1"/>
          </p:cNvCxnSpPr>
          <p:nvPr/>
        </p:nvCxnSpPr>
        <p:spPr>
          <a:xfrm flipH="1">
            <a:off x="2470484" y="2726172"/>
            <a:ext cx="91089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0" name="Straight Connector 79"/>
          <p:cNvCxnSpPr/>
          <p:nvPr/>
        </p:nvCxnSpPr>
        <p:spPr>
          <a:xfrm flipH="1">
            <a:off x="2459950" y="1680180"/>
            <a:ext cx="2293026" cy="15226"/>
          </a:xfrm>
          <a:prstGeom prst="line">
            <a:avLst/>
          </a:prstGeom>
        </p:spPr>
        <p:style>
          <a:lnRef idx="1">
            <a:schemeClr val="dk1"/>
          </a:lnRef>
          <a:fillRef idx="0">
            <a:schemeClr val="dk1"/>
          </a:fillRef>
          <a:effectRef idx="0">
            <a:schemeClr val="dk1"/>
          </a:effectRef>
          <a:fontRef idx="minor">
            <a:schemeClr val="tx1"/>
          </a:fontRef>
        </p:style>
      </p:cxnSp>
      <p:cxnSp>
        <p:nvCxnSpPr>
          <p:cNvPr id="82" name="Straight Connector 81"/>
          <p:cNvCxnSpPr/>
          <p:nvPr/>
        </p:nvCxnSpPr>
        <p:spPr>
          <a:xfrm>
            <a:off x="2459950" y="1710588"/>
            <a:ext cx="10534" cy="1015584"/>
          </a:xfrm>
          <a:prstGeom prst="line">
            <a:avLst/>
          </a:prstGeom>
        </p:spPr>
        <p:style>
          <a:lnRef idx="1">
            <a:schemeClr val="dk1"/>
          </a:lnRef>
          <a:fillRef idx="0">
            <a:schemeClr val="dk1"/>
          </a:fillRef>
          <a:effectRef idx="0">
            <a:schemeClr val="dk1"/>
          </a:effectRef>
          <a:fontRef idx="minor">
            <a:schemeClr val="tx1"/>
          </a:fontRef>
        </p:style>
      </p:cxnSp>
      <p:cxnSp>
        <p:nvCxnSpPr>
          <p:cNvPr id="87" name="Straight Connector 86"/>
          <p:cNvCxnSpPr/>
          <p:nvPr/>
        </p:nvCxnSpPr>
        <p:spPr>
          <a:xfrm flipH="1">
            <a:off x="1037690" y="1600485"/>
            <a:ext cx="3715284" cy="12952"/>
          </a:xfrm>
          <a:prstGeom prst="line">
            <a:avLst/>
          </a:prstGeom>
        </p:spPr>
        <p:style>
          <a:lnRef idx="1">
            <a:schemeClr val="dk1"/>
          </a:lnRef>
          <a:fillRef idx="0">
            <a:schemeClr val="dk1"/>
          </a:fillRef>
          <a:effectRef idx="0">
            <a:schemeClr val="dk1"/>
          </a:effectRef>
          <a:fontRef idx="minor">
            <a:schemeClr val="tx1"/>
          </a:fontRef>
        </p:style>
      </p:cxnSp>
      <p:cxnSp>
        <p:nvCxnSpPr>
          <p:cNvPr id="92" name="Straight Connector 91"/>
          <p:cNvCxnSpPr/>
          <p:nvPr/>
        </p:nvCxnSpPr>
        <p:spPr>
          <a:xfrm>
            <a:off x="1037690" y="1613437"/>
            <a:ext cx="0" cy="4923198"/>
          </a:xfrm>
          <a:prstGeom prst="line">
            <a:avLst/>
          </a:prstGeom>
        </p:spPr>
        <p:style>
          <a:lnRef idx="1">
            <a:schemeClr val="dk1"/>
          </a:lnRef>
          <a:fillRef idx="0">
            <a:schemeClr val="dk1"/>
          </a:fillRef>
          <a:effectRef idx="0">
            <a:schemeClr val="dk1"/>
          </a:effectRef>
          <a:fontRef idx="minor">
            <a:schemeClr val="tx1"/>
          </a:fontRef>
        </p:style>
      </p:cxnSp>
      <p:cxnSp>
        <p:nvCxnSpPr>
          <p:cNvPr id="95" name="Straight Arrow Connector 94"/>
          <p:cNvCxnSpPr>
            <a:stCxn id="15" idx="1"/>
          </p:cNvCxnSpPr>
          <p:nvPr/>
        </p:nvCxnSpPr>
        <p:spPr>
          <a:xfrm flipH="1">
            <a:off x="1037690" y="6536635"/>
            <a:ext cx="3981984" cy="2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5" name="Straight Arrow Connector 104"/>
          <p:cNvCxnSpPr>
            <a:stCxn id="14" idx="3"/>
          </p:cNvCxnSpPr>
          <p:nvPr/>
        </p:nvCxnSpPr>
        <p:spPr>
          <a:xfrm flipV="1">
            <a:off x="7124699" y="6019800"/>
            <a:ext cx="519113" cy="3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9" name="Straight Arrow Connector 108"/>
          <p:cNvCxnSpPr>
            <a:endCxn id="13" idx="3"/>
          </p:cNvCxnSpPr>
          <p:nvPr/>
        </p:nvCxnSpPr>
        <p:spPr>
          <a:xfrm flipH="1">
            <a:off x="6724649" y="5489247"/>
            <a:ext cx="9191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4" name="Straight Connector 113"/>
          <p:cNvCxnSpPr/>
          <p:nvPr/>
        </p:nvCxnSpPr>
        <p:spPr>
          <a:xfrm flipV="1">
            <a:off x="7643812" y="5489247"/>
            <a:ext cx="0" cy="530553"/>
          </a:xfrm>
          <a:prstGeom prst="line">
            <a:avLst/>
          </a:prstGeom>
        </p:spPr>
        <p:style>
          <a:lnRef idx="1">
            <a:schemeClr val="dk1"/>
          </a:lnRef>
          <a:fillRef idx="0">
            <a:schemeClr val="dk1"/>
          </a:fillRef>
          <a:effectRef idx="0">
            <a:schemeClr val="dk1"/>
          </a:effectRef>
          <a:fontRef idx="minor">
            <a:schemeClr val="tx1"/>
          </a:fontRef>
        </p:style>
      </p:cxnSp>
      <p:cxnSp>
        <p:nvCxnSpPr>
          <p:cNvPr id="170" name="Straight Arrow Connector 169"/>
          <p:cNvCxnSpPr/>
          <p:nvPr/>
        </p:nvCxnSpPr>
        <p:spPr>
          <a:xfrm flipH="1">
            <a:off x="7800975" y="2181225"/>
            <a:ext cx="284797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2" name="Straight Connector 171"/>
          <p:cNvCxnSpPr/>
          <p:nvPr/>
        </p:nvCxnSpPr>
        <p:spPr>
          <a:xfrm>
            <a:off x="10658475" y="2181225"/>
            <a:ext cx="0" cy="4355410"/>
          </a:xfrm>
          <a:prstGeom prst="line">
            <a:avLst/>
          </a:prstGeom>
        </p:spPr>
        <p:style>
          <a:lnRef idx="1">
            <a:schemeClr val="dk1"/>
          </a:lnRef>
          <a:fillRef idx="0">
            <a:schemeClr val="dk1"/>
          </a:fillRef>
          <a:effectRef idx="0">
            <a:schemeClr val="dk1"/>
          </a:effectRef>
          <a:fontRef idx="minor">
            <a:schemeClr val="tx1"/>
          </a:fontRef>
        </p:style>
      </p:cxnSp>
      <p:cxnSp>
        <p:nvCxnSpPr>
          <p:cNvPr id="174" name="Straight Connector 173"/>
          <p:cNvCxnSpPr>
            <a:stCxn id="15" idx="3"/>
          </p:cNvCxnSpPr>
          <p:nvPr/>
        </p:nvCxnSpPr>
        <p:spPr>
          <a:xfrm>
            <a:off x="7191374" y="6536635"/>
            <a:ext cx="3467101"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427407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44575"/>
          </a:xfrm>
        </p:spPr>
        <p:txBody>
          <a:bodyPr>
            <a:normAutofit/>
          </a:bodyPr>
          <a:lstStyle/>
          <a:p>
            <a:pPr algn="ctr"/>
            <a:r>
              <a:rPr lang="en-US" sz="3200" b="1" dirty="0">
                <a:solidFill>
                  <a:srgbClr val="0000FF"/>
                </a:solidFill>
              </a:rPr>
              <a:t>Research Problem</a:t>
            </a:r>
            <a:br>
              <a:rPr lang="en-US" sz="3200" b="1" dirty="0">
                <a:solidFill>
                  <a:srgbClr val="0000FF"/>
                </a:solidFill>
              </a:rPr>
            </a:br>
            <a:r>
              <a:rPr lang="en-US" sz="3200" b="1" dirty="0">
                <a:solidFill>
                  <a:srgbClr val="FF0000"/>
                </a:solidFill>
              </a:rPr>
              <a:t>Identification of Research Area and Topic</a:t>
            </a:r>
            <a:endParaRPr lang="en-IN" sz="3200" b="1" dirty="0">
              <a:solidFill>
                <a:srgbClr val="FF0000"/>
              </a:solidFill>
            </a:endParaRPr>
          </a:p>
        </p:txBody>
      </p:sp>
      <p:sp>
        <p:nvSpPr>
          <p:cNvPr id="3" name="Content Placeholder 2"/>
          <p:cNvSpPr>
            <a:spLocks noGrp="1"/>
          </p:cNvSpPr>
          <p:nvPr>
            <p:ph idx="1"/>
          </p:nvPr>
        </p:nvSpPr>
        <p:spPr>
          <a:xfrm>
            <a:off x="838200" y="1409700"/>
            <a:ext cx="10515600" cy="5448300"/>
          </a:xfrm>
        </p:spPr>
        <p:txBody>
          <a:bodyPr>
            <a:normAutofit fontScale="70000" lnSpcReduction="20000"/>
          </a:bodyPr>
          <a:lstStyle/>
          <a:p>
            <a:pPr lvl="0"/>
            <a:r>
              <a:rPr lang="en-US" sz="3400" dirty="0"/>
              <a:t>Choice of Research Area of the problem maybe motivated by:</a:t>
            </a:r>
            <a:endParaRPr lang="en-IN" sz="3400" dirty="0"/>
          </a:p>
          <a:p>
            <a:pPr marL="533400" indent="-266700">
              <a:buFont typeface="Wingdings" panose="05000000000000000000" pitchFamily="2" charset="2"/>
              <a:buChar char="Ø"/>
            </a:pPr>
            <a:r>
              <a:rPr lang="en-US" sz="3400" dirty="0"/>
              <a:t>Interest of the researcher due to self or other close associates</a:t>
            </a:r>
            <a:endParaRPr lang="en-IN" sz="3400" dirty="0"/>
          </a:p>
          <a:p>
            <a:pPr marL="533400" indent="-266700">
              <a:buFont typeface="Wingdings" panose="05000000000000000000" pitchFamily="2" charset="2"/>
              <a:buChar char="Ø"/>
            </a:pPr>
            <a:r>
              <a:rPr lang="en-US" sz="3400" dirty="0"/>
              <a:t>Previous domain knowledge of the researcher</a:t>
            </a:r>
            <a:endParaRPr lang="en-IN" sz="3400" dirty="0"/>
          </a:p>
          <a:p>
            <a:pPr marL="533400" indent="-266700">
              <a:buFont typeface="Wingdings" panose="05000000000000000000" pitchFamily="2" charset="2"/>
              <a:buChar char="Ø"/>
            </a:pPr>
            <a:r>
              <a:rPr lang="en-US" sz="3400" dirty="0"/>
              <a:t>Results of a critical literature survey of the donna in/area of interest</a:t>
            </a:r>
            <a:endParaRPr lang="en-IN" sz="3400" dirty="0"/>
          </a:p>
          <a:p>
            <a:pPr lvl="0"/>
            <a:r>
              <a:rPr lang="en-US" sz="3400" dirty="0"/>
              <a:t>A guide can supervise, but it is the student who has to decide on</a:t>
            </a:r>
            <a:r>
              <a:rPr lang="en-IN" sz="3400" dirty="0"/>
              <a:t> </a:t>
            </a:r>
            <a:r>
              <a:rPr lang="en-US" sz="3400" dirty="0"/>
              <a:t>the research </a:t>
            </a:r>
          </a:p>
          <a:p>
            <a:pPr marL="0" lvl="0" indent="0">
              <a:buNone/>
            </a:pPr>
            <a:r>
              <a:rPr lang="en-US" sz="3400" dirty="0"/>
              <a:t>   area, topic and particular problem</a:t>
            </a:r>
            <a:endParaRPr lang="en-IN" sz="3400" dirty="0"/>
          </a:p>
          <a:p>
            <a:pPr lvl="0"/>
            <a:r>
              <a:rPr lang="en-US" sz="3400" dirty="0"/>
              <a:t>Important points to be taken into account </a:t>
            </a:r>
          </a:p>
          <a:p>
            <a:pPr marL="533400" lvl="0" indent="-266700">
              <a:buFont typeface="Wingdings" panose="05000000000000000000" pitchFamily="2" charset="2"/>
              <a:buChar char="Ø"/>
            </a:pPr>
            <a:r>
              <a:rPr lang="en-US" sz="3400" dirty="0"/>
              <a:t>Over explored research areas to be avoided </a:t>
            </a:r>
          </a:p>
          <a:p>
            <a:pPr marL="533400" lvl="0" indent="-266700">
              <a:buFont typeface="Wingdings" panose="05000000000000000000" pitchFamily="2" charset="2"/>
              <a:buChar char="Ø"/>
            </a:pPr>
            <a:r>
              <a:rPr lang="en-US" sz="3400" dirty="0"/>
              <a:t>Controversial research areas to be avoided</a:t>
            </a:r>
            <a:endParaRPr lang="en-IN" sz="3400" dirty="0"/>
          </a:p>
          <a:p>
            <a:pPr marL="533400" indent="-266700">
              <a:buFont typeface="Wingdings" panose="05000000000000000000" pitchFamily="2" charset="2"/>
              <a:buChar char="Ø"/>
            </a:pPr>
            <a:r>
              <a:rPr lang="en-US" sz="3400" dirty="0"/>
              <a:t>Very narrow or too vague problems to be avoided</a:t>
            </a:r>
            <a:endParaRPr lang="en-IN" sz="3400" dirty="0"/>
          </a:p>
          <a:p>
            <a:pPr marL="533400" indent="-266700">
              <a:buFont typeface="Wingdings" panose="05000000000000000000" pitchFamily="2" charset="2"/>
              <a:buChar char="Ø"/>
            </a:pPr>
            <a:r>
              <a:rPr lang="en-US" sz="3400" dirty="0"/>
              <a:t>Familiar and feasible subjects (for guide) to be chosen</a:t>
            </a:r>
            <a:endParaRPr lang="en-IN" sz="3400" dirty="0"/>
          </a:p>
          <a:p>
            <a:pPr marL="533400" indent="-266700">
              <a:buFont typeface="Wingdings" panose="05000000000000000000" pitchFamily="2" charset="2"/>
              <a:buChar char="Ø"/>
            </a:pPr>
            <a:r>
              <a:rPr lang="en-US" sz="3400" dirty="0"/>
              <a:t>Research significance, researcher background, cost estimate and</a:t>
            </a:r>
            <a:r>
              <a:rPr lang="en-IN" sz="3400" dirty="0"/>
              <a:t> </a:t>
            </a:r>
            <a:r>
              <a:rPr lang="en-US" sz="3400" dirty="0"/>
              <a:t>time factor to </a:t>
            </a:r>
          </a:p>
          <a:p>
            <a:pPr marL="266700" indent="0">
              <a:buNone/>
            </a:pPr>
            <a:r>
              <a:rPr lang="en-US" sz="3400" dirty="0"/>
              <a:t>    be considered</a:t>
            </a:r>
            <a:endParaRPr lang="en-IN" sz="3400" dirty="0"/>
          </a:p>
          <a:p>
            <a:pPr marL="533400" indent="-266700">
              <a:buFont typeface="Wingdings" panose="05000000000000000000" pitchFamily="2" charset="2"/>
              <a:buChar char="Ø"/>
            </a:pPr>
            <a:r>
              <a:rPr lang="en-US" sz="3400" dirty="0"/>
              <a:t>Preliminary study needed before deciding on the work</a:t>
            </a:r>
            <a:endParaRPr lang="en-IN" sz="3400" dirty="0"/>
          </a:p>
          <a:p>
            <a:endParaRPr lang="en-IN" dirty="0"/>
          </a:p>
        </p:txBody>
      </p:sp>
    </p:spTree>
    <p:extLst>
      <p:ext uri="{BB962C8B-B14F-4D97-AF65-F5344CB8AC3E}">
        <p14:creationId xmlns:p14="http://schemas.microsoft.com/office/powerpoint/2010/main" val="1292786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82675"/>
          </a:xfrm>
        </p:spPr>
        <p:txBody>
          <a:bodyPr>
            <a:normAutofit/>
          </a:bodyPr>
          <a:lstStyle/>
          <a:p>
            <a:pPr algn="ctr"/>
            <a:r>
              <a:rPr lang="en-US" sz="3200" b="1" dirty="0">
                <a:solidFill>
                  <a:srgbClr val="0000FF"/>
                </a:solidFill>
              </a:rPr>
              <a:t>Research Problem</a:t>
            </a:r>
            <a:br>
              <a:rPr lang="en-US" sz="3200" b="1" dirty="0">
                <a:solidFill>
                  <a:srgbClr val="0000FF"/>
                </a:solidFill>
              </a:rPr>
            </a:br>
            <a:r>
              <a:rPr lang="en-US" sz="3200" b="1" dirty="0">
                <a:solidFill>
                  <a:srgbClr val="FF0000"/>
                </a:solidFill>
              </a:rPr>
              <a:t>Identification of Research Area and Topic</a:t>
            </a:r>
            <a:endParaRPr lang="en-IN" sz="3200" b="1" dirty="0"/>
          </a:p>
        </p:txBody>
      </p:sp>
      <p:sp>
        <p:nvSpPr>
          <p:cNvPr id="3" name="Content Placeholder 2"/>
          <p:cNvSpPr>
            <a:spLocks noGrp="1"/>
          </p:cNvSpPr>
          <p:nvPr>
            <p:ph idx="1"/>
          </p:nvPr>
        </p:nvSpPr>
        <p:spPr>
          <a:xfrm>
            <a:off x="838200" y="1447800"/>
            <a:ext cx="10515600" cy="4729163"/>
          </a:xfrm>
        </p:spPr>
        <p:txBody>
          <a:bodyPr/>
          <a:lstStyle/>
          <a:p>
            <a:pPr marL="361950" lvl="1" indent="-361950"/>
            <a:r>
              <a:rPr lang="en-US" dirty="0"/>
              <a:t>Choice of Research Topic is identified based on combination of</a:t>
            </a:r>
            <a:endParaRPr lang="en-IN" dirty="0"/>
          </a:p>
          <a:p>
            <a:pPr marL="895350" indent="-361950">
              <a:buFont typeface="Wingdings" panose="05000000000000000000" pitchFamily="2" charset="2"/>
              <a:buChar char="Ø"/>
            </a:pPr>
            <a:r>
              <a:rPr lang="en-US" sz="2400" dirty="0"/>
              <a:t>Specialization </a:t>
            </a:r>
          </a:p>
          <a:p>
            <a:pPr marL="895350" indent="-361950">
              <a:buFont typeface="Wingdings" panose="05000000000000000000" pitchFamily="2" charset="2"/>
              <a:buChar char="Ø"/>
            </a:pPr>
            <a:r>
              <a:rPr lang="en-US" sz="2400" dirty="0"/>
              <a:t>Domain knowledge</a:t>
            </a:r>
            <a:endParaRPr lang="en-IN" sz="2400" dirty="0"/>
          </a:p>
          <a:p>
            <a:pPr marL="895350" indent="-361950">
              <a:buFont typeface="Wingdings" panose="05000000000000000000" pitchFamily="2" charset="2"/>
              <a:buChar char="Ø"/>
            </a:pPr>
            <a:r>
              <a:rPr lang="en-US" sz="2400" dirty="0"/>
              <a:t>Interesting or challenging topic</a:t>
            </a:r>
            <a:endParaRPr lang="en-IN" sz="2400" dirty="0"/>
          </a:p>
          <a:p>
            <a:pPr marL="895350" indent="-361950">
              <a:buFont typeface="Wingdings" panose="05000000000000000000" pitchFamily="2" charset="2"/>
              <a:buChar char="Ø"/>
            </a:pPr>
            <a:r>
              <a:rPr lang="en-US" sz="2400" dirty="0"/>
              <a:t>Doable within a specific time frame </a:t>
            </a:r>
          </a:p>
          <a:p>
            <a:pPr marL="895350" indent="-361950">
              <a:buFont typeface="Wingdings" panose="05000000000000000000" pitchFamily="2" charset="2"/>
              <a:buChar char="Ø"/>
            </a:pPr>
            <a:r>
              <a:rPr lang="en-US" sz="2400" dirty="0"/>
              <a:t>Guidance of supervisor</a:t>
            </a:r>
            <a:endParaRPr lang="en-IN" sz="2400" dirty="0"/>
          </a:p>
          <a:p>
            <a:pPr marL="895350" indent="-361950">
              <a:buFont typeface="Wingdings" panose="05000000000000000000" pitchFamily="2" charset="2"/>
              <a:buChar char="Ø"/>
            </a:pPr>
            <a:r>
              <a:rPr lang="en-US" sz="2400" dirty="0"/>
              <a:t>Discussion with peers and experts</a:t>
            </a:r>
            <a:endParaRPr lang="en-IN" sz="2400" dirty="0"/>
          </a:p>
          <a:p>
            <a:pPr marL="895350" indent="-361950">
              <a:buFont typeface="Wingdings" panose="05000000000000000000" pitchFamily="2" charset="2"/>
              <a:buChar char="Ø"/>
            </a:pPr>
            <a:r>
              <a:rPr lang="en-US" sz="2400" dirty="0"/>
              <a:t>Critical literature survey to identify gaps of knowledge</a:t>
            </a:r>
            <a:endParaRPr lang="en-IN" sz="2400" dirty="0"/>
          </a:p>
          <a:p>
            <a:pPr marL="895350" indent="-361950">
              <a:buFont typeface="Wingdings" panose="05000000000000000000" pitchFamily="2" charset="2"/>
              <a:buChar char="Ø"/>
            </a:pPr>
            <a:endParaRPr lang="en-IN" dirty="0"/>
          </a:p>
        </p:txBody>
      </p:sp>
    </p:spTree>
    <p:extLst>
      <p:ext uri="{BB962C8B-B14F-4D97-AF65-F5344CB8AC3E}">
        <p14:creationId xmlns:p14="http://schemas.microsoft.com/office/powerpoint/2010/main" val="21056295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87425"/>
          </a:xfrm>
        </p:spPr>
        <p:txBody>
          <a:bodyPr>
            <a:normAutofit/>
          </a:bodyPr>
          <a:lstStyle/>
          <a:p>
            <a:pPr algn="ctr"/>
            <a:r>
              <a:rPr lang="en-US" sz="3200" b="1" dirty="0">
                <a:solidFill>
                  <a:srgbClr val="0000FF"/>
                </a:solidFill>
              </a:rPr>
              <a:t>Research Problem</a:t>
            </a:r>
            <a:br>
              <a:rPr lang="en-US" sz="3200" b="1" dirty="0">
                <a:solidFill>
                  <a:srgbClr val="0000FF"/>
                </a:solidFill>
              </a:rPr>
            </a:br>
            <a:r>
              <a:rPr lang="en-US" sz="3200" b="1" dirty="0">
                <a:solidFill>
                  <a:srgbClr val="FF0000"/>
                </a:solidFill>
              </a:rPr>
              <a:t>Originality (Novelty)of Research Area and Topic</a:t>
            </a:r>
            <a:endParaRPr lang="en-IN" sz="3200" dirty="0"/>
          </a:p>
        </p:txBody>
      </p:sp>
      <p:sp>
        <p:nvSpPr>
          <p:cNvPr id="3" name="Content Placeholder 2"/>
          <p:cNvSpPr>
            <a:spLocks noGrp="1"/>
          </p:cNvSpPr>
          <p:nvPr>
            <p:ph idx="1"/>
          </p:nvPr>
        </p:nvSpPr>
        <p:spPr>
          <a:xfrm>
            <a:off x="838200" y="1352550"/>
            <a:ext cx="10515600" cy="4824413"/>
          </a:xfrm>
        </p:spPr>
        <p:txBody>
          <a:bodyPr>
            <a:normAutofit/>
          </a:bodyPr>
          <a:lstStyle/>
          <a:p>
            <a:pPr marL="0" indent="0">
              <a:lnSpc>
                <a:spcPct val="100000"/>
              </a:lnSpc>
              <a:buNone/>
            </a:pPr>
            <a:r>
              <a:rPr lang="en-US" sz="2400" dirty="0"/>
              <a:t>The originality can be confined to:</a:t>
            </a:r>
            <a:endParaRPr lang="en-IN" sz="2400" dirty="0"/>
          </a:p>
          <a:p>
            <a:pPr lvl="1">
              <a:lnSpc>
                <a:spcPct val="100000"/>
              </a:lnSpc>
            </a:pPr>
            <a:r>
              <a:rPr lang="en-US" dirty="0"/>
              <a:t>New interpretation to support known facts</a:t>
            </a:r>
            <a:endParaRPr lang="en-IN" dirty="0"/>
          </a:p>
          <a:p>
            <a:pPr marL="0" indent="0">
              <a:lnSpc>
                <a:spcPct val="100000"/>
              </a:lnSpc>
              <a:buNone/>
            </a:pPr>
            <a:r>
              <a:rPr lang="en-US" sz="2400" i="1" dirty="0"/>
              <a:t>	e.g. COVID infection using known spike protein amino acid sequence</a:t>
            </a:r>
            <a:endParaRPr lang="en-IN" sz="2400" dirty="0"/>
          </a:p>
          <a:p>
            <a:pPr lvl="1">
              <a:lnSpc>
                <a:spcPct val="100000"/>
              </a:lnSpc>
            </a:pPr>
            <a:r>
              <a:rPr lang="en-US" dirty="0"/>
              <a:t>Unearthing new evidences to support known facts</a:t>
            </a:r>
            <a:endParaRPr lang="en-IN" dirty="0"/>
          </a:p>
          <a:p>
            <a:pPr marL="0" indent="0">
              <a:lnSpc>
                <a:spcPct val="100000"/>
              </a:lnSpc>
              <a:buNone/>
            </a:pPr>
            <a:r>
              <a:rPr lang="en-US" sz="2400" i="1" dirty="0"/>
              <a:t>	e.g. Mutant COVID infection using new spike protein amino acid sequence</a:t>
            </a:r>
            <a:endParaRPr lang="en-IN" sz="2400" dirty="0"/>
          </a:p>
          <a:p>
            <a:pPr lvl="1">
              <a:lnSpc>
                <a:spcPct val="100000"/>
              </a:lnSpc>
            </a:pPr>
            <a:r>
              <a:rPr lang="en-US" dirty="0"/>
              <a:t>Proposing new concept to explain a known phenomena </a:t>
            </a:r>
          </a:p>
          <a:p>
            <a:pPr marL="914400" lvl="2" indent="0">
              <a:lnSpc>
                <a:spcPct val="100000"/>
              </a:lnSpc>
              <a:buNone/>
            </a:pPr>
            <a:r>
              <a:rPr lang="en-US" sz="2400" i="1" dirty="0"/>
              <a:t>e.g. cellular signaling mechanism involving progression of a disease, say cancer metastasis</a:t>
            </a:r>
            <a:endParaRPr lang="en-IN" sz="2400" dirty="0"/>
          </a:p>
          <a:p>
            <a:pPr lvl="1">
              <a:lnSpc>
                <a:spcPct val="100000"/>
              </a:lnSpc>
            </a:pPr>
            <a:r>
              <a:rPr lang="en-US" dirty="0"/>
              <a:t>Proposing a new model to explain a known phenomena </a:t>
            </a:r>
          </a:p>
          <a:p>
            <a:pPr marL="457200" lvl="1" indent="0">
              <a:lnSpc>
                <a:spcPct val="100000"/>
              </a:lnSpc>
              <a:buNone/>
            </a:pPr>
            <a:r>
              <a:rPr lang="en-US" i="1" dirty="0"/>
              <a:t>	e.g. mathematical model predicting the descent of a rover onto the surface 	of the Moon</a:t>
            </a:r>
            <a:endParaRPr lang="en-IN" dirty="0"/>
          </a:p>
          <a:p>
            <a:pPr>
              <a:lnSpc>
                <a:spcPct val="100000"/>
              </a:lnSpc>
            </a:pPr>
            <a:endParaRPr lang="en-IN" dirty="0"/>
          </a:p>
        </p:txBody>
      </p:sp>
    </p:spTree>
    <p:extLst>
      <p:ext uri="{BB962C8B-B14F-4D97-AF65-F5344CB8AC3E}">
        <p14:creationId xmlns:p14="http://schemas.microsoft.com/office/powerpoint/2010/main" val="29429989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74208"/>
          </a:xfrm>
        </p:spPr>
        <p:txBody>
          <a:bodyPr>
            <a:normAutofit/>
          </a:bodyPr>
          <a:lstStyle/>
          <a:p>
            <a:pPr algn="ctr"/>
            <a:r>
              <a:rPr lang="en-US" sz="3200" b="1" dirty="0">
                <a:solidFill>
                  <a:srgbClr val="0000FF"/>
                </a:solidFill>
              </a:rPr>
              <a:t>Research Problem</a:t>
            </a:r>
            <a:br>
              <a:rPr lang="en-US" sz="3200" b="1" dirty="0">
                <a:solidFill>
                  <a:srgbClr val="0000FF"/>
                </a:solidFill>
              </a:rPr>
            </a:br>
            <a:r>
              <a:rPr lang="en-US" sz="3200" b="1" dirty="0">
                <a:solidFill>
                  <a:srgbClr val="FF0000"/>
                </a:solidFill>
              </a:rPr>
              <a:t>Originality (Novelty)of Research Area and Topic</a:t>
            </a:r>
            <a:endParaRPr lang="en-IN" sz="3200" dirty="0"/>
          </a:p>
        </p:txBody>
      </p:sp>
      <p:sp>
        <p:nvSpPr>
          <p:cNvPr id="3" name="Content Placeholder 2"/>
          <p:cNvSpPr>
            <a:spLocks noGrp="1"/>
          </p:cNvSpPr>
          <p:nvPr>
            <p:ph idx="1"/>
          </p:nvPr>
        </p:nvSpPr>
        <p:spPr>
          <a:xfrm>
            <a:off x="838200" y="1439334"/>
            <a:ext cx="10515600" cy="4737629"/>
          </a:xfrm>
        </p:spPr>
        <p:txBody>
          <a:bodyPr>
            <a:normAutofit fontScale="85000" lnSpcReduction="10000"/>
          </a:bodyPr>
          <a:lstStyle/>
          <a:p>
            <a:pPr lvl="0">
              <a:lnSpc>
                <a:spcPct val="110000"/>
              </a:lnSpc>
            </a:pPr>
            <a:r>
              <a:rPr lang="en-US" dirty="0"/>
              <a:t>Utilization of a novel technique in an untested area</a:t>
            </a:r>
            <a:endParaRPr lang="en-IN" dirty="0"/>
          </a:p>
          <a:p>
            <a:pPr marL="0" indent="0">
              <a:lnSpc>
                <a:spcPct val="110000"/>
              </a:lnSpc>
              <a:buNone/>
            </a:pPr>
            <a:r>
              <a:rPr lang="en-US" i="1" dirty="0"/>
              <a:t>	e.g. mass spectrometry based </a:t>
            </a:r>
            <a:r>
              <a:rPr lang="en-US" i="1" dirty="0" err="1"/>
              <a:t>secretomics</a:t>
            </a:r>
            <a:r>
              <a:rPr lang="en-US" i="1" dirty="0"/>
              <a:t> for cancer biomarker discovery</a:t>
            </a:r>
            <a:endParaRPr lang="en-IN" dirty="0"/>
          </a:p>
          <a:p>
            <a:pPr lvl="0">
              <a:lnSpc>
                <a:spcPct val="110000"/>
              </a:lnSpc>
            </a:pPr>
            <a:r>
              <a:rPr lang="en-US" dirty="0"/>
              <a:t>Utilization of a novel methodology to solve a known problem</a:t>
            </a:r>
            <a:endParaRPr lang="en-IN" dirty="0"/>
          </a:p>
          <a:p>
            <a:pPr marL="0" indent="0">
              <a:lnSpc>
                <a:spcPct val="110000"/>
              </a:lnSpc>
              <a:buNone/>
            </a:pPr>
            <a:r>
              <a:rPr lang="en-US" i="1" dirty="0"/>
              <a:t>	e.g. controlled real-time response based release of insulin</a:t>
            </a:r>
            <a:r>
              <a:rPr lang="en-IN" dirty="0"/>
              <a:t> </a:t>
            </a:r>
            <a:r>
              <a:rPr lang="en-US" i="1" dirty="0"/>
              <a:t>into the blood 	stream </a:t>
            </a:r>
            <a:r>
              <a:rPr lang="en-US" dirty="0"/>
              <a:t>to maintain </a:t>
            </a:r>
            <a:r>
              <a:rPr lang="en-US" i="1" dirty="0"/>
              <a:t>sugar level</a:t>
            </a:r>
            <a:endParaRPr lang="en-IN" dirty="0"/>
          </a:p>
          <a:p>
            <a:pPr lvl="0">
              <a:lnSpc>
                <a:spcPct val="110000"/>
              </a:lnSpc>
            </a:pPr>
            <a:r>
              <a:rPr lang="en-US" dirty="0"/>
              <a:t>Empirical work that is not repeat of an earlier work</a:t>
            </a:r>
            <a:endParaRPr lang="en-IN" dirty="0"/>
          </a:p>
          <a:p>
            <a:pPr lvl="0">
              <a:lnSpc>
                <a:spcPct val="110000"/>
              </a:lnSpc>
            </a:pPr>
            <a:r>
              <a:rPr lang="en-US" dirty="0"/>
              <a:t>Furthering the work of some earlier researcher as suggested in his/her thesis or publication</a:t>
            </a:r>
            <a:endParaRPr lang="en-IN" dirty="0"/>
          </a:p>
          <a:p>
            <a:pPr marL="0" indent="0">
              <a:lnSpc>
                <a:spcPct val="110000"/>
              </a:lnSpc>
              <a:buNone/>
            </a:pPr>
            <a:r>
              <a:rPr lang="en-US" dirty="0">
                <a:solidFill>
                  <a:srgbClr val="FF0000"/>
                </a:solidFill>
              </a:rPr>
              <a:t>Creative and critical thinning should foster cross-breeding of</a:t>
            </a:r>
            <a:r>
              <a:rPr lang="en-IN" dirty="0">
                <a:solidFill>
                  <a:srgbClr val="FF0000"/>
                </a:solidFill>
              </a:rPr>
              <a:t> </a:t>
            </a:r>
            <a:r>
              <a:rPr lang="en-US" dirty="0">
                <a:solidFill>
                  <a:srgbClr val="FF0000"/>
                </a:solidFill>
              </a:rPr>
              <a:t>ideas and applications in different contexts to solve problems</a:t>
            </a:r>
            <a:r>
              <a:rPr lang="en-IN" dirty="0">
                <a:solidFill>
                  <a:srgbClr val="FF0000"/>
                </a:solidFill>
              </a:rPr>
              <a:t>.</a:t>
            </a:r>
          </a:p>
        </p:txBody>
      </p:sp>
    </p:spTree>
    <p:extLst>
      <p:ext uri="{BB962C8B-B14F-4D97-AF65-F5344CB8AC3E}">
        <p14:creationId xmlns:p14="http://schemas.microsoft.com/office/powerpoint/2010/main" val="41201481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87425"/>
          </a:xfrm>
        </p:spPr>
        <p:txBody>
          <a:bodyPr>
            <a:normAutofit/>
          </a:bodyPr>
          <a:lstStyle/>
          <a:p>
            <a:pPr algn="ctr"/>
            <a:r>
              <a:rPr lang="en-US" sz="3200" b="1" dirty="0">
                <a:solidFill>
                  <a:srgbClr val="0000FF"/>
                </a:solidFill>
              </a:rPr>
              <a:t>Research Problem</a:t>
            </a:r>
            <a:br>
              <a:rPr lang="en-US" sz="3200" b="1" dirty="0">
                <a:solidFill>
                  <a:srgbClr val="0000FF"/>
                </a:solidFill>
              </a:rPr>
            </a:br>
            <a:r>
              <a:rPr lang="en-US" sz="3200" b="1" dirty="0">
                <a:solidFill>
                  <a:srgbClr val="FF0000"/>
                </a:solidFill>
              </a:rPr>
              <a:t>Approach for Selection of Research Area and Topic</a:t>
            </a:r>
            <a:endParaRPr lang="en-IN" sz="3200" dirty="0">
              <a:solidFill>
                <a:srgbClr val="FF0000"/>
              </a:solidFill>
            </a:endParaRPr>
          </a:p>
        </p:txBody>
      </p:sp>
      <p:sp>
        <p:nvSpPr>
          <p:cNvPr id="3" name="Content Placeholder 2"/>
          <p:cNvSpPr>
            <a:spLocks noGrp="1"/>
          </p:cNvSpPr>
          <p:nvPr>
            <p:ph idx="1"/>
          </p:nvPr>
        </p:nvSpPr>
        <p:spPr>
          <a:xfrm>
            <a:off x="838200" y="1352550"/>
            <a:ext cx="10515600" cy="4824413"/>
          </a:xfrm>
        </p:spPr>
        <p:txBody>
          <a:bodyPr>
            <a:noAutofit/>
          </a:bodyPr>
          <a:lstStyle/>
          <a:p>
            <a:pPr marL="0" indent="0">
              <a:lnSpc>
                <a:spcPct val="120000"/>
              </a:lnSpc>
              <a:buNone/>
            </a:pPr>
            <a:r>
              <a:rPr lang="en-US" sz="2000" dirty="0"/>
              <a:t>There is no universal approach for this! One approach is:</a:t>
            </a:r>
            <a:endParaRPr lang="en-IN" sz="2000" dirty="0"/>
          </a:p>
          <a:p>
            <a:pPr marL="533400" lvl="0" indent="-266700">
              <a:lnSpc>
                <a:spcPct val="120000"/>
              </a:lnSpc>
            </a:pPr>
            <a:r>
              <a:rPr lang="en-US" sz="2000" dirty="0"/>
              <a:t>A direction or research interest area is chosen based on the background </a:t>
            </a:r>
          </a:p>
          <a:p>
            <a:pPr marL="266700" lvl="0" indent="0">
              <a:lnSpc>
                <a:spcPct val="120000"/>
              </a:lnSpc>
              <a:buNone/>
            </a:pPr>
            <a:r>
              <a:rPr lang="en-US" sz="2000" dirty="0"/>
              <a:t>    of the researcher</a:t>
            </a:r>
            <a:endParaRPr lang="en-IN" sz="2000" dirty="0"/>
          </a:p>
          <a:p>
            <a:pPr marL="533400" lvl="0" indent="-266700">
              <a:lnSpc>
                <a:spcPct val="120000"/>
              </a:lnSpc>
            </a:pPr>
            <a:r>
              <a:rPr lang="en-US" sz="2000" dirty="0"/>
              <a:t>A set of keywords is compiled for searching of literature</a:t>
            </a:r>
            <a:endParaRPr lang="en-IN" sz="2000" dirty="0"/>
          </a:p>
          <a:p>
            <a:pPr marL="533400" lvl="0" indent="-266700">
              <a:lnSpc>
                <a:spcPct val="120000"/>
              </a:lnSpc>
            </a:pPr>
            <a:r>
              <a:rPr lang="en-US" sz="2000" dirty="0"/>
              <a:t>A set of recent and well cited review articles, say 15 to 20 is chosen that  is related closely to </a:t>
            </a:r>
          </a:p>
          <a:p>
            <a:pPr marL="266700" lvl="0" indent="0">
              <a:lnSpc>
                <a:spcPct val="120000"/>
              </a:lnSpc>
              <a:buNone/>
            </a:pPr>
            <a:r>
              <a:rPr lang="en-US" sz="2000" dirty="0"/>
              <a:t>    what was chosen as area by the researcher</a:t>
            </a:r>
            <a:endParaRPr lang="en-IN" sz="2000" dirty="0"/>
          </a:p>
          <a:p>
            <a:pPr marL="533400" indent="-266700">
              <a:lnSpc>
                <a:spcPct val="120000"/>
              </a:lnSpc>
            </a:pPr>
            <a:r>
              <a:rPr lang="en-US" sz="2000" dirty="0"/>
              <a:t>The keywords are refined further to identify related recent as well as distant past </a:t>
            </a:r>
          </a:p>
          <a:p>
            <a:pPr marL="266700" indent="0">
              <a:lnSpc>
                <a:spcPct val="120000"/>
              </a:lnSpc>
              <a:buNone/>
            </a:pPr>
            <a:r>
              <a:rPr lang="en-US" sz="2000" dirty="0"/>
              <a:t>     research publications. Cross referencing may be used for literature search.</a:t>
            </a:r>
            <a:endParaRPr lang="en-IN" sz="2000" dirty="0"/>
          </a:p>
          <a:p>
            <a:pPr marL="533400" indent="-266700">
              <a:lnSpc>
                <a:spcPct val="120000"/>
              </a:lnSpc>
            </a:pPr>
            <a:r>
              <a:rPr lang="en-US" sz="2000" dirty="0"/>
              <a:t>The emphasis (problem addressed, challenges overcome, solution proposed, novelty in </a:t>
            </a:r>
          </a:p>
          <a:p>
            <a:pPr marL="266700" indent="0">
              <a:lnSpc>
                <a:spcPct val="120000"/>
              </a:lnSpc>
              <a:buNone/>
            </a:pPr>
            <a:r>
              <a:rPr lang="en-US" sz="2000" dirty="0"/>
              <a:t>     methodology, conclusions </a:t>
            </a:r>
            <a:r>
              <a:rPr lang="en-US" sz="2000" i="1" dirty="0"/>
              <a:t>etc.) </a:t>
            </a:r>
            <a:r>
              <a:rPr lang="en-US" sz="2000" dirty="0"/>
              <a:t>of each article is noted down</a:t>
            </a:r>
            <a:endParaRPr lang="en-IN" sz="2000" dirty="0"/>
          </a:p>
        </p:txBody>
      </p:sp>
    </p:spTree>
    <p:extLst>
      <p:ext uri="{BB962C8B-B14F-4D97-AF65-F5344CB8AC3E}">
        <p14:creationId xmlns:p14="http://schemas.microsoft.com/office/powerpoint/2010/main" val="36332575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06475"/>
          </a:xfrm>
        </p:spPr>
        <p:txBody>
          <a:bodyPr>
            <a:normAutofit/>
          </a:bodyPr>
          <a:lstStyle/>
          <a:p>
            <a:pPr algn="ctr"/>
            <a:r>
              <a:rPr lang="en-US" sz="3200" b="1" dirty="0">
                <a:solidFill>
                  <a:srgbClr val="0000FF"/>
                </a:solidFill>
              </a:rPr>
              <a:t>Research Problem</a:t>
            </a:r>
            <a:br>
              <a:rPr lang="en-US" sz="3200" b="1" dirty="0">
                <a:solidFill>
                  <a:srgbClr val="0000FF"/>
                </a:solidFill>
              </a:rPr>
            </a:br>
            <a:r>
              <a:rPr lang="en-US" sz="3200" b="1" dirty="0">
                <a:solidFill>
                  <a:srgbClr val="FF0000"/>
                </a:solidFill>
              </a:rPr>
              <a:t>Approach for Selection of Research Area and Topic</a:t>
            </a:r>
            <a:endParaRPr lang="en-IN" sz="3200" dirty="0"/>
          </a:p>
        </p:txBody>
      </p:sp>
      <p:sp>
        <p:nvSpPr>
          <p:cNvPr id="3" name="Content Placeholder 2"/>
          <p:cNvSpPr>
            <a:spLocks noGrp="1"/>
          </p:cNvSpPr>
          <p:nvPr>
            <p:ph idx="1"/>
          </p:nvPr>
        </p:nvSpPr>
        <p:spPr>
          <a:xfrm>
            <a:off x="838200" y="1371600"/>
            <a:ext cx="10515600" cy="5086350"/>
          </a:xfrm>
        </p:spPr>
        <p:txBody>
          <a:bodyPr>
            <a:normAutofit fontScale="77500" lnSpcReduction="20000"/>
          </a:bodyPr>
          <a:lstStyle/>
          <a:p>
            <a:pPr lvl="0">
              <a:lnSpc>
                <a:spcPct val="110000"/>
              </a:lnSpc>
            </a:pPr>
            <a:r>
              <a:rPr lang="en-US" sz="2600" dirty="0"/>
              <a:t>The emphasis of the article in following terms is noted:</a:t>
            </a:r>
            <a:endParaRPr lang="en-IN" sz="2600" dirty="0"/>
          </a:p>
          <a:p>
            <a:pPr marL="895350" indent="-361950">
              <a:lnSpc>
                <a:spcPct val="110000"/>
              </a:lnSpc>
              <a:buFont typeface="Wingdings" panose="05000000000000000000" pitchFamily="2" charset="2"/>
              <a:buChar char="Ø"/>
            </a:pPr>
            <a:r>
              <a:rPr lang="en-US" sz="2600" dirty="0"/>
              <a:t>Problem addressed</a:t>
            </a:r>
            <a:endParaRPr lang="en-IN" sz="2600" dirty="0"/>
          </a:p>
          <a:p>
            <a:pPr marL="895350" indent="-361950">
              <a:lnSpc>
                <a:spcPct val="110000"/>
              </a:lnSpc>
              <a:buFont typeface="Wingdings" panose="05000000000000000000" pitchFamily="2" charset="2"/>
              <a:buChar char="Ø"/>
            </a:pPr>
            <a:r>
              <a:rPr lang="en-US" sz="2600" dirty="0"/>
              <a:t>Approach methodology employed — metrics, evaluation tools, data interpretation, result </a:t>
            </a:r>
          </a:p>
          <a:p>
            <a:pPr marL="533400" indent="0">
              <a:lnSpc>
                <a:spcPct val="110000"/>
              </a:lnSpc>
              <a:buNone/>
            </a:pPr>
            <a:r>
              <a:rPr lang="en-US" sz="2600" dirty="0"/>
              <a:t>       analysis</a:t>
            </a:r>
            <a:endParaRPr lang="en-IN" sz="2600" dirty="0"/>
          </a:p>
          <a:p>
            <a:pPr marL="895350" indent="-361950">
              <a:lnSpc>
                <a:spcPct val="110000"/>
              </a:lnSpc>
              <a:buFont typeface="Wingdings" panose="05000000000000000000" pitchFamily="2" charset="2"/>
              <a:buChar char="Ø"/>
            </a:pPr>
            <a:r>
              <a:rPr lang="en-US" sz="2600" dirty="0"/>
              <a:t>Challenges overcome </a:t>
            </a:r>
          </a:p>
          <a:p>
            <a:pPr marL="895350" indent="-361950">
              <a:lnSpc>
                <a:spcPct val="110000"/>
              </a:lnSpc>
              <a:buFont typeface="Wingdings" panose="05000000000000000000" pitchFamily="2" charset="2"/>
              <a:buChar char="Ø"/>
            </a:pPr>
            <a:r>
              <a:rPr lang="en-US" sz="2600" dirty="0"/>
              <a:t>Solutions proposed</a:t>
            </a:r>
            <a:endParaRPr lang="en-IN" sz="2600" dirty="0"/>
          </a:p>
          <a:p>
            <a:pPr marL="895350" indent="-361950">
              <a:lnSpc>
                <a:spcPct val="110000"/>
              </a:lnSpc>
              <a:buFont typeface="Wingdings" panose="05000000000000000000" pitchFamily="2" charset="2"/>
              <a:buChar char="Ø"/>
            </a:pPr>
            <a:r>
              <a:rPr lang="en-US" sz="2600" dirty="0"/>
              <a:t>Significance of conclusions</a:t>
            </a:r>
            <a:endParaRPr lang="en-IN" sz="2600" dirty="0"/>
          </a:p>
          <a:p>
            <a:pPr>
              <a:lnSpc>
                <a:spcPct val="110000"/>
              </a:lnSpc>
            </a:pPr>
            <a:r>
              <a:rPr lang="en-US" sz="2600" dirty="0"/>
              <a:t> Based on this some questions can be asked:</a:t>
            </a:r>
            <a:endParaRPr lang="en-IN" sz="2600" dirty="0"/>
          </a:p>
          <a:p>
            <a:pPr marL="895350" indent="-361950">
              <a:lnSpc>
                <a:spcPct val="110000"/>
              </a:lnSpc>
              <a:buFont typeface="Wingdings" panose="05000000000000000000" pitchFamily="2" charset="2"/>
              <a:buChar char="Ø"/>
            </a:pPr>
            <a:r>
              <a:rPr lang="en-US" sz="2600" dirty="0"/>
              <a:t>Is same approach methods and methodology used in all articles</a:t>
            </a:r>
            <a:r>
              <a:rPr lang="en-IN" sz="2600" dirty="0"/>
              <a:t> </a:t>
            </a:r>
            <a:r>
              <a:rPr lang="en-US" sz="2600" dirty="0"/>
              <a:t>and can be it be replaced </a:t>
            </a:r>
          </a:p>
          <a:p>
            <a:pPr marL="533400" indent="0">
              <a:lnSpc>
                <a:spcPct val="110000"/>
              </a:lnSpc>
              <a:buNone/>
            </a:pPr>
            <a:r>
              <a:rPr lang="en-US" sz="2600" dirty="0"/>
              <a:t>       with better ones</a:t>
            </a:r>
            <a:endParaRPr lang="en-IN" sz="2600" dirty="0"/>
          </a:p>
          <a:p>
            <a:pPr marL="895350" indent="-361950">
              <a:lnSpc>
                <a:spcPct val="110000"/>
              </a:lnSpc>
              <a:buFont typeface="Wingdings" panose="05000000000000000000" pitchFamily="2" charset="2"/>
              <a:buChar char="Ø"/>
            </a:pPr>
            <a:r>
              <a:rPr lang="en-US" sz="2600" dirty="0"/>
              <a:t>If so, what are the advantages and disadvantages </a:t>
            </a:r>
            <a:r>
              <a:rPr lang="en-US" sz="2600" i="1" dirty="0"/>
              <a:t>etc.</a:t>
            </a:r>
            <a:endParaRPr lang="en-IN" sz="2600" dirty="0"/>
          </a:p>
          <a:p>
            <a:pPr marL="895350" indent="-361950">
              <a:lnSpc>
                <a:spcPct val="110000"/>
              </a:lnSpc>
              <a:buFont typeface="Wingdings" panose="05000000000000000000" pitchFamily="2" charset="2"/>
              <a:buChar char="Ø"/>
            </a:pPr>
            <a:r>
              <a:rPr lang="en-US" sz="2600" dirty="0"/>
              <a:t>Is further exploration possible in the research area </a:t>
            </a:r>
            <a:r>
              <a:rPr lang="en-US" sz="2600" i="1" dirty="0"/>
              <a:t>etc.</a:t>
            </a:r>
            <a:endParaRPr lang="en-IN" sz="2600" dirty="0"/>
          </a:p>
          <a:p>
            <a:pPr marL="0" indent="0">
              <a:buNone/>
            </a:pPr>
            <a:endParaRPr lang="en-IN" dirty="0"/>
          </a:p>
        </p:txBody>
      </p:sp>
    </p:spTree>
    <p:extLst>
      <p:ext uri="{BB962C8B-B14F-4D97-AF65-F5344CB8AC3E}">
        <p14:creationId xmlns:p14="http://schemas.microsoft.com/office/powerpoint/2010/main" val="26911718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01725"/>
          </a:xfrm>
        </p:spPr>
        <p:txBody>
          <a:bodyPr>
            <a:normAutofit/>
          </a:bodyPr>
          <a:lstStyle/>
          <a:p>
            <a:pPr algn="ctr"/>
            <a:r>
              <a:rPr lang="en-US" sz="3200" b="1" dirty="0">
                <a:solidFill>
                  <a:srgbClr val="0000FF"/>
                </a:solidFill>
              </a:rPr>
              <a:t>Research Problem</a:t>
            </a:r>
            <a:br>
              <a:rPr lang="en-US" sz="3200" b="1" dirty="0">
                <a:solidFill>
                  <a:srgbClr val="0000FF"/>
                </a:solidFill>
              </a:rPr>
            </a:br>
            <a:r>
              <a:rPr lang="en-US" sz="3200" b="1" dirty="0">
                <a:solidFill>
                  <a:srgbClr val="FF0000"/>
                </a:solidFill>
              </a:rPr>
              <a:t>Approach for Selection of Research Area and Topic</a:t>
            </a:r>
            <a:endParaRPr lang="en-IN" sz="3200" dirty="0"/>
          </a:p>
        </p:txBody>
      </p:sp>
      <p:sp>
        <p:nvSpPr>
          <p:cNvPr id="3" name="Content Placeholder 2"/>
          <p:cNvSpPr>
            <a:spLocks noGrp="1"/>
          </p:cNvSpPr>
          <p:nvPr>
            <p:ph idx="1"/>
          </p:nvPr>
        </p:nvSpPr>
        <p:spPr>
          <a:xfrm>
            <a:off x="838200" y="1466850"/>
            <a:ext cx="10515600" cy="4710113"/>
          </a:xfrm>
        </p:spPr>
        <p:txBody>
          <a:bodyPr>
            <a:normAutofit fontScale="77500" lnSpcReduction="20000"/>
          </a:bodyPr>
          <a:lstStyle/>
          <a:p>
            <a:pPr marL="0" indent="0">
              <a:buNone/>
            </a:pPr>
            <a:r>
              <a:rPr lang="en-US" dirty="0"/>
              <a:t>Other approaches are:</a:t>
            </a:r>
            <a:endParaRPr lang="en-IN" dirty="0"/>
          </a:p>
          <a:p>
            <a:pPr lvl="0"/>
            <a:r>
              <a:rPr lang="en-US" dirty="0"/>
              <a:t>Research focus areas of funding agencies such as DST,</a:t>
            </a:r>
            <a:r>
              <a:rPr lang="en-IN" dirty="0"/>
              <a:t> </a:t>
            </a:r>
            <a:r>
              <a:rPr lang="en-US" dirty="0"/>
              <a:t>DBT, ICMR, DRDO etc. are:</a:t>
            </a:r>
            <a:endParaRPr lang="en-IN" dirty="0"/>
          </a:p>
          <a:p>
            <a:pPr marL="895350" indent="-361950">
              <a:buFont typeface="Wingdings" panose="05000000000000000000" pitchFamily="2" charset="2"/>
              <a:buChar char="Ø"/>
            </a:pPr>
            <a:r>
              <a:rPr lang="en-US" dirty="0" err="1"/>
              <a:t>Cleantech</a:t>
            </a:r>
            <a:r>
              <a:rPr lang="en-US" dirty="0"/>
              <a:t> - clean technology for fossil fuels</a:t>
            </a:r>
            <a:endParaRPr lang="en-IN" dirty="0"/>
          </a:p>
          <a:p>
            <a:pPr marL="895350" indent="-361950">
              <a:buFont typeface="Wingdings" panose="05000000000000000000" pitchFamily="2" charset="2"/>
              <a:buChar char="Ø"/>
            </a:pPr>
            <a:r>
              <a:rPr lang="en-US" dirty="0"/>
              <a:t>Carbon capture and storage — environmental aspects </a:t>
            </a:r>
          </a:p>
          <a:p>
            <a:pPr marL="895350" indent="-361950">
              <a:buFont typeface="Wingdings" panose="05000000000000000000" pitchFamily="2" charset="2"/>
              <a:buChar char="Ø"/>
            </a:pPr>
            <a:r>
              <a:rPr lang="en-US" dirty="0" err="1"/>
              <a:t>Biorefinery</a:t>
            </a:r>
            <a:r>
              <a:rPr lang="en-US" dirty="0"/>
              <a:t> — efficient utilization of natural resources </a:t>
            </a:r>
          </a:p>
          <a:p>
            <a:pPr marL="895350" indent="-361950">
              <a:buFont typeface="Wingdings" panose="05000000000000000000" pitchFamily="2" charset="2"/>
              <a:buChar char="Ø"/>
            </a:pPr>
            <a:r>
              <a:rPr lang="en-US" dirty="0"/>
              <a:t>Defense and Aerospace — space research</a:t>
            </a:r>
            <a:endParaRPr lang="en-IN" dirty="0"/>
          </a:p>
          <a:p>
            <a:pPr marL="895350" indent="-361950">
              <a:buFont typeface="Wingdings" panose="05000000000000000000" pitchFamily="2" charset="2"/>
              <a:buChar char="Ø"/>
            </a:pPr>
            <a:r>
              <a:rPr lang="en-US" dirty="0"/>
              <a:t>Food and Agriculture — nutrition and self sufficiency</a:t>
            </a:r>
            <a:endParaRPr lang="en-IN" dirty="0"/>
          </a:p>
          <a:p>
            <a:pPr marL="895350" indent="-361950">
              <a:buFont typeface="Wingdings" panose="05000000000000000000" pitchFamily="2" charset="2"/>
              <a:buChar char="Ø"/>
            </a:pPr>
            <a:r>
              <a:rPr lang="en-US" dirty="0"/>
              <a:t>Electric and hybrid vehicles — smart vehicles and alternate fuels </a:t>
            </a:r>
          </a:p>
          <a:p>
            <a:pPr marL="895350" indent="-361950">
              <a:buFont typeface="Wingdings" panose="05000000000000000000" pitchFamily="2" charset="2"/>
              <a:buChar char="Ø"/>
            </a:pPr>
            <a:r>
              <a:rPr lang="en-US" dirty="0"/>
              <a:t>Electronic Systems and Manufacturing - Semi-conductor tech.</a:t>
            </a:r>
          </a:p>
          <a:p>
            <a:pPr marL="895350" indent="-361950">
              <a:buFont typeface="Wingdings" panose="05000000000000000000" pitchFamily="2" charset="2"/>
              <a:buChar char="Ø"/>
            </a:pPr>
            <a:r>
              <a:rPr lang="en-US" dirty="0"/>
              <a:t>New and renewable energy - solar, wind </a:t>
            </a:r>
            <a:r>
              <a:rPr lang="en-US" i="1" dirty="0"/>
              <a:t>etc.</a:t>
            </a:r>
            <a:endParaRPr lang="en-IN" dirty="0"/>
          </a:p>
          <a:p>
            <a:pPr marL="895350" indent="-361950">
              <a:buFont typeface="Wingdings" panose="05000000000000000000" pitchFamily="2" charset="2"/>
              <a:buChar char="Ø"/>
            </a:pPr>
            <a:r>
              <a:rPr lang="en-US" dirty="0"/>
              <a:t>Advanced and Smart Manufacturing</a:t>
            </a:r>
            <a:endParaRPr lang="en-IN" dirty="0"/>
          </a:p>
          <a:p>
            <a:pPr marL="895350" indent="-361950">
              <a:buFont typeface="Wingdings" panose="05000000000000000000" pitchFamily="2" charset="2"/>
              <a:buChar char="Ø"/>
            </a:pPr>
            <a:r>
              <a:rPr lang="en-US" dirty="0"/>
              <a:t>Biotechnology - Vaccine production, recombinant tech. etc. </a:t>
            </a:r>
          </a:p>
          <a:p>
            <a:pPr marL="895350" indent="-361950">
              <a:buFont typeface="Wingdings" panose="05000000000000000000" pitchFamily="2" charset="2"/>
              <a:buChar char="Ø"/>
            </a:pPr>
            <a:r>
              <a:rPr lang="en-US" dirty="0" err="1"/>
              <a:t>BiomedicaI</a:t>
            </a:r>
            <a:r>
              <a:rPr lang="en-US" dirty="0"/>
              <a:t> research — fundamental and applied disease research, equipment's</a:t>
            </a:r>
            <a:endParaRPr lang="en-IN" dirty="0"/>
          </a:p>
          <a:p>
            <a:endParaRPr lang="en-US" dirty="0"/>
          </a:p>
          <a:p>
            <a:endParaRPr lang="en-IN" dirty="0"/>
          </a:p>
        </p:txBody>
      </p:sp>
    </p:spTree>
    <p:extLst>
      <p:ext uri="{BB962C8B-B14F-4D97-AF65-F5344CB8AC3E}">
        <p14:creationId xmlns:p14="http://schemas.microsoft.com/office/powerpoint/2010/main" val="36177932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06475"/>
          </a:xfrm>
        </p:spPr>
        <p:txBody>
          <a:bodyPr>
            <a:normAutofit/>
          </a:bodyPr>
          <a:lstStyle/>
          <a:p>
            <a:pPr algn="ctr"/>
            <a:r>
              <a:rPr lang="en-US" sz="3200" b="1" dirty="0">
                <a:solidFill>
                  <a:srgbClr val="0000FF"/>
                </a:solidFill>
              </a:rPr>
              <a:t>Research Problem</a:t>
            </a:r>
            <a:br>
              <a:rPr lang="en-US" sz="3200" b="1" dirty="0">
                <a:solidFill>
                  <a:srgbClr val="0000FF"/>
                </a:solidFill>
              </a:rPr>
            </a:br>
            <a:r>
              <a:rPr lang="en-US" sz="3200" b="1" dirty="0">
                <a:solidFill>
                  <a:srgbClr val="FF0000"/>
                </a:solidFill>
              </a:rPr>
              <a:t>Approach for Selection of Research Area and Topic</a:t>
            </a:r>
            <a:endParaRPr lang="en-IN" sz="3200" dirty="0"/>
          </a:p>
        </p:txBody>
      </p:sp>
      <p:sp>
        <p:nvSpPr>
          <p:cNvPr id="3" name="Content Placeholder 2"/>
          <p:cNvSpPr>
            <a:spLocks noGrp="1"/>
          </p:cNvSpPr>
          <p:nvPr>
            <p:ph idx="1"/>
          </p:nvPr>
        </p:nvSpPr>
        <p:spPr>
          <a:xfrm>
            <a:off x="838200" y="1371600"/>
            <a:ext cx="10515600" cy="4805363"/>
          </a:xfrm>
        </p:spPr>
        <p:txBody>
          <a:bodyPr>
            <a:normAutofit lnSpcReduction="10000"/>
          </a:bodyPr>
          <a:lstStyle/>
          <a:p>
            <a:pPr marL="0" indent="0">
              <a:buNone/>
            </a:pPr>
            <a:r>
              <a:rPr lang="en-US" dirty="0"/>
              <a:t>Other non-regular approaches are (contd.):</a:t>
            </a:r>
            <a:endParaRPr lang="en-IN" dirty="0"/>
          </a:p>
          <a:p>
            <a:pPr marL="723900" lvl="0" indent="-361950"/>
            <a:r>
              <a:rPr lang="en-US" dirty="0"/>
              <a:t>Industrial R &amp; D activities and its budgets as per annual</a:t>
            </a:r>
            <a:r>
              <a:rPr lang="en-IN" dirty="0"/>
              <a:t> </a:t>
            </a:r>
            <a:r>
              <a:rPr lang="en-US" dirty="0"/>
              <a:t>reports of </a:t>
            </a:r>
          </a:p>
          <a:p>
            <a:pPr marL="0" lvl="0" indent="0">
              <a:buNone/>
            </a:pPr>
            <a:r>
              <a:rPr lang="en-US" dirty="0"/>
              <a:t>         companies</a:t>
            </a:r>
            <a:endParaRPr lang="en-IN" dirty="0"/>
          </a:p>
          <a:p>
            <a:pPr marL="723900" indent="-361950"/>
            <a:r>
              <a:rPr lang="en-US" dirty="0"/>
              <a:t>Latest edition text books of emerging areas</a:t>
            </a:r>
            <a:endParaRPr lang="en-IN" dirty="0"/>
          </a:p>
          <a:p>
            <a:pPr marL="723900" lvl="0" indent="-361950"/>
            <a:r>
              <a:rPr lang="en-US" dirty="0"/>
              <a:t>Further scope of research as mentioned in PhD theses</a:t>
            </a:r>
            <a:endParaRPr lang="en-IN" dirty="0"/>
          </a:p>
          <a:p>
            <a:pPr marL="723900" lvl="0" indent="-361950"/>
            <a:r>
              <a:rPr lang="en-US" dirty="0"/>
              <a:t>Discussion with experts</a:t>
            </a:r>
            <a:endParaRPr lang="en-IN" dirty="0"/>
          </a:p>
          <a:p>
            <a:pPr marL="723900" lvl="0" indent="-361950"/>
            <a:r>
              <a:rPr lang="en-US" dirty="0"/>
              <a:t>Attending seminars, conferences to listen to experts</a:t>
            </a:r>
            <a:endParaRPr lang="en-IN" dirty="0"/>
          </a:p>
          <a:p>
            <a:pPr marL="0" indent="0">
              <a:buNone/>
            </a:pPr>
            <a:r>
              <a:rPr lang="en-US" dirty="0">
                <a:solidFill>
                  <a:srgbClr val="FF0000"/>
                </a:solidFill>
              </a:rPr>
              <a:t>Based on all these, a one or two-page summary of the research area, </a:t>
            </a:r>
          </a:p>
          <a:p>
            <a:pPr marL="0" indent="0">
              <a:buNone/>
            </a:pPr>
            <a:r>
              <a:rPr lang="en-US" dirty="0">
                <a:solidFill>
                  <a:srgbClr val="FF0000"/>
                </a:solidFill>
              </a:rPr>
              <a:t>specific topic of interest and its current status can be documented. This </a:t>
            </a:r>
          </a:p>
          <a:p>
            <a:pPr marL="0" indent="0">
              <a:buNone/>
            </a:pPr>
            <a:r>
              <a:rPr lang="en-US" dirty="0">
                <a:solidFill>
                  <a:srgbClr val="FF0000"/>
                </a:solidFill>
              </a:rPr>
              <a:t>can be used to the formulate the problem statement.</a:t>
            </a:r>
            <a:endParaRPr lang="en-IN" dirty="0">
              <a:solidFill>
                <a:srgbClr val="FF0000"/>
              </a:solidFill>
            </a:endParaRPr>
          </a:p>
          <a:p>
            <a:endParaRPr lang="en-IN" dirty="0"/>
          </a:p>
        </p:txBody>
      </p:sp>
    </p:spTree>
    <p:extLst>
      <p:ext uri="{BB962C8B-B14F-4D97-AF65-F5344CB8AC3E}">
        <p14:creationId xmlns:p14="http://schemas.microsoft.com/office/powerpoint/2010/main" val="8520135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25525"/>
          </a:xfrm>
        </p:spPr>
        <p:txBody>
          <a:bodyPr>
            <a:normAutofit/>
          </a:bodyPr>
          <a:lstStyle/>
          <a:p>
            <a:pPr algn="ctr"/>
            <a:r>
              <a:rPr lang="en-US" sz="3200" b="1" dirty="0">
                <a:solidFill>
                  <a:srgbClr val="0000FF"/>
                </a:solidFill>
              </a:rPr>
              <a:t>Research Problem Statement</a:t>
            </a:r>
            <a:br>
              <a:rPr lang="en-US" sz="3200" b="1" dirty="0">
                <a:solidFill>
                  <a:srgbClr val="0000FF"/>
                </a:solidFill>
              </a:rPr>
            </a:br>
            <a:r>
              <a:rPr lang="en-US" sz="3200" b="1" dirty="0">
                <a:solidFill>
                  <a:srgbClr val="FF0000"/>
                </a:solidFill>
              </a:rPr>
              <a:t>Introduction</a:t>
            </a:r>
            <a:endParaRPr lang="en-IN" sz="3200" dirty="0">
              <a:solidFill>
                <a:srgbClr val="FF0000"/>
              </a:solidFill>
            </a:endParaRPr>
          </a:p>
        </p:txBody>
      </p:sp>
      <p:sp>
        <p:nvSpPr>
          <p:cNvPr id="3" name="Content Placeholder 2"/>
          <p:cNvSpPr>
            <a:spLocks noGrp="1"/>
          </p:cNvSpPr>
          <p:nvPr>
            <p:ph idx="1"/>
          </p:nvPr>
        </p:nvSpPr>
        <p:spPr>
          <a:xfrm>
            <a:off x="838200" y="1390650"/>
            <a:ext cx="10515600" cy="4786313"/>
          </a:xfrm>
        </p:spPr>
        <p:txBody>
          <a:bodyPr>
            <a:normAutofit lnSpcReduction="10000"/>
          </a:bodyPr>
          <a:lstStyle/>
          <a:p>
            <a:pPr lvl="1" algn="just">
              <a:lnSpc>
                <a:spcPct val="100000"/>
              </a:lnSpc>
            </a:pPr>
            <a:r>
              <a:rPr lang="en-US" sz="2800" dirty="0"/>
              <a:t>The first step in solving any </a:t>
            </a:r>
            <a:r>
              <a:rPr lang="en-US" sz="2800" dirty="0">
                <a:solidFill>
                  <a:srgbClr val="FF0000"/>
                </a:solidFill>
              </a:rPr>
              <a:t>research problem </a:t>
            </a:r>
            <a:r>
              <a:rPr lang="en-US" sz="2800" dirty="0"/>
              <a:t>lies in first</a:t>
            </a:r>
            <a:r>
              <a:rPr lang="en-IN" sz="2800" dirty="0"/>
              <a:t> </a:t>
            </a:r>
            <a:r>
              <a:rPr lang="en-US" sz="2800" dirty="0"/>
              <a:t>clearly identifying and </a:t>
            </a:r>
            <a:r>
              <a:rPr lang="en-US" sz="2800" dirty="0">
                <a:solidFill>
                  <a:srgbClr val="FF0000"/>
                </a:solidFill>
              </a:rPr>
              <a:t>stating</a:t>
            </a:r>
            <a:r>
              <a:rPr lang="en-US" sz="2800" dirty="0"/>
              <a:t> the nature of the</a:t>
            </a:r>
            <a:r>
              <a:rPr lang="en-IN" sz="2800" dirty="0"/>
              <a:t> </a:t>
            </a:r>
            <a:r>
              <a:rPr lang="en-US" sz="2800" dirty="0"/>
              <a:t>problem.</a:t>
            </a:r>
            <a:endParaRPr lang="en-IN" sz="2800" dirty="0"/>
          </a:p>
          <a:p>
            <a:pPr lvl="1" algn="just">
              <a:lnSpc>
                <a:spcPct val="100000"/>
              </a:lnSpc>
            </a:pPr>
            <a:r>
              <a:rPr lang="en-US" sz="2800" dirty="0"/>
              <a:t>Such a statement is called as a </a:t>
            </a:r>
            <a:r>
              <a:rPr lang="en-US" sz="2800" dirty="0">
                <a:solidFill>
                  <a:srgbClr val="FF0000"/>
                </a:solidFill>
              </a:rPr>
              <a:t>“Problem Statement” </a:t>
            </a:r>
            <a:r>
              <a:rPr lang="en-US" sz="2800" dirty="0"/>
              <a:t>and hence can be defined as a clear description of a problem that needs to be solved.</a:t>
            </a:r>
            <a:endParaRPr lang="en-IN" sz="2800" dirty="0"/>
          </a:p>
          <a:p>
            <a:pPr lvl="1" algn="just">
              <a:lnSpc>
                <a:spcPct val="100000"/>
              </a:lnSpc>
            </a:pPr>
            <a:r>
              <a:rPr lang="en-US" sz="2800" dirty="0"/>
              <a:t>This simple, yet effective problem-solving technique (which forms part of the design thinking process) requires breaking down the problem by asking questions such as “who does it affect?” and “how does the problem make the stakeholders feel?” </a:t>
            </a:r>
            <a:r>
              <a:rPr lang="en-US" sz="2800" i="1" dirty="0"/>
              <a:t>etc., </a:t>
            </a:r>
            <a:r>
              <a:rPr lang="en-US" sz="2800" dirty="0"/>
              <a:t>so the issue maybe stated in a concise manner and quickly and easily understood by all stakeholders.</a:t>
            </a:r>
            <a:endParaRPr lang="en-IN" sz="2800" dirty="0"/>
          </a:p>
          <a:p>
            <a:endParaRPr lang="en-IN" dirty="0"/>
          </a:p>
        </p:txBody>
      </p:sp>
    </p:spTree>
    <p:extLst>
      <p:ext uri="{BB962C8B-B14F-4D97-AF65-F5344CB8AC3E}">
        <p14:creationId xmlns:p14="http://schemas.microsoft.com/office/powerpoint/2010/main" val="34574347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200" b="1" dirty="0">
                <a:solidFill>
                  <a:srgbClr val="0000FF"/>
                </a:solidFill>
              </a:rPr>
              <a:t>Problem Statement Formulation</a:t>
            </a:r>
            <a:br>
              <a:rPr lang="en-US" sz="3200" b="1" dirty="0"/>
            </a:br>
            <a:r>
              <a:rPr lang="en-US" sz="3200" b="1" dirty="0">
                <a:solidFill>
                  <a:srgbClr val="FF0000"/>
                </a:solidFill>
              </a:rPr>
              <a:t>Problem Definition</a:t>
            </a:r>
            <a:br>
              <a:rPr lang="en-US" sz="3200" b="1" dirty="0">
                <a:solidFill>
                  <a:srgbClr val="FF0000"/>
                </a:solidFill>
              </a:rPr>
            </a:br>
            <a:r>
              <a:rPr lang="en-US" sz="3200" b="1" dirty="0">
                <a:solidFill>
                  <a:srgbClr val="FF0000"/>
                </a:solidFill>
              </a:rPr>
              <a:t>“A problem well defined is a problem half- solved”</a:t>
            </a:r>
            <a:endParaRPr lang="en-IN" sz="3200" b="1" dirty="0">
              <a:solidFill>
                <a:srgbClr val="FF0000"/>
              </a:solidFill>
            </a:endParaRPr>
          </a:p>
        </p:txBody>
      </p:sp>
      <p:sp>
        <p:nvSpPr>
          <p:cNvPr id="3" name="Content Placeholder 2"/>
          <p:cNvSpPr>
            <a:spLocks noGrp="1"/>
          </p:cNvSpPr>
          <p:nvPr>
            <p:ph idx="1"/>
          </p:nvPr>
        </p:nvSpPr>
        <p:spPr/>
        <p:txBody>
          <a:bodyPr/>
          <a:lstStyle/>
          <a:p>
            <a:pPr lvl="0"/>
            <a:r>
              <a:rPr lang="en-US" dirty="0"/>
              <a:t>Defining a problem involves laying down boundaries within which a researcher shall study the problem with a predetermined objective.</a:t>
            </a:r>
            <a:endParaRPr lang="en-IN" dirty="0"/>
          </a:p>
          <a:p>
            <a:pPr lvl="0"/>
            <a:r>
              <a:rPr lang="en-US" dirty="0"/>
              <a:t>It is important to develop a well developed problem definition early in the research to focus on the deliverables of the specific objectives.</a:t>
            </a:r>
            <a:endParaRPr lang="en-IN" dirty="0"/>
          </a:p>
          <a:p>
            <a:pPr lvl="0"/>
            <a:r>
              <a:rPr lang="en-US" dirty="0"/>
              <a:t>Answer to questions such as the ones that follow will help in this task:</a:t>
            </a:r>
            <a:endParaRPr lang="en-IN" dirty="0"/>
          </a:p>
          <a:p>
            <a:pPr marL="895350" indent="-361950">
              <a:buFont typeface="Wingdings" panose="05000000000000000000" pitchFamily="2" charset="2"/>
              <a:buChar char="Ø"/>
            </a:pPr>
            <a:r>
              <a:rPr lang="en-US" dirty="0"/>
              <a:t>What are the data to be collected?</a:t>
            </a:r>
            <a:endParaRPr lang="en-IN" dirty="0"/>
          </a:p>
          <a:p>
            <a:pPr marL="895350" indent="-361950">
              <a:buFont typeface="Wingdings" panose="05000000000000000000" pitchFamily="2" charset="2"/>
              <a:buChar char="Ø"/>
            </a:pPr>
            <a:r>
              <a:rPr lang="en-US" dirty="0"/>
              <a:t>What are the relevant characteristics of this data? </a:t>
            </a:r>
          </a:p>
          <a:p>
            <a:pPr marL="895350" indent="-361950">
              <a:buFont typeface="Wingdings" panose="05000000000000000000" pitchFamily="2" charset="2"/>
              <a:buChar char="Ø"/>
            </a:pPr>
            <a:r>
              <a:rPr lang="en-US" dirty="0"/>
              <a:t>What are the relations that need to be explored? </a:t>
            </a:r>
          </a:p>
          <a:p>
            <a:pPr marL="895350" indent="-361950">
              <a:buFont typeface="Wingdings" panose="05000000000000000000" pitchFamily="2" charset="2"/>
              <a:buChar char="Ø"/>
            </a:pPr>
            <a:r>
              <a:rPr lang="en-US" dirty="0"/>
              <a:t>What are the methods, techniques etc. to be used?</a:t>
            </a:r>
            <a:endParaRPr lang="en-IN" dirty="0"/>
          </a:p>
          <a:p>
            <a:endParaRPr lang="en-IN" dirty="0"/>
          </a:p>
        </p:txBody>
      </p:sp>
    </p:spTree>
    <p:extLst>
      <p:ext uri="{BB962C8B-B14F-4D97-AF65-F5344CB8AC3E}">
        <p14:creationId xmlns:p14="http://schemas.microsoft.com/office/powerpoint/2010/main" val="9164022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25525"/>
          </a:xfrm>
        </p:spPr>
        <p:txBody>
          <a:bodyPr>
            <a:normAutofit/>
          </a:bodyPr>
          <a:lstStyle/>
          <a:p>
            <a:pPr algn="ctr"/>
            <a:r>
              <a:rPr lang="en-US" sz="3200" b="1" dirty="0">
                <a:solidFill>
                  <a:srgbClr val="0000FF"/>
                </a:solidFill>
              </a:rPr>
              <a:t>Problem Statement Formulation</a:t>
            </a:r>
            <a:br>
              <a:rPr lang="en-US" sz="3200" b="1" dirty="0"/>
            </a:br>
            <a:r>
              <a:rPr lang="en-US" sz="3200" b="1" dirty="0">
                <a:solidFill>
                  <a:srgbClr val="FF0000"/>
                </a:solidFill>
              </a:rPr>
              <a:t>Suggested Techniques / Steps</a:t>
            </a:r>
            <a:endParaRPr lang="en-IN" sz="3200" dirty="0"/>
          </a:p>
        </p:txBody>
      </p:sp>
      <p:sp>
        <p:nvSpPr>
          <p:cNvPr id="3" name="Content Placeholder 2"/>
          <p:cNvSpPr>
            <a:spLocks noGrp="1"/>
          </p:cNvSpPr>
          <p:nvPr>
            <p:ph idx="1"/>
          </p:nvPr>
        </p:nvSpPr>
        <p:spPr>
          <a:xfrm>
            <a:off x="838200" y="1390650"/>
            <a:ext cx="10515600" cy="4786313"/>
          </a:xfrm>
        </p:spPr>
        <p:txBody>
          <a:bodyPr/>
          <a:lstStyle/>
          <a:p>
            <a:pPr marL="0" indent="0">
              <a:buNone/>
            </a:pPr>
            <a:r>
              <a:rPr lang="en-US" dirty="0"/>
              <a:t>The following 5 steps maybe utilized for the formulation</a:t>
            </a:r>
            <a:endParaRPr lang="en-IN" dirty="0"/>
          </a:p>
          <a:p>
            <a:pPr marL="0" indent="0">
              <a:buNone/>
            </a:pPr>
            <a:endParaRPr lang="en-IN" dirty="0"/>
          </a:p>
        </p:txBody>
      </p:sp>
      <p:sp>
        <p:nvSpPr>
          <p:cNvPr id="4" name="Rectangle 3"/>
          <p:cNvSpPr/>
          <p:nvPr/>
        </p:nvSpPr>
        <p:spPr>
          <a:xfrm>
            <a:off x="1162050" y="2057400"/>
            <a:ext cx="9906000" cy="11620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0000"/>
                </a:solidFill>
              </a:rPr>
              <a:t>1. General Statement of the Problem</a:t>
            </a:r>
          </a:p>
          <a:p>
            <a:pPr algn="ctr"/>
            <a:r>
              <a:rPr lang="en-US" sz="2400" dirty="0">
                <a:solidFill>
                  <a:schemeClr val="tx1"/>
                </a:solidFill>
              </a:rPr>
              <a:t>The research problem is stated in a general and broad manner keeping in mind the probable strategy for the solution</a:t>
            </a:r>
            <a:endParaRPr lang="en-IN" sz="2400" dirty="0">
              <a:solidFill>
                <a:schemeClr val="tx1"/>
              </a:solidFill>
            </a:endParaRPr>
          </a:p>
        </p:txBody>
      </p:sp>
      <p:sp>
        <p:nvSpPr>
          <p:cNvPr id="5" name="Rectangle 4"/>
          <p:cNvSpPr/>
          <p:nvPr/>
        </p:nvSpPr>
        <p:spPr>
          <a:xfrm>
            <a:off x="1162050" y="3219450"/>
            <a:ext cx="9906000" cy="16724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0000"/>
                </a:solidFill>
              </a:rPr>
              <a:t>2. Understanding the Problem</a:t>
            </a:r>
          </a:p>
          <a:p>
            <a:pPr algn="ctr"/>
            <a:r>
              <a:rPr lang="en-US" sz="2400" dirty="0">
                <a:solidFill>
                  <a:schemeClr val="tx1"/>
                </a:solidFill>
              </a:rPr>
              <a:t>Origin and nature of the problem can be understood by reading news papers and magazines, general literature etc. The research problem could be discussed with guide and fellow </a:t>
            </a:r>
            <a:r>
              <a:rPr lang="en-US" sz="2400" dirty="0"/>
              <a:t>students.</a:t>
            </a:r>
            <a:endParaRPr lang="en-US" sz="2400" b="1" dirty="0"/>
          </a:p>
        </p:txBody>
      </p:sp>
      <p:sp>
        <p:nvSpPr>
          <p:cNvPr id="6" name="Rectangle 5"/>
          <p:cNvSpPr/>
          <p:nvPr/>
        </p:nvSpPr>
        <p:spPr>
          <a:xfrm>
            <a:off x="1162050" y="4891879"/>
            <a:ext cx="9906000" cy="14906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0000"/>
                </a:solidFill>
              </a:rPr>
              <a:t>3. Surveying Literature</a:t>
            </a:r>
          </a:p>
          <a:p>
            <a:pPr algn="ctr"/>
            <a:r>
              <a:rPr lang="en-US" sz="2400" dirty="0">
                <a:solidFill>
                  <a:schemeClr val="tx1"/>
                </a:solidFill>
              </a:rPr>
              <a:t>A broad reading of available literature provides an idea about the shortcomings, difficulties, challenges and probable analytical solutions to the issues concerning the research area. This helps to narrow down the topic.</a:t>
            </a:r>
            <a:endParaRPr lang="en-US" sz="2400" b="1" dirty="0">
              <a:solidFill>
                <a:schemeClr val="tx1"/>
              </a:solidFill>
            </a:endParaRPr>
          </a:p>
        </p:txBody>
      </p:sp>
    </p:spTree>
    <p:extLst>
      <p:ext uri="{BB962C8B-B14F-4D97-AF65-F5344CB8AC3E}">
        <p14:creationId xmlns:p14="http://schemas.microsoft.com/office/powerpoint/2010/main" val="18968199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63625"/>
          </a:xfrm>
        </p:spPr>
        <p:txBody>
          <a:bodyPr>
            <a:normAutofit/>
          </a:bodyPr>
          <a:lstStyle/>
          <a:p>
            <a:pPr algn="ctr"/>
            <a:r>
              <a:rPr lang="en-US" sz="3200" b="1" dirty="0">
                <a:solidFill>
                  <a:srgbClr val="0000FF"/>
                </a:solidFill>
              </a:rPr>
              <a:t>Problem Statement Formulation</a:t>
            </a:r>
            <a:br>
              <a:rPr lang="en-US" sz="3200" b="1" dirty="0"/>
            </a:br>
            <a:r>
              <a:rPr lang="en-US" sz="3200" b="1" dirty="0">
                <a:solidFill>
                  <a:srgbClr val="FF0000"/>
                </a:solidFill>
              </a:rPr>
              <a:t>Suggested Techniques / Steps</a:t>
            </a:r>
            <a:endParaRPr lang="en-IN" sz="3200" dirty="0"/>
          </a:p>
        </p:txBody>
      </p:sp>
      <p:sp>
        <p:nvSpPr>
          <p:cNvPr id="3" name="Content Placeholder 2"/>
          <p:cNvSpPr>
            <a:spLocks noGrp="1"/>
          </p:cNvSpPr>
          <p:nvPr>
            <p:ph idx="1"/>
          </p:nvPr>
        </p:nvSpPr>
        <p:spPr>
          <a:xfrm>
            <a:off x="838200" y="1428750"/>
            <a:ext cx="10515600" cy="5276850"/>
          </a:xfrm>
        </p:spPr>
        <p:txBody>
          <a:bodyPr>
            <a:normAutofit/>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lgn="just">
              <a:lnSpc>
                <a:spcPct val="100000"/>
              </a:lnSpc>
              <a:buNone/>
            </a:pPr>
            <a:r>
              <a:rPr lang="en-US" sz="2400" dirty="0"/>
              <a:t>Finally, the problem statement should also take care to explain hypothesis, technical terms, assumptions made, criteria for selection of research problem area and topic, source of data to be acquired, type of data analysis, scope and limitations if any and anticipated solution </a:t>
            </a:r>
            <a:r>
              <a:rPr lang="en-US" sz="2400" i="1" dirty="0"/>
              <a:t>etc.</a:t>
            </a:r>
            <a:endParaRPr lang="en-IN" sz="2400" dirty="0"/>
          </a:p>
          <a:p>
            <a:pPr marL="0" indent="0">
              <a:buNone/>
            </a:pPr>
            <a:endParaRPr lang="en-US" dirty="0"/>
          </a:p>
        </p:txBody>
      </p:sp>
      <p:sp>
        <p:nvSpPr>
          <p:cNvPr id="4" name="Rectangle 3"/>
          <p:cNvSpPr/>
          <p:nvPr/>
        </p:nvSpPr>
        <p:spPr>
          <a:xfrm>
            <a:off x="1276350" y="1577976"/>
            <a:ext cx="9848850" cy="158432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0000"/>
                </a:solidFill>
              </a:rPr>
              <a:t>4. Develop Ideas through Discussion</a:t>
            </a:r>
            <a:endParaRPr lang="en-IN" sz="2400" dirty="0">
              <a:solidFill>
                <a:srgbClr val="FF0000"/>
              </a:solidFill>
            </a:endParaRPr>
          </a:p>
          <a:p>
            <a:pPr algn="ctr"/>
            <a:r>
              <a:rPr lang="en-US" sz="2400" dirty="0">
                <a:solidFill>
                  <a:schemeClr val="tx1"/>
                </a:solidFill>
              </a:rPr>
              <a:t>Discussion with fellow researchers, guide, experts etc. will help to narrow down to the particular research problem and topic as well as probable solutions.</a:t>
            </a:r>
            <a:endParaRPr lang="en-IN" sz="2400" dirty="0">
              <a:solidFill>
                <a:schemeClr val="tx1"/>
              </a:solidFill>
            </a:endParaRPr>
          </a:p>
        </p:txBody>
      </p:sp>
      <p:sp>
        <p:nvSpPr>
          <p:cNvPr id="5" name="Rectangle 4"/>
          <p:cNvSpPr/>
          <p:nvPr/>
        </p:nvSpPr>
        <p:spPr>
          <a:xfrm>
            <a:off x="1257300" y="3162300"/>
            <a:ext cx="9848850" cy="1714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0000"/>
                </a:solidFill>
              </a:rPr>
              <a:t>5. Rephrasing the Problem Statement</a:t>
            </a:r>
            <a:endParaRPr lang="en-IN" sz="2400" dirty="0">
              <a:solidFill>
                <a:srgbClr val="FF0000"/>
              </a:solidFill>
            </a:endParaRPr>
          </a:p>
          <a:p>
            <a:pPr algn="ctr"/>
            <a:r>
              <a:rPr lang="en-US" sz="2400" dirty="0">
                <a:solidFill>
                  <a:schemeClr val="tx1"/>
                </a:solidFill>
              </a:rPr>
              <a:t>The research problem can be formulated into a working proposition. This maybe an iterative process starting again with the first “General Statement” step.</a:t>
            </a:r>
            <a:endParaRPr lang="en-IN" sz="2400" dirty="0">
              <a:solidFill>
                <a:schemeClr val="tx1"/>
              </a:solidFill>
            </a:endParaRPr>
          </a:p>
        </p:txBody>
      </p:sp>
    </p:spTree>
    <p:extLst>
      <p:ext uri="{BB962C8B-B14F-4D97-AF65-F5344CB8AC3E}">
        <p14:creationId xmlns:p14="http://schemas.microsoft.com/office/powerpoint/2010/main" val="38921951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4335"/>
          </a:xfrm>
        </p:spPr>
        <p:txBody>
          <a:bodyPr>
            <a:normAutofit/>
          </a:bodyPr>
          <a:lstStyle/>
          <a:p>
            <a:pPr algn="ctr"/>
            <a:r>
              <a:rPr lang="en-US" sz="3200" b="1" dirty="0">
                <a:solidFill>
                  <a:srgbClr val="0000FF"/>
                </a:solidFill>
              </a:rPr>
              <a:t>Questionnaire</a:t>
            </a:r>
            <a:endParaRPr lang="en-IN" sz="3200" b="1" dirty="0">
              <a:solidFill>
                <a:srgbClr val="0000FF"/>
              </a:solidFill>
            </a:endParaRPr>
          </a:p>
        </p:txBody>
      </p:sp>
      <p:sp>
        <p:nvSpPr>
          <p:cNvPr id="3" name="Content Placeholder 2"/>
          <p:cNvSpPr>
            <a:spLocks noGrp="1"/>
          </p:cNvSpPr>
          <p:nvPr>
            <p:ph idx="1"/>
          </p:nvPr>
        </p:nvSpPr>
        <p:spPr>
          <a:xfrm>
            <a:off x="838200" y="999460"/>
            <a:ext cx="10515600" cy="5177503"/>
          </a:xfrm>
        </p:spPr>
        <p:txBody>
          <a:bodyPr>
            <a:normAutofit/>
          </a:bodyPr>
          <a:lstStyle/>
          <a:p>
            <a:pPr lvl="0"/>
            <a:r>
              <a:rPr lang="en-US" dirty="0"/>
              <a:t>A questionnaire is a research instrument </a:t>
            </a:r>
          </a:p>
          <a:p>
            <a:pPr marL="0" lvl="0" indent="0">
              <a:buNone/>
            </a:pPr>
            <a:r>
              <a:rPr lang="en-US" dirty="0"/>
              <a:t>   consisting of a series of questions (or other</a:t>
            </a:r>
          </a:p>
          <a:p>
            <a:pPr marL="0" lvl="0" indent="0">
              <a:buNone/>
            </a:pPr>
            <a:r>
              <a:rPr lang="en-US" dirty="0"/>
              <a:t>   types of prompts) for the purpose of gathering </a:t>
            </a:r>
          </a:p>
          <a:p>
            <a:pPr marL="0" lvl="0" indent="0">
              <a:buNone/>
            </a:pPr>
            <a:r>
              <a:rPr lang="en-US" dirty="0"/>
              <a:t>   information from respondents through survey </a:t>
            </a:r>
          </a:p>
          <a:p>
            <a:pPr marL="0" lvl="0" indent="0">
              <a:buNone/>
            </a:pPr>
            <a:r>
              <a:rPr lang="en-US" dirty="0"/>
              <a:t>   or statistical study.</a:t>
            </a:r>
            <a:endParaRPr lang="en-IN" dirty="0"/>
          </a:p>
          <a:p>
            <a:r>
              <a:rPr lang="en-US" dirty="0"/>
              <a:t>A questionnaire is a formalized set of questions </a:t>
            </a:r>
          </a:p>
          <a:p>
            <a:pPr marL="0" indent="0">
              <a:buNone/>
            </a:pPr>
            <a:r>
              <a:rPr lang="en-US" dirty="0"/>
              <a:t>   to generate the data necessary for a accomplishing a research </a:t>
            </a:r>
          </a:p>
          <a:p>
            <a:pPr marL="0" indent="0">
              <a:buNone/>
            </a:pPr>
            <a:r>
              <a:rPr lang="en-US" dirty="0"/>
              <a:t>   project's objectives.</a:t>
            </a:r>
            <a:endParaRPr lang="en-IN" dirty="0"/>
          </a:p>
          <a:p>
            <a:r>
              <a:rPr lang="en-US" dirty="0"/>
              <a:t>In general, questions should flow logically from one level to the next </a:t>
            </a:r>
          </a:p>
          <a:p>
            <a:pPr marL="0" indent="0">
              <a:buNone/>
            </a:pPr>
            <a:r>
              <a:rPr lang="en-US" dirty="0"/>
              <a:t>   higher level of complexity.</a:t>
            </a:r>
            <a:endParaRPr lang="en-IN" dirty="0"/>
          </a:p>
          <a:p>
            <a:endParaRPr lang="en-IN" dirty="0"/>
          </a:p>
        </p:txBody>
      </p:sp>
      <p:pic>
        <p:nvPicPr>
          <p:cNvPr id="4" name="Picture 3"/>
          <p:cNvPicPr>
            <a:picLocks noChangeAspect="1"/>
          </p:cNvPicPr>
          <p:nvPr/>
        </p:nvPicPr>
        <p:blipFill>
          <a:blip r:embed="rId2"/>
          <a:stretch>
            <a:fillRect/>
          </a:stretch>
        </p:blipFill>
        <p:spPr>
          <a:xfrm>
            <a:off x="8063329" y="1308658"/>
            <a:ext cx="3462365" cy="2636724"/>
          </a:xfrm>
          <a:prstGeom prst="rect">
            <a:avLst/>
          </a:prstGeom>
        </p:spPr>
      </p:pic>
    </p:spTree>
    <p:extLst>
      <p:ext uri="{BB962C8B-B14F-4D97-AF65-F5344CB8AC3E}">
        <p14:creationId xmlns:p14="http://schemas.microsoft.com/office/powerpoint/2010/main" val="28435508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59638"/>
          </a:xfrm>
        </p:spPr>
        <p:txBody>
          <a:bodyPr>
            <a:normAutofit/>
          </a:bodyPr>
          <a:lstStyle/>
          <a:p>
            <a:pPr algn="ctr"/>
            <a:r>
              <a:rPr lang="en-US" sz="3200" b="1" dirty="0">
                <a:solidFill>
                  <a:srgbClr val="0000FF"/>
                </a:solidFill>
              </a:rPr>
              <a:t>Designing a Questionnaire</a:t>
            </a:r>
            <a:br>
              <a:rPr lang="en-US" sz="3200" b="1" dirty="0">
                <a:solidFill>
                  <a:srgbClr val="0000FF"/>
                </a:solidFill>
              </a:rPr>
            </a:br>
            <a:r>
              <a:rPr lang="en-US" sz="3200" b="1" dirty="0">
                <a:solidFill>
                  <a:srgbClr val="FF0000"/>
                </a:solidFill>
              </a:rPr>
              <a:t>Ten Points to be Considered</a:t>
            </a:r>
            <a:endParaRPr lang="en-IN" sz="3200" dirty="0">
              <a:solidFill>
                <a:srgbClr val="FF0000"/>
              </a:solidFill>
            </a:endParaRPr>
          </a:p>
        </p:txBody>
      </p:sp>
      <p:sp>
        <p:nvSpPr>
          <p:cNvPr id="3" name="Content Placeholder 2"/>
          <p:cNvSpPr>
            <a:spLocks noGrp="1"/>
          </p:cNvSpPr>
          <p:nvPr>
            <p:ph idx="1"/>
          </p:nvPr>
        </p:nvSpPr>
        <p:spPr>
          <a:xfrm>
            <a:off x="838200" y="1424763"/>
            <a:ext cx="10515600" cy="4752200"/>
          </a:xfrm>
        </p:spPr>
        <p:txBody>
          <a:bodyPr>
            <a:normAutofit/>
          </a:bodyPr>
          <a:lstStyle/>
          <a:p>
            <a:pPr marL="0" lvl="1" indent="0">
              <a:buNone/>
            </a:pPr>
            <a:r>
              <a:rPr lang="en-US" dirty="0"/>
              <a:t>1. Must be initially related to final objectives of the</a:t>
            </a:r>
            <a:r>
              <a:rPr lang="en-IN" dirty="0"/>
              <a:t> </a:t>
            </a:r>
            <a:r>
              <a:rPr lang="en-US" dirty="0"/>
              <a:t>investigations</a:t>
            </a:r>
            <a:endParaRPr lang="en-IN" dirty="0"/>
          </a:p>
          <a:p>
            <a:pPr marL="893763" indent="-361950">
              <a:buFont typeface="Wingdings" panose="05000000000000000000" pitchFamily="2" charset="2"/>
              <a:buChar char="Ø"/>
            </a:pPr>
            <a:r>
              <a:rPr lang="en-US" sz="2400" dirty="0"/>
              <a:t>Specify the information needed</a:t>
            </a:r>
          </a:p>
          <a:p>
            <a:pPr marL="0" indent="0">
              <a:buNone/>
            </a:pPr>
            <a:r>
              <a:rPr lang="en-US" sz="2400" dirty="0"/>
              <a:t>2. Questions must follow logical sequences</a:t>
            </a:r>
            <a:endParaRPr lang="en-IN" sz="2400" dirty="0"/>
          </a:p>
          <a:p>
            <a:pPr marL="893763" indent="-361950">
              <a:buFont typeface="Wingdings" panose="05000000000000000000" pitchFamily="2" charset="2"/>
              <a:buChar char="Ø"/>
            </a:pPr>
            <a:r>
              <a:rPr lang="en-US" sz="2400" dirty="0"/>
              <a:t>Arrange the questions in proper order</a:t>
            </a:r>
            <a:endParaRPr lang="en-IN" sz="2400" dirty="0"/>
          </a:p>
          <a:p>
            <a:pPr marL="0" lvl="1" indent="0">
              <a:buNone/>
            </a:pPr>
            <a:r>
              <a:rPr lang="en-US" dirty="0"/>
              <a:t>3. Specify the type of interviewing method</a:t>
            </a:r>
            <a:endParaRPr lang="en-IN" dirty="0"/>
          </a:p>
          <a:p>
            <a:pPr marL="893763" lvl="1" indent="-361950">
              <a:buFont typeface="Wingdings" panose="05000000000000000000" pitchFamily="2" charset="2"/>
              <a:buChar char="Ø"/>
            </a:pPr>
            <a:r>
              <a:rPr lang="en-US" dirty="0"/>
              <a:t>Biased questions should be avoided</a:t>
            </a:r>
            <a:endParaRPr lang="en-IN" dirty="0"/>
          </a:p>
          <a:p>
            <a:pPr marL="0" lvl="1" indent="0">
              <a:buNone/>
            </a:pPr>
            <a:r>
              <a:rPr lang="en-US" dirty="0"/>
              <a:t>4. Proper structuring of the question is must</a:t>
            </a:r>
            <a:endParaRPr lang="en-IN" dirty="0"/>
          </a:p>
          <a:p>
            <a:pPr marL="893763" indent="-361950">
              <a:buFont typeface="Wingdings" panose="05000000000000000000" pitchFamily="2" charset="2"/>
              <a:buChar char="Ø"/>
            </a:pPr>
            <a:r>
              <a:rPr lang="en-US" sz="2400" dirty="0"/>
              <a:t>Decide on the question structure</a:t>
            </a:r>
            <a:endParaRPr lang="en-IN" sz="2400" dirty="0"/>
          </a:p>
          <a:p>
            <a:pPr marL="0" lvl="1" indent="0">
              <a:buNone/>
            </a:pPr>
            <a:r>
              <a:rPr lang="en-US" dirty="0"/>
              <a:t>5. Should be brief, clear and simple </a:t>
            </a:r>
          </a:p>
          <a:p>
            <a:pPr marL="893763" lvl="1" indent="-361950">
              <a:buFont typeface="Wingdings" panose="05000000000000000000" pitchFamily="2" charset="2"/>
              <a:buChar char="Ø"/>
            </a:pPr>
            <a:r>
              <a:rPr lang="en-US" dirty="0"/>
              <a:t>Determine the content of individual questions </a:t>
            </a:r>
          </a:p>
          <a:p>
            <a:pPr marL="893763" lvl="1" indent="-361950">
              <a:buFont typeface="Wingdings" panose="05000000000000000000" pitchFamily="2" charset="2"/>
              <a:buChar char="Ø"/>
            </a:pPr>
            <a:r>
              <a:rPr lang="en-US" dirty="0"/>
              <a:t>Determine the question wording</a:t>
            </a:r>
            <a:endParaRPr lang="en-IN" dirty="0"/>
          </a:p>
          <a:p>
            <a:pPr marL="893763" indent="-361950"/>
            <a:endParaRPr lang="en-IN" dirty="0"/>
          </a:p>
        </p:txBody>
      </p:sp>
    </p:spTree>
    <p:extLst>
      <p:ext uri="{BB962C8B-B14F-4D97-AF65-F5344CB8AC3E}">
        <p14:creationId xmlns:p14="http://schemas.microsoft.com/office/powerpoint/2010/main" val="4982990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13298"/>
          </a:xfrm>
        </p:spPr>
        <p:txBody>
          <a:bodyPr>
            <a:normAutofit/>
          </a:bodyPr>
          <a:lstStyle/>
          <a:p>
            <a:pPr algn="ctr"/>
            <a:r>
              <a:rPr lang="en-US" sz="3200" b="1" dirty="0">
                <a:solidFill>
                  <a:srgbClr val="0000FF"/>
                </a:solidFill>
              </a:rPr>
              <a:t>Designing a Questionnaire</a:t>
            </a:r>
            <a:br>
              <a:rPr lang="en-US" sz="3200" b="1" dirty="0">
                <a:solidFill>
                  <a:srgbClr val="0000FF"/>
                </a:solidFill>
              </a:rPr>
            </a:br>
            <a:r>
              <a:rPr lang="en-US" sz="3200" b="1" dirty="0">
                <a:solidFill>
                  <a:srgbClr val="FF0000"/>
                </a:solidFill>
              </a:rPr>
              <a:t>Ten Points to be Considered</a:t>
            </a:r>
            <a:endParaRPr lang="en-IN" sz="3200" dirty="0"/>
          </a:p>
        </p:txBody>
      </p:sp>
      <p:sp>
        <p:nvSpPr>
          <p:cNvPr id="3" name="Content Placeholder 2"/>
          <p:cNvSpPr>
            <a:spLocks noGrp="1"/>
          </p:cNvSpPr>
          <p:nvPr>
            <p:ph idx="1"/>
          </p:nvPr>
        </p:nvSpPr>
        <p:spPr>
          <a:xfrm>
            <a:off x="838200" y="1378424"/>
            <a:ext cx="10515600" cy="4798539"/>
          </a:xfrm>
        </p:spPr>
        <p:txBody>
          <a:bodyPr>
            <a:normAutofit/>
          </a:bodyPr>
          <a:lstStyle/>
          <a:p>
            <a:pPr marL="0" lvl="1" indent="0">
              <a:lnSpc>
                <a:spcPct val="100000"/>
              </a:lnSpc>
              <a:buNone/>
            </a:pPr>
            <a:r>
              <a:rPr lang="en-US" dirty="0"/>
              <a:t>6. Reproduce the questionnaire</a:t>
            </a:r>
            <a:endParaRPr lang="en-IN" dirty="0"/>
          </a:p>
          <a:p>
            <a:pPr marL="893763" indent="-361950">
              <a:lnSpc>
                <a:spcPct val="100000"/>
              </a:lnSpc>
              <a:buFont typeface="Wingdings" panose="05000000000000000000" pitchFamily="2" charset="2"/>
              <a:buChar char="Ø"/>
            </a:pPr>
            <a:r>
              <a:rPr lang="en-US" sz="2400" dirty="0"/>
              <a:t>Question should have appropriate and to it</a:t>
            </a:r>
            <a:endParaRPr lang="en-IN" sz="2400" dirty="0"/>
          </a:p>
          <a:p>
            <a:pPr marL="0" lvl="1" indent="0">
              <a:lnSpc>
                <a:spcPct val="100000"/>
              </a:lnSpc>
              <a:buNone/>
            </a:pPr>
            <a:r>
              <a:rPr lang="en-US" dirty="0"/>
              <a:t>7. Eliminate bugs by pretesting</a:t>
            </a:r>
            <a:endParaRPr lang="en-IN" dirty="0"/>
          </a:p>
          <a:p>
            <a:pPr marL="893763" indent="-361950">
              <a:lnSpc>
                <a:spcPct val="100000"/>
              </a:lnSpc>
              <a:buFont typeface="Wingdings" panose="05000000000000000000" pitchFamily="2" charset="2"/>
              <a:buChar char="Ø"/>
            </a:pPr>
            <a:r>
              <a:rPr lang="en-US" sz="2400" dirty="0"/>
              <a:t>Conflict between interviewer and respondent should be</a:t>
            </a:r>
            <a:r>
              <a:rPr lang="en-IN" sz="2400" dirty="0"/>
              <a:t> </a:t>
            </a:r>
            <a:r>
              <a:rPr lang="en-US" sz="2400" dirty="0"/>
              <a:t>avoided</a:t>
            </a:r>
            <a:endParaRPr lang="en-IN" sz="2400" dirty="0"/>
          </a:p>
          <a:p>
            <a:pPr marL="0" indent="0">
              <a:lnSpc>
                <a:spcPct val="100000"/>
              </a:lnSpc>
              <a:buNone/>
            </a:pPr>
            <a:r>
              <a:rPr lang="en-IN" sz="2400" dirty="0"/>
              <a:t>8. </a:t>
            </a:r>
            <a:r>
              <a:rPr lang="en-US" sz="2400" dirty="0"/>
              <a:t>Questions outside the respondents experience should</a:t>
            </a:r>
            <a:r>
              <a:rPr lang="en-IN" sz="2400" dirty="0"/>
              <a:t> </a:t>
            </a:r>
            <a:r>
              <a:rPr lang="en-US" sz="2400" dirty="0"/>
              <a:t>not be asked</a:t>
            </a:r>
            <a:endParaRPr lang="en-IN" sz="2400" dirty="0"/>
          </a:p>
          <a:p>
            <a:pPr marL="893763" indent="-361950">
              <a:lnSpc>
                <a:spcPct val="100000"/>
              </a:lnSpc>
              <a:buFont typeface="Wingdings" panose="05000000000000000000" pitchFamily="2" charset="2"/>
              <a:buChar char="Ø"/>
            </a:pPr>
            <a:r>
              <a:rPr lang="en-US" sz="2400" dirty="0"/>
              <a:t>To overcome the respondent's unwillingness to answer</a:t>
            </a:r>
            <a:endParaRPr lang="en-IN" sz="2400" dirty="0"/>
          </a:p>
          <a:p>
            <a:pPr marL="0" lvl="1" indent="0">
              <a:lnSpc>
                <a:spcPct val="100000"/>
              </a:lnSpc>
              <a:buNone/>
            </a:pPr>
            <a:r>
              <a:rPr lang="en-US" dirty="0"/>
              <a:t>9. Questions should test the memory of the respondent</a:t>
            </a:r>
            <a:endParaRPr lang="en-IN" dirty="0"/>
          </a:p>
          <a:p>
            <a:pPr marL="893763" indent="-361950">
              <a:lnSpc>
                <a:spcPct val="100000"/>
              </a:lnSpc>
              <a:buFont typeface="Wingdings" panose="05000000000000000000" pitchFamily="2" charset="2"/>
              <a:buChar char="Ø"/>
            </a:pPr>
            <a:r>
              <a:rPr lang="en-US" sz="2400" dirty="0"/>
              <a:t>To overcome the respondent‘s inability to answer</a:t>
            </a:r>
            <a:endParaRPr lang="en-IN" sz="2400" dirty="0"/>
          </a:p>
          <a:p>
            <a:pPr marL="0" lvl="1" indent="0">
              <a:lnSpc>
                <a:spcPct val="100000"/>
              </a:lnSpc>
              <a:buNone/>
            </a:pPr>
            <a:r>
              <a:rPr lang="en-US" dirty="0"/>
              <a:t>10. Identify the form and layout</a:t>
            </a:r>
            <a:endParaRPr lang="en-IN" dirty="0"/>
          </a:p>
          <a:p>
            <a:pPr marL="893763" indent="-361950">
              <a:lnSpc>
                <a:spcPct val="100000"/>
              </a:lnSpc>
              <a:buFont typeface="Wingdings" panose="05000000000000000000" pitchFamily="2" charset="2"/>
              <a:buChar char="Ø"/>
            </a:pPr>
            <a:r>
              <a:rPr lang="en-US" sz="2400" dirty="0"/>
              <a:t>To gather factual data</a:t>
            </a:r>
            <a:endParaRPr lang="en-IN" sz="2400" dirty="0"/>
          </a:p>
          <a:p>
            <a:endParaRPr lang="en-IN" dirty="0"/>
          </a:p>
        </p:txBody>
      </p:sp>
    </p:spTree>
    <p:extLst>
      <p:ext uri="{BB962C8B-B14F-4D97-AF65-F5344CB8AC3E}">
        <p14:creationId xmlns:p14="http://schemas.microsoft.com/office/powerpoint/2010/main" val="13800809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74577"/>
          </a:xfrm>
        </p:spPr>
        <p:txBody>
          <a:bodyPr>
            <a:normAutofit fontScale="90000"/>
          </a:bodyPr>
          <a:lstStyle/>
          <a:p>
            <a:pPr algn="ctr"/>
            <a:r>
              <a:rPr lang="en-US" sz="3200" b="1" dirty="0">
                <a:solidFill>
                  <a:srgbClr val="0000FF"/>
                </a:solidFill>
              </a:rPr>
              <a:t>Hypothesis</a:t>
            </a:r>
            <a:br>
              <a:rPr lang="en-US" sz="3200" dirty="0">
                <a:solidFill>
                  <a:srgbClr val="0000FF"/>
                </a:solidFill>
              </a:rPr>
            </a:br>
            <a:r>
              <a:rPr lang="en-US" sz="3600" b="1" dirty="0">
                <a:solidFill>
                  <a:srgbClr val="FF0066"/>
                </a:solidFill>
              </a:rPr>
              <a:t>Introduction and Definition</a:t>
            </a:r>
            <a:endParaRPr lang="en-IN" sz="3200" dirty="0">
              <a:solidFill>
                <a:srgbClr val="0000FF"/>
              </a:solidFill>
            </a:endParaRPr>
          </a:p>
        </p:txBody>
      </p:sp>
      <p:sp>
        <p:nvSpPr>
          <p:cNvPr id="3" name="Content Placeholder 2"/>
          <p:cNvSpPr>
            <a:spLocks noGrp="1"/>
          </p:cNvSpPr>
          <p:nvPr>
            <p:ph idx="1"/>
          </p:nvPr>
        </p:nvSpPr>
        <p:spPr>
          <a:xfrm>
            <a:off x="838200" y="1339702"/>
            <a:ext cx="10515600" cy="4837261"/>
          </a:xfrm>
        </p:spPr>
        <p:txBody>
          <a:bodyPr>
            <a:normAutofit/>
          </a:bodyPr>
          <a:lstStyle/>
          <a:p>
            <a:pPr lvl="0"/>
            <a:r>
              <a:rPr lang="en-US" sz="2400" dirty="0"/>
              <a:t>In common parlance, hypothesis simply states </a:t>
            </a:r>
          </a:p>
          <a:p>
            <a:pPr marL="0" lvl="0" indent="0">
              <a:buNone/>
            </a:pPr>
            <a:r>
              <a:rPr lang="en-US" sz="2400" dirty="0"/>
              <a:t>   a mere assumption or some supposition to be </a:t>
            </a:r>
          </a:p>
          <a:p>
            <a:pPr marL="0" lvl="0" indent="0">
              <a:buNone/>
            </a:pPr>
            <a:r>
              <a:rPr lang="en-US" sz="2400" dirty="0"/>
              <a:t>   proved or disproved.</a:t>
            </a:r>
            <a:endParaRPr lang="en-IN" sz="2400" dirty="0"/>
          </a:p>
          <a:p>
            <a:pPr lvl="0"/>
            <a:r>
              <a:rPr lang="en-US" sz="2400" dirty="0"/>
              <a:t>A hypothesis is written in such a way that it can </a:t>
            </a:r>
          </a:p>
          <a:p>
            <a:pPr marL="0" lvl="0" indent="0">
              <a:buNone/>
            </a:pPr>
            <a:r>
              <a:rPr lang="en-US" sz="2400" dirty="0"/>
              <a:t>   be proven or disproven by valid reliable data. </a:t>
            </a:r>
          </a:p>
          <a:p>
            <a:pPr marL="0" lvl="0" indent="0">
              <a:buNone/>
            </a:pPr>
            <a:r>
              <a:rPr lang="en-US" sz="2400" dirty="0"/>
              <a:t>   (</a:t>
            </a:r>
            <a:r>
              <a:rPr lang="en-US" sz="2400" dirty="0" err="1"/>
              <a:t>Griennell</a:t>
            </a:r>
            <a:r>
              <a:rPr lang="en-US" sz="2400" dirty="0"/>
              <a:t> &amp; </a:t>
            </a:r>
            <a:r>
              <a:rPr lang="en-US" sz="2400" dirty="0" err="1"/>
              <a:t>Stothers</a:t>
            </a:r>
            <a:r>
              <a:rPr lang="en-US" sz="2400" dirty="0"/>
              <a:t>)</a:t>
            </a:r>
            <a:endParaRPr lang="en-IN" sz="2400" dirty="0"/>
          </a:p>
          <a:p>
            <a:pPr lvl="0"/>
            <a:r>
              <a:rPr lang="en-US" sz="2400" dirty="0"/>
              <a:t>A tentative statement about something, the validity </a:t>
            </a:r>
          </a:p>
          <a:p>
            <a:pPr marL="0" lvl="0" indent="0">
              <a:buNone/>
            </a:pPr>
            <a:r>
              <a:rPr lang="en-US" sz="2400" dirty="0"/>
              <a:t>   of</a:t>
            </a:r>
            <a:r>
              <a:rPr lang="en-IN" sz="2400" dirty="0"/>
              <a:t> </a:t>
            </a:r>
            <a:r>
              <a:rPr lang="en-US" sz="2400" dirty="0"/>
              <a:t>which is usually unknown. (Black &amp; Champion)</a:t>
            </a:r>
            <a:endParaRPr lang="en-IN" sz="2400" dirty="0"/>
          </a:p>
          <a:p>
            <a:r>
              <a:rPr lang="en-US" sz="2400" dirty="0"/>
              <a:t>In other words, it can be said that a hypothesis is a hunch, assumption, suspicion, assertion or an idea about a phenomenon, relationship or situation, the reality or truth of which is not known.</a:t>
            </a:r>
            <a:endParaRPr lang="en-IN" sz="2400" dirty="0"/>
          </a:p>
        </p:txBody>
      </p:sp>
      <p:pic>
        <p:nvPicPr>
          <p:cNvPr id="4" name="Picture 3"/>
          <p:cNvPicPr>
            <a:picLocks noChangeAspect="1"/>
          </p:cNvPicPr>
          <p:nvPr/>
        </p:nvPicPr>
        <p:blipFill>
          <a:blip r:embed="rId2"/>
          <a:stretch>
            <a:fillRect/>
          </a:stretch>
        </p:blipFill>
        <p:spPr>
          <a:xfrm>
            <a:off x="8165806" y="1521157"/>
            <a:ext cx="2806994" cy="3356188"/>
          </a:xfrm>
          <a:prstGeom prst="rect">
            <a:avLst/>
          </a:prstGeom>
        </p:spPr>
      </p:pic>
    </p:spTree>
    <p:extLst>
      <p:ext uri="{BB962C8B-B14F-4D97-AF65-F5344CB8AC3E}">
        <p14:creationId xmlns:p14="http://schemas.microsoft.com/office/powerpoint/2010/main" val="2670745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6866"/>
          </a:xfrm>
        </p:spPr>
        <p:txBody>
          <a:bodyPr>
            <a:normAutofit/>
          </a:bodyPr>
          <a:lstStyle/>
          <a:p>
            <a:pPr algn="ctr"/>
            <a:r>
              <a:rPr lang="en-US" sz="3200" b="1" dirty="0">
                <a:solidFill>
                  <a:srgbClr val="0000FF"/>
                </a:solidFill>
              </a:rPr>
              <a:t>Functions of an Hypothesis</a:t>
            </a:r>
            <a:endParaRPr lang="en-IN" sz="3200" b="1" dirty="0">
              <a:solidFill>
                <a:srgbClr val="0000FF"/>
              </a:solidFill>
            </a:endParaRPr>
          </a:p>
        </p:txBody>
      </p:sp>
      <p:sp>
        <p:nvSpPr>
          <p:cNvPr id="3" name="Content Placeholder 2"/>
          <p:cNvSpPr>
            <a:spLocks noGrp="1"/>
          </p:cNvSpPr>
          <p:nvPr>
            <p:ph idx="1"/>
          </p:nvPr>
        </p:nvSpPr>
        <p:spPr>
          <a:xfrm>
            <a:off x="838200" y="1041992"/>
            <a:ext cx="10515600" cy="5134971"/>
          </a:xfrm>
        </p:spPr>
        <p:txBody>
          <a:bodyPr>
            <a:normAutofit/>
          </a:bodyPr>
          <a:lstStyle/>
          <a:p>
            <a:pPr marL="0" indent="0">
              <a:lnSpc>
                <a:spcPct val="100000"/>
              </a:lnSpc>
              <a:buNone/>
            </a:pPr>
            <a:r>
              <a:rPr lang="en-US" sz="2400" dirty="0"/>
              <a:t>A hypothesis though not an essential feature, brings</a:t>
            </a:r>
            <a:r>
              <a:rPr lang="en-IN" sz="2400" dirty="0"/>
              <a:t> </a:t>
            </a:r>
            <a:r>
              <a:rPr lang="en-US" sz="2400" dirty="0"/>
              <a:t>clarity to the research with the following functions:</a:t>
            </a:r>
            <a:endParaRPr lang="en-IN" sz="2400" dirty="0"/>
          </a:p>
          <a:p>
            <a:pPr lvl="1">
              <a:lnSpc>
                <a:spcPct val="100000"/>
              </a:lnSpc>
            </a:pPr>
            <a:r>
              <a:rPr lang="en-US" dirty="0"/>
              <a:t>The formulation of a hypothesis provides a study with focus. It tells what specific aspects of a research problem to investigate.</a:t>
            </a:r>
            <a:endParaRPr lang="en-IN" dirty="0"/>
          </a:p>
          <a:p>
            <a:pPr lvl="1">
              <a:lnSpc>
                <a:spcPct val="100000"/>
              </a:lnSpc>
            </a:pPr>
            <a:r>
              <a:rPr lang="en-US" dirty="0"/>
              <a:t>A hypothesis tells what data to collect and what not</a:t>
            </a:r>
            <a:r>
              <a:rPr lang="en-IN" dirty="0"/>
              <a:t> </a:t>
            </a:r>
            <a:r>
              <a:rPr lang="en-US" dirty="0"/>
              <a:t>to collect, thereby providing focus to the study.</a:t>
            </a:r>
            <a:endParaRPr lang="en-IN" dirty="0"/>
          </a:p>
          <a:p>
            <a:pPr lvl="1">
              <a:lnSpc>
                <a:spcPct val="100000"/>
              </a:lnSpc>
            </a:pPr>
            <a:r>
              <a:rPr lang="en-US" dirty="0"/>
              <a:t>As it provides a focus, the construction of a hypothesis enhances objectivity in a study.</a:t>
            </a:r>
            <a:endParaRPr lang="en-IN" dirty="0"/>
          </a:p>
          <a:p>
            <a:pPr lvl="1">
              <a:lnSpc>
                <a:spcPct val="100000"/>
              </a:lnSpc>
            </a:pPr>
            <a:r>
              <a:rPr lang="en-US" dirty="0"/>
              <a:t>A hypothesis may enable the researcher to add to the formulation of theory. It helps in concluding specifically what is true or what is false.</a:t>
            </a:r>
            <a:endParaRPr lang="en-IN" dirty="0"/>
          </a:p>
        </p:txBody>
      </p:sp>
    </p:spTree>
    <p:extLst>
      <p:ext uri="{BB962C8B-B14F-4D97-AF65-F5344CB8AC3E}">
        <p14:creationId xmlns:p14="http://schemas.microsoft.com/office/powerpoint/2010/main" val="3076301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3653"/>
          </a:xfrm>
        </p:spPr>
        <p:txBody>
          <a:bodyPr>
            <a:normAutofit/>
          </a:bodyPr>
          <a:lstStyle/>
          <a:p>
            <a:pPr algn="ctr"/>
            <a:r>
              <a:rPr lang="en-US" sz="3200" b="1" dirty="0">
                <a:solidFill>
                  <a:srgbClr val="0000FF"/>
                </a:solidFill>
              </a:rPr>
              <a:t>Characteristics of an Hypothesis</a:t>
            </a:r>
            <a:endParaRPr lang="en-IN" sz="3200" b="1" dirty="0">
              <a:solidFill>
                <a:srgbClr val="0000FF"/>
              </a:solidFill>
            </a:endParaRPr>
          </a:p>
        </p:txBody>
      </p:sp>
      <p:sp>
        <p:nvSpPr>
          <p:cNvPr id="3" name="Content Placeholder 2"/>
          <p:cNvSpPr>
            <a:spLocks noGrp="1"/>
          </p:cNvSpPr>
          <p:nvPr>
            <p:ph idx="1"/>
          </p:nvPr>
        </p:nvSpPr>
        <p:spPr>
          <a:xfrm>
            <a:off x="838200" y="1058779"/>
            <a:ext cx="10515600" cy="5118184"/>
          </a:xfrm>
        </p:spPr>
        <p:txBody>
          <a:bodyPr>
            <a:normAutofit/>
          </a:bodyPr>
          <a:lstStyle/>
          <a:p>
            <a:pPr marL="0" indent="0">
              <a:lnSpc>
                <a:spcPct val="100000"/>
              </a:lnSpc>
              <a:buNone/>
            </a:pPr>
            <a:r>
              <a:rPr lang="en-US" sz="2400" dirty="0"/>
              <a:t>A hypothesis must possess following characteristics:</a:t>
            </a:r>
            <a:endParaRPr lang="en-IN" sz="2400" dirty="0"/>
          </a:p>
          <a:p>
            <a:pPr marL="890588" lvl="0" indent="-530225">
              <a:lnSpc>
                <a:spcPct val="100000"/>
              </a:lnSpc>
              <a:buFont typeface="+mj-lt"/>
              <a:buAutoNum type="arabicPeriod"/>
            </a:pPr>
            <a:r>
              <a:rPr lang="en-US" sz="2400" dirty="0"/>
              <a:t>Hypothesis should be </a:t>
            </a:r>
            <a:r>
              <a:rPr lang="en-US" sz="2400" dirty="0">
                <a:solidFill>
                  <a:srgbClr val="FF0000"/>
                </a:solidFill>
              </a:rPr>
              <a:t>clear and precise</a:t>
            </a:r>
            <a:r>
              <a:rPr lang="en-US" sz="2400" dirty="0"/>
              <a:t>. If the hypothesis is not clear and precise, the inferences drawn on its basis cannot be taken as reliable. In other words, it should be non contradictory one.</a:t>
            </a:r>
            <a:endParaRPr lang="en-IN" sz="2400" dirty="0"/>
          </a:p>
          <a:p>
            <a:pPr marL="890588" lvl="0" indent="-530225">
              <a:lnSpc>
                <a:spcPct val="100000"/>
              </a:lnSpc>
              <a:buFont typeface="+mj-lt"/>
              <a:buAutoNum type="arabicPeriod"/>
            </a:pPr>
            <a:r>
              <a:rPr lang="en-US" sz="2400" dirty="0"/>
              <a:t>Hypothesis should be capable of being </a:t>
            </a:r>
            <a:r>
              <a:rPr lang="en-US" sz="2400" dirty="0">
                <a:solidFill>
                  <a:srgbClr val="FF0000"/>
                </a:solidFill>
              </a:rPr>
              <a:t>tested</a:t>
            </a:r>
            <a:r>
              <a:rPr lang="en-US" sz="2400" dirty="0"/>
              <a:t>. In a swamp of untestable hypotheses, many a time the research </a:t>
            </a:r>
            <a:r>
              <a:rPr lang="en-US" sz="2400" dirty="0" err="1"/>
              <a:t>programmes</a:t>
            </a:r>
            <a:r>
              <a:rPr lang="en-US" sz="2400" dirty="0"/>
              <a:t> have bogged down.</a:t>
            </a:r>
            <a:endParaRPr lang="en-IN" sz="2400" dirty="0"/>
          </a:p>
          <a:p>
            <a:pPr marL="890588" lvl="0" indent="-530225">
              <a:lnSpc>
                <a:spcPct val="100000"/>
              </a:lnSpc>
              <a:buFont typeface="+mj-lt"/>
              <a:buAutoNum type="arabicPeriod"/>
            </a:pPr>
            <a:r>
              <a:rPr lang="en-US" sz="2400" dirty="0"/>
              <a:t>Hypothesis should state </a:t>
            </a:r>
            <a:r>
              <a:rPr lang="en-US" sz="2400" dirty="0">
                <a:solidFill>
                  <a:srgbClr val="FF0000"/>
                </a:solidFill>
              </a:rPr>
              <a:t>relationship</a:t>
            </a:r>
            <a:r>
              <a:rPr lang="en-US" sz="2400" dirty="0"/>
              <a:t> between</a:t>
            </a:r>
            <a:r>
              <a:rPr lang="en-IN" sz="2400" dirty="0"/>
              <a:t> </a:t>
            </a:r>
            <a:r>
              <a:rPr lang="en-US" sz="2400" dirty="0"/>
              <a:t>variables, if it happens to be a relational hypothesis.</a:t>
            </a:r>
            <a:endParaRPr lang="en-IN" sz="2400" dirty="0"/>
          </a:p>
          <a:p>
            <a:pPr marL="890588" lvl="0" indent="-530225">
              <a:lnSpc>
                <a:spcPct val="100000"/>
              </a:lnSpc>
              <a:buFont typeface="+mj-lt"/>
              <a:buAutoNum type="arabicPeriod"/>
            </a:pPr>
            <a:r>
              <a:rPr lang="en-US" sz="2400" dirty="0"/>
              <a:t>Hypothesis should be </a:t>
            </a:r>
            <a:r>
              <a:rPr lang="en-US" sz="2400" dirty="0">
                <a:solidFill>
                  <a:srgbClr val="FF0000"/>
                </a:solidFill>
              </a:rPr>
              <a:t>limited in scope </a:t>
            </a:r>
            <a:r>
              <a:rPr lang="en-US" sz="2400" dirty="0"/>
              <a:t>and must be </a:t>
            </a:r>
            <a:r>
              <a:rPr lang="en-US" sz="2400" dirty="0">
                <a:solidFill>
                  <a:srgbClr val="FF0000"/>
                </a:solidFill>
              </a:rPr>
              <a:t>specific</a:t>
            </a:r>
            <a:r>
              <a:rPr lang="en-US" sz="2400" dirty="0"/>
              <a:t>. It Should be remembered that narrower hypotheses are generally more testable</a:t>
            </a:r>
          </a:p>
          <a:p>
            <a:pPr marL="360363" lvl="0" indent="0">
              <a:lnSpc>
                <a:spcPct val="100000"/>
              </a:lnSpc>
              <a:buNone/>
            </a:pPr>
            <a:endParaRPr lang="en-US" sz="2400" dirty="0"/>
          </a:p>
          <a:p>
            <a:pPr marL="360363" lvl="0" indent="0">
              <a:lnSpc>
                <a:spcPct val="100000"/>
              </a:lnSpc>
              <a:buNone/>
            </a:pPr>
            <a:endParaRPr lang="en-US" sz="2400" dirty="0"/>
          </a:p>
          <a:p>
            <a:pPr marL="360363" lvl="0" indent="0">
              <a:lnSpc>
                <a:spcPct val="100000"/>
              </a:lnSpc>
              <a:buNone/>
            </a:pPr>
            <a:endParaRPr lang="en-US" sz="2400" dirty="0"/>
          </a:p>
          <a:p>
            <a:pPr marL="360363" lvl="0" indent="0">
              <a:lnSpc>
                <a:spcPct val="100000"/>
              </a:lnSpc>
              <a:buNone/>
            </a:pPr>
            <a:endParaRPr lang="en-US" sz="2400" dirty="0"/>
          </a:p>
          <a:p>
            <a:pPr marL="360363" lvl="0" indent="0">
              <a:lnSpc>
                <a:spcPct val="100000"/>
              </a:lnSpc>
              <a:buNone/>
            </a:pPr>
            <a:endParaRPr lang="en-US" sz="2400" dirty="0"/>
          </a:p>
          <a:p>
            <a:pPr marL="360363" lvl="0" indent="0">
              <a:lnSpc>
                <a:spcPct val="100000"/>
              </a:lnSpc>
              <a:buNone/>
            </a:pPr>
            <a:endParaRPr lang="en-US" sz="2400" dirty="0"/>
          </a:p>
          <a:p>
            <a:pPr marL="360363" lvl="0" indent="0">
              <a:lnSpc>
                <a:spcPct val="100000"/>
              </a:lnSpc>
              <a:buNone/>
            </a:pPr>
            <a:endParaRPr lang="en-IN" sz="2400" dirty="0"/>
          </a:p>
          <a:p>
            <a:pPr>
              <a:lnSpc>
                <a:spcPct val="100000"/>
              </a:lnSpc>
            </a:pPr>
            <a:endParaRPr lang="en-IN" sz="2400" dirty="0"/>
          </a:p>
        </p:txBody>
      </p:sp>
    </p:spTree>
    <p:extLst>
      <p:ext uri="{BB962C8B-B14F-4D97-AF65-F5344CB8AC3E}">
        <p14:creationId xmlns:p14="http://schemas.microsoft.com/office/powerpoint/2010/main" val="33537279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3653"/>
          </a:xfrm>
        </p:spPr>
        <p:txBody>
          <a:bodyPr>
            <a:normAutofit/>
          </a:bodyPr>
          <a:lstStyle/>
          <a:p>
            <a:pPr algn="ctr"/>
            <a:r>
              <a:rPr lang="en-US" sz="3200" b="1" dirty="0">
                <a:solidFill>
                  <a:srgbClr val="0000FF"/>
                </a:solidFill>
              </a:rPr>
              <a:t>Characteristics of an Hypothesis</a:t>
            </a:r>
            <a:endParaRPr lang="en-IN" sz="3200" dirty="0"/>
          </a:p>
        </p:txBody>
      </p:sp>
      <p:sp>
        <p:nvSpPr>
          <p:cNvPr id="3" name="Content Placeholder 2"/>
          <p:cNvSpPr>
            <a:spLocks noGrp="1"/>
          </p:cNvSpPr>
          <p:nvPr>
            <p:ph idx="1"/>
          </p:nvPr>
        </p:nvSpPr>
        <p:spPr>
          <a:xfrm>
            <a:off x="838200" y="1058779"/>
            <a:ext cx="10515600" cy="5118184"/>
          </a:xfrm>
        </p:spPr>
        <p:txBody>
          <a:bodyPr/>
          <a:lstStyle/>
          <a:p>
            <a:pPr marL="722313" lvl="0" indent="-369888" algn="just">
              <a:lnSpc>
                <a:spcPct val="100000"/>
              </a:lnSpc>
              <a:buNone/>
            </a:pPr>
            <a:r>
              <a:rPr lang="en-US" dirty="0"/>
              <a:t>5. Hypothesis should be stated as far as possible in most </a:t>
            </a:r>
            <a:r>
              <a:rPr lang="en-US" dirty="0">
                <a:solidFill>
                  <a:srgbClr val="FF0000"/>
                </a:solidFill>
              </a:rPr>
              <a:t>simple  terms</a:t>
            </a:r>
            <a:r>
              <a:rPr lang="en-US" dirty="0"/>
              <a:t> so that the same is easily understandable by all concerned</a:t>
            </a:r>
            <a:endParaRPr lang="en-IN" dirty="0"/>
          </a:p>
          <a:p>
            <a:pPr marL="722313" lvl="0" indent="-369888" algn="just">
              <a:lnSpc>
                <a:spcPct val="100000"/>
              </a:lnSpc>
              <a:buNone/>
            </a:pPr>
            <a:r>
              <a:rPr lang="en-US" dirty="0"/>
              <a:t>6. Hypothesis should be consistent with most known facts i.e., it must be consistent with a substantial body of established facts.</a:t>
            </a:r>
            <a:endParaRPr lang="en-IN" dirty="0"/>
          </a:p>
          <a:p>
            <a:pPr marL="722313" lvl="0" indent="-369888" algn="just">
              <a:lnSpc>
                <a:spcPct val="100000"/>
              </a:lnSpc>
              <a:buNone/>
            </a:pPr>
            <a:r>
              <a:rPr lang="en-IN" dirty="0"/>
              <a:t>7. </a:t>
            </a:r>
            <a:r>
              <a:rPr lang="en-US" dirty="0"/>
              <a:t>Hypothesis should be amenable to testing within a</a:t>
            </a:r>
            <a:r>
              <a:rPr lang="en-IN" dirty="0"/>
              <a:t> </a:t>
            </a:r>
            <a:r>
              <a:rPr lang="en-US" dirty="0"/>
              <a:t>reasonable time.</a:t>
            </a:r>
            <a:endParaRPr lang="en-IN" dirty="0"/>
          </a:p>
          <a:p>
            <a:pPr marL="722313" lvl="0" indent="-369888" algn="just">
              <a:lnSpc>
                <a:spcPct val="100000"/>
              </a:lnSpc>
              <a:buNone/>
            </a:pPr>
            <a:r>
              <a:rPr lang="en-US" dirty="0"/>
              <a:t>8. Hypothesis must </a:t>
            </a:r>
            <a:r>
              <a:rPr lang="en-US" dirty="0">
                <a:solidFill>
                  <a:srgbClr val="FF0000"/>
                </a:solidFill>
              </a:rPr>
              <a:t>explain the facts that gave rise to the need for explanation.</a:t>
            </a:r>
            <a:r>
              <a:rPr lang="en-US" dirty="0"/>
              <a:t> This means that by using the hypothesis plus other known and accepted generalizations, one should be able to deduce the original problem condition.</a:t>
            </a:r>
            <a:endParaRPr lang="en-IN" dirty="0"/>
          </a:p>
          <a:p>
            <a:pPr algn="just">
              <a:lnSpc>
                <a:spcPct val="100000"/>
              </a:lnSpc>
            </a:pPr>
            <a:endParaRPr lang="en-IN" dirty="0"/>
          </a:p>
        </p:txBody>
      </p:sp>
    </p:spTree>
    <p:extLst>
      <p:ext uri="{BB962C8B-B14F-4D97-AF65-F5344CB8AC3E}">
        <p14:creationId xmlns:p14="http://schemas.microsoft.com/office/powerpoint/2010/main" val="8856220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38033"/>
          </a:xfrm>
        </p:spPr>
        <p:txBody>
          <a:bodyPr>
            <a:normAutofit/>
          </a:bodyPr>
          <a:lstStyle/>
          <a:p>
            <a:pPr algn="ctr"/>
            <a:r>
              <a:rPr lang="en-US" sz="3200" b="1" dirty="0">
                <a:solidFill>
                  <a:srgbClr val="0000FF"/>
                </a:solidFill>
              </a:rPr>
              <a:t>Types of Hypothesis</a:t>
            </a:r>
            <a:endParaRPr lang="en-IN" sz="3200" b="1" dirty="0">
              <a:solidFill>
                <a:srgbClr val="0000FF"/>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203158"/>
                <a:ext cx="10515600" cy="4973805"/>
              </a:xfrm>
            </p:spPr>
            <p:txBody>
              <a:bodyPr>
                <a:normAutofit fontScale="85000" lnSpcReduction="20000"/>
              </a:bodyPr>
              <a:lstStyle/>
              <a:p>
                <a:pPr lvl="0">
                  <a:lnSpc>
                    <a:spcPct val="110000"/>
                  </a:lnSpc>
                </a:pPr>
                <a:r>
                  <a:rPr lang="en-US" dirty="0">
                    <a:solidFill>
                      <a:srgbClr val="FF0000"/>
                    </a:solidFill>
                  </a:rPr>
                  <a:t>Null Hypothesis</a:t>
                </a:r>
                <a:r>
                  <a:rPr lang="en-US" dirty="0"/>
                  <a:t>: The null hypothesis is a commonly accepted fact. It's the default, or what we'd believe if the experiment was never conducted. It is deemed true until proven wrong.</a:t>
                </a:r>
                <a:endParaRPr lang="en-IN" dirty="0"/>
              </a:p>
              <a:p>
                <a:pPr lvl="0">
                  <a:lnSpc>
                    <a:spcPct val="110000"/>
                  </a:lnSpc>
                </a:pPr>
                <a:r>
                  <a:rPr lang="en-US" dirty="0"/>
                  <a:t>For </a:t>
                </a:r>
                <a:r>
                  <a:rPr lang="en-US" dirty="0" err="1"/>
                  <a:t>eg</a:t>
                </a:r>
                <a:r>
                  <a:rPr lang="en-US" dirty="0"/>
                  <a:t>., there is no significant difference between two groups, say</a:t>
                </a:r>
                <a:r>
                  <a:rPr lang="en-IN" dirty="0"/>
                  <a:t> </a:t>
                </a:r>
                <a:r>
                  <a:rPr lang="en-US" i="1" dirty="0"/>
                  <a:t>A. </a:t>
                </a:r>
                <a:r>
                  <a:rPr lang="en-US" dirty="0"/>
                  <a:t>and B.</a:t>
                </a:r>
                <a:endParaRPr lang="en-IN" dirty="0"/>
              </a:p>
              <a:p>
                <a:pPr lvl="0">
                  <a:lnSpc>
                    <a:spcPct val="110000"/>
                  </a:lnSpc>
                </a:pPr>
                <a:r>
                  <a:rPr lang="en-US" dirty="0"/>
                  <a:t>It is a hypothesis of no difference. Researchers work to nullify or</a:t>
                </a:r>
                <a:endParaRPr lang="en-IN" dirty="0"/>
              </a:p>
              <a:p>
                <a:pPr marL="0" indent="0">
                  <a:lnSpc>
                    <a:spcPct val="110000"/>
                  </a:lnSpc>
                  <a:buNone/>
                </a:pPr>
                <a:r>
                  <a:rPr lang="en-US" dirty="0"/>
                  <a:t>   disprove null hypotheses. It is symbolized as H</a:t>
                </a:r>
                <a:r>
                  <a:rPr lang="en-US" baseline="-25000" dirty="0"/>
                  <a:t>0</a:t>
                </a:r>
                <a:r>
                  <a:rPr lang="en-US" dirty="0"/>
                  <a:t>.</a:t>
                </a:r>
                <a:endParaRPr lang="en-IN" dirty="0"/>
              </a:p>
              <a:p>
                <a:pPr>
                  <a:lnSpc>
                    <a:spcPct val="110000"/>
                  </a:lnSpc>
                </a:pPr>
                <a:r>
                  <a:rPr lang="en-US" dirty="0">
                    <a:solidFill>
                      <a:srgbClr val="FF0000"/>
                    </a:solidFill>
                  </a:rPr>
                  <a:t>Alternative Hypothesis</a:t>
                </a:r>
                <a:r>
                  <a:rPr lang="en-US" dirty="0"/>
                  <a:t>: This is the opposite of the null hypothesis, demonstrating or supporting a statistically significant result.</a:t>
                </a:r>
                <a:endParaRPr lang="en-IN" dirty="0"/>
              </a:p>
              <a:p>
                <a:pPr lvl="0">
                  <a:lnSpc>
                    <a:spcPct val="110000"/>
                  </a:lnSpc>
                </a:pPr>
                <a:r>
                  <a:rPr lang="en-US" dirty="0"/>
                  <a:t>For </a:t>
                </a:r>
                <a:r>
                  <a:rPr lang="en-US" dirty="0" err="1"/>
                  <a:t>eg</a:t>
                </a:r>
                <a:r>
                  <a:rPr lang="en-US" dirty="0"/>
                  <a:t>„ if we state that group A is superior or the group B is</a:t>
                </a:r>
                <a:r>
                  <a:rPr lang="en-IN" dirty="0"/>
                  <a:t> </a:t>
                </a:r>
                <a:r>
                  <a:rPr lang="en-US" dirty="0"/>
                  <a:t>inferior, we are then stating the alternative hypothesis.</a:t>
                </a:r>
                <a:endParaRPr lang="en-IN" dirty="0"/>
              </a:p>
              <a:p>
                <a:pPr lvl="0">
                  <a:lnSpc>
                    <a:spcPct val="110000"/>
                  </a:lnSpc>
                </a:pPr>
                <a:r>
                  <a:rPr lang="en-US" dirty="0"/>
                  <a:t>By rejecting the null hypothesis, we accept the alternative hypothesis. It is denoted by </a:t>
                </a:r>
                <a14:m>
                  <m:oMath xmlns:m="http://schemas.openxmlformats.org/officeDocument/2006/math">
                    <m:sSub>
                      <m:sSubPr>
                        <m:ctrlPr>
                          <a:rPr lang="en-US" i="1" dirty="0" smtClean="0">
                            <a:latin typeface="Cambria Math" panose="02040503050406030204" pitchFamily="18" charset="0"/>
                          </a:rPr>
                        </m:ctrlPr>
                      </m:sSubPr>
                      <m:e>
                        <m:r>
                          <m:rPr>
                            <m:sty m:val="p"/>
                          </m:rPr>
                          <a:rPr lang="en-US" b="0" i="0" dirty="0" smtClean="0">
                            <a:latin typeface="Cambria Math" panose="02040503050406030204" pitchFamily="18" charset="0"/>
                          </a:rPr>
                          <m:t>H</m:t>
                        </m:r>
                      </m:e>
                      <m:sub>
                        <m:r>
                          <a:rPr lang="en-US" b="0" i="0" dirty="0" smtClean="0">
                            <a:latin typeface="Cambria Math" panose="02040503050406030204" pitchFamily="18" charset="0"/>
                          </a:rPr>
                          <m:t>1</m:t>
                        </m:r>
                      </m:sub>
                    </m:sSub>
                    <m:r>
                      <m:rPr>
                        <m:sty m:val="p"/>
                      </m:rPr>
                      <a:rPr lang="en-US" b="0" i="0" dirty="0" smtClean="0">
                        <a:latin typeface="Cambria Math" panose="02040503050406030204" pitchFamily="18" charset="0"/>
                      </a:rPr>
                      <m:t>or</m:t>
                    </m:r>
                  </m:oMath>
                </a14:m>
                <a:r>
                  <a:rPr lang="en-US" dirty="0"/>
                  <a:t> </a:t>
                </a:r>
                <a14:m>
                  <m:oMath xmlns:m="http://schemas.openxmlformats.org/officeDocument/2006/math">
                    <m:sSub>
                      <m:sSubPr>
                        <m:ctrlPr>
                          <a:rPr lang="en-US" i="1" dirty="0" smtClean="0">
                            <a:latin typeface="Cambria Math" panose="02040503050406030204" pitchFamily="18" charset="0"/>
                          </a:rPr>
                        </m:ctrlPr>
                      </m:sSubPr>
                      <m:e>
                        <m:r>
                          <m:rPr>
                            <m:sty m:val="p"/>
                          </m:rPr>
                          <a:rPr lang="en-US" b="0" i="0" dirty="0" smtClean="0">
                            <a:latin typeface="Cambria Math" panose="02040503050406030204" pitchFamily="18" charset="0"/>
                          </a:rPr>
                          <m:t>H</m:t>
                        </m:r>
                      </m:e>
                      <m:sub>
                        <m:r>
                          <m:rPr>
                            <m:sty m:val="p"/>
                          </m:rPr>
                          <a:rPr lang="en-US" b="0" i="0" dirty="0" smtClean="0">
                            <a:latin typeface="Cambria Math" panose="02040503050406030204" pitchFamily="18" charset="0"/>
                          </a:rPr>
                          <m:t>a</m:t>
                        </m:r>
                      </m:sub>
                    </m:sSub>
                  </m:oMath>
                </a14:m>
                <a:r>
                  <a:rPr lang="en-US" dirty="0"/>
                  <a:t>.</a:t>
                </a:r>
                <a:endParaRPr lang="en-IN" dirty="0"/>
              </a:p>
              <a:p>
                <a:pPr>
                  <a:lnSpc>
                    <a:spcPct val="110000"/>
                  </a:lnSpc>
                </a:pPr>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203158"/>
                <a:ext cx="10515600" cy="4973805"/>
              </a:xfrm>
              <a:blipFill>
                <a:blip r:embed="rId2"/>
                <a:stretch>
                  <a:fillRect l="-812" t="-1716" r="-1101"/>
                </a:stretch>
              </a:blipFill>
            </p:spPr>
            <p:txBody>
              <a:bodyPr/>
              <a:lstStyle/>
              <a:p>
                <a:r>
                  <a:rPr lang="en-IN">
                    <a:noFill/>
                  </a:rPr>
                  <a:t> </a:t>
                </a:r>
              </a:p>
            </p:txBody>
          </p:sp>
        </mc:Fallback>
      </mc:AlternateContent>
    </p:spTree>
    <p:extLst>
      <p:ext uri="{BB962C8B-B14F-4D97-AF65-F5344CB8AC3E}">
        <p14:creationId xmlns:p14="http://schemas.microsoft.com/office/powerpoint/2010/main" val="27749020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838200" y="365125"/>
                <a:ext cx="10515600" cy="549275"/>
              </a:xfrm>
            </p:spPr>
            <p:txBody>
              <a:bodyPr>
                <a:normAutofit/>
              </a:bodyPr>
              <a:lstStyle/>
              <a:p>
                <a:pPr algn="ctr"/>
                <a:r>
                  <a:rPr lang="en-US" sz="3200" b="1" dirty="0">
                    <a:solidFill>
                      <a:srgbClr val="0000FF"/>
                    </a:solidFill>
                  </a:rPr>
                  <a:t>Level of Statistical Significance (</a:t>
                </a:r>
                <a14:m>
                  <m:oMath xmlns:m="http://schemas.openxmlformats.org/officeDocument/2006/math">
                    <m:r>
                      <a:rPr lang="en-US" sz="3200" b="1" i="1" smtClean="0">
                        <a:solidFill>
                          <a:srgbClr val="0000FF"/>
                        </a:solidFill>
                        <a:latin typeface="Cambria Math" panose="02040503050406030204" pitchFamily="18" charset="0"/>
                        <a:ea typeface="Cambria Math" panose="02040503050406030204" pitchFamily="18" charset="0"/>
                      </a:rPr>
                      <m:t>𝜶</m:t>
                    </m:r>
                  </m:oMath>
                </a14:m>
                <a:r>
                  <a:rPr lang="en-US" sz="3200" b="1" dirty="0">
                    <a:solidFill>
                      <a:srgbClr val="0000FF"/>
                    </a:solidFill>
                  </a:rPr>
                  <a:t>)</a:t>
                </a:r>
                <a:endParaRPr lang="en-IN" sz="3200" b="1" dirty="0">
                  <a:solidFill>
                    <a:srgbClr val="0000FF"/>
                  </a:solidFill>
                </a:endParaRP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838200" y="365125"/>
                <a:ext cx="10515600" cy="549275"/>
              </a:xfrm>
              <a:blipFill>
                <a:blip r:embed="rId2"/>
                <a:stretch>
                  <a:fillRect t="-21111" b="-3555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914400"/>
                <a:ext cx="10515600" cy="5262563"/>
              </a:xfrm>
            </p:spPr>
            <p:txBody>
              <a:bodyPr>
                <a:normAutofit/>
              </a:bodyPr>
              <a:lstStyle/>
              <a:p>
                <a:pPr lvl="0"/>
                <a:r>
                  <a:rPr lang="en-US" sz="1600" dirty="0"/>
                  <a:t>Level of significance (</a:t>
                </a:r>
                <a14:m>
                  <m:oMath xmlns:m="http://schemas.openxmlformats.org/officeDocument/2006/math">
                    <m:r>
                      <a:rPr lang="en-US" sz="1600" i="1">
                        <a:latin typeface="Cambria Math" panose="02040503050406030204" pitchFamily="18" charset="0"/>
                        <a:ea typeface="Cambria Math" panose="02040503050406030204" pitchFamily="18" charset="0"/>
                      </a:rPr>
                      <m:t>𝛼</m:t>
                    </m:r>
                  </m:oMath>
                </a14:m>
                <a:r>
                  <a:rPr lang="en-US" sz="1600" dirty="0"/>
                  <a:t>): The level of significance is defined as the probability of wrong elimination of null hypothesis when in fact, it is true. It is the opposite of the confidence level (denoted by </a:t>
                </a:r>
                <a:r>
                  <a:rPr lang="en-US" sz="1600" i="1" dirty="0"/>
                  <a:t>c). </a:t>
                </a:r>
                <a:r>
                  <a:rPr lang="en-US" sz="1600" dirty="0"/>
                  <a:t>The c level is usually set ranging from 0.1 to 0.005 (10% to 0.5%).</a:t>
                </a:r>
                <a:endParaRPr lang="en-IN" sz="1600" dirty="0"/>
              </a:p>
              <a:p>
                <a:pPr lvl="0"/>
                <a:r>
                  <a:rPr lang="en-US" sz="1600" dirty="0"/>
                  <a:t>An </a:t>
                </a:r>
                <a14:m>
                  <m:oMath xmlns:m="http://schemas.openxmlformats.org/officeDocument/2006/math">
                    <m:r>
                      <a:rPr lang="en-US" sz="1600" i="1">
                        <a:latin typeface="Cambria Math" panose="02040503050406030204" pitchFamily="18" charset="0"/>
                        <a:ea typeface="Cambria Math" panose="02040503050406030204" pitchFamily="18" charset="0"/>
                      </a:rPr>
                      <m:t>𝛼</m:t>
                    </m:r>
                  </m:oMath>
                </a14:m>
                <a:r>
                  <a:rPr lang="en-US" sz="1600" dirty="0"/>
                  <a:t> = 0.05 means 5% chance of finding alternate hypothesis to be true, thereby rejecting null hypothesis, when in actuality, null hypothesis is true.</a:t>
                </a:r>
                <a:endParaRPr lang="en-IN" sz="1600" dirty="0"/>
              </a:p>
              <a:p>
                <a:pPr lvl="0"/>
                <a:r>
                  <a:rPr lang="en-US" sz="1600" dirty="0"/>
                  <a:t>In the case of the effect of fertilizer on plant growth example, it is the probability that the null hypothesis of no effect of fertilizer on plant growth is rejected when it is indeed true.</a:t>
                </a:r>
                <a:endParaRPr lang="en-IN" sz="1600" dirty="0"/>
              </a:p>
              <a:p>
                <a:pPr lvl="0"/>
                <a:r>
                  <a:rPr lang="en-US" sz="1600" dirty="0"/>
                  <a:t>The success of the statistical test depends on the availability of correct and reliable data and researchers skill in interpreting the results</a:t>
                </a:r>
                <a:endParaRPr lang="en-IN" sz="1600" dirty="0"/>
              </a:p>
              <a:p>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914400"/>
                <a:ext cx="10515600" cy="5262563"/>
              </a:xfrm>
              <a:blipFill>
                <a:blip r:embed="rId3"/>
                <a:stretch>
                  <a:fillRect l="-232" t="-811" r="-638"/>
                </a:stretch>
              </a:blipFill>
            </p:spPr>
            <p:txBody>
              <a:bodyPr/>
              <a:lstStyle/>
              <a:p>
                <a:r>
                  <a:rPr lang="en-IN">
                    <a:noFill/>
                  </a:rPr>
                  <a:t> </a:t>
                </a:r>
              </a:p>
            </p:txBody>
          </p:sp>
        </mc:Fallback>
      </mc:AlternateContent>
      <p:pic>
        <p:nvPicPr>
          <p:cNvPr id="4" name="Picture 3"/>
          <p:cNvPicPr>
            <a:picLocks noChangeAspect="1"/>
          </p:cNvPicPr>
          <p:nvPr/>
        </p:nvPicPr>
        <p:blipFill>
          <a:blip r:embed="rId4"/>
          <a:stretch>
            <a:fillRect/>
          </a:stretch>
        </p:blipFill>
        <p:spPr>
          <a:xfrm>
            <a:off x="1577569" y="3375109"/>
            <a:ext cx="8383325" cy="2801854"/>
          </a:xfrm>
          <a:prstGeom prst="rect">
            <a:avLst/>
          </a:prstGeom>
        </p:spPr>
      </p:pic>
    </p:spTree>
    <p:extLst>
      <p:ext uri="{BB962C8B-B14F-4D97-AF65-F5344CB8AC3E}">
        <p14:creationId xmlns:p14="http://schemas.microsoft.com/office/powerpoint/2010/main" val="392487034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45528"/>
          </a:xfrm>
        </p:spPr>
        <p:txBody>
          <a:bodyPr>
            <a:normAutofit/>
          </a:bodyPr>
          <a:lstStyle/>
          <a:p>
            <a:pPr algn="ctr"/>
            <a:r>
              <a:rPr lang="en-US" sz="3200" b="1" dirty="0">
                <a:solidFill>
                  <a:srgbClr val="0000FF"/>
                </a:solidFill>
              </a:rPr>
              <a:t>Two – Tailed and One – Tailed Test</a:t>
            </a:r>
            <a:endParaRPr lang="en-IN" sz="3200" b="1" dirty="0">
              <a:solidFill>
                <a:srgbClr val="0000FF"/>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010654"/>
                <a:ext cx="10515600" cy="5166309"/>
              </a:xfrm>
            </p:spPr>
            <p:txBody>
              <a:bodyPr>
                <a:normAutofit/>
              </a:bodyPr>
              <a:lstStyle/>
              <a:p>
                <a:pPr marL="0" indent="0">
                  <a:buNone/>
                </a:pPr>
                <a:r>
                  <a:rPr lang="en-US" sz="2000" dirty="0"/>
                  <a:t>The </a:t>
                </a:r>
                <a:r>
                  <a:rPr lang="en-US" sz="2000" dirty="0">
                    <a:solidFill>
                      <a:srgbClr val="FF0000"/>
                    </a:solidFill>
                  </a:rPr>
                  <a:t>two-tailed test </a:t>
                </a:r>
                <a:r>
                  <a:rPr lang="en-US" sz="2000" dirty="0"/>
                  <a:t>is applicable when a given H, may be rejected</a:t>
                </a:r>
                <a:r>
                  <a:rPr lang="en-IN" sz="2000" dirty="0"/>
                  <a:t> </a:t>
                </a:r>
                <a:r>
                  <a:rPr lang="en-US" sz="2000" dirty="0"/>
                  <a:t>with the value of the statistic being either sufficiently small or sufficiently large.</a:t>
                </a:r>
                <a:endParaRPr lang="en-IN" sz="2000" dirty="0"/>
              </a:p>
              <a:p>
                <a:pPr marL="0" indent="0">
                  <a:buNone/>
                </a:pPr>
                <a:r>
                  <a:rPr lang="en-US" sz="2000" dirty="0"/>
                  <a:t>		</a:t>
                </a:r>
                <a14:m>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panose="02040503050406030204" pitchFamily="18" charset="0"/>
                          </a:rPr>
                          <m:t>𝐻</m:t>
                        </m:r>
                      </m:e>
                      <m:sub>
                        <m:r>
                          <a:rPr lang="en-US" sz="2000" b="0" i="1" smtClean="0">
                            <a:solidFill>
                              <a:srgbClr val="FF0000"/>
                            </a:solidFill>
                            <a:latin typeface="Cambria Math" panose="02040503050406030204" pitchFamily="18" charset="0"/>
                          </a:rPr>
                          <m:t>1</m:t>
                        </m:r>
                      </m:sub>
                    </m:sSub>
                  </m:oMath>
                </a14:m>
                <a:r>
                  <a:rPr lang="en-US" sz="2000" dirty="0">
                    <a:solidFill>
                      <a:srgbClr val="FF0000"/>
                    </a:solidFill>
                  </a:rPr>
                  <a:t>: </a:t>
                </a:r>
                <a14:m>
                  <m:oMath xmlns:m="http://schemas.openxmlformats.org/officeDocument/2006/math">
                    <m:r>
                      <a:rPr lang="en-US" sz="2000" i="1" smtClean="0">
                        <a:solidFill>
                          <a:srgbClr val="FF0000"/>
                        </a:solidFill>
                        <a:latin typeface="Cambria Math" panose="02040503050406030204" pitchFamily="18" charset="0"/>
                        <a:ea typeface="Cambria Math" panose="02040503050406030204" pitchFamily="18" charset="0"/>
                      </a:rPr>
                      <m:t>𝜇</m:t>
                    </m:r>
                    <m:r>
                      <a:rPr lang="en-US" sz="2000" i="1" smtClean="0">
                        <a:solidFill>
                          <a:srgbClr val="FF0000"/>
                        </a:solidFill>
                        <a:latin typeface="Cambria Math" panose="02040503050406030204" pitchFamily="18" charset="0"/>
                        <a:ea typeface="Cambria Math" panose="02040503050406030204" pitchFamily="18" charset="0"/>
                      </a:rPr>
                      <m:t>≠ </m:t>
                    </m:r>
                    <m:sSub>
                      <m:sSubPr>
                        <m:ctrlPr>
                          <a:rPr lang="en-US" sz="2000" b="0" i="1" smtClean="0">
                            <a:solidFill>
                              <a:srgbClr val="FF0000"/>
                            </a:solidFill>
                            <a:latin typeface="Cambria Math" panose="02040503050406030204" pitchFamily="18" charset="0"/>
                            <a:ea typeface="Cambria Math" panose="02040503050406030204" pitchFamily="18" charset="0"/>
                          </a:rPr>
                        </m:ctrlPr>
                      </m:sSubPr>
                      <m:e>
                        <m:r>
                          <a:rPr lang="en-US" sz="2000" b="0" i="1" smtClean="0">
                            <a:solidFill>
                              <a:srgbClr val="FF0000"/>
                            </a:solidFill>
                            <a:latin typeface="Cambria Math" panose="02040503050406030204" pitchFamily="18" charset="0"/>
                            <a:ea typeface="Cambria Math" panose="02040503050406030204" pitchFamily="18" charset="0"/>
                          </a:rPr>
                          <m:t>𝜇</m:t>
                        </m:r>
                      </m:e>
                      <m:sub>
                        <m:r>
                          <a:rPr lang="en-US" sz="2000" b="0" i="1" smtClean="0">
                            <a:solidFill>
                              <a:srgbClr val="FF0000"/>
                            </a:solidFill>
                            <a:latin typeface="Cambria Math" panose="02040503050406030204" pitchFamily="18" charset="0"/>
                            <a:ea typeface="Cambria Math" panose="02040503050406030204" pitchFamily="18" charset="0"/>
                          </a:rPr>
                          <m:t>0</m:t>
                        </m:r>
                      </m:sub>
                    </m:sSub>
                  </m:oMath>
                </a14:m>
                <a:r>
                  <a:rPr lang="en-US" sz="2000" dirty="0">
                    <a:solidFill>
                      <a:srgbClr val="FF0000"/>
                    </a:solidFill>
                  </a:rPr>
                  <a:t>, because either </a:t>
                </a:r>
                <a14:m>
                  <m:oMath xmlns:m="http://schemas.openxmlformats.org/officeDocument/2006/math">
                    <m:r>
                      <a:rPr lang="en-US" sz="2000" i="1">
                        <a:solidFill>
                          <a:srgbClr val="FF0000"/>
                        </a:solidFill>
                        <a:latin typeface="Cambria Math" panose="02040503050406030204" pitchFamily="18" charset="0"/>
                        <a:ea typeface="Cambria Math" panose="02040503050406030204" pitchFamily="18" charset="0"/>
                      </a:rPr>
                      <m:t>𝜇</m:t>
                    </m:r>
                    <m:r>
                      <a:rPr lang="en-US" sz="2000" b="0" i="1" smtClean="0">
                        <a:solidFill>
                          <a:srgbClr val="FF0000"/>
                        </a:solidFill>
                        <a:latin typeface="Cambria Math" panose="02040503050406030204" pitchFamily="18" charset="0"/>
                        <a:ea typeface="Cambria Math" panose="02040503050406030204" pitchFamily="18" charset="0"/>
                      </a:rPr>
                      <m:t>&gt;</m:t>
                    </m:r>
                    <m:r>
                      <a:rPr lang="en-US" sz="2000" i="1">
                        <a:solidFill>
                          <a:srgbClr val="FF0000"/>
                        </a:solidFill>
                        <a:latin typeface="Cambria Math" panose="02040503050406030204" pitchFamily="18" charset="0"/>
                        <a:ea typeface="Cambria Math" panose="02040503050406030204" pitchFamily="18" charset="0"/>
                      </a:rPr>
                      <m:t> </m:t>
                    </m:r>
                    <m:sSub>
                      <m:sSubPr>
                        <m:ctrlPr>
                          <a:rPr lang="en-US" sz="2000" i="1">
                            <a:solidFill>
                              <a:srgbClr val="FF0000"/>
                            </a:solidFill>
                            <a:latin typeface="Cambria Math" panose="02040503050406030204" pitchFamily="18" charset="0"/>
                            <a:ea typeface="Cambria Math" panose="02040503050406030204" pitchFamily="18" charset="0"/>
                          </a:rPr>
                        </m:ctrlPr>
                      </m:sSubPr>
                      <m:e>
                        <m:r>
                          <a:rPr lang="en-US" sz="2000" i="1">
                            <a:solidFill>
                              <a:srgbClr val="FF0000"/>
                            </a:solidFill>
                            <a:latin typeface="Cambria Math" panose="02040503050406030204" pitchFamily="18" charset="0"/>
                            <a:ea typeface="Cambria Math" panose="02040503050406030204" pitchFamily="18" charset="0"/>
                          </a:rPr>
                          <m:t>𝜇</m:t>
                        </m:r>
                      </m:e>
                      <m:sub>
                        <m:r>
                          <a:rPr lang="en-US" sz="2000" i="1">
                            <a:solidFill>
                              <a:srgbClr val="FF0000"/>
                            </a:solidFill>
                            <a:latin typeface="Cambria Math" panose="02040503050406030204" pitchFamily="18" charset="0"/>
                            <a:ea typeface="Cambria Math" panose="02040503050406030204" pitchFamily="18" charset="0"/>
                          </a:rPr>
                          <m:t>0</m:t>
                        </m:r>
                      </m:sub>
                    </m:sSub>
                  </m:oMath>
                </a14:m>
                <a:r>
                  <a:rPr lang="en-US" sz="2000" dirty="0">
                    <a:solidFill>
                      <a:srgbClr val="FF0000"/>
                    </a:solidFill>
                  </a:rPr>
                  <a:t> or </a:t>
                </a:r>
                <a14:m>
                  <m:oMath xmlns:m="http://schemas.openxmlformats.org/officeDocument/2006/math">
                    <m:r>
                      <a:rPr lang="en-US" sz="2000" i="1">
                        <a:solidFill>
                          <a:srgbClr val="FF0000"/>
                        </a:solidFill>
                        <a:latin typeface="Cambria Math" panose="02040503050406030204" pitchFamily="18" charset="0"/>
                        <a:ea typeface="Cambria Math" panose="02040503050406030204" pitchFamily="18" charset="0"/>
                      </a:rPr>
                      <m:t>𝜇</m:t>
                    </m:r>
                    <m:r>
                      <a:rPr lang="en-US" sz="2000" b="0" i="1" smtClean="0">
                        <a:solidFill>
                          <a:srgbClr val="FF0000"/>
                        </a:solidFill>
                        <a:latin typeface="Cambria Math" panose="02040503050406030204" pitchFamily="18" charset="0"/>
                        <a:ea typeface="Cambria Math" panose="02040503050406030204" pitchFamily="18" charset="0"/>
                      </a:rPr>
                      <m:t> &lt;</m:t>
                    </m:r>
                    <m:r>
                      <a:rPr lang="en-US" sz="2000" i="1">
                        <a:solidFill>
                          <a:srgbClr val="FF0000"/>
                        </a:solidFill>
                        <a:latin typeface="Cambria Math" panose="02040503050406030204" pitchFamily="18" charset="0"/>
                        <a:ea typeface="Cambria Math" panose="02040503050406030204" pitchFamily="18" charset="0"/>
                      </a:rPr>
                      <m:t> </m:t>
                    </m:r>
                    <m:sSub>
                      <m:sSubPr>
                        <m:ctrlPr>
                          <a:rPr lang="en-US" sz="2000" i="1">
                            <a:solidFill>
                              <a:srgbClr val="FF0000"/>
                            </a:solidFill>
                            <a:latin typeface="Cambria Math" panose="02040503050406030204" pitchFamily="18" charset="0"/>
                            <a:ea typeface="Cambria Math" panose="02040503050406030204" pitchFamily="18" charset="0"/>
                          </a:rPr>
                        </m:ctrlPr>
                      </m:sSubPr>
                      <m:e>
                        <m:r>
                          <a:rPr lang="en-US" sz="2000" i="1">
                            <a:solidFill>
                              <a:srgbClr val="FF0000"/>
                            </a:solidFill>
                            <a:latin typeface="Cambria Math" panose="02040503050406030204" pitchFamily="18" charset="0"/>
                            <a:ea typeface="Cambria Math" panose="02040503050406030204" pitchFamily="18" charset="0"/>
                          </a:rPr>
                          <m:t>𝜇</m:t>
                        </m:r>
                      </m:e>
                      <m:sub>
                        <m:r>
                          <a:rPr lang="en-US" sz="2000" i="1">
                            <a:solidFill>
                              <a:srgbClr val="FF0000"/>
                            </a:solidFill>
                            <a:latin typeface="Cambria Math" panose="02040503050406030204" pitchFamily="18" charset="0"/>
                            <a:ea typeface="Cambria Math" panose="02040503050406030204" pitchFamily="18" charset="0"/>
                          </a:rPr>
                          <m:t>0</m:t>
                        </m:r>
                      </m:sub>
                    </m:sSub>
                  </m:oMath>
                </a14:m>
                <a:endParaRPr lang="en-US" sz="2000" dirty="0"/>
              </a:p>
              <a:p>
                <a:pPr marL="0" indent="0">
                  <a:buNone/>
                </a:pPr>
                <a:r>
                  <a:rPr lang="en-US" sz="2000" dirty="0"/>
                  <a:t>Hence there are two rejection regions. The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𝐻</m:t>
                        </m:r>
                      </m:e>
                      <m:sub>
                        <m:r>
                          <a:rPr lang="en-US" sz="2000" b="0" i="1" smtClean="0">
                            <a:latin typeface="Cambria Math" panose="02040503050406030204" pitchFamily="18" charset="0"/>
                          </a:rPr>
                          <m:t>0</m:t>
                        </m:r>
                      </m:sub>
                    </m:sSub>
                  </m:oMath>
                </a14:m>
                <a:r>
                  <a:rPr lang="en-US" sz="2000" dirty="0"/>
                  <a:t>is rejected if the sample mean falls in either one of the two-tail regions under the far left or far right of the distribution. Please note </a:t>
                </a:r>
                <a14:m>
                  <m:oMath xmlns:m="http://schemas.openxmlformats.org/officeDocument/2006/math">
                    <m:sSub>
                      <m:sSubPr>
                        <m:ctrlPr>
                          <a:rPr lang="en-US" sz="2000" i="1" smtClean="0">
                            <a:solidFill>
                              <a:srgbClr val="FF0000"/>
                            </a:solidFill>
                            <a:latin typeface="Cambria Math" panose="02040503050406030204" pitchFamily="18" charset="0"/>
                            <a:ea typeface="Cambria Math" panose="02040503050406030204" pitchFamily="18" charset="0"/>
                          </a:rPr>
                        </m:ctrlPr>
                      </m:sSubPr>
                      <m:e>
                        <m:r>
                          <a:rPr lang="en-US" sz="2000" i="1">
                            <a:solidFill>
                              <a:srgbClr val="FF0000"/>
                            </a:solidFill>
                            <a:latin typeface="Cambria Math" panose="02040503050406030204" pitchFamily="18" charset="0"/>
                            <a:ea typeface="Cambria Math" panose="02040503050406030204" pitchFamily="18" charset="0"/>
                          </a:rPr>
                          <m:t>𝜇</m:t>
                        </m:r>
                      </m:e>
                      <m:sub>
                        <m:r>
                          <a:rPr lang="en-US" sz="2000" i="1">
                            <a:solidFill>
                              <a:srgbClr val="FF0000"/>
                            </a:solidFill>
                            <a:latin typeface="Cambria Math" panose="02040503050406030204" pitchFamily="18" charset="0"/>
                            <a:ea typeface="Cambria Math" panose="02040503050406030204" pitchFamily="18" charset="0"/>
                          </a:rPr>
                          <m:t>0</m:t>
                        </m:r>
                      </m:sub>
                    </m:sSub>
                    <m:r>
                      <a:rPr lang="en-US" sz="2000" dirty="0">
                        <a:solidFill>
                          <a:srgbClr val="FF0000"/>
                        </a:solidFill>
                        <a:latin typeface="Cambria Math" panose="02040503050406030204" pitchFamily="18" charset="0"/>
                      </a:rPr>
                      <m:t>=</m:t>
                    </m:r>
                    <m:r>
                      <a:rPr lang="en-US" sz="2000" b="0" i="0" dirty="0" smtClean="0">
                        <a:solidFill>
                          <a:srgbClr val="FF0000"/>
                        </a:solidFill>
                        <a:latin typeface="Cambria Math" panose="02040503050406030204" pitchFamily="18" charset="0"/>
                      </a:rPr>
                      <m:t> </m:t>
                    </m:r>
                    <m:r>
                      <a:rPr lang="en-US" sz="2000" b="0" i="1" dirty="0" smtClean="0">
                        <a:solidFill>
                          <a:srgbClr val="FF0000"/>
                        </a:solidFill>
                        <a:latin typeface="Cambria Math" panose="02040503050406030204" pitchFamily="18" charset="0"/>
                        <a:ea typeface="Cambria Math" panose="02040503050406030204" pitchFamily="18" charset="0"/>
                      </a:rPr>
                      <m:t>± 1.96</m:t>
                    </m:r>
                  </m:oMath>
                </a14:m>
                <a:r>
                  <a:rPr lang="en-US" sz="2000" dirty="0">
                    <a:solidFill>
                      <a:srgbClr val="FF0000"/>
                    </a:solidFill>
                  </a:rPr>
                  <a:t> </a:t>
                </a:r>
                <a:r>
                  <a:rPr lang="en-US" sz="2000" dirty="0"/>
                  <a:t>for </a:t>
                </a:r>
                <a14:m>
                  <m:oMath xmlns:m="http://schemas.openxmlformats.org/officeDocument/2006/math">
                    <m:r>
                      <a:rPr lang="en-US" sz="2000" i="1" smtClean="0">
                        <a:solidFill>
                          <a:srgbClr val="FF0000"/>
                        </a:solidFill>
                        <a:latin typeface="Cambria Math" panose="02040503050406030204" pitchFamily="18" charset="0"/>
                        <a:ea typeface="Cambria Math" panose="02040503050406030204" pitchFamily="18" charset="0"/>
                      </a:rPr>
                      <m:t>𝛼</m:t>
                    </m:r>
                    <m:r>
                      <a:rPr lang="en-US" sz="2000" b="0" i="1" smtClean="0">
                        <a:solidFill>
                          <a:srgbClr val="FF0000"/>
                        </a:solidFill>
                        <a:latin typeface="Cambria Math" panose="02040503050406030204" pitchFamily="18" charset="0"/>
                        <a:ea typeface="Cambria Math" panose="02040503050406030204" pitchFamily="18" charset="0"/>
                      </a:rPr>
                      <m:t> </m:t>
                    </m:r>
                  </m:oMath>
                </a14:m>
                <a:r>
                  <a:rPr lang="en-US" sz="2000" dirty="0">
                    <a:solidFill>
                      <a:srgbClr val="FF0000"/>
                    </a:solidFill>
                  </a:rPr>
                  <a:t>= 0.05 </a:t>
                </a:r>
                <a:r>
                  <a:rPr lang="en-US" sz="2000" dirty="0"/>
                  <a:t>which maybe obtained from tables in the figure below.</a:t>
                </a:r>
                <a:endParaRPr lang="en-IN" sz="2000" dirty="0"/>
              </a:p>
              <a:p>
                <a:endParaRPr lang="en-IN"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010654"/>
                <a:ext cx="10515600" cy="5166309"/>
              </a:xfrm>
              <a:blipFill>
                <a:blip r:embed="rId2"/>
                <a:stretch>
                  <a:fillRect l="-638" t="-1299"/>
                </a:stretch>
              </a:blipFill>
            </p:spPr>
            <p:txBody>
              <a:bodyPr/>
              <a:lstStyle/>
              <a:p>
                <a:r>
                  <a:rPr lang="en-IN">
                    <a:noFill/>
                  </a:rPr>
                  <a:t> </a:t>
                </a:r>
              </a:p>
            </p:txBody>
          </p:sp>
        </mc:Fallback>
      </mc:AlternateContent>
      <p:pic>
        <p:nvPicPr>
          <p:cNvPr id="4" name="Picture 3"/>
          <p:cNvPicPr>
            <a:picLocks noChangeAspect="1"/>
          </p:cNvPicPr>
          <p:nvPr/>
        </p:nvPicPr>
        <p:blipFill>
          <a:blip r:embed="rId3"/>
          <a:stretch>
            <a:fillRect/>
          </a:stretch>
        </p:blipFill>
        <p:spPr>
          <a:xfrm>
            <a:off x="2030704" y="3345929"/>
            <a:ext cx="8130591" cy="2831034"/>
          </a:xfrm>
          <a:prstGeom prst="rect">
            <a:avLst/>
          </a:prstGeom>
        </p:spPr>
      </p:pic>
    </p:spTree>
    <p:extLst>
      <p:ext uri="{BB962C8B-B14F-4D97-AF65-F5344CB8AC3E}">
        <p14:creationId xmlns:p14="http://schemas.microsoft.com/office/powerpoint/2010/main" val="288772531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7401"/>
          </a:xfrm>
        </p:spPr>
        <p:txBody>
          <a:bodyPr>
            <a:normAutofit/>
          </a:bodyPr>
          <a:lstStyle/>
          <a:p>
            <a:pPr algn="ctr"/>
            <a:r>
              <a:rPr lang="en-US" sz="3200" b="1" dirty="0">
                <a:solidFill>
                  <a:srgbClr val="0000FF"/>
                </a:solidFill>
              </a:rPr>
              <a:t>Two – Tailed and One – Tailed Test</a:t>
            </a:r>
            <a:endParaRPr lang="en-IN" sz="32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962526"/>
                <a:ext cx="10515600" cy="5214437"/>
              </a:xfrm>
            </p:spPr>
            <p:txBody>
              <a:bodyPr/>
              <a:lstStyle/>
              <a:p>
                <a:pPr marL="0" indent="0" algn="just">
                  <a:lnSpc>
                    <a:spcPct val="100000"/>
                  </a:lnSpc>
                  <a:buNone/>
                </a:pPr>
                <a:r>
                  <a:rPr lang="en-US" sz="2000" dirty="0"/>
                  <a:t>The </a:t>
                </a:r>
                <a:r>
                  <a:rPr lang="en-US" sz="2000" dirty="0">
                    <a:solidFill>
                      <a:srgbClr val="FF0000"/>
                    </a:solidFill>
                  </a:rPr>
                  <a:t>one-tailed test </a:t>
                </a:r>
                <a:r>
                  <a:rPr lang="en-US" sz="2000" dirty="0"/>
                  <a:t>is applicable when a given </a:t>
                </a:r>
                <a14:m>
                  <m:oMath xmlns:m="http://schemas.openxmlformats.org/officeDocument/2006/math">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𝐻</m:t>
                        </m:r>
                      </m:e>
                      <m:sub>
                        <m:r>
                          <a:rPr lang="en-US" sz="2000" b="0" i="1" smtClean="0">
                            <a:solidFill>
                              <a:srgbClr val="FF0000"/>
                            </a:solidFill>
                            <a:latin typeface="Cambria Math" panose="02040503050406030204" pitchFamily="18" charset="0"/>
                          </a:rPr>
                          <m:t>0</m:t>
                        </m:r>
                      </m:sub>
                    </m:sSub>
                  </m:oMath>
                </a14:m>
                <a:r>
                  <a:rPr lang="en-US" sz="2000" dirty="0"/>
                  <a:t> may be rejected</a:t>
                </a:r>
                <a:r>
                  <a:rPr lang="en-IN" sz="2000" dirty="0"/>
                  <a:t> </a:t>
                </a:r>
                <a:r>
                  <a:rPr lang="en-US" sz="2000" dirty="0"/>
                  <a:t>with the value of the statistic being sufficiently large (in the second</a:t>
                </a:r>
                <a:r>
                  <a:rPr lang="en-IN" sz="2000" dirty="0"/>
                  <a:t> </a:t>
                </a:r>
                <a:r>
                  <a:rPr lang="en-US" sz="2000" dirty="0"/>
                  <a:t>case it might be sufficiently small).</a:t>
                </a:r>
              </a:p>
              <a:p>
                <a:pPr marL="2286000" lvl="5" indent="0" algn="just">
                  <a:lnSpc>
                    <a:spcPct val="100000"/>
                  </a:lnSpc>
                  <a:buNone/>
                </a:pPr>
                <a14:m>
                  <m:oMath xmlns:m="http://schemas.openxmlformats.org/officeDocument/2006/math">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𝐻</m:t>
                        </m:r>
                      </m:e>
                      <m:sub>
                        <m:r>
                          <a:rPr lang="en-US" sz="2000" i="1">
                            <a:solidFill>
                              <a:srgbClr val="FF0000"/>
                            </a:solidFill>
                            <a:latin typeface="Cambria Math" panose="02040503050406030204" pitchFamily="18" charset="0"/>
                          </a:rPr>
                          <m:t>1</m:t>
                        </m:r>
                      </m:sub>
                    </m:sSub>
                  </m:oMath>
                </a14:m>
                <a:r>
                  <a:rPr lang="en-US" sz="2000" dirty="0">
                    <a:solidFill>
                      <a:srgbClr val="FF0000"/>
                    </a:solidFill>
                  </a:rPr>
                  <a:t>: </a:t>
                </a:r>
                <a14:m>
                  <m:oMath xmlns:m="http://schemas.openxmlformats.org/officeDocument/2006/math">
                    <m:r>
                      <a:rPr lang="en-US" sz="2000" i="1">
                        <a:solidFill>
                          <a:srgbClr val="FF0000"/>
                        </a:solidFill>
                        <a:latin typeface="Cambria Math" panose="02040503050406030204" pitchFamily="18" charset="0"/>
                        <a:ea typeface="Cambria Math" panose="02040503050406030204" pitchFamily="18" charset="0"/>
                      </a:rPr>
                      <m:t>𝜇</m:t>
                    </m:r>
                    <m:r>
                      <a:rPr lang="en-US" sz="2000" i="1">
                        <a:solidFill>
                          <a:srgbClr val="FF0000"/>
                        </a:solidFill>
                        <a:latin typeface="Cambria Math" panose="02040503050406030204" pitchFamily="18" charset="0"/>
                        <a:ea typeface="Cambria Math" panose="02040503050406030204" pitchFamily="18" charset="0"/>
                      </a:rPr>
                      <m:t>≠ </m:t>
                    </m:r>
                    <m:sSub>
                      <m:sSubPr>
                        <m:ctrlPr>
                          <a:rPr lang="en-US" sz="2000" i="1">
                            <a:solidFill>
                              <a:srgbClr val="FF0000"/>
                            </a:solidFill>
                            <a:latin typeface="Cambria Math" panose="02040503050406030204" pitchFamily="18" charset="0"/>
                            <a:ea typeface="Cambria Math" panose="02040503050406030204" pitchFamily="18" charset="0"/>
                          </a:rPr>
                        </m:ctrlPr>
                      </m:sSubPr>
                      <m:e>
                        <m:r>
                          <a:rPr lang="en-US" sz="2000" i="1">
                            <a:solidFill>
                              <a:srgbClr val="FF0000"/>
                            </a:solidFill>
                            <a:latin typeface="Cambria Math" panose="02040503050406030204" pitchFamily="18" charset="0"/>
                            <a:ea typeface="Cambria Math" panose="02040503050406030204" pitchFamily="18" charset="0"/>
                          </a:rPr>
                          <m:t>𝜇</m:t>
                        </m:r>
                      </m:e>
                      <m:sub>
                        <m:r>
                          <a:rPr lang="en-US" sz="2000" i="1">
                            <a:solidFill>
                              <a:srgbClr val="FF0000"/>
                            </a:solidFill>
                            <a:latin typeface="Cambria Math" panose="02040503050406030204" pitchFamily="18" charset="0"/>
                            <a:ea typeface="Cambria Math" panose="02040503050406030204" pitchFamily="18" charset="0"/>
                          </a:rPr>
                          <m:t>0</m:t>
                        </m:r>
                      </m:sub>
                    </m:sSub>
                  </m:oMath>
                </a14:m>
                <a:r>
                  <a:rPr lang="en-US" sz="2000" dirty="0">
                    <a:solidFill>
                      <a:srgbClr val="FF0000"/>
                    </a:solidFill>
                  </a:rPr>
                  <a:t>, because  </a:t>
                </a:r>
                <a14:m>
                  <m:oMath xmlns:m="http://schemas.openxmlformats.org/officeDocument/2006/math">
                    <m:r>
                      <a:rPr lang="en-US" sz="2000" i="1">
                        <a:solidFill>
                          <a:srgbClr val="FF0000"/>
                        </a:solidFill>
                        <a:latin typeface="Cambria Math" panose="02040503050406030204" pitchFamily="18" charset="0"/>
                        <a:ea typeface="Cambria Math" panose="02040503050406030204" pitchFamily="18" charset="0"/>
                      </a:rPr>
                      <m:t>𝜇</m:t>
                    </m:r>
                    <m:r>
                      <a:rPr lang="en-US" sz="2000" i="1">
                        <a:solidFill>
                          <a:srgbClr val="FF0000"/>
                        </a:solidFill>
                        <a:latin typeface="Cambria Math" panose="02040503050406030204" pitchFamily="18" charset="0"/>
                        <a:ea typeface="Cambria Math" panose="02040503050406030204" pitchFamily="18" charset="0"/>
                      </a:rPr>
                      <m:t>&gt; </m:t>
                    </m:r>
                    <m:sSub>
                      <m:sSubPr>
                        <m:ctrlPr>
                          <a:rPr lang="en-US" sz="2000" i="1">
                            <a:solidFill>
                              <a:srgbClr val="FF0000"/>
                            </a:solidFill>
                            <a:latin typeface="Cambria Math" panose="02040503050406030204" pitchFamily="18" charset="0"/>
                            <a:ea typeface="Cambria Math" panose="02040503050406030204" pitchFamily="18" charset="0"/>
                          </a:rPr>
                        </m:ctrlPr>
                      </m:sSubPr>
                      <m:e>
                        <m:r>
                          <a:rPr lang="en-US" sz="2000" i="1">
                            <a:solidFill>
                              <a:srgbClr val="FF0000"/>
                            </a:solidFill>
                            <a:latin typeface="Cambria Math" panose="02040503050406030204" pitchFamily="18" charset="0"/>
                            <a:ea typeface="Cambria Math" panose="02040503050406030204" pitchFamily="18" charset="0"/>
                          </a:rPr>
                          <m:t>𝜇</m:t>
                        </m:r>
                      </m:e>
                      <m:sub>
                        <m:r>
                          <a:rPr lang="en-US" sz="2000" i="1">
                            <a:solidFill>
                              <a:srgbClr val="FF0000"/>
                            </a:solidFill>
                            <a:latin typeface="Cambria Math" panose="02040503050406030204" pitchFamily="18" charset="0"/>
                            <a:ea typeface="Cambria Math" panose="02040503050406030204" pitchFamily="18" charset="0"/>
                          </a:rPr>
                          <m:t>0</m:t>
                        </m:r>
                      </m:sub>
                    </m:sSub>
                  </m:oMath>
                </a14:m>
                <a:r>
                  <a:rPr lang="en-US" sz="2000" dirty="0">
                    <a:solidFill>
                      <a:srgbClr val="FF0000"/>
                    </a:solidFill>
                  </a:rPr>
                  <a:t> (in the second case </a:t>
                </a:r>
                <a14:m>
                  <m:oMath xmlns:m="http://schemas.openxmlformats.org/officeDocument/2006/math">
                    <m:r>
                      <a:rPr lang="en-US" sz="2000" i="1">
                        <a:solidFill>
                          <a:srgbClr val="FF0000"/>
                        </a:solidFill>
                        <a:latin typeface="Cambria Math" panose="02040503050406030204" pitchFamily="18" charset="0"/>
                        <a:ea typeface="Cambria Math" panose="02040503050406030204" pitchFamily="18" charset="0"/>
                      </a:rPr>
                      <m:t>𝜇</m:t>
                    </m:r>
                    <m:r>
                      <a:rPr lang="en-US" sz="2000" i="1">
                        <a:solidFill>
                          <a:srgbClr val="FF0000"/>
                        </a:solidFill>
                        <a:latin typeface="Cambria Math" panose="02040503050406030204" pitchFamily="18" charset="0"/>
                        <a:ea typeface="Cambria Math" panose="02040503050406030204" pitchFamily="18" charset="0"/>
                      </a:rPr>
                      <m:t> &lt; </m:t>
                    </m:r>
                    <m:sSub>
                      <m:sSubPr>
                        <m:ctrlPr>
                          <a:rPr lang="en-US" sz="2000" i="1">
                            <a:solidFill>
                              <a:srgbClr val="FF0000"/>
                            </a:solidFill>
                            <a:latin typeface="Cambria Math" panose="02040503050406030204" pitchFamily="18" charset="0"/>
                            <a:ea typeface="Cambria Math" panose="02040503050406030204" pitchFamily="18" charset="0"/>
                          </a:rPr>
                        </m:ctrlPr>
                      </m:sSubPr>
                      <m:e>
                        <m:r>
                          <a:rPr lang="en-US" sz="2000" i="1">
                            <a:solidFill>
                              <a:srgbClr val="FF0000"/>
                            </a:solidFill>
                            <a:latin typeface="Cambria Math" panose="02040503050406030204" pitchFamily="18" charset="0"/>
                            <a:ea typeface="Cambria Math" panose="02040503050406030204" pitchFamily="18" charset="0"/>
                          </a:rPr>
                          <m:t>𝜇</m:t>
                        </m:r>
                      </m:e>
                      <m:sub>
                        <m:r>
                          <a:rPr lang="en-US" sz="2000" i="1">
                            <a:solidFill>
                              <a:srgbClr val="FF0000"/>
                            </a:solidFill>
                            <a:latin typeface="Cambria Math" panose="02040503050406030204" pitchFamily="18" charset="0"/>
                            <a:ea typeface="Cambria Math" panose="02040503050406030204" pitchFamily="18" charset="0"/>
                          </a:rPr>
                          <m:t>0</m:t>
                        </m:r>
                      </m:sub>
                    </m:sSub>
                  </m:oMath>
                </a14:m>
                <a:r>
                  <a:rPr lang="en-US" sz="2000" dirty="0"/>
                  <a:t>)</a:t>
                </a:r>
              </a:p>
              <a:p>
                <a:pPr marL="0" indent="0" algn="just">
                  <a:lnSpc>
                    <a:spcPct val="100000"/>
                  </a:lnSpc>
                  <a:buNone/>
                </a:pPr>
                <a:r>
                  <a:rPr lang="en-US" sz="2000" dirty="0"/>
                  <a:t>Hence there is one rejection region. The </a:t>
                </a:r>
                <a14:m>
                  <m:oMath xmlns:m="http://schemas.openxmlformats.org/officeDocument/2006/math">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𝐻</m:t>
                        </m:r>
                      </m:e>
                      <m:sub>
                        <m:r>
                          <a:rPr lang="en-US" sz="2000" b="0" i="1" smtClean="0">
                            <a:solidFill>
                              <a:srgbClr val="FF0000"/>
                            </a:solidFill>
                            <a:latin typeface="Cambria Math" panose="02040503050406030204" pitchFamily="18" charset="0"/>
                          </a:rPr>
                          <m:t>0</m:t>
                        </m:r>
                      </m:sub>
                    </m:sSub>
                  </m:oMath>
                </a14:m>
                <a:r>
                  <a:rPr lang="en-US" sz="2000" dirty="0"/>
                  <a:t>is rejected if the sample mean falls in the single tail region under the far right (second case being far left of the distribution). Please note </a:t>
                </a:r>
                <a14:m>
                  <m:oMath xmlns:m="http://schemas.openxmlformats.org/officeDocument/2006/math">
                    <m:sSub>
                      <m:sSubPr>
                        <m:ctrlPr>
                          <a:rPr lang="en-US" sz="2000" i="1">
                            <a:solidFill>
                              <a:srgbClr val="FF0000"/>
                            </a:solidFill>
                            <a:latin typeface="Cambria Math" panose="02040503050406030204" pitchFamily="18" charset="0"/>
                            <a:ea typeface="Cambria Math" panose="02040503050406030204" pitchFamily="18" charset="0"/>
                          </a:rPr>
                        </m:ctrlPr>
                      </m:sSubPr>
                      <m:e>
                        <m:r>
                          <a:rPr lang="en-US" sz="2000" i="1">
                            <a:solidFill>
                              <a:srgbClr val="FF0000"/>
                            </a:solidFill>
                            <a:latin typeface="Cambria Math" panose="02040503050406030204" pitchFamily="18" charset="0"/>
                            <a:ea typeface="Cambria Math" panose="02040503050406030204" pitchFamily="18" charset="0"/>
                          </a:rPr>
                          <m:t>𝜇</m:t>
                        </m:r>
                      </m:e>
                      <m:sub>
                        <m:r>
                          <a:rPr lang="en-US" sz="2000" i="1">
                            <a:solidFill>
                              <a:srgbClr val="FF0000"/>
                            </a:solidFill>
                            <a:latin typeface="Cambria Math" panose="02040503050406030204" pitchFamily="18" charset="0"/>
                            <a:ea typeface="Cambria Math" panose="02040503050406030204" pitchFamily="18" charset="0"/>
                          </a:rPr>
                          <m:t>0</m:t>
                        </m:r>
                      </m:sub>
                    </m:sSub>
                    <m:r>
                      <a:rPr lang="en-US" sz="2000" dirty="0">
                        <a:solidFill>
                          <a:srgbClr val="FF0000"/>
                        </a:solidFill>
                        <a:latin typeface="Cambria Math" panose="02040503050406030204" pitchFamily="18" charset="0"/>
                      </a:rPr>
                      <m:t>= </m:t>
                    </m:r>
                    <m:r>
                      <a:rPr lang="en-US" sz="2000" i="1" dirty="0" smtClean="0">
                        <a:solidFill>
                          <a:srgbClr val="FF0000"/>
                        </a:solidFill>
                        <a:latin typeface="Cambria Math" panose="02040503050406030204" pitchFamily="18" charset="0"/>
                        <a:ea typeface="Cambria Math" panose="02040503050406030204" pitchFamily="18" charset="0"/>
                      </a:rPr>
                      <m:t>+</m:t>
                    </m:r>
                    <m:r>
                      <a:rPr lang="en-US" sz="2000" i="1" dirty="0">
                        <a:solidFill>
                          <a:srgbClr val="FF0000"/>
                        </a:solidFill>
                        <a:latin typeface="Cambria Math" panose="02040503050406030204" pitchFamily="18" charset="0"/>
                        <a:ea typeface="Cambria Math" panose="02040503050406030204" pitchFamily="18" charset="0"/>
                      </a:rPr>
                      <m:t> 1.6</m:t>
                    </m:r>
                    <m:r>
                      <a:rPr lang="en-US" sz="2000" b="0" i="1" dirty="0" smtClean="0">
                        <a:solidFill>
                          <a:srgbClr val="FF0000"/>
                        </a:solidFill>
                        <a:latin typeface="Cambria Math" panose="02040503050406030204" pitchFamily="18" charset="0"/>
                        <a:ea typeface="Cambria Math" panose="02040503050406030204" pitchFamily="18" charset="0"/>
                      </a:rPr>
                      <m:t>45</m:t>
                    </m:r>
                  </m:oMath>
                </a14:m>
                <a:r>
                  <a:rPr lang="en-US" sz="2000" dirty="0">
                    <a:solidFill>
                      <a:srgbClr val="FF0000"/>
                    </a:solidFill>
                  </a:rPr>
                  <a:t> </a:t>
                </a:r>
                <a:r>
                  <a:rPr lang="en-US" sz="2000" dirty="0"/>
                  <a:t>for </a:t>
                </a:r>
                <a14:m>
                  <m:oMath xmlns:m="http://schemas.openxmlformats.org/officeDocument/2006/math">
                    <m:r>
                      <a:rPr lang="en-US" sz="2000" i="1">
                        <a:solidFill>
                          <a:srgbClr val="FF0000"/>
                        </a:solidFill>
                        <a:latin typeface="Cambria Math" panose="02040503050406030204" pitchFamily="18" charset="0"/>
                        <a:ea typeface="Cambria Math" panose="02040503050406030204" pitchFamily="18" charset="0"/>
                      </a:rPr>
                      <m:t>𝛼</m:t>
                    </m:r>
                    <m:r>
                      <a:rPr lang="en-US" sz="2000" i="1">
                        <a:solidFill>
                          <a:srgbClr val="FF0000"/>
                        </a:solidFill>
                        <a:latin typeface="Cambria Math" panose="02040503050406030204" pitchFamily="18" charset="0"/>
                        <a:ea typeface="Cambria Math" panose="02040503050406030204" pitchFamily="18" charset="0"/>
                      </a:rPr>
                      <m:t> </m:t>
                    </m:r>
                  </m:oMath>
                </a14:m>
                <a:r>
                  <a:rPr lang="en-US" sz="2000" dirty="0">
                    <a:solidFill>
                      <a:srgbClr val="FF0000"/>
                    </a:solidFill>
                  </a:rPr>
                  <a:t>= 0.05 </a:t>
                </a:r>
                <a:r>
                  <a:rPr lang="en-US" sz="2000" dirty="0"/>
                  <a:t>which maybe obtained from tables in the figure below.</a:t>
                </a:r>
                <a:endParaRPr lang="en-IN" sz="2000" dirty="0"/>
              </a:p>
              <a:p>
                <a:endParaRPr lang="en-IN" dirty="0"/>
              </a:p>
              <a:p>
                <a:pPr marL="0" indent="0">
                  <a:buNone/>
                </a:pPr>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962526"/>
                <a:ext cx="10515600" cy="5214437"/>
              </a:xfrm>
              <a:blipFill>
                <a:blip r:embed="rId2"/>
                <a:stretch>
                  <a:fillRect l="-638" t="-702" r="-580"/>
                </a:stretch>
              </a:blipFill>
            </p:spPr>
            <p:txBody>
              <a:bodyPr/>
              <a:lstStyle/>
              <a:p>
                <a:r>
                  <a:rPr lang="en-IN">
                    <a:noFill/>
                  </a:rPr>
                  <a:t> </a:t>
                </a:r>
              </a:p>
            </p:txBody>
          </p:sp>
        </mc:Fallback>
      </mc:AlternateContent>
      <p:pic>
        <p:nvPicPr>
          <p:cNvPr id="4" name="Picture 3"/>
          <p:cNvPicPr>
            <a:picLocks noChangeAspect="1"/>
          </p:cNvPicPr>
          <p:nvPr/>
        </p:nvPicPr>
        <p:blipFill>
          <a:blip r:embed="rId3"/>
          <a:stretch>
            <a:fillRect/>
          </a:stretch>
        </p:blipFill>
        <p:spPr>
          <a:xfrm>
            <a:off x="2457450" y="3150053"/>
            <a:ext cx="8534400" cy="3648124"/>
          </a:xfrm>
          <a:prstGeom prst="rect">
            <a:avLst/>
          </a:prstGeom>
        </p:spPr>
      </p:pic>
    </p:spTree>
    <p:extLst>
      <p:ext uri="{BB962C8B-B14F-4D97-AF65-F5344CB8AC3E}">
        <p14:creationId xmlns:p14="http://schemas.microsoft.com/office/powerpoint/2010/main" val="353489549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34334"/>
          </a:xfrm>
        </p:spPr>
        <p:txBody>
          <a:bodyPr>
            <a:normAutofit/>
          </a:bodyPr>
          <a:lstStyle/>
          <a:p>
            <a:pPr algn="ctr"/>
            <a:r>
              <a:rPr lang="en-US" sz="3200" b="1" dirty="0">
                <a:solidFill>
                  <a:srgbClr val="0000FF"/>
                </a:solidFill>
              </a:rPr>
              <a:t>Hypothesis Testing Procedure</a:t>
            </a:r>
            <a:endParaRPr lang="en-IN" sz="3200" b="1" dirty="0">
              <a:solidFill>
                <a:srgbClr val="0000FF"/>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999460"/>
                <a:ext cx="10515600" cy="5493414"/>
              </a:xfrm>
            </p:spPr>
            <p:txBody>
              <a:bodyPr>
                <a:normAutofit fontScale="92500" lnSpcReduction="20000"/>
              </a:bodyPr>
              <a:lstStyle/>
              <a:p>
                <a:pPr marL="514350" lvl="0" indent="-514350">
                  <a:lnSpc>
                    <a:spcPct val="110000"/>
                  </a:lnSpc>
                  <a:buFont typeface="+mj-lt"/>
                  <a:buAutoNum type="arabicPeriod"/>
                </a:pPr>
                <a:r>
                  <a:rPr lang="en-US" dirty="0"/>
                  <a:t>Set up the hypothesis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𝑎</m:t>
                        </m:r>
                      </m:sub>
                    </m:sSub>
                  </m:oMath>
                </a14:m>
                <a:r>
                  <a:rPr lang="en-US" dirty="0"/>
                  <a:t>)</a:t>
                </a:r>
                <a:endParaRPr lang="en-IN" dirty="0"/>
              </a:p>
              <a:p>
                <a:pPr marL="514350" lvl="0" indent="-514350">
                  <a:lnSpc>
                    <a:spcPct val="110000"/>
                  </a:lnSpc>
                  <a:buFont typeface="+mj-lt"/>
                  <a:buAutoNum type="arabicPeriod"/>
                </a:pPr>
                <a:r>
                  <a:rPr lang="en-US" dirty="0"/>
                  <a:t>Select the significance level, say </a:t>
                </a:r>
                <a14:m>
                  <m:oMath xmlns:m="http://schemas.openxmlformats.org/officeDocument/2006/math">
                    <m:r>
                      <a:rPr lang="en-US" i="1" smtClean="0">
                        <a:latin typeface="Cambria Math" panose="02040503050406030204" pitchFamily="18" charset="0"/>
                        <a:ea typeface="Cambria Math" panose="02040503050406030204" pitchFamily="18" charset="0"/>
                      </a:rPr>
                      <m:t>𝛼</m:t>
                    </m:r>
                    <m:r>
                      <a:rPr lang="en-US" b="0" i="0" smtClean="0">
                        <a:latin typeface="Cambria Math" panose="02040503050406030204" pitchFamily="18" charset="0"/>
                        <a:ea typeface="Cambria Math" panose="02040503050406030204" pitchFamily="18" charset="0"/>
                      </a:rPr>
                      <m:t> </m:t>
                    </m:r>
                  </m:oMath>
                </a14:m>
                <a:r>
                  <a:rPr lang="en-US" dirty="0"/>
                  <a:t>= 0.05 or 0.01 </a:t>
                </a:r>
                <a:r>
                  <a:rPr lang="en-US" i="1" dirty="0"/>
                  <a:t>etc.</a:t>
                </a:r>
                <a:endParaRPr lang="en-IN" dirty="0"/>
              </a:p>
              <a:p>
                <a:pPr marL="514350" lvl="0" indent="-514350">
                  <a:lnSpc>
                    <a:spcPct val="110000"/>
                  </a:lnSpc>
                  <a:buFont typeface="+mj-lt"/>
                  <a:buAutoNum type="arabicPeriod"/>
                </a:pPr>
                <a:r>
                  <a:rPr lang="en-US" dirty="0"/>
                  <a:t>Identifying test statistic that can be used to test the null hypothesis (large sample is n &gt; 30, and small sample is n &lt; 30)</a:t>
                </a:r>
                <a:endParaRPr lang="en-IN" dirty="0"/>
              </a:p>
              <a:p>
                <a:pPr marL="514350" lvl="0" indent="-514350">
                  <a:lnSpc>
                    <a:spcPct val="110000"/>
                  </a:lnSpc>
                  <a:buFont typeface="+mj-lt"/>
                  <a:buAutoNum type="arabicPeriod"/>
                </a:pPr>
                <a:r>
                  <a:rPr lang="en-US" dirty="0"/>
                  <a:t>Obtain the observed/calculated value based on the data using the test statistic</a:t>
                </a:r>
                <a:endParaRPr lang="en-IN" dirty="0"/>
              </a:p>
              <a:p>
                <a:pPr marL="514350" lvl="0" indent="-514350">
                  <a:lnSpc>
                    <a:spcPct val="110000"/>
                  </a:lnSpc>
                  <a:buFont typeface="+mj-lt"/>
                  <a:buAutoNum type="arabicPeriod"/>
                </a:pPr>
                <a:r>
                  <a:rPr lang="en-US" dirty="0"/>
                  <a:t>Obtain the expected value (tabulated value) from the designated table</a:t>
                </a:r>
                <a:endParaRPr lang="en-IN" dirty="0"/>
              </a:p>
              <a:p>
                <a:pPr marL="507365" indent="-456565">
                  <a:lnSpc>
                    <a:spcPct val="100000"/>
                  </a:lnSpc>
                  <a:spcBef>
                    <a:spcPts val="600"/>
                  </a:spcBef>
                  <a:buClr>
                    <a:srgbClr val="C00000"/>
                  </a:buClr>
                  <a:buSzPct val="85000"/>
                  <a:buAutoNum type="arabicPeriod" startAt="7"/>
                  <a:tabLst>
                    <a:tab pos="507365" algn="l"/>
                  </a:tabLst>
                </a:pPr>
                <a:r>
                  <a:rPr lang="en-US" dirty="0"/>
                  <a:t>Inference: </a:t>
                </a:r>
              </a:p>
              <a:p>
                <a:pPr marL="507365" indent="-456565">
                  <a:lnSpc>
                    <a:spcPct val="100000"/>
                  </a:lnSpc>
                  <a:spcBef>
                    <a:spcPts val="600"/>
                  </a:spcBef>
                  <a:buClr>
                    <a:srgbClr val="C00000"/>
                  </a:buClr>
                  <a:buSzPct val="85000"/>
                  <a:buAutoNum type="arabicPeriod" startAt="7"/>
                  <a:tabLst>
                    <a:tab pos="507365" algn="l"/>
                  </a:tabLst>
                </a:pPr>
                <a:r>
                  <a:rPr lang="en-US" dirty="0">
                    <a:solidFill>
                      <a:srgbClr val="001F5F"/>
                    </a:solidFill>
                    <a:latin typeface="Times New Roman"/>
                    <a:cs typeface="Times New Roman"/>
                  </a:rPr>
                  <a:t>If</a:t>
                </a:r>
                <a:r>
                  <a:rPr lang="en-US" spc="-25" dirty="0">
                    <a:solidFill>
                      <a:srgbClr val="001F5F"/>
                    </a:solidFill>
                    <a:latin typeface="Times New Roman"/>
                    <a:cs typeface="Times New Roman"/>
                  </a:rPr>
                  <a:t> </a:t>
                </a:r>
                <a:r>
                  <a:rPr lang="en-US" dirty="0">
                    <a:solidFill>
                      <a:srgbClr val="001F5F"/>
                    </a:solidFill>
                    <a:latin typeface="Times New Roman"/>
                    <a:cs typeface="Times New Roman"/>
                  </a:rPr>
                  <a:t>the</a:t>
                </a:r>
                <a:r>
                  <a:rPr lang="en-US" spc="-15" dirty="0">
                    <a:solidFill>
                      <a:srgbClr val="001F5F"/>
                    </a:solidFill>
                    <a:latin typeface="Times New Roman"/>
                    <a:cs typeface="Times New Roman"/>
                  </a:rPr>
                  <a:t> </a:t>
                </a:r>
                <a:r>
                  <a:rPr lang="en-US" dirty="0">
                    <a:solidFill>
                      <a:srgbClr val="001F5F"/>
                    </a:solidFill>
                    <a:latin typeface="Times New Roman"/>
                    <a:cs typeface="Times New Roman"/>
                  </a:rPr>
                  <a:t>calculated</a:t>
                </a:r>
                <a:r>
                  <a:rPr lang="en-US" spc="-20" dirty="0">
                    <a:solidFill>
                      <a:srgbClr val="001F5F"/>
                    </a:solidFill>
                    <a:latin typeface="Times New Roman"/>
                    <a:cs typeface="Times New Roman"/>
                  </a:rPr>
                  <a:t> </a:t>
                </a:r>
                <a:r>
                  <a:rPr lang="en-US" dirty="0">
                    <a:solidFill>
                      <a:srgbClr val="001F5F"/>
                    </a:solidFill>
                    <a:latin typeface="Times New Roman"/>
                    <a:cs typeface="Times New Roman"/>
                  </a:rPr>
                  <a:t>value</a:t>
                </a:r>
                <a:r>
                  <a:rPr lang="en-US" spc="-20" dirty="0">
                    <a:solidFill>
                      <a:srgbClr val="001F5F"/>
                    </a:solidFill>
                    <a:latin typeface="Times New Roman"/>
                    <a:cs typeface="Times New Roman"/>
                  </a:rPr>
                  <a:t> </a:t>
                </a:r>
                <a:r>
                  <a:rPr lang="en-US" dirty="0">
                    <a:solidFill>
                      <a:srgbClr val="001F5F"/>
                    </a:solidFill>
                    <a:latin typeface="Times New Roman"/>
                    <a:cs typeface="Times New Roman"/>
                  </a:rPr>
                  <a:t>of</a:t>
                </a:r>
                <a:r>
                  <a:rPr lang="en-US" spc="-30" dirty="0">
                    <a:solidFill>
                      <a:srgbClr val="001F5F"/>
                    </a:solidFill>
                    <a:latin typeface="Times New Roman"/>
                    <a:cs typeface="Times New Roman"/>
                  </a:rPr>
                  <a:t> </a:t>
                </a:r>
                <a:r>
                  <a:rPr lang="en-US" dirty="0">
                    <a:solidFill>
                      <a:srgbClr val="001F5F"/>
                    </a:solidFill>
                    <a:latin typeface="Cambria Math"/>
                    <a:cs typeface="Cambria Math"/>
                  </a:rPr>
                  <a:t>𝑍</a:t>
                </a:r>
                <a:r>
                  <a:rPr lang="en-US" spc="105" dirty="0">
                    <a:solidFill>
                      <a:srgbClr val="001F5F"/>
                    </a:solidFill>
                    <a:latin typeface="Cambria Math"/>
                    <a:cs typeface="Cambria Math"/>
                  </a:rPr>
                  <a:t> </a:t>
                </a:r>
                <a:r>
                  <a:rPr lang="en-US" dirty="0">
                    <a:solidFill>
                      <a:srgbClr val="001F5F"/>
                    </a:solidFill>
                    <a:latin typeface="Times New Roman"/>
                    <a:cs typeface="Times New Roman"/>
                  </a:rPr>
                  <a:t>is</a:t>
                </a:r>
                <a:r>
                  <a:rPr lang="en-US" spc="-15" dirty="0">
                    <a:solidFill>
                      <a:srgbClr val="001F5F"/>
                    </a:solidFill>
                    <a:latin typeface="Times New Roman"/>
                    <a:cs typeface="Times New Roman"/>
                  </a:rPr>
                  <a:t> </a:t>
                </a:r>
                <a:r>
                  <a:rPr lang="en-US" dirty="0">
                    <a:solidFill>
                      <a:srgbClr val="001F5F"/>
                    </a:solidFill>
                    <a:latin typeface="Times New Roman"/>
                    <a:cs typeface="Times New Roman"/>
                  </a:rPr>
                  <a:t>less</a:t>
                </a:r>
                <a:r>
                  <a:rPr lang="en-US" spc="-30" dirty="0">
                    <a:solidFill>
                      <a:srgbClr val="001F5F"/>
                    </a:solidFill>
                    <a:latin typeface="Times New Roman"/>
                    <a:cs typeface="Times New Roman"/>
                  </a:rPr>
                  <a:t> </a:t>
                </a:r>
                <a:r>
                  <a:rPr lang="en-US" dirty="0">
                    <a:solidFill>
                      <a:srgbClr val="001F5F"/>
                    </a:solidFill>
                    <a:latin typeface="Times New Roman"/>
                    <a:cs typeface="Times New Roman"/>
                  </a:rPr>
                  <a:t>than</a:t>
                </a:r>
                <a:r>
                  <a:rPr lang="en-US" spc="-20" dirty="0">
                    <a:solidFill>
                      <a:srgbClr val="001F5F"/>
                    </a:solidFill>
                    <a:latin typeface="Times New Roman"/>
                    <a:cs typeface="Times New Roman"/>
                  </a:rPr>
                  <a:t> </a:t>
                </a:r>
                <a:r>
                  <a:rPr lang="en-US" dirty="0">
                    <a:solidFill>
                      <a:srgbClr val="001F5F"/>
                    </a:solidFill>
                    <a:latin typeface="Times New Roman"/>
                    <a:cs typeface="Times New Roman"/>
                  </a:rPr>
                  <a:t>tabulated</a:t>
                </a:r>
                <a:r>
                  <a:rPr lang="en-US" spc="-30" dirty="0">
                    <a:solidFill>
                      <a:srgbClr val="001F5F"/>
                    </a:solidFill>
                    <a:latin typeface="Times New Roman"/>
                    <a:cs typeface="Times New Roman"/>
                  </a:rPr>
                  <a:t> </a:t>
                </a:r>
                <a:r>
                  <a:rPr lang="en-US" dirty="0">
                    <a:solidFill>
                      <a:srgbClr val="001F5F"/>
                    </a:solidFill>
                    <a:latin typeface="Times New Roman"/>
                    <a:cs typeface="Times New Roman"/>
                  </a:rPr>
                  <a:t>value</a:t>
                </a:r>
                <a:r>
                  <a:rPr lang="en-US" spc="-25" dirty="0">
                    <a:solidFill>
                      <a:srgbClr val="001F5F"/>
                    </a:solidFill>
                    <a:latin typeface="Times New Roman"/>
                    <a:cs typeface="Times New Roman"/>
                  </a:rPr>
                  <a:t> </a:t>
                </a:r>
                <a:r>
                  <a:rPr lang="en-US" dirty="0">
                    <a:solidFill>
                      <a:srgbClr val="001F5F"/>
                    </a:solidFill>
                    <a:latin typeface="Cambria Math"/>
                    <a:cs typeface="Cambria Math"/>
                  </a:rPr>
                  <a:t>𝑧</a:t>
                </a:r>
                <a:r>
                  <a:rPr lang="en-US" sz="3200" baseline="-15325" dirty="0">
                    <a:solidFill>
                      <a:srgbClr val="001F5F"/>
                    </a:solidFill>
                    <a:latin typeface="Cambria Math"/>
                    <a:cs typeface="Cambria Math"/>
                  </a:rPr>
                  <a:t>𝛼</a:t>
                </a:r>
                <a:r>
                  <a:rPr lang="en-US" sz="3200" spc="442" baseline="-15325" dirty="0">
                    <a:solidFill>
                      <a:srgbClr val="001F5F"/>
                    </a:solidFill>
                    <a:latin typeface="Cambria Math"/>
                    <a:cs typeface="Cambria Math"/>
                  </a:rPr>
                  <a:t> </a:t>
                </a:r>
                <a:r>
                  <a:rPr lang="en-US" dirty="0">
                    <a:solidFill>
                      <a:srgbClr val="001F5F"/>
                    </a:solidFill>
                    <a:latin typeface="Times New Roman"/>
                    <a:cs typeface="Times New Roman"/>
                  </a:rPr>
                  <a:t>then</a:t>
                </a:r>
                <a:r>
                  <a:rPr lang="en-US" spc="-20" dirty="0">
                    <a:solidFill>
                      <a:srgbClr val="001F5F"/>
                    </a:solidFill>
                    <a:latin typeface="Times New Roman"/>
                    <a:cs typeface="Times New Roman"/>
                  </a:rPr>
                  <a:t> </a:t>
                </a:r>
                <a:r>
                  <a:rPr lang="en-US" dirty="0">
                    <a:solidFill>
                      <a:srgbClr val="001F5F"/>
                    </a:solidFill>
                    <a:latin typeface="Cambria Math"/>
                    <a:cs typeface="Cambria Math"/>
                  </a:rPr>
                  <a:t>𝐻</a:t>
                </a:r>
                <a:r>
                  <a:rPr lang="en-US" sz="3200" baseline="-15325" dirty="0">
                    <a:solidFill>
                      <a:srgbClr val="001F5F"/>
                    </a:solidFill>
                    <a:latin typeface="Cambria Math"/>
                    <a:cs typeface="Cambria Math"/>
                  </a:rPr>
                  <a:t>0</a:t>
                </a:r>
                <a:r>
                  <a:rPr lang="en-US" sz="3200" spc="382" baseline="-15325" dirty="0">
                    <a:solidFill>
                      <a:srgbClr val="001F5F"/>
                    </a:solidFill>
                    <a:latin typeface="Cambria Math"/>
                    <a:cs typeface="Cambria Math"/>
                  </a:rPr>
                  <a:t> </a:t>
                </a:r>
                <a:r>
                  <a:rPr lang="en-US" spc="-10" dirty="0">
                    <a:solidFill>
                      <a:srgbClr val="001F5F"/>
                    </a:solidFill>
                    <a:latin typeface="Times New Roman"/>
                    <a:cs typeface="Times New Roman"/>
                  </a:rPr>
                  <a:t>accepted.</a:t>
                </a:r>
                <a:endParaRPr lang="en-US" dirty="0">
                  <a:latin typeface="Times New Roman"/>
                  <a:cs typeface="Times New Roman"/>
                </a:endParaRPr>
              </a:p>
              <a:p>
                <a:pPr marL="507365" indent="-456565">
                  <a:lnSpc>
                    <a:spcPct val="100000"/>
                  </a:lnSpc>
                  <a:spcBef>
                    <a:spcPts val="600"/>
                  </a:spcBef>
                  <a:buClr>
                    <a:srgbClr val="C00000"/>
                  </a:buClr>
                  <a:buSzPct val="85000"/>
                  <a:buAutoNum type="arabicPeriod" startAt="7"/>
                  <a:tabLst>
                    <a:tab pos="507365" algn="l"/>
                    <a:tab pos="7406640" algn="l"/>
                  </a:tabLst>
                </a:pPr>
                <a:r>
                  <a:rPr lang="en-US" dirty="0">
                    <a:solidFill>
                      <a:srgbClr val="001F5F"/>
                    </a:solidFill>
                    <a:latin typeface="Times New Roman"/>
                    <a:cs typeface="Times New Roman"/>
                  </a:rPr>
                  <a:t>If</a:t>
                </a:r>
                <a:r>
                  <a:rPr lang="en-US" spc="425" dirty="0">
                    <a:solidFill>
                      <a:srgbClr val="001F5F"/>
                    </a:solidFill>
                    <a:latin typeface="Times New Roman"/>
                    <a:cs typeface="Times New Roman"/>
                  </a:rPr>
                  <a:t> </a:t>
                </a:r>
                <a:r>
                  <a:rPr lang="en-US" dirty="0">
                    <a:solidFill>
                      <a:srgbClr val="001F5F"/>
                    </a:solidFill>
                    <a:latin typeface="Times New Roman"/>
                    <a:cs typeface="Times New Roman"/>
                  </a:rPr>
                  <a:t>the</a:t>
                </a:r>
                <a:r>
                  <a:rPr lang="en-US" spc="409" dirty="0">
                    <a:solidFill>
                      <a:srgbClr val="001F5F"/>
                    </a:solidFill>
                    <a:latin typeface="Times New Roman"/>
                    <a:cs typeface="Times New Roman"/>
                  </a:rPr>
                  <a:t> </a:t>
                </a:r>
                <a:r>
                  <a:rPr lang="en-US" dirty="0">
                    <a:solidFill>
                      <a:srgbClr val="001F5F"/>
                    </a:solidFill>
                    <a:latin typeface="Times New Roman"/>
                    <a:cs typeface="Times New Roman"/>
                  </a:rPr>
                  <a:t>calculated</a:t>
                </a:r>
                <a:r>
                  <a:rPr lang="en-US" spc="420" dirty="0">
                    <a:solidFill>
                      <a:srgbClr val="001F5F"/>
                    </a:solidFill>
                    <a:latin typeface="Times New Roman"/>
                    <a:cs typeface="Times New Roman"/>
                  </a:rPr>
                  <a:t> </a:t>
                </a:r>
                <a:r>
                  <a:rPr lang="en-US" dirty="0">
                    <a:solidFill>
                      <a:srgbClr val="001F5F"/>
                    </a:solidFill>
                    <a:latin typeface="Times New Roman"/>
                    <a:cs typeface="Times New Roman"/>
                  </a:rPr>
                  <a:t>value</a:t>
                </a:r>
                <a:r>
                  <a:rPr lang="en-US" spc="415" dirty="0">
                    <a:solidFill>
                      <a:srgbClr val="001F5F"/>
                    </a:solidFill>
                    <a:latin typeface="Times New Roman"/>
                    <a:cs typeface="Times New Roman"/>
                  </a:rPr>
                  <a:t> </a:t>
                </a:r>
                <a:r>
                  <a:rPr lang="en-US" dirty="0">
                    <a:solidFill>
                      <a:srgbClr val="001F5F"/>
                    </a:solidFill>
                    <a:latin typeface="Times New Roman"/>
                    <a:cs typeface="Times New Roman"/>
                  </a:rPr>
                  <a:t>of</a:t>
                </a:r>
                <a:r>
                  <a:rPr lang="en-US" spc="405" dirty="0">
                    <a:solidFill>
                      <a:srgbClr val="001F5F"/>
                    </a:solidFill>
                    <a:latin typeface="Times New Roman"/>
                    <a:cs typeface="Times New Roman"/>
                  </a:rPr>
                  <a:t> </a:t>
                </a:r>
                <a:r>
                  <a:rPr lang="en-US" dirty="0">
                    <a:solidFill>
                      <a:srgbClr val="001F5F"/>
                    </a:solidFill>
                    <a:latin typeface="Cambria Math"/>
                    <a:cs typeface="Cambria Math"/>
                  </a:rPr>
                  <a:t>𝑍</a:t>
                </a:r>
                <a:r>
                  <a:rPr lang="en-US" spc="40" dirty="0">
                    <a:solidFill>
                      <a:srgbClr val="001F5F"/>
                    </a:solidFill>
                    <a:latin typeface="Cambria Math"/>
                    <a:cs typeface="Cambria Math"/>
                  </a:rPr>
                  <a:t>  </a:t>
                </a:r>
                <a:r>
                  <a:rPr lang="en-US" dirty="0">
                    <a:solidFill>
                      <a:srgbClr val="001F5F"/>
                    </a:solidFill>
                    <a:latin typeface="Times New Roman"/>
                    <a:cs typeface="Times New Roman"/>
                  </a:rPr>
                  <a:t>is</a:t>
                </a:r>
                <a:r>
                  <a:rPr lang="en-US" spc="415" dirty="0">
                    <a:solidFill>
                      <a:srgbClr val="001F5F"/>
                    </a:solidFill>
                    <a:latin typeface="Times New Roman"/>
                    <a:cs typeface="Times New Roman"/>
                  </a:rPr>
                  <a:t> </a:t>
                </a:r>
                <a:r>
                  <a:rPr lang="en-US" dirty="0">
                    <a:solidFill>
                      <a:srgbClr val="001F5F"/>
                    </a:solidFill>
                    <a:latin typeface="Times New Roman"/>
                    <a:cs typeface="Times New Roman"/>
                  </a:rPr>
                  <a:t>greater</a:t>
                </a:r>
                <a:r>
                  <a:rPr lang="en-US" spc="430" dirty="0">
                    <a:solidFill>
                      <a:srgbClr val="001F5F"/>
                    </a:solidFill>
                    <a:latin typeface="Times New Roman"/>
                    <a:cs typeface="Times New Roman"/>
                  </a:rPr>
                  <a:t> </a:t>
                </a:r>
                <a:r>
                  <a:rPr lang="en-US" dirty="0">
                    <a:solidFill>
                      <a:srgbClr val="001F5F"/>
                    </a:solidFill>
                    <a:latin typeface="Times New Roman"/>
                    <a:cs typeface="Times New Roman"/>
                  </a:rPr>
                  <a:t>than</a:t>
                </a:r>
                <a:r>
                  <a:rPr lang="en-US" spc="420" dirty="0">
                    <a:solidFill>
                      <a:srgbClr val="001F5F"/>
                    </a:solidFill>
                    <a:latin typeface="Times New Roman"/>
                    <a:cs typeface="Times New Roman"/>
                  </a:rPr>
                  <a:t> </a:t>
                </a:r>
                <a:r>
                  <a:rPr lang="en-US" dirty="0">
                    <a:solidFill>
                      <a:srgbClr val="001F5F"/>
                    </a:solidFill>
                    <a:latin typeface="Times New Roman"/>
                    <a:cs typeface="Times New Roman"/>
                  </a:rPr>
                  <a:t>tabulated</a:t>
                </a:r>
                <a:r>
                  <a:rPr lang="en-US" spc="405" dirty="0">
                    <a:solidFill>
                      <a:srgbClr val="001F5F"/>
                    </a:solidFill>
                    <a:latin typeface="Times New Roman"/>
                    <a:cs typeface="Times New Roman"/>
                  </a:rPr>
                  <a:t> </a:t>
                </a:r>
                <a:r>
                  <a:rPr lang="en-US" dirty="0">
                    <a:solidFill>
                      <a:srgbClr val="001F5F"/>
                    </a:solidFill>
                    <a:latin typeface="Times New Roman"/>
                    <a:cs typeface="Times New Roman"/>
                  </a:rPr>
                  <a:t>value</a:t>
                </a:r>
                <a:r>
                  <a:rPr lang="en-US" spc="420" dirty="0">
                    <a:solidFill>
                      <a:srgbClr val="001F5F"/>
                    </a:solidFill>
                    <a:latin typeface="Times New Roman"/>
                    <a:cs typeface="Times New Roman"/>
                  </a:rPr>
                  <a:t> </a:t>
                </a:r>
                <a:r>
                  <a:rPr lang="en-US" spc="-25" dirty="0">
                    <a:solidFill>
                      <a:srgbClr val="001F5F"/>
                    </a:solidFill>
                    <a:latin typeface="Cambria Math"/>
                    <a:cs typeface="Cambria Math"/>
                  </a:rPr>
                  <a:t>𝑧</a:t>
                </a:r>
                <a:r>
                  <a:rPr lang="en-US" sz="3200" spc="-37" baseline="-15325" dirty="0">
                    <a:solidFill>
                      <a:srgbClr val="001F5F"/>
                    </a:solidFill>
                    <a:latin typeface="Cambria Math"/>
                    <a:cs typeface="Cambria Math"/>
                  </a:rPr>
                  <a:t>𝛼</a:t>
                </a:r>
                <a:r>
                  <a:rPr lang="en-US" sz="3200" baseline="-15325" dirty="0">
                    <a:solidFill>
                      <a:srgbClr val="001F5F"/>
                    </a:solidFill>
                    <a:latin typeface="Cambria Math"/>
                    <a:cs typeface="Cambria Math"/>
                  </a:rPr>
                  <a:t>	</a:t>
                </a:r>
                <a:r>
                  <a:rPr lang="en-US" dirty="0">
                    <a:solidFill>
                      <a:srgbClr val="001F5F"/>
                    </a:solidFill>
                    <a:latin typeface="Times New Roman"/>
                    <a:cs typeface="Times New Roman"/>
                  </a:rPr>
                  <a:t>then</a:t>
                </a:r>
                <a:r>
                  <a:rPr lang="en-US" spc="415" dirty="0">
                    <a:solidFill>
                      <a:srgbClr val="001F5F"/>
                    </a:solidFill>
                    <a:latin typeface="Times New Roman"/>
                    <a:cs typeface="Times New Roman"/>
                  </a:rPr>
                  <a:t> </a:t>
                </a:r>
                <a:r>
                  <a:rPr lang="en-US" spc="-25" dirty="0">
                    <a:solidFill>
                      <a:srgbClr val="001F5F"/>
                    </a:solidFill>
                    <a:latin typeface="Cambria Math"/>
                    <a:cs typeface="Cambria Math"/>
                  </a:rPr>
                  <a:t>𝐻</a:t>
                </a:r>
                <a:r>
                  <a:rPr lang="en-US" sz="3200" spc="-37" baseline="-15325" dirty="0">
                    <a:solidFill>
                      <a:srgbClr val="001F5F"/>
                    </a:solidFill>
                    <a:latin typeface="Cambria Math"/>
                    <a:cs typeface="Cambria Math"/>
                  </a:rPr>
                  <a:t>0</a:t>
                </a:r>
                <a:endParaRPr lang="en-US" sz="3200" baseline="-15325" dirty="0">
                  <a:latin typeface="Cambria Math"/>
                  <a:cs typeface="Cambria Math"/>
                </a:endParaRPr>
              </a:p>
              <a:p>
                <a:pPr marL="508000">
                  <a:lnSpc>
                    <a:spcPct val="100000"/>
                  </a:lnSpc>
                </a:pPr>
                <a:r>
                  <a:rPr lang="en-US" spc="-10" dirty="0">
                    <a:solidFill>
                      <a:srgbClr val="001F5F"/>
                    </a:solidFill>
                    <a:latin typeface="Times New Roman"/>
                    <a:cs typeface="Times New Roman"/>
                  </a:rPr>
                  <a:t>rejected.</a:t>
                </a:r>
                <a:endParaRPr lang="en-US" dirty="0">
                  <a:latin typeface="Times New Roman"/>
                  <a:cs typeface="Times New Roman"/>
                </a:endParaRPr>
              </a:p>
              <a:p>
                <a:pPr marL="514350" lvl="0" indent="-514350">
                  <a:lnSpc>
                    <a:spcPct val="110000"/>
                  </a:lnSpc>
                  <a:buFont typeface="+mj-lt"/>
                  <a:buAutoNum type="arabicPeriod"/>
                </a:pPr>
                <a:endParaRPr lang="en-IN" dirty="0"/>
              </a:p>
              <a:p>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999460"/>
                <a:ext cx="10515600" cy="5493414"/>
              </a:xfrm>
              <a:blipFill>
                <a:blip r:embed="rId2"/>
                <a:stretch>
                  <a:fillRect l="-1101" t="-1887" r="-1507"/>
                </a:stretch>
              </a:blipFill>
            </p:spPr>
            <p:txBody>
              <a:bodyPr/>
              <a:lstStyle/>
              <a:p>
                <a:r>
                  <a:rPr lang="en-IN">
                    <a:noFill/>
                  </a:rPr>
                  <a:t> </a:t>
                </a:r>
              </a:p>
            </p:txBody>
          </p:sp>
        </mc:Fallback>
      </mc:AlternateContent>
    </p:spTree>
    <p:extLst>
      <p:ext uri="{BB962C8B-B14F-4D97-AF65-F5344CB8AC3E}">
        <p14:creationId xmlns:p14="http://schemas.microsoft.com/office/powerpoint/2010/main" val="141272863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98131"/>
          </a:xfrm>
        </p:spPr>
        <p:txBody>
          <a:bodyPr>
            <a:normAutofit/>
          </a:bodyPr>
          <a:lstStyle/>
          <a:p>
            <a:pPr algn="ctr"/>
            <a:r>
              <a:rPr lang="en-US" sz="3200" b="1" dirty="0">
                <a:solidFill>
                  <a:srgbClr val="0000FF"/>
                </a:solidFill>
              </a:rPr>
              <a:t>Hypothesis Testing with Example</a:t>
            </a:r>
            <a:endParaRPr lang="en-IN" sz="3200" b="1" dirty="0">
              <a:solidFill>
                <a:srgbClr val="0000FF"/>
              </a:solidFill>
            </a:endParaRPr>
          </a:p>
        </p:txBody>
      </p:sp>
      <p:sp>
        <p:nvSpPr>
          <p:cNvPr id="3" name="Content Placeholder 2"/>
          <p:cNvSpPr>
            <a:spLocks noGrp="1"/>
          </p:cNvSpPr>
          <p:nvPr>
            <p:ph idx="1"/>
          </p:nvPr>
        </p:nvSpPr>
        <p:spPr>
          <a:xfrm>
            <a:off x="838200" y="1063256"/>
            <a:ext cx="10515600" cy="5113707"/>
          </a:xfrm>
        </p:spPr>
        <p:txBody>
          <a:bodyPr>
            <a:noAutofit/>
          </a:bodyPr>
          <a:lstStyle/>
          <a:p>
            <a:pPr>
              <a:lnSpc>
                <a:spcPct val="100000"/>
              </a:lnSpc>
            </a:pPr>
            <a:r>
              <a:rPr lang="en-US" dirty="0"/>
              <a:t>A manufacturer of switches claims that data obtained over the</a:t>
            </a:r>
            <a:r>
              <a:rPr lang="en-IN" dirty="0"/>
              <a:t> </a:t>
            </a:r>
            <a:r>
              <a:rPr lang="en-US" dirty="0"/>
              <a:t>years, show that their switches lasts for a </a:t>
            </a:r>
            <a:r>
              <a:rPr lang="en-US" dirty="0">
                <a:solidFill>
                  <a:srgbClr val="FF0000"/>
                </a:solidFill>
              </a:rPr>
              <a:t>mean of 2,000 hours</a:t>
            </a:r>
            <a:r>
              <a:rPr lang="en-IN" dirty="0">
                <a:solidFill>
                  <a:srgbClr val="FF0000"/>
                </a:solidFill>
              </a:rPr>
              <a:t> </a:t>
            </a:r>
            <a:r>
              <a:rPr lang="en-US" dirty="0"/>
              <a:t>with a </a:t>
            </a:r>
            <a:r>
              <a:rPr lang="en-US" dirty="0">
                <a:solidFill>
                  <a:srgbClr val="FF0000"/>
                </a:solidFill>
              </a:rPr>
              <a:t>standard deviation of 200 hours.</a:t>
            </a:r>
            <a:endParaRPr lang="en-IN" dirty="0">
              <a:solidFill>
                <a:srgbClr val="FF0000"/>
              </a:solidFill>
            </a:endParaRPr>
          </a:p>
          <a:p>
            <a:pPr>
              <a:lnSpc>
                <a:spcPct val="100000"/>
              </a:lnSpc>
            </a:pPr>
            <a:r>
              <a:rPr lang="en-US" dirty="0"/>
              <a:t>Later, the R&amp;D department claimed that they have came up with some innovation that might extend the life of the switches.</a:t>
            </a:r>
            <a:endParaRPr lang="en-IN" dirty="0"/>
          </a:p>
          <a:p>
            <a:pPr>
              <a:lnSpc>
                <a:spcPct val="100000"/>
              </a:lnSpc>
            </a:pPr>
            <a:r>
              <a:rPr lang="en-US" dirty="0"/>
              <a:t>To test this, the company conducted a test with </a:t>
            </a:r>
            <a:r>
              <a:rPr lang="en-US" dirty="0">
                <a:solidFill>
                  <a:srgbClr val="FF0000"/>
                </a:solidFill>
              </a:rPr>
              <a:t>100 switches </a:t>
            </a:r>
            <a:r>
              <a:rPr lang="en-US" dirty="0"/>
              <a:t>which showed that the they now had an mean life of </a:t>
            </a:r>
            <a:r>
              <a:rPr lang="en-US" dirty="0">
                <a:solidFill>
                  <a:srgbClr val="FF0000"/>
                </a:solidFill>
              </a:rPr>
              <a:t>1,960 hours </a:t>
            </a:r>
            <a:r>
              <a:rPr lang="en-US" dirty="0"/>
              <a:t>with a standard deviation of </a:t>
            </a:r>
            <a:r>
              <a:rPr lang="en-US" dirty="0">
                <a:solidFill>
                  <a:srgbClr val="FF0000"/>
                </a:solidFill>
              </a:rPr>
              <a:t>180 hours.</a:t>
            </a:r>
            <a:endParaRPr lang="en-IN" dirty="0">
              <a:solidFill>
                <a:srgbClr val="FF0000"/>
              </a:solidFill>
            </a:endParaRPr>
          </a:p>
          <a:p>
            <a:pPr>
              <a:lnSpc>
                <a:spcPct val="100000"/>
              </a:lnSpc>
            </a:pPr>
            <a:r>
              <a:rPr lang="en-US" dirty="0"/>
              <a:t>Based on these results, can the manufacturer claim that this has led to a change in the life span of the switches? Frame a hypothesis and test it with a significance level of 5%.</a:t>
            </a:r>
            <a:endParaRPr lang="en-IN" dirty="0"/>
          </a:p>
        </p:txBody>
      </p:sp>
    </p:spTree>
    <p:extLst>
      <p:ext uri="{BB962C8B-B14F-4D97-AF65-F5344CB8AC3E}">
        <p14:creationId xmlns:p14="http://schemas.microsoft.com/office/powerpoint/2010/main" val="116263047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9489"/>
            <a:ext cx="10515600" cy="698131"/>
          </a:xfrm>
        </p:spPr>
        <p:txBody>
          <a:bodyPr>
            <a:normAutofit/>
          </a:bodyPr>
          <a:lstStyle/>
          <a:p>
            <a:pPr algn="ctr"/>
            <a:r>
              <a:rPr lang="en-US" sz="3200" b="1" dirty="0">
                <a:solidFill>
                  <a:srgbClr val="0000FF"/>
                </a:solidFill>
              </a:rPr>
              <a:t>Hypothesis Testing with Example</a:t>
            </a:r>
            <a:endParaRPr lang="en-IN" sz="3200" b="1" dirty="0">
              <a:solidFill>
                <a:srgbClr val="0000FF"/>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14671" y="691116"/>
                <a:ext cx="11334306" cy="6166884"/>
              </a:xfrm>
            </p:spPr>
            <p:txBody>
              <a:bodyPr>
                <a:normAutofit fontScale="85000" lnSpcReduction="20000"/>
              </a:bodyPr>
              <a:lstStyle/>
              <a:p>
                <a:pPr algn="just">
                  <a:lnSpc>
                    <a:spcPct val="120000"/>
                  </a:lnSpc>
                </a:pPr>
                <a:r>
                  <a:rPr lang="en-US" sz="2600" b="1" dirty="0"/>
                  <a:t>Population Parameters:</a:t>
                </a:r>
                <a:endParaRPr lang="en-IN" sz="2600" b="1" dirty="0"/>
              </a:p>
              <a:p>
                <a:pPr lvl="1" algn="just">
                  <a:lnSpc>
                    <a:spcPct val="120000"/>
                  </a:lnSpc>
                </a:pPr>
                <a:r>
                  <a:rPr lang="en-US" sz="2600" dirty="0"/>
                  <a:t>Population mean, </a:t>
                </a:r>
                <a14:m>
                  <m:oMath xmlns:m="http://schemas.openxmlformats.org/officeDocument/2006/math">
                    <m:r>
                      <a:rPr lang="en-US" sz="2600" i="1" smtClean="0">
                        <a:solidFill>
                          <a:srgbClr val="FF0000"/>
                        </a:solidFill>
                        <a:latin typeface="Cambria Math" panose="02040503050406030204" pitchFamily="18" charset="0"/>
                        <a:ea typeface="Cambria Math" panose="02040503050406030204" pitchFamily="18" charset="0"/>
                      </a:rPr>
                      <m:t>𝜇</m:t>
                    </m:r>
                    <m:r>
                      <a:rPr lang="en-US" sz="2600" b="0" i="1" smtClean="0">
                        <a:solidFill>
                          <a:srgbClr val="FF0000"/>
                        </a:solidFill>
                        <a:latin typeface="Cambria Math" panose="02040503050406030204" pitchFamily="18" charset="0"/>
                        <a:ea typeface="Cambria Math" panose="02040503050406030204" pitchFamily="18" charset="0"/>
                      </a:rPr>
                      <m:t> </m:t>
                    </m:r>
                  </m:oMath>
                </a14:m>
                <a:r>
                  <a:rPr lang="en-US" sz="2600" dirty="0">
                    <a:solidFill>
                      <a:srgbClr val="FF0000"/>
                    </a:solidFill>
                  </a:rPr>
                  <a:t>= 2,000 </a:t>
                </a:r>
                <a:r>
                  <a:rPr lang="en-US" sz="2600" dirty="0"/>
                  <a:t>hours of switch life</a:t>
                </a:r>
                <a:endParaRPr lang="en-IN" sz="2600" dirty="0"/>
              </a:p>
              <a:p>
                <a:pPr lvl="1" algn="just">
                  <a:lnSpc>
                    <a:spcPct val="120000"/>
                  </a:lnSpc>
                </a:pPr>
                <a:r>
                  <a:rPr lang="en-US" sz="2600" dirty="0"/>
                  <a:t>Population standard deviation, </a:t>
                </a:r>
                <a14:m>
                  <m:oMath xmlns:m="http://schemas.openxmlformats.org/officeDocument/2006/math">
                    <m:r>
                      <a:rPr lang="en-US" sz="2600" i="1" smtClean="0">
                        <a:solidFill>
                          <a:srgbClr val="FF0000"/>
                        </a:solidFill>
                        <a:latin typeface="Cambria Math" panose="02040503050406030204" pitchFamily="18" charset="0"/>
                        <a:ea typeface="Cambria Math" panose="02040503050406030204" pitchFamily="18" charset="0"/>
                      </a:rPr>
                      <m:t>𝜎</m:t>
                    </m:r>
                  </m:oMath>
                </a14:m>
                <a:r>
                  <a:rPr lang="en-US" sz="2600" dirty="0">
                    <a:solidFill>
                      <a:srgbClr val="FF0000"/>
                    </a:solidFill>
                  </a:rPr>
                  <a:t> = 200 </a:t>
                </a:r>
                <a:r>
                  <a:rPr lang="en-US" sz="2600" dirty="0"/>
                  <a:t>hours of switch life </a:t>
                </a:r>
              </a:p>
              <a:p>
                <a:pPr algn="just">
                  <a:lnSpc>
                    <a:spcPct val="120000"/>
                  </a:lnSpc>
                </a:pPr>
                <a:r>
                  <a:rPr lang="en-US" sz="2600" b="1" dirty="0"/>
                  <a:t>Hypothesis:</a:t>
                </a:r>
                <a:endParaRPr lang="en-IN" sz="2600" b="1" dirty="0"/>
              </a:p>
              <a:p>
                <a:pPr lvl="1" algn="just">
                  <a:lnSpc>
                    <a:spcPct val="120000"/>
                  </a:lnSpc>
                </a:pPr>
                <a:r>
                  <a:rPr lang="en-US" sz="2600" dirty="0"/>
                  <a:t>We can propose Null Hypothesis : </a:t>
                </a:r>
                <a14:m>
                  <m:oMath xmlns:m="http://schemas.openxmlformats.org/officeDocument/2006/math">
                    <m:sSub>
                      <m:sSubPr>
                        <m:ctrlPr>
                          <a:rPr lang="en-US" sz="2600" i="1" smtClean="0">
                            <a:solidFill>
                              <a:srgbClr val="FF0000"/>
                            </a:solidFill>
                            <a:latin typeface="Cambria Math" panose="02040503050406030204" pitchFamily="18" charset="0"/>
                          </a:rPr>
                        </m:ctrlPr>
                      </m:sSubPr>
                      <m:e>
                        <m:r>
                          <a:rPr lang="en-US" sz="2600" b="0" i="1" smtClean="0">
                            <a:solidFill>
                              <a:srgbClr val="FF0000"/>
                            </a:solidFill>
                            <a:latin typeface="Cambria Math" panose="02040503050406030204" pitchFamily="18" charset="0"/>
                          </a:rPr>
                          <m:t>𝐻</m:t>
                        </m:r>
                      </m:e>
                      <m:sub>
                        <m:r>
                          <a:rPr lang="en-US" sz="2600" b="0" i="1" smtClean="0">
                            <a:solidFill>
                              <a:srgbClr val="FF0000"/>
                            </a:solidFill>
                            <a:latin typeface="Cambria Math" panose="02040503050406030204" pitchFamily="18" charset="0"/>
                          </a:rPr>
                          <m:t>0</m:t>
                        </m:r>
                      </m:sub>
                    </m:sSub>
                  </m:oMath>
                </a14:m>
                <a:r>
                  <a:rPr lang="en-IN" sz="2600" dirty="0">
                    <a:solidFill>
                      <a:srgbClr val="FF0000"/>
                    </a:solidFill>
                  </a:rPr>
                  <a:t> : </a:t>
                </a:r>
                <a14:m>
                  <m:oMath xmlns:m="http://schemas.openxmlformats.org/officeDocument/2006/math">
                    <m:sSub>
                      <m:sSubPr>
                        <m:ctrlPr>
                          <a:rPr lang="en-IN" sz="2600" i="1" smtClean="0">
                            <a:solidFill>
                              <a:srgbClr val="FF0000"/>
                            </a:solidFill>
                            <a:latin typeface="Cambria Math" panose="02040503050406030204" pitchFamily="18" charset="0"/>
                          </a:rPr>
                        </m:ctrlPr>
                      </m:sSubPr>
                      <m:e>
                        <m:r>
                          <a:rPr lang="en-IN" sz="2600" i="1" smtClean="0">
                            <a:solidFill>
                              <a:srgbClr val="FF0000"/>
                            </a:solidFill>
                            <a:latin typeface="Cambria Math" panose="02040503050406030204" pitchFamily="18" charset="0"/>
                            <a:ea typeface="Cambria Math" panose="02040503050406030204" pitchFamily="18" charset="0"/>
                          </a:rPr>
                          <m:t>𝜇</m:t>
                        </m:r>
                      </m:e>
                      <m:sub>
                        <m:r>
                          <a:rPr lang="en-US" sz="2600" b="0" i="1" smtClean="0">
                            <a:solidFill>
                              <a:srgbClr val="FF0000"/>
                            </a:solidFill>
                            <a:latin typeface="Cambria Math" panose="02040503050406030204" pitchFamily="18" charset="0"/>
                          </a:rPr>
                          <m:t>0 </m:t>
                        </m:r>
                      </m:sub>
                    </m:sSub>
                    <m:r>
                      <a:rPr lang="en-US" sz="2600" b="0" i="0" smtClean="0">
                        <a:solidFill>
                          <a:srgbClr val="FF0000"/>
                        </a:solidFill>
                        <a:latin typeface="Cambria Math" panose="02040503050406030204" pitchFamily="18" charset="0"/>
                      </a:rPr>
                      <m:t>=2,000</m:t>
                    </m:r>
                  </m:oMath>
                </a14:m>
                <a:endParaRPr lang="en-IN" sz="2600" dirty="0">
                  <a:solidFill>
                    <a:srgbClr val="FF0000"/>
                  </a:solidFill>
                </a:endParaRPr>
              </a:p>
              <a:p>
                <a:pPr lvl="1" algn="just">
                  <a:lnSpc>
                    <a:spcPct val="120000"/>
                  </a:lnSpc>
                </a:pPr>
                <a:r>
                  <a:rPr lang="en-US" sz="2600" dirty="0"/>
                  <a:t>Alternate Hypothesis would then be : </a:t>
                </a:r>
                <a14:m>
                  <m:oMath xmlns:m="http://schemas.openxmlformats.org/officeDocument/2006/math">
                    <m:sSub>
                      <m:sSubPr>
                        <m:ctrlPr>
                          <a:rPr lang="en-US" sz="2600" i="1" smtClean="0">
                            <a:solidFill>
                              <a:srgbClr val="FF0000"/>
                            </a:solidFill>
                            <a:latin typeface="Cambria Math" panose="02040503050406030204" pitchFamily="18" charset="0"/>
                          </a:rPr>
                        </m:ctrlPr>
                      </m:sSubPr>
                      <m:e>
                        <m:r>
                          <a:rPr lang="en-US" sz="2600" i="1">
                            <a:solidFill>
                              <a:srgbClr val="FF0000"/>
                            </a:solidFill>
                            <a:latin typeface="Cambria Math" panose="02040503050406030204" pitchFamily="18" charset="0"/>
                          </a:rPr>
                          <m:t>𝐻</m:t>
                        </m:r>
                      </m:e>
                      <m:sub>
                        <m:r>
                          <a:rPr lang="en-US" sz="2600" b="0" i="1" smtClean="0">
                            <a:solidFill>
                              <a:srgbClr val="FF0000"/>
                            </a:solidFill>
                            <a:latin typeface="Cambria Math" panose="02040503050406030204" pitchFamily="18" charset="0"/>
                          </a:rPr>
                          <m:t>1</m:t>
                        </m:r>
                      </m:sub>
                    </m:sSub>
                  </m:oMath>
                </a14:m>
                <a:r>
                  <a:rPr lang="en-IN" sz="2600" dirty="0">
                    <a:solidFill>
                      <a:srgbClr val="FF0000"/>
                    </a:solidFill>
                  </a:rPr>
                  <a:t> : </a:t>
                </a:r>
                <a14:m>
                  <m:oMath xmlns:m="http://schemas.openxmlformats.org/officeDocument/2006/math">
                    <m:sSub>
                      <m:sSubPr>
                        <m:ctrlPr>
                          <a:rPr lang="en-IN" sz="2600" i="1">
                            <a:solidFill>
                              <a:srgbClr val="FF0000"/>
                            </a:solidFill>
                            <a:latin typeface="Cambria Math" panose="02040503050406030204" pitchFamily="18" charset="0"/>
                          </a:rPr>
                        </m:ctrlPr>
                      </m:sSubPr>
                      <m:e>
                        <m:r>
                          <a:rPr lang="en-US" sz="2600" i="1">
                            <a:solidFill>
                              <a:srgbClr val="FF0000"/>
                            </a:solidFill>
                            <a:latin typeface="Cambria Math" panose="02040503050406030204" pitchFamily="18" charset="0"/>
                            <a:ea typeface="Cambria Math" panose="02040503050406030204" pitchFamily="18" charset="0"/>
                          </a:rPr>
                          <m:t>𝜇</m:t>
                        </m:r>
                        <m:r>
                          <a:rPr lang="en-US" sz="2600" b="0" i="1" smtClean="0">
                            <a:solidFill>
                              <a:srgbClr val="FF0000"/>
                            </a:solidFill>
                            <a:latin typeface="Cambria Math" panose="02040503050406030204" pitchFamily="18" charset="0"/>
                            <a:ea typeface="Cambria Math" panose="02040503050406030204" pitchFamily="18" charset="0"/>
                          </a:rPr>
                          <m:t> ≠ </m:t>
                        </m:r>
                        <m:r>
                          <a:rPr lang="en-IN" sz="2600" i="1">
                            <a:solidFill>
                              <a:srgbClr val="FF0000"/>
                            </a:solidFill>
                            <a:latin typeface="Cambria Math" panose="02040503050406030204" pitchFamily="18" charset="0"/>
                            <a:ea typeface="Cambria Math" panose="02040503050406030204" pitchFamily="18" charset="0"/>
                          </a:rPr>
                          <m:t>𝜇</m:t>
                        </m:r>
                      </m:e>
                      <m:sub>
                        <m:r>
                          <a:rPr lang="en-US" sz="2600" i="1" smtClean="0">
                            <a:solidFill>
                              <a:srgbClr val="FF0000"/>
                            </a:solidFill>
                            <a:latin typeface="Cambria Math" panose="02040503050406030204" pitchFamily="18" charset="0"/>
                          </a:rPr>
                          <m:t>0</m:t>
                        </m:r>
                        <m:r>
                          <a:rPr lang="en-US" sz="2600" i="1">
                            <a:solidFill>
                              <a:srgbClr val="FF0000"/>
                            </a:solidFill>
                            <a:latin typeface="Cambria Math" panose="02040503050406030204" pitchFamily="18" charset="0"/>
                          </a:rPr>
                          <m:t> </m:t>
                        </m:r>
                        <m:r>
                          <a:rPr lang="en-US" sz="2600" b="0" i="1" smtClean="0">
                            <a:solidFill>
                              <a:srgbClr val="FF0000"/>
                            </a:solidFill>
                            <a:latin typeface="Cambria Math" panose="02040503050406030204" pitchFamily="18" charset="0"/>
                          </a:rPr>
                          <m:t>, </m:t>
                        </m:r>
                      </m:sub>
                    </m:sSub>
                  </m:oMath>
                </a14:m>
                <a:r>
                  <a:rPr lang="en-US" sz="2600" dirty="0">
                    <a:solidFill>
                      <a:srgbClr val="FF0000"/>
                    </a:solidFill>
                  </a:rPr>
                  <a:t>So </a:t>
                </a:r>
                <a14:m>
                  <m:oMath xmlns:m="http://schemas.openxmlformats.org/officeDocument/2006/math">
                    <m:sSub>
                      <m:sSubPr>
                        <m:ctrlPr>
                          <a:rPr lang="en-IN" sz="2600" i="1" smtClean="0">
                            <a:solidFill>
                              <a:srgbClr val="FF0000"/>
                            </a:solidFill>
                            <a:latin typeface="Cambria Math" panose="02040503050406030204" pitchFamily="18" charset="0"/>
                          </a:rPr>
                        </m:ctrlPr>
                      </m:sSubPr>
                      <m:e>
                        <m:r>
                          <a:rPr lang="en-US" sz="2600" i="1">
                            <a:solidFill>
                              <a:srgbClr val="FF0000"/>
                            </a:solidFill>
                            <a:latin typeface="Cambria Math" panose="02040503050406030204" pitchFamily="18" charset="0"/>
                            <a:ea typeface="Cambria Math" panose="02040503050406030204" pitchFamily="18" charset="0"/>
                          </a:rPr>
                          <m:t>𝜇</m:t>
                        </m:r>
                        <m:r>
                          <a:rPr lang="en-US" sz="2600" i="1">
                            <a:solidFill>
                              <a:srgbClr val="FF0000"/>
                            </a:solidFill>
                            <a:latin typeface="Cambria Math" panose="02040503050406030204" pitchFamily="18" charset="0"/>
                            <a:ea typeface="Cambria Math" panose="02040503050406030204" pitchFamily="18" charset="0"/>
                          </a:rPr>
                          <m:t> &gt; </m:t>
                        </m:r>
                        <m:r>
                          <a:rPr lang="en-IN" sz="2600" i="1">
                            <a:solidFill>
                              <a:srgbClr val="FF0000"/>
                            </a:solidFill>
                            <a:latin typeface="Cambria Math" panose="02040503050406030204" pitchFamily="18" charset="0"/>
                            <a:ea typeface="Cambria Math" panose="02040503050406030204" pitchFamily="18" charset="0"/>
                          </a:rPr>
                          <m:t>𝜇</m:t>
                        </m:r>
                      </m:e>
                      <m:sub>
                        <m:r>
                          <a:rPr lang="en-US" sz="2600" i="1">
                            <a:solidFill>
                              <a:srgbClr val="FF0000"/>
                            </a:solidFill>
                            <a:latin typeface="Cambria Math" panose="02040503050406030204" pitchFamily="18" charset="0"/>
                          </a:rPr>
                          <m:t>0 , </m:t>
                        </m:r>
                      </m:sub>
                    </m:sSub>
                  </m:oMath>
                </a14:m>
                <a:r>
                  <a:rPr lang="en-US" sz="2600" dirty="0">
                    <a:solidFill>
                      <a:srgbClr val="FF0000"/>
                    </a:solidFill>
                  </a:rPr>
                  <a:t>or </a:t>
                </a:r>
                <a14:m>
                  <m:oMath xmlns:m="http://schemas.openxmlformats.org/officeDocument/2006/math">
                    <m:sSub>
                      <m:sSubPr>
                        <m:ctrlPr>
                          <a:rPr lang="en-IN" sz="2600" i="1">
                            <a:solidFill>
                              <a:srgbClr val="FF0000"/>
                            </a:solidFill>
                            <a:latin typeface="Cambria Math" panose="02040503050406030204" pitchFamily="18" charset="0"/>
                          </a:rPr>
                        </m:ctrlPr>
                      </m:sSubPr>
                      <m:e>
                        <m:r>
                          <a:rPr lang="en-US" sz="2600" i="1">
                            <a:solidFill>
                              <a:srgbClr val="FF0000"/>
                            </a:solidFill>
                            <a:latin typeface="Cambria Math" panose="02040503050406030204" pitchFamily="18" charset="0"/>
                            <a:ea typeface="Cambria Math" panose="02040503050406030204" pitchFamily="18" charset="0"/>
                          </a:rPr>
                          <m:t>𝜇</m:t>
                        </m:r>
                        <m:r>
                          <a:rPr lang="en-US" sz="2600" i="1">
                            <a:solidFill>
                              <a:srgbClr val="FF0000"/>
                            </a:solidFill>
                            <a:latin typeface="Cambria Math" panose="02040503050406030204" pitchFamily="18" charset="0"/>
                            <a:ea typeface="Cambria Math" panose="02040503050406030204" pitchFamily="18" charset="0"/>
                          </a:rPr>
                          <m:t> &lt; </m:t>
                        </m:r>
                        <m:r>
                          <a:rPr lang="en-IN" sz="2600" i="1">
                            <a:solidFill>
                              <a:srgbClr val="FF0000"/>
                            </a:solidFill>
                            <a:latin typeface="Cambria Math" panose="02040503050406030204" pitchFamily="18" charset="0"/>
                            <a:ea typeface="Cambria Math" panose="02040503050406030204" pitchFamily="18" charset="0"/>
                          </a:rPr>
                          <m:t>𝜇</m:t>
                        </m:r>
                      </m:e>
                      <m:sub>
                        <m:r>
                          <a:rPr lang="en-US" sz="2600" i="1">
                            <a:solidFill>
                              <a:srgbClr val="FF0000"/>
                            </a:solidFill>
                            <a:latin typeface="Cambria Math" panose="02040503050406030204" pitchFamily="18" charset="0"/>
                          </a:rPr>
                          <m:t>0 , </m:t>
                        </m:r>
                      </m:sub>
                    </m:sSub>
                  </m:oMath>
                </a14:m>
                <a:endParaRPr lang="en-US" sz="2600" dirty="0"/>
              </a:p>
              <a:p>
                <a:pPr lvl="1" algn="just">
                  <a:lnSpc>
                    <a:spcPct val="120000"/>
                  </a:lnSpc>
                </a:pPr>
                <a:r>
                  <a:rPr lang="en-US" sz="2600" dirty="0"/>
                  <a:t>The significance level as suggested, </a:t>
                </a:r>
                <a14:m>
                  <m:oMath xmlns:m="http://schemas.openxmlformats.org/officeDocument/2006/math">
                    <m:r>
                      <a:rPr lang="en-US" sz="2600" i="1" smtClean="0">
                        <a:solidFill>
                          <a:srgbClr val="FF0000"/>
                        </a:solidFill>
                        <a:latin typeface="Cambria Math" panose="02040503050406030204" pitchFamily="18" charset="0"/>
                        <a:ea typeface="Cambria Math" panose="02040503050406030204" pitchFamily="18" charset="0"/>
                      </a:rPr>
                      <m:t>𝛼</m:t>
                    </m:r>
                    <m:r>
                      <a:rPr lang="en-US" sz="2600" b="0" i="0" smtClean="0">
                        <a:solidFill>
                          <a:srgbClr val="FF0000"/>
                        </a:solidFill>
                        <a:latin typeface="Cambria Math" panose="02040503050406030204" pitchFamily="18" charset="0"/>
                        <a:ea typeface="Cambria Math" panose="02040503050406030204" pitchFamily="18" charset="0"/>
                      </a:rPr>
                      <m:t> </m:t>
                    </m:r>
                  </m:oMath>
                </a14:m>
                <a:r>
                  <a:rPr lang="en-US" sz="2600" dirty="0">
                    <a:solidFill>
                      <a:srgbClr val="FF0000"/>
                    </a:solidFill>
                  </a:rPr>
                  <a:t>= 0.05</a:t>
                </a:r>
                <a:endParaRPr lang="en-IN" sz="2600" dirty="0"/>
              </a:p>
              <a:p>
                <a:pPr algn="just">
                  <a:lnSpc>
                    <a:spcPct val="120000"/>
                  </a:lnSpc>
                </a:pPr>
                <a:r>
                  <a:rPr lang="en-US" sz="2600" b="1" dirty="0"/>
                  <a:t>Sample Data :</a:t>
                </a:r>
                <a:endParaRPr lang="en-IN" sz="2600" b="1" dirty="0"/>
              </a:p>
              <a:p>
                <a:pPr lvl="1" algn="just">
                  <a:lnSpc>
                    <a:spcPct val="120000"/>
                  </a:lnSpc>
                </a:pPr>
                <a:r>
                  <a:rPr lang="en-US" sz="2600" dirty="0"/>
                  <a:t>Sample size as provided, </a:t>
                </a:r>
                <a:r>
                  <a:rPr lang="en-US" sz="2600" dirty="0">
                    <a:solidFill>
                      <a:srgbClr val="FF0000"/>
                    </a:solidFill>
                  </a:rPr>
                  <a:t>n = 100</a:t>
                </a:r>
                <a:endParaRPr lang="en-IN" sz="2600" dirty="0">
                  <a:solidFill>
                    <a:srgbClr val="FF0000"/>
                  </a:solidFill>
                </a:endParaRPr>
              </a:p>
              <a:p>
                <a:pPr lvl="1" algn="just">
                  <a:lnSpc>
                    <a:spcPct val="120000"/>
                  </a:lnSpc>
                </a:pPr>
                <a:r>
                  <a:rPr lang="en-US" sz="2600" dirty="0"/>
                  <a:t>Sample Mean, </a:t>
                </a:r>
                <a:r>
                  <a:rPr lang="en-US" sz="2600" dirty="0">
                    <a:solidFill>
                      <a:srgbClr val="FF0000"/>
                    </a:solidFill>
                  </a:rPr>
                  <a:t>X = 1,960 </a:t>
                </a:r>
                <a:r>
                  <a:rPr lang="en-US" sz="2600" dirty="0"/>
                  <a:t>hours of switch life </a:t>
                </a:r>
              </a:p>
              <a:p>
                <a:pPr lvl="1" algn="just">
                  <a:lnSpc>
                    <a:spcPct val="120000"/>
                  </a:lnSpc>
                </a:pPr>
                <a:r>
                  <a:rPr lang="en-US" sz="2600" dirty="0"/>
                  <a:t>Sample Standard Deviation, </a:t>
                </a:r>
                <a14:m>
                  <m:oMath xmlns:m="http://schemas.openxmlformats.org/officeDocument/2006/math">
                    <m:r>
                      <a:rPr lang="en-US" sz="2600" i="1" smtClean="0">
                        <a:solidFill>
                          <a:srgbClr val="FF0000"/>
                        </a:solidFill>
                        <a:latin typeface="Cambria Math" panose="02040503050406030204" pitchFamily="18" charset="0"/>
                        <a:ea typeface="Cambria Math" panose="02040503050406030204" pitchFamily="18" charset="0"/>
                      </a:rPr>
                      <m:t>𝜎</m:t>
                    </m:r>
                    <m:r>
                      <a:rPr lang="en-US" sz="2600" b="0" i="0" smtClean="0">
                        <a:solidFill>
                          <a:srgbClr val="FF0000"/>
                        </a:solidFill>
                        <a:latin typeface="Cambria Math" panose="02040503050406030204" pitchFamily="18" charset="0"/>
                        <a:ea typeface="Cambria Math" panose="02040503050406030204" pitchFamily="18" charset="0"/>
                      </a:rPr>
                      <m:t>= </m:t>
                    </m:r>
                  </m:oMath>
                </a14:m>
                <a:r>
                  <a:rPr lang="en-US" sz="2600" dirty="0">
                    <a:solidFill>
                      <a:srgbClr val="FF0000"/>
                    </a:solidFill>
                  </a:rPr>
                  <a:t>180</a:t>
                </a:r>
                <a:endParaRPr lang="en-IN" sz="2600" dirty="0">
                  <a:solidFill>
                    <a:srgbClr val="FF0000"/>
                  </a:solidFill>
                </a:endParaRPr>
              </a:p>
              <a:p>
                <a:pPr algn="just">
                  <a:lnSpc>
                    <a:spcPct val="120000"/>
                  </a:lnSpc>
                </a:pPr>
                <a:r>
                  <a:rPr lang="en-US" sz="2600" dirty="0"/>
                  <a:t>As n &gt; 30, we can assume normal distribution which would make the standard deviation to be, </a:t>
                </a:r>
                <a14:m>
                  <m:oMath xmlns:m="http://schemas.openxmlformats.org/officeDocument/2006/math">
                    <m:r>
                      <a:rPr lang="en-US" sz="2600" i="1" smtClean="0">
                        <a:solidFill>
                          <a:srgbClr val="FF0000"/>
                        </a:solidFill>
                        <a:latin typeface="Cambria Math" panose="02040503050406030204" pitchFamily="18" charset="0"/>
                        <a:ea typeface="Cambria Math" panose="02040503050406030204" pitchFamily="18" charset="0"/>
                      </a:rPr>
                      <m:t>𝜎</m:t>
                    </m:r>
                    <m:r>
                      <a:rPr lang="en-US" sz="2600">
                        <a:solidFill>
                          <a:srgbClr val="FF0000"/>
                        </a:solidFill>
                        <a:latin typeface="Cambria Math" panose="02040503050406030204" pitchFamily="18" charset="0"/>
                        <a:ea typeface="Cambria Math" panose="02040503050406030204" pitchFamily="18" charset="0"/>
                      </a:rPr>
                      <m:t>=</m:t>
                    </m:r>
                  </m:oMath>
                </a14:m>
                <a:r>
                  <a:rPr lang="en-US" sz="2600" dirty="0">
                    <a:solidFill>
                      <a:srgbClr val="FF0000"/>
                    </a:solidFill>
                  </a:rPr>
                  <a:t> 200</a:t>
                </a:r>
                <a:endParaRPr lang="en-IN" sz="2600" dirty="0"/>
              </a:p>
              <a:p>
                <a:pPr algn="just">
                  <a:lnSpc>
                    <a:spcPct val="120000"/>
                  </a:lnSpc>
                </a:pPr>
                <a:r>
                  <a:rPr lang="en-US" sz="2600" dirty="0"/>
                  <a:t>As the alternate hypothesis, </a:t>
                </a:r>
                <a14:m>
                  <m:oMath xmlns:m="http://schemas.openxmlformats.org/officeDocument/2006/math">
                    <m:sSub>
                      <m:sSubPr>
                        <m:ctrlPr>
                          <a:rPr lang="en-US" sz="2600" i="1" smtClean="0">
                            <a:solidFill>
                              <a:srgbClr val="FF0000"/>
                            </a:solidFill>
                            <a:latin typeface="Cambria Math" panose="02040503050406030204" pitchFamily="18" charset="0"/>
                          </a:rPr>
                        </m:ctrlPr>
                      </m:sSubPr>
                      <m:e>
                        <m:r>
                          <a:rPr lang="en-US" sz="2600" i="1">
                            <a:solidFill>
                              <a:srgbClr val="FF0000"/>
                            </a:solidFill>
                            <a:latin typeface="Cambria Math" panose="02040503050406030204" pitchFamily="18" charset="0"/>
                          </a:rPr>
                          <m:t>𝐻</m:t>
                        </m:r>
                      </m:e>
                      <m:sub>
                        <m:r>
                          <a:rPr lang="en-US" sz="2600" i="1">
                            <a:solidFill>
                              <a:srgbClr val="FF0000"/>
                            </a:solidFill>
                            <a:latin typeface="Cambria Math" panose="02040503050406030204" pitchFamily="18" charset="0"/>
                          </a:rPr>
                          <m:t>1</m:t>
                        </m:r>
                      </m:sub>
                    </m:sSub>
                  </m:oMath>
                </a14:m>
                <a:r>
                  <a:rPr lang="en-IN" sz="2600" dirty="0">
                    <a:solidFill>
                      <a:srgbClr val="FF0000"/>
                    </a:solidFill>
                  </a:rPr>
                  <a:t> : </a:t>
                </a:r>
                <a14:m>
                  <m:oMath xmlns:m="http://schemas.openxmlformats.org/officeDocument/2006/math">
                    <m:sSub>
                      <m:sSubPr>
                        <m:ctrlPr>
                          <a:rPr lang="en-IN" sz="2600" i="1">
                            <a:solidFill>
                              <a:srgbClr val="FF0000"/>
                            </a:solidFill>
                            <a:latin typeface="Cambria Math" panose="02040503050406030204" pitchFamily="18" charset="0"/>
                          </a:rPr>
                        </m:ctrlPr>
                      </m:sSubPr>
                      <m:e>
                        <m:r>
                          <a:rPr lang="en-US" sz="2600" i="1">
                            <a:solidFill>
                              <a:srgbClr val="FF0000"/>
                            </a:solidFill>
                            <a:latin typeface="Cambria Math" panose="02040503050406030204" pitchFamily="18" charset="0"/>
                            <a:ea typeface="Cambria Math" panose="02040503050406030204" pitchFamily="18" charset="0"/>
                          </a:rPr>
                          <m:t>𝜇</m:t>
                        </m:r>
                        <m:r>
                          <a:rPr lang="en-US" sz="2600" i="1">
                            <a:solidFill>
                              <a:srgbClr val="FF0000"/>
                            </a:solidFill>
                            <a:latin typeface="Cambria Math" panose="02040503050406030204" pitchFamily="18" charset="0"/>
                            <a:ea typeface="Cambria Math" panose="02040503050406030204" pitchFamily="18" charset="0"/>
                          </a:rPr>
                          <m:t> ≠ </m:t>
                        </m:r>
                        <m:r>
                          <a:rPr lang="en-IN" sz="2600" i="1">
                            <a:solidFill>
                              <a:srgbClr val="FF0000"/>
                            </a:solidFill>
                            <a:latin typeface="Cambria Math" panose="02040503050406030204" pitchFamily="18" charset="0"/>
                            <a:ea typeface="Cambria Math" panose="02040503050406030204" pitchFamily="18" charset="0"/>
                          </a:rPr>
                          <m:t>𝜇</m:t>
                        </m:r>
                      </m:e>
                      <m:sub>
                        <m:r>
                          <a:rPr lang="en-US" sz="2600" i="1">
                            <a:solidFill>
                              <a:srgbClr val="FF0000"/>
                            </a:solidFill>
                            <a:latin typeface="Cambria Math" panose="02040503050406030204" pitchFamily="18" charset="0"/>
                          </a:rPr>
                          <m:t>0 , </m:t>
                        </m:r>
                      </m:sub>
                    </m:sSub>
                  </m:oMath>
                </a14:m>
                <a:r>
                  <a:rPr lang="en-US" sz="2600" dirty="0">
                    <a:solidFill>
                      <a:srgbClr val="FF0000"/>
                    </a:solidFill>
                  </a:rPr>
                  <a:t>So </a:t>
                </a:r>
                <a14:m>
                  <m:oMath xmlns:m="http://schemas.openxmlformats.org/officeDocument/2006/math">
                    <m:sSub>
                      <m:sSubPr>
                        <m:ctrlPr>
                          <a:rPr lang="en-IN" sz="2600" i="1">
                            <a:solidFill>
                              <a:srgbClr val="FF0000"/>
                            </a:solidFill>
                            <a:latin typeface="Cambria Math" panose="02040503050406030204" pitchFamily="18" charset="0"/>
                          </a:rPr>
                        </m:ctrlPr>
                      </m:sSubPr>
                      <m:e>
                        <m:r>
                          <a:rPr lang="en-US" sz="2600" i="1">
                            <a:solidFill>
                              <a:srgbClr val="FF0000"/>
                            </a:solidFill>
                            <a:latin typeface="Cambria Math" panose="02040503050406030204" pitchFamily="18" charset="0"/>
                            <a:ea typeface="Cambria Math" panose="02040503050406030204" pitchFamily="18" charset="0"/>
                          </a:rPr>
                          <m:t>𝜇</m:t>
                        </m:r>
                        <m:r>
                          <a:rPr lang="en-US" sz="2600" i="1">
                            <a:solidFill>
                              <a:srgbClr val="FF0000"/>
                            </a:solidFill>
                            <a:latin typeface="Cambria Math" panose="02040503050406030204" pitchFamily="18" charset="0"/>
                            <a:ea typeface="Cambria Math" panose="02040503050406030204" pitchFamily="18" charset="0"/>
                          </a:rPr>
                          <m:t> &gt; </m:t>
                        </m:r>
                        <m:r>
                          <a:rPr lang="en-IN" sz="2600" i="1">
                            <a:solidFill>
                              <a:srgbClr val="FF0000"/>
                            </a:solidFill>
                            <a:latin typeface="Cambria Math" panose="02040503050406030204" pitchFamily="18" charset="0"/>
                            <a:ea typeface="Cambria Math" panose="02040503050406030204" pitchFamily="18" charset="0"/>
                          </a:rPr>
                          <m:t>𝜇</m:t>
                        </m:r>
                      </m:e>
                      <m:sub>
                        <m:r>
                          <a:rPr lang="en-US" sz="2600" i="1">
                            <a:solidFill>
                              <a:srgbClr val="FF0000"/>
                            </a:solidFill>
                            <a:latin typeface="Cambria Math" panose="02040503050406030204" pitchFamily="18" charset="0"/>
                          </a:rPr>
                          <m:t>0 , </m:t>
                        </m:r>
                      </m:sub>
                    </m:sSub>
                  </m:oMath>
                </a14:m>
                <a:r>
                  <a:rPr lang="en-US" sz="2600" dirty="0">
                    <a:solidFill>
                      <a:srgbClr val="FF0000"/>
                    </a:solidFill>
                  </a:rPr>
                  <a:t>or </a:t>
                </a:r>
                <a14:m>
                  <m:oMath xmlns:m="http://schemas.openxmlformats.org/officeDocument/2006/math">
                    <m:sSub>
                      <m:sSubPr>
                        <m:ctrlPr>
                          <a:rPr lang="en-IN" sz="2600" i="1">
                            <a:solidFill>
                              <a:srgbClr val="FF0000"/>
                            </a:solidFill>
                            <a:latin typeface="Cambria Math" panose="02040503050406030204" pitchFamily="18" charset="0"/>
                          </a:rPr>
                        </m:ctrlPr>
                      </m:sSubPr>
                      <m:e>
                        <m:r>
                          <a:rPr lang="en-US" sz="2600" i="1">
                            <a:solidFill>
                              <a:srgbClr val="FF0000"/>
                            </a:solidFill>
                            <a:latin typeface="Cambria Math" panose="02040503050406030204" pitchFamily="18" charset="0"/>
                            <a:ea typeface="Cambria Math" panose="02040503050406030204" pitchFamily="18" charset="0"/>
                          </a:rPr>
                          <m:t>𝜇</m:t>
                        </m:r>
                        <m:r>
                          <a:rPr lang="en-US" sz="2600" i="1">
                            <a:solidFill>
                              <a:srgbClr val="FF0000"/>
                            </a:solidFill>
                            <a:latin typeface="Cambria Math" panose="02040503050406030204" pitchFamily="18" charset="0"/>
                            <a:ea typeface="Cambria Math" panose="02040503050406030204" pitchFamily="18" charset="0"/>
                          </a:rPr>
                          <m:t> &lt; </m:t>
                        </m:r>
                        <m:r>
                          <a:rPr lang="en-IN" sz="2600" i="1">
                            <a:solidFill>
                              <a:srgbClr val="FF0000"/>
                            </a:solidFill>
                            <a:latin typeface="Cambria Math" panose="02040503050406030204" pitchFamily="18" charset="0"/>
                            <a:ea typeface="Cambria Math" panose="02040503050406030204" pitchFamily="18" charset="0"/>
                          </a:rPr>
                          <m:t>𝜇</m:t>
                        </m:r>
                      </m:e>
                      <m:sub>
                        <m:r>
                          <a:rPr lang="en-US" sz="2600" i="1">
                            <a:solidFill>
                              <a:srgbClr val="FF0000"/>
                            </a:solidFill>
                            <a:latin typeface="Cambria Math" panose="02040503050406030204" pitchFamily="18" charset="0"/>
                          </a:rPr>
                          <m:t>0 , </m:t>
                        </m:r>
                      </m:sub>
                    </m:sSub>
                  </m:oMath>
                </a14:m>
                <a:r>
                  <a:rPr lang="en-US" sz="2600" dirty="0"/>
                  <a:t>we can use the two-tailed test for testing the hypothesis.</a:t>
                </a:r>
                <a:endParaRPr lang="en-IN" sz="2600" dirty="0"/>
              </a:p>
              <a:p>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14671" y="691116"/>
                <a:ext cx="11334306" cy="6166884"/>
              </a:xfrm>
              <a:blipFill>
                <a:blip r:embed="rId2"/>
                <a:stretch>
                  <a:fillRect l="-592" t="-593" r="-699" b="-1976"/>
                </a:stretch>
              </a:blipFill>
            </p:spPr>
            <p:txBody>
              <a:bodyPr/>
              <a:lstStyle/>
              <a:p>
                <a:r>
                  <a:rPr lang="en-IN">
                    <a:noFill/>
                  </a:rPr>
                  <a:t> </a:t>
                </a:r>
              </a:p>
            </p:txBody>
          </p:sp>
        </mc:Fallback>
      </mc:AlternateContent>
    </p:spTree>
    <p:extLst>
      <p:ext uri="{BB962C8B-B14F-4D97-AF65-F5344CB8AC3E}">
        <p14:creationId xmlns:p14="http://schemas.microsoft.com/office/powerpoint/2010/main" val="368130356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68325"/>
          </a:xfrm>
        </p:spPr>
        <p:txBody>
          <a:bodyPr>
            <a:normAutofit/>
          </a:bodyPr>
          <a:lstStyle/>
          <a:p>
            <a:pPr algn="ctr"/>
            <a:r>
              <a:rPr lang="en-US" sz="3200" b="1" dirty="0">
                <a:solidFill>
                  <a:srgbClr val="0000FF"/>
                </a:solidFill>
              </a:rPr>
              <a:t>Hypothesis Testing with Example</a:t>
            </a:r>
            <a:endParaRPr lang="en-IN" sz="3200" b="1" dirty="0">
              <a:solidFill>
                <a:srgbClr val="0000FF"/>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12651" y="933450"/>
                <a:ext cx="11979349" cy="5839490"/>
              </a:xfrm>
            </p:spPr>
            <p:txBody>
              <a:bodyPr>
                <a:normAutofit lnSpcReduction="10000"/>
              </a:bodyPr>
              <a:lstStyle/>
              <a:p>
                <a:pPr>
                  <a:lnSpc>
                    <a:spcPct val="100000"/>
                  </a:lnSpc>
                </a:pPr>
                <a:r>
                  <a:rPr lang="en-US" dirty="0"/>
                  <a:t>The calculated value of Z would be given by the expression </a:t>
                </a:r>
              </a:p>
              <a:p>
                <a:pPr lvl="1">
                  <a:lnSpc>
                    <a:spcPct val="100000"/>
                  </a:lnSpc>
                </a:pPr>
                <a14:m>
                  <m:oMath xmlns:m="http://schemas.openxmlformats.org/officeDocument/2006/math">
                    <m:r>
                      <a:rPr lang="en-IN" i="1" dirty="0" smtClean="0">
                        <a:latin typeface="Cambria Math" panose="02040503050406030204" pitchFamily="18" charset="0"/>
                      </a:rPr>
                      <m:t>𝑧</m:t>
                    </m:r>
                    <m:r>
                      <a:rPr lang="en-IN" i="0" dirty="0">
                        <a:latin typeface="Cambria Math" panose="02040503050406030204" pitchFamily="18" charset="0"/>
                      </a:rPr>
                      <m:t>=</m:t>
                    </m:r>
                    <m:f>
                      <m:fPr>
                        <m:ctrlPr>
                          <a:rPr lang="en-IN" i="1" dirty="0">
                            <a:latin typeface="Cambria Math" panose="02040503050406030204" pitchFamily="18" charset="0"/>
                          </a:rPr>
                        </m:ctrlPr>
                      </m:fPr>
                      <m:num>
                        <m:r>
                          <a:rPr lang="en-IN" i="1" dirty="0">
                            <a:latin typeface="Cambria Math" panose="02040503050406030204" pitchFamily="18" charset="0"/>
                          </a:rPr>
                          <m:t>𝑥</m:t>
                        </m:r>
                        <m:r>
                          <a:rPr lang="en-IN" i="0" dirty="0">
                            <a:latin typeface="Cambria Math" panose="02040503050406030204" pitchFamily="18" charset="0"/>
                          </a:rPr>
                          <m:t>−</m:t>
                        </m:r>
                        <m:r>
                          <a:rPr lang="en-IN" i="1" dirty="0">
                            <a:latin typeface="Cambria Math" panose="02040503050406030204" pitchFamily="18" charset="0"/>
                          </a:rPr>
                          <m:t>𝜇</m:t>
                        </m:r>
                      </m:num>
                      <m:den>
                        <m:f>
                          <m:fPr>
                            <m:type m:val="lin"/>
                            <m:ctrlPr>
                              <a:rPr lang="en-IN" i="1" dirty="0">
                                <a:latin typeface="Cambria Math" panose="02040503050406030204" pitchFamily="18" charset="0"/>
                              </a:rPr>
                            </m:ctrlPr>
                          </m:fPr>
                          <m:num>
                            <m:r>
                              <a:rPr lang="en-IN" i="1" dirty="0" smtClean="0">
                                <a:latin typeface="Cambria Math" panose="02040503050406030204" pitchFamily="18" charset="0"/>
                                <a:ea typeface="Cambria Math" panose="02040503050406030204" pitchFamily="18" charset="0"/>
                              </a:rPr>
                              <m:t>𝜎</m:t>
                            </m:r>
                          </m:num>
                          <m:den>
                            <m:rad>
                              <m:radPr>
                                <m:degHide m:val="on"/>
                                <m:ctrlPr>
                                  <a:rPr lang="en-IN" i="1" dirty="0">
                                    <a:latin typeface="Cambria Math" panose="02040503050406030204" pitchFamily="18" charset="0"/>
                                  </a:rPr>
                                </m:ctrlPr>
                              </m:radPr>
                              <m:deg/>
                              <m:e>
                                <m:r>
                                  <a:rPr lang="en-IN" i="1" dirty="0">
                                    <a:latin typeface="Cambria Math" panose="02040503050406030204" pitchFamily="18" charset="0"/>
                                  </a:rPr>
                                  <m:t>𝑛</m:t>
                                </m:r>
                              </m:e>
                            </m:rad>
                          </m:den>
                        </m:f>
                      </m:den>
                    </m:f>
                    <m:r>
                      <a:rPr lang="en-IN" b="0" i="1" dirty="0" smtClean="0">
                        <a:latin typeface="Cambria Math" panose="02040503050406030204" pitchFamily="18" charset="0"/>
                      </a:rPr>
                      <m:t>, </m:t>
                    </m:r>
                  </m:oMath>
                </a14:m>
                <a:r>
                  <a:rPr lang="en-US" dirty="0"/>
                  <a:t>Where </a:t>
                </a:r>
                <a14:m>
                  <m:oMath xmlns:m="http://schemas.openxmlformats.org/officeDocument/2006/math">
                    <m:r>
                      <a:rPr lang="en-US" i="1" smtClean="0">
                        <a:latin typeface="Cambria Math" panose="02040503050406030204" pitchFamily="18" charset="0"/>
                        <a:ea typeface="Cambria Math" panose="02040503050406030204" pitchFamily="18" charset="0"/>
                      </a:rPr>
                      <m:t>𝜎</m:t>
                    </m:r>
                  </m:oMath>
                </a14:m>
                <a:r>
                  <a:rPr lang="en-IN" dirty="0"/>
                  <a:t> is the sample standard deviation </a:t>
                </a:r>
              </a:p>
              <a:p>
                <a:pPr lvl="1">
                  <a:lnSpc>
                    <a:spcPct val="100000"/>
                  </a:lnSpc>
                </a:pPr>
                <a:r>
                  <a:rPr lang="en-US" dirty="0"/>
                  <a:t>Substituting </a:t>
                </a:r>
                <a14:m>
                  <m:oMath xmlns:m="http://schemas.openxmlformats.org/officeDocument/2006/math">
                    <m:r>
                      <a:rPr lang="en-US" b="0" i="0" dirty="0" smtClean="0">
                        <a:latin typeface="Cambria Math" panose="02040503050406030204" pitchFamily="18" charset="0"/>
                      </a:rPr>
                      <m:t>  </m:t>
                    </m:r>
                    <m:r>
                      <a:rPr lang="en-IN" i="1" dirty="0" smtClean="0">
                        <a:latin typeface="Cambria Math" panose="02040503050406030204" pitchFamily="18" charset="0"/>
                      </a:rPr>
                      <m:t>𝑧</m:t>
                    </m:r>
                    <m:r>
                      <a:rPr lang="en-IN" i="0" dirty="0">
                        <a:latin typeface="Cambria Math" panose="02040503050406030204" pitchFamily="18" charset="0"/>
                      </a:rPr>
                      <m:t>=</m:t>
                    </m:r>
                    <m:f>
                      <m:fPr>
                        <m:ctrlPr>
                          <a:rPr lang="en-IN" i="1" dirty="0">
                            <a:latin typeface="Cambria Math" panose="02040503050406030204" pitchFamily="18" charset="0"/>
                          </a:rPr>
                        </m:ctrlPr>
                      </m:fPr>
                      <m:num>
                        <m:r>
                          <a:rPr lang="en-IN" i="0" dirty="0">
                            <a:latin typeface="Cambria Math" panose="02040503050406030204" pitchFamily="18" charset="0"/>
                          </a:rPr>
                          <m:t>1960−2000</m:t>
                        </m:r>
                      </m:num>
                      <m:den>
                        <m:r>
                          <a:rPr lang="en-US" b="0" i="1" dirty="0" smtClean="0">
                            <a:latin typeface="Cambria Math" panose="02040503050406030204" pitchFamily="18" charset="0"/>
                          </a:rPr>
                          <m:t>180/</m:t>
                        </m:r>
                        <m:rad>
                          <m:radPr>
                            <m:degHide m:val="on"/>
                            <m:ctrlPr>
                              <a:rPr lang="en-IN" i="1" dirty="0">
                                <a:latin typeface="Cambria Math" panose="02040503050406030204" pitchFamily="18" charset="0"/>
                              </a:rPr>
                            </m:ctrlPr>
                          </m:radPr>
                          <m:deg/>
                          <m:e>
                            <m:r>
                              <a:rPr lang="en-IN" i="0" dirty="0">
                                <a:latin typeface="Cambria Math" panose="02040503050406030204" pitchFamily="18" charset="0"/>
                              </a:rPr>
                              <m:t>10</m:t>
                            </m:r>
                          </m:e>
                        </m:rad>
                        <m:r>
                          <a:rPr lang="en-IN" i="0" dirty="0">
                            <a:latin typeface="Cambria Math" panose="02040503050406030204" pitchFamily="18" charset="0"/>
                          </a:rPr>
                          <m:t>0</m:t>
                        </m:r>
                      </m:den>
                    </m:f>
                    <m:r>
                      <a:rPr lang="en-IN" i="0" dirty="0">
                        <a:latin typeface="Cambria Math" panose="02040503050406030204" pitchFamily="18" charset="0"/>
                      </a:rPr>
                      <m:t>=−</m:t>
                    </m:r>
                    <m:r>
                      <a:rPr lang="en-US" b="0" i="0" dirty="0" smtClean="0">
                        <a:latin typeface="Cambria Math" panose="02040503050406030204" pitchFamily="18" charset="0"/>
                      </a:rPr>
                      <m:t> 2</m:t>
                    </m:r>
                    <m:r>
                      <a:rPr lang="en-IN" i="0" dirty="0">
                        <a:latin typeface="Cambria Math" panose="02040503050406030204" pitchFamily="18" charset="0"/>
                      </a:rPr>
                      <m:t>.</m:t>
                    </m:r>
                    <m:r>
                      <a:rPr lang="en-US" b="0" i="0" dirty="0" smtClean="0">
                        <a:latin typeface="Cambria Math" panose="02040503050406030204" pitchFamily="18" charset="0"/>
                      </a:rPr>
                      <m:t>2</m:t>
                    </m:r>
                    <m:r>
                      <a:rPr lang="en-IN" i="0" dirty="0">
                        <a:latin typeface="Cambria Math" panose="02040503050406030204" pitchFamily="18" charset="0"/>
                      </a:rPr>
                      <m:t>2</m:t>
                    </m:r>
                  </m:oMath>
                </a14:m>
                <a:endParaRPr lang="en-IN" dirty="0"/>
              </a:p>
              <a:p>
                <a:pPr algn="just"/>
                <a:r>
                  <a:rPr lang="en-US" b="1" dirty="0">
                    <a:solidFill>
                      <a:schemeClr val="tx2">
                        <a:lumMod val="75000"/>
                      </a:schemeClr>
                    </a:solidFill>
                    <a:latin typeface="Times New Roman" panose="02020603050405020304" pitchFamily="18" charset="0"/>
                    <a:cs typeface="Times New Roman" panose="02020603050405020304" pitchFamily="18" charset="0"/>
                  </a:rPr>
                  <a:t>Compare with Critical Z</a:t>
                </a:r>
              </a:p>
              <a:p>
                <a:pPr algn="just"/>
                <a:r>
                  <a:rPr lang="en-US" b="1" dirty="0">
                    <a:solidFill>
                      <a:schemeClr val="tx2">
                        <a:lumMod val="75000"/>
                      </a:schemeClr>
                    </a:solidFill>
                    <a:latin typeface="Times New Roman" panose="02020603050405020304" pitchFamily="18" charset="0"/>
                    <a:cs typeface="Times New Roman" panose="02020603050405020304" pitchFamily="18" charset="0"/>
                  </a:rPr>
                  <a:t>Calculated Z = -2.22</a:t>
                </a:r>
              </a:p>
              <a:p>
                <a:r>
                  <a:rPr lang="en-US" dirty="0">
                    <a:solidFill>
                      <a:schemeClr val="tx2">
                        <a:lumMod val="75000"/>
                      </a:schemeClr>
                    </a:solidFill>
                  </a:rPr>
                  <a:t>Given </a:t>
                </a:r>
                <a14:m>
                  <m:oMath xmlns:m="http://schemas.openxmlformats.org/officeDocument/2006/math">
                    <m:r>
                      <a:rPr lang="en-US" i="1">
                        <a:solidFill>
                          <a:srgbClr val="FF0000"/>
                        </a:solidFill>
                        <a:latin typeface="Cambria Math" panose="02040503050406030204" pitchFamily="18" charset="0"/>
                        <a:ea typeface="Cambria Math" panose="02040503050406030204" pitchFamily="18" charset="0"/>
                      </a:rPr>
                      <m:t>𝛼</m:t>
                    </m:r>
                    <m:r>
                      <a:rPr lang="en-US">
                        <a:solidFill>
                          <a:srgbClr val="FF0000"/>
                        </a:solidFill>
                        <a:latin typeface="Cambria Math" panose="02040503050406030204" pitchFamily="18" charset="0"/>
                        <a:ea typeface="Cambria Math" panose="02040503050406030204" pitchFamily="18" charset="0"/>
                      </a:rPr>
                      <m:t> </m:t>
                    </m:r>
                  </m:oMath>
                </a14:m>
                <a:r>
                  <a:rPr lang="en-US" dirty="0">
                    <a:solidFill>
                      <a:srgbClr val="FF0000"/>
                    </a:solidFill>
                  </a:rPr>
                  <a:t>= 0.05 , (1-</a:t>
                </a:r>
                <a:r>
                  <a:rPr lang="en-US" dirty="0">
                    <a:solidFill>
                      <a:srgbClr val="FF0000"/>
                    </a:solidFill>
                    <a:ea typeface="Cambria Math" panose="02040503050406030204" pitchFamily="18" charset="0"/>
                  </a:rPr>
                  <a:t> </a:t>
                </a:r>
                <a14:m>
                  <m:oMath xmlns:m="http://schemas.openxmlformats.org/officeDocument/2006/math">
                    <m:r>
                      <a:rPr lang="en-US" i="1">
                        <a:solidFill>
                          <a:srgbClr val="FF0000"/>
                        </a:solidFill>
                        <a:latin typeface="Cambria Math" panose="02040503050406030204" pitchFamily="18" charset="0"/>
                        <a:ea typeface="Cambria Math" panose="02040503050406030204" pitchFamily="18" charset="0"/>
                      </a:rPr>
                      <m:t>𝛼</m:t>
                    </m:r>
                    <m:r>
                      <a:rPr lang="en-US">
                        <a:solidFill>
                          <a:srgbClr val="FF0000"/>
                        </a:solidFill>
                        <a:latin typeface="Cambria Math" panose="02040503050406030204" pitchFamily="18" charset="0"/>
                        <a:ea typeface="Cambria Math" panose="02040503050406030204" pitchFamily="18" charset="0"/>
                      </a:rPr>
                      <m:t> </m:t>
                    </m:r>
                    <m:r>
                      <a:rPr lang="en-IN" b="0" i="0" smtClean="0">
                        <a:solidFill>
                          <a:srgbClr val="FF0000"/>
                        </a:solidFill>
                        <a:latin typeface="Cambria Math" panose="02040503050406030204" pitchFamily="18" charset="0"/>
                        <a:ea typeface="Cambria Math" panose="02040503050406030204" pitchFamily="18" charset="0"/>
                      </a:rPr>
                      <m:t>/2</m:t>
                    </m:r>
                    <m:r>
                      <a:rPr lang="en-IN" b="0" i="0" smtClean="0">
                        <a:solidFill>
                          <a:schemeClr val="tx1"/>
                        </a:solidFill>
                        <a:latin typeface="Cambria Math" panose="02040503050406030204" pitchFamily="18" charset="0"/>
                        <a:ea typeface="Cambria Math" panose="02040503050406030204" pitchFamily="18" charset="0"/>
                      </a:rPr>
                      <m:t>)=</m:t>
                    </m:r>
                  </m:oMath>
                </a14:m>
                <a:r>
                  <a:rPr lang="en-US" dirty="0">
                    <a:solidFill>
                      <a:schemeClr val="tx1"/>
                    </a:solidFill>
                  </a:rPr>
                  <a:t>(1 - 0.05/2)</a:t>
                </a:r>
                <a:r>
                  <a:rPr lang="en-US" dirty="0">
                    <a:solidFill>
                      <a:srgbClr val="FF0000"/>
                    </a:solidFill>
                  </a:rPr>
                  <a:t>=0.975 </a:t>
                </a:r>
                <a:r>
                  <a:rPr lang="en-US" dirty="0">
                    <a:solidFill>
                      <a:schemeClr val="tx2">
                        <a:lumMod val="75000"/>
                      </a:schemeClr>
                    </a:solidFill>
                  </a:rPr>
                  <a:t>in the middle of the normal distribution</a:t>
                </a:r>
              </a:p>
              <a:p>
                <a:pPr algn="just"/>
                <a:r>
                  <a:rPr lang="en-US" dirty="0">
                    <a:solidFill>
                      <a:schemeClr val="tx2">
                        <a:lumMod val="75000"/>
                      </a:schemeClr>
                    </a:solidFill>
                  </a:rPr>
                  <a:t>So, to find the z-value that marks the boundary of the upper 2.5% tail, we look for the cumulative area up to that point:</a:t>
                </a:r>
              </a:p>
              <a:p>
                <a:pPr>
                  <a:lnSpc>
                    <a:spcPct val="100000"/>
                  </a:lnSpc>
                </a:pPr>
                <a:r>
                  <a:rPr lang="en-US" dirty="0"/>
                  <a:t>As </a:t>
                </a:r>
                <a:r>
                  <a:rPr lang="en-US" dirty="0">
                    <a:solidFill>
                      <a:srgbClr val="FF0000"/>
                    </a:solidFill>
                  </a:rPr>
                  <a:t>-2.22 </a:t>
                </a:r>
                <a14:m>
                  <m:oMath xmlns:m="http://schemas.openxmlformats.org/officeDocument/2006/math">
                    <m:r>
                      <a:rPr lang="en-US" i="1">
                        <a:solidFill>
                          <a:srgbClr val="FF0000"/>
                        </a:solidFill>
                        <a:latin typeface="Cambria Math" panose="02040503050406030204" pitchFamily="18" charset="0"/>
                        <a:ea typeface="Cambria Math" panose="02040503050406030204" pitchFamily="18" charset="0"/>
                      </a:rPr>
                      <m:t>&lt;−1.96</m:t>
                    </m:r>
                    <m:r>
                      <a:rPr lang="en-US" i="1">
                        <a:latin typeface="Cambria Math" panose="02040503050406030204" pitchFamily="18" charset="0"/>
                        <a:ea typeface="Cambria Math" panose="02040503050406030204" pitchFamily="18" charset="0"/>
                      </a:rPr>
                      <m:t>, </m:t>
                    </m:r>
                  </m:oMath>
                </a14:m>
                <a:r>
                  <a:rPr lang="en-IN" dirty="0"/>
                  <a:t>the z value falls in the tail region an therefore the </a:t>
                </a:r>
                <a:r>
                  <a:rPr lang="en-IN" b="1" dirty="0"/>
                  <a:t>null hypothesis is rejected!</a:t>
                </a:r>
              </a:p>
              <a:p>
                <a:pPr>
                  <a:lnSpc>
                    <a:spcPct val="100000"/>
                  </a:lnSpc>
                </a:pPr>
                <a:r>
                  <a:rPr lang="en-US" dirty="0"/>
                  <a:t>Hence the changes have indeed significantly changed the life of</a:t>
                </a:r>
                <a:r>
                  <a:rPr lang="en-IN" dirty="0"/>
                  <a:t> </a:t>
                </a:r>
                <a:r>
                  <a:rPr lang="en-US" dirty="0"/>
                  <a:t>the switches!</a:t>
                </a:r>
                <a:endParaRPr lang="en-IN" dirty="0"/>
              </a:p>
              <a:p>
                <a:pPr algn="just"/>
                <a:endParaRPr lang="en-US" dirty="0">
                  <a:solidFill>
                    <a:schemeClr val="tx2">
                      <a:lumMod val="75000"/>
                    </a:schemeClr>
                  </a:solidFill>
                  <a:latin typeface="Times New Roman" panose="02020603050405020304" pitchFamily="18" charset="0"/>
                  <a:cs typeface="Times New Roman" panose="02020603050405020304" pitchFamily="18" charset="0"/>
                </a:endParaRPr>
              </a:p>
              <a:p>
                <a:pPr>
                  <a:lnSpc>
                    <a:spcPct val="100000"/>
                  </a:lnSpc>
                </a:pPr>
                <a:endParaRPr lang="en-IN" dirty="0"/>
              </a:p>
              <a:p>
                <a:pPr marL="0" indent="0">
                  <a:buNone/>
                </a:pPr>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12651" y="933450"/>
                <a:ext cx="11979349" cy="5839490"/>
              </a:xfrm>
              <a:blipFill>
                <a:blip r:embed="rId2"/>
                <a:stretch>
                  <a:fillRect l="-916" t="-1670" r="-1018"/>
                </a:stretch>
              </a:blipFill>
            </p:spPr>
            <p:txBody>
              <a:bodyPr/>
              <a:lstStyle/>
              <a:p>
                <a:r>
                  <a:rPr lang="en-IN">
                    <a:noFill/>
                  </a:rPr>
                  <a:t> </a:t>
                </a:r>
              </a:p>
            </p:txBody>
          </p:sp>
        </mc:Fallback>
      </mc:AlternateContent>
    </p:spTree>
    <p:extLst>
      <p:ext uri="{BB962C8B-B14F-4D97-AF65-F5344CB8AC3E}">
        <p14:creationId xmlns:p14="http://schemas.microsoft.com/office/powerpoint/2010/main" val="415933418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39290-FCBD-CA60-9FB6-4DF293E6BE31}"/>
            </a:ext>
          </a:extLst>
        </p:cNvPr>
        <p:cNvGrpSpPr/>
        <p:nvPr/>
      </p:nvGrpSpPr>
      <p:grpSpPr>
        <a:xfrm>
          <a:off x="0" y="0"/>
          <a:ext cx="0" cy="0"/>
          <a:chOff x="0" y="0"/>
          <a:chExt cx="0" cy="0"/>
        </a:xfrm>
      </p:grpSpPr>
      <p:pic>
        <p:nvPicPr>
          <p:cNvPr id="1026" name="Picture 2" descr="Z-score table between mean and the standard deviation">
            <a:extLst>
              <a:ext uri="{FF2B5EF4-FFF2-40B4-BE49-F238E27FC236}">
                <a16:creationId xmlns:a16="http://schemas.microsoft.com/office/drawing/2014/main" id="{C333652B-65A7-CAAC-E5EC-DEAA35C96C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9743" y="-1"/>
            <a:ext cx="5634991" cy="6858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220018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7"/>
          </p:nvPr>
        </p:nvSpPr>
        <p:spPr>
          <a:xfrm>
            <a:off x="230428" y="6329531"/>
            <a:ext cx="299720" cy="227965"/>
          </a:xfrm>
          <a:prstGeom prst="rect">
            <a:avLst/>
          </a:prstGeom>
        </p:spPr>
        <p:txBody>
          <a:bodyPr wrap="square" lIns="0" tIns="0" rIns="0" bIns="0">
            <a:spAutoFit/>
          </a:bodyPr>
          <a:lstStyle>
            <a:defPPr>
              <a:defRPr kern="0"/>
            </a:defPPr>
            <a:lvl1pPr>
              <a:defRPr sz="1400" b="0" i="0">
                <a:solidFill>
                  <a:schemeClr val="bg1"/>
                </a:solidFill>
                <a:latin typeface="Franklin Gothic Book"/>
                <a:cs typeface="Franklin Gothic Book"/>
              </a:defRPr>
            </a:lvl1pPr>
          </a:lstStyle>
          <a:p>
            <a:pPr marL="38100">
              <a:lnSpc>
                <a:spcPts val="1664"/>
              </a:lnSpc>
            </a:pPr>
            <a:fld id="{81D60167-4931-47E6-BA6A-407CBD079E47}" type="slidenum">
              <a:rPr lang="en-IN" spc="-25" smtClean="0"/>
              <a:pPr marL="38100">
                <a:lnSpc>
                  <a:spcPts val="1664"/>
                </a:lnSpc>
              </a:pPr>
              <a:t>70</a:t>
            </a:fld>
            <a:endParaRPr lang="en-US" spc="-25" dirty="0"/>
          </a:p>
        </p:txBody>
      </p:sp>
      <p:sp>
        <p:nvSpPr>
          <p:cNvPr id="5" name="TextBox 4"/>
          <p:cNvSpPr txBox="1"/>
          <p:nvPr/>
        </p:nvSpPr>
        <p:spPr>
          <a:xfrm>
            <a:off x="3733800" y="62211"/>
            <a:ext cx="4343400" cy="461665"/>
          </a:xfrm>
          <a:prstGeom prst="rect">
            <a:avLst/>
          </a:prstGeom>
          <a:noFill/>
        </p:spPr>
        <p:txBody>
          <a:bodyPr wrap="square" rtlCol="0">
            <a:spAutoFit/>
          </a:bodyPr>
          <a:lstStyle/>
          <a:p>
            <a:r>
              <a:rPr lang="en-US" sz="2400" b="1" dirty="0">
                <a:solidFill>
                  <a:srgbClr val="C00000"/>
                </a:solidFill>
              </a:rPr>
              <a:t>Standard Normal Z Table </a:t>
            </a:r>
          </a:p>
        </p:txBody>
      </p:sp>
      <p:graphicFrame>
        <p:nvGraphicFramePr>
          <p:cNvPr id="2" name="Table 1"/>
          <p:cNvGraphicFramePr>
            <a:graphicFrameLocks noGrp="1"/>
          </p:cNvGraphicFramePr>
          <p:nvPr/>
        </p:nvGraphicFramePr>
        <p:xfrm>
          <a:off x="1981196" y="609600"/>
          <a:ext cx="8382000" cy="6089968"/>
        </p:xfrm>
        <a:graphic>
          <a:graphicData uri="http://schemas.openxmlformats.org/drawingml/2006/table">
            <a:tbl>
              <a:tblPr firstRow="1" firstCol="1" bandRow="1">
                <a:tableStyleId>{5C22544A-7EE6-4342-B048-85BDC9FD1C3A}</a:tableStyleId>
              </a:tblPr>
              <a:tblGrid>
                <a:gridCol w="762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gridCol w="762000">
                  <a:extLst>
                    <a:ext uri="{9D8B030D-6E8A-4147-A177-3AD203B41FA5}">
                      <a16:colId xmlns:a16="http://schemas.microsoft.com/office/drawing/2014/main" val="20005"/>
                    </a:ext>
                  </a:extLst>
                </a:gridCol>
                <a:gridCol w="762000">
                  <a:extLst>
                    <a:ext uri="{9D8B030D-6E8A-4147-A177-3AD203B41FA5}">
                      <a16:colId xmlns:a16="http://schemas.microsoft.com/office/drawing/2014/main" val="20006"/>
                    </a:ext>
                  </a:extLst>
                </a:gridCol>
                <a:gridCol w="762000">
                  <a:extLst>
                    <a:ext uri="{9D8B030D-6E8A-4147-A177-3AD203B41FA5}">
                      <a16:colId xmlns:a16="http://schemas.microsoft.com/office/drawing/2014/main" val="20007"/>
                    </a:ext>
                  </a:extLst>
                </a:gridCol>
                <a:gridCol w="762000">
                  <a:extLst>
                    <a:ext uri="{9D8B030D-6E8A-4147-A177-3AD203B41FA5}">
                      <a16:colId xmlns:a16="http://schemas.microsoft.com/office/drawing/2014/main" val="20008"/>
                    </a:ext>
                  </a:extLst>
                </a:gridCol>
                <a:gridCol w="762000">
                  <a:extLst>
                    <a:ext uri="{9D8B030D-6E8A-4147-A177-3AD203B41FA5}">
                      <a16:colId xmlns:a16="http://schemas.microsoft.com/office/drawing/2014/main" val="20009"/>
                    </a:ext>
                  </a:extLst>
                </a:gridCol>
                <a:gridCol w="762000">
                  <a:extLst>
                    <a:ext uri="{9D8B030D-6E8A-4147-A177-3AD203B41FA5}">
                      <a16:colId xmlns:a16="http://schemas.microsoft.com/office/drawing/2014/main" val="20010"/>
                    </a:ext>
                  </a:extLst>
                </a:gridCol>
              </a:tblGrid>
              <a:tr h="51945">
                <a:tc>
                  <a:txBody>
                    <a:bodyPr/>
                    <a:lstStyle/>
                    <a:p>
                      <a:pPr marL="0" marR="0" algn="ctr">
                        <a:lnSpc>
                          <a:spcPct val="115000"/>
                        </a:lnSpc>
                        <a:spcBef>
                          <a:spcPts val="0"/>
                        </a:spcBef>
                        <a:spcAft>
                          <a:spcPts val="0"/>
                        </a:spcAft>
                      </a:pPr>
                      <a:r>
                        <a:rPr lang="en-US" sz="1100">
                          <a:effectLst/>
                        </a:rPr>
                        <a:t>Z</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.00</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.01</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.02</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.03</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.04</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.05</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.06</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.07</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a:t>
                      </a:r>
                      <a:endParaRPr lang="en-US" sz="1000">
                        <a:effectLst/>
                        <a:latin typeface="Calibri"/>
                        <a:ea typeface="Calibri"/>
                        <a:cs typeface="Times New Roman"/>
                      </a:endParaRPr>
                    </a:p>
                  </a:txBody>
                  <a:tcPr marL="8415" marR="8415" marT="8415" marB="8415" anchor="ctr"/>
                </a:tc>
                <a:extLst>
                  <a:ext uri="{0D108BD9-81ED-4DB2-BD59-A6C34878D82A}">
                    <a16:rowId xmlns:a16="http://schemas.microsoft.com/office/drawing/2014/main" val="10000"/>
                  </a:ext>
                </a:extLst>
              </a:tr>
              <a:tr h="280555">
                <a:tc>
                  <a:txBody>
                    <a:bodyPr/>
                    <a:lstStyle/>
                    <a:p>
                      <a:pPr marL="0" marR="0" algn="ctr">
                        <a:lnSpc>
                          <a:spcPct val="115000"/>
                        </a:lnSpc>
                        <a:spcBef>
                          <a:spcPts val="0"/>
                        </a:spcBef>
                        <a:spcAft>
                          <a:spcPts val="0"/>
                        </a:spcAft>
                      </a:pPr>
                      <a:r>
                        <a:rPr lang="en-US" sz="1100" dirty="0">
                          <a:effectLst/>
                        </a:rPr>
                        <a:t>0.0</a:t>
                      </a:r>
                      <a:endParaRPr lang="en-US" sz="1000" dirty="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0.5000</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0.5040</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0.5080</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0.5120</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0.5160</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0.5199</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0.5239</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0.5279</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0.5319</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0.5359</a:t>
                      </a:r>
                      <a:endParaRPr lang="en-US" sz="1000">
                        <a:effectLst/>
                        <a:latin typeface="Calibri"/>
                        <a:ea typeface="Calibri"/>
                        <a:cs typeface="Times New Roman"/>
                      </a:endParaRPr>
                    </a:p>
                  </a:txBody>
                  <a:tcPr marL="8415" marR="8415" marT="8415" marB="8415" anchor="ctr"/>
                </a:tc>
                <a:extLst>
                  <a:ext uri="{0D108BD9-81ED-4DB2-BD59-A6C34878D82A}">
                    <a16:rowId xmlns:a16="http://schemas.microsoft.com/office/drawing/2014/main" val="10001"/>
                  </a:ext>
                </a:extLst>
              </a:tr>
              <a:tr h="280555">
                <a:tc>
                  <a:txBody>
                    <a:bodyPr/>
                    <a:lstStyle/>
                    <a:p>
                      <a:pPr marL="0" marR="0" algn="ctr">
                        <a:lnSpc>
                          <a:spcPct val="115000"/>
                        </a:lnSpc>
                        <a:spcBef>
                          <a:spcPts val="0"/>
                        </a:spcBef>
                        <a:spcAft>
                          <a:spcPts val="0"/>
                        </a:spcAft>
                      </a:pPr>
                      <a:r>
                        <a:rPr lang="en-US" sz="1100">
                          <a:effectLst/>
                        </a:rPr>
                        <a:t>0.1</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0.5398</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0.5438</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0.5478</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0.5517</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0.5557</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0.5596</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0.5636</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0.5675</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0.5714</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0.5753</a:t>
                      </a:r>
                      <a:endParaRPr lang="en-US" sz="1000">
                        <a:effectLst/>
                        <a:latin typeface="Calibri"/>
                        <a:ea typeface="Calibri"/>
                        <a:cs typeface="Times New Roman"/>
                      </a:endParaRPr>
                    </a:p>
                  </a:txBody>
                  <a:tcPr marL="8415" marR="8415" marT="8415" marB="8415" anchor="ctr"/>
                </a:tc>
                <a:extLst>
                  <a:ext uri="{0D108BD9-81ED-4DB2-BD59-A6C34878D82A}">
                    <a16:rowId xmlns:a16="http://schemas.microsoft.com/office/drawing/2014/main" val="10002"/>
                  </a:ext>
                </a:extLst>
              </a:tr>
              <a:tr h="280555">
                <a:tc>
                  <a:txBody>
                    <a:bodyPr/>
                    <a:lstStyle/>
                    <a:p>
                      <a:pPr marL="0" marR="0" algn="ctr">
                        <a:lnSpc>
                          <a:spcPct val="115000"/>
                        </a:lnSpc>
                        <a:spcBef>
                          <a:spcPts val="0"/>
                        </a:spcBef>
                        <a:spcAft>
                          <a:spcPts val="0"/>
                        </a:spcAft>
                      </a:pPr>
                      <a:r>
                        <a:rPr lang="en-US" sz="1100">
                          <a:effectLst/>
                        </a:rPr>
                        <a:t>0.2</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dirty="0">
                          <a:effectLst/>
                        </a:rPr>
                        <a:t>0.5793</a:t>
                      </a:r>
                      <a:endParaRPr lang="en-US" sz="1000" dirty="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0.5832</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0.5871</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0.5910</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0.5948</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0.5987</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0.6026</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0.6064</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0.6103</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0.6141</a:t>
                      </a:r>
                      <a:endParaRPr lang="en-US" sz="1000">
                        <a:effectLst/>
                        <a:latin typeface="Calibri"/>
                        <a:ea typeface="Calibri"/>
                        <a:cs typeface="Times New Roman"/>
                      </a:endParaRPr>
                    </a:p>
                  </a:txBody>
                  <a:tcPr marL="8415" marR="8415" marT="8415" marB="8415" anchor="ctr"/>
                </a:tc>
                <a:extLst>
                  <a:ext uri="{0D108BD9-81ED-4DB2-BD59-A6C34878D82A}">
                    <a16:rowId xmlns:a16="http://schemas.microsoft.com/office/drawing/2014/main" val="10003"/>
                  </a:ext>
                </a:extLst>
              </a:tr>
              <a:tr h="280555">
                <a:tc>
                  <a:txBody>
                    <a:bodyPr/>
                    <a:lstStyle/>
                    <a:p>
                      <a:pPr marL="0" marR="0" algn="ctr">
                        <a:lnSpc>
                          <a:spcPct val="115000"/>
                        </a:lnSpc>
                        <a:spcBef>
                          <a:spcPts val="0"/>
                        </a:spcBef>
                        <a:spcAft>
                          <a:spcPts val="0"/>
                        </a:spcAft>
                      </a:pPr>
                      <a:r>
                        <a:rPr lang="en-US" sz="1100">
                          <a:effectLst/>
                        </a:rPr>
                        <a:t>0.3</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0.6179</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dirty="0">
                          <a:effectLst/>
                        </a:rPr>
                        <a:t>0.6217</a:t>
                      </a:r>
                      <a:endParaRPr lang="en-US" sz="1000" dirty="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0.6255</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0.6293</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0.6331</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0.6368</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0.6406</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0.6443</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0.6480</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0.6517</a:t>
                      </a:r>
                      <a:endParaRPr lang="en-US" sz="1000">
                        <a:effectLst/>
                        <a:latin typeface="Calibri"/>
                        <a:ea typeface="Calibri"/>
                        <a:cs typeface="Times New Roman"/>
                      </a:endParaRPr>
                    </a:p>
                  </a:txBody>
                  <a:tcPr marL="8415" marR="8415" marT="8415" marB="8415" anchor="ctr"/>
                </a:tc>
                <a:extLst>
                  <a:ext uri="{0D108BD9-81ED-4DB2-BD59-A6C34878D82A}">
                    <a16:rowId xmlns:a16="http://schemas.microsoft.com/office/drawing/2014/main" val="10004"/>
                  </a:ext>
                </a:extLst>
              </a:tr>
              <a:tr h="280555">
                <a:tc>
                  <a:txBody>
                    <a:bodyPr/>
                    <a:lstStyle/>
                    <a:p>
                      <a:pPr marL="0" marR="0" algn="ctr">
                        <a:lnSpc>
                          <a:spcPct val="115000"/>
                        </a:lnSpc>
                        <a:spcBef>
                          <a:spcPts val="0"/>
                        </a:spcBef>
                        <a:spcAft>
                          <a:spcPts val="0"/>
                        </a:spcAft>
                      </a:pPr>
                      <a:r>
                        <a:rPr lang="en-US" sz="1100">
                          <a:effectLst/>
                        </a:rPr>
                        <a:t>0.4</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0.6554</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0.6591</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dirty="0">
                          <a:effectLst/>
                        </a:rPr>
                        <a:t>0.6628</a:t>
                      </a:r>
                      <a:endParaRPr lang="en-US" sz="1000" dirty="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0.6664</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0.6700</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0.6736</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0.6772</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0.6808</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0.6844</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0.6879</a:t>
                      </a:r>
                      <a:endParaRPr lang="en-US" sz="1000">
                        <a:effectLst/>
                        <a:latin typeface="Calibri"/>
                        <a:ea typeface="Calibri"/>
                        <a:cs typeface="Times New Roman"/>
                      </a:endParaRPr>
                    </a:p>
                  </a:txBody>
                  <a:tcPr marL="8415" marR="8415" marT="8415" marB="8415" anchor="ctr"/>
                </a:tc>
                <a:extLst>
                  <a:ext uri="{0D108BD9-81ED-4DB2-BD59-A6C34878D82A}">
                    <a16:rowId xmlns:a16="http://schemas.microsoft.com/office/drawing/2014/main" val="10005"/>
                  </a:ext>
                </a:extLst>
              </a:tr>
              <a:tr h="280555">
                <a:tc>
                  <a:txBody>
                    <a:bodyPr/>
                    <a:lstStyle/>
                    <a:p>
                      <a:pPr marL="0" marR="0" algn="ctr">
                        <a:lnSpc>
                          <a:spcPct val="115000"/>
                        </a:lnSpc>
                        <a:spcBef>
                          <a:spcPts val="0"/>
                        </a:spcBef>
                        <a:spcAft>
                          <a:spcPts val="0"/>
                        </a:spcAft>
                      </a:pPr>
                      <a:r>
                        <a:rPr lang="en-US" sz="1100">
                          <a:effectLst/>
                        </a:rPr>
                        <a:t>0.5</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0.6915</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0.6950</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dirty="0">
                          <a:effectLst/>
                        </a:rPr>
                        <a:t>0.6985</a:t>
                      </a:r>
                      <a:endParaRPr lang="en-US" sz="1000" dirty="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0.7019</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0.7054</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0.7088</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0.7123</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0.7157</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0.7190</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0.7224</a:t>
                      </a:r>
                      <a:endParaRPr lang="en-US" sz="1000">
                        <a:effectLst/>
                        <a:latin typeface="Calibri"/>
                        <a:ea typeface="Calibri"/>
                        <a:cs typeface="Times New Roman"/>
                      </a:endParaRPr>
                    </a:p>
                  </a:txBody>
                  <a:tcPr marL="8415" marR="8415" marT="8415" marB="8415" anchor="ctr"/>
                </a:tc>
                <a:extLst>
                  <a:ext uri="{0D108BD9-81ED-4DB2-BD59-A6C34878D82A}">
                    <a16:rowId xmlns:a16="http://schemas.microsoft.com/office/drawing/2014/main" val="10006"/>
                  </a:ext>
                </a:extLst>
              </a:tr>
              <a:tr h="280555">
                <a:tc>
                  <a:txBody>
                    <a:bodyPr/>
                    <a:lstStyle/>
                    <a:p>
                      <a:pPr marL="0" marR="0" algn="ctr">
                        <a:lnSpc>
                          <a:spcPct val="115000"/>
                        </a:lnSpc>
                        <a:spcBef>
                          <a:spcPts val="0"/>
                        </a:spcBef>
                        <a:spcAft>
                          <a:spcPts val="0"/>
                        </a:spcAft>
                      </a:pPr>
                      <a:r>
                        <a:rPr lang="en-US" sz="1100">
                          <a:effectLst/>
                        </a:rPr>
                        <a:t>0.6</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0.7257</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0.7291</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dirty="0">
                          <a:effectLst/>
                        </a:rPr>
                        <a:t>0.7324</a:t>
                      </a:r>
                      <a:endParaRPr lang="en-US" sz="1000" dirty="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dirty="0">
                          <a:effectLst/>
                        </a:rPr>
                        <a:t>0.7357</a:t>
                      </a:r>
                      <a:endParaRPr lang="en-US" sz="1000" dirty="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0.7389</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0.7422</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0.7454</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0.7486</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0.7517</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0.7549</a:t>
                      </a:r>
                      <a:endParaRPr lang="en-US" sz="1000">
                        <a:effectLst/>
                        <a:latin typeface="Calibri"/>
                        <a:ea typeface="Calibri"/>
                        <a:cs typeface="Times New Roman"/>
                      </a:endParaRPr>
                    </a:p>
                  </a:txBody>
                  <a:tcPr marL="8415" marR="8415" marT="8415" marB="8415" anchor="ctr"/>
                </a:tc>
                <a:extLst>
                  <a:ext uri="{0D108BD9-81ED-4DB2-BD59-A6C34878D82A}">
                    <a16:rowId xmlns:a16="http://schemas.microsoft.com/office/drawing/2014/main" val="10007"/>
                  </a:ext>
                </a:extLst>
              </a:tr>
              <a:tr h="280555">
                <a:tc>
                  <a:txBody>
                    <a:bodyPr/>
                    <a:lstStyle/>
                    <a:p>
                      <a:pPr marL="0" marR="0" algn="ctr">
                        <a:lnSpc>
                          <a:spcPct val="115000"/>
                        </a:lnSpc>
                        <a:spcBef>
                          <a:spcPts val="0"/>
                        </a:spcBef>
                        <a:spcAft>
                          <a:spcPts val="0"/>
                        </a:spcAft>
                      </a:pPr>
                      <a:r>
                        <a:rPr lang="en-US" sz="1100">
                          <a:effectLst/>
                        </a:rPr>
                        <a:t>0.7</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0.7580</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0.7611</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0.7642</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dirty="0">
                          <a:effectLst/>
                        </a:rPr>
                        <a:t>0.7673</a:t>
                      </a:r>
                      <a:endParaRPr lang="en-US" sz="1000" dirty="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0.7704</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0.7734</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0.7764</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0.7794</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0.7823</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0.7852</a:t>
                      </a:r>
                      <a:endParaRPr lang="en-US" sz="1000">
                        <a:effectLst/>
                        <a:latin typeface="Calibri"/>
                        <a:ea typeface="Calibri"/>
                        <a:cs typeface="Times New Roman"/>
                      </a:endParaRPr>
                    </a:p>
                  </a:txBody>
                  <a:tcPr marL="8415" marR="8415" marT="8415" marB="8415" anchor="ctr"/>
                </a:tc>
                <a:extLst>
                  <a:ext uri="{0D108BD9-81ED-4DB2-BD59-A6C34878D82A}">
                    <a16:rowId xmlns:a16="http://schemas.microsoft.com/office/drawing/2014/main" val="10008"/>
                  </a:ext>
                </a:extLst>
              </a:tr>
              <a:tr h="280555">
                <a:tc>
                  <a:txBody>
                    <a:bodyPr/>
                    <a:lstStyle/>
                    <a:p>
                      <a:pPr marL="0" marR="0" algn="ctr">
                        <a:lnSpc>
                          <a:spcPct val="115000"/>
                        </a:lnSpc>
                        <a:spcBef>
                          <a:spcPts val="0"/>
                        </a:spcBef>
                        <a:spcAft>
                          <a:spcPts val="0"/>
                        </a:spcAft>
                      </a:pPr>
                      <a:r>
                        <a:rPr lang="en-US" sz="1100">
                          <a:effectLst/>
                        </a:rPr>
                        <a:t>0.8</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0.7881</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0.7910</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0.7939</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dirty="0">
                          <a:effectLst/>
                        </a:rPr>
                        <a:t>0.7967</a:t>
                      </a:r>
                      <a:endParaRPr lang="en-US" sz="1000" dirty="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0.7995</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0.8023</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0.8051</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0.8078</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0.8106</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0.8133</a:t>
                      </a:r>
                      <a:endParaRPr lang="en-US" sz="1000">
                        <a:effectLst/>
                        <a:latin typeface="Calibri"/>
                        <a:ea typeface="Calibri"/>
                        <a:cs typeface="Times New Roman"/>
                      </a:endParaRPr>
                    </a:p>
                  </a:txBody>
                  <a:tcPr marL="8415" marR="8415" marT="8415" marB="8415" anchor="ctr"/>
                </a:tc>
                <a:extLst>
                  <a:ext uri="{0D108BD9-81ED-4DB2-BD59-A6C34878D82A}">
                    <a16:rowId xmlns:a16="http://schemas.microsoft.com/office/drawing/2014/main" val="10009"/>
                  </a:ext>
                </a:extLst>
              </a:tr>
              <a:tr h="280555">
                <a:tc>
                  <a:txBody>
                    <a:bodyPr/>
                    <a:lstStyle/>
                    <a:p>
                      <a:pPr marL="0" marR="0" algn="ctr">
                        <a:lnSpc>
                          <a:spcPct val="115000"/>
                        </a:lnSpc>
                        <a:spcBef>
                          <a:spcPts val="0"/>
                        </a:spcBef>
                        <a:spcAft>
                          <a:spcPts val="0"/>
                        </a:spcAft>
                      </a:pPr>
                      <a:r>
                        <a:rPr lang="en-US" sz="1100">
                          <a:effectLst/>
                        </a:rPr>
                        <a:t>0.9</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0.8159</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0.8186</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0.8212</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0.8238</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0.8264</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0.8289</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0.8315</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0.8340</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0.8365</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0.8389</a:t>
                      </a:r>
                      <a:endParaRPr lang="en-US" sz="1000">
                        <a:effectLst/>
                        <a:latin typeface="Calibri"/>
                        <a:ea typeface="Calibri"/>
                        <a:cs typeface="Times New Roman"/>
                      </a:endParaRPr>
                    </a:p>
                  </a:txBody>
                  <a:tcPr marL="8415" marR="8415" marT="8415" marB="8415" anchor="ctr"/>
                </a:tc>
                <a:extLst>
                  <a:ext uri="{0D108BD9-81ED-4DB2-BD59-A6C34878D82A}">
                    <a16:rowId xmlns:a16="http://schemas.microsoft.com/office/drawing/2014/main" val="10010"/>
                  </a:ext>
                </a:extLst>
              </a:tr>
              <a:tr h="280555">
                <a:tc>
                  <a:txBody>
                    <a:bodyPr/>
                    <a:lstStyle/>
                    <a:p>
                      <a:pPr marL="0" marR="0" algn="ctr">
                        <a:lnSpc>
                          <a:spcPct val="115000"/>
                        </a:lnSpc>
                        <a:spcBef>
                          <a:spcPts val="0"/>
                        </a:spcBef>
                        <a:spcAft>
                          <a:spcPts val="0"/>
                        </a:spcAft>
                      </a:pPr>
                      <a:r>
                        <a:rPr lang="en-US" sz="1100">
                          <a:effectLst/>
                        </a:rPr>
                        <a:t>1.0</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dirty="0">
                          <a:effectLst/>
                        </a:rPr>
                        <a:t>0.8413</a:t>
                      </a:r>
                      <a:endParaRPr lang="en-US" sz="1000" dirty="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0.8438</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0.8461</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0.8485</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0.8508</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0.8531</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0.8554</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0.8577</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0.8599</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0.8621</a:t>
                      </a:r>
                      <a:endParaRPr lang="en-US" sz="1000">
                        <a:effectLst/>
                        <a:latin typeface="Calibri"/>
                        <a:ea typeface="Calibri"/>
                        <a:cs typeface="Times New Roman"/>
                      </a:endParaRPr>
                    </a:p>
                  </a:txBody>
                  <a:tcPr marL="8415" marR="8415" marT="8415" marB="8415" anchor="ctr"/>
                </a:tc>
                <a:extLst>
                  <a:ext uri="{0D108BD9-81ED-4DB2-BD59-A6C34878D82A}">
                    <a16:rowId xmlns:a16="http://schemas.microsoft.com/office/drawing/2014/main" val="10011"/>
                  </a:ext>
                </a:extLst>
              </a:tr>
              <a:tr h="280555">
                <a:tc>
                  <a:txBody>
                    <a:bodyPr/>
                    <a:lstStyle/>
                    <a:p>
                      <a:pPr marL="0" marR="0" algn="ctr">
                        <a:lnSpc>
                          <a:spcPct val="115000"/>
                        </a:lnSpc>
                        <a:spcBef>
                          <a:spcPts val="0"/>
                        </a:spcBef>
                        <a:spcAft>
                          <a:spcPts val="0"/>
                        </a:spcAft>
                      </a:pPr>
                      <a:r>
                        <a:rPr lang="en-US" sz="1100">
                          <a:effectLst/>
                        </a:rPr>
                        <a:t>1.1</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0.8643</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0.8665</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0.8686</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0.8708</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0.8729</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0.8749</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0.8770</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0.8790</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0.8810</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0.8830</a:t>
                      </a:r>
                      <a:endParaRPr lang="en-US" sz="1000">
                        <a:effectLst/>
                        <a:latin typeface="Calibri"/>
                        <a:ea typeface="Calibri"/>
                        <a:cs typeface="Times New Roman"/>
                      </a:endParaRPr>
                    </a:p>
                  </a:txBody>
                  <a:tcPr marL="8415" marR="8415" marT="8415" marB="8415" anchor="ctr"/>
                </a:tc>
                <a:extLst>
                  <a:ext uri="{0D108BD9-81ED-4DB2-BD59-A6C34878D82A}">
                    <a16:rowId xmlns:a16="http://schemas.microsoft.com/office/drawing/2014/main" val="10012"/>
                  </a:ext>
                </a:extLst>
              </a:tr>
              <a:tr h="280555">
                <a:tc>
                  <a:txBody>
                    <a:bodyPr/>
                    <a:lstStyle/>
                    <a:p>
                      <a:pPr marL="0" marR="0" algn="ctr">
                        <a:lnSpc>
                          <a:spcPct val="115000"/>
                        </a:lnSpc>
                        <a:spcBef>
                          <a:spcPts val="0"/>
                        </a:spcBef>
                        <a:spcAft>
                          <a:spcPts val="0"/>
                        </a:spcAft>
                      </a:pPr>
                      <a:r>
                        <a:rPr lang="en-US" sz="1100">
                          <a:effectLst/>
                        </a:rPr>
                        <a:t>1.2</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0.8849</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0.8869</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0.8888</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0.8907</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0.8925</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dirty="0">
                          <a:effectLst/>
                        </a:rPr>
                        <a:t>0.8944</a:t>
                      </a:r>
                      <a:endParaRPr lang="en-US" sz="1000" dirty="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0.8962</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0.8980</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0.8997</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0.9015</a:t>
                      </a:r>
                      <a:endParaRPr lang="en-US" sz="1000">
                        <a:effectLst/>
                        <a:latin typeface="Calibri"/>
                        <a:ea typeface="Calibri"/>
                        <a:cs typeface="Times New Roman"/>
                      </a:endParaRPr>
                    </a:p>
                  </a:txBody>
                  <a:tcPr marL="8415" marR="8415" marT="8415" marB="8415" anchor="ctr"/>
                </a:tc>
                <a:extLst>
                  <a:ext uri="{0D108BD9-81ED-4DB2-BD59-A6C34878D82A}">
                    <a16:rowId xmlns:a16="http://schemas.microsoft.com/office/drawing/2014/main" val="10013"/>
                  </a:ext>
                </a:extLst>
              </a:tr>
              <a:tr h="280555">
                <a:tc>
                  <a:txBody>
                    <a:bodyPr/>
                    <a:lstStyle/>
                    <a:p>
                      <a:pPr marL="0" marR="0" algn="ctr">
                        <a:lnSpc>
                          <a:spcPct val="115000"/>
                        </a:lnSpc>
                        <a:spcBef>
                          <a:spcPts val="0"/>
                        </a:spcBef>
                        <a:spcAft>
                          <a:spcPts val="0"/>
                        </a:spcAft>
                      </a:pPr>
                      <a:r>
                        <a:rPr lang="en-US" sz="1100">
                          <a:effectLst/>
                        </a:rPr>
                        <a:t>1.3</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0.9032</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0.9049</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0.9066</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0.9082</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0.9099</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0.9115</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0.9131</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0.9147</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0.9162</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0.9177</a:t>
                      </a:r>
                      <a:endParaRPr lang="en-US" sz="1000">
                        <a:effectLst/>
                        <a:latin typeface="Calibri"/>
                        <a:ea typeface="Calibri"/>
                        <a:cs typeface="Times New Roman"/>
                      </a:endParaRPr>
                    </a:p>
                  </a:txBody>
                  <a:tcPr marL="8415" marR="8415" marT="8415" marB="8415" anchor="ctr"/>
                </a:tc>
                <a:extLst>
                  <a:ext uri="{0D108BD9-81ED-4DB2-BD59-A6C34878D82A}">
                    <a16:rowId xmlns:a16="http://schemas.microsoft.com/office/drawing/2014/main" val="10014"/>
                  </a:ext>
                </a:extLst>
              </a:tr>
              <a:tr h="280555">
                <a:tc>
                  <a:txBody>
                    <a:bodyPr/>
                    <a:lstStyle/>
                    <a:p>
                      <a:pPr marL="0" marR="0" algn="ctr">
                        <a:lnSpc>
                          <a:spcPct val="115000"/>
                        </a:lnSpc>
                        <a:spcBef>
                          <a:spcPts val="0"/>
                        </a:spcBef>
                        <a:spcAft>
                          <a:spcPts val="0"/>
                        </a:spcAft>
                      </a:pPr>
                      <a:r>
                        <a:rPr lang="en-US" sz="1100">
                          <a:effectLst/>
                        </a:rPr>
                        <a:t>1.4</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0.9192</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0.9207</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0.9222</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0.9236</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0.9251</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0.9265</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dirty="0">
                          <a:effectLst/>
                        </a:rPr>
                        <a:t>0.9279</a:t>
                      </a:r>
                      <a:endParaRPr lang="en-US" sz="1000" dirty="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0.9292</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0.9306</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0.9319</a:t>
                      </a:r>
                      <a:endParaRPr lang="en-US" sz="1000">
                        <a:effectLst/>
                        <a:latin typeface="Calibri"/>
                        <a:ea typeface="Calibri"/>
                        <a:cs typeface="Times New Roman"/>
                      </a:endParaRPr>
                    </a:p>
                  </a:txBody>
                  <a:tcPr marL="8415" marR="8415" marT="8415" marB="8415" anchor="ctr"/>
                </a:tc>
                <a:extLst>
                  <a:ext uri="{0D108BD9-81ED-4DB2-BD59-A6C34878D82A}">
                    <a16:rowId xmlns:a16="http://schemas.microsoft.com/office/drawing/2014/main" val="10015"/>
                  </a:ext>
                </a:extLst>
              </a:tr>
              <a:tr h="280555">
                <a:tc>
                  <a:txBody>
                    <a:bodyPr/>
                    <a:lstStyle/>
                    <a:p>
                      <a:pPr marL="0" marR="0" algn="ctr">
                        <a:lnSpc>
                          <a:spcPct val="115000"/>
                        </a:lnSpc>
                        <a:spcBef>
                          <a:spcPts val="0"/>
                        </a:spcBef>
                        <a:spcAft>
                          <a:spcPts val="0"/>
                        </a:spcAft>
                      </a:pPr>
                      <a:r>
                        <a:rPr lang="en-US" sz="1100">
                          <a:effectLst/>
                        </a:rPr>
                        <a:t>1.5</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0.9332</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0.9345</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0.9357</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0.9370</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0.9382</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0.9394</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dirty="0">
                          <a:effectLst/>
                        </a:rPr>
                        <a:t>0.9406</a:t>
                      </a:r>
                      <a:endParaRPr lang="en-US" sz="1000" dirty="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0.9418</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0.9429</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0.9441</a:t>
                      </a:r>
                      <a:endParaRPr lang="en-US" sz="1000">
                        <a:effectLst/>
                        <a:latin typeface="Calibri"/>
                        <a:ea typeface="Calibri"/>
                        <a:cs typeface="Times New Roman"/>
                      </a:endParaRPr>
                    </a:p>
                  </a:txBody>
                  <a:tcPr marL="8415" marR="8415" marT="8415" marB="8415" anchor="ctr"/>
                </a:tc>
                <a:extLst>
                  <a:ext uri="{0D108BD9-81ED-4DB2-BD59-A6C34878D82A}">
                    <a16:rowId xmlns:a16="http://schemas.microsoft.com/office/drawing/2014/main" val="10016"/>
                  </a:ext>
                </a:extLst>
              </a:tr>
              <a:tr h="280555">
                <a:tc>
                  <a:txBody>
                    <a:bodyPr/>
                    <a:lstStyle/>
                    <a:p>
                      <a:pPr marL="0" marR="0" algn="ctr">
                        <a:lnSpc>
                          <a:spcPct val="115000"/>
                        </a:lnSpc>
                        <a:spcBef>
                          <a:spcPts val="0"/>
                        </a:spcBef>
                        <a:spcAft>
                          <a:spcPts val="0"/>
                        </a:spcAft>
                      </a:pPr>
                      <a:r>
                        <a:rPr lang="en-US" sz="1100">
                          <a:effectLst/>
                        </a:rPr>
                        <a:t>1.6</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0.9452</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0.9463</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0.9474</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0.9484</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0.9495</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0.9505</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dirty="0">
                          <a:effectLst/>
                        </a:rPr>
                        <a:t>0.9515</a:t>
                      </a:r>
                      <a:endParaRPr lang="en-US" sz="1000" dirty="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dirty="0">
                          <a:effectLst/>
                        </a:rPr>
                        <a:t>0.9525</a:t>
                      </a:r>
                      <a:endParaRPr lang="en-US" sz="1000" dirty="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0.9535</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0.9545</a:t>
                      </a:r>
                      <a:endParaRPr lang="en-US" sz="1000">
                        <a:effectLst/>
                        <a:latin typeface="Calibri"/>
                        <a:ea typeface="Calibri"/>
                        <a:cs typeface="Times New Roman"/>
                      </a:endParaRPr>
                    </a:p>
                  </a:txBody>
                  <a:tcPr marL="8415" marR="8415" marT="8415" marB="8415" anchor="ctr"/>
                </a:tc>
                <a:extLst>
                  <a:ext uri="{0D108BD9-81ED-4DB2-BD59-A6C34878D82A}">
                    <a16:rowId xmlns:a16="http://schemas.microsoft.com/office/drawing/2014/main" val="10017"/>
                  </a:ext>
                </a:extLst>
              </a:tr>
              <a:tr h="280555">
                <a:tc>
                  <a:txBody>
                    <a:bodyPr/>
                    <a:lstStyle/>
                    <a:p>
                      <a:pPr marL="0" marR="0" algn="ctr">
                        <a:lnSpc>
                          <a:spcPct val="115000"/>
                        </a:lnSpc>
                        <a:spcBef>
                          <a:spcPts val="0"/>
                        </a:spcBef>
                        <a:spcAft>
                          <a:spcPts val="0"/>
                        </a:spcAft>
                      </a:pPr>
                      <a:r>
                        <a:rPr lang="en-US" sz="1100">
                          <a:effectLst/>
                        </a:rPr>
                        <a:t>1.7</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0.9554</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0.9564</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0.9573</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0.9582</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0.9591</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0.9599</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0.9608</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0.9616</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0.9625</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0.9633</a:t>
                      </a:r>
                      <a:endParaRPr lang="en-US" sz="1000">
                        <a:effectLst/>
                        <a:latin typeface="Calibri"/>
                        <a:ea typeface="Calibri"/>
                        <a:cs typeface="Times New Roman"/>
                      </a:endParaRPr>
                    </a:p>
                  </a:txBody>
                  <a:tcPr marL="8415" marR="8415" marT="8415" marB="8415" anchor="ctr"/>
                </a:tc>
                <a:extLst>
                  <a:ext uri="{0D108BD9-81ED-4DB2-BD59-A6C34878D82A}">
                    <a16:rowId xmlns:a16="http://schemas.microsoft.com/office/drawing/2014/main" val="10018"/>
                  </a:ext>
                </a:extLst>
              </a:tr>
              <a:tr h="280555">
                <a:tc>
                  <a:txBody>
                    <a:bodyPr/>
                    <a:lstStyle/>
                    <a:p>
                      <a:pPr marL="0" marR="0" algn="ctr">
                        <a:lnSpc>
                          <a:spcPct val="115000"/>
                        </a:lnSpc>
                        <a:spcBef>
                          <a:spcPts val="0"/>
                        </a:spcBef>
                        <a:spcAft>
                          <a:spcPts val="0"/>
                        </a:spcAft>
                      </a:pPr>
                      <a:r>
                        <a:rPr lang="en-US" sz="1100">
                          <a:effectLst/>
                        </a:rPr>
                        <a:t>1.8</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0.9641</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0.9649</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0.9656</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0.9664</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0.9671</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0.9678</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0.9686</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dirty="0">
                          <a:effectLst/>
                        </a:rPr>
                        <a:t>0.9693</a:t>
                      </a:r>
                      <a:endParaRPr lang="en-US" sz="1000" dirty="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0.9699</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0.9706</a:t>
                      </a:r>
                      <a:endParaRPr lang="en-US" sz="1000">
                        <a:effectLst/>
                        <a:latin typeface="Calibri"/>
                        <a:ea typeface="Calibri"/>
                        <a:cs typeface="Times New Roman"/>
                      </a:endParaRPr>
                    </a:p>
                  </a:txBody>
                  <a:tcPr marL="8415" marR="8415" marT="8415" marB="8415" anchor="ctr"/>
                </a:tc>
                <a:extLst>
                  <a:ext uri="{0D108BD9-81ED-4DB2-BD59-A6C34878D82A}">
                    <a16:rowId xmlns:a16="http://schemas.microsoft.com/office/drawing/2014/main" val="10019"/>
                  </a:ext>
                </a:extLst>
              </a:tr>
              <a:tr h="280555">
                <a:tc>
                  <a:txBody>
                    <a:bodyPr/>
                    <a:lstStyle/>
                    <a:p>
                      <a:pPr marL="0" marR="0" algn="ctr">
                        <a:lnSpc>
                          <a:spcPct val="115000"/>
                        </a:lnSpc>
                        <a:spcBef>
                          <a:spcPts val="0"/>
                        </a:spcBef>
                        <a:spcAft>
                          <a:spcPts val="0"/>
                        </a:spcAft>
                      </a:pPr>
                      <a:r>
                        <a:rPr lang="en-US" sz="1100">
                          <a:effectLst/>
                        </a:rPr>
                        <a:t>1.9</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0.9713</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0.9719</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0.9726</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0.9732</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0.9738</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0.9744</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0.9750</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dirty="0">
                          <a:effectLst/>
                        </a:rPr>
                        <a:t>0.9756</a:t>
                      </a:r>
                      <a:endParaRPr lang="en-US" sz="1000" dirty="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dirty="0">
                          <a:effectLst/>
                        </a:rPr>
                        <a:t>0.9761</a:t>
                      </a:r>
                      <a:endParaRPr lang="en-US" sz="1000" dirty="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0.9767</a:t>
                      </a:r>
                      <a:endParaRPr lang="en-US" sz="1000">
                        <a:effectLst/>
                        <a:latin typeface="Calibri"/>
                        <a:ea typeface="Calibri"/>
                        <a:cs typeface="Times New Roman"/>
                      </a:endParaRPr>
                    </a:p>
                  </a:txBody>
                  <a:tcPr marL="8415" marR="8415" marT="8415" marB="8415" anchor="ctr"/>
                </a:tc>
                <a:extLst>
                  <a:ext uri="{0D108BD9-81ED-4DB2-BD59-A6C34878D82A}">
                    <a16:rowId xmlns:a16="http://schemas.microsoft.com/office/drawing/2014/main" val="10020"/>
                  </a:ext>
                </a:extLst>
              </a:tr>
              <a:tr h="280555">
                <a:tc>
                  <a:txBody>
                    <a:bodyPr/>
                    <a:lstStyle/>
                    <a:p>
                      <a:pPr marL="0" marR="0" algn="ctr">
                        <a:lnSpc>
                          <a:spcPct val="115000"/>
                        </a:lnSpc>
                        <a:spcBef>
                          <a:spcPts val="0"/>
                        </a:spcBef>
                        <a:spcAft>
                          <a:spcPts val="0"/>
                        </a:spcAft>
                      </a:pPr>
                      <a:r>
                        <a:rPr lang="en-US" sz="1100">
                          <a:effectLst/>
                        </a:rPr>
                        <a:t>2.0</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0.9772</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0.9778</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0.9783</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0.9788</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0.9793</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0.9798</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0.9803</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a:effectLst/>
                        </a:rPr>
                        <a:t>0.9808</a:t>
                      </a:r>
                      <a:endParaRPr lang="en-US" sz="100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dirty="0">
                          <a:effectLst/>
                        </a:rPr>
                        <a:t>0.9812</a:t>
                      </a:r>
                      <a:endParaRPr lang="en-US" sz="1000" dirty="0">
                        <a:effectLst/>
                        <a:latin typeface="Calibri"/>
                        <a:ea typeface="Calibri"/>
                        <a:cs typeface="Times New Roman"/>
                      </a:endParaRPr>
                    </a:p>
                  </a:txBody>
                  <a:tcPr marL="8415" marR="8415" marT="8415" marB="8415" anchor="ctr"/>
                </a:tc>
                <a:tc>
                  <a:txBody>
                    <a:bodyPr/>
                    <a:lstStyle/>
                    <a:p>
                      <a:pPr marL="0" marR="0" algn="ctr">
                        <a:lnSpc>
                          <a:spcPct val="115000"/>
                        </a:lnSpc>
                        <a:spcBef>
                          <a:spcPts val="0"/>
                        </a:spcBef>
                        <a:spcAft>
                          <a:spcPts val="0"/>
                        </a:spcAft>
                      </a:pPr>
                      <a:r>
                        <a:rPr lang="en-US" sz="1100" dirty="0">
                          <a:effectLst/>
                        </a:rPr>
                        <a:t>0.9817</a:t>
                      </a:r>
                      <a:endParaRPr lang="en-US" sz="1000" dirty="0">
                        <a:effectLst/>
                        <a:latin typeface="Calibri"/>
                        <a:ea typeface="Calibri"/>
                        <a:cs typeface="Times New Roman"/>
                      </a:endParaRPr>
                    </a:p>
                  </a:txBody>
                  <a:tcPr marL="8415" marR="8415" marT="8415" marB="8415" anchor="ctr"/>
                </a:tc>
                <a:extLst>
                  <a:ext uri="{0D108BD9-81ED-4DB2-BD59-A6C34878D82A}">
                    <a16:rowId xmlns:a16="http://schemas.microsoft.com/office/drawing/2014/main" val="10021"/>
                  </a:ext>
                </a:extLst>
              </a:tr>
            </a:tbl>
          </a:graphicData>
        </a:graphic>
      </p:graphicFrame>
    </p:spTree>
    <p:extLst>
      <p:ext uri="{BB962C8B-B14F-4D97-AF65-F5344CB8AC3E}">
        <p14:creationId xmlns:p14="http://schemas.microsoft.com/office/powerpoint/2010/main" val="118374357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70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4F81BC"/>
          </a:solidFill>
        </p:spPr>
        <p:txBody>
          <a:bodyPr wrap="square" lIns="0" tIns="0" rIns="0" bIns="0" rtlCol="0"/>
          <a:lstStyle/>
          <a:p>
            <a:endParaRPr/>
          </a:p>
        </p:txBody>
      </p:sp>
      <p:pic>
        <p:nvPicPr>
          <p:cNvPr id="13" name="object 13"/>
          <p:cNvPicPr/>
          <p:nvPr/>
        </p:nvPicPr>
        <p:blipFill>
          <a:blip r:embed="rId2" cstate="print"/>
          <a:stretch>
            <a:fillRect/>
          </a:stretch>
        </p:blipFill>
        <p:spPr>
          <a:xfrm>
            <a:off x="1727453" y="111434"/>
            <a:ext cx="1831162" cy="536264"/>
          </a:xfrm>
          <a:prstGeom prst="rect">
            <a:avLst/>
          </a:prstGeom>
        </p:spPr>
      </p:pic>
      <p:sp>
        <p:nvSpPr>
          <p:cNvPr id="18" name="Slide Number Placeholder 17"/>
          <p:cNvSpPr>
            <a:spLocks noGrp="1"/>
          </p:cNvSpPr>
          <p:nvPr>
            <p:ph type="sldNum" sz="quarter" idx="7"/>
          </p:nvPr>
        </p:nvSpPr>
        <p:spPr>
          <a:xfrm>
            <a:off x="230428" y="6329531"/>
            <a:ext cx="299720" cy="227965"/>
          </a:xfrm>
          <a:prstGeom prst="rect">
            <a:avLst/>
          </a:prstGeom>
        </p:spPr>
        <p:txBody>
          <a:bodyPr wrap="square" lIns="0" tIns="0" rIns="0" bIns="0">
            <a:spAutoFit/>
          </a:bodyPr>
          <a:lstStyle>
            <a:defPPr>
              <a:defRPr kern="0"/>
            </a:defPPr>
            <a:lvl1pPr>
              <a:defRPr sz="1400" b="0" i="0">
                <a:solidFill>
                  <a:schemeClr val="bg1"/>
                </a:solidFill>
                <a:latin typeface="Franklin Gothic Book"/>
                <a:cs typeface="Franklin Gothic Book"/>
              </a:defRPr>
            </a:lvl1pPr>
          </a:lstStyle>
          <a:p>
            <a:pPr marL="38100">
              <a:lnSpc>
                <a:spcPts val="1664"/>
              </a:lnSpc>
            </a:pPr>
            <a:fld id="{81D60167-4931-47E6-BA6A-407CBD079E47}" type="slidenum">
              <a:rPr lang="en-IN" spc="-25" smtClean="0"/>
              <a:pPr marL="38100">
                <a:lnSpc>
                  <a:spcPts val="1664"/>
                </a:lnSpc>
              </a:pPr>
              <a:t>71</a:t>
            </a:fld>
            <a:endParaRPr lang="en-US" spc="-25" dirty="0"/>
          </a:p>
        </p:txBody>
      </p:sp>
      <p:sp>
        <p:nvSpPr>
          <p:cNvPr id="17" name="Rectangle 16"/>
          <p:cNvSpPr/>
          <p:nvPr/>
        </p:nvSpPr>
        <p:spPr>
          <a:xfrm>
            <a:off x="1727453" y="837368"/>
            <a:ext cx="8763000" cy="5293757"/>
          </a:xfrm>
          <a:prstGeom prst="rect">
            <a:avLst/>
          </a:prstGeom>
        </p:spPr>
        <p:txBody>
          <a:bodyPr wrap="square">
            <a:spAutoFit/>
          </a:bodyPr>
          <a:lstStyle/>
          <a:p>
            <a:pPr algn="l"/>
            <a:r>
              <a:rPr lang="en-US" sz="2000" b="1" dirty="0">
                <a:solidFill>
                  <a:schemeClr val="tx2">
                    <a:lumMod val="75000"/>
                  </a:schemeClr>
                </a:solidFill>
                <a:latin typeface="Times New Roman" panose="02020603050405020304" pitchFamily="18" charset="0"/>
                <a:cs typeface="Times New Roman" panose="02020603050405020304" pitchFamily="18" charset="0"/>
              </a:rPr>
              <a:t>Example 1: Exam Scores </a:t>
            </a:r>
          </a:p>
          <a:p>
            <a:pPr lvl="0" algn="l"/>
            <a:r>
              <a:rPr lang="en-US" sz="2000" b="1" dirty="0">
                <a:solidFill>
                  <a:schemeClr val="tx2">
                    <a:lumMod val="75000"/>
                  </a:schemeClr>
                </a:solidFill>
                <a:latin typeface="Times New Roman" panose="02020603050405020304" pitchFamily="18" charset="0"/>
                <a:cs typeface="Times New Roman" panose="02020603050405020304" pitchFamily="18" charset="0"/>
              </a:rPr>
              <a:t>A teacher claims that the average exam score in her class is 75. A random sample of 36 students has an average score of 72, and the standard deviation is 6.Test the claim at 5% level of significance.</a:t>
            </a:r>
          </a:p>
          <a:p>
            <a:pPr algn="l"/>
            <a:endParaRPr lang="en-US" sz="2000" b="1" dirty="0">
              <a:solidFill>
                <a:schemeClr val="tx2">
                  <a:lumMod val="75000"/>
                </a:schemeClr>
              </a:solidFill>
              <a:latin typeface="Times New Roman" panose="02020603050405020304" pitchFamily="18" charset="0"/>
              <a:cs typeface="Times New Roman" panose="02020603050405020304" pitchFamily="18" charset="0"/>
            </a:endParaRPr>
          </a:p>
          <a:p>
            <a:pPr algn="l"/>
            <a:r>
              <a:rPr lang="en-US" sz="2000" b="1" dirty="0">
                <a:solidFill>
                  <a:schemeClr val="tx2">
                    <a:lumMod val="75000"/>
                  </a:schemeClr>
                </a:solidFill>
                <a:latin typeface="Times New Roman" panose="02020603050405020304" pitchFamily="18" charset="0"/>
                <a:cs typeface="Times New Roman" panose="02020603050405020304" pitchFamily="18" charset="0"/>
              </a:rPr>
              <a:t>Example 2: Daily Water Consumption</a:t>
            </a:r>
          </a:p>
          <a:p>
            <a:pPr algn="l"/>
            <a:r>
              <a:rPr lang="en-US" sz="2000" b="1" dirty="0">
                <a:solidFill>
                  <a:schemeClr val="tx2">
                    <a:lumMod val="75000"/>
                  </a:schemeClr>
                </a:solidFill>
                <a:latin typeface="Times New Roman" panose="02020603050405020304" pitchFamily="18" charset="0"/>
                <a:cs typeface="Times New Roman" panose="02020603050405020304" pitchFamily="18" charset="0"/>
              </a:rPr>
              <a:t>It is believed that people drink on average 2.5 liters of water per day. A health survey of 30 people shows an average of 2.2 liters, with a standard deviation of 0.5 liters. Test if the actual average water consumption is different, at 1% significance level.</a:t>
            </a:r>
          </a:p>
          <a:p>
            <a:pPr algn="l"/>
            <a:endParaRPr lang="en-US" sz="2000" b="1" dirty="0">
              <a:solidFill>
                <a:schemeClr val="tx2">
                  <a:lumMod val="75000"/>
                </a:schemeClr>
              </a:solidFill>
              <a:latin typeface="Times New Roman" panose="02020603050405020304" pitchFamily="18" charset="0"/>
              <a:cs typeface="Times New Roman" panose="02020603050405020304" pitchFamily="18" charset="0"/>
            </a:endParaRPr>
          </a:p>
          <a:p>
            <a:pPr algn="l"/>
            <a:r>
              <a:rPr lang="en-US" sz="2000" b="1" dirty="0">
                <a:solidFill>
                  <a:schemeClr val="tx2">
                    <a:lumMod val="75000"/>
                  </a:schemeClr>
                </a:solidFill>
                <a:latin typeface="Times New Roman" panose="02020603050405020304" pitchFamily="18" charset="0"/>
                <a:cs typeface="Times New Roman" panose="02020603050405020304" pitchFamily="18" charset="0"/>
              </a:rPr>
              <a:t>Example 3: A city claims that the average commute time to work is 30 minutes. A researcher takes a random sample of 25 workers and finds a sample mean commute time of 29.5 minutes, with a standard deviation of 3 minutes. Test whether the average commute time is different from the city's claim at a 5% significance level</a:t>
            </a:r>
            <a:r>
              <a:rPr lang="en-US" b="1" dirty="0">
                <a:solidFill>
                  <a:schemeClr val="tx2">
                    <a:lumMod val="75000"/>
                  </a:schemeClr>
                </a:solidFill>
              </a:rPr>
              <a:t>.</a:t>
            </a:r>
            <a:endParaRPr lang="en-US" b="1" dirty="0">
              <a:solidFill>
                <a:schemeClr val="tx2">
                  <a:lumMod val="75000"/>
                </a:schemeClr>
              </a:solidFill>
              <a:latin typeface="Times New Roman" panose="02020603050405020304" pitchFamily="18" charset="0"/>
              <a:cs typeface="Times New Roman" panose="02020603050405020304" pitchFamily="18" charset="0"/>
            </a:endParaRPr>
          </a:p>
          <a:p>
            <a:pPr algn="just"/>
            <a:endParaRPr lang="en-US" dirty="0">
              <a:solidFill>
                <a:schemeClr val="tx2">
                  <a:lumMod val="75000"/>
                </a:schemeClr>
              </a:solidFill>
            </a:endParaRPr>
          </a:p>
        </p:txBody>
      </p:sp>
    </p:spTree>
    <p:extLst>
      <p:ext uri="{BB962C8B-B14F-4D97-AF65-F5344CB8AC3E}">
        <p14:creationId xmlns:p14="http://schemas.microsoft.com/office/powerpoint/2010/main" val="28922997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70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4F81BC"/>
          </a:solidFill>
        </p:spPr>
        <p:txBody>
          <a:bodyPr wrap="square" lIns="0" tIns="0" rIns="0" bIns="0" rtlCol="0"/>
          <a:lstStyle/>
          <a:p>
            <a:endParaRPr/>
          </a:p>
        </p:txBody>
      </p:sp>
      <p:pic>
        <p:nvPicPr>
          <p:cNvPr id="13" name="object 13"/>
          <p:cNvPicPr/>
          <p:nvPr/>
        </p:nvPicPr>
        <p:blipFill>
          <a:blip r:embed="rId2" cstate="print"/>
          <a:stretch>
            <a:fillRect/>
          </a:stretch>
        </p:blipFill>
        <p:spPr>
          <a:xfrm>
            <a:off x="1727453" y="111434"/>
            <a:ext cx="1831162" cy="536264"/>
          </a:xfrm>
          <a:prstGeom prst="rect">
            <a:avLst/>
          </a:prstGeom>
        </p:spPr>
      </p:pic>
      <p:sp>
        <p:nvSpPr>
          <p:cNvPr id="18" name="Slide Number Placeholder 17"/>
          <p:cNvSpPr>
            <a:spLocks noGrp="1"/>
          </p:cNvSpPr>
          <p:nvPr>
            <p:ph type="sldNum" sz="quarter" idx="7"/>
          </p:nvPr>
        </p:nvSpPr>
        <p:spPr>
          <a:xfrm>
            <a:off x="230428" y="6329531"/>
            <a:ext cx="299720" cy="227965"/>
          </a:xfrm>
          <a:prstGeom prst="rect">
            <a:avLst/>
          </a:prstGeom>
        </p:spPr>
        <p:txBody>
          <a:bodyPr wrap="square" lIns="0" tIns="0" rIns="0" bIns="0">
            <a:spAutoFit/>
          </a:bodyPr>
          <a:lstStyle>
            <a:defPPr>
              <a:defRPr kern="0"/>
            </a:defPPr>
            <a:lvl1pPr>
              <a:defRPr sz="1400" b="0" i="0">
                <a:solidFill>
                  <a:schemeClr val="bg1"/>
                </a:solidFill>
                <a:latin typeface="Franklin Gothic Book"/>
                <a:cs typeface="Franklin Gothic Book"/>
              </a:defRPr>
            </a:lvl1pPr>
          </a:lstStyle>
          <a:p>
            <a:pPr marL="38100">
              <a:lnSpc>
                <a:spcPts val="1664"/>
              </a:lnSpc>
            </a:pPr>
            <a:fld id="{81D60167-4931-47E6-BA6A-407CBD079E47}" type="slidenum">
              <a:rPr lang="en-IN" spc="-25" smtClean="0"/>
              <a:pPr marL="38100">
                <a:lnSpc>
                  <a:spcPts val="1664"/>
                </a:lnSpc>
              </a:pPr>
              <a:t>72</a:t>
            </a:fld>
            <a:endParaRPr lang="en-US" spc="-25" dirty="0"/>
          </a:p>
        </p:txBody>
      </p:sp>
      <p:sp>
        <p:nvSpPr>
          <p:cNvPr id="17" name="Rectangle 16"/>
          <p:cNvSpPr/>
          <p:nvPr/>
        </p:nvSpPr>
        <p:spPr>
          <a:xfrm>
            <a:off x="1727453" y="837368"/>
            <a:ext cx="8763000" cy="5293757"/>
          </a:xfrm>
          <a:prstGeom prst="rect">
            <a:avLst/>
          </a:prstGeom>
        </p:spPr>
        <p:txBody>
          <a:bodyPr wrap="square">
            <a:spAutoFit/>
          </a:bodyPr>
          <a:lstStyle/>
          <a:p>
            <a:pPr algn="l"/>
            <a:r>
              <a:rPr lang="en-US" sz="2000" b="1" dirty="0">
                <a:solidFill>
                  <a:schemeClr val="tx2">
                    <a:lumMod val="75000"/>
                  </a:schemeClr>
                </a:solidFill>
                <a:latin typeface="Times New Roman" panose="02020603050405020304" pitchFamily="18" charset="0"/>
                <a:cs typeface="Times New Roman" panose="02020603050405020304" pitchFamily="18" charset="0"/>
              </a:rPr>
              <a:t>Example 1: Exam Scores </a:t>
            </a:r>
          </a:p>
          <a:p>
            <a:pPr lvl="0" algn="l"/>
            <a:r>
              <a:rPr lang="en-US" sz="2000" b="1" dirty="0">
                <a:solidFill>
                  <a:schemeClr val="tx2">
                    <a:lumMod val="75000"/>
                  </a:schemeClr>
                </a:solidFill>
                <a:latin typeface="Times New Roman" panose="02020603050405020304" pitchFamily="18" charset="0"/>
                <a:cs typeface="Times New Roman" panose="02020603050405020304" pitchFamily="18" charset="0"/>
              </a:rPr>
              <a:t>A teacher claims that the average exam score in her class is 75. A random sample of 36 students has an average score of 72, and the standard deviation is 6.Test the claim at 5% level of significance.</a:t>
            </a:r>
          </a:p>
          <a:p>
            <a:pPr lvl="0" algn="l"/>
            <a:r>
              <a:rPr lang="en-US" sz="2000" dirty="0">
                <a:solidFill>
                  <a:srgbClr val="FF0000"/>
                </a:solidFill>
              </a:rPr>
              <a:t>Since the test statistic z = -3 is less than -1.96</a:t>
            </a:r>
          </a:p>
          <a:p>
            <a:pPr lvl="0" algn="l"/>
            <a:r>
              <a:rPr lang="en-US" sz="2000" b="1" dirty="0">
                <a:solidFill>
                  <a:schemeClr val="tx2">
                    <a:lumMod val="75000"/>
                  </a:schemeClr>
                </a:solidFill>
                <a:latin typeface="Times New Roman" panose="02020603050405020304" pitchFamily="18" charset="0"/>
                <a:cs typeface="Times New Roman" panose="02020603050405020304" pitchFamily="18" charset="0"/>
              </a:rPr>
              <a:t>Example 2: Daily Water Consumption</a:t>
            </a:r>
          </a:p>
          <a:p>
            <a:pPr algn="l"/>
            <a:r>
              <a:rPr lang="en-US" sz="2000" b="1" dirty="0">
                <a:solidFill>
                  <a:schemeClr val="tx2">
                    <a:lumMod val="75000"/>
                  </a:schemeClr>
                </a:solidFill>
                <a:latin typeface="Times New Roman" panose="02020603050405020304" pitchFamily="18" charset="0"/>
                <a:cs typeface="Times New Roman" panose="02020603050405020304" pitchFamily="18" charset="0"/>
              </a:rPr>
              <a:t>It is believed that people drink on average 2.5 liters of water per day. A health survey of 30 people shows an average of 2.2 liters, with a standard deviation of 0.5 liters. Test if the actual average water consumption is different, at 1% significance level.</a:t>
            </a:r>
          </a:p>
          <a:p>
            <a:pPr lvl="0" algn="l"/>
            <a:r>
              <a:rPr lang="en-US" sz="2000" dirty="0">
                <a:solidFill>
                  <a:srgbClr val="FF0000"/>
                </a:solidFill>
              </a:rPr>
              <a:t>Since the test statistic z ≈ -3.29 is less than -2.576, it falls in the rejection region.</a:t>
            </a:r>
          </a:p>
          <a:p>
            <a:pPr algn="l"/>
            <a:r>
              <a:rPr lang="en-US" sz="2000" b="1" dirty="0">
                <a:solidFill>
                  <a:schemeClr val="tx2">
                    <a:lumMod val="75000"/>
                  </a:schemeClr>
                </a:solidFill>
                <a:latin typeface="Times New Roman" panose="02020603050405020304" pitchFamily="18" charset="0"/>
                <a:cs typeface="Times New Roman" panose="02020603050405020304" pitchFamily="18" charset="0"/>
              </a:rPr>
              <a:t>Example 3: A city claims that the average commute time to work is 30 minutes. A researcher takes a random sample of 25 workers and finds a sample mean commute time of 29.5 minutes, with a standard deviation of 3 minutes. Test whether the average commute time is different from the city's claim at a 5% significance level</a:t>
            </a:r>
            <a:r>
              <a:rPr lang="en-US" b="1" dirty="0">
                <a:solidFill>
                  <a:schemeClr val="tx2">
                    <a:lumMod val="75000"/>
                  </a:schemeClr>
                </a:solidFill>
              </a:rPr>
              <a:t>.</a:t>
            </a:r>
            <a:endParaRPr lang="en-US" b="1" dirty="0">
              <a:solidFill>
                <a:schemeClr val="tx2">
                  <a:lumMod val="75000"/>
                </a:schemeClr>
              </a:solidFill>
              <a:latin typeface="Times New Roman" panose="02020603050405020304" pitchFamily="18" charset="0"/>
              <a:cs typeface="Times New Roman" panose="02020603050405020304" pitchFamily="18" charset="0"/>
            </a:endParaRPr>
          </a:p>
          <a:p>
            <a:pPr lvl="0" algn="just"/>
            <a:r>
              <a:rPr lang="en-US" dirty="0">
                <a:solidFill>
                  <a:srgbClr val="FF0000"/>
                </a:solidFill>
              </a:rPr>
              <a:t>Since the test statistic z = -0.833 is between -1.96 and 1.96, it falls in the accepted.</a:t>
            </a:r>
            <a:endParaRPr lang="en-US" dirty="0">
              <a:solidFill>
                <a:schemeClr val="tx2">
                  <a:lumMod val="75000"/>
                </a:schemeClr>
              </a:solidFill>
            </a:endParaRPr>
          </a:p>
        </p:txBody>
      </p:sp>
    </p:spTree>
    <p:extLst>
      <p:ext uri="{BB962C8B-B14F-4D97-AF65-F5344CB8AC3E}">
        <p14:creationId xmlns:p14="http://schemas.microsoft.com/office/powerpoint/2010/main" val="90378901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30538"/>
          </a:xfrm>
        </p:spPr>
        <p:txBody>
          <a:bodyPr>
            <a:normAutofit/>
          </a:bodyPr>
          <a:lstStyle/>
          <a:p>
            <a:pPr algn="ctr"/>
            <a:r>
              <a:rPr lang="en-IN" sz="3200" b="1" dirty="0">
                <a:solidFill>
                  <a:srgbClr val="0000FF"/>
                </a:solidFill>
              </a:rPr>
              <a:t>Literature	</a:t>
            </a:r>
            <a:br>
              <a:rPr lang="en-IN" sz="3200" b="1" dirty="0">
                <a:solidFill>
                  <a:srgbClr val="0000FF"/>
                </a:solidFill>
              </a:rPr>
            </a:br>
            <a:r>
              <a:rPr lang="en-IN" sz="3200" b="1" dirty="0">
                <a:solidFill>
                  <a:srgbClr val="FF0000"/>
                </a:solidFill>
              </a:rPr>
              <a:t>Definition and General Characteristics</a:t>
            </a:r>
          </a:p>
        </p:txBody>
      </p:sp>
      <p:sp>
        <p:nvSpPr>
          <p:cNvPr id="3" name="Content Placeholder 2"/>
          <p:cNvSpPr>
            <a:spLocks noGrp="1"/>
          </p:cNvSpPr>
          <p:nvPr>
            <p:ph idx="1"/>
          </p:nvPr>
        </p:nvSpPr>
        <p:spPr>
          <a:xfrm>
            <a:off x="838201" y="1395664"/>
            <a:ext cx="6140116" cy="4781299"/>
          </a:xfrm>
        </p:spPr>
        <p:txBody>
          <a:bodyPr/>
          <a:lstStyle/>
          <a:p>
            <a:pPr algn="just"/>
            <a:r>
              <a:rPr lang="en-US" dirty="0"/>
              <a:t>A body of work that has been distributed, written or published on a given topic or concept</a:t>
            </a:r>
          </a:p>
          <a:p>
            <a:pPr algn="just"/>
            <a:r>
              <a:rPr lang="en-US" dirty="0"/>
              <a:t>Can be in multiple formats, depending on the academic subject or discipline</a:t>
            </a:r>
          </a:p>
          <a:p>
            <a:pPr algn="just"/>
            <a:r>
              <a:rPr lang="en-US" dirty="0"/>
              <a:t>Various intents: inform, support, persuade, update, or dispute</a:t>
            </a:r>
            <a:endParaRPr lang="en-IN" dirty="0"/>
          </a:p>
        </p:txBody>
      </p:sp>
      <p:pic>
        <p:nvPicPr>
          <p:cNvPr id="5" name="Picture 4"/>
          <p:cNvPicPr>
            <a:picLocks noChangeAspect="1"/>
          </p:cNvPicPr>
          <p:nvPr/>
        </p:nvPicPr>
        <p:blipFill>
          <a:blip r:embed="rId2"/>
          <a:stretch>
            <a:fillRect/>
          </a:stretch>
        </p:blipFill>
        <p:spPr>
          <a:xfrm>
            <a:off x="7134689" y="1395664"/>
            <a:ext cx="4219111" cy="3585410"/>
          </a:xfrm>
          <a:prstGeom prst="rect">
            <a:avLst/>
          </a:prstGeom>
        </p:spPr>
      </p:pic>
    </p:spTree>
    <p:extLst>
      <p:ext uri="{BB962C8B-B14F-4D97-AF65-F5344CB8AC3E}">
        <p14:creationId xmlns:p14="http://schemas.microsoft.com/office/powerpoint/2010/main" val="379196204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3654"/>
          </a:xfrm>
        </p:spPr>
        <p:txBody>
          <a:bodyPr>
            <a:normAutofit/>
          </a:bodyPr>
          <a:lstStyle/>
          <a:p>
            <a:pPr algn="ctr"/>
            <a:r>
              <a:rPr lang="en-IN" sz="3200" b="1" dirty="0">
                <a:solidFill>
                  <a:srgbClr val="0000FF"/>
                </a:solidFill>
              </a:rPr>
              <a:t>General Characteristics of Literature</a:t>
            </a:r>
          </a:p>
        </p:txBody>
      </p:sp>
      <p:sp>
        <p:nvSpPr>
          <p:cNvPr id="3" name="Content Placeholder 2"/>
          <p:cNvSpPr>
            <a:spLocks noGrp="1"/>
          </p:cNvSpPr>
          <p:nvPr>
            <p:ph idx="1"/>
          </p:nvPr>
        </p:nvSpPr>
        <p:spPr>
          <a:xfrm>
            <a:off x="838200" y="1058780"/>
            <a:ext cx="5257800" cy="5118183"/>
          </a:xfrm>
        </p:spPr>
        <p:txBody>
          <a:bodyPr>
            <a:normAutofit/>
          </a:bodyPr>
          <a:lstStyle/>
          <a:p>
            <a:pPr marL="0" indent="0" algn="just">
              <a:buNone/>
            </a:pPr>
            <a:r>
              <a:rPr lang="en-US" sz="2400" dirty="0"/>
              <a:t>The literature consists of the following :</a:t>
            </a:r>
          </a:p>
          <a:p>
            <a:pPr algn="just"/>
            <a:r>
              <a:rPr lang="en-US" sz="2400" dirty="0"/>
              <a:t>Major works : key or seminal publications on a topic </a:t>
            </a:r>
          </a:p>
          <a:p>
            <a:pPr algn="just"/>
            <a:r>
              <a:rPr lang="en-US" sz="2400" dirty="0"/>
              <a:t>Other works or publications that build upon or respond to the major works.</a:t>
            </a:r>
          </a:p>
          <a:p>
            <a:pPr algn="just"/>
            <a:r>
              <a:rPr lang="en-US" sz="2400" dirty="0"/>
              <a:t> The literature is a continuously evolving network of scholarly works that interact with each other.</a:t>
            </a:r>
          </a:p>
          <a:p>
            <a:pPr algn="just"/>
            <a:r>
              <a:rPr lang="en-US" sz="2400" dirty="0"/>
              <a:t>The banyan tree in the adjoining picture is an analogy for the growing body literature that enhances our knowledge of the Universe</a:t>
            </a:r>
            <a:endParaRPr lang="en-IN" sz="2400" dirty="0"/>
          </a:p>
        </p:txBody>
      </p:sp>
      <p:pic>
        <p:nvPicPr>
          <p:cNvPr id="4" name="Picture 3"/>
          <p:cNvPicPr>
            <a:picLocks noChangeAspect="1"/>
          </p:cNvPicPr>
          <p:nvPr/>
        </p:nvPicPr>
        <p:blipFill>
          <a:blip r:embed="rId2"/>
          <a:stretch>
            <a:fillRect/>
          </a:stretch>
        </p:blipFill>
        <p:spPr>
          <a:xfrm>
            <a:off x="6404810" y="1331871"/>
            <a:ext cx="5162640" cy="4571999"/>
          </a:xfrm>
          <a:prstGeom prst="rect">
            <a:avLst/>
          </a:prstGeom>
        </p:spPr>
      </p:pic>
    </p:spTree>
    <p:extLst>
      <p:ext uri="{BB962C8B-B14F-4D97-AF65-F5344CB8AC3E}">
        <p14:creationId xmlns:p14="http://schemas.microsoft.com/office/powerpoint/2010/main" val="419099397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49274"/>
          </a:xfrm>
        </p:spPr>
        <p:txBody>
          <a:bodyPr>
            <a:normAutofit/>
          </a:bodyPr>
          <a:lstStyle/>
          <a:p>
            <a:pPr algn="ctr"/>
            <a:r>
              <a:rPr lang="en-US" sz="3200" b="1" dirty="0">
                <a:solidFill>
                  <a:srgbClr val="0000FF"/>
                </a:solidFill>
              </a:rPr>
              <a:t>Types and Sources of Literature</a:t>
            </a:r>
            <a:endParaRPr lang="en-IN" sz="3200" b="1" dirty="0">
              <a:solidFill>
                <a:srgbClr val="0000FF"/>
              </a:solidFill>
            </a:endParaRPr>
          </a:p>
        </p:txBody>
      </p:sp>
      <p:sp>
        <p:nvSpPr>
          <p:cNvPr id="3" name="Content Placeholder 2"/>
          <p:cNvSpPr>
            <a:spLocks noGrp="1"/>
          </p:cNvSpPr>
          <p:nvPr>
            <p:ph idx="1"/>
          </p:nvPr>
        </p:nvSpPr>
        <p:spPr>
          <a:xfrm>
            <a:off x="838200" y="914400"/>
            <a:ext cx="10515600" cy="5262563"/>
          </a:xfrm>
        </p:spPr>
        <p:txBody>
          <a:bodyPr>
            <a:normAutofit/>
          </a:bodyPr>
          <a:lstStyle/>
          <a:p>
            <a:r>
              <a:rPr lang="en-US" sz="2400" dirty="0"/>
              <a:t>Literature falls into three categories : Primary, Secondary and Tertiary Sources</a:t>
            </a:r>
            <a:endParaRPr lang="en-IN" sz="2400" dirty="0"/>
          </a:p>
        </p:txBody>
      </p:sp>
      <p:sp>
        <p:nvSpPr>
          <p:cNvPr id="4" name="Rounded Rectangle 3"/>
          <p:cNvSpPr/>
          <p:nvPr/>
        </p:nvSpPr>
        <p:spPr>
          <a:xfrm>
            <a:off x="1125057" y="1532774"/>
            <a:ext cx="3344779" cy="4644189"/>
          </a:xfrm>
          <a:prstGeom prst="roundRect">
            <a:avLst/>
          </a:prstGeom>
          <a:solidFill>
            <a:srgbClr val="FEA4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a:p>
            <a:pPr algn="ctr"/>
            <a:r>
              <a:rPr lang="en-US" sz="1400" dirty="0">
                <a:solidFill>
                  <a:schemeClr val="tx1"/>
                </a:solidFill>
              </a:rPr>
              <a:t>PRIMARY LITERATURE</a:t>
            </a:r>
          </a:p>
          <a:p>
            <a:pPr algn="ctr"/>
            <a:endParaRPr lang="en-US" sz="1400" dirty="0">
              <a:solidFill>
                <a:schemeClr val="tx1"/>
              </a:solidFill>
            </a:endParaRPr>
          </a:p>
          <a:p>
            <a:pPr algn="ctr"/>
            <a:endParaRPr lang="en-US" sz="1400" dirty="0">
              <a:solidFill>
                <a:schemeClr val="tx1"/>
              </a:solidFill>
            </a:endParaRPr>
          </a:p>
          <a:p>
            <a:pPr algn="ctr"/>
            <a:endParaRPr lang="en-US" sz="1400" dirty="0">
              <a:solidFill>
                <a:schemeClr val="tx1"/>
              </a:solidFill>
            </a:endParaRPr>
          </a:p>
          <a:p>
            <a:pPr algn="ctr"/>
            <a:endParaRPr lang="en-US" sz="1400" dirty="0">
              <a:solidFill>
                <a:schemeClr val="tx1"/>
              </a:solidFill>
            </a:endParaRPr>
          </a:p>
          <a:p>
            <a:pPr algn="ctr"/>
            <a:endParaRPr lang="en-US" sz="1400" dirty="0">
              <a:solidFill>
                <a:schemeClr val="tx1"/>
              </a:solidFill>
            </a:endParaRPr>
          </a:p>
          <a:p>
            <a:pPr algn="ct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Original research and / or new scientific discoveries</a:t>
            </a:r>
          </a:p>
          <a:p>
            <a:pPr marL="285750" indent="-285750">
              <a:buFont typeface="Arial" panose="020B0604020202020204" pitchFamily="34" charset="0"/>
              <a:buChar char="•"/>
            </a:pPr>
            <a:r>
              <a:rPr lang="en-US" sz="1400" dirty="0">
                <a:solidFill>
                  <a:schemeClr val="tx1"/>
                </a:solidFill>
              </a:rPr>
              <a:t>Immediate results of research activities</a:t>
            </a:r>
          </a:p>
          <a:p>
            <a:pPr marL="285750" indent="-285750">
              <a:buFont typeface="Arial" panose="020B0604020202020204" pitchFamily="34" charset="0"/>
              <a:buChar char="•"/>
            </a:pPr>
            <a:r>
              <a:rPr lang="en-US" sz="1400" dirty="0">
                <a:solidFill>
                  <a:schemeClr val="tx1"/>
                </a:solidFill>
              </a:rPr>
              <a:t>Often includes analysis of data collected in the field or laboratory</a:t>
            </a:r>
          </a:p>
          <a:p>
            <a:endParaRPr lang="en-US" sz="1400" dirty="0">
              <a:solidFill>
                <a:schemeClr val="tx1"/>
              </a:solidFill>
            </a:endParaRPr>
          </a:p>
          <a:p>
            <a:r>
              <a:rPr lang="en-US" sz="1400" dirty="0">
                <a:solidFill>
                  <a:schemeClr val="tx1"/>
                </a:solidFill>
              </a:rPr>
              <a:t>EXAMPLES</a:t>
            </a:r>
          </a:p>
          <a:p>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Original research published as articles in peer – reviewed journals</a:t>
            </a:r>
          </a:p>
          <a:p>
            <a:pPr marL="285750" indent="-285750">
              <a:buFont typeface="Arial" panose="020B0604020202020204" pitchFamily="34" charset="0"/>
              <a:buChar char="•"/>
            </a:pPr>
            <a:r>
              <a:rPr lang="en-US" sz="1400" dirty="0">
                <a:solidFill>
                  <a:schemeClr val="tx1"/>
                </a:solidFill>
              </a:rPr>
              <a:t>Dissertations</a:t>
            </a:r>
          </a:p>
          <a:p>
            <a:pPr marL="285750" indent="-285750">
              <a:buFont typeface="Arial" panose="020B0604020202020204" pitchFamily="34" charset="0"/>
              <a:buChar char="•"/>
            </a:pPr>
            <a:r>
              <a:rPr lang="en-US" sz="1400" dirty="0">
                <a:solidFill>
                  <a:schemeClr val="tx1"/>
                </a:solidFill>
              </a:rPr>
              <a:t>Technical reports</a:t>
            </a:r>
          </a:p>
          <a:p>
            <a:pPr marL="285750" indent="-285750">
              <a:buFont typeface="Arial" panose="020B0604020202020204" pitchFamily="34" charset="0"/>
              <a:buChar char="•"/>
            </a:pPr>
            <a:r>
              <a:rPr lang="en-US" sz="1400" dirty="0">
                <a:solidFill>
                  <a:schemeClr val="tx1"/>
                </a:solidFill>
              </a:rPr>
              <a:t>Conference proceedings</a:t>
            </a:r>
          </a:p>
          <a:p>
            <a:endParaRPr lang="en-IN" sz="1200" dirty="0"/>
          </a:p>
        </p:txBody>
      </p:sp>
      <p:pic>
        <p:nvPicPr>
          <p:cNvPr id="5" name="Picture 4"/>
          <p:cNvPicPr>
            <a:picLocks noChangeAspect="1"/>
          </p:cNvPicPr>
          <p:nvPr/>
        </p:nvPicPr>
        <p:blipFill>
          <a:blip r:embed="rId2"/>
          <a:stretch>
            <a:fillRect/>
          </a:stretch>
        </p:blipFill>
        <p:spPr>
          <a:xfrm>
            <a:off x="2262147" y="1926080"/>
            <a:ext cx="1070598" cy="1179472"/>
          </a:xfrm>
          <a:prstGeom prst="rect">
            <a:avLst/>
          </a:prstGeom>
        </p:spPr>
      </p:pic>
      <p:sp>
        <p:nvSpPr>
          <p:cNvPr id="6" name="Rounded Rectangle 5"/>
          <p:cNvSpPr/>
          <p:nvPr/>
        </p:nvSpPr>
        <p:spPr>
          <a:xfrm>
            <a:off x="4853171" y="1532774"/>
            <a:ext cx="3344779" cy="4644189"/>
          </a:xfrm>
          <a:prstGeom prst="roundRect">
            <a:avLst/>
          </a:prstGeom>
          <a:solidFill>
            <a:srgbClr val="FFD69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SECONDARY LITERATURE</a:t>
            </a:r>
          </a:p>
          <a:p>
            <a:pPr algn="ctr"/>
            <a:endParaRPr lang="en-US" sz="1400" dirty="0">
              <a:solidFill>
                <a:schemeClr val="tx1"/>
              </a:solidFill>
            </a:endParaRPr>
          </a:p>
          <a:p>
            <a:pPr algn="ctr"/>
            <a:endParaRPr lang="en-US" sz="1400" dirty="0">
              <a:solidFill>
                <a:schemeClr val="tx1"/>
              </a:solidFill>
            </a:endParaRPr>
          </a:p>
          <a:p>
            <a:pPr algn="ctr"/>
            <a:endParaRPr lang="en-US" sz="1400" dirty="0">
              <a:solidFill>
                <a:schemeClr val="tx1"/>
              </a:solidFill>
            </a:endParaRPr>
          </a:p>
          <a:p>
            <a:pPr algn="ctr"/>
            <a:endParaRPr lang="en-US" sz="1400" dirty="0">
              <a:solidFill>
                <a:schemeClr val="tx1"/>
              </a:solidFill>
            </a:endParaRPr>
          </a:p>
          <a:p>
            <a:pPr algn="ctr"/>
            <a:endParaRPr lang="en-US" sz="1400" dirty="0">
              <a:solidFill>
                <a:schemeClr val="tx1"/>
              </a:solidFill>
            </a:endParaRPr>
          </a:p>
          <a:p>
            <a:pPr algn="ct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Summarizes and synthesizes primary literature</a:t>
            </a:r>
          </a:p>
          <a:p>
            <a:pPr marL="285750" indent="-285750">
              <a:buFont typeface="Arial" panose="020B0604020202020204" pitchFamily="34" charset="0"/>
              <a:buChar char="•"/>
            </a:pPr>
            <a:r>
              <a:rPr lang="en-US" sz="1400" dirty="0">
                <a:solidFill>
                  <a:schemeClr val="tx1"/>
                </a:solidFill>
              </a:rPr>
              <a:t>Usually broader and less current than primary literature</a:t>
            </a:r>
          </a:p>
          <a:p>
            <a:endParaRPr lang="en-US" sz="1400" dirty="0">
              <a:solidFill>
                <a:schemeClr val="tx1"/>
              </a:solidFill>
            </a:endParaRPr>
          </a:p>
          <a:p>
            <a:r>
              <a:rPr lang="en-US" sz="1400" dirty="0">
                <a:solidFill>
                  <a:schemeClr val="tx1"/>
                </a:solidFill>
              </a:rPr>
              <a:t>EXAMPLES</a:t>
            </a:r>
          </a:p>
          <a:p>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Literature review articles</a:t>
            </a:r>
          </a:p>
          <a:p>
            <a:pPr marL="285750" indent="-285750">
              <a:buFont typeface="Arial" panose="020B0604020202020204" pitchFamily="34" charset="0"/>
              <a:buChar char="•"/>
            </a:pPr>
            <a:r>
              <a:rPr lang="en-US" sz="1400" dirty="0">
                <a:solidFill>
                  <a:schemeClr val="tx1"/>
                </a:solidFill>
              </a:rPr>
              <a:t>Books</a:t>
            </a:r>
          </a:p>
          <a:p>
            <a:endParaRPr lang="en-US" sz="1200" dirty="0">
              <a:solidFill>
                <a:schemeClr val="tx1"/>
              </a:solidFill>
            </a:endParaRPr>
          </a:p>
          <a:p>
            <a:r>
              <a:rPr lang="en-US" sz="1100" i="1" dirty="0">
                <a:solidFill>
                  <a:schemeClr val="tx1"/>
                </a:solidFill>
              </a:rPr>
              <a:t>Since most information sources in the secondary literature contain extensive bibliographies, they can be useful for finding more information on a topic</a:t>
            </a:r>
            <a:endParaRPr lang="en-IN" sz="1100" i="1" dirty="0">
              <a:solidFill>
                <a:schemeClr val="tx1"/>
              </a:solidFill>
            </a:endParaRPr>
          </a:p>
        </p:txBody>
      </p:sp>
      <p:sp>
        <p:nvSpPr>
          <p:cNvPr id="7" name="Rounded Rectangle 6"/>
          <p:cNvSpPr/>
          <p:nvPr/>
        </p:nvSpPr>
        <p:spPr>
          <a:xfrm>
            <a:off x="8577566" y="1532773"/>
            <a:ext cx="3344779" cy="4644189"/>
          </a:xfrm>
          <a:prstGeom prst="roundRect">
            <a:avLst/>
          </a:prstGeom>
          <a:solidFill>
            <a:srgbClr val="FEDDD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TERTIARY LITERATURE</a:t>
            </a:r>
          </a:p>
          <a:p>
            <a:pPr algn="ctr"/>
            <a:endParaRPr lang="en-US" sz="1400" dirty="0">
              <a:solidFill>
                <a:schemeClr val="tx1"/>
              </a:solidFill>
            </a:endParaRPr>
          </a:p>
          <a:p>
            <a:pPr algn="ctr"/>
            <a:endParaRPr lang="en-US" sz="1400" dirty="0">
              <a:solidFill>
                <a:schemeClr val="tx1"/>
              </a:solidFill>
            </a:endParaRPr>
          </a:p>
          <a:p>
            <a:pPr algn="ctr"/>
            <a:endParaRPr lang="en-US" sz="1400" dirty="0">
              <a:solidFill>
                <a:schemeClr val="tx1"/>
              </a:solidFill>
            </a:endParaRPr>
          </a:p>
          <a:p>
            <a:pPr algn="ctr"/>
            <a:endParaRPr lang="en-US" sz="1400" dirty="0">
              <a:solidFill>
                <a:schemeClr val="tx1"/>
              </a:solidFill>
            </a:endParaRPr>
          </a:p>
          <a:p>
            <a:pPr algn="ct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Summaries or condensed versions of materials</a:t>
            </a:r>
          </a:p>
          <a:p>
            <a:pPr marL="285750" indent="-285750">
              <a:buFont typeface="Arial" panose="020B0604020202020204" pitchFamily="34" charset="0"/>
              <a:buChar char="•"/>
            </a:pPr>
            <a:r>
              <a:rPr lang="en-US" sz="1400" dirty="0">
                <a:solidFill>
                  <a:schemeClr val="tx1"/>
                </a:solidFill>
              </a:rPr>
              <a:t>Usually with references to primary or secondary sources</a:t>
            </a:r>
          </a:p>
          <a:p>
            <a:pPr marL="285750" indent="-285750">
              <a:buFont typeface="Arial" panose="020B0604020202020204" pitchFamily="34" charset="0"/>
              <a:buChar char="•"/>
            </a:pPr>
            <a:r>
              <a:rPr lang="en-US" sz="1400" dirty="0">
                <a:solidFill>
                  <a:schemeClr val="tx1"/>
                </a:solidFill>
              </a:rPr>
              <a:t>Good place to look up facts or get a general overview of a subject</a:t>
            </a:r>
          </a:p>
          <a:p>
            <a:endParaRPr lang="en-US" sz="1400" dirty="0">
              <a:solidFill>
                <a:schemeClr val="tx1"/>
              </a:solidFill>
            </a:endParaRPr>
          </a:p>
          <a:p>
            <a:r>
              <a:rPr lang="en-US" sz="1400" dirty="0">
                <a:solidFill>
                  <a:schemeClr val="tx1"/>
                </a:solidFill>
              </a:rPr>
              <a:t>EXAMPLES</a:t>
            </a:r>
          </a:p>
          <a:p>
            <a:endParaRPr lang="en-US" sz="1400" dirty="0">
              <a:solidFill>
                <a:schemeClr val="tx1"/>
              </a:solidFill>
            </a:endParaRPr>
          </a:p>
          <a:p>
            <a:pPr marL="285750" indent="-285750">
              <a:buFont typeface="Arial" panose="020B0604020202020204" pitchFamily="34" charset="0"/>
              <a:buChar char="•"/>
            </a:pPr>
            <a:r>
              <a:rPr lang="en-IN" sz="1200" dirty="0">
                <a:solidFill>
                  <a:schemeClr val="tx1"/>
                </a:solidFill>
              </a:rPr>
              <a:t>Textbooks</a:t>
            </a:r>
          </a:p>
          <a:p>
            <a:pPr marL="285750" indent="-285750">
              <a:buFont typeface="Arial" panose="020B0604020202020204" pitchFamily="34" charset="0"/>
              <a:buChar char="•"/>
            </a:pPr>
            <a:r>
              <a:rPr lang="en-IN" sz="1200" dirty="0">
                <a:solidFill>
                  <a:schemeClr val="tx1"/>
                </a:solidFill>
              </a:rPr>
              <a:t>Dictionaries</a:t>
            </a:r>
          </a:p>
          <a:p>
            <a:pPr marL="285750" indent="-285750">
              <a:buFont typeface="Arial" panose="020B0604020202020204" pitchFamily="34" charset="0"/>
              <a:buChar char="•"/>
            </a:pPr>
            <a:r>
              <a:rPr lang="en-IN" sz="1200" dirty="0" err="1">
                <a:solidFill>
                  <a:schemeClr val="tx1"/>
                </a:solidFill>
              </a:rPr>
              <a:t>Encyclopedias</a:t>
            </a:r>
            <a:endParaRPr lang="en-IN" sz="1200" dirty="0">
              <a:solidFill>
                <a:schemeClr val="tx1"/>
              </a:solidFill>
            </a:endParaRPr>
          </a:p>
          <a:p>
            <a:pPr marL="285750" indent="-285750">
              <a:buFont typeface="Arial" panose="020B0604020202020204" pitchFamily="34" charset="0"/>
              <a:buChar char="•"/>
            </a:pPr>
            <a:r>
              <a:rPr lang="en-IN" sz="1200" dirty="0">
                <a:solidFill>
                  <a:schemeClr val="tx1"/>
                </a:solidFill>
              </a:rPr>
              <a:t>Handbook</a:t>
            </a:r>
          </a:p>
        </p:txBody>
      </p:sp>
      <p:pic>
        <p:nvPicPr>
          <p:cNvPr id="10" name="Picture 9"/>
          <p:cNvPicPr>
            <a:picLocks noChangeAspect="1"/>
          </p:cNvPicPr>
          <p:nvPr/>
        </p:nvPicPr>
        <p:blipFill>
          <a:blip r:embed="rId3"/>
          <a:stretch>
            <a:fillRect/>
          </a:stretch>
        </p:blipFill>
        <p:spPr>
          <a:xfrm>
            <a:off x="6014114" y="2032697"/>
            <a:ext cx="1019175" cy="971550"/>
          </a:xfrm>
          <a:prstGeom prst="rect">
            <a:avLst/>
          </a:prstGeom>
        </p:spPr>
      </p:pic>
      <p:pic>
        <p:nvPicPr>
          <p:cNvPr id="11" name="Picture 10"/>
          <p:cNvPicPr>
            <a:picLocks noChangeAspect="1"/>
          </p:cNvPicPr>
          <p:nvPr/>
        </p:nvPicPr>
        <p:blipFill>
          <a:blip r:embed="rId4"/>
          <a:stretch>
            <a:fillRect/>
          </a:stretch>
        </p:blipFill>
        <p:spPr>
          <a:xfrm>
            <a:off x="9816432" y="2177802"/>
            <a:ext cx="860277" cy="927750"/>
          </a:xfrm>
          <a:prstGeom prst="rect">
            <a:avLst/>
          </a:prstGeom>
        </p:spPr>
      </p:pic>
    </p:spTree>
    <p:extLst>
      <p:ext uri="{BB962C8B-B14F-4D97-AF65-F5344CB8AC3E}">
        <p14:creationId xmlns:p14="http://schemas.microsoft.com/office/powerpoint/2010/main" val="355553666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1780"/>
          </a:xfrm>
        </p:spPr>
        <p:txBody>
          <a:bodyPr>
            <a:normAutofit/>
          </a:bodyPr>
          <a:lstStyle/>
          <a:p>
            <a:pPr algn="ctr"/>
            <a:r>
              <a:rPr lang="en-IN" sz="3200" b="1" dirty="0">
                <a:solidFill>
                  <a:srgbClr val="0000FF"/>
                </a:solidFill>
              </a:rPr>
              <a:t>Primary Sources of Literature</a:t>
            </a:r>
          </a:p>
        </p:txBody>
      </p:sp>
      <p:sp>
        <p:nvSpPr>
          <p:cNvPr id="3" name="Content Placeholder 2"/>
          <p:cNvSpPr>
            <a:spLocks noGrp="1"/>
          </p:cNvSpPr>
          <p:nvPr>
            <p:ph idx="1"/>
          </p:nvPr>
        </p:nvSpPr>
        <p:spPr>
          <a:xfrm>
            <a:off x="838200" y="1106906"/>
            <a:ext cx="5257800" cy="5070057"/>
          </a:xfrm>
        </p:spPr>
        <p:txBody>
          <a:bodyPr/>
          <a:lstStyle/>
          <a:p>
            <a:r>
              <a:rPr lang="en-US" dirty="0"/>
              <a:t>1. Primary Sources: first-hand accounts of events, practices, or conditions being researched.</a:t>
            </a:r>
          </a:p>
          <a:p>
            <a:endParaRPr lang="en-US" dirty="0"/>
          </a:p>
          <a:p>
            <a:endParaRPr lang="en-US" dirty="0"/>
          </a:p>
          <a:p>
            <a:endParaRPr lang="en-US" dirty="0"/>
          </a:p>
          <a:p>
            <a:pPr marL="0" indent="0">
              <a:buNone/>
            </a:pPr>
            <a:endParaRPr lang="en-US" dirty="0"/>
          </a:p>
          <a:p>
            <a:r>
              <a:rPr lang="en-US" dirty="0"/>
              <a:t>It also includes many original, creative works or artifacts.</a:t>
            </a:r>
            <a:endParaRPr lang="en-IN" dirty="0"/>
          </a:p>
        </p:txBody>
      </p:sp>
      <p:pic>
        <p:nvPicPr>
          <p:cNvPr id="4" name="Picture 3"/>
          <p:cNvPicPr>
            <a:picLocks noChangeAspect="1"/>
          </p:cNvPicPr>
          <p:nvPr/>
        </p:nvPicPr>
        <p:blipFill>
          <a:blip r:embed="rId2"/>
          <a:stretch>
            <a:fillRect/>
          </a:stretch>
        </p:blipFill>
        <p:spPr>
          <a:xfrm>
            <a:off x="1709737" y="2663825"/>
            <a:ext cx="3514725" cy="1457325"/>
          </a:xfrm>
          <a:prstGeom prst="rect">
            <a:avLst/>
          </a:prstGeom>
        </p:spPr>
      </p:pic>
      <p:pic>
        <p:nvPicPr>
          <p:cNvPr id="5" name="Picture 4"/>
          <p:cNvPicPr>
            <a:picLocks noChangeAspect="1"/>
          </p:cNvPicPr>
          <p:nvPr/>
        </p:nvPicPr>
        <p:blipFill>
          <a:blip r:embed="rId3"/>
          <a:stretch>
            <a:fillRect/>
          </a:stretch>
        </p:blipFill>
        <p:spPr>
          <a:xfrm>
            <a:off x="6289007" y="1185445"/>
            <a:ext cx="5485728" cy="4093411"/>
          </a:xfrm>
          <a:prstGeom prst="rect">
            <a:avLst/>
          </a:prstGeom>
        </p:spPr>
      </p:pic>
    </p:spTree>
    <p:extLst>
      <p:ext uri="{BB962C8B-B14F-4D97-AF65-F5344CB8AC3E}">
        <p14:creationId xmlns:p14="http://schemas.microsoft.com/office/powerpoint/2010/main" val="423321125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9591"/>
          </a:xfrm>
        </p:spPr>
        <p:txBody>
          <a:bodyPr>
            <a:normAutofit/>
          </a:bodyPr>
          <a:lstStyle/>
          <a:p>
            <a:pPr algn="ctr"/>
            <a:r>
              <a:rPr lang="en-IN" sz="3200" b="1" dirty="0">
                <a:solidFill>
                  <a:srgbClr val="0000FF"/>
                </a:solidFill>
              </a:rPr>
              <a:t>Primary Sources of Literature</a:t>
            </a:r>
          </a:p>
        </p:txBody>
      </p:sp>
      <p:sp>
        <p:nvSpPr>
          <p:cNvPr id="3" name="Content Placeholder 2"/>
          <p:cNvSpPr>
            <a:spLocks noGrp="1"/>
          </p:cNvSpPr>
          <p:nvPr>
            <p:ph idx="1"/>
          </p:nvPr>
        </p:nvSpPr>
        <p:spPr>
          <a:xfrm>
            <a:off x="838200" y="1034716"/>
            <a:ext cx="5257800" cy="5142247"/>
          </a:xfrm>
        </p:spPr>
        <p:txBody>
          <a:bodyPr>
            <a:normAutofit fontScale="70000" lnSpcReduction="20000"/>
          </a:bodyPr>
          <a:lstStyle/>
          <a:p>
            <a:pPr marL="0" indent="0">
              <a:buNone/>
            </a:pPr>
            <a:r>
              <a:rPr lang="en-IN" b="1" dirty="0"/>
              <a:t>Primary Source </a:t>
            </a:r>
            <a:r>
              <a:rPr lang="en-IN" dirty="0"/>
              <a:t>Examples:</a:t>
            </a:r>
          </a:p>
          <a:p>
            <a:pPr marL="0" indent="0">
              <a:buNone/>
            </a:pPr>
            <a:r>
              <a:rPr lang="en-IN" b="1" dirty="0"/>
              <a:t>Humanities :</a:t>
            </a:r>
            <a:r>
              <a:rPr lang="en-IN" dirty="0"/>
              <a:t> </a:t>
            </a:r>
          </a:p>
          <a:p>
            <a:r>
              <a:rPr lang="en-IN" dirty="0"/>
              <a:t>Creative works (original literature, fiction or non-fiction, poetry, film, performances)</a:t>
            </a:r>
          </a:p>
          <a:p>
            <a:r>
              <a:rPr lang="en-IN" dirty="0"/>
              <a:t>Music scores handwritten by the composer(s)</a:t>
            </a:r>
          </a:p>
          <a:p>
            <a:r>
              <a:rPr lang="en-IN" dirty="0"/>
              <a:t>Diaries</a:t>
            </a:r>
          </a:p>
          <a:p>
            <a:r>
              <a:rPr lang="en-IN" dirty="0"/>
              <a:t>Regalia or original artefacts</a:t>
            </a:r>
          </a:p>
          <a:p>
            <a:r>
              <a:rPr lang="en-IN" dirty="0"/>
              <a:t>Magazine or newspaper articles</a:t>
            </a:r>
          </a:p>
          <a:p>
            <a:r>
              <a:rPr lang="en-IN" dirty="0"/>
              <a:t>Autobiographies</a:t>
            </a:r>
          </a:p>
          <a:p>
            <a:r>
              <a:rPr lang="en-IN" dirty="0"/>
              <a:t>Memoirs </a:t>
            </a:r>
          </a:p>
          <a:p>
            <a:r>
              <a:rPr lang="en-IN" dirty="0"/>
              <a:t>Oral histories</a:t>
            </a:r>
          </a:p>
          <a:p>
            <a:r>
              <a:rPr lang="en-IN" dirty="0"/>
              <a:t>Field notes</a:t>
            </a:r>
          </a:p>
          <a:p>
            <a:r>
              <a:rPr lang="en-IN" dirty="0"/>
              <a:t>Raw data</a:t>
            </a:r>
          </a:p>
          <a:p>
            <a:r>
              <a:rPr lang="en-IN" dirty="0"/>
              <a:t>Statues and laws</a:t>
            </a:r>
          </a:p>
        </p:txBody>
      </p:sp>
      <p:sp>
        <p:nvSpPr>
          <p:cNvPr id="4" name="Content Placeholder 2"/>
          <p:cNvSpPr txBox="1">
            <a:spLocks/>
          </p:cNvSpPr>
          <p:nvPr/>
        </p:nvSpPr>
        <p:spPr>
          <a:xfrm>
            <a:off x="6096000" y="1358566"/>
            <a:ext cx="5257800" cy="51422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2200" b="1" dirty="0"/>
              <a:t>Sciences/Health Sciences : </a:t>
            </a:r>
          </a:p>
          <a:p>
            <a:pPr marL="361950" indent="-190500"/>
            <a:r>
              <a:rPr lang="en-IN" sz="2200" dirty="0"/>
              <a:t>Original research (articles, reports, pre-prints). </a:t>
            </a:r>
          </a:p>
          <a:p>
            <a:pPr marL="361950" indent="-190500"/>
            <a:r>
              <a:rPr lang="en-IN" sz="2200" dirty="0"/>
              <a:t>Conference papers</a:t>
            </a:r>
          </a:p>
          <a:p>
            <a:pPr marL="361950" indent="-190500"/>
            <a:r>
              <a:rPr lang="en-IN" sz="2200" dirty="0"/>
              <a:t>Interviews</a:t>
            </a:r>
          </a:p>
          <a:p>
            <a:pPr marL="361950" indent="-190500"/>
            <a:r>
              <a:rPr lang="en-IN" sz="2200" dirty="0"/>
              <a:t>Dissertations &amp; theses </a:t>
            </a:r>
          </a:p>
          <a:p>
            <a:pPr marL="361950" indent="-190500"/>
            <a:r>
              <a:rPr lang="en-IN" sz="2200" dirty="0"/>
              <a:t>Patents &amp; invent ions</a:t>
            </a:r>
          </a:p>
          <a:p>
            <a:pPr marL="361950" indent="-190500"/>
            <a:r>
              <a:rPr lang="en-IN" sz="2200" dirty="0"/>
              <a:t>Technical reports</a:t>
            </a:r>
          </a:p>
          <a:p>
            <a:pPr marL="361950" indent="-190500"/>
            <a:r>
              <a:rPr lang="en-IN" sz="2200" dirty="0"/>
              <a:t>Lab notebooks</a:t>
            </a:r>
          </a:p>
          <a:p>
            <a:pPr marL="361950" indent="-190500"/>
            <a:r>
              <a:rPr lang="en-IN" sz="2200" dirty="0"/>
              <a:t>Raw data</a:t>
            </a:r>
          </a:p>
          <a:p>
            <a:pPr marL="0" indent="0">
              <a:buNone/>
            </a:pPr>
            <a:r>
              <a:rPr lang="en-IN" sz="2200" b="1" dirty="0"/>
              <a:t>Social sciences tend to use a combination from these broad disciplines</a:t>
            </a:r>
            <a:r>
              <a:rPr lang="en-IN" sz="2200" dirty="0"/>
              <a:t>.</a:t>
            </a:r>
          </a:p>
        </p:txBody>
      </p:sp>
    </p:spTree>
    <p:extLst>
      <p:ext uri="{BB962C8B-B14F-4D97-AF65-F5344CB8AC3E}">
        <p14:creationId xmlns:p14="http://schemas.microsoft.com/office/powerpoint/2010/main" val="72399378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6425"/>
          </a:xfrm>
        </p:spPr>
        <p:txBody>
          <a:bodyPr>
            <a:normAutofit/>
          </a:bodyPr>
          <a:lstStyle/>
          <a:p>
            <a:pPr algn="ctr"/>
            <a:r>
              <a:rPr lang="en-IN" sz="3200" b="1" dirty="0">
                <a:solidFill>
                  <a:srgbClr val="0000FF"/>
                </a:solidFill>
              </a:rPr>
              <a:t>Secondary Sources of Literature</a:t>
            </a:r>
          </a:p>
        </p:txBody>
      </p:sp>
      <p:sp>
        <p:nvSpPr>
          <p:cNvPr id="3" name="Content Placeholder 2"/>
          <p:cNvSpPr>
            <a:spLocks noGrp="1"/>
          </p:cNvSpPr>
          <p:nvPr>
            <p:ph sz="half" idx="1"/>
          </p:nvPr>
        </p:nvSpPr>
        <p:spPr>
          <a:xfrm>
            <a:off x="838199" y="971550"/>
            <a:ext cx="5294313" cy="5205413"/>
          </a:xfrm>
        </p:spPr>
        <p:txBody>
          <a:bodyPr/>
          <a:lstStyle/>
          <a:p>
            <a:r>
              <a:rPr lang="en-US" dirty="0"/>
              <a:t>Secondary Sources: sources that discuss, study, or comment on information from primary sources</a:t>
            </a:r>
          </a:p>
          <a:p>
            <a:endParaRPr lang="en-US" dirty="0"/>
          </a:p>
          <a:p>
            <a:endParaRPr lang="en-IN" dirty="0"/>
          </a:p>
        </p:txBody>
      </p:sp>
      <p:sp>
        <p:nvSpPr>
          <p:cNvPr id="4" name="Content Placeholder 3"/>
          <p:cNvSpPr>
            <a:spLocks noGrp="1"/>
          </p:cNvSpPr>
          <p:nvPr>
            <p:ph sz="half" idx="2"/>
          </p:nvPr>
        </p:nvSpPr>
        <p:spPr>
          <a:xfrm>
            <a:off x="6172199" y="971550"/>
            <a:ext cx="5294313" cy="5205413"/>
          </a:xfrm>
        </p:spPr>
        <p:txBody>
          <a:bodyPr/>
          <a:lstStyle/>
          <a:p>
            <a:endParaRPr lang="en-IN" dirty="0"/>
          </a:p>
        </p:txBody>
      </p:sp>
      <p:pic>
        <p:nvPicPr>
          <p:cNvPr id="5" name="Picture 4"/>
          <p:cNvPicPr>
            <a:picLocks noChangeAspect="1"/>
          </p:cNvPicPr>
          <p:nvPr/>
        </p:nvPicPr>
        <p:blipFill>
          <a:blip r:embed="rId2"/>
          <a:stretch>
            <a:fillRect/>
          </a:stretch>
        </p:blipFill>
        <p:spPr>
          <a:xfrm>
            <a:off x="1638300" y="2382838"/>
            <a:ext cx="2667000" cy="3111500"/>
          </a:xfrm>
          <a:prstGeom prst="rect">
            <a:avLst/>
          </a:prstGeom>
        </p:spPr>
      </p:pic>
      <p:pic>
        <p:nvPicPr>
          <p:cNvPr id="6" name="Picture 5"/>
          <p:cNvPicPr>
            <a:picLocks noChangeAspect="1"/>
          </p:cNvPicPr>
          <p:nvPr/>
        </p:nvPicPr>
        <p:blipFill>
          <a:blip r:embed="rId3"/>
          <a:stretch>
            <a:fillRect/>
          </a:stretch>
        </p:blipFill>
        <p:spPr>
          <a:xfrm>
            <a:off x="6172199" y="1497810"/>
            <a:ext cx="5297743" cy="4152891"/>
          </a:xfrm>
          <a:prstGeom prst="rect">
            <a:avLst/>
          </a:prstGeom>
        </p:spPr>
      </p:pic>
    </p:spTree>
    <p:extLst>
      <p:ext uri="{BB962C8B-B14F-4D97-AF65-F5344CB8AC3E}">
        <p14:creationId xmlns:p14="http://schemas.microsoft.com/office/powerpoint/2010/main" val="323440866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625475"/>
          </a:xfrm>
        </p:spPr>
        <p:txBody>
          <a:bodyPr>
            <a:normAutofit/>
          </a:bodyPr>
          <a:lstStyle/>
          <a:p>
            <a:pPr algn="ctr"/>
            <a:r>
              <a:rPr lang="en-IN" sz="3200" b="1" dirty="0">
                <a:solidFill>
                  <a:srgbClr val="0000FF"/>
                </a:solidFill>
              </a:rPr>
              <a:t>Secondary Sources of Literature</a:t>
            </a:r>
            <a:endParaRPr lang="en-IN" sz="3200" dirty="0"/>
          </a:p>
        </p:txBody>
      </p:sp>
      <p:sp>
        <p:nvSpPr>
          <p:cNvPr id="5" name="Content Placeholder 4"/>
          <p:cNvSpPr>
            <a:spLocks noGrp="1"/>
          </p:cNvSpPr>
          <p:nvPr>
            <p:ph sz="half" idx="1"/>
          </p:nvPr>
        </p:nvSpPr>
        <p:spPr>
          <a:xfrm>
            <a:off x="838200" y="990600"/>
            <a:ext cx="5181600" cy="5186363"/>
          </a:xfrm>
        </p:spPr>
        <p:txBody>
          <a:bodyPr>
            <a:normAutofit fontScale="92500" lnSpcReduction="10000"/>
          </a:bodyPr>
          <a:lstStyle/>
          <a:p>
            <a:pPr marL="0" indent="0">
              <a:buNone/>
            </a:pPr>
            <a:r>
              <a:rPr lang="en-US" b="1" dirty="0"/>
              <a:t>Secondary Source </a:t>
            </a:r>
            <a:r>
              <a:rPr lang="en-US" dirty="0"/>
              <a:t>Examples:</a:t>
            </a:r>
          </a:p>
          <a:p>
            <a:pPr marL="0" indent="0">
              <a:buNone/>
            </a:pPr>
            <a:r>
              <a:rPr lang="en-US" b="1" dirty="0"/>
              <a:t>Humanities:</a:t>
            </a:r>
          </a:p>
          <a:p>
            <a:r>
              <a:rPr lang="en-US" dirty="0"/>
              <a:t>Biographies</a:t>
            </a:r>
          </a:p>
          <a:p>
            <a:r>
              <a:rPr lang="en-US" dirty="0"/>
              <a:t>Literary criticism</a:t>
            </a:r>
          </a:p>
          <a:p>
            <a:r>
              <a:rPr lang="en-US" dirty="0"/>
              <a:t>Monographs written about a topic</a:t>
            </a:r>
          </a:p>
          <a:p>
            <a:r>
              <a:rPr lang="en-US" dirty="0"/>
              <a:t>Reviews on creative works</a:t>
            </a:r>
          </a:p>
          <a:p>
            <a:r>
              <a:rPr lang="en-US" dirty="0"/>
              <a:t>Music scores that have been published or changed</a:t>
            </a:r>
          </a:p>
          <a:p>
            <a:r>
              <a:rPr lang="en-US" dirty="0"/>
              <a:t>Bibliographies</a:t>
            </a:r>
          </a:p>
          <a:p>
            <a:r>
              <a:rPr lang="en-US" dirty="0"/>
              <a:t>Law reviews</a:t>
            </a:r>
          </a:p>
          <a:p>
            <a:r>
              <a:rPr lang="en-US" dirty="0"/>
              <a:t>Journal articles (criticism and interpretation</a:t>
            </a:r>
            <a:endParaRPr lang="en-IN" dirty="0"/>
          </a:p>
        </p:txBody>
      </p:sp>
      <p:sp>
        <p:nvSpPr>
          <p:cNvPr id="6" name="Content Placeholder 5"/>
          <p:cNvSpPr>
            <a:spLocks noGrp="1"/>
          </p:cNvSpPr>
          <p:nvPr>
            <p:ph sz="half" idx="2"/>
          </p:nvPr>
        </p:nvSpPr>
        <p:spPr>
          <a:xfrm>
            <a:off x="6172200" y="990600"/>
            <a:ext cx="5181600" cy="5186363"/>
          </a:xfrm>
        </p:spPr>
        <p:txBody>
          <a:bodyPr>
            <a:normAutofit fontScale="92500" lnSpcReduction="10000"/>
          </a:bodyPr>
          <a:lstStyle/>
          <a:p>
            <a:pPr marL="0" indent="0">
              <a:buNone/>
            </a:pPr>
            <a:r>
              <a:rPr lang="en-US" b="1" dirty="0"/>
              <a:t>Sciences/ Health Sciences :</a:t>
            </a:r>
          </a:p>
          <a:p>
            <a:r>
              <a:rPr lang="en-US" dirty="0"/>
              <a:t>Literature reviews</a:t>
            </a:r>
          </a:p>
          <a:p>
            <a:r>
              <a:rPr lang="en-US" dirty="0"/>
              <a:t>Data analysis or refined compilations</a:t>
            </a:r>
          </a:p>
          <a:p>
            <a:r>
              <a:rPr lang="en-US" dirty="0"/>
              <a:t>Reviews (systematic or meta-analysis)Opinion pieces* </a:t>
            </a:r>
          </a:p>
          <a:p>
            <a:r>
              <a:rPr lang="en-US" dirty="0"/>
              <a:t>Letters to the editor</a:t>
            </a:r>
          </a:p>
          <a:p>
            <a:r>
              <a:rPr lang="en-US" dirty="0"/>
              <a:t>Articles in trade journals (non-research)</a:t>
            </a:r>
          </a:p>
          <a:p>
            <a:r>
              <a:rPr lang="en-US" dirty="0"/>
              <a:t>Text books and books</a:t>
            </a:r>
            <a:endParaRPr lang="en-IN" dirty="0"/>
          </a:p>
        </p:txBody>
      </p:sp>
    </p:spTree>
    <p:extLst>
      <p:ext uri="{BB962C8B-B14F-4D97-AF65-F5344CB8AC3E}">
        <p14:creationId xmlns:p14="http://schemas.microsoft.com/office/powerpoint/2010/main" val="389925518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6425"/>
          </a:xfrm>
        </p:spPr>
        <p:txBody>
          <a:bodyPr>
            <a:normAutofit/>
          </a:bodyPr>
          <a:lstStyle/>
          <a:p>
            <a:pPr algn="ctr"/>
            <a:r>
              <a:rPr lang="en-US" sz="3200" b="1" dirty="0">
                <a:solidFill>
                  <a:srgbClr val="0000FF"/>
                </a:solidFill>
              </a:rPr>
              <a:t>Tertiary Sources of Literature</a:t>
            </a:r>
            <a:endParaRPr lang="en-IN" sz="3200" b="1" dirty="0">
              <a:solidFill>
                <a:srgbClr val="0000FF"/>
              </a:solidFill>
            </a:endParaRPr>
          </a:p>
        </p:txBody>
      </p:sp>
      <p:sp>
        <p:nvSpPr>
          <p:cNvPr id="3" name="Content Placeholder 2"/>
          <p:cNvSpPr>
            <a:spLocks noGrp="1"/>
          </p:cNvSpPr>
          <p:nvPr>
            <p:ph idx="1"/>
          </p:nvPr>
        </p:nvSpPr>
        <p:spPr>
          <a:xfrm>
            <a:off x="838200" y="971550"/>
            <a:ext cx="10515600" cy="5205413"/>
          </a:xfrm>
        </p:spPr>
        <p:txBody>
          <a:bodyPr>
            <a:normAutofit/>
          </a:bodyPr>
          <a:lstStyle/>
          <a:p>
            <a:r>
              <a:rPr lang="en-US" dirty="0"/>
              <a:t>Tertiary Sources: sources that utilize and distill information from primary and secondary sources. </a:t>
            </a:r>
          </a:p>
          <a:p>
            <a:pPr marL="0" indent="0">
              <a:buNone/>
            </a:pPr>
            <a:r>
              <a:rPr lang="en-US" dirty="0"/>
              <a:t>Reference works such as :</a:t>
            </a:r>
          </a:p>
          <a:p>
            <a:pPr lvl="1"/>
            <a:r>
              <a:rPr lang="en-US" sz="2800" dirty="0"/>
              <a:t>Handbooks</a:t>
            </a:r>
          </a:p>
          <a:p>
            <a:pPr lvl="1"/>
            <a:r>
              <a:rPr lang="en-US" sz="2800" dirty="0"/>
              <a:t>Standards</a:t>
            </a:r>
          </a:p>
          <a:p>
            <a:pPr lvl="1"/>
            <a:r>
              <a:rPr lang="en-US" sz="2800" dirty="0"/>
              <a:t>Almanacs</a:t>
            </a:r>
          </a:p>
          <a:p>
            <a:pPr lvl="1"/>
            <a:r>
              <a:rPr lang="en-US" sz="2800" dirty="0"/>
              <a:t>Encyclopedias</a:t>
            </a:r>
          </a:p>
          <a:p>
            <a:pPr lvl="1"/>
            <a:r>
              <a:rPr lang="en-US" sz="2800" dirty="0"/>
              <a:t>Manuals</a:t>
            </a:r>
          </a:p>
          <a:p>
            <a:pPr lvl="1"/>
            <a:r>
              <a:rPr lang="en-US" sz="2800" dirty="0"/>
              <a:t>Pathfinders (Lib Guides)</a:t>
            </a:r>
            <a:endParaRPr lang="en-IN" sz="2800" dirty="0"/>
          </a:p>
        </p:txBody>
      </p:sp>
      <p:pic>
        <p:nvPicPr>
          <p:cNvPr id="4" name="Picture 3"/>
          <p:cNvPicPr>
            <a:picLocks noChangeAspect="1"/>
          </p:cNvPicPr>
          <p:nvPr/>
        </p:nvPicPr>
        <p:blipFill>
          <a:blip r:embed="rId2"/>
          <a:stretch>
            <a:fillRect/>
          </a:stretch>
        </p:blipFill>
        <p:spPr>
          <a:xfrm>
            <a:off x="5705474" y="2063750"/>
            <a:ext cx="4429125" cy="2657475"/>
          </a:xfrm>
          <a:prstGeom prst="rect">
            <a:avLst/>
          </a:prstGeom>
        </p:spPr>
      </p:pic>
    </p:spTree>
    <p:extLst>
      <p:ext uri="{BB962C8B-B14F-4D97-AF65-F5344CB8AC3E}">
        <p14:creationId xmlns:p14="http://schemas.microsoft.com/office/powerpoint/2010/main" val="57545200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FF119D5-D39E-8DC8-41D5-107C81AEEBF1}"/>
              </a:ext>
            </a:extLst>
          </p:cNvPr>
          <p:cNvSpPr txBox="1"/>
          <p:nvPr/>
        </p:nvSpPr>
        <p:spPr>
          <a:xfrm>
            <a:off x="653143" y="751344"/>
            <a:ext cx="10888824" cy="5816977"/>
          </a:xfrm>
          <a:prstGeom prst="rect">
            <a:avLst/>
          </a:prstGeom>
          <a:noFill/>
        </p:spPr>
        <p:txBody>
          <a:bodyPr wrap="square">
            <a:spAutoFit/>
          </a:bodyPr>
          <a:lstStyle/>
          <a:p>
            <a:r>
              <a:rPr lang="en-US" sz="2800" dirty="0">
                <a:solidFill>
                  <a:srgbClr val="0000FF"/>
                </a:solidFill>
              </a:rPr>
              <a:t>Information and Communication Technology (ICT) </a:t>
            </a:r>
            <a:r>
              <a:rPr lang="en-US" sz="2800" dirty="0"/>
              <a:t>plays a crucial role in education, and it has been widely studied in the context of schools and higher education. Here are some key points related to ICT-enabled tools for literature surveys:</a:t>
            </a:r>
          </a:p>
          <a:p>
            <a:endParaRPr lang="en-US" sz="1400" dirty="0"/>
          </a:p>
          <a:p>
            <a:pPr marL="342900" indent="-342900">
              <a:spcBef>
                <a:spcPts val="1200"/>
              </a:spcBef>
              <a:buFont typeface="Arial" panose="020B0604020202020204" pitchFamily="34" charset="0"/>
              <a:buChar char="•"/>
            </a:pPr>
            <a:r>
              <a:rPr lang="en-US" sz="2400" dirty="0"/>
              <a:t>A review of research on ICT integration in education highlights its merits, challenges, and factors influencing successful implementation.</a:t>
            </a:r>
          </a:p>
          <a:p>
            <a:pPr marL="342900" indent="-342900">
              <a:spcBef>
                <a:spcPts val="1200"/>
              </a:spcBef>
              <a:buFont typeface="Arial" panose="020B0604020202020204" pitchFamily="34" charset="0"/>
              <a:buChar char="•"/>
            </a:pPr>
            <a:r>
              <a:rPr lang="en-US" sz="2400" dirty="0"/>
              <a:t>ICT is considered a powerful tool for educational change and reform, improving educational quality and connecting learning to real-life situations.</a:t>
            </a:r>
          </a:p>
          <a:p>
            <a:pPr marL="342900" indent="-342900">
              <a:spcBef>
                <a:spcPts val="1200"/>
              </a:spcBef>
              <a:buFont typeface="Arial" panose="020B0604020202020204" pitchFamily="34" charset="0"/>
              <a:buChar char="•"/>
            </a:pPr>
            <a:r>
              <a:rPr lang="en-US" sz="2400" dirty="0"/>
              <a:t>Researchers can use various tools to conduct literature reviews. These tools help organize, analyze, and synthesize existing research.</a:t>
            </a:r>
          </a:p>
          <a:p>
            <a:pPr marL="342900" indent="-342900">
              <a:spcBef>
                <a:spcPts val="1200"/>
              </a:spcBef>
              <a:buFont typeface="Arial" panose="020B0604020202020204" pitchFamily="34" charset="0"/>
              <a:buChar char="•"/>
            </a:pPr>
            <a:r>
              <a:rPr lang="en-US" sz="2400" dirty="0"/>
              <a:t>Some popular tools include </a:t>
            </a:r>
            <a:r>
              <a:rPr lang="en-US" sz="2400" dirty="0" err="1"/>
              <a:t>JSTOR</a:t>
            </a:r>
            <a:r>
              <a:rPr lang="en-US" sz="2400" dirty="0"/>
              <a:t>, Google Scholar, and PubMed, which provide access to scholarly articles and research papers.</a:t>
            </a:r>
            <a:endParaRPr lang="en-GB" sz="2400" dirty="0"/>
          </a:p>
        </p:txBody>
      </p:sp>
    </p:spTree>
    <p:extLst>
      <p:ext uri="{BB962C8B-B14F-4D97-AF65-F5344CB8AC3E}">
        <p14:creationId xmlns:p14="http://schemas.microsoft.com/office/powerpoint/2010/main" val="188610996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4525"/>
          </a:xfrm>
        </p:spPr>
        <p:txBody>
          <a:bodyPr>
            <a:normAutofit/>
          </a:bodyPr>
          <a:lstStyle/>
          <a:p>
            <a:pPr algn="ctr"/>
            <a:r>
              <a:rPr lang="en-US" sz="3200" b="1" dirty="0">
                <a:solidFill>
                  <a:srgbClr val="0000FF"/>
                </a:solidFill>
              </a:rPr>
              <a:t>Literature Survey vs. Literature Review</a:t>
            </a:r>
            <a:endParaRPr lang="en-IN" sz="3200" b="1" dirty="0">
              <a:solidFill>
                <a:srgbClr val="0000FF"/>
              </a:solidFill>
            </a:endParaRPr>
          </a:p>
        </p:txBody>
      </p:sp>
      <p:sp>
        <p:nvSpPr>
          <p:cNvPr id="5" name="Content Placeholder 4"/>
          <p:cNvSpPr>
            <a:spLocks noGrp="1"/>
          </p:cNvSpPr>
          <p:nvPr>
            <p:ph idx="1"/>
          </p:nvPr>
        </p:nvSpPr>
        <p:spPr>
          <a:xfrm>
            <a:off x="838200" y="1009650"/>
            <a:ext cx="10515600" cy="5167313"/>
          </a:xfrm>
        </p:spPr>
        <p:txBody>
          <a:bodyPr>
            <a:normAutofit lnSpcReduction="10000"/>
          </a:bodyPr>
          <a:lstStyle/>
          <a:p>
            <a:r>
              <a:rPr lang="en-US" dirty="0"/>
              <a:t>The Literature Survey only searches </a:t>
            </a:r>
          </a:p>
          <a:p>
            <a:pPr marL="0" indent="0">
              <a:buNone/>
            </a:pPr>
            <a:r>
              <a:rPr lang="en-US" dirty="0"/>
              <a:t>   information or penetrates through </a:t>
            </a:r>
          </a:p>
          <a:p>
            <a:pPr marL="0" indent="0">
              <a:buNone/>
            </a:pPr>
            <a:r>
              <a:rPr lang="en-US" dirty="0"/>
              <a:t>   available literature. It is the process </a:t>
            </a:r>
          </a:p>
          <a:p>
            <a:pPr marL="0" indent="0">
              <a:buNone/>
            </a:pPr>
            <a:r>
              <a:rPr lang="en-US" dirty="0"/>
              <a:t>   of identifying and locating scholarly </a:t>
            </a:r>
          </a:p>
          <a:p>
            <a:pPr marL="0" indent="0">
              <a:buNone/>
            </a:pPr>
            <a:r>
              <a:rPr lang="en-US" dirty="0"/>
              <a:t>   information and publications on a </a:t>
            </a:r>
          </a:p>
          <a:p>
            <a:pPr marL="0" indent="0">
              <a:buNone/>
            </a:pPr>
            <a:r>
              <a:rPr lang="en-US" dirty="0"/>
              <a:t>   particular topic.</a:t>
            </a:r>
          </a:p>
          <a:p>
            <a:r>
              <a:rPr lang="en-US" dirty="0"/>
              <a:t>The Literature Review on the other hand examines the information to determine the findings and contribution to the topic and establish the base upon which any new work would stand. It is the critical review of the literature survey. </a:t>
            </a:r>
          </a:p>
          <a:p>
            <a:r>
              <a:rPr lang="en-US" dirty="0"/>
              <a:t>Literature Survey and Literature Review go hand-in-hand simultaneously</a:t>
            </a:r>
            <a:endParaRPr lang="en-IN" dirty="0"/>
          </a:p>
        </p:txBody>
      </p:sp>
      <p:pic>
        <p:nvPicPr>
          <p:cNvPr id="6" name="Picture 5"/>
          <p:cNvPicPr>
            <a:picLocks noChangeAspect="1"/>
          </p:cNvPicPr>
          <p:nvPr/>
        </p:nvPicPr>
        <p:blipFill>
          <a:blip r:embed="rId2"/>
          <a:stretch>
            <a:fillRect/>
          </a:stretch>
        </p:blipFill>
        <p:spPr>
          <a:xfrm>
            <a:off x="6882063" y="1009650"/>
            <a:ext cx="3681663" cy="2640384"/>
          </a:xfrm>
          <a:prstGeom prst="rect">
            <a:avLst/>
          </a:prstGeom>
        </p:spPr>
      </p:pic>
    </p:spTree>
    <p:extLst>
      <p:ext uri="{BB962C8B-B14F-4D97-AF65-F5344CB8AC3E}">
        <p14:creationId xmlns:p14="http://schemas.microsoft.com/office/powerpoint/2010/main" val="256398862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6866"/>
          </a:xfrm>
        </p:spPr>
        <p:txBody>
          <a:bodyPr>
            <a:normAutofit/>
          </a:bodyPr>
          <a:lstStyle/>
          <a:p>
            <a:pPr algn="ctr"/>
            <a:r>
              <a:rPr lang="en-US" sz="3200" b="1" dirty="0">
                <a:solidFill>
                  <a:srgbClr val="0000FF"/>
                </a:solidFill>
              </a:rPr>
              <a:t>Significance of Literature Survey and Review</a:t>
            </a:r>
            <a:endParaRPr lang="en-IN" sz="3200" b="1" dirty="0">
              <a:solidFill>
                <a:srgbClr val="0000FF"/>
              </a:solidFill>
            </a:endParaRPr>
          </a:p>
        </p:txBody>
      </p:sp>
      <p:sp>
        <p:nvSpPr>
          <p:cNvPr id="3" name="Content Placeholder 2"/>
          <p:cNvSpPr>
            <a:spLocks noGrp="1"/>
          </p:cNvSpPr>
          <p:nvPr>
            <p:ph idx="1"/>
          </p:nvPr>
        </p:nvSpPr>
        <p:spPr>
          <a:xfrm>
            <a:off x="838200" y="1041992"/>
            <a:ext cx="10515600" cy="5134971"/>
          </a:xfrm>
        </p:spPr>
        <p:txBody>
          <a:bodyPr/>
          <a:lstStyle/>
          <a:p>
            <a:r>
              <a:rPr lang="en-US" dirty="0"/>
              <a:t>It is one of the first things done by any student or scholar who plans to pursue new knowledge or do research in any subject area.</a:t>
            </a:r>
          </a:p>
          <a:p>
            <a:r>
              <a:rPr lang="en-US" dirty="0"/>
              <a:t>Time consuming, but helps widen the knowledge base on the topic</a:t>
            </a:r>
          </a:p>
          <a:p>
            <a:r>
              <a:rPr lang="en-US" dirty="0"/>
              <a:t>Understand the contribution from other researchers</a:t>
            </a:r>
          </a:p>
          <a:p>
            <a:r>
              <a:rPr lang="en-US" dirty="0"/>
              <a:t>Define the gaps of knowledge</a:t>
            </a:r>
          </a:p>
          <a:p>
            <a:r>
              <a:rPr lang="en-US" dirty="0"/>
              <a:t>Understand the current status and challenges involved</a:t>
            </a:r>
          </a:p>
          <a:p>
            <a:r>
              <a:rPr lang="en-US" dirty="0"/>
              <a:t>Understand advantages and disadvantages of current system</a:t>
            </a:r>
          </a:p>
          <a:p>
            <a:r>
              <a:rPr lang="en-US" dirty="0"/>
              <a:t>Trigger the critical thinking process and zero in the research problem to formulate the problem statement</a:t>
            </a:r>
            <a:endParaRPr lang="en-IN" dirty="0"/>
          </a:p>
        </p:txBody>
      </p:sp>
    </p:spTree>
    <p:extLst>
      <p:ext uri="{BB962C8B-B14F-4D97-AF65-F5344CB8AC3E}">
        <p14:creationId xmlns:p14="http://schemas.microsoft.com/office/powerpoint/2010/main" val="385606939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55601"/>
          </a:xfrm>
        </p:spPr>
        <p:txBody>
          <a:bodyPr>
            <a:normAutofit/>
          </a:bodyPr>
          <a:lstStyle/>
          <a:p>
            <a:pPr algn="ctr"/>
            <a:r>
              <a:rPr lang="en-US" sz="3200" b="1" dirty="0">
                <a:solidFill>
                  <a:srgbClr val="0000FF"/>
                </a:solidFill>
              </a:rPr>
              <a:t>Significance of Literature Survey and Review</a:t>
            </a:r>
            <a:endParaRPr lang="en-IN" sz="3200" dirty="0"/>
          </a:p>
        </p:txBody>
      </p:sp>
      <p:sp>
        <p:nvSpPr>
          <p:cNvPr id="3" name="Content Placeholder 2"/>
          <p:cNvSpPr>
            <a:spLocks noGrp="1"/>
          </p:cNvSpPr>
          <p:nvPr>
            <p:ph idx="1"/>
          </p:nvPr>
        </p:nvSpPr>
        <p:spPr>
          <a:xfrm>
            <a:off x="838200" y="1020726"/>
            <a:ext cx="10515600" cy="5156237"/>
          </a:xfrm>
        </p:spPr>
        <p:txBody>
          <a:bodyPr>
            <a:normAutofit fontScale="92500" lnSpcReduction="20000"/>
          </a:bodyPr>
          <a:lstStyle/>
          <a:p>
            <a:pPr marL="0" indent="0">
              <a:buNone/>
            </a:pPr>
            <a:r>
              <a:rPr lang="en-US" dirty="0"/>
              <a:t>This is important to understand the approach and methodology adopted by previous researchers and learn from their experiences. </a:t>
            </a:r>
          </a:p>
          <a:p>
            <a:pPr marL="0" indent="0">
              <a:buNone/>
            </a:pPr>
            <a:r>
              <a:rPr lang="en-US" dirty="0"/>
              <a:t>Some questions that will help in this task are:</a:t>
            </a:r>
          </a:p>
          <a:p>
            <a:pPr lvl="1"/>
            <a:r>
              <a:rPr lang="en-US" dirty="0"/>
              <a:t>Why you need to pursue research in the selected area?</a:t>
            </a:r>
          </a:p>
          <a:p>
            <a:pPr lvl="1"/>
            <a:r>
              <a:rPr lang="en-US" dirty="0"/>
              <a:t>How are you going to pursue the research? </a:t>
            </a:r>
          </a:p>
          <a:p>
            <a:pPr lvl="1"/>
            <a:r>
              <a:rPr lang="en-US" dirty="0"/>
              <a:t>What are the constraints of pursuing the research?</a:t>
            </a:r>
          </a:p>
          <a:p>
            <a:pPr lvl="1"/>
            <a:r>
              <a:rPr lang="en-US" dirty="0"/>
              <a:t>Which laboratory is to be used for experimentation?</a:t>
            </a:r>
          </a:p>
          <a:p>
            <a:pPr lvl="1"/>
            <a:r>
              <a:rPr lang="en-US" dirty="0"/>
              <a:t>Is the topic latest or demanding?</a:t>
            </a:r>
          </a:p>
          <a:p>
            <a:pPr lvl="1"/>
            <a:r>
              <a:rPr lang="en-US" dirty="0"/>
              <a:t>Which is the best method for the experimentation?</a:t>
            </a:r>
          </a:p>
          <a:p>
            <a:pPr lvl="1"/>
            <a:r>
              <a:rPr lang="en-US" dirty="0"/>
              <a:t>What are the limitations of existing technique?</a:t>
            </a:r>
          </a:p>
          <a:p>
            <a:pPr lvl="1"/>
            <a:r>
              <a:rPr lang="en-US" dirty="0"/>
              <a:t>Is the research topic feasible?</a:t>
            </a:r>
          </a:p>
          <a:p>
            <a:pPr lvl="1"/>
            <a:r>
              <a:rPr lang="en-US" dirty="0"/>
              <a:t>Does the problem statement have substantial research component?</a:t>
            </a:r>
          </a:p>
          <a:p>
            <a:pPr lvl="1"/>
            <a:r>
              <a:rPr lang="en-US" dirty="0"/>
              <a:t>Is there any social use for the selected topic?</a:t>
            </a:r>
          </a:p>
          <a:p>
            <a:pPr lvl="1"/>
            <a:r>
              <a:rPr lang="en-US" dirty="0"/>
              <a:t>Does it harm the society?</a:t>
            </a:r>
          </a:p>
          <a:p>
            <a:pPr lvl="1"/>
            <a:r>
              <a:rPr lang="en-US" dirty="0"/>
              <a:t>Is there any parallel research being pursued by another person in the selected area?</a:t>
            </a:r>
            <a:endParaRPr lang="en-IN" dirty="0"/>
          </a:p>
        </p:txBody>
      </p:sp>
    </p:spTree>
    <p:extLst>
      <p:ext uri="{BB962C8B-B14F-4D97-AF65-F5344CB8AC3E}">
        <p14:creationId xmlns:p14="http://schemas.microsoft.com/office/powerpoint/2010/main" val="379170271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70540"/>
          </a:xfrm>
        </p:spPr>
        <p:txBody>
          <a:bodyPr>
            <a:normAutofit/>
          </a:bodyPr>
          <a:lstStyle/>
          <a:p>
            <a:pPr algn="ctr"/>
            <a:r>
              <a:rPr lang="en-US" sz="3200" b="1" dirty="0">
                <a:solidFill>
                  <a:srgbClr val="0000FF"/>
                </a:solidFill>
              </a:rPr>
              <a:t>Significance of Literature Survey and Review</a:t>
            </a:r>
            <a:endParaRPr lang="en-IN" sz="3200" dirty="0"/>
          </a:p>
        </p:txBody>
      </p:sp>
      <p:sp>
        <p:nvSpPr>
          <p:cNvPr id="3" name="Content Placeholder 2"/>
          <p:cNvSpPr>
            <a:spLocks noGrp="1"/>
          </p:cNvSpPr>
          <p:nvPr>
            <p:ph idx="1"/>
          </p:nvPr>
        </p:nvSpPr>
        <p:spPr>
          <a:xfrm>
            <a:off x="838200" y="935666"/>
            <a:ext cx="10515600" cy="5241297"/>
          </a:xfrm>
        </p:spPr>
        <p:txBody>
          <a:bodyPr>
            <a:normAutofit fontScale="70000" lnSpcReduction="20000"/>
          </a:bodyPr>
          <a:lstStyle/>
          <a:p>
            <a:pPr marL="0" indent="0">
              <a:buNone/>
            </a:pPr>
            <a:r>
              <a:rPr lang="en-US" dirty="0"/>
              <a:t>This will lead to critical information that can be incorporated in the introduction section of documents / thesis such as: </a:t>
            </a:r>
          </a:p>
          <a:p>
            <a:r>
              <a:rPr lang="en-US" dirty="0"/>
              <a:t>Introductory detail of the area of interest</a:t>
            </a:r>
          </a:p>
          <a:p>
            <a:r>
              <a:rPr lang="en-US" dirty="0"/>
              <a:t>Methodology used for the topic to be studied </a:t>
            </a:r>
          </a:p>
          <a:p>
            <a:r>
              <a:rPr lang="en-US" dirty="0"/>
              <a:t>Broad overview of the topic to be studied </a:t>
            </a:r>
          </a:p>
          <a:p>
            <a:r>
              <a:rPr lang="en-US" dirty="0"/>
              <a:t>Name of the authors / researchers who are authorities in the area of interest</a:t>
            </a:r>
          </a:p>
          <a:p>
            <a:r>
              <a:rPr lang="en-US" dirty="0"/>
              <a:t>Important happenings or events in the area</a:t>
            </a:r>
          </a:p>
          <a:p>
            <a:r>
              <a:rPr lang="en-US" dirty="0"/>
              <a:t>Keywords and subject related to the vocabulary terms, which can be used to search the </a:t>
            </a:r>
          </a:p>
          <a:p>
            <a:pPr marL="0" indent="0">
              <a:buNone/>
            </a:pPr>
            <a:r>
              <a:rPr lang="en-US" dirty="0"/>
              <a:t>    database</a:t>
            </a:r>
          </a:p>
          <a:p>
            <a:r>
              <a:rPr lang="en-US" dirty="0"/>
              <a:t>Local, national and international status of the work </a:t>
            </a:r>
          </a:p>
          <a:p>
            <a:r>
              <a:rPr lang="en-US" dirty="0"/>
              <a:t>References and bibliographies that can lead to additional search</a:t>
            </a:r>
          </a:p>
          <a:p>
            <a:r>
              <a:rPr lang="en-US" dirty="0"/>
              <a:t>Explanation about the fundamental study conducted in the past</a:t>
            </a:r>
          </a:p>
          <a:p>
            <a:r>
              <a:rPr lang="en-US" dirty="0"/>
              <a:t>The important historical dates and events of the major work carried out related to the </a:t>
            </a:r>
          </a:p>
          <a:p>
            <a:pPr marL="0" indent="0">
              <a:buNone/>
            </a:pPr>
            <a:r>
              <a:rPr lang="en-US" dirty="0"/>
              <a:t>     topic</a:t>
            </a:r>
          </a:p>
          <a:p>
            <a:r>
              <a:rPr lang="en-US" dirty="0"/>
              <a:t>The information why and in what way the research problem is important</a:t>
            </a:r>
            <a:endParaRPr lang="en-IN" dirty="0"/>
          </a:p>
        </p:txBody>
      </p:sp>
    </p:spTree>
    <p:extLst>
      <p:ext uri="{BB962C8B-B14F-4D97-AF65-F5344CB8AC3E}">
        <p14:creationId xmlns:p14="http://schemas.microsoft.com/office/powerpoint/2010/main" val="322569068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13070"/>
          </a:xfrm>
        </p:spPr>
        <p:txBody>
          <a:bodyPr>
            <a:normAutofit/>
          </a:bodyPr>
          <a:lstStyle/>
          <a:p>
            <a:pPr algn="ctr"/>
            <a:r>
              <a:rPr lang="en-US" sz="3200" b="1" dirty="0">
                <a:solidFill>
                  <a:srgbClr val="0000FF"/>
                </a:solidFill>
              </a:rPr>
              <a:t>Literature Review Strategy</a:t>
            </a:r>
            <a:endParaRPr lang="en-IN" sz="3200" b="1" dirty="0">
              <a:solidFill>
                <a:srgbClr val="0000FF"/>
              </a:solidFill>
            </a:endParaRPr>
          </a:p>
        </p:txBody>
      </p:sp>
      <p:sp>
        <p:nvSpPr>
          <p:cNvPr id="3" name="Content Placeholder 2"/>
          <p:cNvSpPr>
            <a:spLocks noGrp="1"/>
          </p:cNvSpPr>
          <p:nvPr>
            <p:ph idx="1"/>
          </p:nvPr>
        </p:nvSpPr>
        <p:spPr>
          <a:xfrm>
            <a:off x="838200" y="978196"/>
            <a:ext cx="10515600" cy="5198767"/>
          </a:xfrm>
        </p:spPr>
        <p:txBody>
          <a:bodyPr/>
          <a:lstStyle/>
          <a:p>
            <a:pPr marL="0" indent="0">
              <a:buNone/>
            </a:pPr>
            <a:r>
              <a:rPr lang="en-US" sz="2400" dirty="0"/>
              <a:t>As literature review is a written summary of journal articles, books, and other documents that describes the past and current state of information on the topic of your research study.</a:t>
            </a:r>
          </a:p>
          <a:p>
            <a:pPr marL="0" indent="0">
              <a:buNone/>
            </a:pPr>
            <a:r>
              <a:rPr lang="en-US" sz="2400" dirty="0"/>
              <a:t>Steps in literature review are:</a:t>
            </a:r>
          </a:p>
          <a:p>
            <a:pPr marL="971550" lvl="1" indent="-514350">
              <a:buAutoNum type="arabicPeriod"/>
            </a:pPr>
            <a:r>
              <a:rPr lang="en-US" dirty="0"/>
              <a:t>Identify key terms</a:t>
            </a:r>
          </a:p>
          <a:p>
            <a:pPr marL="971550" lvl="1" indent="-514350">
              <a:buAutoNum type="arabicPeriod"/>
            </a:pPr>
            <a:r>
              <a:rPr lang="en-US" dirty="0"/>
              <a:t>Locate literature</a:t>
            </a:r>
          </a:p>
          <a:p>
            <a:pPr marL="971550" lvl="1" indent="-514350">
              <a:buAutoNum type="arabicPeriod"/>
            </a:pPr>
            <a:r>
              <a:rPr lang="en-US" dirty="0"/>
              <a:t>Critically evaluate and select the literature</a:t>
            </a:r>
          </a:p>
          <a:p>
            <a:pPr marL="971550" lvl="1" indent="-514350">
              <a:buAutoNum type="arabicPeriod"/>
            </a:pPr>
            <a:r>
              <a:rPr lang="en-US" dirty="0"/>
              <a:t>Organize the literature</a:t>
            </a:r>
          </a:p>
          <a:p>
            <a:pPr marL="971550" lvl="1" indent="-514350">
              <a:buAutoNum type="arabicPeriod"/>
            </a:pPr>
            <a:r>
              <a:rPr lang="en-US" dirty="0"/>
              <a:t>Write a literature review </a:t>
            </a:r>
          </a:p>
          <a:p>
            <a:pPr marL="457200" lvl="1" indent="0">
              <a:buNone/>
            </a:pPr>
            <a:r>
              <a:rPr lang="en-US" dirty="0"/>
              <a:t>       (Record of research review)</a:t>
            </a:r>
            <a:endParaRPr lang="en-IN" dirty="0"/>
          </a:p>
        </p:txBody>
      </p:sp>
      <p:sp>
        <p:nvSpPr>
          <p:cNvPr id="4" name="Rectangle 3"/>
          <p:cNvSpPr/>
          <p:nvPr/>
        </p:nvSpPr>
        <p:spPr>
          <a:xfrm>
            <a:off x="8316153" y="2326118"/>
            <a:ext cx="2208867" cy="3491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Research Question</a:t>
            </a:r>
            <a:endParaRPr lang="en-IN" dirty="0"/>
          </a:p>
        </p:txBody>
      </p:sp>
      <p:sp>
        <p:nvSpPr>
          <p:cNvPr id="5" name="Rectangle 4"/>
          <p:cNvSpPr/>
          <p:nvPr/>
        </p:nvSpPr>
        <p:spPr>
          <a:xfrm>
            <a:off x="8316152" y="3577579"/>
            <a:ext cx="2208867" cy="2977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Literature Survey</a:t>
            </a:r>
            <a:endParaRPr lang="en-IN" dirty="0"/>
          </a:p>
        </p:txBody>
      </p:sp>
      <p:sp>
        <p:nvSpPr>
          <p:cNvPr id="6" name="Rectangle 5"/>
          <p:cNvSpPr/>
          <p:nvPr/>
        </p:nvSpPr>
        <p:spPr>
          <a:xfrm>
            <a:off x="8145950" y="4424174"/>
            <a:ext cx="930444" cy="3311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Sources</a:t>
            </a:r>
            <a:endParaRPr lang="en-IN" dirty="0"/>
          </a:p>
        </p:txBody>
      </p:sp>
      <p:sp>
        <p:nvSpPr>
          <p:cNvPr id="7" name="Rectangle 6"/>
          <p:cNvSpPr/>
          <p:nvPr/>
        </p:nvSpPr>
        <p:spPr>
          <a:xfrm>
            <a:off x="9752910" y="4424174"/>
            <a:ext cx="1119030" cy="3311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Keywords</a:t>
            </a:r>
            <a:endParaRPr lang="en-IN" dirty="0"/>
          </a:p>
        </p:txBody>
      </p:sp>
      <p:sp>
        <p:nvSpPr>
          <p:cNvPr id="8" name="Rectangle 7"/>
          <p:cNvSpPr/>
          <p:nvPr/>
        </p:nvSpPr>
        <p:spPr>
          <a:xfrm>
            <a:off x="8310745" y="5204180"/>
            <a:ext cx="2178185" cy="3424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Search Results</a:t>
            </a:r>
            <a:endParaRPr lang="en-IN" dirty="0"/>
          </a:p>
        </p:txBody>
      </p:sp>
      <p:sp>
        <p:nvSpPr>
          <p:cNvPr id="9" name="Rectangle 8"/>
          <p:cNvSpPr/>
          <p:nvPr/>
        </p:nvSpPr>
        <p:spPr>
          <a:xfrm>
            <a:off x="8310745" y="6037526"/>
            <a:ext cx="2143441" cy="4081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Literature Review</a:t>
            </a:r>
            <a:endParaRPr lang="en-IN" dirty="0"/>
          </a:p>
        </p:txBody>
      </p:sp>
      <p:sp>
        <p:nvSpPr>
          <p:cNvPr id="56" name="Curved Left Arrow 55"/>
          <p:cNvSpPr/>
          <p:nvPr/>
        </p:nvSpPr>
        <p:spPr>
          <a:xfrm>
            <a:off x="10530426" y="2509284"/>
            <a:ext cx="542261" cy="1217150"/>
          </a:xfrm>
          <a:prstGeom prst="curvedLeftArrow">
            <a:avLst>
              <a:gd name="adj1" fmla="val 0"/>
              <a:gd name="adj2" fmla="val 20314"/>
              <a:gd name="adj3" fmla="val 2696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7" name="Curved Left Arrow 56"/>
          <p:cNvSpPr/>
          <p:nvPr/>
        </p:nvSpPr>
        <p:spPr>
          <a:xfrm flipH="1" flipV="1">
            <a:off x="7773888" y="2450803"/>
            <a:ext cx="542261" cy="1206795"/>
          </a:xfrm>
          <a:prstGeom prst="curvedLeftArrow">
            <a:avLst>
              <a:gd name="adj1" fmla="val 0"/>
              <a:gd name="adj2" fmla="val 20314"/>
              <a:gd name="adj3" fmla="val 2696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8" name="Curved Left Arrow 57"/>
          <p:cNvSpPr/>
          <p:nvPr/>
        </p:nvSpPr>
        <p:spPr>
          <a:xfrm>
            <a:off x="10525019" y="3756515"/>
            <a:ext cx="1084022" cy="1566440"/>
          </a:xfrm>
          <a:prstGeom prst="curvedLeftArrow">
            <a:avLst>
              <a:gd name="adj1" fmla="val 165"/>
              <a:gd name="adj2" fmla="val 6085"/>
              <a:gd name="adj3" fmla="val 1558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9" name="Curved Left Arrow 58"/>
          <p:cNvSpPr/>
          <p:nvPr/>
        </p:nvSpPr>
        <p:spPr>
          <a:xfrm flipH="1" flipV="1">
            <a:off x="7132529" y="3726433"/>
            <a:ext cx="1178216" cy="1596521"/>
          </a:xfrm>
          <a:prstGeom prst="curvedLeftArrow">
            <a:avLst>
              <a:gd name="adj1" fmla="val 0"/>
              <a:gd name="adj2" fmla="val 9618"/>
              <a:gd name="adj3" fmla="val 803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60" name="Curved Left Arrow 59"/>
          <p:cNvSpPr/>
          <p:nvPr/>
        </p:nvSpPr>
        <p:spPr>
          <a:xfrm>
            <a:off x="10488930" y="5423824"/>
            <a:ext cx="595604" cy="877824"/>
          </a:xfrm>
          <a:prstGeom prst="curvedLeftArrow">
            <a:avLst>
              <a:gd name="adj1" fmla="val 165"/>
              <a:gd name="adj2" fmla="val 6085"/>
              <a:gd name="adj3" fmla="val 1558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nvGrpSpPr>
          <p:cNvPr id="78" name="Group 77"/>
          <p:cNvGrpSpPr/>
          <p:nvPr/>
        </p:nvGrpSpPr>
        <p:grpSpPr>
          <a:xfrm>
            <a:off x="8519508" y="3875290"/>
            <a:ext cx="192692" cy="548884"/>
            <a:chOff x="8520145" y="3875290"/>
            <a:chExt cx="137085" cy="515589"/>
          </a:xfrm>
        </p:grpSpPr>
        <p:cxnSp>
          <p:nvCxnSpPr>
            <p:cNvPr id="62" name="Straight Arrow Connector 61"/>
            <p:cNvCxnSpPr/>
            <p:nvPr/>
          </p:nvCxnSpPr>
          <p:spPr>
            <a:xfrm flipV="1">
              <a:off x="8520145" y="3877326"/>
              <a:ext cx="0" cy="5072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a:off x="8657230" y="3875290"/>
              <a:ext cx="0" cy="5155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65" name="Straight Arrow Connector 64"/>
          <p:cNvCxnSpPr/>
          <p:nvPr/>
        </p:nvCxnSpPr>
        <p:spPr>
          <a:xfrm flipH="1" flipV="1">
            <a:off x="10228295" y="3877326"/>
            <a:ext cx="1555" cy="5366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flipH="1">
            <a:off x="10363200" y="3875290"/>
            <a:ext cx="2180" cy="5386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0" name="Curved Left Arrow 69"/>
          <p:cNvSpPr/>
          <p:nvPr/>
        </p:nvSpPr>
        <p:spPr>
          <a:xfrm flipH="1" flipV="1">
            <a:off x="7705088" y="5408784"/>
            <a:ext cx="595604" cy="892864"/>
          </a:xfrm>
          <a:prstGeom prst="curvedLeftArrow">
            <a:avLst>
              <a:gd name="adj1" fmla="val 165"/>
              <a:gd name="adj2" fmla="val 6085"/>
              <a:gd name="adj3" fmla="val 1558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74" name="Straight Arrow Connector 73"/>
          <p:cNvCxnSpPr/>
          <p:nvPr/>
        </p:nvCxnSpPr>
        <p:spPr>
          <a:xfrm>
            <a:off x="9057344" y="4530500"/>
            <a:ext cx="6955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flipH="1">
            <a:off x="9057344" y="4657500"/>
            <a:ext cx="6955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0" name="Rectangle 79"/>
          <p:cNvSpPr/>
          <p:nvPr/>
        </p:nvSpPr>
        <p:spPr>
          <a:xfrm>
            <a:off x="7773888" y="2920953"/>
            <a:ext cx="938312" cy="3146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FF0000"/>
                </a:solidFill>
              </a:rPr>
              <a:t>Refocus</a:t>
            </a:r>
            <a:endParaRPr lang="en-IN" sz="1400" dirty="0">
              <a:solidFill>
                <a:srgbClr val="FF0000"/>
              </a:solidFill>
            </a:endParaRPr>
          </a:p>
        </p:txBody>
      </p:sp>
      <p:sp>
        <p:nvSpPr>
          <p:cNvPr id="81" name="Rectangle 80"/>
          <p:cNvSpPr/>
          <p:nvPr/>
        </p:nvSpPr>
        <p:spPr>
          <a:xfrm>
            <a:off x="10228295" y="2943717"/>
            <a:ext cx="725106" cy="34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FF0000"/>
                </a:solidFill>
              </a:rPr>
              <a:t>Focus</a:t>
            </a:r>
            <a:endParaRPr lang="en-IN" sz="1400" dirty="0">
              <a:solidFill>
                <a:srgbClr val="FF0000"/>
              </a:solidFill>
            </a:endParaRPr>
          </a:p>
        </p:txBody>
      </p:sp>
      <p:sp>
        <p:nvSpPr>
          <p:cNvPr id="82" name="Rectangle 81"/>
          <p:cNvSpPr/>
          <p:nvPr/>
        </p:nvSpPr>
        <p:spPr>
          <a:xfrm>
            <a:off x="7127122" y="4357970"/>
            <a:ext cx="1065968" cy="4961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FF0000"/>
                </a:solidFill>
              </a:rPr>
              <a:t>Review and Revise</a:t>
            </a:r>
            <a:endParaRPr lang="en-IN" sz="1400" dirty="0">
              <a:solidFill>
                <a:srgbClr val="FF0000"/>
              </a:solidFill>
            </a:endParaRPr>
          </a:p>
        </p:txBody>
      </p:sp>
      <p:sp>
        <p:nvSpPr>
          <p:cNvPr id="83" name="Rectangle 82"/>
          <p:cNvSpPr/>
          <p:nvPr/>
        </p:nvSpPr>
        <p:spPr>
          <a:xfrm>
            <a:off x="10733783" y="4219444"/>
            <a:ext cx="951082" cy="6221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FF0000"/>
                </a:solidFill>
              </a:rPr>
              <a:t>Evaluate and Record</a:t>
            </a:r>
            <a:endParaRPr lang="en-IN" sz="1400" dirty="0">
              <a:solidFill>
                <a:srgbClr val="FF0000"/>
              </a:solidFill>
            </a:endParaRPr>
          </a:p>
        </p:txBody>
      </p:sp>
      <p:sp>
        <p:nvSpPr>
          <p:cNvPr id="84" name="Rectangle 83"/>
          <p:cNvSpPr/>
          <p:nvPr/>
        </p:nvSpPr>
        <p:spPr>
          <a:xfrm>
            <a:off x="7671359" y="5697366"/>
            <a:ext cx="938312" cy="3146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FF0000"/>
                </a:solidFill>
              </a:rPr>
              <a:t>Update</a:t>
            </a:r>
            <a:endParaRPr lang="en-IN" sz="1400" dirty="0">
              <a:solidFill>
                <a:srgbClr val="FF0000"/>
              </a:solidFill>
            </a:endParaRPr>
          </a:p>
        </p:txBody>
      </p:sp>
      <p:sp>
        <p:nvSpPr>
          <p:cNvPr id="85" name="Rectangle 84"/>
          <p:cNvSpPr/>
          <p:nvPr/>
        </p:nvSpPr>
        <p:spPr>
          <a:xfrm>
            <a:off x="10066810" y="5691955"/>
            <a:ext cx="947749" cy="3146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FF0000"/>
                </a:solidFill>
              </a:rPr>
              <a:t>Synthesize</a:t>
            </a:r>
            <a:endParaRPr lang="en-IN" sz="1400" dirty="0">
              <a:solidFill>
                <a:srgbClr val="FF0000"/>
              </a:solidFill>
            </a:endParaRPr>
          </a:p>
        </p:txBody>
      </p:sp>
    </p:spTree>
    <p:extLst>
      <p:ext uri="{BB962C8B-B14F-4D97-AF65-F5344CB8AC3E}">
        <p14:creationId xmlns:p14="http://schemas.microsoft.com/office/powerpoint/2010/main" val="217167983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6866"/>
          </a:xfrm>
        </p:spPr>
        <p:txBody>
          <a:bodyPr>
            <a:normAutofit/>
          </a:bodyPr>
          <a:lstStyle/>
          <a:p>
            <a:pPr algn="ctr"/>
            <a:r>
              <a:rPr lang="en-US" sz="3200" b="1" dirty="0">
                <a:solidFill>
                  <a:srgbClr val="0000FF"/>
                </a:solidFill>
              </a:rPr>
              <a:t>Identify Key Terms (Keywords)</a:t>
            </a:r>
            <a:endParaRPr lang="en-IN" sz="3200" b="1" dirty="0">
              <a:solidFill>
                <a:srgbClr val="0000FF"/>
              </a:solidFill>
            </a:endParaRPr>
          </a:p>
        </p:txBody>
      </p:sp>
      <p:sp>
        <p:nvSpPr>
          <p:cNvPr id="3" name="Content Placeholder 2"/>
          <p:cNvSpPr>
            <a:spLocks noGrp="1"/>
          </p:cNvSpPr>
          <p:nvPr>
            <p:ph idx="1"/>
          </p:nvPr>
        </p:nvSpPr>
        <p:spPr>
          <a:xfrm>
            <a:off x="838200" y="1041992"/>
            <a:ext cx="10515600" cy="5134971"/>
          </a:xfrm>
        </p:spPr>
        <p:txBody>
          <a:bodyPr/>
          <a:lstStyle/>
          <a:p>
            <a:r>
              <a:rPr lang="en-US" dirty="0"/>
              <a:t>The words that are typed into a search box are the key to finding the most relevant articles and books. That's why they're called keywords! They need to chosen carefully for effective literature search.</a:t>
            </a:r>
          </a:p>
          <a:p>
            <a:r>
              <a:rPr lang="en-US" dirty="0"/>
              <a:t>Write a preliminary "working title" for a project with a brief description.</a:t>
            </a:r>
          </a:p>
          <a:p>
            <a:r>
              <a:rPr lang="en-US" dirty="0"/>
              <a:t>Use that to pose a short, general research question (this maybe based on your hypothesis if you already have identified one) </a:t>
            </a:r>
          </a:p>
          <a:p>
            <a:r>
              <a:rPr lang="en-US" dirty="0"/>
              <a:t>Use this to identify the keywords in the question and write down the synonyms using a thesaurus.</a:t>
            </a:r>
          </a:p>
          <a:p>
            <a:r>
              <a:rPr lang="en-US" dirty="0"/>
              <a:t>Alternatively, the keywords reported by authors in their publications maybe used</a:t>
            </a:r>
            <a:endParaRPr lang="en-IN" dirty="0"/>
          </a:p>
        </p:txBody>
      </p:sp>
    </p:spTree>
    <p:extLst>
      <p:ext uri="{BB962C8B-B14F-4D97-AF65-F5344CB8AC3E}">
        <p14:creationId xmlns:p14="http://schemas.microsoft.com/office/powerpoint/2010/main" val="23875871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28010"/>
          </a:xfrm>
        </p:spPr>
        <p:txBody>
          <a:bodyPr>
            <a:normAutofit fontScale="90000"/>
          </a:bodyPr>
          <a:lstStyle/>
          <a:p>
            <a:pPr algn="ctr"/>
            <a:r>
              <a:rPr lang="en-US" sz="3200" b="1" dirty="0">
                <a:solidFill>
                  <a:srgbClr val="0000FF"/>
                </a:solidFill>
              </a:rPr>
              <a:t>Identify Key Terms (Keywords)</a:t>
            </a:r>
            <a:endParaRPr lang="en-IN" sz="3200" dirty="0"/>
          </a:p>
        </p:txBody>
      </p:sp>
      <p:sp>
        <p:nvSpPr>
          <p:cNvPr id="3" name="Content Placeholder 2"/>
          <p:cNvSpPr>
            <a:spLocks noGrp="1"/>
          </p:cNvSpPr>
          <p:nvPr>
            <p:ph idx="1"/>
          </p:nvPr>
        </p:nvSpPr>
        <p:spPr>
          <a:xfrm>
            <a:off x="838200" y="893136"/>
            <a:ext cx="10515600" cy="5283827"/>
          </a:xfrm>
        </p:spPr>
        <p:txBody>
          <a:bodyPr>
            <a:normAutofit/>
          </a:bodyPr>
          <a:lstStyle/>
          <a:p>
            <a:pPr marL="0" indent="0">
              <a:buNone/>
            </a:pPr>
            <a:r>
              <a:rPr lang="en-US" sz="2400" dirty="0"/>
              <a:t>Let us take an example:* </a:t>
            </a:r>
          </a:p>
          <a:p>
            <a:r>
              <a:rPr lang="en-US" sz="2400" dirty="0"/>
              <a:t>Hypothesis is: "Online classes does not enhance learning by students“</a:t>
            </a:r>
          </a:p>
          <a:p>
            <a:r>
              <a:rPr lang="en-US" sz="2400" dirty="0"/>
              <a:t>Research question: "Does the use of online classes help students learn?“</a:t>
            </a:r>
          </a:p>
          <a:p>
            <a:r>
              <a:rPr lang="en-US" sz="2400" dirty="0"/>
              <a:t>Key concepts and key words: Online classes, Students and Learn</a:t>
            </a:r>
          </a:p>
          <a:p>
            <a:pPr marL="0" indent="0">
              <a:buNone/>
            </a:pPr>
            <a:endParaRPr lang="en-US" sz="2400" dirty="0"/>
          </a:p>
          <a:p>
            <a:pPr marL="0" indent="0">
              <a:buNone/>
            </a:pPr>
            <a:r>
              <a:rPr lang="en-US" sz="2400" dirty="0"/>
              <a:t>Probable synonyms that maybe used for searching are:</a:t>
            </a:r>
          </a:p>
        </p:txBody>
      </p:sp>
      <p:graphicFrame>
        <p:nvGraphicFramePr>
          <p:cNvPr id="4" name="Table 3"/>
          <p:cNvGraphicFramePr>
            <a:graphicFrameLocks noGrp="1"/>
          </p:cNvGraphicFramePr>
          <p:nvPr/>
        </p:nvGraphicFramePr>
        <p:xfrm>
          <a:off x="1965841" y="3693312"/>
          <a:ext cx="8260317" cy="2959200"/>
        </p:xfrm>
        <a:graphic>
          <a:graphicData uri="http://schemas.openxmlformats.org/drawingml/2006/table">
            <a:tbl>
              <a:tblPr firstRow="1" bandRow="1">
                <a:tableStyleId>{5C22544A-7EE6-4342-B048-85BDC9FD1C3A}</a:tableStyleId>
              </a:tblPr>
              <a:tblGrid>
                <a:gridCol w="2753439">
                  <a:extLst>
                    <a:ext uri="{9D8B030D-6E8A-4147-A177-3AD203B41FA5}">
                      <a16:colId xmlns:a16="http://schemas.microsoft.com/office/drawing/2014/main" val="2613693782"/>
                    </a:ext>
                  </a:extLst>
                </a:gridCol>
                <a:gridCol w="2753439">
                  <a:extLst>
                    <a:ext uri="{9D8B030D-6E8A-4147-A177-3AD203B41FA5}">
                      <a16:colId xmlns:a16="http://schemas.microsoft.com/office/drawing/2014/main" val="2551782990"/>
                    </a:ext>
                  </a:extLst>
                </a:gridCol>
                <a:gridCol w="2753439">
                  <a:extLst>
                    <a:ext uri="{9D8B030D-6E8A-4147-A177-3AD203B41FA5}">
                      <a16:colId xmlns:a16="http://schemas.microsoft.com/office/drawing/2014/main" val="935957493"/>
                    </a:ext>
                  </a:extLst>
                </a:gridCol>
              </a:tblGrid>
              <a:tr h="591840">
                <a:tc>
                  <a:txBody>
                    <a:bodyPr/>
                    <a:lstStyle/>
                    <a:p>
                      <a:pPr algn="ctr"/>
                      <a:r>
                        <a:rPr lang="en-US" sz="1800" dirty="0"/>
                        <a:t>Students</a:t>
                      </a:r>
                      <a:endParaRPr lang="en-IN" dirty="0"/>
                    </a:p>
                  </a:txBody>
                  <a:tcPr anchor="ctr"/>
                </a:tc>
                <a:tc>
                  <a:txBody>
                    <a:bodyPr/>
                    <a:lstStyle/>
                    <a:p>
                      <a:pPr algn="ctr"/>
                      <a:r>
                        <a:rPr lang="en-US" sz="1800" dirty="0"/>
                        <a:t>Online Classes</a:t>
                      </a:r>
                      <a:endParaRPr lang="en-IN" dirty="0"/>
                    </a:p>
                  </a:txBody>
                  <a:tcPr anchor="ctr"/>
                </a:tc>
                <a:tc>
                  <a:txBody>
                    <a:bodyPr/>
                    <a:lstStyle/>
                    <a:p>
                      <a:pPr algn="ctr"/>
                      <a:r>
                        <a:rPr lang="en-US" sz="1800" dirty="0"/>
                        <a:t>Learn</a:t>
                      </a:r>
                      <a:endParaRPr lang="en-IN" dirty="0"/>
                    </a:p>
                  </a:txBody>
                  <a:tcPr anchor="ctr"/>
                </a:tc>
                <a:extLst>
                  <a:ext uri="{0D108BD9-81ED-4DB2-BD59-A6C34878D82A}">
                    <a16:rowId xmlns:a16="http://schemas.microsoft.com/office/drawing/2014/main" val="336481281"/>
                  </a:ext>
                </a:extLst>
              </a:tr>
              <a:tr h="591840">
                <a:tc>
                  <a:txBody>
                    <a:bodyPr/>
                    <a:lstStyle/>
                    <a:p>
                      <a:pPr algn="ctr"/>
                      <a:r>
                        <a:rPr lang="en-US" sz="1800" dirty="0"/>
                        <a:t>learners</a:t>
                      </a:r>
                      <a:endParaRPr lang="en-IN" dirty="0"/>
                    </a:p>
                  </a:txBody>
                  <a:tcPr anchor="ctr"/>
                </a:tc>
                <a:tc>
                  <a:txBody>
                    <a:bodyPr/>
                    <a:lstStyle/>
                    <a:p>
                      <a:pPr algn="ctr"/>
                      <a:r>
                        <a:rPr lang="en-US" sz="1800" dirty="0"/>
                        <a:t>online course </a:t>
                      </a:r>
                      <a:endParaRPr lang="en-IN" dirty="0"/>
                    </a:p>
                  </a:txBody>
                  <a:tcPr anchor="ctr"/>
                </a:tc>
                <a:tc>
                  <a:txBody>
                    <a:bodyPr/>
                    <a:lstStyle/>
                    <a:p>
                      <a:pPr algn="ctr"/>
                      <a:r>
                        <a:rPr lang="en-US" sz="1800" dirty="0"/>
                        <a:t>Learning</a:t>
                      </a:r>
                      <a:endParaRPr lang="en-IN" dirty="0"/>
                    </a:p>
                  </a:txBody>
                  <a:tcPr anchor="ctr"/>
                </a:tc>
                <a:extLst>
                  <a:ext uri="{0D108BD9-81ED-4DB2-BD59-A6C34878D82A}">
                    <a16:rowId xmlns:a16="http://schemas.microsoft.com/office/drawing/2014/main" val="3327481981"/>
                  </a:ext>
                </a:extLst>
              </a:tr>
              <a:tr h="591840">
                <a:tc>
                  <a:txBody>
                    <a:bodyPr/>
                    <a:lstStyle/>
                    <a:p>
                      <a:pPr algn="ctr"/>
                      <a:r>
                        <a:rPr lang="en-US" sz="1800" dirty="0"/>
                        <a:t>college students </a:t>
                      </a:r>
                      <a:endParaRPr lang="en-IN" dirty="0"/>
                    </a:p>
                  </a:txBody>
                  <a:tcPr anchor="ctr"/>
                </a:tc>
                <a:tc>
                  <a:txBody>
                    <a:bodyPr/>
                    <a:lstStyle/>
                    <a:p>
                      <a:pPr algn="ctr"/>
                      <a:r>
                        <a:rPr lang="en-US" sz="1800" dirty="0"/>
                        <a:t>distance education </a:t>
                      </a:r>
                      <a:endParaRPr lang="en-IN" dirty="0"/>
                    </a:p>
                  </a:txBody>
                  <a:tcPr anchor="ctr"/>
                </a:tc>
                <a:tc>
                  <a:txBody>
                    <a:bodyPr/>
                    <a:lstStyle/>
                    <a:p>
                      <a:pPr algn="ctr"/>
                      <a:r>
                        <a:rPr lang="en-US" sz="1800" dirty="0"/>
                        <a:t>Success</a:t>
                      </a:r>
                      <a:endParaRPr lang="en-IN" dirty="0"/>
                    </a:p>
                  </a:txBody>
                  <a:tcPr anchor="ctr"/>
                </a:tc>
                <a:extLst>
                  <a:ext uri="{0D108BD9-81ED-4DB2-BD59-A6C34878D82A}">
                    <a16:rowId xmlns:a16="http://schemas.microsoft.com/office/drawing/2014/main" val="1992863854"/>
                  </a:ext>
                </a:extLst>
              </a:tr>
              <a:tr h="591840">
                <a:tc>
                  <a:txBody>
                    <a:bodyPr/>
                    <a:lstStyle/>
                    <a:p>
                      <a:pPr algn="ctr"/>
                      <a:r>
                        <a:rPr lang="en-US" sz="1800" dirty="0"/>
                        <a:t>Undergraduates</a:t>
                      </a:r>
                      <a:endParaRPr lang="en-IN" dirty="0"/>
                    </a:p>
                  </a:txBody>
                  <a:tcPr anchor="ctr"/>
                </a:tc>
                <a:tc>
                  <a:txBody>
                    <a:bodyPr/>
                    <a:lstStyle/>
                    <a:p>
                      <a:pPr algn="ctr"/>
                      <a:r>
                        <a:rPr lang="en-US" sz="1800" dirty="0"/>
                        <a:t>zoom</a:t>
                      </a:r>
                      <a:endParaRPr lang="en-IN" dirty="0"/>
                    </a:p>
                  </a:txBody>
                  <a:tcPr anchor="ctr"/>
                </a:tc>
                <a:tc>
                  <a:txBody>
                    <a:bodyPr/>
                    <a:lstStyle/>
                    <a:p>
                      <a:pPr algn="ctr"/>
                      <a:r>
                        <a:rPr lang="en-US" sz="1800" dirty="0"/>
                        <a:t>performance</a:t>
                      </a:r>
                      <a:endParaRPr lang="en-IN" dirty="0"/>
                    </a:p>
                  </a:txBody>
                  <a:tcPr anchor="ctr"/>
                </a:tc>
                <a:extLst>
                  <a:ext uri="{0D108BD9-81ED-4DB2-BD59-A6C34878D82A}">
                    <a16:rowId xmlns:a16="http://schemas.microsoft.com/office/drawing/2014/main" val="1829027533"/>
                  </a:ext>
                </a:extLst>
              </a:tr>
              <a:tr h="591840">
                <a:tc>
                  <a:txBody>
                    <a:bodyPr/>
                    <a:lstStyle/>
                    <a:p>
                      <a:pPr algn="ctr"/>
                      <a:endParaRPr lang="en-IN"/>
                    </a:p>
                  </a:txBody>
                  <a:tcPr anchor="ctr"/>
                </a:tc>
                <a:tc>
                  <a:txBody>
                    <a:bodyPr/>
                    <a:lstStyle/>
                    <a:p>
                      <a:pPr algn="ctr"/>
                      <a:r>
                        <a:rPr lang="en-US" sz="1800" dirty="0"/>
                        <a:t>google meet </a:t>
                      </a:r>
                      <a:endParaRPr lang="en-IN"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grades</a:t>
                      </a:r>
                      <a:endParaRPr lang="en-IN" sz="1800" dirty="0"/>
                    </a:p>
                  </a:txBody>
                  <a:tcPr anchor="ctr"/>
                </a:tc>
                <a:extLst>
                  <a:ext uri="{0D108BD9-81ED-4DB2-BD59-A6C34878D82A}">
                    <a16:rowId xmlns:a16="http://schemas.microsoft.com/office/drawing/2014/main" val="2869388973"/>
                  </a:ext>
                </a:extLst>
              </a:tr>
            </a:tbl>
          </a:graphicData>
        </a:graphic>
      </p:graphicFrame>
    </p:spTree>
    <p:extLst>
      <p:ext uri="{BB962C8B-B14F-4D97-AF65-F5344CB8AC3E}">
        <p14:creationId xmlns:p14="http://schemas.microsoft.com/office/powerpoint/2010/main" val="17770137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80902"/>
          </a:xfrm>
        </p:spPr>
        <p:txBody>
          <a:bodyPr>
            <a:normAutofit/>
          </a:bodyPr>
          <a:lstStyle/>
          <a:p>
            <a:pPr algn="ctr"/>
            <a:r>
              <a:rPr lang="en-IN" sz="3200" b="1" dirty="0">
                <a:solidFill>
                  <a:srgbClr val="0000FF"/>
                </a:solidFill>
              </a:rPr>
              <a:t>Locate Literature</a:t>
            </a:r>
            <a:br>
              <a:rPr lang="en-IN" sz="3200" b="1" dirty="0">
                <a:solidFill>
                  <a:srgbClr val="0000FF"/>
                </a:solidFill>
              </a:rPr>
            </a:br>
            <a:r>
              <a:rPr lang="en-IN" sz="3200" b="1" dirty="0">
                <a:solidFill>
                  <a:srgbClr val="FF0000"/>
                </a:solidFill>
              </a:rPr>
              <a:t>Public and Private Sources</a:t>
            </a:r>
            <a:endParaRPr lang="en-IN" sz="3200" dirty="0"/>
          </a:p>
        </p:txBody>
      </p:sp>
      <p:sp>
        <p:nvSpPr>
          <p:cNvPr id="3" name="Content Placeholder 2"/>
          <p:cNvSpPr>
            <a:spLocks noGrp="1"/>
          </p:cNvSpPr>
          <p:nvPr>
            <p:ph idx="1"/>
          </p:nvPr>
        </p:nvSpPr>
        <p:spPr>
          <a:xfrm>
            <a:off x="838200" y="1446028"/>
            <a:ext cx="10515600" cy="4730935"/>
          </a:xfrm>
        </p:spPr>
        <p:txBody>
          <a:bodyPr>
            <a:normAutofit fontScale="92500" lnSpcReduction="20000"/>
          </a:bodyPr>
          <a:lstStyle/>
          <a:p>
            <a:pPr marL="0" indent="0">
              <a:buNone/>
            </a:pPr>
            <a:r>
              <a:rPr lang="en-IN" dirty="0"/>
              <a:t>Public sources such as:</a:t>
            </a:r>
          </a:p>
          <a:p>
            <a:r>
              <a:rPr lang="en-US" dirty="0"/>
              <a:t>Central government departments - Defense, Energy, Science and Technology etc.</a:t>
            </a:r>
          </a:p>
          <a:p>
            <a:r>
              <a:rPr lang="en-US" dirty="0"/>
              <a:t>State and local governments - Highways, Pollution Control Board etc.</a:t>
            </a:r>
          </a:p>
          <a:p>
            <a:r>
              <a:rPr lang="en-US" dirty="0"/>
              <a:t>Universities Libraries Internet-free search engines based such as google scholar</a:t>
            </a:r>
          </a:p>
          <a:p>
            <a:pPr marL="0" indent="0">
              <a:buNone/>
            </a:pPr>
            <a:r>
              <a:rPr lang="en-US" dirty="0"/>
              <a:t>Private sources are:</a:t>
            </a:r>
          </a:p>
          <a:p>
            <a:r>
              <a:rPr lang="en-US" dirty="0"/>
              <a:t>Non-profit organizations and services - Professional societies, trade associations, membership organizations</a:t>
            </a:r>
          </a:p>
          <a:p>
            <a:r>
              <a:rPr lang="en-US" dirty="0"/>
              <a:t>Profit-oriented organizations - Manufacturers, vendors' catalogues, samples, consultants etc. </a:t>
            </a:r>
          </a:p>
          <a:p>
            <a:r>
              <a:rPr lang="en-US" dirty="0"/>
              <a:t>Individuals-Direct conversation or correspondence, personal friends, faculty</a:t>
            </a:r>
            <a:endParaRPr lang="en-IN" dirty="0"/>
          </a:p>
        </p:txBody>
      </p:sp>
    </p:spTree>
    <p:extLst>
      <p:ext uri="{BB962C8B-B14F-4D97-AF65-F5344CB8AC3E}">
        <p14:creationId xmlns:p14="http://schemas.microsoft.com/office/powerpoint/2010/main" val="170244130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80903"/>
          </a:xfrm>
        </p:spPr>
        <p:txBody>
          <a:bodyPr>
            <a:normAutofit/>
          </a:bodyPr>
          <a:lstStyle/>
          <a:p>
            <a:pPr algn="ctr"/>
            <a:r>
              <a:rPr lang="en-IN" sz="3200" b="1" dirty="0">
                <a:solidFill>
                  <a:srgbClr val="0000FF"/>
                </a:solidFill>
              </a:rPr>
              <a:t>Locate Literature </a:t>
            </a:r>
            <a:br>
              <a:rPr lang="en-IN" sz="3200" b="1" dirty="0"/>
            </a:br>
            <a:r>
              <a:rPr lang="en-IN" sz="3200" b="1" dirty="0">
                <a:solidFill>
                  <a:srgbClr val="FF0000"/>
                </a:solidFill>
              </a:rPr>
              <a:t>Online Databases - Introduction</a:t>
            </a:r>
          </a:p>
        </p:txBody>
      </p:sp>
      <p:sp>
        <p:nvSpPr>
          <p:cNvPr id="3" name="Content Placeholder 2"/>
          <p:cNvSpPr>
            <a:spLocks noGrp="1"/>
          </p:cNvSpPr>
          <p:nvPr>
            <p:ph idx="1"/>
          </p:nvPr>
        </p:nvSpPr>
        <p:spPr>
          <a:xfrm>
            <a:off x="838200" y="1446028"/>
            <a:ext cx="10515600" cy="4730935"/>
          </a:xfrm>
        </p:spPr>
        <p:txBody>
          <a:bodyPr/>
          <a:lstStyle/>
          <a:p>
            <a:pPr marL="0" indent="0">
              <a:buNone/>
            </a:pPr>
            <a:r>
              <a:rPr lang="en-US" dirty="0"/>
              <a:t>Online databases:</a:t>
            </a:r>
          </a:p>
          <a:p>
            <a:r>
              <a:rPr lang="en-US" dirty="0"/>
              <a:t>Database is a collection of records.</a:t>
            </a:r>
          </a:p>
          <a:p>
            <a:r>
              <a:rPr lang="en-US" dirty="0"/>
              <a:t>Computer database is a collection of data presented in a searchable format on computer and some of them are present online.</a:t>
            </a:r>
          </a:p>
          <a:p>
            <a:r>
              <a:rPr lang="en-US" dirty="0"/>
              <a:t>Online databases are web-based electronic indexes to locate and retrieve articles, magazines, journals and newspapers.* </a:t>
            </a:r>
          </a:p>
          <a:p>
            <a:r>
              <a:rPr lang="en-US" dirty="0"/>
              <a:t>Types of online databases</a:t>
            </a:r>
          </a:p>
          <a:p>
            <a:pPr marL="893763" indent="-361950">
              <a:buFont typeface="Wingdings" panose="05000000000000000000" pitchFamily="2" charset="2"/>
              <a:buChar char="Ø"/>
            </a:pPr>
            <a:r>
              <a:rPr lang="en-US" dirty="0"/>
              <a:t>Multidisciplinary (comprehensive) vs. subject specific</a:t>
            </a:r>
          </a:p>
          <a:p>
            <a:pPr marL="893763" indent="-361950">
              <a:buFont typeface="Wingdings" panose="05000000000000000000" pitchFamily="2" charset="2"/>
              <a:buChar char="Ø"/>
            </a:pPr>
            <a:r>
              <a:rPr lang="en-US" dirty="0"/>
              <a:t>Full text vs. citation only</a:t>
            </a:r>
            <a:endParaRPr lang="en-IN" dirty="0"/>
          </a:p>
        </p:txBody>
      </p:sp>
    </p:spTree>
    <p:extLst>
      <p:ext uri="{BB962C8B-B14F-4D97-AF65-F5344CB8AC3E}">
        <p14:creationId xmlns:p14="http://schemas.microsoft.com/office/powerpoint/2010/main" val="50880843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17108"/>
          </a:xfrm>
        </p:spPr>
        <p:txBody>
          <a:bodyPr>
            <a:normAutofit/>
          </a:bodyPr>
          <a:lstStyle/>
          <a:p>
            <a:pPr algn="ctr"/>
            <a:r>
              <a:rPr lang="en-IN" sz="3200" b="1" dirty="0">
                <a:solidFill>
                  <a:srgbClr val="0000FF"/>
                </a:solidFill>
              </a:rPr>
              <a:t>Locate Literature</a:t>
            </a:r>
            <a:br>
              <a:rPr lang="en-IN" sz="3200" b="1" dirty="0"/>
            </a:br>
            <a:r>
              <a:rPr lang="en-IN" sz="3200" b="1" dirty="0">
                <a:solidFill>
                  <a:srgbClr val="FF0000"/>
                </a:solidFill>
              </a:rPr>
              <a:t>List of Online Databases</a:t>
            </a:r>
          </a:p>
        </p:txBody>
      </p:sp>
      <p:sp>
        <p:nvSpPr>
          <p:cNvPr id="3" name="Content Placeholder 2"/>
          <p:cNvSpPr>
            <a:spLocks noGrp="1"/>
          </p:cNvSpPr>
          <p:nvPr>
            <p:ph idx="1"/>
          </p:nvPr>
        </p:nvSpPr>
        <p:spPr>
          <a:xfrm>
            <a:off x="838200" y="1382234"/>
            <a:ext cx="10515600" cy="4794729"/>
          </a:xfrm>
        </p:spPr>
        <p:txBody>
          <a:bodyPr>
            <a:normAutofit fontScale="70000" lnSpcReduction="20000"/>
          </a:bodyPr>
          <a:lstStyle/>
          <a:p>
            <a:r>
              <a:rPr lang="en-IN" dirty="0"/>
              <a:t>Some important online databases are:</a:t>
            </a:r>
          </a:p>
          <a:p>
            <a:r>
              <a:rPr lang="en-IN" dirty="0"/>
              <a:t>ERIC database-www.eric.ed.gov - US Dept. of Education</a:t>
            </a:r>
          </a:p>
          <a:p>
            <a:r>
              <a:rPr lang="en-IN" dirty="0"/>
              <a:t>Psychological abstracts-www.apa.org - Am. Psych. Assoc.</a:t>
            </a:r>
          </a:p>
          <a:p>
            <a:r>
              <a:rPr lang="en-IN" dirty="0"/>
              <a:t>EBSCO Information services - www.ebsco.com-US </a:t>
            </a:r>
            <a:r>
              <a:rPr lang="en-IN" dirty="0" err="1"/>
              <a:t>Pvt.</a:t>
            </a:r>
            <a:r>
              <a:rPr lang="en-IN" dirty="0"/>
              <a:t> Co.</a:t>
            </a:r>
          </a:p>
          <a:p>
            <a:r>
              <a:rPr lang="en-IN" dirty="0"/>
              <a:t>Web of Science - online service by </a:t>
            </a:r>
            <a:r>
              <a:rPr lang="en-IN" dirty="0" err="1"/>
              <a:t>Clarivate</a:t>
            </a:r>
            <a:r>
              <a:rPr lang="en-IN" dirty="0"/>
              <a:t> Analytics providing access to Science Citation Indexing (SCI), SCI-Expanded (SCIE),Emerging SCI (ESCI), Social SCI (SSCI)</a:t>
            </a:r>
          </a:p>
          <a:p>
            <a:r>
              <a:rPr lang="en-IN" dirty="0"/>
              <a:t>Sociological Abstracts - ProQuest, USA </a:t>
            </a:r>
          </a:p>
          <a:p>
            <a:r>
              <a:rPr lang="en-IN" dirty="0"/>
              <a:t>Dissertation Abstracts - ProQuest, USA</a:t>
            </a:r>
          </a:p>
          <a:p>
            <a:r>
              <a:rPr lang="en-IN" dirty="0"/>
              <a:t>Chemical Abstracts - 1907 to 2009 by American Chemical Society</a:t>
            </a:r>
          </a:p>
          <a:p>
            <a:r>
              <a:rPr lang="en-IN" dirty="0"/>
              <a:t>Chemical Abstract Service (CAS) - American Chemical Society</a:t>
            </a:r>
          </a:p>
          <a:p>
            <a:r>
              <a:rPr lang="en-IN" dirty="0"/>
              <a:t>Scopus - Elsevier, Netherlands</a:t>
            </a:r>
          </a:p>
          <a:p>
            <a:r>
              <a:rPr lang="en-IN" dirty="0"/>
              <a:t>PubMed Central - NIH, USA</a:t>
            </a:r>
          </a:p>
          <a:p>
            <a:r>
              <a:rPr lang="en-IN" dirty="0"/>
              <a:t>Google Scholar - Google Inc., USA</a:t>
            </a:r>
          </a:p>
          <a:p>
            <a:r>
              <a:rPr lang="en-IN" dirty="0"/>
              <a:t>Indian Citation Index-ICI, India</a:t>
            </a:r>
          </a:p>
        </p:txBody>
      </p:sp>
    </p:spTree>
    <p:extLst>
      <p:ext uri="{BB962C8B-B14F-4D97-AF65-F5344CB8AC3E}">
        <p14:creationId xmlns:p14="http://schemas.microsoft.com/office/powerpoint/2010/main" val="13654743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6866"/>
          </a:xfrm>
        </p:spPr>
        <p:txBody>
          <a:bodyPr>
            <a:normAutofit/>
          </a:bodyPr>
          <a:lstStyle/>
          <a:p>
            <a:pPr algn="ctr"/>
            <a:r>
              <a:rPr lang="en-IN" sz="3200" b="1" dirty="0">
                <a:solidFill>
                  <a:srgbClr val="0000FF"/>
                </a:solidFill>
              </a:rPr>
              <a:t>Reference Searching and Types</a:t>
            </a:r>
          </a:p>
        </p:txBody>
      </p:sp>
      <p:sp>
        <p:nvSpPr>
          <p:cNvPr id="3" name="Content Placeholder 2"/>
          <p:cNvSpPr>
            <a:spLocks noGrp="1"/>
          </p:cNvSpPr>
          <p:nvPr>
            <p:ph idx="1"/>
          </p:nvPr>
        </p:nvSpPr>
        <p:spPr>
          <a:xfrm>
            <a:off x="838200" y="1041992"/>
            <a:ext cx="10515600" cy="5134971"/>
          </a:xfrm>
        </p:spPr>
        <p:txBody>
          <a:bodyPr>
            <a:normAutofit fontScale="70000" lnSpcReduction="20000"/>
          </a:bodyPr>
          <a:lstStyle/>
          <a:p>
            <a:pPr marL="0" indent="0">
              <a:lnSpc>
                <a:spcPct val="120000"/>
              </a:lnSpc>
              <a:buNone/>
            </a:pPr>
            <a:r>
              <a:rPr lang="en-US" dirty="0"/>
              <a:t>Once a high-impact or key publications on a topic is located, the search can taken further by looking at the references or works cited In those articles. This is called reference searching and is also known by a few different terms: pearl growing, chain searching, and citation mining.</a:t>
            </a:r>
          </a:p>
          <a:p>
            <a:pPr marL="0" indent="0">
              <a:lnSpc>
                <a:spcPct val="120000"/>
              </a:lnSpc>
              <a:buNone/>
            </a:pPr>
            <a:r>
              <a:rPr lang="en-US" dirty="0"/>
              <a:t>The different types of reference searching are:</a:t>
            </a:r>
          </a:p>
          <a:p>
            <a:pPr marL="514350" indent="-514350">
              <a:lnSpc>
                <a:spcPct val="120000"/>
              </a:lnSpc>
              <a:buAutoNum type="arabicPeriod"/>
            </a:pPr>
            <a:r>
              <a:rPr lang="en-US" dirty="0"/>
              <a:t>Systematic-try to find all relevant materials using </a:t>
            </a:r>
            <a:r>
              <a:rPr lang="en-US" dirty="0">
                <a:solidFill>
                  <a:srgbClr val="FF0000"/>
                </a:solidFill>
              </a:rPr>
              <a:t>keywords</a:t>
            </a:r>
            <a:r>
              <a:rPr lang="en-US" dirty="0"/>
              <a:t>. This is discussed in detail a later section.</a:t>
            </a:r>
          </a:p>
          <a:p>
            <a:pPr marL="514350" indent="-514350">
              <a:lnSpc>
                <a:spcPct val="120000"/>
              </a:lnSpc>
              <a:buAutoNum type="arabicPeriod"/>
            </a:pPr>
            <a:r>
              <a:rPr lang="en-US" dirty="0"/>
              <a:t>Retrospective - find the most recent material and work backwards </a:t>
            </a:r>
            <a:r>
              <a:rPr lang="en-US" dirty="0">
                <a:solidFill>
                  <a:srgbClr val="FF0000"/>
                </a:solidFill>
              </a:rPr>
              <a:t>(Backward Searching or Snowball Method).</a:t>
            </a:r>
          </a:p>
          <a:p>
            <a:pPr marL="514350" indent="-514350">
              <a:lnSpc>
                <a:spcPct val="120000"/>
              </a:lnSpc>
              <a:buAutoNum type="arabicPeriod"/>
            </a:pPr>
            <a:r>
              <a:rPr lang="en-US" dirty="0"/>
              <a:t>Citation-follow up references from useful articles, book and reading lists </a:t>
            </a:r>
            <a:r>
              <a:rPr lang="en-US" dirty="0">
                <a:solidFill>
                  <a:srgbClr val="FF0000"/>
                </a:solidFill>
              </a:rPr>
              <a:t>(Forwarding Searching).</a:t>
            </a:r>
          </a:p>
          <a:p>
            <a:pPr marL="514350" indent="-514350">
              <a:lnSpc>
                <a:spcPct val="120000"/>
              </a:lnSpc>
              <a:buAutoNum type="arabicPeriod"/>
            </a:pPr>
            <a:r>
              <a:rPr lang="en-US" dirty="0"/>
              <a:t>Targeted-restrict your topic and focus on a narrow area of the literature</a:t>
            </a:r>
          </a:p>
          <a:p>
            <a:pPr marL="0" indent="0">
              <a:lnSpc>
                <a:spcPct val="120000"/>
              </a:lnSpc>
              <a:buNone/>
            </a:pPr>
            <a:r>
              <a:rPr lang="en-US" dirty="0"/>
              <a:t>The result produced at the end of a literature search is usually a list of references</a:t>
            </a:r>
            <a:endParaRPr lang="en-IN" dirty="0"/>
          </a:p>
        </p:txBody>
      </p:sp>
    </p:spTree>
    <p:extLst>
      <p:ext uri="{BB962C8B-B14F-4D97-AF65-F5344CB8AC3E}">
        <p14:creationId xmlns:p14="http://schemas.microsoft.com/office/powerpoint/2010/main" val="403458689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17108"/>
          </a:xfrm>
        </p:spPr>
        <p:txBody>
          <a:bodyPr>
            <a:normAutofit/>
          </a:bodyPr>
          <a:lstStyle/>
          <a:p>
            <a:pPr algn="ctr"/>
            <a:r>
              <a:rPr lang="en-US" sz="3200" b="1" dirty="0">
                <a:solidFill>
                  <a:srgbClr val="0000FF"/>
                </a:solidFill>
              </a:rPr>
              <a:t>Reference Searching</a:t>
            </a:r>
            <a:br>
              <a:rPr lang="en-US" sz="3200" b="1" dirty="0">
                <a:solidFill>
                  <a:srgbClr val="0000FF"/>
                </a:solidFill>
              </a:rPr>
            </a:br>
            <a:r>
              <a:rPr lang="en-US" sz="3200" b="1" dirty="0">
                <a:solidFill>
                  <a:srgbClr val="FF0000"/>
                </a:solidFill>
              </a:rPr>
              <a:t>Retrospective Type - Backward Searching</a:t>
            </a:r>
            <a:endParaRPr lang="en-IN" sz="3200" b="1" dirty="0">
              <a:solidFill>
                <a:srgbClr val="FF0000"/>
              </a:solidFill>
            </a:endParaRPr>
          </a:p>
        </p:txBody>
      </p:sp>
      <p:sp>
        <p:nvSpPr>
          <p:cNvPr id="3" name="Content Placeholder 2"/>
          <p:cNvSpPr>
            <a:spLocks noGrp="1"/>
          </p:cNvSpPr>
          <p:nvPr>
            <p:ph idx="1"/>
          </p:nvPr>
        </p:nvSpPr>
        <p:spPr>
          <a:xfrm>
            <a:off x="838200" y="1382234"/>
            <a:ext cx="10515600" cy="4794729"/>
          </a:xfrm>
        </p:spPr>
        <p:txBody>
          <a:bodyPr>
            <a:normAutofit/>
          </a:bodyPr>
          <a:lstStyle/>
          <a:p>
            <a:r>
              <a:rPr lang="en-US" sz="2000" dirty="0"/>
              <a:t>Backward reference searching, also known </a:t>
            </a:r>
          </a:p>
          <a:p>
            <a:pPr marL="0" indent="0">
              <a:buNone/>
            </a:pPr>
            <a:r>
              <a:rPr lang="en-US" sz="2000" dirty="0"/>
              <a:t>   as chain searching or snowball method, involves </a:t>
            </a:r>
          </a:p>
          <a:p>
            <a:pPr marL="0" indent="0">
              <a:buNone/>
            </a:pPr>
            <a:r>
              <a:rPr lang="en-US" sz="2000" dirty="0"/>
              <a:t>   identifying and examining the references or works</a:t>
            </a:r>
          </a:p>
          <a:p>
            <a:pPr marL="0" indent="0">
              <a:buNone/>
            </a:pPr>
            <a:r>
              <a:rPr lang="en-US" sz="2000" dirty="0"/>
              <a:t>   cited in an article. It is done for the following reasons:</a:t>
            </a:r>
          </a:p>
          <a:p>
            <a:pPr marL="893763" indent="-361950">
              <a:buFont typeface="Wingdings" panose="05000000000000000000" pitchFamily="2" charset="2"/>
              <a:buChar char="Ø"/>
            </a:pPr>
            <a:r>
              <a:rPr lang="en-US" sz="2000" dirty="0"/>
              <a:t>Learn about the development of knowledge on a topic.</a:t>
            </a:r>
          </a:p>
          <a:p>
            <a:pPr marL="893763" indent="-361950">
              <a:buFont typeface="Wingdings" panose="05000000000000000000" pitchFamily="2" charset="2"/>
              <a:buChar char="Ø"/>
            </a:pPr>
            <a:r>
              <a:rPr lang="en-US" sz="2000" dirty="0"/>
              <a:t>Study the origins and development of a theory, construct, or model of interest.</a:t>
            </a:r>
          </a:p>
          <a:p>
            <a:pPr marL="893763" indent="-361950">
              <a:buFont typeface="Wingdings" panose="05000000000000000000" pitchFamily="2" charset="2"/>
              <a:buChar char="Ø"/>
            </a:pPr>
            <a:r>
              <a:rPr lang="en-US" sz="2000" dirty="0"/>
              <a:t>Identify experts, institutions or organizations that specialize in a topic of research.</a:t>
            </a:r>
            <a:endParaRPr lang="en-IN" sz="2000" dirty="0"/>
          </a:p>
        </p:txBody>
      </p:sp>
      <p:pic>
        <p:nvPicPr>
          <p:cNvPr id="4" name="Picture 3"/>
          <p:cNvPicPr>
            <a:picLocks noChangeAspect="1"/>
          </p:cNvPicPr>
          <p:nvPr/>
        </p:nvPicPr>
        <p:blipFill>
          <a:blip r:embed="rId2"/>
          <a:stretch>
            <a:fillRect/>
          </a:stretch>
        </p:blipFill>
        <p:spPr>
          <a:xfrm>
            <a:off x="9233588" y="1509964"/>
            <a:ext cx="2120212" cy="1778755"/>
          </a:xfrm>
          <a:prstGeom prst="rect">
            <a:avLst/>
          </a:prstGeom>
        </p:spPr>
      </p:pic>
      <p:grpSp>
        <p:nvGrpSpPr>
          <p:cNvPr id="7" name="Group 6"/>
          <p:cNvGrpSpPr/>
          <p:nvPr/>
        </p:nvGrpSpPr>
        <p:grpSpPr>
          <a:xfrm>
            <a:off x="1750331" y="4274103"/>
            <a:ext cx="8764363" cy="2217490"/>
            <a:chOff x="1750331" y="4274103"/>
            <a:chExt cx="8764363" cy="2217490"/>
          </a:xfrm>
        </p:grpSpPr>
        <p:pic>
          <p:nvPicPr>
            <p:cNvPr id="5" name="Picture 4"/>
            <p:cNvPicPr>
              <a:picLocks noChangeAspect="1"/>
            </p:cNvPicPr>
            <p:nvPr/>
          </p:nvPicPr>
          <p:blipFill>
            <a:blip r:embed="rId3"/>
            <a:stretch>
              <a:fillRect/>
            </a:stretch>
          </p:blipFill>
          <p:spPr>
            <a:xfrm>
              <a:off x="1750331" y="4593264"/>
              <a:ext cx="8764363" cy="1898329"/>
            </a:xfrm>
            <a:prstGeom prst="rect">
              <a:avLst/>
            </a:prstGeom>
          </p:spPr>
        </p:pic>
        <p:pic>
          <p:nvPicPr>
            <p:cNvPr id="6" name="Picture 5"/>
            <p:cNvPicPr>
              <a:picLocks noChangeAspect="1"/>
            </p:cNvPicPr>
            <p:nvPr/>
          </p:nvPicPr>
          <p:blipFill>
            <a:blip r:embed="rId4"/>
            <a:stretch>
              <a:fillRect/>
            </a:stretch>
          </p:blipFill>
          <p:spPr>
            <a:xfrm>
              <a:off x="5719430" y="4274103"/>
              <a:ext cx="838200" cy="266700"/>
            </a:xfrm>
            <a:prstGeom prst="rect">
              <a:avLst/>
            </a:prstGeom>
          </p:spPr>
        </p:pic>
      </p:grpSp>
    </p:spTree>
    <p:extLst>
      <p:ext uri="{BB962C8B-B14F-4D97-AF65-F5344CB8AC3E}">
        <p14:creationId xmlns:p14="http://schemas.microsoft.com/office/powerpoint/2010/main" val="24166707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02167"/>
          </a:xfrm>
        </p:spPr>
        <p:txBody>
          <a:bodyPr>
            <a:normAutofit/>
          </a:bodyPr>
          <a:lstStyle/>
          <a:p>
            <a:pPr algn="ctr"/>
            <a:r>
              <a:rPr lang="en-US" sz="3200" b="1" dirty="0">
                <a:solidFill>
                  <a:srgbClr val="0000FF"/>
                </a:solidFill>
              </a:rPr>
              <a:t>Reference Searching</a:t>
            </a:r>
            <a:br>
              <a:rPr lang="en-US" sz="3200" b="1" dirty="0">
                <a:solidFill>
                  <a:srgbClr val="0000FF"/>
                </a:solidFill>
              </a:rPr>
            </a:br>
            <a:r>
              <a:rPr lang="en-US" sz="3200" b="1" dirty="0">
                <a:solidFill>
                  <a:srgbClr val="FF0000"/>
                </a:solidFill>
              </a:rPr>
              <a:t>Retrospective Type - Backward Searching</a:t>
            </a:r>
            <a:endParaRPr lang="en-IN" sz="3200" dirty="0"/>
          </a:p>
        </p:txBody>
      </p:sp>
      <p:sp>
        <p:nvSpPr>
          <p:cNvPr id="3" name="Content Placeholder 2"/>
          <p:cNvSpPr>
            <a:spLocks noGrp="1"/>
          </p:cNvSpPr>
          <p:nvPr>
            <p:ph idx="1"/>
          </p:nvPr>
        </p:nvSpPr>
        <p:spPr>
          <a:xfrm>
            <a:off x="838200" y="1467292"/>
            <a:ext cx="10515600" cy="4709671"/>
          </a:xfrm>
        </p:spPr>
        <p:txBody>
          <a:bodyPr>
            <a:normAutofit fontScale="92500" lnSpcReduction="10000"/>
          </a:bodyPr>
          <a:lstStyle/>
          <a:p>
            <a:r>
              <a:rPr lang="en-US" dirty="0"/>
              <a:t>A second-level or second-generation backward reference </a:t>
            </a:r>
          </a:p>
          <a:p>
            <a:pPr marL="0" indent="0">
              <a:buNone/>
            </a:pPr>
            <a:r>
              <a:rPr lang="en-US" dirty="0"/>
              <a:t>   search is when a researcher examines sources cited by </a:t>
            </a:r>
          </a:p>
          <a:p>
            <a:pPr marL="0" indent="0">
              <a:buNone/>
            </a:pPr>
            <a:r>
              <a:rPr lang="en-US" dirty="0"/>
              <a:t>   the references used in an initial article. This allows a </a:t>
            </a:r>
          </a:p>
          <a:p>
            <a:pPr marL="0" indent="0">
              <a:buNone/>
            </a:pPr>
            <a:r>
              <a:rPr lang="en-US" dirty="0"/>
              <a:t>   researcher to identify  inconsistencies in the </a:t>
            </a:r>
          </a:p>
          <a:p>
            <a:pPr marL="0" indent="0">
              <a:buNone/>
            </a:pPr>
            <a:r>
              <a:rPr lang="en-US" dirty="0"/>
              <a:t>   literature.</a:t>
            </a:r>
          </a:p>
          <a:p>
            <a:r>
              <a:rPr lang="en-US" dirty="0"/>
              <a:t>Third-level or third-generation searches are where the references of articles located in a second-level or second- generation reference search are examined. These searches can also go further back.</a:t>
            </a:r>
          </a:p>
          <a:p>
            <a:r>
              <a:rPr lang="en-US" dirty="0"/>
              <a:t>Backward Author Searching. The works of an author can be examined by doing a backward reference search. This allows a researcher to review an author's previous work and publications, and also the development of their research</a:t>
            </a:r>
            <a:endParaRPr lang="en-IN" dirty="0"/>
          </a:p>
        </p:txBody>
      </p:sp>
      <p:pic>
        <p:nvPicPr>
          <p:cNvPr id="4" name="Picture 3"/>
          <p:cNvPicPr>
            <a:picLocks noChangeAspect="1"/>
          </p:cNvPicPr>
          <p:nvPr/>
        </p:nvPicPr>
        <p:blipFill>
          <a:blip r:embed="rId2"/>
          <a:stretch>
            <a:fillRect/>
          </a:stretch>
        </p:blipFill>
        <p:spPr>
          <a:xfrm>
            <a:off x="8914612" y="1613733"/>
            <a:ext cx="2120212" cy="1778755"/>
          </a:xfrm>
          <a:prstGeom prst="rect">
            <a:avLst/>
          </a:prstGeom>
        </p:spPr>
      </p:pic>
    </p:spTree>
    <p:extLst>
      <p:ext uri="{BB962C8B-B14F-4D97-AF65-F5344CB8AC3E}">
        <p14:creationId xmlns:p14="http://schemas.microsoft.com/office/powerpoint/2010/main" val="275567444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38373"/>
          </a:xfrm>
        </p:spPr>
        <p:txBody>
          <a:bodyPr>
            <a:normAutofit/>
          </a:bodyPr>
          <a:lstStyle/>
          <a:p>
            <a:pPr algn="ctr"/>
            <a:r>
              <a:rPr lang="en-IN" sz="3200" b="1" dirty="0">
                <a:solidFill>
                  <a:srgbClr val="0000FF"/>
                </a:solidFill>
              </a:rPr>
              <a:t>Reference Searching</a:t>
            </a:r>
            <a:br>
              <a:rPr lang="en-IN" sz="3200" b="1" dirty="0"/>
            </a:br>
            <a:r>
              <a:rPr lang="en-IN" sz="3200" b="1" dirty="0">
                <a:solidFill>
                  <a:srgbClr val="FF0000"/>
                </a:solidFill>
              </a:rPr>
              <a:t>Citation Type-Forward Searching</a:t>
            </a:r>
          </a:p>
        </p:txBody>
      </p:sp>
      <p:sp>
        <p:nvSpPr>
          <p:cNvPr id="3" name="Content Placeholder 2"/>
          <p:cNvSpPr>
            <a:spLocks noGrp="1"/>
          </p:cNvSpPr>
          <p:nvPr>
            <p:ph idx="1"/>
          </p:nvPr>
        </p:nvSpPr>
        <p:spPr>
          <a:xfrm>
            <a:off x="838200" y="1403498"/>
            <a:ext cx="10515600" cy="4773465"/>
          </a:xfrm>
        </p:spPr>
        <p:txBody>
          <a:bodyPr>
            <a:normAutofit/>
          </a:bodyPr>
          <a:lstStyle/>
          <a:p>
            <a:r>
              <a:rPr lang="en-US" sz="2000" dirty="0">
                <a:solidFill>
                  <a:srgbClr val="FF0000"/>
                </a:solidFill>
              </a:rPr>
              <a:t>Forward reference searching </a:t>
            </a:r>
            <a:r>
              <a:rPr lang="en-US" sz="2000" dirty="0"/>
              <a:t>is when a researcher </a:t>
            </a:r>
          </a:p>
          <a:p>
            <a:pPr marL="0" indent="0">
              <a:buNone/>
            </a:pPr>
            <a:r>
              <a:rPr lang="en-US" sz="2000" dirty="0"/>
              <a:t>   identifies articles that cite an original article or </a:t>
            </a:r>
          </a:p>
          <a:p>
            <a:pPr marL="0" indent="0">
              <a:buNone/>
            </a:pPr>
            <a:r>
              <a:rPr lang="en-US" sz="2000" dirty="0"/>
              <a:t>   work after it had been published. This type of </a:t>
            </a:r>
          </a:p>
          <a:p>
            <a:pPr marL="0" indent="0">
              <a:buNone/>
            </a:pPr>
            <a:r>
              <a:rPr lang="en-US" sz="2000" dirty="0"/>
              <a:t>   search focuses on the publications created </a:t>
            </a:r>
          </a:p>
          <a:p>
            <a:pPr marL="0" indent="0">
              <a:buNone/>
            </a:pPr>
            <a:r>
              <a:rPr lang="en-US" sz="2000" dirty="0"/>
              <a:t>   after an article's publication.</a:t>
            </a:r>
          </a:p>
          <a:p>
            <a:r>
              <a:rPr lang="en-US" sz="2000" dirty="0"/>
              <a:t>Forward reference searching helps a researcher do the following:</a:t>
            </a:r>
          </a:p>
          <a:p>
            <a:pPr marL="893763" indent="-361950">
              <a:buFont typeface="Wingdings" panose="05000000000000000000" pitchFamily="2" charset="2"/>
              <a:buChar char="Ø"/>
            </a:pPr>
            <a:r>
              <a:rPr lang="en-US" sz="2000" dirty="0"/>
              <a:t>Expand their knowledge on a topic by locating follow-up studies.</a:t>
            </a:r>
          </a:p>
          <a:p>
            <a:pPr marL="893763" indent="-361950">
              <a:buFont typeface="Wingdings" panose="05000000000000000000" pitchFamily="2" charset="2"/>
              <a:buChar char="Ø"/>
            </a:pPr>
            <a:r>
              <a:rPr lang="en-US" sz="2000" dirty="0"/>
              <a:t>Identify new findings and developments on a topic</a:t>
            </a:r>
          </a:p>
          <a:p>
            <a:pPr marL="893763" indent="-361950">
              <a:buFont typeface="Wingdings" panose="05000000000000000000" pitchFamily="2" charset="2"/>
              <a:buChar char="Ø"/>
            </a:pPr>
            <a:r>
              <a:rPr lang="en-US" sz="2000" dirty="0"/>
              <a:t>Examine and consider other methodologies or analyses used to study a topic.</a:t>
            </a:r>
          </a:p>
          <a:p>
            <a:r>
              <a:rPr lang="en-US" sz="2000" dirty="0">
                <a:solidFill>
                  <a:srgbClr val="FF0000"/>
                </a:solidFill>
              </a:rPr>
              <a:t>Forward Author Searching. </a:t>
            </a:r>
            <a:r>
              <a:rPr lang="en-US" sz="2000" dirty="0"/>
              <a:t>Forward reference searching can also be done to find a particular author and his or her works. This allows a researcher to review an author's later or more current works, and also examine new developments</a:t>
            </a:r>
            <a:endParaRPr lang="en-IN" sz="2000" dirty="0"/>
          </a:p>
        </p:txBody>
      </p:sp>
      <p:pic>
        <p:nvPicPr>
          <p:cNvPr id="4" name="Picture 3"/>
          <p:cNvPicPr>
            <a:picLocks noChangeAspect="1"/>
          </p:cNvPicPr>
          <p:nvPr/>
        </p:nvPicPr>
        <p:blipFill>
          <a:blip r:embed="rId2"/>
          <a:stretch>
            <a:fillRect/>
          </a:stretch>
        </p:blipFill>
        <p:spPr>
          <a:xfrm>
            <a:off x="8708950" y="1548736"/>
            <a:ext cx="2072463" cy="2331521"/>
          </a:xfrm>
          <a:prstGeom prst="rect">
            <a:avLst/>
          </a:prstGeom>
        </p:spPr>
      </p:pic>
    </p:spTree>
    <p:extLst>
      <p:ext uri="{BB962C8B-B14F-4D97-AF65-F5344CB8AC3E}">
        <p14:creationId xmlns:p14="http://schemas.microsoft.com/office/powerpoint/2010/main" val="366841259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38033"/>
          </a:xfrm>
        </p:spPr>
        <p:txBody>
          <a:bodyPr>
            <a:normAutofit/>
          </a:bodyPr>
          <a:lstStyle/>
          <a:p>
            <a:pPr algn="ctr"/>
            <a:r>
              <a:rPr lang="en-IN" sz="3200" b="1" dirty="0">
                <a:solidFill>
                  <a:srgbClr val="0801DF"/>
                </a:solidFill>
                <a:latin typeface="Arial"/>
                <a:cs typeface="Arial"/>
              </a:rPr>
              <a:t>Review</a:t>
            </a:r>
            <a:r>
              <a:rPr lang="en-IN" sz="3200" b="1" spc="95" dirty="0">
                <a:solidFill>
                  <a:srgbClr val="0801DF"/>
                </a:solidFill>
                <a:latin typeface="Arial"/>
                <a:cs typeface="Arial"/>
              </a:rPr>
              <a:t> </a:t>
            </a:r>
            <a:r>
              <a:rPr lang="en-IN" sz="3200" b="1" spc="70" dirty="0">
                <a:solidFill>
                  <a:srgbClr val="0801DF"/>
                </a:solidFill>
                <a:latin typeface="Arial"/>
                <a:cs typeface="Arial"/>
              </a:rPr>
              <a:t>Articles</a:t>
            </a:r>
            <a:r>
              <a:rPr lang="en-IN" sz="3200" b="1" spc="-35" dirty="0">
                <a:solidFill>
                  <a:srgbClr val="0801DF"/>
                </a:solidFill>
                <a:latin typeface="Arial"/>
                <a:cs typeface="Arial"/>
              </a:rPr>
              <a:t> </a:t>
            </a:r>
            <a:r>
              <a:rPr lang="en-IN" sz="3200" b="1" spc="60" dirty="0">
                <a:solidFill>
                  <a:srgbClr val="0801DF"/>
                </a:solidFill>
                <a:latin typeface="Arial"/>
                <a:cs typeface="Arial"/>
              </a:rPr>
              <a:t>- </a:t>
            </a:r>
            <a:r>
              <a:rPr lang="en-IN" sz="3200" b="1" spc="165" dirty="0">
                <a:solidFill>
                  <a:srgbClr val="0801DF"/>
                </a:solidFill>
                <a:latin typeface="Arial"/>
                <a:cs typeface="Arial"/>
              </a:rPr>
              <a:t>Definition</a:t>
            </a:r>
            <a:endParaRPr lang="en-IN" sz="3200" b="1" dirty="0"/>
          </a:p>
        </p:txBody>
      </p:sp>
      <p:sp>
        <p:nvSpPr>
          <p:cNvPr id="3" name="Content Placeholder 2"/>
          <p:cNvSpPr>
            <a:spLocks noGrp="1"/>
          </p:cNvSpPr>
          <p:nvPr>
            <p:ph idx="1"/>
          </p:nvPr>
        </p:nvSpPr>
        <p:spPr>
          <a:xfrm>
            <a:off x="838200" y="1203158"/>
            <a:ext cx="10515600" cy="4973805"/>
          </a:xfrm>
        </p:spPr>
        <p:txBody>
          <a:bodyPr>
            <a:normAutofit fontScale="92500" lnSpcReduction="10000"/>
          </a:bodyPr>
          <a:lstStyle/>
          <a:p>
            <a:pPr marL="86360">
              <a:lnSpc>
                <a:spcPct val="100000"/>
              </a:lnSpc>
              <a:spcBef>
                <a:spcPts val="350"/>
              </a:spcBef>
            </a:pPr>
            <a:r>
              <a:rPr lang="en-US" spc="-15" dirty="0">
                <a:solidFill>
                  <a:srgbClr val="070707"/>
                </a:solidFill>
                <a:latin typeface="Arial"/>
                <a:cs typeface="Arial"/>
              </a:rPr>
              <a:t>A</a:t>
            </a:r>
            <a:r>
              <a:rPr lang="en-US" spc="-130" dirty="0">
                <a:solidFill>
                  <a:srgbClr val="070707"/>
                </a:solidFill>
                <a:latin typeface="Arial"/>
                <a:cs typeface="Arial"/>
              </a:rPr>
              <a:t> </a:t>
            </a:r>
            <a:r>
              <a:rPr lang="en-US" spc="120" dirty="0">
                <a:solidFill>
                  <a:srgbClr val="070707"/>
                </a:solidFill>
                <a:latin typeface="Arial"/>
                <a:cs typeface="Arial"/>
              </a:rPr>
              <a:t>review</a:t>
            </a:r>
            <a:r>
              <a:rPr lang="en-US" spc="20" dirty="0">
                <a:solidFill>
                  <a:srgbClr val="070707"/>
                </a:solidFill>
                <a:latin typeface="Arial"/>
                <a:cs typeface="Arial"/>
              </a:rPr>
              <a:t> </a:t>
            </a:r>
            <a:r>
              <a:rPr lang="en-US" spc="90" dirty="0">
                <a:solidFill>
                  <a:srgbClr val="070707"/>
                </a:solidFill>
                <a:latin typeface="Arial"/>
                <a:cs typeface="Arial"/>
              </a:rPr>
              <a:t>article</a:t>
            </a:r>
            <a:r>
              <a:rPr lang="en-US" spc="-60" dirty="0">
                <a:solidFill>
                  <a:srgbClr val="070707"/>
                </a:solidFill>
                <a:latin typeface="Arial"/>
                <a:cs typeface="Arial"/>
              </a:rPr>
              <a:t> </a:t>
            </a:r>
            <a:r>
              <a:rPr lang="en-US" spc="35" dirty="0">
                <a:solidFill>
                  <a:srgbClr val="070707"/>
                </a:solidFill>
                <a:latin typeface="Arial"/>
                <a:cs typeface="Arial"/>
              </a:rPr>
              <a:t>is</a:t>
            </a:r>
            <a:r>
              <a:rPr lang="en-US" spc="-185" dirty="0">
                <a:solidFill>
                  <a:srgbClr val="070707"/>
                </a:solidFill>
                <a:latin typeface="Arial"/>
                <a:cs typeface="Arial"/>
              </a:rPr>
              <a:t> </a:t>
            </a:r>
            <a:r>
              <a:rPr lang="en-US" spc="85" dirty="0">
                <a:solidFill>
                  <a:srgbClr val="070707"/>
                </a:solidFill>
                <a:latin typeface="Arial"/>
                <a:cs typeface="Arial"/>
              </a:rPr>
              <a:t>a:</a:t>
            </a:r>
            <a:endParaRPr lang="en-US" dirty="0">
              <a:latin typeface="Arial"/>
              <a:cs typeface="Arial"/>
            </a:endParaRPr>
          </a:p>
          <a:p>
            <a:pPr marL="539750" marR="486409" indent="-464184">
              <a:lnSpc>
                <a:spcPct val="114500"/>
              </a:lnSpc>
              <a:spcBef>
                <a:spcPts val="855"/>
              </a:spcBef>
              <a:tabLst>
                <a:tab pos="544830" algn="l"/>
                <a:tab pos="545465" algn="l"/>
                <a:tab pos="8047990" algn="l"/>
              </a:tabLst>
            </a:pPr>
            <a:r>
              <a:rPr lang="en-US" spc="50" dirty="0">
                <a:solidFill>
                  <a:srgbClr val="070707"/>
                </a:solidFill>
                <a:latin typeface="Arial"/>
                <a:cs typeface="Arial"/>
              </a:rPr>
              <a:t>A</a:t>
            </a:r>
            <a:r>
              <a:rPr lang="en-US" spc="10" dirty="0">
                <a:solidFill>
                  <a:srgbClr val="070707"/>
                </a:solidFill>
                <a:latin typeface="Arial"/>
                <a:cs typeface="Arial"/>
              </a:rPr>
              <a:t> </a:t>
            </a:r>
            <a:r>
              <a:rPr lang="en-US" spc="95" dirty="0">
                <a:solidFill>
                  <a:srgbClr val="070707"/>
                </a:solidFill>
                <a:latin typeface="Arial"/>
                <a:cs typeface="Arial"/>
              </a:rPr>
              <a:t>critical,</a:t>
            </a:r>
            <a:r>
              <a:rPr lang="en-US" spc="-165" dirty="0">
                <a:solidFill>
                  <a:srgbClr val="070707"/>
                </a:solidFill>
                <a:latin typeface="Arial"/>
                <a:cs typeface="Arial"/>
              </a:rPr>
              <a:t> </a:t>
            </a:r>
            <a:r>
              <a:rPr lang="en-US" spc="80" dirty="0">
                <a:solidFill>
                  <a:srgbClr val="070707"/>
                </a:solidFill>
                <a:latin typeface="Arial"/>
                <a:cs typeface="Arial"/>
              </a:rPr>
              <a:t>constructive</a:t>
            </a:r>
            <a:r>
              <a:rPr lang="en-US" spc="240" dirty="0">
                <a:solidFill>
                  <a:srgbClr val="070707"/>
                </a:solidFill>
                <a:latin typeface="Arial"/>
                <a:cs typeface="Arial"/>
              </a:rPr>
              <a:t> </a:t>
            </a:r>
            <a:r>
              <a:rPr lang="en-US" spc="-15" dirty="0">
                <a:solidFill>
                  <a:srgbClr val="070707"/>
                </a:solidFill>
                <a:latin typeface="Arial"/>
                <a:cs typeface="Arial"/>
              </a:rPr>
              <a:t>analysis</a:t>
            </a:r>
            <a:r>
              <a:rPr lang="en-US" spc="20" dirty="0">
                <a:solidFill>
                  <a:srgbClr val="070707"/>
                </a:solidFill>
                <a:latin typeface="Arial"/>
                <a:cs typeface="Arial"/>
              </a:rPr>
              <a:t> </a:t>
            </a:r>
            <a:r>
              <a:rPr lang="en-US" spc="-15" dirty="0">
                <a:solidFill>
                  <a:srgbClr val="070707"/>
                </a:solidFill>
                <a:latin typeface="Arial"/>
                <a:cs typeface="Arial"/>
              </a:rPr>
              <a:t>of</a:t>
            </a:r>
            <a:r>
              <a:rPr lang="en-US" spc="220" dirty="0">
                <a:solidFill>
                  <a:srgbClr val="070707"/>
                </a:solidFill>
                <a:latin typeface="Arial"/>
                <a:cs typeface="Arial"/>
              </a:rPr>
              <a:t> </a:t>
            </a:r>
            <a:r>
              <a:rPr lang="en-US" spc="-15" dirty="0">
                <a:solidFill>
                  <a:srgbClr val="070707"/>
                </a:solidFill>
                <a:latin typeface="Arial"/>
                <a:cs typeface="Arial"/>
              </a:rPr>
              <a:t>the </a:t>
            </a:r>
            <a:r>
              <a:rPr lang="en-US" spc="130" dirty="0">
                <a:solidFill>
                  <a:srgbClr val="070707"/>
                </a:solidFill>
                <a:latin typeface="Arial"/>
                <a:cs typeface="Arial"/>
              </a:rPr>
              <a:t>literature in </a:t>
            </a:r>
            <a:r>
              <a:rPr lang="en-US" spc="-185" dirty="0">
                <a:solidFill>
                  <a:srgbClr val="070707"/>
                </a:solidFill>
                <a:latin typeface="Arial"/>
                <a:cs typeface="Arial"/>
              </a:rPr>
              <a:t>a </a:t>
            </a:r>
            <a:r>
              <a:rPr lang="en-US" spc="-180" dirty="0">
                <a:solidFill>
                  <a:srgbClr val="070707"/>
                </a:solidFill>
                <a:latin typeface="Arial"/>
                <a:cs typeface="Arial"/>
              </a:rPr>
              <a:t> </a:t>
            </a:r>
            <a:r>
              <a:rPr lang="en-US" spc="30" dirty="0">
                <a:solidFill>
                  <a:srgbClr val="070707"/>
                </a:solidFill>
                <a:latin typeface="Arial"/>
                <a:cs typeface="Arial"/>
              </a:rPr>
              <a:t>specific</a:t>
            </a:r>
            <a:r>
              <a:rPr lang="en-US" spc="70" dirty="0">
                <a:solidFill>
                  <a:srgbClr val="070707"/>
                </a:solidFill>
                <a:latin typeface="Arial"/>
                <a:cs typeface="Arial"/>
              </a:rPr>
              <a:t> </a:t>
            </a:r>
            <a:r>
              <a:rPr lang="en-US" spc="135" dirty="0">
                <a:solidFill>
                  <a:srgbClr val="070707"/>
                </a:solidFill>
                <a:latin typeface="Arial"/>
                <a:cs typeface="Arial"/>
              </a:rPr>
              <a:t>field</a:t>
            </a:r>
            <a:r>
              <a:rPr lang="en-US" spc="-80" dirty="0">
                <a:solidFill>
                  <a:srgbClr val="070707"/>
                </a:solidFill>
                <a:latin typeface="Arial"/>
                <a:cs typeface="Arial"/>
              </a:rPr>
              <a:t> </a:t>
            </a:r>
            <a:r>
              <a:rPr lang="en-US" spc="130" dirty="0">
                <a:solidFill>
                  <a:srgbClr val="070707"/>
                </a:solidFill>
                <a:latin typeface="Arial"/>
                <a:cs typeface="Arial"/>
              </a:rPr>
              <a:t>through</a:t>
            </a:r>
            <a:r>
              <a:rPr lang="en-US" spc="-25" dirty="0">
                <a:solidFill>
                  <a:srgbClr val="070707"/>
                </a:solidFill>
                <a:latin typeface="Arial"/>
                <a:cs typeface="Arial"/>
              </a:rPr>
              <a:t> </a:t>
            </a:r>
            <a:r>
              <a:rPr lang="en-US" spc="60" dirty="0">
                <a:solidFill>
                  <a:srgbClr val="070707"/>
                </a:solidFill>
                <a:latin typeface="Arial"/>
                <a:cs typeface="Arial"/>
              </a:rPr>
              <a:t>summary, </a:t>
            </a:r>
            <a:r>
              <a:rPr lang="en-US" spc="70" dirty="0">
                <a:solidFill>
                  <a:srgbClr val="070707"/>
                </a:solidFill>
                <a:latin typeface="Arial"/>
                <a:cs typeface="Arial"/>
              </a:rPr>
              <a:t>classification,</a:t>
            </a:r>
            <a:r>
              <a:rPr lang="en-US" spc="-254" dirty="0">
                <a:solidFill>
                  <a:srgbClr val="070707"/>
                </a:solidFill>
                <a:latin typeface="Arial"/>
                <a:cs typeface="Arial"/>
              </a:rPr>
              <a:t> </a:t>
            </a:r>
            <a:r>
              <a:rPr lang="en-US" spc="-15" dirty="0">
                <a:solidFill>
                  <a:srgbClr val="070707"/>
                </a:solidFill>
                <a:latin typeface="Arial"/>
                <a:cs typeface="Arial"/>
              </a:rPr>
              <a:t>analysis, comparison.</a:t>
            </a:r>
          </a:p>
          <a:p>
            <a:pPr marL="539750" marR="486409" indent="-464184">
              <a:lnSpc>
                <a:spcPct val="114500"/>
              </a:lnSpc>
              <a:spcBef>
                <a:spcPts val="855"/>
              </a:spcBef>
              <a:tabLst>
                <a:tab pos="544830" algn="l"/>
                <a:tab pos="545465" algn="l"/>
                <a:tab pos="8047990" algn="l"/>
              </a:tabLst>
            </a:pPr>
            <a:r>
              <a:rPr lang="en-US" spc="-15" dirty="0">
                <a:solidFill>
                  <a:srgbClr val="070707"/>
                </a:solidFill>
                <a:latin typeface="Arial"/>
                <a:cs typeface="Arial"/>
              </a:rPr>
              <a:t>A </a:t>
            </a:r>
            <a:r>
              <a:rPr lang="en-US" spc="65" dirty="0">
                <a:solidFill>
                  <a:srgbClr val="070707"/>
                </a:solidFill>
                <a:latin typeface="Arial"/>
                <a:cs typeface="Arial"/>
              </a:rPr>
              <a:t>scientific </a:t>
            </a:r>
            <a:r>
              <a:rPr lang="en-US" spc="150" dirty="0">
                <a:solidFill>
                  <a:srgbClr val="070707"/>
                </a:solidFill>
                <a:latin typeface="Arial"/>
                <a:cs typeface="Arial"/>
              </a:rPr>
              <a:t>text </a:t>
            </a:r>
            <a:r>
              <a:rPr lang="en-US" spc="105" dirty="0">
                <a:solidFill>
                  <a:srgbClr val="070707"/>
                </a:solidFill>
                <a:latin typeface="Arial"/>
                <a:cs typeface="Arial"/>
              </a:rPr>
              <a:t>relying </a:t>
            </a:r>
            <a:r>
              <a:rPr lang="en-US" spc="170" dirty="0">
                <a:solidFill>
                  <a:srgbClr val="070707"/>
                </a:solidFill>
                <a:latin typeface="Arial"/>
                <a:cs typeface="Arial"/>
              </a:rPr>
              <a:t>on </a:t>
            </a:r>
            <a:r>
              <a:rPr lang="en-US" spc="60" dirty="0">
                <a:solidFill>
                  <a:srgbClr val="070707"/>
                </a:solidFill>
                <a:latin typeface="Arial"/>
                <a:cs typeface="Arial"/>
              </a:rPr>
              <a:t>previously </a:t>
            </a:r>
            <a:r>
              <a:rPr lang="en-US" spc="80" dirty="0">
                <a:solidFill>
                  <a:srgbClr val="070707"/>
                </a:solidFill>
                <a:latin typeface="Arial"/>
                <a:cs typeface="Arial"/>
              </a:rPr>
              <a:t>published </a:t>
            </a:r>
            <a:r>
              <a:rPr lang="en-US" spc="85" dirty="0">
                <a:solidFill>
                  <a:srgbClr val="070707"/>
                </a:solidFill>
                <a:latin typeface="Arial"/>
                <a:cs typeface="Arial"/>
              </a:rPr>
              <a:t> </a:t>
            </a:r>
            <a:r>
              <a:rPr lang="en-US" spc="114" dirty="0">
                <a:solidFill>
                  <a:srgbClr val="070707"/>
                </a:solidFill>
                <a:latin typeface="Arial"/>
                <a:cs typeface="Arial"/>
              </a:rPr>
              <a:t>literature </a:t>
            </a:r>
            <a:r>
              <a:rPr lang="en-US" spc="150" dirty="0">
                <a:solidFill>
                  <a:srgbClr val="070707"/>
                </a:solidFill>
                <a:latin typeface="Arial"/>
                <a:cs typeface="Arial"/>
              </a:rPr>
              <a:t>or </a:t>
            </a:r>
            <a:r>
              <a:rPr lang="en-US" spc="60" dirty="0">
                <a:solidFill>
                  <a:srgbClr val="070707"/>
                </a:solidFill>
                <a:latin typeface="Arial"/>
                <a:cs typeface="Arial"/>
              </a:rPr>
              <a:t>data. </a:t>
            </a:r>
            <a:r>
              <a:rPr lang="en-US" spc="95" dirty="0">
                <a:solidFill>
                  <a:srgbClr val="070707"/>
                </a:solidFill>
                <a:latin typeface="Arial"/>
                <a:cs typeface="Arial"/>
              </a:rPr>
              <a:t>New </a:t>
            </a:r>
            <a:r>
              <a:rPr lang="en-US" spc="50" dirty="0">
                <a:solidFill>
                  <a:srgbClr val="070707"/>
                </a:solidFill>
                <a:latin typeface="Arial"/>
                <a:cs typeface="Arial"/>
              </a:rPr>
              <a:t>data </a:t>
            </a:r>
            <a:r>
              <a:rPr lang="en-US" spc="185" dirty="0">
                <a:solidFill>
                  <a:srgbClr val="070707"/>
                </a:solidFill>
                <a:latin typeface="Arial"/>
                <a:cs typeface="Arial"/>
              </a:rPr>
              <a:t>from </a:t>
            </a:r>
            <a:r>
              <a:rPr lang="en-US" spc="175" dirty="0">
                <a:solidFill>
                  <a:srgbClr val="070707"/>
                </a:solidFill>
                <a:latin typeface="Arial"/>
                <a:cs typeface="Arial"/>
              </a:rPr>
              <a:t>the </a:t>
            </a:r>
            <a:r>
              <a:rPr lang="en-US" spc="120" dirty="0">
                <a:solidFill>
                  <a:srgbClr val="070707"/>
                </a:solidFill>
                <a:latin typeface="Arial"/>
                <a:cs typeface="Arial"/>
              </a:rPr>
              <a:t>author's </a:t>
            </a:r>
            <a:r>
              <a:rPr lang="en-US" spc="125" dirty="0">
                <a:solidFill>
                  <a:srgbClr val="070707"/>
                </a:solidFill>
                <a:latin typeface="Arial"/>
                <a:cs typeface="Arial"/>
              </a:rPr>
              <a:t> </a:t>
            </a:r>
            <a:r>
              <a:rPr lang="en-US" spc="65" dirty="0">
                <a:solidFill>
                  <a:srgbClr val="070707"/>
                </a:solidFill>
                <a:latin typeface="Arial"/>
                <a:cs typeface="Arial"/>
              </a:rPr>
              <a:t>experiments</a:t>
            </a:r>
            <a:r>
              <a:rPr lang="en-US" spc="335" dirty="0">
                <a:solidFill>
                  <a:srgbClr val="070707"/>
                </a:solidFill>
                <a:latin typeface="Arial"/>
                <a:cs typeface="Arial"/>
              </a:rPr>
              <a:t> </a:t>
            </a:r>
            <a:r>
              <a:rPr lang="en-US" spc="50" dirty="0">
                <a:solidFill>
                  <a:srgbClr val="070707"/>
                </a:solidFill>
                <a:latin typeface="Arial"/>
                <a:cs typeface="Arial"/>
              </a:rPr>
              <a:t>are</a:t>
            </a:r>
            <a:r>
              <a:rPr lang="en-US" spc="-85" dirty="0">
                <a:solidFill>
                  <a:srgbClr val="070707"/>
                </a:solidFill>
                <a:latin typeface="Arial"/>
                <a:cs typeface="Arial"/>
              </a:rPr>
              <a:t> </a:t>
            </a:r>
            <a:r>
              <a:rPr lang="en-US" spc="45" dirty="0">
                <a:solidFill>
                  <a:srgbClr val="070707"/>
                </a:solidFill>
                <a:latin typeface="Arial"/>
                <a:cs typeface="Arial"/>
              </a:rPr>
              <a:t>not	</a:t>
            </a:r>
            <a:r>
              <a:rPr lang="en-US" spc="65" dirty="0">
                <a:solidFill>
                  <a:srgbClr val="070707"/>
                </a:solidFill>
                <a:latin typeface="Arial"/>
                <a:cs typeface="Arial"/>
              </a:rPr>
              <a:t>presented</a:t>
            </a:r>
            <a:r>
              <a:rPr lang="en-US" spc="150" dirty="0">
                <a:solidFill>
                  <a:srgbClr val="070707"/>
                </a:solidFill>
                <a:latin typeface="Arial"/>
                <a:cs typeface="Arial"/>
              </a:rPr>
              <a:t> </a:t>
            </a:r>
            <a:r>
              <a:rPr lang="en-US" spc="200" dirty="0">
                <a:solidFill>
                  <a:srgbClr val="070707"/>
                </a:solidFill>
                <a:latin typeface="Arial"/>
                <a:cs typeface="Arial"/>
              </a:rPr>
              <a:t>(with</a:t>
            </a:r>
            <a:r>
              <a:rPr lang="en-US" spc="-145" dirty="0">
                <a:solidFill>
                  <a:srgbClr val="070707"/>
                </a:solidFill>
                <a:latin typeface="Arial"/>
                <a:cs typeface="Arial"/>
              </a:rPr>
              <a:t> </a:t>
            </a:r>
            <a:r>
              <a:rPr lang="en-US" spc="45" dirty="0">
                <a:solidFill>
                  <a:srgbClr val="070707"/>
                </a:solidFill>
                <a:latin typeface="Arial"/>
                <a:cs typeface="Arial"/>
              </a:rPr>
              <a:t>exceptions:</a:t>
            </a:r>
            <a:r>
              <a:rPr lang="en-US" spc="65" dirty="0">
                <a:solidFill>
                  <a:srgbClr val="070707"/>
                </a:solidFill>
                <a:latin typeface="Arial"/>
                <a:cs typeface="Arial"/>
              </a:rPr>
              <a:t> </a:t>
            </a:r>
            <a:r>
              <a:rPr lang="en-US" spc="45" dirty="0">
                <a:solidFill>
                  <a:srgbClr val="070707"/>
                </a:solidFill>
                <a:latin typeface="Arial"/>
                <a:cs typeface="Arial"/>
              </a:rPr>
              <a:t>some </a:t>
            </a:r>
            <a:r>
              <a:rPr lang="en-US" spc="-930" dirty="0">
                <a:solidFill>
                  <a:srgbClr val="070707"/>
                </a:solidFill>
                <a:latin typeface="Arial"/>
                <a:cs typeface="Arial"/>
              </a:rPr>
              <a:t> </a:t>
            </a:r>
            <a:r>
              <a:rPr lang="en-US" spc="70" dirty="0">
                <a:solidFill>
                  <a:srgbClr val="070707"/>
                </a:solidFill>
                <a:latin typeface="Arial"/>
                <a:cs typeface="Arial"/>
              </a:rPr>
              <a:t>reviews</a:t>
            </a:r>
            <a:r>
              <a:rPr lang="en-US" spc="-50" dirty="0">
                <a:solidFill>
                  <a:srgbClr val="070707"/>
                </a:solidFill>
                <a:latin typeface="Arial"/>
                <a:cs typeface="Arial"/>
              </a:rPr>
              <a:t> </a:t>
            </a:r>
            <a:r>
              <a:rPr lang="en-US" spc="95" dirty="0">
                <a:solidFill>
                  <a:srgbClr val="070707"/>
                </a:solidFill>
                <a:latin typeface="Arial"/>
                <a:cs typeface="Arial"/>
              </a:rPr>
              <a:t>contain</a:t>
            </a:r>
            <a:r>
              <a:rPr lang="en-US" spc="-55" dirty="0">
                <a:solidFill>
                  <a:srgbClr val="070707"/>
                </a:solidFill>
                <a:latin typeface="Arial"/>
                <a:cs typeface="Arial"/>
              </a:rPr>
              <a:t> </a:t>
            </a:r>
            <a:r>
              <a:rPr lang="en-US" spc="145" dirty="0">
                <a:solidFill>
                  <a:srgbClr val="070707"/>
                </a:solidFill>
                <a:latin typeface="Arial"/>
                <a:cs typeface="Arial"/>
              </a:rPr>
              <a:t>new</a:t>
            </a:r>
            <a:r>
              <a:rPr lang="en-US" spc="-5" dirty="0">
                <a:solidFill>
                  <a:srgbClr val="070707"/>
                </a:solidFill>
                <a:latin typeface="Arial"/>
                <a:cs typeface="Arial"/>
              </a:rPr>
              <a:t> </a:t>
            </a:r>
            <a:r>
              <a:rPr lang="en-US" spc="70" dirty="0">
                <a:solidFill>
                  <a:srgbClr val="070707"/>
                </a:solidFill>
                <a:latin typeface="Arial"/>
                <a:cs typeface="Arial"/>
              </a:rPr>
              <a:t>data).</a:t>
            </a:r>
            <a:endParaRPr lang="en-US" dirty="0">
              <a:latin typeface="Arial"/>
              <a:cs typeface="Arial"/>
            </a:endParaRPr>
          </a:p>
          <a:p>
            <a:pPr marL="537210" marR="81280" indent="-462280">
              <a:lnSpc>
                <a:spcPct val="114900"/>
              </a:lnSpc>
              <a:spcBef>
                <a:spcPts val="840"/>
              </a:spcBef>
              <a:tabLst>
                <a:tab pos="544830" algn="l"/>
                <a:tab pos="545465" algn="l"/>
              </a:tabLst>
            </a:pPr>
            <a:r>
              <a:rPr lang="en-US" spc="-15" dirty="0">
                <a:solidFill>
                  <a:srgbClr val="070707"/>
                </a:solidFill>
                <a:latin typeface="Arial"/>
                <a:cs typeface="Arial"/>
              </a:rPr>
              <a:t>A</a:t>
            </a:r>
            <a:r>
              <a:rPr lang="en-US" spc="-100" dirty="0">
                <a:solidFill>
                  <a:srgbClr val="070707"/>
                </a:solidFill>
                <a:latin typeface="Arial"/>
                <a:cs typeface="Arial"/>
              </a:rPr>
              <a:t> </a:t>
            </a:r>
            <a:r>
              <a:rPr lang="en-US" spc="50" dirty="0">
                <a:solidFill>
                  <a:srgbClr val="070707"/>
                </a:solidFill>
                <a:latin typeface="Arial"/>
                <a:cs typeface="Arial"/>
              </a:rPr>
              <a:t>stand-alone</a:t>
            </a:r>
            <a:r>
              <a:rPr lang="en-US" spc="240" dirty="0">
                <a:solidFill>
                  <a:srgbClr val="070707"/>
                </a:solidFill>
                <a:latin typeface="Arial"/>
                <a:cs typeface="Arial"/>
              </a:rPr>
              <a:t> </a:t>
            </a:r>
            <a:r>
              <a:rPr lang="en-US" spc="100" dirty="0">
                <a:solidFill>
                  <a:srgbClr val="070707"/>
                </a:solidFill>
                <a:latin typeface="Arial"/>
                <a:cs typeface="Arial"/>
              </a:rPr>
              <a:t>publication.</a:t>
            </a:r>
            <a:r>
              <a:rPr lang="en-US" spc="140" dirty="0">
                <a:solidFill>
                  <a:srgbClr val="070707"/>
                </a:solidFill>
                <a:latin typeface="Arial"/>
                <a:cs typeface="Arial"/>
              </a:rPr>
              <a:t> </a:t>
            </a:r>
            <a:r>
              <a:rPr lang="en-US" spc="70" dirty="0">
                <a:solidFill>
                  <a:srgbClr val="070707"/>
                </a:solidFill>
                <a:latin typeface="Arial"/>
                <a:cs typeface="Arial"/>
              </a:rPr>
              <a:t>Literature</a:t>
            </a:r>
            <a:r>
              <a:rPr lang="en-US" spc="105" dirty="0">
                <a:solidFill>
                  <a:srgbClr val="070707"/>
                </a:solidFill>
                <a:latin typeface="Arial"/>
                <a:cs typeface="Arial"/>
              </a:rPr>
              <a:t> </a:t>
            </a:r>
            <a:r>
              <a:rPr lang="en-US" spc="70" dirty="0">
                <a:solidFill>
                  <a:srgbClr val="070707"/>
                </a:solidFill>
                <a:latin typeface="Arial"/>
                <a:cs typeface="Arial"/>
              </a:rPr>
              <a:t>reviews</a:t>
            </a:r>
            <a:r>
              <a:rPr lang="en-US" spc="-25" dirty="0">
                <a:solidFill>
                  <a:srgbClr val="070707"/>
                </a:solidFill>
                <a:latin typeface="Arial"/>
                <a:cs typeface="Arial"/>
              </a:rPr>
              <a:t> </a:t>
            </a:r>
            <a:r>
              <a:rPr lang="en-US" spc="-105" dirty="0">
                <a:solidFill>
                  <a:srgbClr val="070707"/>
                </a:solidFill>
                <a:latin typeface="Arial"/>
                <a:cs typeface="Arial"/>
              </a:rPr>
              <a:t>as</a:t>
            </a:r>
            <a:r>
              <a:rPr lang="en-US" spc="-15" dirty="0">
                <a:solidFill>
                  <a:srgbClr val="070707"/>
                </a:solidFill>
                <a:latin typeface="Arial"/>
                <a:cs typeface="Arial"/>
              </a:rPr>
              <a:t> </a:t>
            </a:r>
            <a:r>
              <a:rPr lang="en-US" spc="80" dirty="0">
                <a:solidFill>
                  <a:srgbClr val="070707"/>
                </a:solidFill>
                <a:latin typeface="Arial"/>
                <a:cs typeface="Arial"/>
              </a:rPr>
              <a:t>integral </a:t>
            </a:r>
            <a:r>
              <a:rPr lang="en-US" spc="85" dirty="0">
                <a:solidFill>
                  <a:srgbClr val="070707"/>
                </a:solidFill>
                <a:latin typeface="Arial"/>
                <a:cs typeface="Arial"/>
              </a:rPr>
              <a:t> </a:t>
            </a:r>
            <a:r>
              <a:rPr lang="en-US" spc="90" dirty="0">
                <a:solidFill>
                  <a:srgbClr val="070707"/>
                </a:solidFill>
                <a:latin typeface="Arial"/>
                <a:cs typeface="Arial"/>
              </a:rPr>
              <a:t>parts </a:t>
            </a:r>
            <a:r>
              <a:rPr lang="en-US" spc="85" dirty="0">
                <a:solidFill>
                  <a:srgbClr val="070707"/>
                </a:solidFill>
                <a:latin typeface="Arial"/>
                <a:cs typeface="Arial"/>
              </a:rPr>
              <a:t>of </a:t>
            </a:r>
            <a:r>
              <a:rPr lang="en-US" spc="90" dirty="0">
                <a:solidFill>
                  <a:srgbClr val="070707"/>
                </a:solidFill>
                <a:latin typeface="Arial"/>
                <a:cs typeface="Arial"/>
              </a:rPr>
              <a:t>master </a:t>
            </a:r>
            <a:r>
              <a:rPr lang="en-US" spc="30" dirty="0">
                <a:solidFill>
                  <a:srgbClr val="070707"/>
                </a:solidFill>
                <a:latin typeface="Arial"/>
                <a:cs typeface="Arial"/>
              </a:rPr>
              <a:t>theses, </a:t>
            </a:r>
            <a:r>
              <a:rPr lang="en-US" spc="90" dirty="0">
                <a:solidFill>
                  <a:srgbClr val="070707"/>
                </a:solidFill>
                <a:latin typeface="Arial"/>
                <a:cs typeface="Arial"/>
              </a:rPr>
              <a:t>doctoral </a:t>
            </a:r>
            <a:r>
              <a:rPr lang="en-US" spc="15" dirty="0">
                <a:solidFill>
                  <a:srgbClr val="070707"/>
                </a:solidFill>
                <a:latin typeface="Arial"/>
                <a:cs typeface="Arial"/>
              </a:rPr>
              <a:t>theses </a:t>
            </a:r>
            <a:r>
              <a:rPr lang="en-US" spc="150" dirty="0">
                <a:solidFill>
                  <a:srgbClr val="070707"/>
                </a:solidFill>
                <a:latin typeface="Arial"/>
                <a:cs typeface="Arial"/>
              </a:rPr>
              <a:t>or </a:t>
            </a:r>
            <a:r>
              <a:rPr lang="en-US" spc="90" dirty="0">
                <a:solidFill>
                  <a:srgbClr val="070707"/>
                </a:solidFill>
                <a:latin typeface="Arial"/>
                <a:cs typeface="Arial"/>
              </a:rPr>
              <a:t>grant </a:t>
            </a:r>
            <a:r>
              <a:rPr lang="en-US" spc="95" dirty="0">
                <a:solidFill>
                  <a:srgbClr val="070707"/>
                </a:solidFill>
                <a:latin typeface="Arial"/>
                <a:cs typeface="Arial"/>
              </a:rPr>
              <a:t> </a:t>
            </a:r>
            <a:r>
              <a:rPr lang="en-US" spc="30" dirty="0">
                <a:solidFill>
                  <a:srgbClr val="070707"/>
                </a:solidFill>
                <a:latin typeface="Arial"/>
                <a:cs typeface="Arial"/>
              </a:rPr>
              <a:t>proposals </a:t>
            </a:r>
            <a:r>
              <a:rPr lang="en-US" spc="140" dirty="0">
                <a:solidFill>
                  <a:srgbClr val="070707"/>
                </a:solidFill>
                <a:latin typeface="Arial"/>
                <a:cs typeface="Arial"/>
              </a:rPr>
              <a:t>will </a:t>
            </a:r>
            <a:r>
              <a:rPr lang="en-US" spc="190" dirty="0">
                <a:solidFill>
                  <a:srgbClr val="070707"/>
                </a:solidFill>
                <a:latin typeface="Arial"/>
                <a:cs typeface="Arial"/>
              </a:rPr>
              <a:t>not </a:t>
            </a:r>
            <a:r>
              <a:rPr lang="en-US" spc="114" dirty="0">
                <a:solidFill>
                  <a:srgbClr val="070707"/>
                </a:solidFill>
                <a:latin typeface="Arial"/>
                <a:cs typeface="Arial"/>
              </a:rPr>
              <a:t>be </a:t>
            </a:r>
            <a:r>
              <a:rPr lang="en-US" spc="55" dirty="0">
                <a:solidFill>
                  <a:srgbClr val="070707"/>
                </a:solidFill>
                <a:latin typeface="Arial"/>
                <a:cs typeface="Arial"/>
              </a:rPr>
              <a:t>considered </a:t>
            </a:r>
            <a:r>
              <a:rPr lang="en-US" spc="90" dirty="0">
                <a:solidFill>
                  <a:srgbClr val="070707"/>
                </a:solidFill>
                <a:latin typeface="Arial"/>
                <a:cs typeface="Arial"/>
              </a:rPr>
              <a:t>here. </a:t>
            </a:r>
            <a:r>
              <a:rPr lang="en-US" spc="35" dirty="0">
                <a:solidFill>
                  <a:srgbClr val="070707"/>
                </a:solidFill>
                <a:latin typeface="Arial"/>
                <a:cs typeface="Arial"/>
              </a:rPr>
              <a:t>However, </a:t>
            </a:r>
            <a:r>
              <a:rPr lang="en-US" spc="65" dirty="0">
                <a:solidFill>
                  <a:srgbClr val="070707"/>
                </a:solidFill>
                <a:latin typeface="Arial"/>
                <a:cs typeface="Arial"/>
              </a:rPr>
              <a:t>many </a:t>
            </a:r>
            <a:r>
              <a:rPr lang="en-US" spc="70" dirty="0">
                <a:solidFill>
                  <a:srgbClr val="070707"/>
                </a:solidFill>
                <a:latin typeface="Arial"/>
                <a:cs typeface="Arial"/>
              </a:rPr>
              <a:t> </a:t>
            </a:r>
            <a:r>
              <a:rPr lang="en-US" spc="130" dirty="0">
                <a:solidFill>
                  <a:srgbClr val="070707"/>
                </a:solidFill>
                <a:latin typeface="Arial"/>
                <a:cs typeface="Arial"/>
              </a:rPr>
              <a:t>tips</a:t>
            </a:r>
            <a:r>
              <a:rPr lang="en-US" spc="-125" dirty="0">
                <a:solidFill>
                  <a:srgbClr val="070707"/>
                </a:solidFill>
                <a:latin typeface="Arial"/>
                <a:cs typeface="Arial"/>
              </a:rPr>
              <a:t> </a:t>
            </a:r>
            <a:r>
              <a:rPr lang="en-US" spc="130" dirty="0">
                <a:solidFill>
                  <a:srgbClr val="070707"/>
                </a:solidFill>
                <a:latin typeface="Arial"/>
                <a:cs typeface="Arial"/>
              </a:rPr>
              <a:t>in</a:t>
            </a:r>
            <a:r>
              <a:rPr lang="en-US" spc="-85" dirty="0">
                <a:solidFill>
                  <a:srgbClr val="070707"/>
                </a:solidFill>
                <a:latin typeface="Arial"/>
                <a:cs typeface="Arial"/>
              </a:rPr>
              <a:t> </a:t>
            </a:r>
            <a:r>
              <a:rPr lang="en-US" spc="130" dirty="0">
                <a:solidFill>
                  <a:srgbClr val="070707"/>
                </a:solidFill>
                <a:latin typeface="Arial"/>
                <a:cs typeface="Arial"/>
              </a:rPr>
              <a:t>this</a:t>
            </a:r>
            <a:r>
              <a:rPr lang="en-US" spc="-110" dirty="0">
                <a:solidFill>
                  <a:srgbClr val="070707"/>
                </a:solidFill>
                <a:latin typeface="Arial"/>
                <a:cs typeface="Arial"/>
              </a:rPr>
              <a:t> </a:t>
            </a:r>
            <a:r>
              <a:rPr lang="en-US" spc="75" dirty="0">
                <a:solidFill>
                  <a:srgbClr val="070707"/>
                </a:solidFill>
                <a:latin typeface="Arial"/>
                <a:cs typeface="Arial"/>
              </a:rPr>
              <a:t>guideline</a:t>
            </a:r>
            <a:r>
              <a:rPr lang="en-US" spc="55" dirty="0">
                <a:solidFill>
                  <a:srgbClr val="070707"/>
                </a:solidFill>
                <a:latin typeface="Arial"/>
                <a:cs typeface="Arial"/>
              </a:rPr>
              <a:t> </a:t>
            </a:r>
            <a:r>
              <a:rPr lang="en-US" spc="50" dirty="0">
                <a:solidFill>
                  <a:srgbClr val="070707"/>
                </a:solidFill>
                <a:latin typeface="Arial"/>
                <a:cs typeface="Arial"/>
              </a:rPr>
              <a:t>are</a:t>
            </a:r>
            <a:r>
              <a:rPr lang="en-US" spc="-35" dirty="0">
                <a:solidFill>
                  <a:srgbClr val="070707"/>
                </a:solidFill>
                <a:latin typeface="Arial"/>
                <a:cs typeface="Arial"/>
              </a:rPr>
              <a:t> </a:t>
            </a:r>
            <a:r>
              <a:rPr lang="en-US" spc="60" dirty="0">
                <a:solidFill>
                  <a:srgbClr val="070707"/>
                </a:solidFill>
                <a:latin typeface="Arial"/>
                <a:cs typeface="Arial"/>
              </a:rPr>
              <a:t>transferable</a:t>
            </a:r>
            <a:r>
              <a:rPr lang="en-US" spc="114" dirty="0">
                <a:solidFill>
                  <a:srgbClr val="070707"/>
                </a:solidFill>
                <a:latin typeface="Arial"/>
                <a:cs typeface="Arial"/>
              </a:rPr>
              <a:t> </a:t>
            </a:r>
            <a:r>
              <a:rPr lang="en-US" spc="55" dirty="0">
                <a:solidFill>
                  <a:srgbClr val="070707"/>
                </a:solidFill>
                <a:latin typeface="Arial"/>
                <a:cs typeface="Arial"/>
              </a:rPr>
              <a:t>to</a:t>
            </a:r>
            <a:r>
              <a:rPr lang="en-US" spc="310" dirty="0">
                <a:solidFill>
                  <a:srgbClr val="070707"/>
                </a:solidFill>
                <a:latin typeface="Arial"/>
                <a:cs typeface="Arial"/>
              </a:rPr>
              <a:t> </a:t>
            </a:r>
            <a:r>
              <a:rPr lang="en-US" spc="65" dirty="0">
                <a:solidFill>
                  <a:srgbClr val="070707"/>
                </a:solidFill>
                <a:latin typeface="Arial"/>
                <a:cs typeface="Arial"/>
              </a:rPr>
              <a:t>these</a:t>
            </a:r>
            <a:r>
              <a:rPr lang="en-US" spc="20" dirty="0">
                <a:solidFill>
                  <a:srgbClr val="070707"/>
                </a:solidFill>
                <a:latin typeface="Arial"/>
                <a:cs typeface="Arial"/>
              </a:rPr>
              <a:t> </a:t>
            </a:r>
            <a:r>
              <a:rPr lang="en-US" spc="150" dirty="0">
                <a:solidFill>
                  <a:srgbClr val="070707"/>
                </a:solidFill>
                <a:latin typeface="Arial"/>
                <a:cs typeface="Arial"/>
              </a:rPr>
              <a:t>text</a:t>
            </a:r>
            <a:r>
              <a:rPr lang="en-US" spc="-15" dirty="0">
                <a:solidFill>
                  <a:srgbClr val="070707"/>
                </a:solidFill>
                <a:latin typeface="Arial"/>
                <a:cs typeface="Arial"/>
              </a:rPr>
              <a:t> </a:t>
            </a:r>
            <a:r>
              <a:rPr lang="en-US" spc="75" dirty="0">
                <a:solidFill>
                  <a:srgbClr val="070707"/>
                </a:solidFill>
                <a:latin typeface="Arial"/>
                <a:cs typeface="Arial"/>
              </a:rPr>
              <a:t>types.</a:t>
            </a:r>
            <a:endParaRPr lang="en-US" dirty="0">
              <a:latin typeface="Arial"/>
              <a:cs typeface="Arial"/>
            </a:endParaRPr>
          </a:p>
          <a:p>
            <a:endParaRPr lang="en-IN" dirty="0"/>
          </a:p>
        </p:txBody>
      </p:sp>
    </p:spTree>
    <p:extLst>
      <p:ext uri="{BB962C8B-B14F-4D97-AF65-F5344CB8AC3E}">
        <p14:creationId xmlns:p14="http://schemas.microsoft.com/office/powerpoint/2010/main" val="348319873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9591"/>
          </a:xfrm>
        </p:spPr>
        <p:txBody>
          <a:bodyPr>
            <a:normAutofit/>
          </a:bodyPr>
          <a:lstStyle/>
          <a:p>
            <a:pPr algn="ctr"/>
            <a:r>
              <a:rPr lang="en-IN" sz="3200" b="1" spc="65" dirty="0">
                <a:solidFill>
                  <a:srgbClr val="0801DF"/>
                </a:solidFill>
                <a:latin typeface="Arial"/>
                <a:cs typeface="Arial"/>
              </a:rPr>
              <a:t>Revie</a:t>
            </a:r>
            <a:r>
              <a:rPr lang="en-IN" sz="3200" b="1" spc="100" dirty="0">
                <a:solidFill>
                  <a:srgbClr val="0801DF"/>
                </a:solidFill>
                <a:latin typeface="Arial"/>
                <a:cs typeface="Arial"/>
              </a:rPr>
              <a:t>w</a:t>
            </a:r>
            <a:r>
              <a:rPr lang="en-IN" sz="3200" b="1" spc="295" dirty="0">
                <a:solidFill>
                  <a:srgbClr val="0801DF"/>
                </a:solidFill>
                <a:latin typeface="Arial"/>
                <a:cs typeface="Arial"/>
              </a:rPr>
              <a:t> </a:t>
            </a:r>
            <a:r>
              <a:rPr lang="en-IN" sz="3200" b="1" spc="130" dirty="0">
                <a:solidFill>
                  <a:srgbClr val="0801DF"/>
                </a:solidFill>
                <a:latin typeface="Arial"/>
                <a:cs typeface="Arial"/>
              </a:rPr>
              <a:t>Article</a:t>
            </a:r>
            <a:r>
              <a:rPr lang="en-IN" sz="3200" b="1" spc="175" dirty="0">
                <a:solidFill>
                  <a:srgbClr val="0801DF"/>
                </a:solidFill>
                <a:latin typeface="Arial"/>
                <a:cs typeface="Arial"/>
              </a:rPr>
              <a:t>s</a:t>
            </a:r>
            <a:r>
              <a:rPr lang="en-IN" sz="3200" b="1" spc="-140" dirty="0">
                <a:solidFill>
                  <a:srgbClr val="0801DF"/>
                </a:solidFill>
                <a:latin typeface="Arial"/>
                <a:cs typeface="Arial"/>
              </a:rPr>
              <a:t> </a:t>
            </a:r>
            <a:r>
              <a:rPr lang="en-IN" sz="3200" b="1" spc="114" dirty="0">
                <a:solidFill>
                  <a:srgbClr val="0801DF"/>
                </a:solidFill>
                <a:latin typeface="Arial"/>
                <a:cs typeface="Arial"/>
              </a:rPr>
              <a:t>-</a:t>
            </a:r>
            <a:r>
              <a:rPr lang="en-IN" sz="3200" b="1" dirty="0">
                <a:solidFill>
                  <a:srgbClr val="0801DF"/>
                </a:solidFill>
                <a:latin typeface="Arial"/>
                <a:cs typeface="Arial"/>
              </a:rPr>
              <a:t> </a:t>
            </a:r>
            <a:r>
              <a:rPr lang="en-IN" sz="3200" b="1" spc="65" dirty="0">
                <a:solidFill>
                  <a:srgbClr val="0801DF"/>
                </a:solidFill>
                <a:latin typeface="Arial"/>
                <a:cs typeface="Arial"/>
              </a:rPr>
              <a:t>Function and Audience</a:t>
            </a:r>
          </a:p>
        </p:txBody>
      </p:sp>
      <p:sp>
        <p:nvSpPr>
          <p:cNvPr id="3" name="Content Placeholder 2"/>
          <p:cNvSpPr>
            <a:spLocks noGrp="1"/>
          </p:cNvSpPr>
          <p:nvPr>
            <p:ph idx="1"/>
          </p:nvPr>
        </p:nvSpPr>
        <p:spPr>
          <a:xfrm>
            <a:off x="838200" y="1227221"/>
            <a:ext cx="10515600" cy="4949742"/>
          </a:xfrm>
        </p:spPr>
        <p:txBody>
          <a:bodyPr>
            <a:normAutofit/>
          </a:bodyPr>
          <a:lstStyle/>
          <a:p>
            <a:pPr marL="0" indent="0">
              <a:lnSpc>
                <a:spcPct val="100000"/>
              </a:lnSpc>
              <a:spcBef>
                <a:spcPts val="1600"/>
              </a:spcBef>
              <a:buNone/>
            </a:pPr>
            <a:r>
              <a:rPr lang="en-US" sz="2000" spc="40" dirty="0">
                <a:solidFill>
                  <a:srgbClr val="070707"/>
                </a:solidFill>
                <a:latin typeface="Arial"/>
                <a:cs typeface="Arial"/>
              </a:rPr>
              <a:t>The</a:t>
            </a:r>
            <a:r>
              <a:rPr lang="en-US" sz="2000" spc="30" dirty="0">
                <a:solidFill>
                  <a:srgbClr val="070707"/>
                </a:solidFill>
                <a:latin typeface="Arial"/>
                <a:cs typeface="Arial"/>
              </a:rPr>
              <a:t> </a:t>
            </a:r>
            <a:r>
              <a:rPr lang="en-US" sz="2000" spc="160" dirty="0">
                <a:solidFill>
                  <a:srgbClr val="070707"/>
                </a:solidFill>
                <a:latin typeface="Arial"/>
                <a:cs typeface="Arial"/>
              </a:rPr>
              <a:t>function</a:t>
            </a:r>
            <a:r>
              <a:rPr lang="en-US" sz="2000" spc="85" dirty="0">
                <a:solidFill>
                  <a:srgbClr val="070707"/>
                </a:solidFill>
                <a:latin typeface="Arial"/>
                <a:cs typeface="Arial"/>
              </a:rPr>
              <a:t> </a:t>
            </a:r>
            <a:r>
              <a:rPr lang="en-US" sz="2000" spc="155" dirty="0">
                <a:solidFill>
                  <a:srgbClr val="070707"/>
                </a:solidFill>
                <a:latin typeface="Arial"/>
                <a:cs typeface="Arial"/>
              </a:rPr>
              <a:t>of</a:t>
            </a:r>
            <a:r>
              <a:rPr lang="en-US" sz="2000" spc="60" dirty="0">
                <a:solidFill>
                  <a:srgbClr val="070707"/>
                </a:solidFill>
                <a:latin typeface="Arial"/>
                <a:cs typeface="Arial"/>
              </a:rPr>
              <a:t> </a:t>
            </a:r>
            <a:r>
              <a:rPr lang="en-US" sz="2000" spc="-145" dirty="0">
                <a:solidFill>
                  <a:srgbClr val="070707"/>
                </a:solidFill>
                <a:latin typeface="Arial"/>
                <a:cs typeface="Arial"/>
              </a:rPr>
              <a:t>a</a:t>
            </a:r>
            <a:r>
              <a:rPr lang="en-US" sz="2000" spc="60" dirty="0">
                <a:solidFill>
                  <a:srgbClr val="070707"/>
                </a:solidFill>
                <a:latin typeface="Arial"/>
                <a:cs typeface="Arial"/>
              </a:rPr>
              <a:t> </a:t>
            </a:r>
            <a:r>
              <a:rPr lang="en-US" sz="2000" spc="114" dirty="0">
                <a:solidFill>
                  <a:srgbClr val="070707"/>
                </a:solidFill>
                <a:latin typeface="Arial"/>
                <a:cs typeface="Arial"/>
              </a:rPr>
              <a:t>review</a:t>
            </a:r>
            <a:r>
              <a:rPr lang="en-US" sz="2000" spc="105" dirty="0">
                <a:solidFill>
                  <a:srgbClr val="070707"/>
                </a:solidFill>
                <a:latin typeface="Arial"/>
                <a:cs typeface="Arial"/>
              </a:rPr>
              <a:t> </a:t>
            </a:r>
            <a:r>
              <a:rPr lang="en-US" sz="2000" spc="125" dirty="0">
                <a:solidFill>
                  <a:srgbClr val="070707"/>
                </a:solidFill>
                <a:latin typeface="Arial"/>
                <a:cs typeface="Arial"/>
              </a:rPr>
              <a:t>article</a:t>
            </a:r>
            <a:r>
              <a:rPr lang="en-US" sz="2000" spc="-55" dirty="0">
                <a:solidFill>
                  <a:srgbClr val="070707"/>
                </a:solidFill>
                <a:latin typeface="Arial"/>
                <a:cs typeface="Arial"/>
              </a:rPr>
              <a:t> </a:t>
            </a:r>
            <a:r>
              <a:rPr lang="en-US" sz="2000" spc="-15" dirty="0">
                <a:solidFill>
                  <a:srgbClr val="070707"/>
                </a:solidFill>
                <a:latin typeface="Arial"/>
                <a:cs typeface="Arial"/>
              </a:rPr>
              <a:t>is</a:t>
            </a:r>
            <a:r>
              <a:rPr lang="en-US" sz="2000" spc="-55" dirty="0">
                <a:solidFill>
                  <a:srgbClr val="070707"/>
                </a:solidFill>
                <a:latin typeface="Arial"/>
                <a:cs typeface="Arial"/>
              </a:rPr>
              <a:t> </a:t>
            </a:r>
            <a:r>
              <a:rPr lang="en-US" sz="2000" spc="-15" dirty="0">
                <a:solidFill>
                  <a:srgbClr val="070707"/>
                </a:solidFill>
                <a:latin typeface="Arial"/>
                <a:cs typeface="Arial"/>
              </a:rPr>
              <a:t>to:</a:t>
            </a:r>
            <a:endParaRPr lang="en-US" sz="2000" dirty="0">
              <a:latin typeface="Arial"/>
              <a:cs typeface="Arial"/>
            </a:endParaRPr>
          </a:p>
          <a:p>
            <a:pPr marL="914400" lvl="1" indent="-457200">
              <a:lnSpc>
                <a:spcPct val="100000"/>
              </a:lnSpc>
              <a:spcBef>
                <a:spcPts val="1600"/>
              </a:spcBef>
              <a:tabLst>
                <a:tab pos="360363" algn="l"/>
                <a:tab pos="396875" algn="l"/>
              </a:tabLst>
            </a:pPr>
            <a:r>
              <a:rPr lang="en-US" sz="2000" dirty="0">
                <a:solidFill>
                  <a:srgbClr val="070707"/>
                </a:solidFill>
                <a:latin typeface="Arial"/>
                <a:cs typeface="Arial"/>
              </a:rPr>
              <a:t>Organize</a:t>
            </a:r>
            <a:r>
              <a:rPr lang="en-US" sz="2000" spc="229" dirty="0">
                <a:solidFill>
                  <a:srgbClr val="070707"/>
                </a:solidFill>
                <a:latin typeface="Arial"/>
                <a:cs typeface="Arial"/>
              </a:rPr>
              <a:t> </a:t>
            </a:r>
            <a:r>
              <a:rPr lang="en-US" sz="2000" spc="95" dirty="0">
                <a:solidFill>
                  <a:srgbClr val="070707"/>
                </a:solidFill>
                <a:latin typeface="Arial"/>
                <a:cs typeface="Arial"/>
              </a:rPr>
              <a:t>and</a:t>
            </a:r>
            <a:r>
              <a:rPr lang="en-US" sz="2000" spc="-5" dirty="0">
                <a:solidFill>
                  <a:srgbClr val="070707"/>
                </a:solidFill>
                <a:latin typeface="Arial"/>
                <a:cs typeface="Arial"/>
              </a:rPr>
              <a:t> </a:t>
            </a:r>
            <a:r>
              <a:rPr lang="en-US" sz="2000" spc="60" dirty="0">
                <a:solidFill>
                  <a:srgbClr val="070707"/>
                </a:solidFill>
                <a:latin typeface="Arial"/>
                <a:cs typeface="Arial"/>
              </a:rPr>
              <a:t>evaluate</a:t>
            </a:r>
            <a:r>
              <a:rPr lang="en-US" sz="2000" spc="105" dirty="0">
                <a:solidFill>
                  <a:srgbClr val="070707"/>
                </a:solidFill>
                <a:latin typeface="Arial"/>
                <a:cs typeface="Arial"/>
              </a:rPr>
              <a:t> </a:t>
            </a:r>
            <a:r>
              <a:rPr lang="en-US" sz="2000" spc="140" dirty="0">
                <a:solidFill>
                  <a:srgbClr val="070707"/>
                </a:solidFill>
                <a:latin typeface="Arial"/>
                <a:cs typeface="Arial"/>
              </a:rPr>
              <a:t>literature</a:t>
            </a:r>
            <a:endParaRPr lang="en-US" sz="2000" dirty="0">
              <a:latin typeface="Arial"/>
              <a:cs typeface="Arial"/>
            </a:endParaRPr>
          </a:p>
          <a:p>
            <a:pPr marL="926465" lvl="1" indent="-457200">
              <a:lnSpc>
                <a:spcPct val="100000"/>
              </a:lnSpc>
              <a:spcBef>
                <a:spcPts val="1505"/>
              </a:spcBef>
              <a:tabLst>
                <a:tab pos="360363" algn="l"/>
                <a:tab pos="396875" algn="l"/>
              </a:tabLst>
            </a:pPr>
            <a:r>
              <a:rPr lang="en-US" sz="2000" spc="160" dirty="0">
                <a:solidFill>
                  <a:srgbClr val="070707"/>
                </a:solidFill>
                <a:latin typeface="Arial"/>
                <a:cs typeface="Arial"/>
              </a:rPr>
              <a:t>Identify</a:t>
            </a:r>
            <a:r>
              <a:rPr lang="en-US" sz="2000" spc="-15" dirty="0">
                <a:solidFill>
                  <a:srgbClr val="070707"/>
                </a:solidFill>
                <a:latin typeface="Arial"/>
                <a:cs typeface="Arial"/>
              </a:rPr>
              <a:t> </a:t>
            </a:r>
            <a:r>
              <a:rPr lang="en-US" sz="2000" spc="120" dirty="0">
                <a:solidFill>
                  <a:srgbClr val="070707"/>
                </a:solidFill>
                <a:latin typeface="Arial"/>
                <a:cs typeface="Arial"/>
              </a:rPr>
              <a:t>landmark</a:t>
            </a:r>
            <a:r>
              <a:rPr lang="en-US" sz="2000" spc="125" dirty="0">
                <a:solidFill>
                  <a:srgbClr val="070707"/>
                </a:solidFill>
                <a:latin typeface="Arial"/>
                <a:cs typeface="Arial"/>
              </a:rPr>
              <a:t> </a:t>
            </a:r>
            <a:r>
              <a:rPr lang="en-US" sz="2000" spc="65" dirty="0">
                <a:solidFill>
                  <a:srgbClr val="070707"/>
                </a:solidFill>
                <a:latin typeface="Arial"/>
                <a:cs typeface="Arial"/>
              </a:rPr>
              <a:t>events</a:t>
            </a:r>
            <a:r>
              <a:rPr lang="en-US" sz="2000" spc="10" dirty="0">
                <a:solidFill>
                  <a:srgbClr val="070707"/>
                </a:solidFill>
                <a:latin typeface="Arial"/>
                <a:cs typeface="Arial"/>
              </a:rPr>
              <a:t> </a:t>
            </a:r>
            <a:r>
              <a:rPr lang="en-US" sz="2000" spc="50" dirty="0">
                <a:solidFill>
                  <a:srgbClr val="070707"/>
                </a:solidFill>
                <a:latin typeface="Arial"/>
                <a:cs typeface="Arial"/>
              </a:rPr>
              <a:t>in</a:t>
            </a:r>
            <a:r>
              <a:rPr lang="en-US" sz="2000" spc="120" dirty="0">
                <a:solidFill>
                  <a:srgbClr val="070707"/>
                </a:solidFill>
                <a:latin typeface="Arial"/>
                <a:cs typeface="Arial"/>
              </a:rPr>
              <a:t> </a:t>
            </a:r>
            <a:r>
              <a:rPr lang="en-US" sz="2000" spc="60" dirty="0">
                <a:solidFill>
                  <a:srgbClr val="070707"/>
                </a:solidFill>
                <a:latin typeface="Arial"/>
                <a:cs typeface="Arial"/>
              </a:rPr>
              <a:t>the</a:t>
            </a:r>
            <a:r>
              <a:rPr lang="en-US" sz="2000" spc="459" dirty="0">
                <a:solidFill>
                  <a:srgbClr val="070707"/>
                </a:solidFill>
                <a:latin typeface="Arial"/>
                <a:cs typeface="Arial"/>
              </a:rPr>
              <a:t> </a:t>
            </a:r>
            <a:r>
              <a:rPr lang="en-US" sz="2000" spc="145" dirty="0">
                <a:solidFill>
                  <a:srgbClr val="070707"/>
                </a:solidFill>
                <a:latin typeface="Arial"/>
                <a:cs typeface="Arial"/>
              </a:rPr>
              <a:t>field</a:t>
            </a:r>
            <a:endParaRPr lang="en-US" sz="2000" dirty="0">
              <a:latin typeface="Arial"/>
              <a:cs typeface="Arial"/>
            </a:endParaRPr>
          </a:p>
          <a:p>
            <a:pPr marL="926464" lvl="1" indent="-457200">
              <a:lnSpc>
                <a:spcPct val="100000"/>
              </a:lnSpc>
              <a:spcBef>
                <a:spcPts val="1505"/>
              </a:spcBef>
              <a:tabLst>
                <a:tab pos="360363" algn="l"/>
                <a:tab pos="396875" algn="l"/>
              </a:tabLst>
            </a:pPr>
            <a:r>
              <a:rPr lang="en-US" sz="2000" spc="35" dirty="0">
                <a:solidFill>
                  <a:srgbClr val="070707"/>
                </a:solidFill>
                <a:latin typeface="Arial"/>
                <a:cs typeface="Arial"/>
              </a:rPr>
              <a:t>Summarize</a:t>
            </a:r>
            <a:r>
              <a:rPr lang="en-US" sz="2000" spc="225" dirty="0">
                <a:solidFill>
                  <a:srgbClr val="070707"/>
                </a:solidFill>
                <a:latin typeface="Arial"/>
                <a:cs typeface="Arial"/>
              </a:rPr>
              <a:t> </a:t>
            </a:r>
            <a:r>
              <a:rPr lang="en-US" sz="2000" spc="30" dirty="0">
                <a:solidFill>
                  <a:srgbClr val="070707"/>
                </a:solidFill>
                <a:latin typeface="Arial"/>
                <a:cs typeface="Arial"/>
              </a:rPr>
              <a:t>the</a:t>
            </a:r>
            <a:r>
              <a:rPr lang="en-US" sz="2000" spc="459" dirty="0">
                <a:solidFill>
                  <a:srgbClr val="070707"/>
                </a:solidFill>
                <a:latin typeface="Arial"/>
                <a:cs typeface="Arial"/>
              </a:rPr>
              <a:t> </a:t>
            </a:r>
            <a:r>
              <a:rPr lang="en-US" sz="2000" spc="150" dirty="0">
                <a:solidFill>
                  <a:srgbClr val="070707"/>
                </a:solidFill>
                <a:latin typeface="Arial"/>
                <a:cs typeface="Arial"/>
              </a:rPr>
              <a:t>current</a:t>
            </a:r>
            <a:r>
              <a:rPr lang="en-US" sz="2000" spc="140" dirty="0">
                <a:solidFill>
                  <a:srgbClr val="070707"/>
                </a:solidFill>
                <a:latin typeface="Arial"/>
                <a:cs typeface="Arial"/>
              </a:rPr>
              <a:t> </a:t>
            </a:r>
            <a:r>
              <a:rPr lang="en-US" sz="2000" spc="75" dirty="0">
                <a:solidFill>
                  <a:srgbClr val="070707"/>
                </a:solidFill>
                <a:latin typeface="Arial"/>
                <a:cs typeface="Arial"/>
              </a:rPr>
              <a:t>state</a:t>
            </a:r>
            <a:r>
              <a:rPr lang="en-US" sz="2000" spc="45" dirty="0">
                <a:solidFill>
                  <a:srgbClr val="070707"/>
                </a:solidFill>
                <a:latin typeface="Arial"/>
                <a:cs typeface="Arial"/>
              </a:rPr>
              <a:t> </a:t>
            </a:r>
            <a:r>
              <a:rPr lang="en-US" sz="2000" spc="70" dirty="0">
                <a:solidFill>
                  <a:srgbClr val="070707"/>
                </a:solidFill>
                <a:latin typeface="Arial"/>
                <a:cs typeface="Arial"/>
              </a:rPr>
              <a:t>of</a:t>
            </a:r>
            <a:r>
              <a:rPr lang="en-US" sz="2000" spc="245" dirty="0">
                <a:solidFill>
                  <a:srgbClr val="070707"/>
                </a:solidFill>
                <a:latin typeface="Arial"/>
                <a:cs typeface="Arial"/>
              </a:rPr>
              <a:t> </a:t>
            </a:r>
            <a:r>
              <a:rPr lang="en-US" sz="2000" spc="95" dirty="0">
                <a:solidFill>
                  <a:srgbClr val="070707"/>
                </a:solidFill>
                <a:latin typeface="Arial"/>
                <a:cs typeface="Arial"/>
              </a:rPr>
              <a:t>understanding</a:t>
            </a:r>
            <a:r>
              <a:rPr lang="en-US" sz="2000" spc="185" dirty="0">
                <a:solidFill>
                  <a:srgbClr val="070707"/>
                </a:solidFill>
                <a:latin typeface="Arial"/>
                <a:cs typeface="Arial"/>
              </a:rPr>
              <a:t> </a:t>
            </a:r>
            <a:r>
              <a:rPr lang="en-US" sz="2000" spc="190" dirty="0">
                <a:solidFill>
                  <a:srgbClr val="070707"/>
                </a:solidFill>
                <a:latin typeface="Arial"/>
                <a:cs typeface="Arial"/>
              </a:rPr>
              <a:t>on</a:t>
            </a:r>
            <a:r>
              <a:rPr lang="en-US" sz="2000" spc="-130" dirty="0">
                <a:solidFill>
                  <a:srgbClr val="070707"/>
                </a:solidFill>
                <a:latin typeface="Arial"/>
                <a:cs typeface="Arial"/>
              </a:rPr>
              <a:t> </a:t>
            </a:r>
            <a:r>
              <a:rPr lang="en-US" sz="2000" spc="-35" dirty="0">
                <a:solidFill>
                  <a:srgbClr val="070707"/>
                </a:solidFill>
                <a:latin typeface="Arial"/>
                <a:cs typeface="Arial"/>
              </a:rPr>
              <a:t>a</a:t>
            </a:r>
            <a:r>
              <a:rPr lang="en-US" sz="2000" spc="-85" dirty="0">
                <a:solidFill>
                  <a:srgbClr val="070707"/>
                </a:solidFill>
                <a:latin typeface="Arial"/>
                <a:cs typeface="Arial"/>
              </a:rPr>
              <a:t> </a:t>
            </a:r>
            <a:r>
              <a:rPr lang="en-US" sz="2000" spc="140" dirty="0">
                <a:solidFill>
                  <a:srgbClr val="070707"/>
                </a:solidFill>
                <a:latin typeface="Arial"/>
                <a:cs typeface="Arial"/>
              </a:rPr>
              <a:t>topic</a:t>
            </a:r>
            <a:endParaRPr lang="en-US" sz="2000" dirty="0">
              <a:latin typeface="Arial"/>
              <a:cs typeface="Arial"/>
            </a:endParaRPr>
          </a:p>
          <a:p>
            <a:pPr marL="926465" lvl="1" indent="-457200">
              <a:lnSpc>
                <a:spcPct val="100000"/>
              </a:lnSpc>
              <a:spcBef>
                <a:spcPts val="1510"/>
              </a:spcBef>
              <a:tabLst>
                <a:tab pos="360363" algn="l"/>
                <a:tab pos="396875" algn="l"/>
              </a:tabLst>
            </a:pPr>
            <a:r>
              <a:rPr lang="en-US" sz="2000" spc="145" dirty="0">
                <a:solidFill>
                  <a:srgbClr val="070707"/>
                </a:solidFill>
                <a:latin typeface="Arial"/>
                <a:cs typeface="Arial"/>
              </a:rPr>
              <a:t>Identify</a:t>
            </a:r>
            <a:r>
              <a:rPr lang="en-US" sz="2000" spc="-5" dirty="0">
                <a:solidFill>
                  <a:srgbClr val="070707"/>
                </a:solidFill>
                <a:latin typeface="Arial"/>
                <a:cs typeface="Arial"/>
              </a:rPr>
              <a:t> </a:t>
            </a:r>
            <a:r>
              <a:rPr lang="en-US" sz="2000" spc="130" dirty="0">
                <a:solidFill>
                  <a:srgbClr val="070707"/>
                </a:solidFill>
                <a:latin typeface="Arial"/>
                <a:cs typeface="Arial"/>
              </a:rPr>
              <a:t>patterns,</a:t>
            </a:r>
            <a:r>
              <a:rPr lang="en-US" sz="2000" spc="-20" dirty="0">
                <a:solidFill>
                  <a:srgbClr val="070707"/>
                </a:solidFill>
                <a:latin typeface="Arial"/>
                <a:cs typeface="Arial"/>
              </a:rPr>
              <a:t> </a:t>
            </a:r>
            <a:r>
              <a:rPr lang="en-US" sz="2000" spc="65" dirty="0">
                <a:solidFill>
                  <a:srgbClr val="070707"/>
                </a:solidFill>
                <a:latin typeface="Arial"/>
                <a:cs typeface="Arial"/>
              </a:rPr>
              <a:t>debates</a:t>
            </a:r>
            <a:r>
              <a:rPr lang="en-US" sz="2000" spc="70" dirty="0">
                <a:solidFill>
                  <a:srgbClr val="070707"/>
                </a:solidFill>
                <a:latin typeface="Arial"/>
                <a:cs typeface="Arial"/>
              </a:rPr>
              <a:t> </a:t>
            </a:r>
            <a:r>
              <a:rPr lang="en-US" sz="2000" spc="95" dirty="0">
                <a:solidFill>
                  <a:srgbClr val="070707"/>
                </a:solidFill>
                <a:latin typeface="Arial"/>
                <a:cs typeface="Arial"/>
              </a:rPr>
              <a:t>and</a:t>
            </a:r>
            <a:r>
              <a:rPr lang="en-US" sz="2000" spc="-5" dirty="0">
                <a:solidFill>
                  <a:srgbClr val="070707"/>
                </a:solidFill>
                <a:latin typeface="Arial"/>
                <a:cs typeface="Arial"/>
              </a:rPr>
              <a:t> </a:t>
            </a:r>
            <a:r>
              <a:rPr lang="en-US" sz="2000" spc="200" dirty="0">
                <a:solidFill>
                  <a:srgbClr val="070707"/>
                </a:solidFill>
                <a:latin typeface="Arial"/>
                <a:cs typeface="Arial"/>
              </a:rPr>
              <a:t>future</a:t>
            </a:r>
            <a:r>
              <a:rPr lang="en-US" sz="2000" dirty="0">
                <a:solidFill>
                  <a:srgbClr val="070707"/>
                </a:solidFill>
                <a:latin typeface="Arial"/>
                <a:cs typeface="Arial"/>
              </a:rPr>
              <a:t> </a:t>
            </a:r>
            <a:r>
              <a:rPr lang="en-US" sz="2000" spc="120" dirty="0">
                <a:solidFill>
                  <a:srgbClr val="070707"/>
                </a:solidFill>
                <a:latin typeface="Arial"/>
                <a:cs typeface="Arial"/>
              </a:rPr>
              <a:t>trends</a:t>
            </a:r>
            <a:endParaRPr lang="en-US" sz="2000" dirty="0">
              <a:latin typeface="Arial"/>
              <a:cs typeface="Arial"/>
            </a:endParaRPr>
          </a:p>
          <a:p>
            <a:pPr marL="926465" lvl="1" indent="-457200">
              <a:lnSpc>
                <a:spcPct val="100000"/>
              </a:lnSpc>
              <a:spcBef>
                <a:spcPts val="1505"/>
              </a:spcBef>
              <a:tabLst>
                <a:tab pos="360363" algn="l"/>
                <a:tab pos="396875" algn="l"/>
              </a:tabLst>
            </a:pPr>
            <a:r>
              <a:rPr lang="en-US" sz="2000" spc="145" dirty="0">
                <a:solidFill>
                  <a:srgbClr val="070707"/>
                </a:solidFill>
                <a:latin typeface="Arial"/>
                <a:cs typeface="Arial"/>
              </a:rPr>
              <a:t>Identify</a:t>
            </a:r>
            <a:r>
              <a:rPr lang="en-US" sz="2000" spc="-90" dirty="0">
                <a:solidFill>
                  <a:srgbClr val="070707"/>
                </a:solidFill>
                <a:latin typeface="Arial"/>
                <a:cs typeface="Arial"/>
              </a:rPr>
              <a:t> </a:t>
            </a:r>
            <a:r>
              <a:rPr lang="en-US" sz="2000" dirty="0">
                <a:solidFill>
                  <a:srgbClr val="070707"/>
                </a:solidFill>
                <a:latin typeface="Arial"/>
                <a:cs typeface="Arial"/>
              </a:rPr>
              <a:t>gaps </a:t>
            </a:r>
            <a:r>
              <a:rPr lang="en-US" sz="2000" spc="95" dirty="0">
                <a:solidFill>
                  <a:srgbClr val="070707"/>
                </a:solidFill>
                <a:latin typeface="Arial"/>
                <a:cs typeface="Arial"/>
              </a:rPr>
              <a:t>and</a:t>
            </a:r>
            <a:r>
              <a:rPr lang="en-US" sz="2000" spc="10" dirty="0">
                <a:solidFill>
                  <a:srgbClr val="070707"/>
                </a:solidFill>
                <a:latin typeface="Arial"/>
                <a:cs typeface="Arial"/>
              </a:rPr>
              <a:t> </a:t>
            </a:r>
            <a:r>
              <a:rPr lang="en-US" sz="2000" spc="140" dirty="0">
                <a:solidFill>
                  <a:srgbClr val="070707"/>
                </a:solidFill>
                <a:latin typeface="Arial"/>
                <a:cs typeface="Arial"/>
              </a:rPr>
              <a:t>recommend</a:t>
            </a:r>
            <a:r>
              <a:rPr lang="en-US" sz="2000" spc="145" dirty="0">
                <a:solidFill>
                  <a:srgbClr val="070707"/>
                </a:solidFill>
                <a:latin typeface="Arial"/>
                <a:cs typeface="Arial"/>
              </a:rPr>
              <a:t> </a:t>
            </a:r>
            <a:r>
              <a:rPr lang="en-US" sz="2000" spc="165" dirty="0">
                <a:solidFill>
                  <a:srgbClr val="070707"/>
                </a:solidFill>
                <a:latin typeface="Arial"/>
                <a:cs typeface="Arial"/>
              </a:rPr>
              <a:t>new</a:t>
            </a:r>
            <a:r>
              <a:rPr lang="en-US" sz="2000" spc="-60" dirty="0">
                <a:solidFill>
                  <a:srgbClr val="070707"/>
                </a:solidFill>
                <a:latin typeface="Arial"/>
                <a:cs typeface="Arial"/>
              </a:rPr>
              <a:t> </a:t>
            </a:r>
            <a:r>
              <a:rPr lang="en-US" sz="2000" spc="50" dirty="0">
                <a:solidFill>
                  <a:srgbClr val="070707"/>
                </a:solidFill>
                <a:latin typeface="Arial"/>
                <a:cs typeface="Arial"/>
              </a:rPr>
              <a:t>research </a:t>
            </a:r>
            <a:r>
              <a:rPr lang="en-US" sz="2000" dirty="0">
                <a:solidFill>
                  <a:srgbClr val="070707"/>
                </a:solidFill>
                <a:latin typeface="Arial"/>
                <a:cs typeface="Arial"/>
              </a:rPr>
              <a:t>areas</a:t>
            </a:r>
            <a:endParaRPr lang="en-US" sz="2000" dirty="0">
              <a:latin typeface="Arial"/>
              <a:cs typeface="Arial"/>
            </a:endParaRPr>
          </a:p>
          <a:p>
            <a:pPr marL="0" lvl="1" indent="0">
              <a:lnSpc>
                <a:spcPct val="100000"/>
              </a:lnSpc>
              <a:spcBef>
                <a:spcPts val="1505"/>
              </a:spcBef>
              <a:buNone/>
              <a:tabLst>
                <a:tab pos="360363" algn="l"/>
                <a:tab pos="396875" algn="l"/>
              </a:tabLst>
            </a:pPr>
            <a:r>
              <a:rPr lang="en-US" sz="2000" spc="40" dirty="0">
                <a:solidFill>
                  <a:srgbClr val="070707"/>
                </a:solidFill>
                <a:latin typeface="Arial"/>
                <a:cs typeface="Arial"/>
              </a:rPr>
              <a:t>The </a:t>
            </a:r>
            <a:r>
              <a:rPr lang="en-US" sz="2000" spc="65" dirty="0">
                <a:solidFill>
                  <a:srgbClr val="070707"/>
                </a:solidFill>
                <a:latin typeface="Arial"/>
                <a:cs typeface="Arial"/>
              </a:rPr>
              <a:t>audience</a:t>
            </a:r>
            <a:r>
              <a:rPr lang="en-US" sz="2000" spc="135" dirty="0">
                <a:solidFill>
                  <a:srgbClr val="070707"/>
                </a:solidFill>
                <a:latin typeface="Arial"/>
                <a:cs typeface="Arial"/>
              </a:rPr>
              <a:t> </a:t>
            </a:r>
            <a:r>
              <a:rPr lang="en-US" sz="2000" spc="55" dirty="0">
                <a:solidFill>
                  <a:srgbClr val="070707"/>
                </a:solidFill>
                <a:latin typeface="Arial"/>
                <a:cs typeface="Arial"/>
              </a:rPr>
              <a:t>of</a:t>
            </a:r>
            <a:r>
              <a:rPr lang="en-US" sz="2000" spc="254" dirty="0">
                <a:solidFill>
                  <a:srgbClr val="070707"/>
                </a:solidFill>
                <a:latin typeface="Arial"/>
                <a:cs typeface="Arial"/>
              </a:rPr>
              <a:t> </a:t>
            </a:r>
            <a:r>
              <a:rPr lang="en-US" sz="2000" spc="114" dirty="0">
                <a:solidFill>
                  <a:srgbClr val="070707"/>
                </a:solidFill>
                <a:latin typeface="Arial"/>
                <a:cs typeface="Arial"/>
              </a:rPr>
              <a:t>review</a:t>
            </a:r>
            <a:r>
              <a:rPr lang="en-US" sz="2000" spc="110" dirty="0">
                <a:solidFill>
                  <a:srgbClr val="070707"/>
                </a:solidFill>
                <a:latin typeface="Arial"/>
                <a:cs typeface="Arial"/>
              </a:rPr>
              <a:t> </a:t>
            </a:r>
            <a:r>
              <a:rPr lang="en-US" sz="2000" spc="80" dirty="0">
                <a:solidFill>
                  <a:srgbClr val="070707"/>
                </a:solidFill>
                <a:latin typeface="Arial"/>
                <a:cs typeface="Arial"/>
              </a:rPr>
              <a:t>articles</a:t>
            </a:r>
            <a:r>
              <a:rPr lang="en-US" sz="2000" spc="20" dirty="0">
                <a:solidFill>
                  <a:srgbClr val="070707"/>
                </a:solidFill>
                <a:latin typeface="Arial"/>
                <a:cs typeface="Arial"/>
              </a:rPr>
              <a:t> </a:t>
            </a:r>
            <a:r>
              <a:rPr lang="en-US" sz="2000" spc="85" dirty="0">
                <a:solidFill>
                  <a:srgbClr val="070707"/>
                </a:solidFill>
                <a:latin typeface="Arial"/>
                <a:cs typeface="Arial"/>
              </a:rPr>
              <a:t>are:</a:t>
            </a:r>
            <a:endParaRPr lang="en-US" sz="2000" dirty="0">
              <a:latin typeface="Arial"/>
              <a:cs typeface="Arial"/>
            </a:endParaRPr>
          </a:p>
          <a:p>
            <a:pPr marL="964565" lvl="1" indent="-457200">
              <a:lnSpc>
                <a:spcPct val="100000"/>
              </a:lnSpc>
              <a:spcBef>
                <a:spcPts val="1605"/>
              </a:spcBef>
              <a:tabLst>
                <a:tab pos="360363" algn="l"/>
                <a:tab pos="396875" algn="l"/>
              </a:tabLst>
            </a:pPr>
            <a:r>
              <a:rPr lang="en-US" sz="2000" spc="30" dirty="0">
                <a:solidFill>
                  <a:srgbClr val="070707"/>
                </a:solidFill>
                <a:latin typeface="Arial"/>
                <a:cs typeface="Arial"/>
              </a:rPr>
              <a:t>Experts</a:t>
            </a:r>
            <a:r>
              <a:rPr lang="en-US" sz="2000" spc="45" dirty="0">
                <a:solidFill>
                  <a:srgbClr val="070707"/>
                </a:solidFill>
                <a:latin typeface="Arial"/>
                <a:cs typeface="Arial"/>
              </a:rPr>
              <a:t> </a:t>
            </a:r>
            <a:r>
              <a:rPr lang="en-US" sz="2000" spc="25" dirty="0">
                <a:solidFill>
                  <a:srgbClr val="070707"/>
                </a:solidFill>
                <a:latin typeface="Arial"/>
                <a:cs typeface="Arial"/>
              </a:rPr>
              <a:t>in</a:t>
            </a:r>
            <a:r>
              <a:rPr lang="en-US" sz="2000" spc="225" dirty="0">
                <a:solidFill>
                  <a:srgbClr val="070707"/>
                </a:solidFill>
                <a:latin typeface="Arial"/>
                <a:cs typeface="Arial"/>
              </a:rPr>
              <a:t> </a:t>
            </a:r>
            <a:r>
              <a:rPr lang="en-US" sz="2000" spc="45" dirty="0">
                <a:solidFill>
                  <a:srgbClr val="070707"/>
                </a:solidFill>
                <a:latin typeface="Arial"/>
                <a:cs typeface="Arial"/>
              </a:rPr>
              <a:t>specific</a:t>
            </a:r>
            <a:r>
              <a:rPr lang="en-US" sz="2000" spc="145" dirty="0">
                <a:solidFill>
                  <a:srgbClr val="070707"/>
                </a:solidFill>
                <a:latin typeface="Arial"/>
                <a:cs typeface="Arial"/>
              </a:rPr>
              <a:t> </a:t>
            </a:r>
            <a:r>
              <a:rPr lang="en-US" sz="2000" spc="35" dirty="0">
                <a:solidFill>
                  <a:srgbClr val="070707"/>
                </a:solidFill>
                <a:latin typeface="Arial"/>
                <a:cs typeface="Arial"/>
              </a:rPr>
              <a:t>research</a:t>
            </a:r>
            <a:r>
              <a:rPr lang="en-US" sz="2000" spc="170" dirty="0">
                <a:solidFill>
                  <a:srgbClr val="070707"/>
                </a:solidFill>
                <a:latin typeface="Arial"/>
                <a:cs typeface="Arial"/>
              </a:rPr>
              <a:t> </a:t>
            </a:r>
            <a:r>
              <a:rPr lang="en-US" sz="2000" dirty="0">
                <a:solidFill>
                  <a:srgbClr val="070707"/>
                </a:solidFill>
                <a:latin typeface="Arial"/>
                <a:cs typeface="Arial"/>
              </a:rPr>
              <a:t>areas</a:t>
            </a:r>
            <a:endParaRPr lang="en-US" sz="2000" dirty="0">
              <a:latin typeface="Arial"/>
              <a:cs typeface="Arial"/>
            </a:endParaRPr>
          </a:p>
          <a:p>
            <a:pPr marL="964565" lvl="1" indent="-457200">
              <a:lnSpc>
                <a:spcPct val="100000"/>
              </a:lnSpc>
              <a:spcBef>
                <a:spcPts val="1505"/>
              </a:spcBef>
              <a:tabLst>
                <a:tab pos="360363" algn="l"/>
                <a:tab pos="396875" algn="l"/>
              </a:tabLst>
            </a:pPr>
            <a:r>
              <a:rPr lang="en-US" sz="2000" spc="80" dirty="0">
                <a:solidFill>
                  <a:srgbClr val="070707"/>
                </a:solidFill>
                <a:latin typeface="Arial"/>
                <a:cs typeface="Arial"/>
              </a:rPr>
              <a:t>Students</a:t>
            </a:r>
            <a:r>
              <a:rPr lang="en-US" sz="2000" spc="45" dirty="0">
                <a:solidFill>
                  <a:srgbClr val="070707"/>
                </a:solidFill>
                <a:latin typeface="Arial"/>
                <a:cs typeface="Arial"/>
              </a:rPr>
              <a:t> </a:t>
            </a:r>
            <a:r>
              <a:rPr lang="en-US" sz="2000" spc="75" dirty="0">
                <a:solidFill>
                  <a:srgbClr val="070707"/>
                </a:solidFill>
                <a:latin typeface="Arial"/>
                <a:cs typeface="Arial"/>
              </a:rPr>
              <a:t>or</a:t>
            </a:r>
            <a:r>
              <a:rPr lang="en-US" sz="2000" spc="229" dirty="0">
                <a:solidFill>
                  <a:srgbClr val="070707"/>
                </a:solidFill>
                <a:latin typeface="Arial"/>
                <a:cs typeface="Arial"/>
              </a:rPr>
              <a:t> </a:t>
            </a:r>
            <a:r>
              <a:rPr lang="en-US" sz="2000" spc="80" dirty="0">
                <a:solidFill>
                  <a:srgbClr val="070707"/>
                </a:solidFill>
                <a:latin typeface="Arial"/>
                <a:cs typeface="Arial"/>
              </a:rPr>
              <a:t>novice</a:t>
            </a:r>
            <a:r>
              <a:rPr lang="en-US" sz="2000" spc="100" dirty="0">
                <a:solidFill>
                  <a:srgbClr val="070707"/>
                </a:solidFill>
                <a:latin typeface="Arial"/>
                <a:cs typeface="Arial"/>
              </a:rPr>
              <a:t> </a:t>
            </a:r>
            <a:r>
              <a:rPr lang="en-US" sz="2000" spc="20" dirty="0">
                <a:solidFill>
                  <a:srgbClr val="070707"/>
                </a:solidFill>
                <a:latin typeface="Arial"/>
                <a:cs typeface="Arial"/>
              </a:rPr>
              <a:t>researchers</a:t>
            </a:r>
            <a:endParaRPr lang="en-US" sz="2000" dirty="0">
              <a:latin typeface="Arial"/>
              <a:cs typeface="Arial"/>
            </a:endParaRPr>
          </a:p>
          <a:p>
            <a:pPr marL="964565" lvl="1" indent="-457200">
              <a:lnSpc>
                <a:spcPct val="100000"/>
              </a:lnSpc>
              <a:spcBef>
                <a:spcPts val="1410"/>
              </a:spcBef>
              <a:tabLst>
                <a:tab pos="360363" algn="l"/>
                <a:tab pos="396875" algn="l"/>
              </a:tabLst>
            </a:pPr>
            <a:r>
              <a:rPr lang="en-US" sz="2000" spc="65" dirty="0">
                <a:solidFill>
                  <a:srgbClr val="070707"/>
                </a:solidFill>
                <a:latin typeface="Arial"/>
                <a:cs typeface="Arial"/>
              </a:rPr>
              <a:t>Decision-makers</a:t>
            </a:r>
            <a:endParaRPr lang="en-US" sz="2000" dirty="0">
              <a:latin typeface="Arial"/>
              <a:cs typeface="Arial"/>
            </a:endParaRPr>
          </a:p>
        </p:txBody>
      </p:sp>
    </p:spTree>
    <p:extLst>
      <p:ext uri="{BB962C8B-B14F-4D97-AF65-F5344CB8AC3E}">
        <p14:creationId xmlns:p14="http://schemas.microsoft.com/office/powerpoint/2010/main" val="153635240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1780"/>
          </a:xfrm>
        </p:spPr>
        <p:txBody>
          <a:bodyPr>
            <a:normAutofit/>
          </a:bodyPr>
          <a:lstStyle/>
          <a:p>
            <a:pPr algn="ctr"/>
            <a:r>
              <a:rPr lang="en-US" sz="3200" b="1" spc="-150" dirty="0">
                <a:solidFill>
                  <a:srgbClr val="0A03DB"/>
                </a:solidFill>
                <a:latin typeface="Arial"/>
                <a:cs typeface="Arial"/>
              </a:rPr>
              <a:t>Review</a:t>
            </a:r>
            <a:r>
              <a:rPr lang="en-US" sz="3200" b="1" spc="320" dirty="0">
                <a:solidFill>
                  <a:srgbClr val="0A03DB"/>
                </a:solidFill>
                <a:latin typeface="Arial"/>
                <a:cs typeface="Arial"/>
              </a:rPr>
              <a:t> </a:t>
            </a:r>
            <a:r>
              <a:rPr lang="en-US" sz="3200" b="1" spc="-95" dirty="0">
                <a:solidFill>
                  <a:srgbClr val="0A03DB"/>
                </a:solidFill>
                <a:latin typeface="Arial"/>
                <a:cs typeface="Arial"/>
              </a:rPr>
              <a:t>Article</a:t>
            </a:r>
            <a:r>
              <a:rPr lang="en-US" sz="3200" b="1" spc="330" dirty="0">
                <a:solidFill>
                  <a:srgbClr val="0A03DB"/>
                </a:solidFill>
                <a:latin typeface="Arial"/>
                <a:cs typeface="Arial"/>
              </a:rPr>
              <a:t> </a:t>
            </a:r>
            <a:r>
              <a:rPr lang="en-US" sz="3200" i="1" spc="70" dirty="0">
                <a:solidFill>
                  <a:srgbClr val="0A03DB"/>
                </a:solidFill>
                <a:latin typeface="Times New Roman"/>
                <a:cs typeface="Times New Roman"/>
              </a:rPr>
              <a:t>vs.</a:t>
            </a:r>
            <a:r>
              <a:rPr lang="en-US" sz="3200" i="1" spc="-80" dirty="0">
                <a:solidFill>
                  <a:srgbClr val="0A03DB"/>
                </a:solidFill>
                <a:latin typeface="Times New Roman"/>
                <a:cs typeface="Times New Roman"/>
              </a:rPr>
              <a:t> </a:t>
            </a:r>
            <a:r>
              <a:rPr lang="en-US" sz="3200" b="1" spc="-220" dirty="0">
                <a:solidFill>
                  <a:srgbClr val="0A03DB"/>
                </a:solidFill>
                <a:latin typeface="Arial"/>
                <a:cs typeface="Arial"/>
              </a:rPr>
              <a:t>Research</a:t>
            </a:r>
            <a:r>
              <a:rPr lang="en-US" sz="3200" b="1" spc="385" dirty="0">
                <a:solidFill>
                  <a:srgbClr val="0A03DB"/>
                </a:solidFill>
                <a:latin typeface="Arial"/>
                <a:cs typeface="Arial"/>
              </a:rPr>
              <a:t> </a:t>
            </a:r>
            <a:r>
              <a:rPr lang="en-US" sz="3200" b="1" spc="-100" dirty="0">
                <a:solidFill>
                  <a:srgbClr val="0A03DB"/>
                </a:solidFill>
                <a:latin typeface="Arial"/>
                <a:cs typeface="Arial"/>
              </a:rPr>
              <a:t>Article</a:t>
            </a:r>
            <a:endParaRPr lang="en-IN" sz="3200" dirty="0"/>
          </a:p>
        </p:txBody>
      </p:sp>
      <p:sp>
        <p:nvSpPr>
          <p:cNvPr id="3" name="Content Placeholder 2"/>
          <p:cNvSpPr>
            <a:spLocks noGrp="1"/>
          </p:cNvSpPr>
          <p:nvPr>
            <p:ph idx="1"/>
          </p:nvPr>
        </p:nvSpPr>
        <p:spPr>
          <a:xfrm>
            <a:off x="838200" y="1106906"/>
            <a:ext cx="10515600" cy="5922544"/>
          </a:xfrm>
        </p:spPr>
        <p:txBody>
          <a:bodyPr/>
          <a:lstStyle/>
          <a:p>
            <a:pPr marL="403225" marR="136525" indent="-391160">
              <a:lnSpc>
                <a:spcPct val="112100"/>
              </a:lnSpc>
              <a:spcBef>
                <a:spcPts val="105"/>
              </a:spcBef>
              <a:buFont typeface="Arial"/>
              <a:buChar char="•"/>
              <a:tabLst>
                <a:tab pos="400050" algn="l"/>
                <a:tab pos="400685" algn="l"/>
              </a:tabLst>
            </a:pPr>
            <a:r>
              <a:rPr lang="en-US" sz="2000" b="1" spc="-120" dirty="0">
                <a:solidFill>
                  <a:srgbClr val="0C0C0C"/>
                </a:solidFill>
                <a:latin typeface="Arial"/>
                <a:cs typeface="Arial"/>
              </a:rPr>
              <a:t>Research </a:t>
            </a:r>
            <a:r>
              <a:rPr lang="en-US" sz="2000" b="1" spc="-55" dirty="0">
                <a:solidFill>
                  <a:srgbClr val="0C0C0C"/>
                </a:solidFill>
                <a:latin typeface="Arial"/>
                <a:cs typeface="Arial"/>
              </a:rPr>
              <a:t>articles </a:t>
            </a:r>
            <a:r>
              <a:rPr lang="en-US" sz="2000" spc="55" dirty="0">
                <a:solidFill>
                  <a:srgbClr val="0C0C0C"/>
                </a:solidFill>
                <a:latin typeface="Arial"/>
                <a:cs typeface="Arial"/>
              </a:rPr>
              <a:t>are </a:t>
            </a:r>
            <a:r>
              <a:rPr lang="en-US" sz="2000" spc="125" dirty="0">
                <a:solidFill>
                  <a:srgbClr val="0C0C0C"/>
                </a:solidFill>
                <a:latin typeface="Arial"/>
                <a:cs typeface="Arial"/>
              </a:rPr>
              <a:t>primary </a:t>
            </a:r>
            <a:r>
              <a:rPr lang="en-US" sz="2000" spc="110" dirty="0">
                <a:solidFill>
                  <a:srgbClr val="0C0C0C"/>
                </a:solidFill>
                <a:latin typeface="Arial"/>
                <a:cs typeface="Arial"/>
              </a:rPr>
              <a:t>literature </a:t>
            </a:r>
            <a:r>
              <a:rPr lang="en-US" sz="2000" spc="15" dirty="0">
                <a:solidFill>
                  <a:srgbClr val="0C0C0C"/>
                </a:solidFill>
                <a:latin typeface="Arial"/>
                <a:cs typeface="Arial"/>
              </a:rPr>
              <a:t>sources. </a:t>
            </a:r>
            <a:r>
              <a:rPr lang="en-US" sz="2000" spc="-180" dirty="0">
                <a:solidFill>
                  <a:srgbClr val="0C0C0C"/>
                </a:solidFill>
                <a:latin typeface="Arial"/>
                <a:cs typeface="Arial"/>
              </a:rPr>
              <a:t>So</a:t>
            </a:r>
            <a:r>
              <a:rPr lang="en-US" sz="2000" spc="-180" dirty="0">
                <a:solidFill>
                  <a:srgbClr val="242424"/>
                </a:solidFill>
                <a:latin typeface="Arial"/>
                <a:cs typeface="Arial"/>
              </a:rPr>
              <a:t>, </a:t>
            </a:r>
            <a:r>
              <a:rPr lang="en-US" sz="2000" spc="120" dirty="0">
                <a:solidFill>
                  <a:srgbClr val="0C0C0C"/>
                </a:solidFill>
                <a:latin typeface="Arial"/>
                <a:cs typeface="Arial"/>
              </a:rPr>
              <a:t>they </a:t>
            </a:r>
            <a:r>
              <a:rPr lang="en-US" sz="2000" spc="155" dirty="0">
                <a:solidFill>
                  <a:srgbClr val="0C0C0C"/>
                </a:solidFill>
                <a:latin typeface="Arial"/>
                <a:cs typeface="Arial"/>
              </a:rPr>
              <a:t>report </a:t>
            </a:r>
            <a:r>
              <a:rPr lang="en-US" sz="2000" spc="160" dirty="0">
                <a:solidFill>
                  <a:srgbClr val="0C0C0C"/>
                </a:solidFill>
                <a:latin typeface="Arial"/>
                <a:cs typeface="Arial"/>
              </a:rPr>
              <a:t>the </a:t>
            </a:r>
            <a:r>
              <a:rPr lang="en-US" sz="2000" spc="-795" dirty="0">
                <a:solidFill>
                  <a:srgbClr val="0C0C0C"/>
                </a:solidFill>
                <a:latin typeface="Arial"/>
                <a:cs typeface="Arial"/>
              </a:rPr>
              <a:t> </a:t>
            </a:r>
            <a:r>
              <a:rPr lang="en-US" sz="2000" spc="114" dirty="0">
                <a:solidFill>
                  <a:srgbClr val="0C0C0C"/>
                </a:solidFill>
                <a:latin typeface="Arial"/>
                <a:cs typeface="Arial"/>
              </a:rPr>
              <a:t>methods</a:t>
            </a:r>
            <a:r>
              <a:rPr lang="en-US" sz="2000" spc="-20" dirty="0">
                <a:solidFill>
                  <a:srgbClr val="0C0C0C"/>
                </a:solidFill>
                <a:latin typeface="Arial"/>
                <a:cs typeface="Arial"/>
              </a:rPr>
              <a:t> </a:t>
            </a:r>
            <a:r>
              <a:rPr lang="en-US" sz="2000" spc="95" dirty="0">
                <a:solidFill>
                  <a:srgbClr val="0C0C0C"/>
                </a:solidFill>
                <a:latin typeface="Arial"/>
                <a:cs typeface="Arial"/>
              </a:rPr>
              <a:t>and</a:t>
            </a:r>
            <a:r>
              <a:rPr lang="en-US" sz="2000" spc="-120" dirty="0">
                <a:solidFill>
                  <a:srgbClr val="0C0C0C"/>
                </a:solidFill>
                <a:latin typeface="Arial"/>
                <a:cs typeface="Arial"/>
              </a:rPr>
              <a:t> </a:t>
            </a:r>
            <a:r>
              <a:rPr lang="en-US" sz="2000" spc="65" dirty="0">
                <a:solidFill>
                  <a:srgbClr val="0C0C0C"/>
                </a:solidFill>
                <a:latin typeface="Arial"/>
                <a:cs typeface="Arial"/>
              </a:rPr>
              <a:t>results</a:t>
            </a:r>
            <a:r>
              <a:rPr lang="en-US" sz="2000" spc="-80" dirty="0">
                <a:solidFill>
                  <a:srgbClr val="0C0C0C"/>
                </a:solidFill>
                <a:latin typeface="Arial"/>
                <a:cs typeface="Arial"/>
              </a:rPr>
              <a:t> </a:t>
            </a:r>
            <a:r>
              <a:rPr lang="en-US" sz="2000" spc="60" dirty="0">
                <a:solidFill>
                  <a:srgbClr val="0C0C0C"/>
                </a:solidFill>
                <a:latin typeface="Arial"/>
                <a:cs typeface="Arial"/>
              </a:rPr>
              <a:t>of</a:t>
            </a:r>
            <a:r>
              <a:rPr lang="en-US" sz="2000" spc="160" dirty="0">
                <a:solidFill>
                  <a:srgbClr val="0C0C0C"/>
                </a:solidFill>
                <a:latin typeface="Arial"/>
                <a:cs typeface="Arial"/>
              </a:rPr>
              <a:t> </a:t>
            </a:r>
            <a:r>
              <a:rPr lang="en-US" sz="2000" spc="80" dirty="0">
                <a:solidFill>
                  <a:srgbClr val="0C0C0C"/>
                </a:solidFill>
                <a:latin typeface="Arial"/>
                <a:cs typeface="Arial"/>
              </a:rPr>
              <a:t>original</a:t>
            </a:r>
            <a:r>
              <a:rPr lang="en-US" sz="2000" dirty="0">
                <a:solidFill>
                  <a:srgbClr val="0C0C0C"/>
                </a:solidFill>
                <a:latin typeface="Arial"/>
                <a:cs typeface="Arial"/>
              </a:rPr>
              <a:t> </a:t>
            </a:r>
            <a:r>
              <a:rPr lang="en-US" sz="2000" spc="55" dirty="0">
                <a:solidFill>
                  <a:srgbClr val="0C0C0C"/>
                </a:solidFill>
                <a:latin typeface="Arial"/>
                <a:cs typeface="Arial"/>
              </a:rPr>
              <a:t>studies</a:t>
            </a:r>
            <a:r>
              <a:rPr lang="en-US" sz="2000" spc="-60" dirty="0">
                <a:solidFill>
                  <a:srgbClr val="0C0C0C"/>
                </a:solidFill>
                <a:latin typeface="Arial"/>
                <a:cs typeface="Arial"/>
              </a:rPr>
              <a:t> </a:t>
            </a:r>
            <a:r>
              <a:rPr lang="en-US" sz="2000" spc="130" dirty="0">
                <a:solidFill>
                  <a:srgbClr val="0C0C0C"/>
                </a:solidFill>
                <a:latin typeface="Arial"/>
                <a:cs typeface="Arial"/>
              </a:rPr>
              <a:t>performed</a:t>
            </a:r>
            <a:r>
              <a:rPr lang="en-US" sz="2000" spc="-5" dirty="0">
                <a:solidFill>
                  <a:srgbClr val="0C0C0C"/>
                </a:solidFill>
                <a:latin typeface="Arial"/>
                <a:cs typeface="Arial"/>
              </a:rPr>
              <a:t> </a:t>
            </a:r>
            <a:r>
              <a:rPr lang="en-US" sz="2000" spc="110" dirty="0">
                <a:solidFill>
                  <a:srgbClr val="0C0C0C"/>
                </a:solidFill>
                <a:latin typeface="Arial"/>
                <a:cs typeface="Arial"/>
              </a:rPr>
              <a:t>by</a:t>
            </a:r>
            <a:r>
              <a:rPr lang="en-US" sz="2000" spc="-140" dirty="0">
                <a:solidFill>
                  <a:srgbClr val="0C0C0C"/>
                </a:solidFill>
                <a:latin typeface="Arial"/>
                <a:cs typeface="Arial"/>
              </a:rPr>
              <a:t> </a:t>
            </a:r>
            <a:r>
              <a:rPr lang="en-US" sz="2000" spc="95" dirty="0">
                <a:solidFill>
                  <a:srgbClr val="0C0C0C"/>
                </a:solidFill>
                <a:latin typeface="Arial"/>
                <a:cs typeface="Arial"/>
              </a:rPr>
              <a:t>the</a:t>
            </a:r>
            <a:r>
              <a:rPr lang="en-US" sz="2000" spc="235" dirty="0">
                <a:solidFill>
                  <a:srgbClr val="0C0C0C"/>
                </a:solidFill>
                <a:latin typeface="Arial"/>
                <a:cs typeface="Arial"/>
              </a:rPr>
              <a:t> </a:t>
            </a:r>
            <a:r>
              <a:rPr lang="en-US" sz="2000" spc="75" dirty="0">
                <a:solidFill>
                  <a:srgbClr val="0C0C0C"/>
                </a:solidFill>
                <a:latin typeface="Arial"/>
                <a:cs typeface="Arial"/>
              </a:rPr>
              <a:t>authors.</a:t>
            </a:r>
            <a:endParaRPr lang="en-US" sz="2000" dirty="0">
              <a:latin typeface="Arial"/>
              <a:cs typeface="Arial"/>
            </a:endParaRPr>
          </a:p>
          <a:p>
            <a:pPr marL="403225" marR="5080" indent="-391160">
              <a:lnSpc>
                <a:spcPct val="114999"/>
              </a:lnSpc>
              <a:spcBef>
                <a:spcPts val="860"/>
              </a:spcBef>
              <a:buFont typeface="Arial"/>
              <a:buChar char="•"/>
              <a:tabLst>
                <a:tab pos="400050" algn="l"/>
                <a:tab pos="400685" algn="l"/>
              </a:tabLst>
            </a:pPr>
            <a:r>
              <a:rPr lang="en-US" sz="2000" b="1" spc="-35" dirty="0">
                <a:solidFill>
                  <a:srgbClr val="0C0C0C"/>
                </a:solidFill>
                <a:latin typeface="Arial"/>
                <a:cs typeface="Arial"/>
              </a:rPr>
              <a:t>Review </a:t>
            </a:r>
            <a:r>
              <a:rPr lang="en-US" sz="2000" b="1" spc="-40" dirty="0">
                <a:solidFill>
                  <a:srgbClr val="0C0C0C"/>
                </a:solidFill>
                <a:latin typeface="Arial"/>
                <a:cs typeface="Arial"/>
              </a:rPr>
              <a:t>articles </a:t>
            </a:r>
            <a:r>
              <a:rPr lang="en-US" sz="2000" spc="55" dirty="0">
                <a:solidFill>
                  <a:srgbClr val="0C0C0C"/>
                </a:solidFill>
                <a:latin typeface="Arial"/>
                <a:cs typeface="Arial"/>
              </a:rPr>
              <a:t>are </a:t>
            </a:r>
            <a:r>
              <a:rPr lang="en-US" sz="2000" spc="-5" dirty="0">
                <a:solidFill>
                  <a:srgbClr val="242424"/>
                </a:solidFill>
                <a:latin typeface="Arial"/>
                <a:cs typeface="Arial"/>
              </a:rPr>
              <a:t>s</a:t>
            </a:r>
            <a:r>
              <a:rPr lang="en-US" sz="2000" spc="-5" dirty="0">
                <a:solidFill>
                  <a:srgbClr val="0C0C0C"/>
                </a:solidFill>
                <a:latin typeface="Arial"/>
                <a:cs typeface="Arial"/>
              </a:rPr>
              <a:t>econd</a:t>
            </a:r>
            <a:r>
              <a:rPr lang="en-US" sz="2000" spc="95" dirty="0">
                <a:solidFill>
                  <a:srgbClr val="0C0C0C"/>
                </a:solidFill>
                <a:latin typeface="Arial"/>
                <a:cs typeface="Arial"/>
              </a:rPr>
              <a:t>ary </a:t>
            </a:r>
            <a:r>
              <a:rPr lang="en-US" sz="2000" spc="15" dirty="0">
                <a:solidFill>
                  <a:srgbClr val="0C0C0C"/>
                </a:solidFill>
                <a:latin typeface="Arial"/>
                <a:cs typeface="Arial"/>
              </a:rPr>
              <a:t>sources. </a:t>
            </a:r>
            <a:r>
              <a:rPr lang="en-US" sz="2000" spc="5" dirty="0">
                <a:solidFill>
                  <a:srgbClr val="0C0C0C"/>
                </a:solidFill>
                <a:latin typeface="Arial"/>
                <a:cs typeface="Arial"/>
              </a:rPr>
              <a:t>It </a:t>
            </a:r>
            <a:r>
              <a:rPr lang="en-US" sz="2000" spc="40" dirty="0">
                <a:solidFill>
                  <a:srgbClr val="0C0C0C"/>
                </a:solidFill>
                <a:latin typeface="Arial"/>
                <a:cs typeface="Arial"/>
              </a:rPr>
              <a:t>is </a:t>
            </a:r>
            <a:r>
              <a:rPr lang="en-US" sz="2000" spc="-125" dirty="0">
                <a:solidFill>
                  <a:srgbClr val="0C0C0C"/>
                </a:solidFill>
                <a:latin typeface="Arial"/>
                <a:cs typeface="Arial"/>
              </a:rPr>
              <a:t>a </a:t>
            </a:r>
            <a:r>
              <a:rPr lang="en-US" sz="2000" spc="60" dirty="0">
                <a:solidFill>
                  <a:srgbClr val="0C0C0C"/>
                </a:solidFill>
                <a:latin typeface="Arial"/>
                <a:cs typeface="Arial"/>
              </a:rPr>
              <a:t>survey </a:t>
            </a:r>
            <a:r>
              <a:rPr lang="en-US" sz="2000" spc="95" dirty="0">
                <a:solidFill>
                  <a:srgbClr val="0C0C0C"/>
                </a:solidFill>
                <a:latin typeface="Arial"/>
                <a:cs typeface="Arial"/>
              </a:rPr>
              <a:t>and </a:t>
            </a:r>
            <a:r>
              <a:rPr lang="en-US" sz="2000" spc="150" dirty="0">
                <a:solidFill>
                  <a:srgbClr val="0C0C0C"/>
                </a:solidFill>
                <a:latin typeface="Arial"/>
                <a:cs typeface="Arial"/>
              </a:rPr>
              <a:t>attempt </a:t>
            </a:r>
            <a:r>
              <a:rPr lang="en-US" sz="2000" spc="130" dirty="0">
                <a:solidFill>
                  <a:srgbClr val="0C0C0C"/>
                </a:solidFill>
                <a:latin typeface="Arial"/>
                <a:cs typeface="Arial"/>
              </a:rPr>
              <a:t>to </a:t>
            </a:r>
            <a:r>
              <a:rPr lang="en-US" sz="2000" spc="-795" dirty="0">
                <a:solidFill>
                  <a:srgbClr val="0C0C0C"/>
                </a:solidFill>
                <a:latin typeface="Arial"/>
                <a:cs typeface="Arial"/>
              </a:rPr>
              <a:t> </a:t>
            </a:r>
            <a:r>
              <a:rPr lang="en-US" sz="2000" spc="90" dirty="0">
                <a:solidFill>
                  <a:srgbClr val="0C0C0C"/>
                </a:solidFill>
                <a:latin typeface="Arial"/>
                <a:cs typeface="Arial"/>
              </a:rPr>
              <a:t>provid</a:t>
            </a:r>
            <a:r>
              <a:rPr lang="en-US" sz="2000" spc="114" dirty="0">
                <a:solidFill>
                  <a:srgbClr val="0C0C0C"/>
                </a:solidFill>
                <a:latin typeface="Arial"/>
                <a:cs typeface="Arial"/>
              </a:rPr>
              <a:t>e</a:t>
            </a:r>
            <a:r>
              <a:rPr lang="en-US" sz="2000" spc="5" dirty="0">
                <a:solidFill>
                  <a:srgbClr val="0C0C0C"/>
                </a:solidFill>
                <a:latin typeface="Arial"/>
                <a:cs typeface="Arial"/>
              </a:rPr>
              <a:t> </a:t>
            </a:r>
            <a:r>
              <a:rPr lang="en-US" sz="2000" spc="65" dirty="0">
                <a:solidFill>
                  <a:srgbClr val="0C0C0C"/>
                </a:solidFill>
                <a:latin typeface="Arial"/>
                <a:cs typeface="Arial"/>
              </a:rPr>
              <a:t>a</a:t>
            </a:r>
            <a:r>
              <a:rPr lang="en-US" sz="2000" spc="70" dirty="0">
                <a:solidFill>
                  <a:srgbClr val="0C0C0C"/>
                </a:solidFill>
                <a:latin typeface="Arial"/>
                <a:cs typeface="Arial"/>
              </a:rPr>
              <a:t>n</a:t>
            </a:r>
            <a:r>
              <a:rPr lang="en-US" sz="2000" spc="-50" dirty="0">
                <a:solidFill>
                  <a:srgbClr val="0C0C0C"/>
                </a:solidFill>
                <a:latin typeface="Arial"/>
                <a:cs typeface="Arial"/>
              </a:rPr>
              <a:t> </a:t>
            </a:r>
            <a:r>
              <a:rPr lang="en-US" sz="2000" spc="90" dirty="0">
                <a:solidFill>
                  <a:srgbClr val="0C0C0C"/>
                </a:solidFill>
                <a:latin typeface="Arial"/>
                <a:cs typeface="Arial"/>
              </a:rPr>
              <a:t>overvie</a:t>
            </a:r>
            <a:r>
              <a:rPr lang="en-US" sz="2000" spc="150" dirty="0">
                <a:solidFill>
                  <a:srgbClr val="0C0C0C"/>
                </a:solidFill>
                <a:latin typeface="Arial"/>
                <a:cs typeface="Arial"/>
              </a:rPr>
              <a:t>w</a:t>
            </a:r>
            <a:r>
              <a:rPr lang="en-US" sz="2000" spc="55" dirty="0">
                <a:solidFill>
                  <a:srgbClr val="0C0C0C"/>
                </a:solidFill>
                <a:latin typeface="Arial"/>
                <a:cs typeface="Arial"/>
              </a:rPr>
              <a:t> </a:t>
            </a:r>
            <a:r>
              <a:rPr lang="en-US" sz="2000" spc="110" dirty="0">
                <a:solidFill>
                  <a:srgbClr val="0C0C0C"/>
                </a:solidFill>
                <a:latin typeface="Arial"/>
                <a:cs typeface="Arial"/>
              </a:rPr>
              <a:t>o</a:t>
            </a:r>
            <a:r>
              <a:rPr lang="en-US" sz="2000" spc="55" dirty="0">
                <a:solidFill>
                  <a:srgbClr val="0C0C0C"/>
                </a:solidFill>
                <a:latin typeface="Arial"/>
                <a:cs typeface="Arial"/>
              </a:rPr>
              <a:t>f </a:t>
            </a:r>
            <a:r>
              <a:rPr lang="en-US" sz="2000" spc="80" dirty="0">
                <a:solidFill>
                  <a:srgbClr val="0C0C0C"/>
                </a:solidFill>
                <a:latin typeface="Arial"/>
                <a:cs typeface="Arial"/>
              </a:rPr>
              <a:t>th</a:t>
            </a:r>
            <a:r>
              <a:rPr lang="en-US" sz="2000" spc="114" dirty="0">
                <a:solidFill>
                  <a:srgbClr val="0C0C0C"/>
                </a:solidFill>
                <a:latin typeface="Arial"/>
                <a:cs typeface="Arial"/>
              </a:rPr>
              <a:t>e </a:t>
            </a:r>
            <a:r>
              <a:rPr lang="en-US" sz="2000" spc="120" dirty="0">
                <a:solidFill>
                  <a:srgbClr val="0C0C0C"/>
                </a:solidFill>
                <a:latin typeface="Arial"/>
                <a:cs typeface="Arial"/>
              </a:rPr>
              <a:t>current</a:t>
            </a:r>
            <a:r>
              <a:rPr lang="en-US" sz="2000" spc="85" dirty="0">
                <a:solidFill>
                  <a:srgbClr val="0C0C0C"/>
                </a:solidFill>
                <a:latin typeface="Arial"/>
                <a:cs typeface="Arial"/>
              </a:rPr>
              <a:t> </a:t>
            </a:r>
            <a:r>
              <a:rPr lang="en-US" sz="2000" spc="65" dirty="0">
                <a:solidFill>
                  <a:srgbClr val="0C0C0C"/>
                </a:solidFill>
                <a:latin typeface="Arial"/>
                <a:cs typeface="Arial"/>
              </a:rPr>
              <a:t>state</a:t>
            </a:r>
            <a:r>
              <a:rPr lang="en-US" sz="2000" spc="-15" dirty="0">
                <a:solidFill>
                  <a:srgbClr val="0C0C0C"/>
                </a:solidFill>
                <a:latin typeface="Arial"/>
                <a:cs typeface="Arial"/>
              </a:rPr>
              <a:t> </a:t>
            </a:r>
            <a:r>
              <a:rPr lang="en-US" sz="2000" spc="80" dirty="0">
                <a:solidFill>
                  <a:srgbClr val="0C0C0C"/>
                </a:solidFill>
                <a:latin typeface="Arial"/>
                <a:cs typeface="Arial"/>
              </a:rPr>
              <a:t>o</a:t>
            </a:r>
            <a:r>
              <a:rPr lang="en-US" sz="2000" spc="40" dirty="0">
                <a:solidFill>
                  <a:srgbClr val="0C0C0C"/>
                </a:solidFill>
                <a:latin typeface="Arial"/>
                <a:cs typeface="Arial"/>
              </a:rPr>
              <a:t>f</a:t>
            </a:r>
            <a:r>
              <a:rPr lang="en-US" sz="2000" spc="165" dirty="0">
                <a:solidFill>
                  <a:srgbClr val="0C0C0C"/>
                </a:solidFill>
                <a:latin typeface="Arial"/>
                <a:cs typeface="Arial"/>
              </a:rPr>
              <a:t> </a:t>
            </a:r>
            <a:r>
              <a:rPr lang="en-US" sz="2000" spc="65" dirty="0">
                <a:solidFill>
                  <a:srgbClr val="0C0C0C"/>
                </a:solidFill>
                <a:latin typeface="Arial"/>
                <a:cs typeface="Arial"/>
              </a:rPr>
              <a:t>understandin</a:t>
            </a:r>
            <a:r>
              <a:rPr lang="en-US" sz="2000" spc="85" dirty="0">
                <a:solidFill>
                  <a:srgbClr val="0C0C0C"/>
                </a:solidFill>
                <a:latin typeface="Arial"/>
                <a:cs typeface="Arial"/>
              </a:rPr>
              <a:t>g</a:t>
            </a:r>
            <a:r>
              <a:rPr lang="en-US" sz="2000" spc="90" dirty="0">
                <a:solidFill>
                  <a:srgbClr val="0C0C0C"/>
                </a:solidFill>
                <a:latin typeface="Arial"/>
                <a:cs typeface="Arial"/>
              </a:rPr>
              <a:t> </a:t>
            </a:r>
            <a:r>
              <a:rPr lang="en-US" sz="2000" spc="80" dirty="0">
                <a:solidFill>
                  <a:srgbClr val="0C0C0C"/>
                </a:solidFill>
                <a:latin typeface="Arial"/>
                <a:cs typeface="Arial"/>
              </a:rPr>
              <a:t>o</a:t>
            </a:r>
            <a:r>
              <a:rPr lang="en-US" sz="2000" spc="85" dirty="0">
                <a:solidFill>
                  <a:srgbClr val="0C0C0C"/>
                </a:solidFill>
                <a:latin typeface="Arial"/>
                <a:cs typeface="Arial"/>
              </a:rPr>
              <a:t>n</a:t>
            </a:r>
            <a:r>
              <a:rPr lang="en-US" sz="2000" spc="-45" dirty="0">
                <a:solidFill>
                  <a:srgbClr val="0C0C0C"/>
                </a:solidFill>
                <a:latin typeface="Arial"/>
                <a:cs typeface="Arial"/>
              </a:rPr>
              <a:t> topics.</a:t>
            </a:r>
            <a:endParaRPr lang="en-US" sz="2000" dirty="0">
              <a:latin typeface="Arial"/>
              <a:cs typeface="Arial"/>
            </a:endParaRPr>
          </a:p>
          <a:p>
            <a:pPr marL="0" indent="0">
              <a:buNone/>
            </a:pPr>
            <a:endParaRPr lang="en-IN" dirty="0"/>
          </a:p>
        </p:txBody>
      </p:sp>
      <p:sp>
        <p:nvSpPr>
          <p:cNvPr id="24" name="Freeform 23"/>
          <p:cNvSpPr/>
          <p:nvPr/>
        </p:nvSpPr>
        <p:spPr>
          <a:xfrm>
            <a:off x="3064730" y="2758553"/>
            <a:ext cx="3073066" cy="3922296"/>
          </a:xfrm>
          <a:custGeom>
            <a:avLst/>
            <a:gdLst>
              <a:gd name="connsiteX0" fmla="*/ 1997242 w 3073066"/>
              <a:gd name="connsiteY0" fmla="*/ 0 h 3922296"/>
              <a:gd name="connsiteX1" fmla="*/ 2949246 w 3073066"/>
              <a:gd name="connsiteY1" fmla="*/ 236700 h 3922296"/>
              <a:gd name="connsiteX2" fmla="*/ 3073066 w 3073066"/>
              <a:gd name="connsiteY2" fmla="*/ 310563 h 3922296"/>
              <a:gd name="connsiteX3" fmla="*/ 3032212 w 3073066"/>
              <a:gd name="connsiteY3" fmla="*/ 334933 h 3922296"/>
              <a:gd name="connsiteX4" fmla="*/ 2151647 w 3073066"/>
              <a:gd name="connsiteY4" fmla="*/ 1961148 h 3922296"/>
              <a:gd name="connsiteX5" fmla="*/ 3032212 w 3073066"/>
              <a:gd name="connsiteY5" fmla="*/ 3587363 h 3922296"/>
              <a:gd name="connsiteX6" fmla="*/ 3073066 w 3073066"/>
              <a:gd name="connsiteY6" fmla="*/ 3611734 h 3922296"/>
              <a:gd name="connsiteX7" fmla="*/ 2949246 w 3073066"/>
              <a:gd name="connsiteY7" fmla="*/ 3685596 h 3922296"/>
              <a:gd name="connsiteX8" fmla="*/ 1997242 w 3073066"/>
              <a:gd name="connsiteY8" fmla="*/ 3922296 h 3922296"/>
              <a:gd name="connsiteX9" fmla="*/ 0 w 3073066"/>
              <a:gd name="connsiteY9" fmla="*/ 1961148 h 3922296"/>
              <a:gd name="connsiteX10" fmla="*/ 1997242 w 3073066"/>
              <a:gd name="connsiteY10" fmla="*/ 0 h 3922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73066" h="3922296">
                <a:moveTo>
                  <a:pt x="1997242" y="0"/>
                </a:moveTo>
                <a:cubicBezTo>
                  <a:pt x="2341944" y="0"/>
                  <a:pt x="2666250" y="85746"/>
                  <a:pt x="2949246" y="236700"/>
                </a:cubicBezTo>
                <a:lnTo>
                  <a:pt x="3073066" y="310563"/>
                </a:lnTo>
                <a:lnTo>
                  <a:pt x="3032212" y="334933"/>
                </a:lnTo>
                <a:cubicBezTo>
                  <a:pt x="2500943" y="687366"/>
                  <a:pt x="2151647" y="1284203"/>
                  <a:pt x="2151647" y="1961148"/>
                </a:cubicBezTo>
                <a:cubicBezTo>
                  <a:pt x="2151647" y="2638093"/>
                  <a:pt x="2500943" y="3234930"/>
                  <a:pt x="3032212" y="3587363"/>
                </a:cubicBezTo>
                <a:lnTo>
                  <a:pt x="3073066" y="3611734"/>
                </a:lnTo>
                <a:lnTo>
                  <a:pt x="2949246" y="3685596"/>
                </a:lnTo>
                <a:cubicBezTo>
                  <a:pt x="2666250" y="3836551"/>
                  <a:pt x="2341944" y="3922296"/>
                  <a:pt x="1997242" y="3922296"/>
                </a:cubicBezTo>
                <a:cubicBezTo>
                  <a:pt x="894196" y="3922296"/>
                  <a:pt x="0" y="3044260"/>
                  <a:pt x="0" y="1961148"/>
                </a:cubicBezTo>
                <a:cubicBezTo>
                  <a:pt x="0" y="878036"/>
                  <a:pt x="894196" y="0"/>
                  <a:pt x="1997242" y="0"/>
                </a:cubicBezTo>
                <a:close/>
              </a:path>
            </a:pathLst>
          </a:cu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lumMod val="95000"/>
                  </a:schemeClr>
                </a:solidFill>
              </a:rPr>
              <a:t>   </a:t>
            </a:r>
            <a:r>
              <a:rPr lang="en-US" dirty="0">
                <a:solidFill>
                  <a:schemeClr val="bg1">
                    <a:lumMod val="95000"/>
                  </a:schemeClr>
                </a:solidFill>
              </a:rPr>
              <a:t>Review Article</a:t>
            </a:r>
          </a:p>
          <a:p>
            <a:pPr algn="ctr"/>
            <a:endParaRPr lang="en-US" sz="1100" dirty="0">
              <a:solidFill>
                <a:schemeClr val="bg1">
                  <a:lumMod val="95000"/>
                </a:schemeClr>
              </a:solidFill>
            </a:endParaRPr>
          </a:p>
          <a:p>
            <a:r>
              <a:rPr lang="en-US" sz="1100" dirty="0">
                <a:solidFill>
                  <a:schemeClr val="bg1">
                    <a:lumMod val="95000"/>
                  </a:schemeClr>
                </a:solidFill>
              </a:rPr>
              <a:t>               Identifies previously published </a:t>
            </a:r>
          </a:p>
          <a:p>
            <a:r>
              <a:rPr lang="en-US" sz="1100" dirty="0">
                <a:solidFill>
                  <a:schemeClr val="bg1">
                    <a:lumMod val="95000"/>
                  </a:schemeClr>
                </a:solidFill>
              </a:rPr>
              <a:t>           research on a topic and </a:t>
            </a:r>
          </a:p>
          <a:p>
            <a:r>
              <a:rPr lang="en-US" sz="1100" dirty="0">
                <a:solidFill>
                  <a:schemeClr val="bg1">
                    <a:lumMod val="95000"/>
                  </a:schemeClr>
                </a:solidFill>
              </a:rPr>
              <a:t>      summarize the information </a:t>
            </a:r>
          </a:p>
          <a:p>
            <a:r>
              <a:rPr lang="en-US" sz="1100" dirty="0">
                <a:solidFill>
                  <a:schemeClr val="bg1">
                    <a:lumMod val="95000"/>
                  </a:schemeClr>
                </a:solidFill>
              </a:rPr>
              <a:t>    (secondary source).</a:t>
            </a:r>
          </a:p>
          <a:p>
            <a:endParaRPr lang="en-US" sz="1100" dirty="0">
              <a:solidFill>
                <a:schemeClr val="bg1">
                  <a:lumMod val="95000"/>
                </a:schemeClr>
              </a:solidFill>
            </a:endParaRPr>
          </a:p>
          <a:p>
            <a:r>
              <a:rPr lang="en-US" sz="1100" dirty="0">
                <a:solidFill>
                  <a:schemeClr val="bg1">
                    <a:lumMod val="95000"/>
                  </a:schemeClr>
                </a:solidFill>
              </a:rPr>
              <a:t>Discusses what is already known</a:t>
            </a:r>
          </a:p>
          <a:p>
            <a:r>
              <a:rPr lang="en-US" sz="1100" dirty="0">
                <a:solidFill>
                  <a:schemeClr val="bg1">
                    <a:lumMod val="95000"/>
                  </a:schemeClr>
                </a:solidFill>
              </a:rPr>
              <a:t>and can be used to identify gaps </a:t>
            </a:r>
          </a:p>
          <a:p>
            <a:r>
              <a:rPr lang="en-US" sz="1100" dirty="0">
                <a:solidFill>
                  <a:schemeClr val="bg1">
                    <a:lumMod val="95000"/>
                  </a:schemeClr>
                </a:solidFill>
              </a:rPr>
              <a:t>in the field.</a:t>
            </a:r>
          </a:p>
          <a:p>
            <a:r>
              <a:rPr lang="en-US" sz="1100" dirty="0">
                <a:solidFill>
                  <a:schemeClr val="bg1">
                    <a:lumMod val="95000"/>
                  </a:schemeClr>
                </a:solidFill>
              </a:rPr>
              <a:t>   </a:t>
            </a:r>
          </a:p>
          <a:p>
            <a:r>
              <a:rPr lang="en-US" sz="1100" dirty="0">
                <a:solidFill>
                  <a:schemeClr val="bg1">
                    <a:lumMod val="95000"/>
                  </a:schemeClr>
                </a:solidFill>
              </a:rPr>
              <a:t>  Usually no set layout</a:t>
            </a:r>
          </a:p>
          <a:p>
            <a:endParaRPr lang="en-US" sz="1100" dirty="0">
              <a:solidFill>
                <a:schemeClr val="bg1">
                  <a:lumMod val="95000"/>
                </a:schemeClr>
              </a:solidFill>
            </a:endParaRPr>
          </a:p>
          <a:p>
            <a:r>
              <a:rPr lang="en-US" sz="1100" dirty="0">
                <a:solidFill>
                  <a:schemeClr val="bg1">
                    <a:lumMod val="95000"/>
                  </a:schemeClr>
                </a:solidFill>
              </a:rPr>
              <a:t>      No original research is being  </a:t>
            </a:r>
          </a:p>
          <a:p>
            <a:r>
              <a:rPr lang="en-US" sz="1100" dirty="0">
                <a:solidFill>
                  <a:schemeClr val="bg1">
                    <a:lumMod val="95000"/>
                  </a:schemeClr>
                </a:solidFill>
              </a:rPr>
              <a:t>         presented. </a:t>
            </a:r>
          </a:p>
          <a:p>
            <a:r>
              <a:rPr lang="en-US" sz="1100" dirty="0">
                <a:solidFill>
                  <a:schemeClr val="bg1">
                    <a:lumMod val="95000"/>
                  </a:schemeClr>
                </a:solidFill>
              </a:rPr>
              <a:t>                       </a:t>
            </a:r>
          </a:p>
          <a:p>
            <a:r>
              <a:rPr lang="en-US" sz="1100" dirty="0">
                <a:solidFill>
                  <a:schemeClr val="bg1">
                    <a:lumMod val="95000"/>
                  </a:schemeClr>
                </a:solidFill>
              </a:rPr>
              <a:t>                 Written for a more general </a:t>
            </a:r>
          </a:p>
          <a:p>
            <a:r>
              <a:rPr lang="en-US" sz="1100" dirty="0">
                <a:solidFill>
                  <a:schemeClr val="bg1">
                    <a:lumMod val="95000"/>
                  </a:schemeClr>
                </a:solidFill>
              </a:rPr>
              <a:t>                        audience and easier to read </a:t>
            </a:r>
            <a:endParaRPr lang="en-IN" sz="1100" dirty="0">
              <a:solidFill>
                <a:schemeClr val="bg1">
                  <a:lumMod val="95000"/>
                </a:schemeClr>
              </a:solidFill>
            </a:endParaRPr>
          </a:p>
        </p:txBody>
      </p:sp>
      <p:sp>
        <p:nvSpPr>
          <p:cNvPr id="26" name="Freeform 25"/>
          <p:cNvSpPr/>
          <p:nvPr/>
        </p:nvSpPr>
        <p:spPr>
          <a:xfrm>
            <a:off x="5207669" y="3077825"/>
            <a:ext cx="1842837" cy="3301171"/>
          </a:xfrm>
          <a:custGeom>
            <a:avLst/>
            <a:gdLst>
              <a:gd name="connsiteX0" fmla="*/ 921419 w 1842837"/>
              <a:gd name="connsiteY0" fmla="*/ 0 h 3301171"/>
              <a:gd name="connsiteX1" fmla="*/ 962272 w 1842837"/>
              <a:gd name="connsiteY1" fmla="*/ 24370 h 3301171"/>
              <a:gd name="connsiteX2" fmla="*/ 1842837 w 1842837"/>
              <a:gd name="connsiteY2" fmla="*/ 1650585 h 3301171"/>
              <a:gd name="connsiteX3" fmla="*/ 962272 w 1842837"/>
              <a:gd name="connsiteY3" fmla="*/ 3276800 h 3301171"/>
              <a:gd name="connsiteX4" fmla="*/ 921419 w 1842837"/>
              <a:gd name="connsiteY4" fmla="*/ 3301171 h 3301171"/>
              <a:gd name="connsiteX5" fmla="*/ 880565 w 1842837"/>
              <a:gd name="connsiteY5" fmla="*/ 3276800 h 3301171"/>
              <a:gd name="connsiteX6" fmla="*/ 0 w 1842837"/>
              <a:gd name="connsiteY6" fmla="*/ 1650585 h 3301171"/>
              <a:gd name="connsiteX7" fmla="*/ 880565 w 1842837"/>
              <a:gd name="connsiteY7" fmla="*/ 24370 h 3301171"/>
              <a:gd name="connsiteX8" fmla="*/ 921419 w 1842837"/>
              <a:gd name="connsiteY8" fmla="*/ 0 h 330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2837" h="3301171">
                <a:moveTo>
                  <a:pt x="921419" y="0"/>
                </a:moveTo>
                <a:lnTo>
                  <a:pt x="962272" y="24370"/>
                </a:lnTo>
                <a:cubicBezTo>
                  <a:pt x="1493542" y="376803"/>
                  <a:pt x="1842837" y="973640"/>
                  <a:pt x="1842837" y="1650585"/>
                </a:cubicBezTo>
                <a:cubicBezTo>
                  <a:pt x="1842837" y="2327530"/>
                  <a:pt x="1493542" y="2924367"/>
                  <a:pt x="962272" y="3276800"/>
                </a:cubicBezTo>
                <a:lnTo>
                  <a:pt x="921419" y="3301171"/>
                </a:lnTo>
                <a:lnTo>
                  <a:pt x="880565" y="3276800"/>
                </a:lnTo>
                <a:cubicBezTo>
                  <a:pt x="349296" y="2924367"/>
                  <a:pt x="0" y="2327530"/>
                  <a:pt x="0" y="1650585"/>
                </a:cubicBezTo>
                <a:cubicBezTo>
                  <a:pt x="0" y="973640"/>
                  <a:pt x="349296" y="376803"/>
                  <a:pt x="880565" y="24370"/>
                </a:cubicBezTo>
                <a:lnTo>
                  <a:pt x="921419" y="0"/>
                </a:lnTo>
                <a:close/>
              </a:path>
            </a:pathLst>
          </a:custGeom>
          <a:solidFill>
            <a:srgbClr val="9966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Both </a:t>
            </a:r>
          </a:p>
          <a:p>
            <a:pPr algn="ctr"/>
            <a:endParaRPr lang="en-US" sz="1100" dirty="0"/>
          </a:p>
          <a:p>
            <a:pPr algn="ctr"/>
            <a:r>
              <a:rPr lang="en-US" sz="1100" dirty="0"/>
              <a:t>Written by subject expert such as a scientist or researcher.</a:t>
            </a:r>
          </a:p>
          <a:p>
            <a:pPr algn="ctr"/>
            <a:endParaRPr lang="en-US" sz="1100" dirty="0"/>
          </a:p>
          <a:p>
            <a:pPr algn="ctr"/>
            <a:r>
              <a:rPr lang="en-US" sz="1100" dirty="0"/>
              <a:t>Can be published in a scholarly, peer – reviewed journal.</a:t>
            </a:r>
          </a:p>
        </p:txBody>
      </p:sp>
      <p:sp>
        <p:nvSpPr>
          <p:cNvPr id="29" name="Freeform 28"/>
          <p:cNvSpPr/>
          <p:nvPr/>
        </p:nvSpPr>
        <p:spPr>
          <a:xfrm>
            <a:off x="6129087" y="2767262"/>
            <a:ext cx="3073065" cy="3922296"/>
          </a:xfrm>
          <a:custGeom>
            <a:avLst/>
            <a:gdLst>
              <a:gd name="connsiteX0" fmla="*/ 1075823 w 3073065"/>
              <a:gd name="connsiteY0" fmla="*/ 0 h 3922296"/>
              <a:gd name="connsiteX1" fmla="*/ 3073065 w 3073065"/>
              <a:gd name="connsiteY1" fmla="*/ 1961148 h 3922296"/>
              <a:gd name="connsiteX2" fmla="*/ 1075823 w 3073065"/>
              <a:gd name="connsiteY2" fmla="*/ 3922296 h 3922296"/>
              <a:gd name="connsiteX3" fmla="*/ 123819 w 3073065"/>
              <a:gd name="connsiteY3" fmla="*/ 3685596 h 3922296"/>
              <a:gd name="connsiteX4" fmla="*/ 0 w 3073065"/>
              <a:gd name="connsiteY4" fmla="*/ 3611734 h 3922296"/>
              <a:gd name="connsiteX5" fmla="*/ 40853 w 3073065"/>
              <a:gd name="connsiteY5" fmla="*/ 3587363 h 3922296"/>
              <a:gd name="connsiteX6" fmla="*/ 921418 w 3073065"/>
              <a:gd name="connsiteY6" fmla="*/ 1961148 h 3922296"/>
              <a:gd name="connsiteX7" fmla="*/ 40853 w 3073065"/>
              <a:gd name="connsiteY7" fmla="*/ 334933 h 3922296"/>
              <a:gd name="connsiteX8" fmla="*/ 0 w 3073065"/>
              <a:gd name="connsiteY8" fmla="*/ 310563 h 3922296"/>
              <a:gd name="connsiteX9" fmla="*/ 123819 w 3073065"/>
              <a:gd name="connsiteY9" fmla="*/ 236700 h 3922296"/>
              <a:gd name="connsiteX10" fmla="*/ 1075823 w 3073065"/>
              <a:gd name="connsiteY10" fmla="*/ 0 h 3922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73065" h="3922296">
                <a:moveTo>
                  <a:pt x="1075823" y="0"/>
                </a:moveTo>
                <a:cubicBezTo>
                  <a:pt x="2178869" y="0"/>
                  <a:pt x="3073065" y="878036"/>
                  <a:pt x="3073065" y="1961148"/>
                </a:cubicBezTo>
                <a:cubicBezTo>
                  <a:pt x="3073065" y="3044260"/>
                  <a:pt x="2178869" y="3922296"/>
                  <a:pt x="1075823" y="3922296"/>
                </a:cubicBezTo>
                <a:cubicBezTo>
                  <a:pt x="731121" y="3922296"/>
                  <a:pt x="406815" y="3836551"/>
                  <a:pt x="123819" y="3685596"/>
                </a:cubicBezTo>
                <a:lnTo>
                  <a:pt x="0" y="3611734"/>
                </a:lnTo>
                <a:lnTo>
                  <a:pt x="40853" y="3587363"/>
                </a:lnTo>
                <a:cubicBezTo>
                  <a:pt x="572123" y="3234930"/>
                  <a:pt x="921418" y="2638093"/>
                  <a:pt x="921418" y="1961148"/>
                </a:cubicBezTo>
                <a:cubicBezTo>
                  <a:pt x="921418" y="1284203"/>
                  <a:pt x="572123" y="687366"/>
                  <a:pt x="40853" y="334933"/>
                </a:cubicBezTo>
                <a:lnTo>
                  <a:pt x="0" y="310563"/>
                </a:lnTo>
                <a:lnTo>
                  <a:pt x="123819" y="236700"/>
                </a:lnTo>
                <a:cubicBezTo>
                  <a:pt x="406815" y="85746"/>
                  <a:pt x="731121" y="0"/>
                  <a:pt x="1075823"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a:t>
            </a:r>
          </a:p>
          <a:p>
            <a:pPr algn="ctr"/>
            <a:endParaRPr lang="en-US" dirty="0">
              <a:solidFill>
                <a:schemeClr val="tx1"/>
              </a:solidFill>
            </a:endParaRPr>
          </a:p>
          <a:p>
            <a:r>
              <a:rPr lang="en-US" dirty="0">
                <a:solidFill>
                  <a:schemeClr val="tx1"/>
                </a:solidFill>
              </a:rPr>
              <a:t>           Research Article</a:t>
            </a:r>
          </a:p>
          <a:p>
            <a:pPr algn="ctr"/>
            <a:endParaRPr lang="en-US" sz="1100" dirty="0">
              <a:solidFill>
                <a:schemeClr val="tx1"/>
              </a:solidFill>
            </a:endParaRPr>
          </a:p>
          <a:p>
            <a:r>
              <a:rPr lang="en-US" dirty="0">
                <a:solidFill>
                  <a:schemeClr val="tx1"/>
                </a:solidFill>
              </a:rPr>
              <a:t>             </a:t>
            </a:r>
            <a:r>
              <a:rPr lang="en-US" sz="1100" dirty="0">
                <a:solidFill>
                  <a:schemeClr val="tx1"/>
                </a:solidFill>
              </a:rPr>
              <a:t>Follows the scientific method.</a:t>
            </a:r>
          </a:p>
          <a:p>
            <a:r>
              <a:rPr lang="en-US" sz="1100" dirty="0">
                <a:solidFill>
                  <a:schemeClr val="tx1"/>
                </a:solidFill>
              </a:rPr>
              <a:t>	</a:t>
            </a:r>
          </a:p>
          <a:p>
            <a:r>
              <a:rPr lang="en-US" sz="1100" dirty="0">
                <a:solidFill>
                  <a:schemeClr val="tx1"/>
                </a:solidFill>
              </a:rPr>
              <a:t>                          Usually provides a brief background   	on prior research (introduction).</a:t>
            </a:r>
          </a:p>
          <a:p>
            <a:r>
              <a:rPr lang="en-US" sz="1100" dirty="0">
                <a:solidFill>
                  <a:schemeClr val="tx1"/>
                </a:solidFill>
              </a:rPr>
              <a:t>                           </a:t>
            </a:r>
          </a:p>
          <a:p>
            <a:r>
              <a:rPr lang="en-US" sz="1100" dirty="0">
                <a:solidFill>
                  <a:schemeClr val="tx1"/>
                </a:solidFill>
              </a:rPr>
              <a:t>                             Conducts an experiment and     	reports the findings.</a:t>
            </a:r>
          </a:p>
          <a:p>
            <a:endParaRPr lang="en-US" sz="1100" dirty="0">
              <a:solidFill>
                <a:schemeClr val="tx1"/>
              </a:solidFill>
            </a:endParaRPr>
          </a:p>
          <a:p>
            <a:r>
              <a:rPr lang="en-US" sz="1100" dirty="0">
                <a:solidFill>
                  <a:schemeClr val="tx1"/>
                </a:solidFill>
              </a:rPr>
              <a:t>                             Authors have NEW original      	research data (primary source)      	and discusses their results.</a:t>
            </a:r>
          </a:p>
          <a:p>
            <a:endParaRPr lang="en-US" sz="1100" dirty="0">
              <a:solidFill>
                <a:schemeClr val="tx1"/>
              </a:solidFill>
            </a:endParaRPr>
          </a:p>
          <a:p>
            <a:r>
              <a:rPr lang="en-US" sz="1100" dirty="0">
                <a:solidFill>
                  <a:schemeClr val="tx1"/>
                </a:solidFill>
              </a:rPr>
              <a:t>                   Written at an advance level; </a:t>
            </a:r>
          </a:p>
          <a:p>
            <a:r>
              <a:rPr lang="en-US" sz="1100" dirty="0">
                <a:solidFill>
                  <a:schemeClr val="tx1"/>
                </a:solidFill>
              </a:rPr>
              <a:t>                   usually contains lots of jargon</a:t>
            </a:r>
          </a:p>
          <a:p>
            <a:endParaRPr lang="en-US" sz="1100" dirty="0">
              <a:solidFill>
                <a:schemeClr val="tx1"/>
              </a:solidFill>
            </a:endParaRPr>
          </a:p>
          <a:p>
            <a:pPr algn="ctr"/>
            <a:endParaRPr lang="en-US" dirty="0"/>
          </a:p>
          <a:p>
            <a:pPr algn="ctr"/>
            <a:endParaRPr lang="en-IN" dirty="0"/>
          </a:p>
        </p:txBody>
      </p:sp>
    </p:spTree>
    <p:extLst>
      <p:ext uri="{BB962C8B-B14F-4D97-AF65-F5344CB8AC3E}">
        <p14:creationId xmlns:p14="http://schemas.microsoft.com/office/powerpoint/2010/main" val="336426300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5843"/>
          </a:xfrm>
        </p:spPr>
        <p:txBody>
          <a:bodyPr>
            <a:normAutofit/>
          </a:bodyPr>
          <a:lstStyle/>
          <a:p>
            <a:pPr algn="ctr"/>
            <a:r>
              <a:rPr lang="en-IN" sz="3200" b="1" spc="-160" dirty="0">
                <a:solidFill>
                  <a:srgbClr val="0803DD"/>
                </a:solidFill>
                <a:latin typeface="Arial"/>
                <a:cs typeface="Arial"/>
              </a:rPr>
              <a:t>Classificatio</a:t>
            </a:r>
            <a:r>
              <a:rPr lang="en-IN" sz="3200" b="1" spc="-204" dirty="0">
                <a:solidFill>
                  <a:srgbClr val="0803DD"/>
                </a:solidFill>
                <a:latin typeface="Arial"/>
                <a:cs typeface="Arial"/>
              </a:rPr>
              <a:t>n</a:t>
            </a:r>
            <a:r>
              <a:rPr lang="en-IN" sz="3200" b="1" spc="-190" dirty="0">
                <a:solidFill>
                  <a:srgbClr val="0803DD"/>
                </a:solidFill>
                <a:latin typeface="Arial"/>
                <a:cs typeface="Arial"/>
              </a:rPr>
              <a:t> </a:t>
            </a:r>
            <a:r>
              <a:rPr lang="en-IN" sz="3200" b="1" spc="30" dirty="0">
                <a:solidFill>
                  <a:srgbClr val="0803DD"/>
                </a:solidFill>
                <a:latin typeface="Arial"/>
                <a:cs typeface="Arial"/>
              </a:rPr>
              <a:t>o</a:t>
            </a:r>
            <a:r>
              <a:rPr lang="en-IN" sz="3200" b="1" spc="15" dirty="0">
                <a:solidFill>
                  <a:srgbClr val="0803DD"/>
                </a:solidFill>
                <a:latin typeface="Arial"/>
                <a:cs typeface="Arial"/>
              </a:rPr>
              <a:t>f</a:t>
            </a:r>
            <a:r>
              <a:rPr lang="en-IN" sz="3200" b="1" spc="-95" dirty="0">
                <a:solidFill>
                  <a:srgbClr val="0803DD"/>
                </a:solidFill>
                <a:latin typeface="Arial"/>
                <a:cs typeface="Arial"/>
              </a:rPr>
              <a:t> </a:t>
            </a:r>
            <a:r>
              <a:rPr lang="en-IN" sz="3200" b="1" spc="-114" dirty="0">
                <a:solidFill>
                  <a:srgbClr val="0803DD"/>
                </a:solidFill>
                <a:latin typeface="Arial"/>
                <a:cs typeface="Arial"/>
              </a:rPr>
              <a:t>Revie</a:t>
            </a:r>
            <a:r>
              <a:rPr lang="en-IN" sz="3200" b="1" spc="-160" dirty="0">
                <a:solidFill>
                  <a:srgbClr val="0803DD"/>
                </a:solidFill>
                <a:latin typeface="Arial"/>
                <a:cs typeface="Arial"/>
              </a:rPr>
              <a:t>w</a:t>
            </a:r>
            <a:r>
              <a:rPr lang="en-IN" sz="3200" b="1" spc="175" dirty="0">
                <a:solidFill>
                  <a:srgbClr val="0803DD"/>
                </a:solidFill>
                <a:latin typeface="Arial"/>
                <a:cs typeface="Arial"/>
              </a:rPr>
              <a:t> </a:t>
            </a:r>
            <a:r>
              <a:rPr lang="en-IN" sz="3200" b="1" spc="-140" dirty="0">
                <a:solidFill>
                  <a:srgbClr val="0803DD"/>
                </a:solidFill>
                <a:latin typeface="Arial"/>
                <a:cs typeface="Arial"/>
              </a:rPr>
              <a:t>Articles</a:t>
            </a:r>
            <a:endParaRPr lang="en-IN" sz="3200" dirty="0"/>
          </a:p>
        </p:txBody>
      </p:sp>
      <p:sp>
        <p:nvSpPr>
          <p:cNvPr id="3" name="Content Placeholder 2"/>
          <p:cNvSpPr>
            <a:spLocks noGrp="1"/>
          </p:cNvSpPr>
          <p:nvPr>
            <p:ph idx="1"/>
          </p:nvPr>
        </p:nvSpPr>
        <p:spPr>
          <a:xfrm>
            <a:off x="838200" y="1130968"/>
            <a:ext cx="10515600" cy="5045995"/>
          </a:xfrm>
        </p:spPr>
        <p:txBody>
          <a:bodyPr>
            <a:normAutofit fontScale="92500" lnSpcReduction="20000"/>
          </a:bodyPr>
          <a:lstStyle/>
          <a:p>
            <a:pPr marL="0" indent="0">
              <a:lnSpc>
                <a:spcPct val="120000"/>
              </a:lnSpc>
              <a:buNone/>
            </a:pPr>
            <a:r>
              <a:rPr lang="en-US" sz="1800" spc="70" dirty="0">
                <a:solidFill>
                  <a:srgbClr val="0A0A0A"/>
                </a:solidFill>
                <a:latin typeface="Arial"/>
                <a:cs typeface="Arial"/>
              </a:rPr>
              <a:t>Review</a:t>
            </a:r>
            <a:r>
              <a:rPr lang="en-US" sz="1800" spc="155" dirty="0">
                <a:solidFill>
                  <a:srgbClr val="0A0A0A"/>
                </a:solidFill>
                <a:latin typeface="Arial"/>
                <a:cs typeface="Arial"/>
              </a:rPr>
              <a:t> </a:t>
            </a:r>
            <a:r>
              <a:rPr lang="en-US" sz="1800" spc="114" dirty="0">
                <a:solidFill>
                  <a:srgbClr val="0A0A0A"/>
                </a:solidFill>
                <a:latin typeface="Arial"/>
                <a:cs typeface="Arial"/>
              </a:rPr>
              <a:t>articles</a:t>
            </a:r>
            <a:r>
              <a:rPr lang="en-US" sz="1800" spc="85" dirty="0">
                <a:solidFill>
                  <a:srgbClr val="0A0A0A"/>
                </a:solidFill>
                <a:latin typeface="Arial"/>
                <a:cs typeface="Arial"/>
              </a:rPr>
              <a:t> </a:t>
            </a:r>
            <a:r>
              <a:rPr lang="en-US" sz="1800" spc="160" dirty="0">
                <a:solidFill>
                  <a:srgbClr val="0A0A0A"/>
                </a:solidFill>
                <a:latin typeface="Arial"/>
                <a:cs typeface="Arial"/>
              </a:rPr>
              <a:t>maybe</a:t>
            </a:r>
            <a:r>
              <a:rPr lang="en-US" sz="1800" spc="40" dirty="0">
                <a:solidFill>
                  <a:srgbClr val="0A0A0A"/>
                </a:solidFill>
                <a:latin typeface="Arial"/>
                <a:cs typeface="Arial"/>
              </a:rPr>
              <a:t> </a:t>
            </a:r>
            <a:r>
              <a:rPr lang="en-US" sz="1800" spc="85" dirty="0">
                <a:solidFill>
                  <a:srgbClr val="0A0A0A"/>
                </a:solidFill>
                <a:latin typeface="Arial"/>
                <a:cs typeface="Arial"/>
              </a:rPr>
              <a:t>classified</a:t>
            </a:r>
            <a:r>
              <a:rPr lang="en-US" sz="1800" spc="145" dirty="0">
                <a:solidFill>
                  <a:srgbClr val="0A0A0A"/>
                </a:solidFill>
                <a:latin typeface="Arial"/>
                <a:cs typeface="Arial"/>
              </a:rPr>
              <a:t> </a:t>
            </a:r>
            <a:r>
              <a:rPr lang="en-US" sz="1800" spc="235" dirty="0">
                <a:solidFill>
                  <a:srgbClr val="0A0A0A"/>
                </a:solidFill>
                <a:latin typeface="Arial"/>
                <a:cs typeface="Arial"/>
              </a:rPr>
              <a:t>into</a:t>
            </a:r>
            <a:r>
              <a:rPr lang="en-US" sz="1800" spc="-120" dirty="0">
                <a:solidFill>
                  <a:srgbClr val="0A0A0A"/>
                </a:solidFill>
                <a:latin typeface="Arial"/>
                <a:cs typeface="Arial"/>
              </a:rPr>
              <a:t> </a:t>
            </a:r>
            <a:r>
              <a:rPr lang="en-US" sz="1800" spc="204" dirty="0">
                <a:solidFill>
                  <a:srgbClr val="0A0A0A"/>
                </a:solidFill>
                <a:latin typeface="Arial"/>
                <a:cs typeface="Arial"/>
              </a:rPr>
              <a:t>three</a:t>
            </a:r>
            <a:r>
              <a:rPr lang="en-US" sz="1800" spc="60" dirty="0">
                <a:solidFill>
                  <a:srgbClr val="0A0A0A"/>
                </a:solidFill>
                <a:latin typeface="Arial"/>
                <a:cs typeface="Arial"/>
              </a:rPr>
              <a:t> </a:t>
            </a:r>
            <a:r>
              <a:rPr lang="en-US" sz="1800" spc="140" dirty="0">
                <a:solidFill>
                  <a:srgbClr val="0A0A0A"/>
                </a:solidFill>
                <a:latin typeface="Arial"/>
                <a:cs typeface="Arial"/>
              </a:rPr>
              <a:t>types</a:t>
            </a:r>
            <a:r>
              <a:rPr lang="en-US" sz="1800" spc="-105" dirty="0">
                <a:solidFill>
                  <a:srgbClr val="0A0A0A"/>
                </a:solidFill>
                <a:latin typeface="Arial"/>
                <a:cs typeface="Arial"/>
              </a:rPr>
              <a:t> </a:t>
            </a:r>
            <a:r>
              <a:rPr lang="en-US" sz="1800" spc="100" dirty="0">
                <a:solidFill>
                  <a:srgbClr val="0A0A0A"/>
                </a:solidFill>
                <a:latin typeface="Arial"/>
                <a:cs typeface="Arial"/>
              </a:rPr>
              <a:t>-</a:t>
            </a:r>
            <a:r>
              <a:rPr lang="en-US" sz="1800" dirty="0">
                <a:latin typeface="Arial"/>
                <a:cs typeface="Arial"/>
              </a:rPr>
              <a:t> </a:t>
            </a:r>
            <a:r>
              <a:rPr lang="en-US" sz="1800" spc="200" dirty="0">
                <a:solidFill>
                  <a:srgbClr val="0A0A0A"/>
                </a:solidFill>
                <a:latin typeface="Arial"/>
                <a:cs typeface="Arial"/>
              </a:rPr>
              <a:t>Methodological,</a:t>
            </a:r>
            <a:r>
              <a:rPr lang="en-US" sz="1800" spc="-140" dirty="0">
                <a:solidFill>
                  <a:srgbClr val="0A0A0A"/>
                </a:solidFill>
                <a:latin typeface="Arial"/>
                <a:cs typeface="Arial"/>
              </a:rPr>
              <a:t> </a:t>
            </a:r>
            <a:r>
              <a:rPr lang="en-US" sz="1800" spc="135" dirty="0">
                <a:solidFill>
                  <a:srgbClr val="0A0A0A"/>
                </a:solidFill>
                <a:latin typeface="Arial"/>
                <a:cs typeface="Arial"/>
              </a:rPr>
              <a:t>Objective</a:t>
            </a:r>
            <a:r>
              <a:rPr lang="en-US" sz="1800" spc="105" dirty="0">
                <a:solidFill>
                  <a:srgbClr val="0A0A0A"/>
                </a:solidFill>
                <a:latin typeface="Arial"/>
                <a:cs typeface="Arial"/>
              </a:rPr>
              <a:t> </a:t>
            </a:r>
            <a:r>
              <a:rPr lang="en-US" sz="1800" spc="180" dirty="0">
                <a:solidFill>
                  <a:srgbClr val="0A0A0A"/>
                </a:solidFill>
                <a:latin typeface="Arial"/>
                <a:cs typeface="Arial"/>
              </a:rPr>
              <a:t>and</a:t>
            </a:r>
            <a:r>
              <a:rPr lang="en-US" sz="1800" spc="-90" dirty="0">
                <a:solidFill>
                  <a:srgbClr val="0A0A0A"/>
                </a:solidFill>
                <a:latin typeface="Arial"/>
                <a:cs typeface="Arial"/>
              </a:rPr>
              <a:t> </a:t>
            </a:r>
            <a:r>
              <a:rPr lang="en-US" sz="1800" spc="220" dirty="0">
                <a:solidFill>
                  <a:srgbClr val="0A0A0A"/>
                </a:solidFill>
                <a:latin typeface="Arial"/>
                <a:cs typeface="Arial"/>
              </a:rPr>
              <a:t>Mandate</a:t>
            </a:r>
            <a:r>
              <a:rPr lang="en-US" sz="1800" spc="170" dirty="0">
                <a:solidFill>
                  <a:srgbClr val="0A0A0A"/>
                </a:solidFill>
                <a:latin typeface="Arial"/>
                <a:cs typeface="Arial"/>
              </a:rPr>
              <a:t> </a:t>
            </a:r>
            <a:r>
              <a:rPr lang="en-US" sz="1800" spc="90" dirty="0">
                <a:solidFill>
                  <a:srgbClr val="0A0A0A"/>
                </a:solidFill>
                <a:latin typeface="Arial"/>
                <a:cs typeface="Arial"/>
              </a:rPr>
              <a:t>based</a:t>
            </a:r>
            <a:r>
              <a:rPr lang="en-US" sz="1800" spc="-35" dirty="0">
                <a:solidFill>
                  <a:srgbClr val="0A0A0A"/>
                </a:solidFill>
                <a:latin typeface="Arial"/>
                <a:cs typeface="Arial"/>
              </a:rPr>
              <a:t> </a:t>
            </a:r>
            <a:r>
              <a:rPr lang="en-US" sz="1800" spc="140" dirty="0">
                <a:solidFill>
                  <a:srgbClr val="0A0A0A"/>
                </a:solidFill>
                <a:latin typeface="Arial"/>
                <a:cs typeface="Arial"/>
              </a:rPr>
              <a:t>types.</a:t>
            </a:r>
            <a:endParaRPr lang="en-US" sz="1800" dirty="0">
              <a:latin typeface="Arial"/>
              <a:cs typeface="Arial"/>
            </a:endParaRPr>
          </a:p>
          <a:p>
            <a:pPr marL="525463" indent="-165100">
              <a:lnSpc>
                <a:spcPct val="120000"/>
              </a:lnSpc>
              <a:spcBef>
                <a:spcPts val="1630"/>
              </a:spcBef>
              <a:buClr>
                <a:srgbClr val="0A0A0A"/>
              </a:buClr>
              <a:buFont typeface="+mj-lt"/>
              <a:buAutoNum type="arabicPeriod"/>
              <a:tabLst>
                <a:tab pos="511175" algn="l"/>
              </a:tabLst>
            </a:pPr>
            <a:r>
              <a:rPr lang="en-US" sz="1800" spc="155" dirty="0">
                <a:solidFill>
                  <a:srgbClr val="FF0000"/>
                </a:solidFill>
                <a:latin typeface="Arial"/>
                <a:cs typeface="Arial"/>
              </a:rPr>
              <a:t>Methodological Approach and it types</a:t>
            </a:r>
            <a:endParaRPr lang="en-US" sz="1800" dirty="0">
              <a:solidFill>
                <a:srgbClr val="FF0000"/>
              </a:solidFill>
              <a:latin typeface="Arial"/>
              <a:cs typeface="Arial"/>
            </a:endParaRPr>
          </a:p>
          <a:p>
            <a:pPr marL="890588" indent="-168275">
              <a:lnSpc>
                <a:spcPct val="120000"/>
              </a:lnSpc>
              <a:spcBef>
                <a:spcPts val="1630"/>
              </a:spcBef>
              <a:buClr>
                <a:srgbClr val="0A0A0A"/>
              </a:buClr>
              <a:tabLst>
                <a:tab pos="511175" algn="l"/>
              </a:tabLst>
            </a:pPr>
            <a:r>
              <a:rPr lang="en-US" sz="1800" spc="145" dirty="0">
                <a:solidFill>
                  <a:srgbClr val="0A0A0A"/>
                </a:solidFill>
                <a:latin typeface="Arial"/>
                <a:cs typeface="Arial"/>
              </a:rPr>
              <a:t>Narrative</a:t>
            </a:r>
            <a:r>
              <a:rPr lang="en-US" sz="1800" spc="55" dirty="0">
                <a:solidFill>
                  <a:srgbClr val="0A0A0A"/>
                </a:solidFill>
                <a:latin typeface="Arial"/>
                <a:cs typeface="Arial"/>
              </a:rPr>
              <a:t> </a:t>
            </a:r>
            <a:r>
              <a:rPr lang="en-US" sz="1800" spc="215" dirty="0">
                <a:solidFill>
                  <a:srgbClr val="0A0A0A"/>
                </a:solidFill>
                <a:latin typeface="Arial"/>
                <a:cs typeface="Arial"/>
              </a:rPr>
              <a:t>Review:</a:t>
            </a:r>
            <a:endParaRPr lang="en-US" sz="1800" dirty="0">
              <a:latin typeface="Arial"/>
              <a:cs typeface="Arial"/>
            </a:endParaRPr>
          </a:p>
          <a:p>
            <a:pPr marL="1443038" indent="-185738">
              <a:lnSpc>
                <a:spcPct val="120000"/>
              </a:lnSpc>
              <a:spcBef>
                <a:spcPts val="1630"/>
              </a:spcBef>
              <a:buClr>
                <a:srgbClr val="0A0A0A"/>
              </a:buClr>
              <a:buFont typeface="Wingdings" panose="05000000000000000000" pitchFamily="2" charset="2"/>
              <a:buChar char="Ø"/>
              <a:tabLst>
                <a:tab pos="511175" algn="l"/>
              </a:tabLst>
            </a:pPr>
            <a:r>
              <a:rPr lang="en-US" sz="1800" spc="10" dirty="0">
                <a:solidFill>
                  <a:srgbClr val="0A0A0A"/>
                </a:solidFill>
                <a:latin typeface="Arial"/>
                <a:cs typeface="Arial"/>
              </a:rPr>
              <a:t>Selected</a:t>
            </a:r>
            <a:r>
              <a:rPr lang="en-US" sz="1800" spc="65" dirty="0">
                <a:solidFill>
                  <a:srgbClr val="0A0A0A"/>
                </a:solidFill>
                <a:latin typeface="Arial"/>
                <a:cs typeface="Arial"/>
              </a:rPr>
              <a:t> </a:t>
            </a:r>
            <a:r>
              <a:rPr lang="en-US" sz="1800" spc="55" dirty="0">
                <a:solidFill>
                  <a:srgbClr val="1F1F1F"/>
                </a:solidFill>
                <a:latin typeface="Arial"/>
                <a:cs typeface="Arial"/>
              </a:rPr>
              <a:t>studies</a:t>
            </a:r>
            <a:r>
              <a:rPr lang="en-US" sz="1800" spc="30" dirty="0">
                <a:solidFill>
                  <a:srgbClr val="1F1F1F"/>
                </a:solidFill>
                <a:latin typeface="Arial"/>
                <a:cs typeface="Arial"/>
              </a:rPr>
              <a:t> </a:t>
            </a:r>
            <a:r>
              <a:rPr lang="en-US" sz="1800" spc="55" dirty="0">
                <a:solidFill>
                  <a:srgbClr val="0A0A0A"/>
                </a:solidFill>
                <a:latin typeface="Arial"/>
                <a:cs typeface="Arial"/>
              </a:rPr>
              <a:t>are</a:t>
            </a:r>
            <a:r>
              <a:rPr lang="en-US" sz="1800" spc="-75" dirty="0">
                <a:solidFill>
                  <a:srgbClr val="0A0A0A"/>
                </a:solidFill>
                <a:latin typeface="Arial"/>
                <a:cs typeface="Arial"/>
              </a:rPr>
              <a:t> </a:t>
            </a:r>
            <a:r>
              <a:rPr lang="en-US" sz="1800" spc="85" dirty="0">
                <a:solidFill>
                  <a:srgbClr val="0A0A0A"/>
                </a:solidFill>
                <a:latin typeface="Arial"/>
                <a:cs typeface="Arial"/>
              </a:rPr>
              <a:t>compared</a:t>
            </a:r>
            <a:r>
              <a:rPr lang="en-US" sz="1800" spc="-30" dirty="0">
                <a:solidFill>
                  <a:srgbClr val="0A0A0A"/>
                </a:solidFill>
                <a:latin typeface="Arial"/>
                <a:cs typeface="Arial"/>
              </a:rPr>
              <a:t> </a:t>
            </a:r>
            <a:r>
              <a:rPr lang="en-US" sz="1800" spc="95" dirty="0">
                <a:solidFill>
                  <a:srgbClr val="0A0A0A"/>
                </a:solidFill>
                <a:latin typeface="Arial"/>
                <a:cs typeface="Arial"/>
              </a:rPr>
              <a:t>and</a:t>
            </a:r>
            <a:r>
              <a:rPr lang="en-US" sz="1800" spc="-114" dirty="0">
                <a:solidFill>
                  <a:srgbClr val="0A0A0A"/>
                </a:solidFill>
                <a:latin typeface="Arial"/>
                <a:cs typeface="Arial"/>
              </a:rPr>
              <a:t> </a:t>
            </a:r>
            <a:r>
              <a:rPr lang="en-US" sz="1800" spc="50" dirty="0">
                <a:solidFill>
                  <a:srgbClr val="0A0A0A"/>
                </a:solidFill>
                <a:latin typeface="Arial"/>
                <a:cs typeface="Arial"/>
              </a:rPr>
              <a:t>summarized</a:t>
            </a:r>
            <a:r>
              <a:rPr lang="en-US" sz="1800" spc="229" dirty="0">
                <a:solidFill>
                  <a:srgbClr val="0A0A0A"/>
                </a:solidFill>
                <a:latin typeface="Arial"/>
                <a:cs typeface="Arial"/>
              </a:rPr>
              <a:t> </a:t>
            </a:r>
            <a:r>
              <a:rPr lang="en-US" sz="1800" spc="114" dirty="0">
                <a:solidFill>
                  <a:srgbClr val="0A0A0A"/>
                </a:solidFill>
                <a:latin typeface="Arial"/>
                <a:cs typeface="Arial"/>
              </a:rPr>
              <a:t>on</a:t>
            </a:r>
            <a:r>
              <a:rPr lang="en-US" sz="1800" spc="-100" dirty="0">
                <a:solidFill>
                  <a:srgbClr val="0A0A0A"/>
                </a:solidFill>
                <a:latin typeface="Arial"/>
                <a:cs typeface="Arial"/>
              </a:rPr>
              <a:t> </a:t>
            </a:r>
            <a:r>
              <a:rPr lang="en-US" sz="1800" spc="95" dirty="0">
                <a:solidFill>
                  <a:srgbClr val="0A0A0A"/>
                </a:solidFill>
                <a:latin typeface="Arial"/>
                <a:cs typeface="Arial"/>
              </a:rPr>
              <a:t>the</a:t>
            </a:r>
            <a:r>
              <a:rPr lang="en-US" sz="1800" spc="150" dirty="0">
                <a:solidFill>
                  <a:srgbClr val="0A0A0A"/>
                </a:solidFill>
                <a:latin typeface="Arial"/>
                <a:cs typeface="Arial"/>
              </a:rPr>
              <a:t> </a:t>
            </a:r>
            <a:r>
              <a:rPr lang="en-US" sz="1800" spc="-30" dirty="0">
                <a:solidFill>
                  <a:srgbClr val="0A0A0A"/>
                </a:solidFill>
                <a:latin typeface="Arial"/>
                <a:cs typeface="Arial"/>
              </a:rPr>
              <a:t>basis</a:t>
            </a:r>
            <a:r>
              <a:rPr lang="en-US" sz="1800" spc="60" dirty="0">
                <a:solidFill>
                  <a:srgbClr val="0A0A0A"/>
                </a:solidFill>
                <a:latin typeface="Arial"/>
                <a:cs typeface="Arial"/>
              </a:rPr>
              <a:t> </a:t>
            </a:r>
            <a:r>
              <a:rPr lang="en-US" sz="1800" spc="-30" dirty="0">
                <a:solidFill>
                  <a:srgbClr val="0A0A0A"/>
                </a:solidFill>
                <a:latin typeface="Arial"/>
                <a:cs typeface="Arial"/>
              </a:rPr>
              <a:t>of </a:t>
            </a:r>
            <a:r>
              <a:rPr lang="en-US" sz="1800" spc="-790" dirty="0">
                <a:solidFill>
                  <a:srgbClr val="0A0A0A"/>
                </a:solidFill>
                <a:latin typeface="Arial"/>
                <a:cs typeface="Arial"/>
              </a:rPr>
              <a:t> </a:t>
            </a:r>
            <a:r>
              <a:rPr lang="en-US" sz="1800" spc="-30" dirty="0">
                <a:solidFill>
                  <a:srgbClr val="0A0A0A"/>
                </a:solidFill>
                <a:latin typeface="Arial"/>
                <a:cs typeface="Arial"/>
              </a:rPr>
              <a:t>the </a:t>
            </a:r>
            <a:r>
              <a:rPr lang="en-US" sz="1800" spc="114" dirty="0">
                <a:solidFill>
                  <a:srgbClr val="1F1F1F"/>
                </a:solidFill>
                <a:latin typeface="Arial"/>
                <a:cs typeface="Arial"/>
              </a:rPr>
              <a:t>author's</a:t>
            </a:r>
            <a:r>
              <a:rPr lang="en-US" sz="1800" spc="-50" dirty="0">
                <a:solidFill>
                  <a:srgbClr val="1F1F1F"/>
                </a:solidFill>
                <a:latin typeface="Arial"/>
                <a:cs typeface="Arial"/>
              </a:rPr>
              <a:t> </a:t>
            </a:r>
            <a:r>
              <a:rPr lang="en-US" sz="1800" spc="50" dirty="0">
                <a:solidFill>
                  <a:srgbClr val="1F1F1F"/>
                </a:solidFill>
                <a:latin typeface="Arial"/>
                <a:cs typeface="Arial"/>
              </a:rPr>
              <a:t>experience,</a:t>
            </a:r>
            <a:r>
              <a:rPr lang="en-US" sz="1800" spc="5" dirty="0">
                <a:solidFill>
                  <a:srgbClr val="1F1F1F"/>
                </a:solidFill>
                <a:latin typeface="Arial"/>
                <a:cs typeface="Arial"/>
              </a:rPr>
              <a:t> </a:t>
            </a:r>
            <a:r>
              <a:rPr lang="en-US" sz="1800" spc="60" dirty="0">
                <a:solidFill>
                  <a:srgbClr val="1F1F1F"/>
                </a:solidFill>
                <a:latin typeface="Arial"/>
                <a:cs typeface="Arial"/>
              </a:rPr>
              <a:t>existing</a:t>
            </a:r>
            <a:r>
              <a:rPr lang="en-US" sz="1800" spc="-165" dirty="0">
                <a:solidFill>
                  <a:srgbClr val="1F1F1F"/>
                </a:solidFill>
                <a:latin typeface="Arial"/>
                <a:cs typeface="Arial"/>
              </a:rPr>
              <a:t> </a:t>
            </a:r>
            <a:r>
              <a:rPr lang="en-US" sz="1800" spc="90" dirty="0">
                <a:solidFill>
                  <a:srgbClr val="0A0A0A"/>
                </a:solidFill>
                <a:latin typeface="Arial"/>
                <a:cs typeface="Arial"/>
              </a:rPr>
              <a:t>theories</a:t>
            </a:r>
            <a:r>
              <a:rPr lang="en-US" sz="1800" spc="15" dirty="0">
                <a:solidFill>
                  <a:srgbClr val="0A0A0A"/>
                </a:solidFill>
                <a:latin typeface="Arial"/>
                <a:cs typeface="Arial"/>
              </a:rPr>
              <a:t> </a:t>
            </a:r>
            <a:r>
              <a:rPr lang="en-US" sz="1800" spc="95" dirty="0">
                <a:solidFill>
                  <a:srgbClr val="0A0A0A"/>
                </a:solidFill>
                <a:latin typeface="Arial"/>
                <a:cs typeface="Arial"/>
              </a:rPr>
              <a:t>and</a:t>
            </a:r>
            <a:r>
              <a:rPr lang="en-US" sz="1800" spc="-120" dirty="0">
                <a:solidFill>
                  <a:srgbClr val="0A0A0A"/>
                </a:solidFill>
                <a:latin typeface="Arial"/>
                <a:cs typeface="Arial"/>
              </a:rPr>
              <a:t> </a:t>
            </a:r>
            <a:r>
              <a:rPr lang="en-US" sz="1800" spc="75" dirty="0">
                <a:solidFill>
                  <a:srgbClr val="0A0A0A"/>
                </a:solidFill>
                <a:latin typeface="Arial"/>
                <a:cs typeface="Arial"/>
              </a:rPr>
              <a:t>models.</a:t>
            </a:r>
          </a:p>
          <a:p>
            <a:pPr marL="1443038" indent="-185738">
              <a:lnSpc>
                <a:spcPct val="120000"/>
              </a:lnSpc>
              <a:spcBef>
                <a:spcPts val="1630"/>
              </a:spcBef>
              <a:buClr>
                <a:srgbClr val="0A0A0A"/>
              </a:buClr>
              <a:buFont typeface="Wingdings" panose="05000000000000000000" pitchFamily="2" charset="2"/>
              <a:buChar char="Ø"/>
              <a:tabLst>
                <a:tab pos="511175" algn="l"/>
              </a:tabLst>
            </a:pPr>
            <a:r>
              <a:rPr lang="en-US" sz="1800" dirty="0">
                <a:solidFill>
                  <a:srgbClr val="0A0A0A"/>
                </a:solidFill>
                <a:latin typeface="Arial"/>
                <a:cs typeface="Arial"/>
              </a:rPr>
              <a:t>Results</a:t>
            </a:r>
            <a:r>
              <a:rPr lang="en-US" sz="1800" spc="-50" dirty="0">
                <a:solidFill>
                  <a:srgbClr val="0A0A0A"/>
                </a:solidFill>
                <a:latin typeface="Arial"/>
                <a:cs typeface="Arial"/>
              </a:rPr>
              <a:t> </a:t>
            </a:r>
            <a:r>
              <a:rPr lang="en-US" sz="1800" spc="55" dirty="0">
                <a:solidFill>
                  <a:srgbClr val="0A0A0A"/>
                </a:solidFill>
                <a:latin typeface="Arial"/>
                <a:cs typeface="Arial"/>
              </a:rPr>
              <a:t>are</a:t>
            </a:r>
            <a:r>
              <a:rPr lang="en-US" sz="1800" spc="-145" dirty="0">
                <a:solidFill>
                  <a:srgbClr val="0A0A0A"/>
                </a:solidFill>
                <a:latin typeface="Arial"/>
                <a:cs typeface="Arial"/>
              </a:rPr>
              <a:t> </a:t>
            </a:r>
            <a:r>
              <a:rPr lang="en-US" sz="1800" spc="30" dirty="0">
                <a:solidFill>
                  <a:srgbClr val="0A0A0A"/>
                </a:solidFill>
                <a:latin typeface="Arial"/>
                <a:cs typeface="Arial"/>
              </a:rPr>
              <a:t>based</a:t>
            </a:r>
            <a:r>
              <a:rPr lang="en-US" sz="1800" spc="-65" dirty="0">
                <a:solidFill>
                  <a:srgbClr val="0A0A0A"/>
                </a:solidFill>
                <a:latin typeface="Arial"/>
                <a:cs typeface="Arial"/>
              </a:rPr>
              <a:t> </a:t>
            </a:r>
            <a:r>
              <a:rPr lang="en-US" sz="1800" spc="35" dirty="0">
                <a:solidFill>
                  <a:srgbClr val="0A0A0A"/>
                </a:solidFill>
                <a:latin typeface="Arial"/>
                <a:cs typeface="Arial"/>
              </a:rPr>
              <a:t>on</a:t>
            </a:r>
            <a:r>
              <a:rPr lang="en-US" sz="1800" spc="200" dirty="0">
                <a:solidFill>
                  <a:srgbClr val="0A0A0A"/>
                </a:solidFill>
                <a:latin typeface="Arial"/>
                <a:cs typeface="Arial"/>
              </a:rPr>
              <a:t> </a:t>
            </a:r>
            <a:r>
              <a:rPr lang="en-US" sz="1800" spc="-15" dirty="0">
                <a:solidFill>
                  <a:srgbClr val="0A0A0A"/>
                </a:solidFill>
                <a:latin typeface="Arial"/>
                <a:cs typeface="Arial"/>
              </a:rPr>
              <a:t>a</a:t>
            </a:r>
            <a:r>
              <a:rPr lang="en-US" sz="1800" spc="-95" dirty="0">
                <a:solidFill>
                  <a:srgbClr val="0A0A0A"/>
                </a:solidFill>
                <a:latin typeface="Arial"/>
                <a:cs typeface="Arial"/>
              </a:rPr>
              <a:t> </a:t>
            </a:r>
            <a:r>
              <a:rPr lang="en-US" sz="1800" spc="90" dirty="0">
                <a:solidFill>
                  <a:srgbClr val="0A0A0A"/>
                </a:solidFill>
                <a:latin typeface="Arial"/>
                <a:cs typeface="Arial"/>
              </a:rPr>
              <a:t>qualitative</a:t>
            </a:r>
            <a:r>
              <a:rPr lang="en-US" sz="1800" spc="15" dirty="0">
                <a:solidFill>
                  <a:srgbClr val="0A0A0A"/>
                </a:solidFill>
                <a:latin typeface="Arial"/>
                <a:cs typeface="Arial"/>
              </a:rPr>
              <a:t> </a:t>
            </a:r>
            <a:r>
              <a:rPr lang="en-US" sz="1800" spc="130" dirty="0">
                <a:solidFill>
                  <a:srgbClr val="0A0A0A"/>
                </a:solidFill>
                <a:latin typeface="Arial"/>
                <a:cs typeface="Arial"/>
              </a:rPr>
              <a:t>rather</a:t>
            </a:r>
            <a:r>
              <a:rPr lang="en-US" sz="1800" spc="-90" dirty="0">
                <a:solidFill>
                  <a:srgbClr val="0A0A0A"/>
                </a:solidFill>
                <a:latin typeface="Arial"/>
                <a:cs typeface="Arial"/>
              </a:rPr>
              <a:t> </a:t>
            </a:r>
            <a:r>
              <a:rPr lang="en-US" sz="1800" spc="155" dirty="0">
                <a:solidFill>
                  <a:srgbClr val="0A0A0A"/>
                </a:solidFill>
                <a:latin typeface="Arial"/>
                <a:cs typeface="Arial"/>
              </a:rPr>
              <a:t>than</a:t>
            </a:r>
            <a:r>
              <a:rPr lang="en-US" sz="1800" spc="-15" dirty="0">
                <a:solidFill>
                  <a:srgbClr val="0A0A0A"/>
                </a:solidFill>
                <a:latin typeface="Arial"/>
                <a:cs typeface="Arial"/>
              </a:rPr>
              <a:t> </a:t>
            </a:r>
            <a:r>
              <a:rPr lang="en-US" sz="1800" spc="-125" dirty="0">
                <a:solidFill>
                  <a:srgbClr val="0A0A0A"/>
                </a:solidFill>
                <a:latin typeface="Arial"/>
                <a:cs typeface="Arial"/>
              </a:rPr>
              <a:t>a</a:t>
            </a:r>
            <a:r>
              <a:rPr lang="en-US" sz="1800" spc="15" dirty="0">
                <a:solidFill>
                  <a:srgbClr val="0A0A0A"/>
                </a:solidFill>
                <a:latin typeface="Arial"/>
                <a:cs typeface="Arial"/>
              </a:rPr>
              <a:t> </a:t>
            </a:r>
            <a:r>
              <a:rPr lang="en-US" sz="1800" spc="95" dirty="0">
                <a:solidFill>
                  <a:srgbClr val="0A0A0A"/>
                </a:solidFill>
                <a:latin typeface="Arial"/>
                <a:cs typeface="Arial"/>
              </a:rPr>
              <a:t>quantitative</a:t>
            </a:r>
            <a:r>
              <a:rPr lang="en-US" sz="1800" spc="204" dirty="0">
                <a:solidFill>
                  <a:srgbClr val="0A0A0A"/>
                </a:solidFill>
                <a:latin typeface="Arial"/>
                <a:cs typeface="Arial"/>
              </a:rPr>
              <a:t> </a:t>
            </a:r>
            <a:r>
              <a:rPr lang="en-US" sz="1800" spc="55" dirty="0">
                <a:solidFill>
                  <a:srgbClr val="0A0A0A"/>
                </a:solidFill>
                <a:latin typeface="Arial"/>
                <a:cs typeface="Arial"/>
              </a:rPr>
              <a:t>level.</a:t>
            </a:r>
          </a:p>
          <a:p>
            <a:pPr marL="898525" indent="-176213">
              <a:lnSpc>
                <a:spcPct val="120000"/>
              </a:lnSpc>
              <a:spcBef>
                <a:spcPts val="1630"/>
              </a:spcBef>
              <a:buClr>
                <a:srgbClr val="0A0A0A"/>
              </a:buClr>
              <a:tabLst>
                <a:tab pos="511175" algn="l"/>
              </a:tabLst>
            </a:pPr>
            <a:r>
              <a:rPr lang="en-IN" sz="1800" spc="30" dirty="0">
                <a:solidFill>
                  <a:srgbClr val="0A0A0A"/>
                </a:solidFill>
                <a:latin typeface="Arial"/>
                <a:cs typeface="Arial"/>
              </a:rPr>
              <a:t>Best</a:t>
            </a:r>
            <a:r>
              <a:rPr lang="en-IN" sz="1800" spc="140" dirty="0">
                <a:solidFill>
                  <a:srgbClr val="0A0A0A"/>
                </a:solidFill>
                <a:latin typeface="Arial"/>
                <a:cs typeface="Arial"/>
              </a:rPr>
              <a:t> </a:t>
            </a:r>
            <a:r>
              <a:rPr lang="en-IN" sz="1800" spc="65" dirty="0">
                <a:solidFill>
                  <a:srgbClr val="0A0A0A"/>
                </a:solidFill>
                <a:latin typeface="Arial"/>
                <a:cs typeface="Arial"/>
              </a:rPr>
              <a:t>Evidence</a:t>
            </a:r>
            <a:r>
              <a:rPr lang="en-IN" sz="1800" spc="105" dirty="0">
                <a:solidFill>
                  <a:srgbClr val="0A0A0A"/>
                </a:solidFill>
                <a:latin typeface="Arial"/>
                <a:cs typeface="Arial"/>
              </a:rPr>
              <a:t> </a:t>
            </a:r>
            <a:r>
              <a:rPr lang="en-IN" sz="1800" spc="70" dirty="0">
                <a:solidFill>
                  <a:srgbClr val="0A0A0A"/>
                </a:solidFill>
                <a:latin typeface="Arial"/>
                <a:cs typeface="Arial"/>
              </a:rPr>
              <a:t>Review</a:t>
            </a:r>
          </a:p>
          <a:p>
            <a:pPr marL="1438275" indent="-180975">
              <a:lnSpc>
                <a:spcPct val="120000"/>
              </a:lnSpc>
              <a:spcBef>
                <a:spcPts val="1630"/>
              </a:spcBef>
              <a:buClr>
                <a:srgbClr val="0A0A0A"/>
              </a:buClr>
              <a:buFont typeface="Wingdings" panose="05000000000000000000" pitchFamily="2" charset="2"/>
              <a:buChar char="Ø"/>
              <a:tabLst>
                <a:tab pos="511175" algn="l"/>
              </a:tabLst>
            </a:pPr>
            <a:r>
              <a:rPr lang="en-US" sz="1800" spc="25" dirty="0">
                <a:solidFill>
                  <a:srgbClr val="0A0A0A"/>
                </a:solidFill>
                <a:latin typeface="Arial"/>
                <a:cs typeface="Arial"/>
              </a:rPr>
              <a:t>A </a:t>
            </a:r>
            <a:r>
              <a:rPr lang="en-US" sz="1800" spc="40" dirty="0">
                <a:solidFill>
                  <a:srgbClr val="0A0A0A"/>
                </a:solidFill>
                <a:latin typeface="Arial"/>
                <a:cs typeface="Arial"/>
              </a:rPr>
              <a:t>focus</a:t>
            </a:r>
            <a:r>
              <a:rPr lang="en-US" sz="1800" spc="-5" dirty="0">
                <a:solidFill>
                  <a:srgbClr val="0A0A0A"/>
                </a:solidFill>
                <a:latin typeface="Arial"/>
                <a:cs typeface="Arial"/>
              </a:rPr>
              <a:t> </a:t>
            </a:r>
            <a:r>
              <a:rPr lang="en-US" sz="1800" spc="114" dirty="0">
                <a:solidFill>
                  <a:srgbClr val="0A0A0A"/>
                </a:solidFill>
                <a:latin typeface="Arial"/>
                <a:cs typeface="Arial"/>
              </a:rPr>
              <a:t>on</a:t>
            </a:r>
            <a:r>
              <a:rPr lang="en-US" sz="1800" spc="-50" dirty="0">
                <a:solidFill>
                  <a:srgbClr val="0A0A0A"/>
                </a:solidFill>
                <a:latin typeface="Arial"/>
                <a:cs typeface="Arial"/>
              </a:rPr>
              <a:t> </a:t>
            </a:r>
            <a:r>
              <a:rPr lang="en-US" sz="1800" spc="55" dirty="0">
                <a:solidFill>
                  <a:srgbClr val="1F1F1F"/>
                </a:solidFill>
                <a:latin typeface="Arial"/>
                <a:cs typeface="Arial"/>
              </a:rPr>
              <a:t>selected</a:t>
            </a:r>
            <a:r>
              <a:rPr lang="en-US" sz="1800" spc="-140" dirty="0">
                <a:solidFill>
                  <a:srgbClr val="1F1F1F"/>
                </a:solidFill>
                <a:latin typeface="Arial"/>
                <a:cs typeface="Arial"/>
              </a:rPr>
              <a:t> </a:t>
            </a:r>
            <a:r>
              <a:rPr lang="en-US" sz="1800" spc="70" dirty="0">
                <a:solidFill>
                  <a:srgbClr val="1F1F1F"/>
                </a:solidFill>
                <a:latin typeface="Arial"/>
                <a:cs typeface="Arial"/>
              </a:rPr>
              <a:t>studies</a:t>
            </a:r>
            <a:r>
              <a:rPr lang="en-US" sz="1800" spc="-155" dirty="0">
                <a:solidFill>
                  <a:srgbClr val="1F1F1F"/>
                </a:solidFill>
                <a:latin typeface="Arial"/>
                <a:cs typeface="Arial"/>
              </a:rPr>
              <a:t> </a:t>
            </a:r>
            <a:r>
              <a:rPr lang="en-US" sz="1800" spc="40" dirty="0">
                <a:solidFill>
                  <a:srgbClr val="0A0A0A"/>
                </a:solidFill>
                <a:latin typeface="Arial"/>
                <a:cs typeface="Arial"/>
              </a:rPr>
              <a:t>is</a:t>
            </a:r>
            <a:r>
              <a:rPr lang="en-US" sz="1800" spc="-114" dirty="0">
                <a:solidFill>
                  <a:srgbClr val="0A0A0A"/>
                </a:solidFill>
                <a:latin typeface="Arial"/>
                <a:cs typeface="Arial"/>
              </a:rPr>
              <a:t> </a:t>
            </a:r>
            <a:r>
              <a:rPr lang="en-US" sz="1800" spc="100" dirty="0">
                <a:solidFill>
                  <a:srgbClr val="0A0A0A"/>
                </a:solidFill>
                <a:latin typeface="Arial"/>
                <a:cs typeface="Arial"/>
              </a:rPr>
              <a:t>combined</a:t>
            </a:r>
            <a:r>
              <a:rPr lang="en-US" sz="1800" spc="75" dirty="0">
                <a:solidFill>
                  <a:srgbClr val="0A0A0A"/>
                </a:solidFill>
                <a:latin typeface="Arial"/>
                <a:cs typeface="Arial"/>
              </a:rPr>
              <a:t> </a:t>
            </a:r>
            <a:r>
              <a:rPr lang="en-US" sz="1800" spc="190" dirty="0">
                <a:solidFill>
                  <a:srgbClr val="0A0A0A"/>
                </a:solidFill>
                <a:latin typeface="Arial"/>
                <a:cs typeface="Arial"/>
              </a:rPr>
              <a:t>with</a:t>
            </a:r>
            <a:r>
              <a:rPr lang="en-US" sz="1800" spc="-114" dirty="0">
                <a:solidFill>
                  <a:srgbClr val="0A0A0A"/>
                </a:solidFill>
                <a:latin typeface="Arial"/>
                <a:cs typeface="Arial"/>
              </a:rPr>
              <a:t> </a:t>
            </a:r>
            <a:r>
              <a:rPr lang="en-US" sz="1800" spc="45" dirty="0">
                <a:solidFill>
                  <a:srgbClr val="1F1F1F"/>
                </a:solidFill>
                <a:latin typeface="Arial"/>
                <a:cs typeface="Arial"/>
              </a:rPr>
              <a:t>systematic </a:t>
            </a:r>
            <a:r>
              <a:rPr lang="en-US" sz="1800" spc="100" dirty="0">
                <a:solidFill>
                  <a:srgbClr val="0A0A0A"/>
                </a:solidFill>
                <a:latin typeface="Arial"/>
                <a:cs typeface="Arial"/>
              </a:rPr>
              <a:t>methods </a:t>
            </a:r>
            <a:r>
              <a:rPr lang="en-US" sz="1800" spc="-790" dirty="0">
                <a:solidFill>
                  <a:srgbClr val="0A0A0A"/>
                </a:solidFill>
                <a:latin typeface="Arial"/>
                <a:cs typeface="Arial"/>
              </a:rPr>
              <a:t> </a:t>
            </a:r>
            <a:r>
              <a:rPr lang="en-US" sz="1800" spc="95" dirty="0">
                <a:solidFill>
                  <a:srgbClr val="0A0A0A"/>
                </a:solidFill>
                <a:latin typeface="Arial"/>
                <a:cs typeface="Arial"/>
              </a:rPr>
              <a:t>o</a:t>
            </a:r>
            <a:r>
              <a:rPr lang="en-US" sz="1800" spc="50" dirty="0">
                <a:solidFill>
                  <a:srgbClr val="0A0A0A"/>
                </a:solidFill>
                <a:latin typeface="Arial"/>
                <a:cs typeface="Arial"/>
              </a:rPr>
              <a:t>f</a:t>
            </a:r>
            <a:r>
              <a:rPr lang="en-US" sz="1800" spc="140" dirty="0">
                <a:solidFill>
                  <a:srgbClr val="0A0A0A"/>
                </a:solidFill>
                <a:latin typeface="Arial"/>
                <a:cs typeface="Arial"/>
              </a:rPr>
              <a:t> </a:t>
            </a:r>
            <a:r>
              <a:rPr lang="en-US" sz="1800" spc="95" dirty="0">
                <a:solidFill>
                  <a:srgbClr val="0A0A0A"/>
                </a:solidFill>
                <a:latin typeface="Arial"/>
                <a:cs typeface="Arial"/>
              </a:rPr>
              <a:t>study-selection</a:t>
            </a:r>
            <a:r>
              <a:rPr lang="en-US" sz="1800" spc="-215" dirty="0">
                <a:solidFill>
                  <a:srgbClr val="0A0A0A"/>
                </a:solidFill>
                <a:latin typeface="Arial"/>
                <a:cs typeface="Arial"/>
              </a:rPr>
              <a:t> </a:t>
            </a:r>
            <a:r>
              <a:rPr lang="en-US" sz="1800" spc="65" dirty="0">
                <a:solidFill>
                  <a:srgbClr val="1F1F1F"/>
                </a:solidFill>
                <a:latin typeface="Arial"/>
                <a:cs typeface="Arial"/>
              </a:rPr>
              <a:t>an</a:t>
            </a:r>
            <a:r>
              <a:rPr lang="en-US" sz="1800" spc="70" dirty="0">
                <a:solidFill>
                  <a:srgbClr val="1F1F1F"/>
                </a:solidFill>
                <a:latin typeface="Arial"/>
                <a:cs typeface="Arial"/>
              </a:rPr>
              <a:t>d</a:t>
            </a:r>
            <a:r>
              <a:rPr lang="en-US" sz="1800" spc="-20" dirty="0">
                <a:solidFill>
                  <a:srgbClr val="1F1F1F"/>
                </a:solidFill>
                <a:latin typeface="Arial"/>
                <a:cs typeface="Arial"/>
              </a:rPr>
              <a:t> </a:t>
            </a:r>
            <a:r>
              <a:rPr lang="en-US" sz="1800" spc="85" dirty="0">
                <a:solidFill>
                  <a:srgbClr val="0A0A0A"/>
                </a:solidFill>
                <a:latin typeface="Arial"/>
                <a:cs typeface="Arial"/>
              </a:rPr>
              <a:t>result</a:t>
            </a:r>
            <a:r>
              <a:rPr lang="en-US" sz="1800" spc="-10" dirty="0">
                <a:solidFill>
                  <a:srgbClr val="0A0A0A"/>
                </a:solidFill>
                <a:latin typeface="Arial"/>
                <a:cs typeface="Arial"/>
              </a:rPr>
              <a:t> </a:t>
            </a:r>
            <a:r>
              <a:rPr lang="en-US" sz="1800" spc="85" dirty="0">
                <a:solidFill>
                  <a:srgbClr val="0A0A0A"/>
                </a:solidFill>
                <a:latin typeface="Arial"/>
                <a:cs typeface="Arial"/>
              </a:rPr>
              <a:t>exploration.</a:t>
            </a:r>
          </a:p>
          <a:p>
            <a:pPr marL="12065" indent="0">
              <a:lnSpc>
                <a:spcPct val="120000"/>
              </a:lnSpc>
              <a:spcBef>
                <a:spcPts val="114"/>
              </a:spcBef>
              <a:buNone/>
              <a:tabLst>
                <a:tab pos="334645" algn="l"/>
              </a:tabLst>
            </a:pPr>
            <a:endParaRPr lang="en-US" sz="1800" spc="80" dirty="0">
              <a:solidFill>
                <a:srgbClr val="0A0A0A"/>
              </a:solidFill>
              <a:latin typeface="Arial"/>
              <a:cs typeface="Arial"/>
            </a:endParaRPr>
          </a:p>
          <a:p>
            <a:pPr marL="898525" indent="-176213">
              <a:lnSpc>
                <a:spcPct val="120000"/>
              </a:lnSpc>
              <a:spcBef>
                <a:spcPts val="114"/>
              </a:spcBef>
              <a:tabLst>
                <a:tab pos="334645" algn="l"/>
              </a:tabLst>
            </a:pPr>
            <a:r>
              <a:rPr lang="en-US" sz="1800" spc="80" dirty="0">
                <a:solidFill>
                  <a:srgbClr val="0A0A0A"/>
                </a:solidFill>
                <a:latin typeface="Arial"/>
                <a:cs typeface="Arial"/>
              </a:rPr>
              <a:t>Systematic</a:t>
            </a:r>
            <a:r>
              <a:rPr lang="en-US" sz="1800" spc="210" dirty="0">
                <a:solidFill>
                  <a:srgbClr val="0A0A0A"/>
                </a:solidFill>
                <a:latin typeface="Arial"/>
                <a:cs typeface="Arial"/>
              </a:rPr>
              <a:t> </a:t>
            </a:r>
            <a:r>
              <a:rPr lang="en-US" sz="1800" spc="70" dirty="0">
                <a:solidFill>
                  <a:srgbClr val="0A0A0A"/>
                </a:solidFill>
                <a:latin typeface="Arial"/>
                <a:cs typeface="Arial"/>
              </a:rPr>
              <a:t>Review</a:t>
            </a:r>
            <a:r>
              <a:rPr lang="en-US" sz="1800" spc="160" dirty="0">
                <a:solidFill>
                  <a:srgbClr val="0A0A0A"/>
                </a:solidFill>
                <a:latin typeface="Arial"/>
                <a:cs typeface="Arial"/>
              </a:rPr>
              <a:t> </a:t>
            </a:r>
            <a:r>
              <a:rPr lang="en-US" sz="1800" spc="35" dirty="0">
                <a:solidFill>
                  <a:srgbClr val="0A0A0A"/>
                </a:solidFill>
                <a:latin typeface="Arial"/>
                <a:cs typeface="Arial"/>
              </a:rPr>
              <a:t>:</a:t>
            </a:r>
            <a:endParaRPr lang="en-US" sz="1800" dirty="0">
              <a:latin typeface="Arial"/>
              <a:cs typeface="Arial"/>
            </a:endParaRPr>
          </a:p>
          <a:p>
            <a:pPr marL="1438275" indent="-180975">
              <a:lnSpc>
                <a:spcPct val="120000"/>
              </a:lnSpc>
              <a:spcBef>
                <a:spcPts val="114"/>
              </a:spcBef>
              <a:buFont typeface="Wingdings" panose="05000000000000000000" pitchFamily="2" charset="2"/>
              <a:buChar char="Ø"/>
              <a:tabLst>
                <a:tab pos="334645" algn="l"/>
              </a:tabLst>
            </a:pPr>
            <a:r>
              <a:rPr lang="en-US" sz="1800" spc="10" dirty="0">
                <a:solidFill>
                  <a:srgbClr val="0A0A0A"/>
                </a:solidFill>
                <a:latin typeface="Arial"/>
                <a:cs typeface="Arial"/>
              </a:rPr>
              <a:t>Findings</a:t>
            </a:r>
            <a:r>
              <a:rPr lang="en-US" sz="1800" spc="-35" dirty="0">
                <a:solidFill>
                  <a:srgbClr val="0A0A0A"/>
                </a:solidFill>
                <a:latin typeface="Arial"/>
                <a:cs typeface="Arial"/>
              </a:rPr>
              <a:t> </a:t>
            </a:r>
            <a:r>
              <a:rPr lang="en-US" sz="1800" spc="190" dirty="0">
                <a:solidFill>
                  <a:srgbClr val="0A0A0A"/>
                </a:solidFill>
                <a:latin typeface="Arial"/>
                <a:cs typeface="Arial"/>
              </a:rPr>
              <a:t>from</a:t>
            </a:r>
            <a:r>
              <a:rPr lang="en-US" sz="1800" spc="-45" dirty="0">
                <a:solidFill>
                  <a:srgbClr val="0A0A0A"/>
                </a:solidFill>
                <a:latin typeface="Arial"/>
                <a:cs typeface="Arial"/>
              </a:rPr>
              <a:t> </a:t>
            </a:r>
            <a:r>
              <a:rPr lang="en-US" sz="1800" spc="40" dirty="0">
                <a:solidFill>
                  <a:srgbClr val="0A0A0A"/>
                </a:solidFill>
                <a:latin typeface="Arial"/>
                <a:cs typeface="Arial"/>
              </a:rPr>
              <a:t>various</a:t>
            </a:r>
            <a:r>
              <a:rPr lang="en-US" sz="1800" spc="25" dirty="0">
                <a:solidFill>
                  <a:srgbClr val="0A0A0A"/>
                </a:solidFill>
                <a:latin typeface="Arial"/>
                <a:cs typeface="Arial"/>
              </a:rPr>
              <a:t> </a:t>
            </a:r>
            <a:r>
              <a:rPr lang="en-US" sz="1800" spc="80" dirty="0">
                <a:solidFill>
                  <a:srgbClr val="0A0A0A"/>
                </a:solidFill>
                <a:latin typeface="Arial"/>
                <a:cs typeface="Arial"/>
              </a:rPr>
              <a:t>individual </a:t>
            </a:r>
            <a:r>
              <a:rPr lang="en-US" sz="1800" spc="70" dirty="0">
                <a:solidFill>
                  <a:srgbClr val="1F1F1F"/>
                </a:solidFill>
                <a:latin typeface="Arial"/>
                <a:cs typeface="Arial"/>
              </a:rPr>
              <a:t>studies</a:t>
            </a:r>
            <a:r>
              <a:rPr lang="en-US" sz="1800" spc="-60" dirty="0">
                <a:solidFill>
                  <a:srgbClr val="1F1F1F"/>
                </a:solidFill>
                <a:latin typeface="Arial"/>
                <a:cs typeface="Arial"/>
              </a:rPr>
              <a:t> </a:t>
            </a:r>
            <a:r>
              <a:rPr lang="en-US" sz="1800" spc="55" dirty="0">
                <a:solidFill>
                  <a:srgbClr val="0A0A0A"/>
                </a:solidFill>
                <a:latin typeface="Arial"/>
                <a:cs typeface="Arial"/>
              </a:rPr>
              <a:t>are</a:t>
            </a:r>
            <a:r>
              <a:rPr lang="en-US" sz="1800" spc="-50" dirty="0">
                <a:solidFill>
                  <a:srgbClr val="0A0A0A"/>
                </a:solidFill>
                <a:latin typeface="Arial"/>
                <a:cs typeface="Arial"/>
              </a:rPr>
              <a:t> </a:t>
            </a:r>
            <a:r>
              <a:rPr lang="en-US" sz="1800" spc="25" dirty="0" err="1">
                <a:solidFill>
                  <a:srgbClr val="0A0A0A"/>
                </a:solidFill>
                <a:latin typeface="Arial"/>
                <a:cs typeface="Arial"/>
              </a:rPr>
              <a:t>analysed</a:t>
            </a:r>
            <a:r>
              <a:rPr lang="en-US" sz="1800" spc="-20" dirty="0">
                <a:solidFill>
                  <a:srgbClr val="0A0A0A"/>
                </a:solidFill>
                <a:latin typeface="Arial"/>
                <a:cs typeface="Arial"/>
              </a:rPr>
              <a:t> </a:t>
            </a:r>
            <a:r>
              <a:rPr lang="en-US" sz="1800" spc="55" dirty="0">
                <a:solidFill>
                  <a:srgbClr val="1F1F1F"/>
                </a:solidFill>
                <a:latin typeface="Arial"/>
                <a:cs typeface="Arial"/>
              </a:rPr>
              <a:t>statistically </a:t>
            </a:r>
            <a:r>
              <a:rPr lang="en-US" sz="1800" spc="-790" dirty="0">
                <a:solidFill>
                  <a:srgbClr val="1F1F1F"/>
                </a:solidFill>
                <a:latin typeface="Arial"/>
                <a:cs typeface="Arial"/>
              </a:rPr>
              <a:t> </a:t>
            </a:r>
            <a:r>
              <a:rPr lang="en-US" sz="1800" spc="110" dirty="0">
                <a:solidFill>
                  <a:srgbClr val="0A0A0A"/>
                </a:solidFill>
                <a:latin typeface="Arial"/>
                <a:cs typeface="Arial"/>
              </a:rPr>
              <a:t>by</a:t>
            </a:r>
            <a:r>
              <a:rPr lang="en-US" sz="1800" spc="-90" dirty="0">
                <a:solidFill>
                  <a:srgbClr val="0A0A0A"/>
                </a:solidFill>
                <a:latin typeface="Arial"/>
                <a:cs typeface="Arial"/>
              </a:rPr>
              <a:t> </a:t>
            </a:r>
            <a:r>
              <a:rPr lang="en-US" sz="1800" spc="105" dirty="0">
                <a:solidFill>
                  <a:srgbClr val="1F1F1F"/>
                </a:solidFill>
                <a:latin typeface="Arial"/>
                <a:cs typeface="Arial"/>
              </a:rPr>
              <a:t>strict</a:t>
            </a:r>
            <a:r>
              <a:rPr lang="en-US" sz="1800" spc="-40" dirty="0">
                <a:solidFill>
                  <a:srgbClr val="1F1F1F"/>
                </a:solidFill>
                <a:latin typeface="Arial"/>
                <a:cs typeface="Arial"/>
              </a:rPr>
              <a:t> </a:t>
            </a:r>
            <a:r>
              <a:rPr lang="en-US" sz="1800" spc="55" dirty="0">
                <a:solidFill>
                  <a:srgbClr val="0A0A0A"/>
                </a:solidFill>
                <a:latin typeface="Arial"/>
                <a:cs typeface="Arial"/>
              </a:rPr>
              <a:t>procedures.</a:t>
            </a:r>
            <a:endParaRPr lang="en-US" sz="1800" dirty="0">
              <a:latin typeface="Arial"/>
              <a:cs typeface="Arial"/>
            </a:endParaRPr>
          </a:p>
          <a:p>
            <a:pPr marL="1438275" indent="-180975">
              <a:lnSpc>
                <a:spcPct val="120000"/>
              </a:lnSpc>
              <a:spcBef>
                <a:spcPts val="114"/>
              </a:spcBef>
              <a:buFont typeface="Wingdings" panose="05000000000000000000" pitchFamily="2" charset="2"/>
              <a:buChar char="Ø"/>
              <a:tabLst>
                <a:tab pos="334645" algn="l"/>
              </a:tabLst>
            </a:pPr>
            <a:r>
              <a:rPr lang="en-US" sz="1800" spc="45" dirty="0">
                <a:solidFill>
                  <a:srgbClr val="0A0A0A"/>
                </a:solidFill>
                <a:latin typeface="Arial"/>
                <a:cs typeface="Arial"/>
              </a:rPr>
              <a:t>Meta-Analyses</a:t>
            </a:r>
            <a:r>
              <a:rPr lang="en-US" sz="1800" spc="60" dirty="0">
                <a:solidFill>
                  <a:srgbClr val="0A0A0A"/>
                </a:solidFill>
                <a:latin typeface="Arial"/>
                <a:cs typeface="Arial"/>
              </a:rPr>
              <a:t> </a:t>
            </a:r>
            <a:r>
              <a:rPr lang="en-US" sz="1800" spc="55" dirty="0">
                <a:solidFill>
                  <a:srgbClr val="0A0A0A"/>
                </a:solidFill>
                <a:latin typeface="Arial"/>
                <a:cs typeface="Arial"/>
              </a:rPr>
              <a:t>are</a:t>
            </a:r>
            <a:r>
              <a:rPr lang="en-US" sz="1800" spc="-40" dirty="0">
                <a:solidFill>
                  <a:srgbClr val="0A0A0A"/>
                </a:solidFill>
                <a:latin typeface="Arial"/>
                <a:cs typeface="Arial"/>
              </a:rPr>
              <a:t> </a:t>
            </a:r>
            <a:r>
              <a:rPr lang="en-US" sz="1800" spc="30" dirty="0">
                <a:solidFill>
                  <a:srgbClr val="0A0A0A"/>
                </a:solidFill>
                <a:latin typeface="Arial"/>
                <a:cs typeface="Arial"/>
              </a:rPr>
              <a:t>used</a:t>
            </a:r>
            <a:r>
              <a:rPr lang="en-US" sz="1800" spc="-175" dirty="0">
                <a:solidFill>
                  <a:srgbClr val="0A0A0A"/>
                </a:solidFill>
                <a:latin typeface="Arial"/>
                <a:cs typeface="Arial"/>
              </a:rPr>
              <a:t> </a:t>
            </a:r>
            <a:r>
              <a:rPr lang="en-US" sz="1800" spc="25" dirty="0">
                <a:solidFill>
                  <a:srgbClr val="0A0A0A"/>
                </a:solidFill>
                <a:latin typeface="Arial"/>
                <a:cs typeface="Arial"/>
              </a:rPr>
              <a:t>to</a:t>
            </a:r>
            <a:r>
              <a:rPr lang="en-US" sz="1800" spc="395" dirty="0">
                <a:solidFill>
                  <a:srgbClr val="0A0A0A"/>
                </a:solidFill>
                <a:latin typeface="Arial"/>
                <a:cs typeface="Arial"/>
              </a:rPr>
              <a:t> </a:t>
            </a:r>
            <a:r>
              <a:rPr lang="en-US" sz="1800" spc="135" dirty="0">
                <a:solidFill>
                  <a:srgbClr val="0A0A0A"/>
                </a:solidFill>
                <a:latin typeface="Arial"/>
                <a:cs typeface="Arial"/>
              </a:rPr>
              <a:t>pool</a:t>
            </a:r>
            <a:r>
              <a:rPr lang="en-US" sz="1800" spc="-185" dirty="0">
                <a:solidFill>
                  <a:srgbClr val="0A0A0A"/>
                </a:solidFill>
                <a:latin typeface="Arial"/>
                <a:cs typeface="Arial"/>
              </a:rPr>
              <a:t> </a:t>
            </a:r>
            <a:r>
              <a:rPr lang="en-US" sz="1800" spc="135" dirty="0">
                <a:solidFill>
                  <a:srgbClr val="0A0A0A"/>
                </a:solidFill>
                <a:latin typeface="Arial"/>
                <a:cs typeface="Arial"/>
              </a:rPr>
              <a:t>the</a:t>
            </a:r>
            <a:r>
              <a:rPr lang="en-US" sz="1800" spc="130" dirty="0">
                <a:solidFill>
                  <a:srgbClr val="0A0A0A"/>
                </a:solidFill>
                <a:latin typeface="Arial"/>
                <a:cs typeface="Arial"/>
              </a:rPr>
              <a:t> </a:t>
            </a:r>
            <a:r>
              <a:rPr lang="en-US" sz="1800" spc="65" dirty="0">
                <a:solidFill>
                  <a:srgbClr val="0A0A0A"/>
                </a:solidFill>
                <a:latin typeface="Arial"/>
                <a:cs typeface="Arial"/>
              </a:rPr>
              <a:t>results</a:t>
            </a:r>
            <a:r>
              <a:rPr lang="en-US" sz="1800" spc="-75" dirty="0">
                <a:solidFill>
                  <a:srgbClr val="0A0A0A"/>
                </a:solidFill>
                <a:latin typeface="Arial"/>
                <a:cs typeface="Arial"/>
              </a:rPr>
              <a:t> </a:t>
            </a:r>
            <a:r>
              <a:rPr lang="en-US" sz="1800" spc="60" dirty="0">
                <a:solidFill>
                  <a:srgbClr val="0A0A0A"/>
                </a:solidFill>
                <a:latin typeface="Arial"/>
                <a:cs typeface="Arial"/>
              </a:rPr>
              <a:t>of</a:t>
            </a:r>
            <a:r>
              <a:rPr lang="en-US" sz="1800" spc="165" dirty="0">
                <a:solidFill>
                  <a:srgbClr val="0A0A0A"/>
                </a:solidFill>
                <a:latin typeface="Arial"/>
                <a:cs typeface="Arial"/>
              </a:rPr>
              <a:t> </a:t>
            </a:r>
            <a:r>
              <a:rPr lang="en-US" sz="1800" spc="80" dirty="0">
                <a:solidFill>
                  <a:srgbClr val="0A0A0A"/>
                </a:solidFill>
                <a:latin typeface="Arial"/>
                <a:cs typeface="Arial"/>
              </a:rPr>
              <a:t>individual studies</a:t>
            </a:r>
            <a:endParaRPr lang="en-US" sz="1800" dirty="0">
              <a:latin typeface="Arial"/>
              <a:cs typeface="Arial"/>
            </a:endParaRPr>
          </a:p>
          <a:p>
            <a:pPr marL="576580" marR="96520" indent="-564515">
              <a:lnSpc>
                <a:spcPct val="115500"/>
              </a:lnSpc>
              <a:spcBef>
                <a:spcPts val="5830"/>
              </a:spcBef>
              <a:buClr>
                <a:srgbClr val="1F1F1F"/>
              </a:buClr>
              <a:buSzPct val="225862"/>
              <a:buChar char="►"/>
              <a:tabLst>
                <a:tab pos="577215" algn="l"/>
              </a:tabLst>
            </a:pPr>
            <a:endParaRPr lang="en-US" sz="1200" dirty="0">
              <a:latin typeface="Arial"/>
              <a:cs typeface="Arial"/>
            </a:endParaRPr>
          </a:p>
          <a:p>
            <a:pPr lvl="1"/>
            <a:endParaRPr lang="en-IN" sz="1200" dirty="0"/>
          </a:p>
        </p:txBody>
      </p:sp>
    </p:spTree>
    <p:extLst>
      <p:ext uri="{BB962C8B-B14F-4D97-AF65-F5344CB8AC3E}">
        <p14:creationId xmlns:p14="http://schemas.microsoft.com/office/powerpoint/2010/main" val="276440351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89907"/>
          </a:xfrm>
        </p:spPr>
        <p:txBody>
          <a:bodyPr>
            <a:normAutofit/>
          </a:bodyPr>
          <a:lstStyle/>
          <a:p>
            <a:pPr algn="ctr"/>
            <a:r>
              <a:rPr lang="en-IN" sz="3200" b="1" spc="-114" dirty="0">
                <a:solidFill>
                  <a:srgbClr val="0A03DB"/>
                </a:solidFill>
                <a:latin typeface="Arial"/>
                <a:cs typeface="Arial"/>
              </a:rPr>
              <a:t>Classification</a:t>
            </a:r>
            <a:r>
              <a:rPr lang="en-IN" sz="3200" b="1" spc="-190" dirty="0">
                <a:solidFill>
                  <a:srgbClr val="0A03DB"/>
                </a:solidFill>
                <a:latin typeface="Arial"/>
                <a:cs typeface="Arial"/>
              </a:rPr>
              <a:t> </a:t>
            </a:r>
            <a:r>
              <a:rPr lang="en-IN" sz="3200" b="1" spc="30" dirty="0">
                <a:solidFill>
                  <a:srgbClr val="0A03DB"/>
                </a:solidFill>
                <a:latin typeface="Arial"/>
                <a:cs typeface="Arial"/>
              </a:rPr>
              <a:t>o</a:t>
            </a:r>
            <a:r>
              <a:rPr lang="en-IN" sz="3200" b="1" spc="15" dirty="0">
                <a:solidFill>
                  <a:srgbClr val="0A03DB"/>
                </a:solidFill>
                <a:latin typeface="Arial"/>
                <a:cs typeface="Arial"/>
              </a:rPr>
              <a:t>f</a:t>
            </a:r>
            <a:r>
              <a:rPr lang="en-IN" sz="3200" b="1" spc="-95" dirty="0">
                <a:solidFill>
                  <a:srgbClr val="0A03DB"/>
                </a:solidFill>
                <a:latin typeface="Arial"/>
                <a:cs typeface="Arial"/>
              </a:rPr>
              <a:t> </a:t>
            </a:r>
            <a:r>
              <a:rPr lang="en-IN" sz="3200" b="1" spc="-114" dirty="0">
                <a:solidFill>
                  <a:srgbClr val="0A03DB"/>
                </a:solidFill>
                <a:latin typeface="Arial"/>
                <a:cs typeface="Arial"/>
              </a:rPr>
              <a:t>Revie</a:t>
            </a:r>
            <a:r>
              <a:rPr lang="en-IN" sz="3200" b="1" spc="-160" dirty="0">
                <a:solidFill>
                  <a:srgbClr val="0A03DB"/>
                </a:solidFill>
                <a:latin typeface="Arial"/>
                <a:cs typeface="Arial"/>
              </a:rPr>
              <a:t>w</a:t>
            </a:r>
            <a:r>
              <a:rPr lang="en-IN" sz="3200" b="1" spc="175" dirty="0">
                <a:solidFill>
                  <a:srgbClr val="0A03DB"/>
                </a:solidFill>
                <a:latin typeface="Arial"/>
                <a:cs typeface="Arial"/>
              </a:rPr>
              <a:t> </a:t>
            </a:r>
            <a:r>
              <a:rPr lang="en-IN" sz="3200" b="1" spc="-140" dirty="0">
                <a:solidFill>
                  <a:srgbClr val="0A03DB"/>
                </a:solidFill>
                <a:latin typeface="Arial"/>
                <a:cs typeface="Arial"/>
              </a:rPr>
              <a:t>Articles</a:t>
            </a:r>
            <a:endParaRPr lang="en-IN" sz="3200" dirty="0"/>
          </a:p>
        </p:txBody>
      </p:sp>
      <p:sp>
        <p:nvSpPr>
          <p:cNvPr id="3" name="Content Placeholder 2"/>
          <p:cNvSpPr>
            <a:spLocks noGrp="1"/>
          </p:cNvSpPr>
          <p:nvPr>
            <p:ph idx="1"/>
          </p:nvPr>
        </p:nvSpPr>
        <p:spPr>
          <a:xfrm>
            <a:off x="838200" y="1155032"/>
            <a:ext cx="10515600" cy="5021931"/>
          </a:xfrm>
        </p:spPr>
        <p:txBody>
          <a:bodyPr>
            <a:normAutofit fontScale="32500" lnSpcReduction="20000"/>
          </a:bodyPr>
          <a:lstStyle/>
          <a:p>
            <a:pPr marL="0" indent="0">
              <a:lnSpc>
                <a:spcPct val="120000"/>
              </a:lnSpc>
              <a:buNone/>
            </a:pPr>
            <a:r>
              <a:rPr lang="en-US" sz="5600" spc="90" dirty="0">
                <a:solidFill>
                  <a:srgbClr val="0A0A0A"/>
                </a:solidFill>
                <a:latin typeface="Arial"/>
                <a:cs typeface="Arial"/>
              </a:rPr>
              <a:t>Review</a:t>
            </a:r>
            <a:r>
              <a:rPr lang="en-US" sz="5600" spc="50" dirty="0">
                <a:solidFill>
                  <a:srgbClr val="0A0A0A"/>
                </a:solidFill>
                <a:latin typeface="Arial"/>
                <a:cs typeface="Arial"/>
              </a:rPr>
              <a:t> </a:t>
            </a:r>
            <a:r>
              <a:rPr lang="en-US" sz="5600" spc="125" dirty="0">
                <a:solidFill>
                  <a:srgbClr val="0A0A0A"/>
                </a:solidFill>
                <a:latin typeface="Arial"/>
                <a:cs typeface="Arial"/>
              </a:rPr>
              <a:t>articles</a:t>
            </a:r>
            <a:r>
              <a:rPr lang="en-US" sz="5600" spc="85" dirty="0">
                <a:solidFill>
                  <a:srgbClr val="0A0A0A"/>
                </a:solidFill>
                <a:latin typeface="Arial"/>
                <a:cs typeface="Arial"/>
              </a:rPr>
              <a:t> </a:t>
            </a:r>
            <a:r>
              <a:rPr lang="en-US" sz="5600" spc="160" dirty="0">
                <a:solidFill>
                  <a:srgbClr val="0A0A0A"/>
                </a:solidFill>
                <a:latin typeface="Arial"/>
                <a:cs typeface="Arial"/>
              </a:rPr>
              <a:t>maybe</a:t>
            </a:r>
            <a:r>
              <a:rPr lang="en-US" sz="5600" spc="-50" dirty="0">
                <a:solidFill>
                  <a:srgbClr val="0A0A0A"/>
                </a:solidFill>
                <a:latin typeface="Arial"/>
                <a:cs typeface="Arial"/>
              </a:rPr>
              <a:t> </a:t>
            </a:r>
            <a:r>
              <a:rPr lang="en-US" sz="5600" spc="95" dirty="0">
                <a:solidFill>
                  <a:srgbClr val="0A0A0A"/>
                </a:solidFill>
                <a:latin typeface="Arial"/>
                <a:cs typeface="Arial"/>
              </a:rPr>
              <a:t>classified</a:t>
            </a:r>
            <a:r>
              <a:rPr lang="en-US" sz="5600" spc="15" dirty="0">
                <a:solidFill>
                  <a:srgbClr val="0A0A0A"/>
                </a:solidFill>
                <a:latin typeface="Arial"/>
                <a:cs typeface="Arial"/>
              </a:rPr>
              <a:t> </a:t>
            </a:r>
            <a:r>
              <a:rPr lang="en-US" sz="5600" spc="235" dirty="0">
                <a:solidFill>
                  <a:srgbClr val="0A0A0A"/>
                </a:solidFill>
                <a:latin typeface="Arial"/>
                <a:cs typeface="Arial"/>
              </a:rPr>
              <a:t>into</a:t>
            </a:r>
            <a:r>
              <a:rPr lang="en-US" sz="5600" spc="-15" dirty="0">
                <a:solidFill>
                  <a:srgbClr val="0A0A0A"/>
                </a:solidFill>
                <a:latin typeface="Arial"/>
                <a:cs typeface="Arial"/>
              </a:rPr>
              <a:t> </a:t>
            </a:r>
            <a:r>
              <a:rPr lang="en-US" sz="5600" spc="204" dirty="0">
                <a:solidFill>
                  <a:srgbClr val="0A0A0A"/>
                </a:solidFill>
                <a:latin typeface="Arial"/>
                <a:cs typeface="Arial"/>
              </a:rPr>
              <a:t>three</a:t>
            </a:r>
            <a:r>
              <a:rPr lang="en-US" sz="5600" spc="-30" dirty="0">
                <a:solidFill>
                  <a:srgbClr val="0A0A0A"/>
                </a:solidFill>
                <a:latin typeface="Arial"/>
                <a:cs typeface="Arial"/>
              </a:rPr>
              <a:t> </a:t>
            </a:r>
            <a:r>
              <a:rPr lang="en-US" sz="5600" spc="155" dirty="0">
                <a:solidFill>
                  <a:srgbClr val="0A0A0A"/>
                </a:solidFill>
                <a:latin typeface="Arial"/>
                <a:cs typeface="Arial"/>
              </a:rPr>
              <a:t>types</a:t>
            </a:r>
            <a:r>
              <a:rPr lang="en-US" sz="5600" spc="-85" dirty="0">
                <a:solidFill>
                  <a:srgbClr val="0A0A0A"/>
                </a:solidFill>
                <a:latin typeface="Arial"/>
                <a:cs typeface="Arial"/>
              </a:rPr>
              <a:t> </a:t>
            </a:r>
            <a:r>
              <a:rPr lang="en-US" sz="5600" spc="215" dirty="0">
                <a:solidFill>
                  <a:srgbClr val="0A0A0A"/>
                </a:solidFill>
                <a:latin typeface="Arial"/>
                <a:cs typeface="Arial"/>
              </a:rPr>
              <a:t>Methodological,</a:t>
            </a:r>
            <a:r>
              <a:rPr lang="en-US" sz="5600" spc="-365" dirty="0">
                <a:solidFill>
                  <a:srgbClr val="0A0A0A"/>
                </a:solidFill>
                <a:latin typeface="Arial"/>
                <a:cs typeface="Arial"/>
              </a:rPr>
              <a:t> </a:t>
            </a:r>
            <a:r>
              <a:rPr lang="en-US" sz="5600" spc="135" dirty="0">
                <a:solidFill>
                  <a:srgbClr val="0A0A0A"/>
                </a:solidFill>
                <a:latin typeface="Arial"/>
                <a:cs typeface="Arial"/>
              </a:rPr>
              <a:t>Objective</a:t>
            </a:r>
            <a:r>
              <a:rPr lang="en-US" sz="5600" spc="200" dirty="0">
                <a:solidFill>
                  <a:srgbClr val="0A0A0A"/>
                </a:solidFill>
                <a:latin typeface="Arial"/>
                <a:cs typeface="Arial"/>
              </a:rPr>
              <a:t> </a:t>
            </a:r>
            <a:r>
              <a:rPr lang="en-US" sz="5600" spc="165" dirty="0">
                <a:solidFill>
                  <a:srgbClr val="0A0A0A"/>
                </a:solidFill>
                <a:latin typeface="Arial"/>
                <a:cs typeface="Arial"/>
              </a:rPr>
              <a:t>and</a:t>
            </a:r>
            <a:r>
              <a:rPr lang="en-US" sz="5600" spc="-35" dirty="0">
                <a:solidFill>
                  <a:srgbClr val="0A0A0A"/>
                </a:solidFill>
                <a:latin typeface="Arial"/>
                <a:cs typeface="Arial"/>
              </a:rPr>
              <a:t>    </a:t>
            </a:r>
            <a:r>
              <a:rPr lang="en-US" sz="5600" spc="220" dirty="0">
                <a:solidFill>
                  <a:srgbClr val="0A0A0A"/>
                </a:solidFill>
                <a:latin typeface="Arial"/>
                <a:cs typeface="Arial"/>
              </a:rPr>
              <a:t>Mandate</a:t>
            </a:r>
            <a:r>
              <a:rPr lang="en-US" sz="5600" spc="70" dirty="0">
                <a:solidFill>
                  <a:srgbClr val="0A0A0A"/>
                </a:solidFill>
                <a:latin typeface="Arial"/>
                <a:cs typeface="Arial"/>
              </a:rPr>
              <a:t> </a:t>
            </a:r>
            <a:r>
              <a:rPr lang="en-US" sz="5600" spc="90" dirty="0">
                <a:solidFill>
                  <a:srgbClr val="0A0A0A"/>
                </a:solidFill>
                <a:latin typeface="Arial"/>
                <a:cs typeface="Arial"/>
              </a:rPr>
              <a:t>based</a:t>
            </a:r>
            <a:r>
              <a:rPr lang="en-US" sz="5600" spc="65" dirty="0">
                <a:solidFill>
                  <a:srgbClr val="0A0A0A"/>
                </a:solidFill>
                <a:latin typeface="Arial"/>
                <a:cs typeface="Arial"/>
              </a:rPr>
              <a:t> </a:t>
            </a:r>
            <a:r>
              <a:rPr lang="en-US" sz="5600" spc="140" dirty="0">
                <a:solidFill>
                  <a:srgbClr val="0A0A0A"/>
                </a:solidFill>
                <a:latin typeface="Arial"/>
                <a:cs typeface="Arial"/>
              </a:rPr>
              <a:t>types</a:t>
            </a:r>
          </a:p>
          <a:p>
            <a:pPr marL="27305">
              <a:lnSpc>
                <a:spcPct val="120000"/>
              </a:lnSpc>
            </a:pPr>
            <a:r>
              <a:rPr lang="en-IN" sz="5600" spc="150" dirty="0">
                <a:solidFill>
                  <a:srgbClr val="DD0A1A"/>
                </a:solidFill>
                <a:latin typeface="Arial"/>
                <a:cs typeface="Arial"/>
              </a:rPr>
              <a:t>Objective</a:t>
            </a:r>
            <a:r>
              <a:rPr lang="en-IN" sz="5600" spc="70" dirty="0">
                <a:solidFill>
                  <a:srgbClr val="DD0A1A"/>
                </a:solidFill>
                <a:latin typeface="Arial"/>
                <a:cs typeface="Arial"/>
              </a:rPr>
              <a:t> </a:t>
            </a:r>
            <a:r>
              <a:rPr lang="en-IN" sz="5600" spc="140" dirty="0">
                <a:solidFill>
                  <a:srgbClr val="DD0A1A"/>
                </a:solidFill>
                <a:latin typeface="Arial"/>
                <a:cs typeface="Arial"/>
              </a:rPr>
              <a:t>Approach </a:t>
            </a:r>
            <a:r>
              <a:rPr lang="en-IN" sz="5600" spc="165" dirty="0">
                <a:solidFill>
                  <a:srgbClr val="0A0A0A"/>
                </a:solidFill>
                <a:latin typeface="Arial"/>
                <a:cs typeface="Arial"/>
              </a:rPr>
              <a:t>and</a:t>
            </a:r>
            <a:r>
              <a:rPr lang="en-IN" sz="5600" spc="-20" dirty="0">
                <a:solidFill>
                  <a:srgbClr val="0A0A0A"/>
                </a:solidFill>
                <a:latin typeface="Arial"/>
                <a:cs typeface="Arial"/>
              </a:rPr>
              <a:t> </a:t>
            </a:r>
            <a:r>
              <a:rPr lang="en-IN" sz="5600" spc="95" dirty="0">
                <a:solidFill>
                  <a:srgbClr val="0A0A0A"/>
                </a:solidFill>
                <a:latin typeface="Arial"/>
                <a:cs typeface="Arial"/>
              </a:rPr>
              <a:t>its</a:t>
            </a:r>
            <a:r>
              <a:rPr lang="en-IN" sz="5600" spc="110" dirty="0">
                <a:solidFill>
                  <a:srgbClr val="0A0A0A"/>
                </a:solidFill>
                <a:latin typeface="Arial"/>
                <a:cs typeface="Arial"/>
              </a:rPr>
              <a:t> </a:t>
            </a:r>
            <a:r>
              <a:rPr lang="en-IN" sz="5600" spc="140" dirty="0">
                <a:solidFill>
                  <a:srgbClr val="0A0A0A"/>
                </a:solidFill>
                <a:latin typeface="Arial"/>
                <a:cs typeface="Arial"/>
              </a:rPr>
              <a:t>types</a:t>
            </a:r>
            <a:endParaRPr lang="en-IN" sz="5600" dirty="0">
              <a:latin typeface="Arial"/>
              <a:cs typeface="Arial"/>
            </a:endParaRPr>
          </a:p>
          <a:p>
            <a:pPr marL="27305">
              <a:lnSpc>
                <a:spcPct val="120000"/>
              </a:lnSpc>
            </a:pPr>
            <a:r>
              <a:rPr lang="en-IN" sz="5600" spc="110" dirty="0">
                <a:solidFill>
                  <a:srgbClr val="0A0A0A"/>
                </a:solidFill>
                <a:latin typeface="Arial"/>
                <a:cs typeface="Arial"/>
              </a:rPr>
              <a:t>Status-quo</a:t>
            </a:r>
            <a:r>
              <a:rPr lang="en-IN" sz="5600" spc="265" dirty="0">
                <a:solidFill>
                  <a:srgbClr val="0A0A0A"/>
                </a:solidFill>
                <a:latin typeface="Arial"/>
                <a:cs typeface="Arial"/>
              </a:rPr>
              <a:t> </a:t>
            </a:r>
            <a:r>
              <a:rPr lang="en-IN" sz="5600" spc="70" dirty="0">
                <a:solidFill>
                  <a:srgbClr val="0A0A0A"/>
                </a:solidFill>
                <a:latin typeface="Arial"/>
                <a:cs typeface="Arial"/>
              </a:rPr>
              <a:t>Review</a:t>
            </a:r>
          </a:p>
          <a:p>
            <a:pPr marL="890588" indent="-361950">
              <a:lnSpc>
                <a:spcPct val="120000"/>
              </a:lnSpc>
              <a:buFont typeface="Wingdings" panose="05000000000000000000" pitchFamily="2" charset="2"/>
              <a:buChar char="Ø"/>
            </a:pPr>
            <a:r>
              <a:rPr lang="en-US" sz="5600" spc="65" dirty="0">
                <a:solidFill>
                  <a:srgbClr val="0A0A0A"/>
                </a:solidFill>
                <a:latin typeface="Arial"/>
                <a:cs typeface="Arial"/>
              </a:rPr>
              <a:t>Presentation</a:t>
            </a:r>
            <a:r>
              <a:rPr lang="en-US" sz="5600" spc="60" dirty="0">
                <a:solidFill>
                  <a:srgbClr val="0A0A0A"/>
                </a:solidFill>
                <a:latin typeface="Arial"/>
                <a:cs typeface="Arial"/>
              </a:rPr>
              <a:t> of</a:t>
            </a:r>
            <a:r>
              <a:rPr lang="en-US" sz="5600" spc="110" dirty="0">
                <a:solidFill>
                  <a:srgbClr val="0A0A0A"/>
                </a:solidFill>
                <a:latin typeface="Arial"/>
                <a:cs typeface="Arial"/>
              </a:rPr>
              <a:t> </a:t>
            </a:r>
            <a:r>
              <a:rPr lang="en-US" sz="5600" spc="65" dirty="0">
                <a:solidFill>
                  <a:srgbClr val="0A0A0A"/>
                </a:solidFill>
                <a:latin typeface="Arial"/>
                <a:cs typeface="Arial"/>
              </a:rPr>
              <a:t>the</a:t>
            </a:r>
            <a:r>
              <a:rPr lang="en-US" sz="5600" spc="229" dirty="0">
                <a:solidFill>
                  <a:srgbClr val="0A0A0A"/>
                </a:solidFill>
                <a:latin typeface="Arial"/>
                <a:cs typeface="Arial"/>
              </a:rPr>
              <a:t> </a:t>
            </a:r>
            <a:r>
              <a:rPr lang="en-US" sz="5600" spc="114" dirty="0">
                <a:solidFill>
                  <a:srgbClr val="0A0A0A"/>
                </a:solidFill>
                <a:latin typeface="Arial"/>
                <a:cs typeface="Arial"/>
              </a:rPr>
              <a:t>most</a:t>
            </a:r>
            <a:r>
              <a:rPr lang="en-US" sz="5600" spc="50" dirty="0">
                <a:solidFill>
                  <a:srgbClr val="0A0A0A"/>
                </a:solidFill>
                <a:latin typeface="Arial"/>
                <a:cs typeface="Arial"/>
              </a:rPr>
              <a:t> </a:t>
            </a:r>
            <a:r>
              <a:rPr lang="en-US" sz="5600" spc="105" dirty="0">
                <a:solidFill>
                  <a:srgbClr val="0A0A0A"/>
                </a:solidFill>
                <a:latin typeface="Arial"/>
                <a:cs typeface="Arial"/>
              </a:rPr>
              <a:t>current</a:t>
            </a:r>
            <a:r>
              <a:rPr lang="en-US" sz="5600" spc="80" dirty="0">
                <a:solidFill>
                  <a:srgbClr val="0A0A0A"/>
                </a:solidFill>
                <a:latin typeface="Arial"/>
                <a:cs typeface="Arial"/>
              </a:rPr>
              <a:t> </a:t>
            </a:r>
            <a:r>
              <a:rPr lang="en-US" sz="5600" spc="30" dirty="0">
                <a:solidFill>
                  <a:srgbClr val="0A0A0A"/>
                </a:solidFill>
                <a:latin typeface="Arial"/>
                <a:cs typeface="Arial"/>
              </a:rPr>
              <a:t>research</a:t>
            </a:r>
            <a:r>
              <a:rPr lang="en-US" sz="5600" spc="-45" dirty="0">
                <a:solidFill>
                  <a:srgbClr val="0A0A0A"/>
                </a:solidFill>
                <a:latin typeface="Arial"/>
                <a:cs typeface="Arial"/>
              </a:rPr>
              <a:t> </a:t>
            </a:r>
            <a:r>
              <a:rPr lang="en-US" sz="5600" spc="20" dirty="0">
                <a:solidFill>
                  <a:srgbClr val="0A0A0A"/>
                </a:solidFill>
                <a:latin typeface="Arial"/>
                <a:cs typeface="Arial"/>
              </a:rPr>
              <a:t>for</a:t>
            </a:r>
            <a:r>
              <a:rPr lang="en-US" sz="5600" spc="375" dirty="0">
                <a:solidFill>
                  <a:srgbClr val="0A0A0A"/>
                </a:solidFill>
                <a:latin typeface="Arial"/>
                <a:cs typeface="Arial"/>
              </a:rPr>
              <a:t> </a:t>
            </a:r>
            <a:r>
              <a:rPr lang="en-US" sz="5600" spc="-15" dirty="0">
                <a:solidFill>
                  <a:srgbClr val="1F1F1F"/>
                </a:solidFill>
                <a:latin typeface="Arial"/>
                <a:cs typeface="Arial"/>
              </a:rPr>
              <a:t>a</a:t>
            </a:r>
            <a:r>
              <a:rPr lang="en-US" sz="5600" spc="-85" dirty="0">
                <a:solidFill>
                  <a:srgbClr val="1F1F1F"/>
                </a:solidFill>
                <a:latin typeface="Arial"/>
                <a:cs typeface="Arial"/>
              </a:rPr>
              <a:t> </a:t>
            </a:r>
            <a:r>
              <a:rPr lang="en-US" sz="5600" spc="40" dirty="0">
                <a:solidFill>
                  <a:srgbClr val="0A0A0A"/>
                </a:solidFill>
                <a:latin typeface="Arial"/>
                <a:cs typeface="Arial"/>
              </a:rPr>
              <a:t>given</a:t>
            </a:r>
            <a:r>
              <a:rPr lang="en-US" sz="5600" spc="-95" dirty="0">
                <a:solidFill>
                  <a:srgbClr val="0A0A0A"/>
                </a:solidFill>
                <a:latin typeface="Arial"/>
                <a:cs typeface="Arial"/>
              </a:rPr>
              <a:t> </a:t>
            </a:r>
            <a:r>
              <a:rPr lang="en-US" sz="5600" spc="120" dirty="0">
                <a:solidFill>
                  <a:srgbClr val="0A0A0A"/>
                </a:solidFill>
                <a:latin typeface="Arial"/>
                <a:cs typeface="Arial"/>
              </a:rPr>
              <a:t>topic</a:t>
            </a:r>
            <a:r>
              <a:rPr lang="en-US" sz="5600" spc="20" dirty="0">
                <a:solidFill>
                  <a:srgbClr val="0A0A0A"/>
                </a:solidFill>
                <a:latin typeface="Arial"/>
                <a:cs typeface="Arial"/>
              </a:rPr>
              <a:t> </a:t>
            </a:r>
            <a:r>
              <a:rPr lang="en-US" sz="5600" spc="114" dirty="0">
                <a:solidFill>
                  <a:srgbClr val="0A0A0A"/>
                </a:solidFill>
                <a:latin typeface="Arial"/>
                <a:cs typeface="Arial"/>
              </a:rPr>
              <a:t>or</a:t>
            </a:r>
            <a:r>
              <a:rPr lang="en-US" sz="5600" dirty="0">
                <a:latin typeface="Arial"/>
                <a:cs typeface="Arial"/>
              </a:rPr>
              <a:t> </a:t>
            </a:r>
            <a:r>
              <a:rPr lang="en-US" sz="5600" spc="125" dirty="0">
                <a:solidFill>
                  <a:srgbClr val="0A0A0A"/>
                </a:solidFill>
                <a:latin typeface="Arial"/>
                <a:cs typeface="Arial"/>
              </a:rPr>
              <a:t>field</a:t>
            </a:r>
            <a:r>
              <a:rPr lang="en-US" sz="5600" spc="-50" dirty="0">
                <a:solidFill>
                  <a:srgbClr val="0A0A0A"/>
                </a:solidFill>
                <a:latin typeface="Arial"/>
                <a:cs typeface="Arial"/>
              </a:rPr>
              <a:t> </a:t>
            </a:r>
            <a:r>
              <a:rPr lang="en-US" sz="5600" spc="145" dirty="0">
                <a:solidFill>
                  <a:srgbClr val="0A0A0A"/>
                </a:solidFill>
                <a:latin typeface="Arial"/>
                <a:cs typeface="Arial"/>
              </a:rPr>
              <a:t>of</a:t>
            </a:r>
            <a:r>
              <a:rPr lang="en-US" sz="5600" spc="-25" dirty="0">
                <a:solidFill>
                  <a:srgbClr val="0A0A0A"/>
                </a:solidFill>
                <a:latin typeface="Arial"/>
                <a:cs typeface="Arial"/>
              </a:rPr>
              <a:t> </a:t>
            </a:r>
            <a:r>
              <a:rPr lang="en-US" sz="5600" spc="30" dirty="0">
                <a:solidFill>
                  <a:srgbClr val="0A0A0A"/>
                </a:solidFill>
                <a:latin typeface="Arial"/>
                <a:cs typeface="Arial"/>
              </a:rPr>
              <a:t>research.</a:t>
            </a:r>
          </a:p>
          <a:p>
            <a:pPr>
              <a:lnSpc>
                <a:spcPct val="120000"/>
              </a:lnSpc>
            </a:pPr>
            <a:r>
              <a:rPr lang="en-IN" sz="5600" spc="145" dirty="0">
                <a:solidFill>
                  <a:srgbClr val="0A0A0A"/>
                </a:solidFill>
                <a:latin typeface="Arial"/>
                <a:cs typeface="Arial"/>
              </a:rPr>
              <a:t>History</a:t>
            </a:r>
            <a:r>
              <a:rPr lang="en-IN" sz="5600" spc="35" dirty="0">
                <a:solidFill>
                  <a:srgbClr val="0A0A0A"/>
                </a:solidFill>
                <a:latin typeface="Arial"/>
                <a:cs typeface="Arial"/>
              </a:rPr>
              <a:t> </a:t>
            </a:r>
            <a:r>
              <a:rPr lang="en-IN" sz="5600" spc="90" dirty="0">
                <a:solidFill>
                  <a:srgbClr val="0A0A0A"/>
                </a:solidFill>
                <a:latin typeface="Arial"/>
                <a:cs typeface="Arial"/>
              </a:rPr>
              <a:t>Review</a:t>
            </a:r>
          </a:p>
          <a:p>
            <a:pPr marL="900113" indent="-365125">
              <a:lnSpc>
                <a:spcPct val="120000"/>
              </a:lnSpc>
              <a:buFont typeface="Wingdings" panose="05000000000000000000" pitchFamily="2" charset="2"/>
              <a:buChar char="Ø"/>
            </a:pPr>
            <a:r>
              <a:rPr lang="en-US" sz="5600" spc="90" dirty="0">
                <a:solidFill>
                  <a:srgbClr val="0A0A0A"/>
                </a:solidFill>
                <a:latin typeface="Arial"/>
                <a:cs typeface="Arial"/>
              </a:rPr>
              <a:t>Development</a:t>
            </a:r>
            <a:r>
              <a:rPr lang="en-US" sz="5600" spc="114" dirty="0">
                <a:solidFill>
                  <a:srgbClr val="0A0A0A"/>
                </a:solidFill>
                <a:latin typeface="Arial"/>
                <a:cs typeface="Arial"/>
              </a:rPr>
              <a:t> </a:t>
            </a:r>
            <a:r>
              <a:rPr lang="en-US" sz="5600" spc="70" dirty="0">
                <a:solidFill>
                  <a:srgbClr val="0A0A0A"/>
                </a:solidFill>
                <a:latin typeface="Arial"/>
                <a:cs typeface="Arial"/>
              </a:rPr>
              <a:t>of</a:t>
            </a:r>
            <a:r>
              <a:rPr lang="en-US" sz="5600" spc="130" dirty="0">
                <a:solidFill>
                  <a:srgbClr val="0A0A0A"/>
                </a:solidFill>
                <a:latin typeface="Arial"/>
                <a:cs typeface="Arial"/>
              </a:rPr>
              <a:t> </a:t>
            </a:r>
            <a:r>
              <a:rPr lang="en-US" sz="5600" spc="-125" dirty="0">
                <a:solidFill>
                  <a:srgbClr val="0A0A0A"/>
                </a:solidFill>
                <a:latin typeface="Arial"/>
                <a:cs typeface="Arial"/>
              </a:rPr>
              <a:t>a</a:t>
            </a:r>
            <a:r>
              <a:rPr lang="en-US" sz="5600" spc="-5" dirty="0">
                <a:solidFill>
                  <a:srgbClr val="0A0A0A"/>
                </a:solidFill>
                <a:latin typeface="Arial"/>
                <a:cs typeface="Arial"/>
              </a:rPr>
              <a:t> </a:t>
            </a:r>
            <a:r>
              <a:rPr lang="en-US" sz="5600" spc="125" dirty="0">
                <a:solidFill>
                  <a:srgbClr val="0A0A0A"/>
                </a:solidFill>
                <a:latin typeface="Arial"/>
                <a:cs typeface="Arial"/>
              </a:rPr>
              <a:t>field</a:t>
            </a:r>
            <a:r>
              <a:rPr lang="en-US" sz="5600" spc="-25" dirty="0">
                <a:solidFill>
                  <a:srgbClr val="0A0A0A"/>
                </a:solidFill>
                <a:latin typeface="Arial"/>
                <a:cs typeface="Arial"/>
              </a:rPr>
              <a:t> </a:t>
            </a:r>
            <a:r>
              <a:rPr lang="en-US" sz="5600" spc="145" dirty="0">
                <a:solidFill>
                  <a:srgbClr val="0A0A0A"/>
                </a:solidFill>
                <a:latin typeface="Arial"/>
                <a:cs typeface="Arial"/>
              </a:rPr>
              <a:t>of</a:t>
            </a:r>
            <a:r>
              <a:rPr lang="en-US" sz="5600" dirty="0">
                <a:solidFill>
                  <a:srgbClr val="0A0A0A"/>
                </a:solidFill>
                <a:latin typeface="Arial"/>
                <a:cs typeface="Arial"/>
              </a:rPr>
              <a:t> </a:t>
            </a:r>
            <a:r>
              <a:rPr lang="en-US" sz="5600" spc="30" dirty="0">
                <a:solidFill>
                  <a:srgbClr val="0A0A0A"/>
                </a:solidFill>
                <a:latin typeface="Arial"/>
                <a:cs typeface="Arial"/>
              </a:rPr>
              <a:t>research</a:t>
            </a:r>
            <a:r>
              <a:rPr lang="en-US" sz="5600" spc="-20" dirty="0">
                <a:solidFill>
                  <a:srgbClr val="0A0A0A"/>
                </a:solidFill>
                <a:latin typeface="Arial"/>
                <a:cs typeface="Arial"/>
              </a:rPr>
              <a:t> </a:t>
            </a:r>
            <a:r>
              <a:rPr lang="en-US" sz="5600" spc="70" dirty="0">
                <a:solidFill>
                  <a:srgbClr val="0A0A0A"/>
                </a:solidFill>
                <a:latin typeface="Arial"/>
                <a:cs typeface="Arial"/>
              </a:rPr>
              <a:t>over</a:t>
            </a:r>
            <a:r>
              <a:rPr lang="en-US" sz="5600" spc="-75" dirty="0">
                <a:solidFill>
                  <a:srgbClr val="0A0A0A"/>
                </a:solidFill>
                <a:latin typeface="Arial"/>
                <a:cs typeface="Arial"/>
              </a:rPr>
              <a:t> </a:t>
            </a:r>
            <a:r>
              <a:rPr lang="en-US" sz="5600" spc="185" dirty="0">
                <a:solidFill>
                  <a:srgbClr val="0A0A0A"/>
                </a:solidFill>
                <a:latin typeface="Arial"/>
                <a:cs typeface="Arial"/>
              </a:rPr>
              <a:t>time.</a:t>
            </a:r>
            <a:endParaRPr lang="en-US" sz="5600" dirty="0">
              <a:latin typeface="Arial"/>
              <a:cs typeface="Arial"/>
            </a:endParaRPr>
          </a:p>
          <a:p>
            <a:pPr>
              <a:lnSpc>
                <a:spcPct val="120000"/>
              </a:lnSpc>
            </a:pPr>
            <a:r>
              <a:rPr lang="en-IN" sz="5600" spc="30" dirty="0">
                <a:solidFill>
                  <a:srgbClr val="0A0A0A"/>
                </a:solidFill>
                <a:latin typeface="Arial"/>
                <a:cs typeface="Arial"/>
              </a:rPr>
              <a:t>Issue</a:t>
            </a:r>
            <a:r>
              <a:rPr lang="en-IN" sz="5600" spc="-10" dirty="0">
                <a:solidFill>
                  <a:srgbClr val="0A0A0A"/>
                </a:solidFill>
                <a:latin typeface="Arial"/>
                <a:cs typeface="Arial"/>
              </a:rPr>
              <a:t> </a:t>
            </a:r>
            <a:r>
              <a:rPr lang="en-IN" sz="5600" spc="90" dirty="0">
                <a:solidFill>
                  <a:srgbClr val="0A0A0A"/>
                </a:solidFill>
                <a:latin typeface="Arial"/>
                <a:cs typeface="Arial"/>
              </a:rPr>
              <a:t>Review</a:t>
            </a:r>
            <a:endParaRPr lang="en-IN" sz="5600" dirty="0">
              <a:latin typeface="Arial"/>
              <a:cs typeface="Arial"/>
            </a:endParaRPr>
          </a:p>
          <a:p>
            <a:pPr marL="900113" indent="-365125">
              <a:lnSpc>
                <a:spcPct val="120000"/>
              </a:lnSpc>
              <a:buFont typeface="Wingdings" panose="05000000000000000000" pitchFamily="2" charset="2"/>
              <a:buChar char="Ø"/>
            </a:pPr>
            <a:r>
              <a:rPr lang="en-US" sz="5600" spc="60" dirty="0">
                <a:solidFill>
                  <a:srgbClr val="0A0A0A"/>
                </a:solidFill>
                <a:latin typeface="Arial"/>
                <a:cs typeface="Arial"/>
              </a:rPr>
              <a:t>Investigation</a:t>
            </a:r>
            <a:r>
              <a:rPr lang="en-US" sz="5600" spc="100" dirty="0">
                <a:solidFill>
                  <a:srgbClr val="0A0A0A"/>
                </a:solidFill>
                <a:latin typeface="Arial"/>
                <a:cs typeface="Arial"/>
              </a:rPr>
              <a:t> </a:t>
            </a:r>
            <a:r>
              <a:rPr lang="en-US" sz="5600" spc="60" dirty="0">
                <a:solidFill>
                  <a:srgbClr val="0A0A0A"/>
                </a:solidFill>
                <a:latin typeface="Arial"/>
                <a:cs typeface="Arial"/>
              </a:rPr>
              <a:t>of</a:t>
            </a:r>
            <a:r>
              <a:rPr lang="en-US" sz="5600" spc="254" dirty="0">
                <a:solidFill>
                  <a:srgbClr val="0A0A0A"/>
                </a:solidFill>
                <a:latin typeface="Arial"/>
                <a:cs typeface="Arial"/>
              </a:rPr>
              <a:t> </a:t>
            </a:r>
            <a:r>
              <a:rPr lang="en-US" sz="5600" spc="65" dirty="0">
                <a:solidFill>
                  <a:srgbClr val="0A0A0A"/>
                </a:solidFill>
                <a:latin typeface="Arial"/>
                <a:cs typeface="Arial"/>
              </a:rPr>
              <a:t>an</a:t>
            </a:r>
            <a:r>
              <a:rPr lang="en-US" sz="5600" spc="-140" dirty="0">
                <a:solidFill>
                  <a:srgbClr val="0A0A0A"/>
                </a:solidFill>
                <a:latin typeface="Arial"/>
                <a:cs typeface="Arial"/>
              </a:rPr>
              <a:t> </a:t>
            </a:r>
            <a:r>
              <a:rPr lang="en-US" sz="5600" spc="-15" dirty="0">
                <a:solidFill>
                  <a:srgbClr val="0A0A0A"/>
                </a:solidFill>
                <a:latin typeface="Arial"/>
                <a:cs typeface="Arial"/>
              </a:rPr>
              <a:t>issue</a:t>
            </a:r>
            <a:r>
              <a:rPr lang="en-US" sz="5600" spc="15" dirty="0">
                <a:solidFill>
                  <a:srgbClr val="0A0A0A"/>
                </a:solidFill>
                <a:latin typeface="Arial"/>
                <a:cs typeface="Arial"/>
              </a:rPr>
              <a:t> </a:t>
            </a:r>
            <a:r>
              <a:rPr lang="en-US" sz="5600" spc="45" dirty="0">
                <a:solidFill>
                  <a:srgbClr val="0A0A0A"/>
                </a:solidFill>
                <a:latin typeface="Arial"/>
                <a:cs typeface="Arial"/>
              </a:rPr>
              <a:t>(i</a:t>
            </a:r>
            <a:r>
              <a:rPr lang="en-US" sz="5600" spc="45" dirty="0">
                <a:solidFill>
                  <a:srgbClr val="2F2F2F"/>
                </a:solidFill>
                <a:latin typeface="Arial"/>
                <a:cs typeface="Arial"/>
              </a:rPr>
              <a:t>.</a:t>
            </a:r>
            <a:r>
              <a:rPr lang="en-US" sz="5600" spc="45" dirty="0">
                <a:solidFill>
                  <a:srgbClr val="0A0A0A"/>
                </a:solidFill>
                <a:latin typeface="Arial"/>
                <a:cs typeface="Arial"/>
              </a:rPr>
              <a:t>e</a:t>
            </a:r>
            <a:r>
              <a:rPr lang="en-US" sz="5600" spc="45" dirty="0">
                <a:solidFill>
                  <a:srgbClr val="424242"/>
                </a:solidFill>
                <a:latin typeface="Arial"/>
                <a:cs typeface="Arial"/>
              </a:rPr>
              <a:t>.</a:t>
            </a:r>
            <a:r>
              <a:rPr lang="en-US" sz="5600" spc="-95" dirty="0">
                <a:solidFill>
                  <a:srgbClr val="424242"/>
                </a:solidFill>
                <a:latin typeface="Arial"/>
                <a:cs typeface="Arial"/>
              </a:rPr>
              <a:t> </a:t>
            </a:r>
            <a:r>
              <a:rPr lang="en-US" sz="5600" spc="-15" dirty="0">
                <a:solidFill>
                  <a:srgbClr val="0A0A0A"/>
                </a:solidFill>
                <a:latin typeface="Arial"/>
                <a:cs typeface="Arial"/>
              </a:rPr>
              <a:t>a</a:t>
            </a:r>
            <a:r>
              <a:rPr lang="en-US" sz="5600" spc="-90" dirty="0">
                <a:solidFill>
                  <a:srgbClr val="0A0A0A"/>
                </a:solidFill>
                <a:latin typeface="Arial"/>
                <a:cs typeface="Arial"/>
              </a:rPr>
              <a:t> </a:t>
            </a:r>
            <a:r>
              <a:rPr lang="en-US" sz="5600" spc="150" dirty="0">
                <a:solidFill>
                  <a:srgbClr val="0A0A0A"/>
                </a:solidFill>
                <a:latin typeface="Arial"/>
                <a:cs typeface="Arial"/>
              </a:rPr>
              <a:t>point</a:t>
            </a:r>
            <a:r>
              <a:rPr lang="en-US" sz="5600" spc="-45" dirty="0">
                <a:solidFill>
                  <a:srgbClr val="0A0A0A"/>
                </a:solidFill>
                <a:latin typeface="Arial"/>
                <a:cs typeface="Arial"/>
              </a:rPr>
              <a:t> </a:t>
            </a:r>
            <a:r>
              <a:rPr lang="en-US" sz="5600" spc="145" dirty="0">
                <a:solidFill>
                  <a:srgbClr val="0A0A0A"/>
                </a:solidFill>
                <a:latin typeface="Arial"/>
                <a:cs typeface="Arial"/>
              </a:rPr>
              <a:t>of</a:t>
            </a:r>
            <a:r>
              <a:rPr lang="en-US" sz="5600" spc="90" dirty="0">
                <a:solidFill>
                  <a:srgbClr val="0A0A0A"/>
                </a:solidFill>
                <a:latin typeface="Arial"/>
                <a:cs typeface="Arial"/>
              </a:rPr>
              <a:t> </a:t>
            </a:r>
            <a:r>
              <a:rPr lang="en-US" sz="5600" spc="40" dirty="0">
                <a:solidFill>
                  <a:srgbClr val="0A0A0A"/>
                </a:solidFill>
                <a:latin typeface="Arial"/>
                <a:cs typeface="Arial"/>
              </a:rPr>
              <a:t>disagreement</a:t>
            </a:r>
            <a:r>
              <a:rPr lang="en-US" sz="5600" spc="305" dirty="0">
                <a:solidFill>
                  <a:srgbClr val="0A0A0A"/>
                </a:solidFill>
                <a:latin typeface="Arial"/>
                <a:cs typeface="Arial"/>
              </a:rPr>
              <a:t> </a:t>
            </a:r>
            <a:r>
              <a:rPr lang="en-US" sz="5600" spc="40" dirty="0">
                <a:solidFill>
                  <a:srgbClr val="0A0A0A"/>
                </a:solidFill>
                <a:latin typeface="Arial"/>
                <a:cs typeface="Arial"/>
              </a:rPr>
              <a:t>or</a:t>
            </a:r>
            <a:r>
              <a:rPr lang="en-US" sz="5600" spc="135" dirty="0">
                <a:solidFill>
                  <a:srgbClr val="0A0A0A"/>
                </a:solidFill>
                <a:latin typeface="Arial"/>
                <a:cs typeface="Arial"/>
              </a:rPr>
              <a:t> </a:t>
            </a:r>
            <a:r>
              <a:rPr lang="en-US" sz="5600" spc="-15" dirty="0">
                <a:solidFill>
                  <a:srgbClr val="0A0A0A"/>
                </a:solidFill>
                <a:latin typeface="Arial"/>
                <a:cs typeface="Arial"/>
              </a:rPr>
              <a:t>a </a:t>
            </a:r>
            <a:r>
              <a:rPr lang="en-US" sz="5600" spc="75" dirty="0">
                <a:solidFill>
                  <a:srgbClr val="0A0A0A"/>
                </a:solidFill>
                <a:latin typeface="Arial"/>
                <a:cs typeface="Arial"/>
              </a:rPr>
              <a:t>question)</a:t>
            </a:r>
            <a:r>
              <a:rPr lang="en-US" sz="5600" spc="65" dirty="0">
                <a:solidFill>
                  <a:srgbClr val="0A0A0A"/>
                </a:solidFill>
                <a:latin typeface="Arial"/>
                <a:cs typeface="Arial"/>
              </a:rPr>
              <a:t> in</a:t>
            </a:r>
            <a:r>
              <a:rPr lang="en-US" sz="5600" spc="90" dirty="0">
                <a:solidFill>
                  <a:srgbClr val="0A0A0A"/>
                </a:solidFill>
                <a:latin typeface="Arial"/>
                <a:cs typeface="Arial"/>
              </a:rPr>
              <a:t> </a:t>
            </a:r>
            <a:r>
              <a:rPr lang="en-US" sz="5600" spc="-125" dirty="0">
                <a:solidFill>
                  <a:srgbClr val="0A0A0A"/>
                </a:solidFill>
                <a:latin typeface="Arial"/>
                <a:cs typeface="Arial"/>
              </a:rPr>
              <a:t>a</a:t>
            </a:r>
            <a:r>
              <a:rPr lang="en-US" sz="5600" spc="-75" dirty="0">
                <a:solidFill>
                  <a:srgbClr val="0A0A0A"/>
                </a:solidFill>
                <a:latin typeface="Arial"/>
                <a:cs typeface="Arial"/>
              </a:rPr>
              <a:t> </a:t>
            </a:r>
            <a:r>
              <a:rPr lang="en-US" sz="5600" spc="50" dirty="0">
                <a:solidFill>
                  <a:srgbClr val="1F1F1F"/>
                </a:solidFill>
                <a:latin typeface="Arial"/>
                <a:cs typeface="Arial"/>
              </a:rPr>
              <a:t>specific</a:t>
            </a:r>
            <a:r>
              <a:rPr lang="en-US" sz="5600" dirty="0">
                <a:solidFill>
                  <a:srgbClr val="1F1F1F"/>
                </a:solidFill>
                <a:latin typeface="Arial"/>
                <a:cs typeface="Arial"/>
              </a:rPr>
              <a:t> </a:t>
            </a:r>
            <a:r>
              <a:rPr lang="en-US" sz="5600" spc="125" dirty="0">
                <a:solidFill>
                  <a:srgbClr val="0A0A0A"/>
                </a:solidFill>
                <a:latin typeface="Arial"/>
                <a:cs typeface="Arial"/>
              </a:rPr>
              <a:t>field</a:t>
            </a:r>
            <a:r>
              <a:rPr lang="en-US" sz="5600" spc="-120" dirty="0">
                <a:solidFill>
                  <a:srgbClr val="0A0A0A"/>
                </a:solidFill>
                <a:latin typeface="Arial"/>
                <a:cs typeface="Arial"/>
              </a:rPr>
              <a:t> </a:t>
            </a:r>
            <a:r>
              <a:rPr lang="en-US" sz="5600" spc="145" dirty="0">
                <a:solidFill>
                  <a:srgbClr val="0A0A0A"/>
                </a:solidFill>
                <a:latin typeface="Arial"/>
                <a:cs typeface="Arial"/>
              </a:rPr>
              <a:t>of</a:t>
            </a:r>
            <a:r>
              <a:rPr lang="en-US" sz="5600" spc="-5" dirty="0">
                <a:solidFill>
                  <a:srgbClr val="0A0A0A"/>
                </a:solidFill>
                <a:latin typeface="Arial"/>
                <a:cs typeface="Arial"/>
              </a:rPr>
              <a:t> </a:t>
            </a:r>
            <a:r>
              <a:rPr lang="en-US" sz="5600" spc="30" dirty="0">
                <a:solidFill>
                  <a:srgbClr val="0A0A0A"/>
                </a:solidFill>
                <a:latin typeface="Arial"/>
                <a:cs typeface="Arial"/>
              </a:rPr>
              <a:t>research.</a:t>
            </a:r>
            <a:endParaRPr lang="en-US" sz="5600" dirty="0">
              <a:latin typeface="Arial"/>
              <a:cs typeface="Arial"/>
            </a:endParaRPr>
          </a:p>
          <a:p>
            <a:pPr>
              <a:lnSpc>
                <a:spcPct val="120000"/>
              </a:lnSpc>
            </a:pPr>
            <a:r>
              <a:rPr lang="en-IN" sz="5600" spc="215" dirty="0">
                <a:solidFill>
                  <a:srgbClr val="0A0A0A"/>
                </a:solidFill>
                <a:latin typeface="Arial"/>
                <a:cs typeface="Arial"/>
              </a:rPr>
              <a:t>Theory/model</a:t>
            </a:r>
            <a:r>
              <a:rPr lang="en-IN" sz="5600" spc="55" dirty="0">
                <a:solidFill>
                  <a:srgbClr val="0A0A0A"/>
                </a:solidFill>
                <a:latin typeface="Arial"/>
                <a:cs typeface="Arial"/>
              </a:rPr>
              <a:t> </a:t>
            </a:r>
            <a:r>
              <a:rPr lang="en-IN" sz="5600" spc="90" dirty="0">
                <a:solidFill>
                  <a:srgbClr val="0A0A0A"/>
                </a:solidFill>
                <a:latin typeface="Arial"/>
                <a:cs typeface="Arial"/>
              </a:rPr>
              <a:t>Review</a:t>
            </a:r>
          </a:p>
          <a:p>
            <a:pPr marL="900113" indent="-365125">
              <a:lnSpc>
                <a:spcPct val="120000"/>
              </a:lnSpc>
              <a:buFont typeface="Wingdings" panose="05000000000000000000" pitchFamily="2" charset="2"/>
              <a:buChar char="Ø"/>
            </a:pPr>
            <a:r>
              <a:rPr lang="en-US" sz="5600" spc="125" dirty="0">
                <a:solidFill>
                  <a:srgbClr val="0A0A0A"/>
                </a:solidFill>
                <a:latin typeface="Arial"/>
                <a:cs typeface="Arial"/>
              </a:rPr>
              <a:t>Introduction </a:t>
            </a:r>
            <a:r>
              <a:rPr lang="en-US" sz="5600" spc="120" dirty="0">
                <a:solidFill>
                  <a:srgbClr val="0A0A0A"/>
                </a:solidFill>
                <a:latin typeface="Arial"/>
                <a:cs typeface="Arial"/>
              </a:rPr>
              <a:t>of</a:t>
            </a:r>
            <a:r>
              <a:rPr lang="en-US" sz="5600" spc="25" dirty="0">
                <a:solidFill>
                  <a:srgbClr val="0A0A0A"/>
                </a:solidFill>
                <a:latin typeface="Arial"/>
                <a:cs typeface="Arial"/>
              </a:rPr>
              <a:t> </a:t>
            </a:r>
            <a:r>
              <a:rPr lang="en-US" sz="5600" spc="-15" dirty="0">
                <a:solidFill>
                  <a:srgbClr val="0A0A0A"/>
                </a:solidFill>
                <a:latin typeface="Arial"/>
                <a:cs typeface="Arial"/>
              </a:rPr>
              <a:t>a</a:t>
            </a:r>
            <a:r>
              <a:rPr lang="en-US" sz="5600" spc="-90" dirty="0">
                <a:solidFill>
                  <a:srgbClr val="0A0A0A"/>
                </a:solidFill>
                <a:latin typeface="Arial"/>
                <a:cs typeface="Arial"/>
              </a:rPr>
              <a:t> </a:t>
            </a:r>
            <a:r>
              <a:rPr lang="en-US" sz="5600" spc="145" dirty="0">
                <a:solidFill>
                  <a:srgbClr val="0A0A0A"/>
                </a:solidFill>
                <a:latin typeface="Arial"/>
                <a:cs typeface="Arial"/>
              </a:rPr>
              <a:t>new</a:t>
            </a:r>
            <a:r>
              <a:rPr lang="en-US" sz="5600" spc="-5" dirty="0">
                <a:solidFill>
                  <a:srgbClr val="0A0A0A"/>
                </a:solidFill>
                <a:latin typeface="Arial"/>
                <a:cs typeface="Arial"/>
              </a:rPr>
              <a:t> </a:t>
            </a:r>
            <a:r>
              <a:rPr lang="en-US" sz="5600" spc="120" dirty="0">
                <a:solidFill>
                  <a:srgbClr val="0A0A0A"/>
                </a:solidFill>
                <a:latin typeface="Arial"/>
                <a:cs typeface="Arial"/>
              </a:rPr>
              <a:t>theory</a:t>
            </a:r>
            <a:r>
              <a:rPr lang="en-US" sz="5600" spc="75" dirty="0">
                <a:solidFill>
                  <a:srgbClr val="0A0A0A"/>
                </a:solidFill>
                <a:latin typeface="Arial"/>
                <a:cs typeface="Arial"/>
              </a:rPr>
              <a:t> </a:t>
            </a:r>
            <a:r>
              <a:rPr lang="en-US" sz="5600" spc="114" dirty="0">
                <a:solidFill>
                  <a:srgbClr val="0A0A0A"/>
                </a:solidFill>
                <a:latin typeface="Arial"/>
                <a:cs typeface="Arial"/>
              </a:rPr>
              <a:t>or</a:t>
            </a:r>
            <a:r>
              <a:rPr lang="en-US" sz="5600" spc="-10" dirty="0">
                <a:solidFill>
                  <a:srgbClr val="0A0A0A"/>
                </a:solidFill>
                <a:latin typeface="Arial"/>
                <a:cs typeface="Arial"/>
              </a:rPr>
              <a:t> </a:t>
            </a:r>
            <a:r>
              <a:rPr lang="en-US" sz="5600" spc="145" dirty="0">
                <a:solidFill>
                  <a:srgbClr val="0A0A0A"/>
                </a:solidFill>
                <a:latin typeface="Arial"/>
                <a:cs typeface="Arial"/>
              </a:rPr>
              <a:t>model</a:t>
            </a:r>
            <a:r>
              <a:rPr lang="en-US" sz="5600" spc="-114" dirty="0">
                <a:solidFill>
                  <a:srgbClr val="0A0A0A"/>
                </a:solidFill>
                <a:latin typeface="Arial"/>
                <a:cs typeface="Arial"/>
              </a:rPr>
              <a:t> </a:t>
            </a:r>
            <a:r>
              <a:rPr lang="en-US" sz="5600" spc="100" dirty="0">
                <a:solidFill>
                  <a:srgbClr val="0A0A0A"/>
                </a:solidFill>
                <a:latin typeface="Arial"/>
                <a:cs typeface="Arial"/>
              </a:rPr>
              <a:t>in</a:t>
            </a:r>
            <a:r>
              <a:rPr lang="en-US" sz="5600" spc="20" dirty="0">
                <a:solidFill>
                  <a:srgbClr val="0A0A0A"/>
                </a:solidFill>
                <a:latin typeface="Arial"/>
                <a:cs typeface="Arial"/>
              </a:rPr>
              <a:t> </a:t>
            </a:r>
            <a:r>
              <a:rPr lang="en-US" sz="5600" spc="-15" dirty="0">
                <a:solidFill>
                  <a:srgbClr val="0A0A0A"/>
                </a:solidFill>
                <a:latin typeface="Arial"/>
                <a:cs typeface="Arial"/>
              </a:rPr>
              <a:t>a</a:t>
            </a:r>
            <a:r>
              <a:rPr lang="en-US" sz="5600" spc="-90" dirty="0">
                <a:solidFill>
                  <a:srgbClr val="0A0A0A"/>
                </a:solidFill>
                <a:latin typeface="Arial"/>
                <a:cs typeface="Arial"/>
              </a:rPr>
              <a:t> </a:t>
            </a:r>
            <a:r>
              <a:rPr lang="en-US" sz="5600" spc="40" dirty="0">
                <a:solidFill>
                  <a:srgbClr val="0A0A0A"/>
                </a:solidFill>
                <a:latin typeface="Arial"/>
                <a:cs typeface="Arial"/>
              </a:rPr>
              <a:t>specific</a:t>
            </a:r>
            <a:r>
              <a:rPr lang="en-US" sz="5600" dirty="0">
                <a:solidFill>
                  <a:srgbClr val="0A0A0A"/>
                </a:solidFill>
                <a:latin typeface="Arial"/>
                <a:cs typeface="Arial"/>
              </a:rPr>
              <a:t> </a:t>
            </a:r>
            <a:r>
              <a:rPr lang="en-US" sz="5600" spc="125" dirty="0">
                <a:solidFill>
                  <a:srgbClr val="0A0A0A"/>
                </a:solidFill>
                <a:latin typeface="Arial"/>
                <a:cs typeface="Arial"/>
              </a:rPr>
              <a:t>field</a:t>
            </a:r>
            <a:r>
              <a:rPr lang="en-US" sz="5600" spc="-25" dirty="0">
                <a:solidFill>
                  <a:srgbClr val="0A0A0A"/>
                </a:solidFill>
                <a:latin typeface="Arial"/>
                <a:cs typeface="Arial"/>
              </a:rPr>
              <a:t> </a:t>
            </a:r>
            <a:r>
              <a:rPr lang="en-US" sz="5600" spc="140" dirty="0">
                <a:solidFill>
                  <a:srgbClr val="0A0A0A"/>
                </a:solidFill>
                <a:latin typeface="Arial"/>
                <a:cs typeface="Arial"/>
              </a:rPr>
              <a:t>of research</a:t>
            </a:r>
            <a:endParaRPr lang="en-US" sz="5600" dirty="0">
              <a:latin typeface="Arial"/>
              <a:cs typeface="Arial"/>
            </a:endParaRPr>
          </a:p>
          <a:p>
            <a:pPr marL="0" indent="0">
              <a:lnSpc>
                <a:spcPts val="3400"/>
              </a:lnSpc>
              <a:buNone/>
            </a:pPr>
            <a:endParaRPr lang="en-IN" sz="3200" dirty="0">
              <a:latin typeface="Arial"/>
              <a:cs typeface="Arial"/>
            </a:endParaRPr>
          </a:p>
          <a:p>
            <a:pPr marL="0" indent="0">
              <a:lnSpc>
                <a:spcPts val="3400"/>
              </a:lnSpc>
              <a:buNone/>
            </a:pPr>
            <a:endParaRPr lang="en-US" sz="3200" dirty="0">
              <a:latin typeface="Arial"/>
              <a:cs typeface="Arial"/>
            </a:endParaRPr>
          </a:p>
          <a:p>
            <a:pPr marL="0" indent="0">
              <a:lnSpc>
                <a:spcPts val="3400"/>
              </a:lnSpc>
              <a:buNone/>
            </a:pPr>
            <a:endParaRPr lang="en-IN" sz="3200" dirty="0">
              <a:latin typeface="Arial"/>
              <a:cs typeface="Arial"/>
            </a:endParaRPr>
          </a:p>
          <a:p>
            <a:pPr marL="528638" indent="0">
              <a:lnSpc>
                <a:spcPts val="3400"/>
              </a:lnSpc>
              <a:buNone/>
            </a:pPr>
            <a:endParaRPr lang="en-US" sz="2900" dirty="0">
              <a:latin typeface="Arial"/>
              <a:cs typeface="Arial"/>
            </a:endParaRPr>
          </a:p>
          <a:p>
            <a:pPr marL="0" indent="0">
              <a:lnSpc>
                <a:spcPts val="3400"/>
              </a:lnSpc>
              <a:buNone/>
            </a:pPr>
            <a:endParaRPr lang="en-IN" dirty="0">
              <a:latin typeface="Arial"/>
              <a:cs typeface="Arial"/>
            </a:endParaRPr>
          </a:p>
          <a:p>
            <a:pPr marL="27305">
              <a:lnSpc>
                <a:spcPts val="3400"/>
              </a:lnSpc>
            </a:pPr>
            <a:endParaRPr lang="en-IN" dirty="0"/>
          </a:p>
        </p:txBody>
      </p:sp>
    </p:spTree>
    <p:extLst>
      <p:ext uri="{BB962C8B-B14F-4D97-AF65-F5344CB8AC3E}">
        <p14:creationId xmlns:p14="http://schemas.microsoft.com/office/powerpoint/2010/main" val="5969723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1675"/>
          </a:xfrm>
        </p:spPr>
        <p:txBody>
          <a:bodyPr>
            <a:normAutofit/>
          </a:bodyPr>
          <a:lstStyle/>
          <a:p>
            <a:pPr algn="ctr"/>
            <a:r>
              <a:rPr lang="en-IN" sz="3200" b="1" spc="-160" dirty="0">
                <a:solidFill>
                  <a:srgbClr val="0A03DB"/>
                </a:solidFill>
                <a:latin typeface="Arial"/>
                <a:cs typeface="Arial"/>
              </a:rPr>
              <a:t>Classificatio</a:t>
            </a:r>
            <a:r>
              <a:rPr lang="en-IN" sz="3200" b="1" spc="-204" dirty="0">
                <a:solidFill>
                  <a:srgbClr val="0A03DB"/>
                </a:solidFill>
                <a:latin typeface="Arial"/>
                <a:cs typeface="Arial"/>
              </a:rPr>
              <a:t>n</a:t>
            </a:r>
            <a:r>
              <a:rPr lang="en-IN" sz="3200" b="1" spc="-190" dirty="0">
                <a:solidFill>
                  <a:srgbClr val="0A03DB"/>
                </a:solidFill>
                <a:latin typeface="Arial"/>
                <a:cs typeface="Arial"/>
              </a:rPr>
              <a:t> </a:t>
            </a:r>
            <a:r>
              <a:rPr lang="en-IN" sz="3200" b="1" spc="30" dirty="0">
                <a:solidFill>
                  <a:srgbClr val="0A03DB"/>
                </a:solidFill>
                <a:latin typeface="Arial"/>
                <a:cs typeface="Arial"/>
              </a:rPr>
              <a:t>o</a:t>
            </a:r>
            <a:r>
              <a:rPr lang="en-IN" sz="3200" b="1" spc="15" dirty="0">
                <a:solidFill>
                  <a:srgbClr val="0A03DB"/>
                </a:solidFill>
                <a:latin typeface="Arial"/>
                <a:cs typeface="Arial"/>
              </a:rPr>
              <a:t>f</a:t>
            </a:r>
            <a:r>
              <a:rPr lang="en-IN" sz="3200" b="1" spc="-95" dirty="0">
                <a:solidFill>
                  <a:srgbClr val="0A03DB"/>
                </a:solidFill>
                <a:latin typeface="Arial"/>
                <a:cs typeface="Arial"/>
              </a:rPr>
              <a:t> </a:t>
            </a:r>
            <a:r>
              <a:rPr lang="en-IN" sz="3200" b="1" spc="-114" dirty="0">
                <a:solidFill>
                  <a:srgbClr val="0A03DB"/>
                </a:solidFill>
                <a:latin typeface="Arial"/>
                <a:cs typeface="Arial"/>
              </a:rPr>
              <a:t>Revie</a:t>
            </a:r>
            <a:r>
              <a:rPr lang="en-IN" sz="3200" b="1" spc="-160" dirty="0">
                <a:solidFill>
                  <a:srgbClr val="0A03DB"/>
                </a:solidFill>
                <a:latin typeface="Arial"/>
                <a:cs typeface="Arial"/>
              </a:rPr>
              <a:t>w</a:t>
            </a:r>
            <a:r>
              <a:rPr lang="en-IN" sz="3200" b="1" spc="175" dirty="0">
                <a:solidFill>
                  <a:srgbClr val="0A03DB"/>
                </a:solidFill>
                <a:latin typeface="Arial"/>
                <a:cs typeface="Arial"/>
              </a:rPr>
              <a:t> </a:t>
            </a:r>
            <a:r>
              <a:rPr lang="en-IN" sz="3200" b="1" spc="-140" dirty="0">
                <a:solidFill>
                  <a:srgbClr val="0A03DB"/>
                </a:solidFill>
                <a:latin typeface="Arial"/>
                <a:cs typeface="Arial"/>
              </a:rPr>
              <a:t>Articles</a:t>
            </a:r>
            <a:endParaRPr lang="en-IN" sz="3200" dirty="0"/>
          </a:p>
        </p:txBody>
      </p:sp>
      <p:sp>
        <p:nvSpPr>
          <p:cNvPr id="3" name="Content Placeholder 2"/>
          <p:cNvSpPr>
            <a:spLocks noGrp="1"/>
          </p:cNvSpPr>
          <p:nvPr>
            <p:ph idx="1"/>
          </p:nvPr>
        </p:nvSpPr>
        <p:spPr>
          <a:xfrm>
            <a:off x="838200" y="1066800"/>
            <a:ext cx="10515600" cy="5110163"/>
          </a:xfrm>
        </p:spPr>
        <p:txBody>
          <a:bodyPr>
            <a:normAutofit fontScale="85000" lnSpcReduction="20000"/>
          </a:bodyPr>
          <a:lstStyle/>
          <a:p>
            <a:pPr marL="0" indent="0">
              <a:lnSpc>
                <a:spcPct val="110000"/>
              </a:lnSpc>
              <a:buNone/>
            </a:pPr>
            <a:r>
              <a:rPr lang="en-US" sz="2600" spc="20" dirty="0">
                <a:solidFill>
                  <a:srgbClr val="0C0C0C"/>
                </a:solidFill>
                <a:latin typeface="Arial"/>
                <a:cs typeface="Arial"/>
              </a:rPr>
              <a:t>Review </a:t>
            </a:r>
            <a:r>
              <a:rPr lang="en-US" sz="2600" spc="80" dirty="0">
                <a:solidFill>
                  <a:srgbClr val="0C0C0C"/>
                </a:solidFill>
                <a:latin typeface="Arial"/>
                <a:cs typeface="Arial"/>
              </a:rPr>
              <a:t>articles </a:t>
            </a:r>
            <a:r>
              <a:rPr lang="en-US" sz="2600" spc="85" dirty="0">
                <a:solidFill>
                  <a:srgbClr val="0C0C0C"/>
                </a:solidFill>
                <a:latin typeface="Arial"/>
                <a:cs typeface="Arial"/>
              </a:rPr>
              <a:t>maybe </a:t>
            </a:r>
            <a:r>
              <a:rPr lang="en-US" sz="2600" spc="45" dirty="0">
                <a:solidFill>
                  <a:srgbClr val="0C0C0C"/>
                </a:solidFill>
                <a:latin typeface="Arial"/>
                <a:cs typeface="Arial"/>
              </a:rPr>
              <a:t>classified </a:t>
            </a:r>
            <a:r>
              <a:rPr lang="en-US" sz="2600" spc="200" dirty="0">
                <a:solidFill>
                  <a:srgbClr val="0C0C0C"/>
                </a:solidFill>
                <a:latin typeface="Arial"/>
                <a:cs typeface="Arial"/>
              </a:rPr>
              <a:t>into </a:t>
            </a:r>
            <a:r>
              <a:rPr lang="en-US" sz="2600" spc="165" dirty="0">
                <a:solidFill>
                  <a:srgbClr val="0C0C0C"/>
                </a:solidFill>
                <a:latin typeface="Arial"/>
                <a:cs typeface="Arial"/>
              </a:rPr>
              <a:t>three </a:t>
            </a:r>
            <a:r>
              <a:rPr lang="en-US" sz="2600" spc="80" dirty="0">
                <a:solidFill>
                  <a:srgbClr val="0C0C0C"/>
                </a:solidFill>
                <a:latin typeface="Arial"/>
                <a:cs typeface="Arial"/>
              </a:rPr>
              <a:t>types </a:t>
            </a:r>
            <a:r>
              <a:rPr lang="en-US" sz="2600" spc="55" dirty="0">
                <a:solidFill>
                  <a:srgbClr val="0C0C0C"/>
                </a:solidFill>
                <a:latin typeface="Arial"/>
                <a:cs typeface="Arial"/>
              </a:rPr>
              <a:t>- </a:t>
            </a:r>
            <a:r>
              <a:rPr lang="en-US" sz="2600" spc="60" dirty="0">
                <a:solidFill>
                  <a:srgbClr val="0C0C0C"/>
                </a:solidFill>
                <a:latin typeface="Arial"/>
                <a:cs typeface="Arial"/>
              </a:rPr>
              <a:t> </a:t>
            </a:r>
            <a:r>
              <a:rPr lang="en-US" sz="2600" spc="160" dirty="0">
                <a:solidFill>
                  <a:srgbClr val="0C0C0C"/>
                </a:solidFill>
                <a:latin typeface="Arial"/>
                <a:cs typeface="Arial"/>
              </a:rPr>
              <a:t>Methodological,</a:t>
            </a:r>
            <a:r>
              <a:rPr lang="en-US" sz="2600" spc="-350" dirty="0">
                <a:solidFill>
                  <a:srgbClr val="0C0C0C"/>
                </a:solidFill>
                <a:latin typeface="Arial"/>
                <a:cs typeface="Arial"/>
              </a:rPr>
              <a:t> </a:t>
            </a:r>
            <a:r>
              <a:rPr lang="en-US" sz="2600" spc="90" dirty="0">
                <a:solidFill>
                  <a:srgbClr val="0C0C0C"/>
                </a:solidFill>
                <a:latin typeface="Arial"/>
                <a:cs typeface="Arial"/>
              </a:rPr>
              <a:t>Objective</a:t>
            </a:r>
            <a:r>
              <a:rPr lang="en-US" sz="2600" spc="140" dirty="0">
                <a:solidFill>
                  <a:srgbClr val="0C0C0C"/>
                </a:solidFill>
                <a:latin typeface="Arial"/>
                <a:cs typeface="Arial"/>
              </a:rPr>
              <a:t> </a:t>
            </a:r>
            <a:r>
              <a:rPr lang="en-US" sz="2600" spc="95" dirty="0">
                <a:solidFill>
                  <a:srgbClr val="0C0C0C"/>
                </a:solidFill>
                <a:latin typeface="Arial"/>
                <a:cs typeface="Arial"/>
              </a:rPr>
              <a:t>and</a:t>
            </a:r>
            <a:r>
              <a:rPr lang="en-US" sz="2600" spc="75" dirty="0">
                <a:solidFill>
                  <a:srgbClr val="0C0C0C"/>
                </a:solidFill>
                <a:latin typeface="Arial"/>
                <a:cs typeface="Arial"/>
              </a:rPr>
              <a:t> </a:t>
            </a:r>
            <a:r>
              <a:rPr lang="en-US" sz="2600" spc="155" dirty="0">
                <a:solidFill>
                  <a:srgbClr val="0C0C0C"/>
                </a:solidFill>
                <a:latin typeface="Arial"/>
                <a:cs typeface="Arial"/>
              </a:rPr>
              <a:t>Mandate</a:t>
            </a:r>
            <a:r>
              <a:rPr lang="en-US" sz="2600" spc="30" dirty="0">
                <a:solidFill>
                  <a:srgbClr val="0C0C0C"/>
                </a:solidFill>
                <a:latin typeface="Arial"/>
                <a:cs typeface="Arial"/>
              </a:rPr>
              <a:t> </a:t>
            </a:r>
            <a:r>
              <a:rPr lang="en-US" sz="2600" spc="35" dirty="0">
                <a:solidFill>
                  <a:srgbClr val="0C0C0C"/>
                </a:solidFill>
                <a:latin typeface="Arial"/>
                <a:cs typeface="Arial"/>
              </a:rPr>
              <a:t>based </a:t>
            </a:r>
            <a:r>
              <a:rPr lang="en-US" sz="2600" spc="85" dirty="0">
                <a:solidFill>
                  <a:srgbClr val="0C0C0C"/>
                </a:solidFill>
                <a:latin typeface="Arial"/>
                <a:cs typeface="Arial"/>
              </a:rPr>
              <a:t>types.</a:t>
            </a:r>
            <a:endParaRPr lang="en-US" sz="2600" dirty="0">
              <a:latin typeface="Arial"/>
              <a:cs typeface="Arial"/>
            </a:endParaRPr>
          </a:p>
          <a:p>
            <a:pPr>
              <a:lnSpc>
                <a:spcPct val="110000"/>
              </a:lnSpc>
            </a:pPr>
            <a:r>
              <a:rPr lang="en-US" sz="2600" spc="170" dirty="0">
                <a:solidFill>
                  <a:srgbClr val="DB0C16"/>
                </a:solidFill>
                <a:latin typeface="Arial"/>
                <a:cs typeface="Arial"/>
              </a:rPr>
              <a:t>Mandate</a:t>
            </a:r>
            <a:r>
              <a:rPr lang="en-US" sz="2600" spc="10" dirty="0">
                <a:solidFill>
                  <a:srgbClr val="DB0C16"/>
                </a:solidFill>
                <a:latin typeface="Arial"/>
                <a:cs typeface="Arial"/>
              </a:rPr>
              <a:t> </a:t>
            </a:r>
            <a:r>
              <a:rPr lang="en-US" sz="2600" spc="55" dirty="0">
                <a:solidFill>
                  <a:srgbClr val="DB0C16"/>
                </a:solidFill>
                <a:latin typeface="Arial"/>
                <a:cs typeface="Arial"/>
              </a:rPr>
              <a:t>Approach</a:t>
            </a:r>
            <a:r>
              <a:rPr lang="en-US" sz="2600" spc="200" dirty="0">
                <a:solidFill>
                  <a:srgbClr val="DB0C16"/>
                </a:solidFill>
                <a:latin typeface="Arial"/>
                <a:cs typeface="Arial"/>
              </a:rPr>
              <a:t> </a:t>
            </a:r>
            <a:r>
              <a:rPr lang="en-US" sz="2600" spc="55" dirty="0">
                <a:solidFill>
                  <a:srgbClr val="0C0C0C"/>
                </a:solidFill>
                <a:latin typeface="Arial"/>
                <a:cs typeface="Arial"/>
              </a:rPr>
              <a:t>and</a:t>
            </a:r>
            <a:r>
              <a:rPr lang="en-US" sz="2600" spc="-85" dirty="0">
                <a:solidFill>
                  <a:srgbClr val="0C0C0C"/>
                </a:solidFill>
                <a:latin typeface="Arial"/>
                <a:cs typeface="Arial"/>
              </a:rPr>
              <a:t> </a:t>
            </a:r>
            <a:r>
              <a:rPr lang="en-US" sz="2600" spc="30" dirty="0">
                <a:solidFill>
                  <a:srgbClr val="0C0C0C"/>
                </a:solidFill>
                <a:latin typeface="Arial"/>
                <a:cs typeface="Arial"/>
              </a:rPr>
              <a:t>its</a:t>
            </a:r>
            <a:r>
              <a:rPr lang="en-US" sz="2600" spc="85" dirty="0">
                <a:solidFill>
                  <a:srgbClr val="0C0C0C"/>
                </a:solidFill>
                <a:latin typeface="Arial"/>
                <a:cs typeface="Arial"/>
              </a:rPr>
              <a:t> </a:t>
            </a:r>
            <a:r>
              <a:rPr lang="en-US" sz="2600" spc="70" dirty="0">
                <a:solidFill>
                  <a:srgbClr val="0C0C0C"/>
                </a:solidFill>
                <a:latin typeface="Arial"/>
                <a:cs typeface="Arial"/>
              </a:rPr>
              <a:t>types:</a:t>
            </a:r>
            <a:endParaRPr lang="en-US" sz="2600" dirty="0">
              <a:latin typeface="Arial"/>
              <a:cs typeface="Arial"/>
            </a:endParaRPr>
          </a:p>
          <a:p>
            <a:pPr marL="890588" indent="-361950">
              <a:lnSpc>
                <a:spcPct val="110000"/>
              </a:lnSpc>
            </a:pPr>
            <a:r>
              <a:rPr lang="en-IN" sz="2600" spc="140" dirty="0">
                <a:solidFill>
                  <a:srgbClr val="0C0C0C"/>
                </a:solidFill>
                <a:latin typeface="Arial"/>
                <a:cs typeface="Arial"/>
              </a:rPr>
              <a:t>Invited</a:t>
            </a:r>
            <a:r>
              <a:rPr lang="en-IN" sz="2600" spc="-150" dirty="0">
                <a:solidFill>
                  <a:srgbClr val="0C0C0C"/>
                </a:solidFill>
                <a:latin typeface="Arial"/>
                <a:cs typeface="Arial"/>
              </a:rPr>
              <a:t> </a:t>
            </a:r>
            <a:r>
              <a:rPr lang="en-IN" sz="2600" spc="15" dirty="0">
                <a:solidFill>
                  <a:srgbClr val="0C0C0C"/>
                </a:solidFill>
                <a:latin typeface="Arial"/>
                <a:cs typeface="Arial"/>
              </a:rPr>
              <a:t>Reviews:</a:t>
            </a:r>
          </a:p>
          <a:p>
            <a:pPr marL="1443038" indent="-360363">
              <a:lnSpc>
                <a:spcPct val="110000"/>
              </a:lnSpc>
              <a:buFont typeface="Wingdings" panose="05000000000000000000" pitchFamily="2" charset="2"/>
              <a:buChar char="Ø"/>
            </a:pPr>
            <a:r>
              <a:rPr lang="en-US" sz="2600" spc="15" dirty="0">
                <a:solidFill>
                  <a:srgbClr val="0C0C0C"/>
                </a:solidFill>
                <a:latin typeface="Arial"/>
                <a:cs typeface="Arial"/>
              </a:rPr>
              <a:t>Experienced</a:t>
            </a:r>
            <a:r>
              <a:rPr lang="en-US" sz="2600" spc="180" dirty="0">
                <a:solidFill>
                  <a:srgbClr val="0C0C0C"/>
                </a:solidFill>
                <a:latin typeface="Arial"/>
                <a:cs typeface="Arial"/>
              </a:rPr>
              <a:t> </a:t>
            </a:r>
            <a:r>
              <a:rPr lang="en-US" sz="2600" spc="15" dirty="0">
                <a:solidFill>
                  <a:srgbClr val="0C0C0C"/>
                </a:solidFill>
                <a:latin typeface="Arial"/>
                <a:cs typeface="Arial"/>
              </a:rPr>
              <a:t>researchers</a:t>
            </a:r>
            <a:r>
              <a:rPr lang="en-US" sz="2600" spc="114" dirty="0">
                <a:solidFill>
                  <a:srgbClr val="0C0C0C"/>
                </a:solidFill>
                <a:latin typeface="Arial"/>
                <a:cs typeface="Arial"/>
              </a:rPr>
              <a:t> </a:t>
            </a:r>
            <a:r>
              <a:rPr lang="en-US" sz="2600" spc="85" dirty="0">
                <a:solidFill>
                  <a:srgbClr val="0C0C0C"/>
                </a:solidFill>
                <a:latin typeface="Arial"/>
                <a:cs typeface="Arial"/>
              </a:rPr>
              <a:t>are</a:t>
            </a:r>
            <a:r>
              <a:rPr lang="en-US" sz="2600" spc="-130" dirty="0">
                <a:solidFill>
                  <a:srgbClr val="0C0C0C"/>
                </a:solidFill>
                <a:latin typeface="Arial"/>
                <a:cs typeface="Arial"/>
              </a:rPr>
              <a:t> </a:t>
            </a:r>
            <a:r>
              <a:rPr lang="en-US" sz="2600" spc="120" dirty="0">
                <a:solidFill>
                  <a:srgbClr val="0C0C0C"/>
                </a:solidFill>
                <a:latin typeface="Arial"/>
                <a:cs typeface="Arial"/>
              </a:rPr>
              <a:t>invited</a:t>
            </a:r>
            <a:r>
              <a:rPr lang="en-US" sz="2600" spc="-120" dirty="0">
                <a:solidFill>
                  <a:srgbClr val="0C0C0C"/>
                </a:solidFill>
                <a:latin typeface="Arial"/>
                <a:cs typeface="Arial"/>
              </a:rPr>
              <a:t> </a:t>
            </a:r>
            <a:r>
              <a:rPr lang="en-US" sz="2600" spc="110" dirty="0">
                <a:solidFill>
                  <a:srgbClr val="0C0C0C"/>
                </a:solidFill>
                <a:latin typeface="Arial"/>
                <a:cs typeface="Arial"/>
              </a:rPr>
              <a:t>by</a:t>
            </a:r>
            <a:r>
              <a:rPr lang="en-US" sz="2600" spc="-35" dirty="0">
                <a:solidFill>
                  <a:srgbClr val="0C0C0C"/>
                </a:solidFill>
                <a:latin typeface="Arial"/>
                <a:cs typeface="Arial"/>
              </a:rPr>
              <a:t> </a:t>
            </a:r>
            <a:r>
              <a:rPr lang="en-US" sz="2600" spc="95" dirty="0">
                <a:solidFill>
                  <a:srgbClr val="0C0C0C"/>
                </a:solidFill>
                <a:latin typeface="Arial"/>
                <a:cs typeface="Arial"/>
              </a:rPr>
              <a:t>the</a:t>
            </a:r>
            <a:r>
              <a:rPr lang="en-US" sz="2600" spc="165" dirty="0">
                <a:solidFill>
                  <a:srgbClr val="0C0C0C"/>
                </a:solidFill>
                <a:latin typeface="Arial"/>
                <a:cs typeface="Arial"/>
              </a:rPr>
              <a:t> </a:t>
            </a:r>
            <a:r>
              <a:rPr lang="en-US" sz="2600" spc="95" dirty="0">
                <a:solidFill>
                  <a:srgbClr val="0C0C0C"/>
                </a:solidFill>
                <a:latin typeface="Arial"/>
                <a:cs typeface="Arial"/>
              </a:rPr>
              <a:t>journal</a:t>
            </a:r>
            <a:r>
              <a:rPr lang="en-US" sz="2600" spc="55" dirty="0">
                <a:solidFill>
                  <a:srgbClr val="0C0C0C"/>
                </a:solidFill>
                <a:latin typeface="Arial"/>
                <a:cs typeface="Arial"/>
              </a:rPr>
              <a:t> </a:t>
            </a:r>
            <a:r>
              <a:rPr lang="en-US" sz="2600" spc="95" dirty="0">
                <a:solidFill>
                  <a:srgbClr val="0C0C0C"/>
                </a:solidFill>
                <a:latin typeface="Arial"/>
                <a:cs typeface="Arial"/>
              </a:rPr>
              <a:t>editors</a:t>
            </a:r>
            <a:r>
              <a:rPr lang="en-US" sz="2600" spc="-140" dirty="0">
                <a:solidFill>
                  <a:srgbClr val="0C0C0C"/>
                </a:solidFill>
                <a:latin typeface="Arial"/>
                <a:cs typeface="Arial"/>
              </a:rPr>
              <a:t> </a:t>
            </a:r>
            <a:r>
              <a:rPr lang="en-US" sz="2600" spc="95" dirty="0">
                <a:solidFill>
                  <a:srgbClr val="0C0C0C"/>
                </a:solidFill>
                <a:latin typeface="Arial"/>
                <a:cs typeface="Arial"/>
              </a:rPr>
              <a:t>to </a:t>
            </a:r>
            <a:r>
              <a:rPr lang="en-US" sz="2600" spc="-790" dirty="0">
                <a:solidFill>
                  <a:srgbClr val="0C0C0C"/>
                </a:solidFill>
                <a:latin typeface="Arial"/>
                <a:cs typeface="Arial"/>
              </a:rPr>
              <a:t> </a:t>
            </a:r>
            <a:r>
              <a:rPr lang="en-US" sz="2600" spc="155" dirty="0">
                <a:solidFill>
                  <a:srgbClr val="0C0C0C"/>
                </a:solidFill>
                <a:latin typeface="Arial"/>
                <a:cs typeface="Arial"/>
              </a:rPr>
              <a:t>write </a:t>
            </a:r>
            <a:r>
              <a:rPr lang="en-US" sz="2600" spc="60" dirty="0">
                <a:solidFill>
                  <a:srgbClr val="0C0C0C"/>
                </a:solidFill>
                <a:latin typeface="Arial"/>
                <a:cs typeface="Arial"/>
              </a:rPr>
              <a:t>reviews </a:t>
            </a:r>
            <a:r>
              <a:rPr lang="en-US" sz="2600" spc="140" dirty="0">
                <a:solidFill>
                  <a:srgbClr val="0C0C0C"/>
                </a:solidFill>
                <a:latin typeface="Arial"/>
                <a:cs typeface="Arial"/>
              </a:rPr>
              <a:t>when </a:t>
            </a:r>
            <a:r>
              <a:rPr lang="en-US" sz="2600" spc="105" dirty="0">
                <a:solidFill>
                  <a:srgbClr val="0C0C0C"/>
                </a:solidFill>
                <a:latin typeface="Arial"/>
                <a:cs typeface="Arial"/>
              </a:rPr>
              <a:t>the </a:t>
            </a:r>
            <a:r>
              <a:rPr lang="en-US" sz="2600" spc="70" dirty="0">
                <a:solidFill>
                  <a:srgbClr val="0C0C0C"/>
                </a:solidFill>
                <a:latin typeface="Arial"/>
                <a:cs typeface="Arial"/>
              </a:rPr>
              <a:t>editors </a:t>
            </a:r>
            <a:r>
              <a:rPr lang="en-US" sz="2600" spc="35" dirty="0">
                <a:solidFill>
                  <a:srgbClr val="0C0C0C"/>
                </a:solidFill>
                <a:latin typeface="Arial"/>
                <a:cs typeface="Arial"/>
              </a:rPr>
              <a:t>feels </a:t>
            </a:r>
            <a:r>
              <a:rPr lang="en-US" sz="2600" spc="190" dirty="0">
                <a:solidFill>
                  <a:srgbClr val="0C0C0C"/>
                </a:solidFill>
                <a:latin typeface="Arial"/>
                <a:cs typeface="Arial"/>
              </a:rPr>
              <a:t>that </a:t>
            </a:r>
            <a:r>
              <a:rPr lang="en-US" sz="2600" spc="215" dirty="0">
                <a:solidFill>
                  <a:srgbClr val="0C0C0C"/>
                </a:solidFill>
                <a:latin typeface="Arial"/>
                <a:cs typeface="Arial"/>
              </a:rPr>
              <a:t>the </a:t>
            </a:r>
            <a:r>
              <a:rPr lang="en-US" sz="2600" spc="30" dirty="0">
                <a:solidFill>
                  <a:srgbClr val="0C0C0C"/>
                </a:solidFill>
                <a:latin typeface="Arial"/>
                <a:cs typeface="Arial"/>
              </a:rPr>
              <a:t>research </a:t>
            </a:r>
            <a:r>
              <a:rPr lang="en-US" sz="2600" spc="-20" dirty="0">
                <a:solidFill>
                  <a:srgbClr val="0C0C0C"/>
                </a:solidFill>
                <a:latin typeface="Arial"/>
                <a:cs typeface="Arial"/>
              </a:rPr>
              <a:t>has </a:t>
            </a:r>
            <a:r>
              <a:rPr lang="en-US" sz="2600" spc="-15" dirty="0">
                <a:solidFill>
                  <a:srgbClr val="0C0C0C"/>
                </a:solidFill>
                <a:latin typeface="Arial"/>
                <a:cs typeface="Arial"/>
              </a:rPr>
              <a:t> </a:t>
            </a:r>
            <a:r>
              <a:rPr lang="en-US" sz="2600" spc="25" dirty="0">
                <a:solidFill>
                  <a:srgbClr val="0C0C0C"/>
                </a:solidFill>
                <a:latin typeface="Arial"/>
                <a:cs typeface="Arial"/>
              </a:rPr>
              <a:t>progressed</a:t>
            </a:r>
            <a:r>
              <a:rPr lang="en-US" sz="2600" spc="85" dirty="0">
                <a:solidFill>
                  <a:srgbClr val="0C0C0C"/>
                </a:solidFill>
                <a:latin typeface="Arial"/>
                <a:cs typeface="Arial"/>
              </a:rPr>
              <a:t> </a:t>
            </a:r>
            <a:r>
              <a:rPr lang="en-US" sz="2600" spc="80" dirty="0">
                <a:solidFill>
                  <a:srgbClr val="0C0C0C"/>
                </a:solidFill>
                <a:latin typeface="Arial"/>
                <a:cs typeface="Arial"/>
              </a:rPr>
              <a:t>enough</a:t>
            </a:r>
            <a:r>
              <a:rPr lang="en-US" sz="2600" spc="-50" dirty="0">
                <a:solidFill>
                  <a:srgbClr val="0C0C0C"/>
                </a:solidFill>
                <a:latin typeface="Arial"/>
                <a:cs typeface="Arial"/>
              </a:rPr>
              <a:t> </a:t>
            </a:r>
            <a:r>
              <a:rPr lang="en-US" sz="2600" spc="55" dirty="0">
                <a:solidFill>
                  <a:srgbClr val="0C0C0C"/>
                </a:solidFill>
                <a:latin typeface="Arial"/>
                <a:cs typeface="Arial"/>
              </a:rPr>
              <a:t>in</a:t>
            </a:r>
            <a:r>
              <a:rPr lang="en-US" sz="2600" spc="70" dirty="0">
                <a:solidFill>
                  <a:srgbClr val="0C0C0C"/>
                </a:solidFill>
                <a:latin typeface="Arial"/>
                <a:cs typeface="Arial"/>
              </a:rPr>
              <a:t> </a:t>
            </a:r>
            <a:r>
              <a:rPr lang="en-US" sz="2600" spc="65" dirty="0">
                <a:solidFill>
                  <a:srgbClr val="0C0C0C"/>
                </a:solidFill>
                <a:latin typeface="Arial"/>
                <a:cs typeface="Arial"/>
              </a:rPr>
              <a:t>the</a:t>
            </a:r>
            <a:r>
              <a:rPr lang="en-US" sz="2600" spc="275" dirty="0">
                <a:solidFill>
                  <a:srgbClr val="0C0C0C"/>
                </a:solidFill>
                <a:latin typeface="Arial"/>
                <a:cs typeface="Arial"/>
              </a:rPr>
              <a:t> </a:t>
            </a:r>
            <a:r>
              <a:rPr lang="en-US" sz="2600" spc="110" dirty="0">
                <a:solidFill>
                  <a:srgbClr val="0C0C0C"/>
                </a:solidFill>
                <a:latin typeface="Arial"/>
                <a:cs typeface="Arial"/>
              </a:rPr>
              <a:t>topic</a:t>
            </a:r>
            <a:r>
              <a:rPr lang="en-US" sz="2600" spc="-70" dirty="0">
                <a:solidFill>
                  <a:srgbClr val="0C0C0C"/>
                </a:solidFill>
                <a:latin typeface="Arial"/>
                <a:cs typeface="Arial"/>
              </a:rPr>
              <a:t> </a:t>
            </a:r>
            <a:r>
              <a:rPr lang="en-US" sz="2600" spc="110" dirty="0">
                <a:solidFill>
                  <a:srgbClr val="0C0C0C"/>
                </a:solidFill>
                <a:latin typeface="Arial"/>
                <a:cs typeface="Arial"/>
              </a:rPr>
              <a:t>to</a:t>
            </a:r>
            <a:r>
              <a:rPr lang="en-US" sz="2600" spc="210" dirty="0">
                <a:solidFill>
                  <a:srgbClr val="0C0C0C"/>
                </a:solidFill>
                <a:latin typeface="Arial"/>
                <a:cs typeface="Arial"/>
              </a:rPr>
              <a:t> </a:t>
            </a:r>
            <a:r>
              <a:rPr lang="en-US" sz="2600" spc="100" dirty="0">
                <a:solidFill>
                  <a:srgbClr val="0C0C0C"/>
                </a:solidFill>
                <a:latin typeface="Arial"/>
                <a:cs typeface="Arial"/>
              </a:rPr>
              <a:t>overview</a:t>
            </a:r>
            <a:r>
              <a:rPr lang="en-US" sz="2600" spc="-95" dirty="0">
                <a:solidFill>
                  <a:srgbClr val="0C0C0C"/>
                </a:solidFill>
                <a:latin typeface="Arial"/>
                <a:cs typeface="Arial"/>
              </a:rPr>
              <a:t> </a:t>
            </a:r>
            <a:r>
              <a:rPr lang="en-US" sz="2600" spc="95" dirty="0">
                <a:solidFill>
                  <a:srgbClr val="0C0C0C"/>
                </a:solidFill>
                <a:latin typeface="Arial"/>
                <a:cs typeface="Arial"/>
              </a:rPr>
              <a:t>the</a:t>
            </a:r>
            <a:r>
              <a:rPr lang="en-US" sz="2600" spc="185" dirty="0">
                <a:solidFill>
                  <a:srgbClr val="0C0C0C"/>
                </a:solidFill>
                <a:latin typeface="Arial"/>
                <a:cs typeface="Arial"/>
              </a:rPr>
              <a:t> </a:t>
            </a:r>
            <a:r>
              <a:rPr lang="en-US" sz="2600" spc="110" dirty="0">
                <a:solidFill>
                  <a:srgbClr val="0C0C0C"/>
                </a:solidFill>
                <a:latin typeface="Arial"/>
                <a:cs typeface="Arial"/>
              </a:rPr>
              <a:t>topic</a:t>
            </a:r>
            <a:r>
              <a:rPr lang="en-US" sz="2600" spc="-25" dirty="0">
                <a:solidFill>
                  <a:srgbClr val="0C0C0C"/>
                </a:solidFill>
                <a:latin typeface="Arial"/>
                <a:cs typeface="Arial"/>
              </a:rPr>
              <a:t> </a:t>
            </a:r>
            <a:r>
              <a:rPr lang="en-US" sz="2600" spc="10" dirty="0">
                <a:solidFill>
                  <a:srgbClr val="0C0C0C"/>
                </a:solidFill>
                <a:latin typeface="Arial"/>
                <a:cs typeface="Arial"/>
              </a:rPr>
              <a:t>again.</a:t>
            </a:r>
            <a:endParaRPr lang="en-US" sz="2600" dirty="0">
              <a:latin typeface="Arial"/>
              <a:cs typeface="Arial"/>
            </a:endParaRPr>
          </a:p>
          <a:p>
            <a:pPr marL="890588" indent="-361950">
              <a:lnSpc>
                <a:spcPct val="110000"/>
              </a:lnSpc>
            </a:pPr>
            <a:r>
              <a:rPr lang="en-IN" sz="2600" spc="55" dirty="0">
                <a:solidFill>
                  <a:srgbClr val="0C0C0C"/>
                </a:solidFill>
                <a:latin typeface="Arial"/>
                <a:cs typeface="Arial"/>
              </a:rPr>
              <a:t>Commissioned</a:t>
            </a:r>
            <a:r>
              <a:rPr lang="en-IN" sz="2600" spc="229" dirty="0">
                <a:solidFill>
                  <a:srgbClr val="0C0C0C"/>
                </a:solidFill>
                <a:latin typeface="Arial"/>
                <a:cs typeface="Arial"/>
              </a:rPr>
              <a:t> </a:t>
            </a:r>
            <a:r>
              <a:rPr lang="en-IN" sz="2600" spc="15" dirty="0">
                <a:solidFill>
                  <a:srgbClr val="0C0C0C"/>
                </a:solidFill>
                <a:latin typeface="Arial"/>
                <a:cs typeface="Arial"/>
              </a:rPr>
              <a:t>Reviews:</a:t>
            </a:r>
          </a:p>
          <a:p>
            <a:pPr marL="1443038" indent="-360363">
              <a:lnSpc>
                <a:spcPct val="110000"/>
              </a:lnSpc>
              <a:buFont typeface="Wingdings" panose="05000000000000000000" pitchFamily="2" charset="2"/>
              <a:buChar char="Ø"/>
            </a:pPr>
            <a:r>
              <a:rPr lang="en-US" sz="2600" spc="45" dirty="0">
                <a:solidFill>
                  <a:srgbClr val="0C0C0C"/>
                </a:solidFill>
                <a:latin typeface="Arial"/>
                <a:cs typeface="Arial"/>
              </a:rPr>
              <a:t>Formal</a:t>
            </a:r>
            <a:r>
              <a:rPr lang="en-US" sz="2600" spc="-60" dirty="0">
                <a:solidFill>
                  <a:srgbClr val="0C0C0C"/>
                </a:solidFill>
                <a:latin typeface="Arial"/>
                <a:cs typeface="Arial"/>
              </a:rPr>
              <a:t> </a:t>
            </a:r>
            <a:r>
              <a:rPr lang="en-US" sz="2600" spc="80" dirty="0">
                <a:solidFill>
                  <a:srgbClr val="0C0C0C"/>
                </a:solidFill>
                <a:latin typeface="Arial"/>
                <a:cs typeface="Arial"/>
              </a:rPr>
              <a:t>contracts</a:t>
            </a:r>
            <a:r>
              <a:rPr lang="en-US" sz="2600" spc="-50" dirty="0">
                <a:solidFill>
                  <a:srgbClr val="0C0C0C"/>
                </a:solidFill>
                <a:latin typeface="Arial"/>
                <a:cs typeface="Arial"/>
              </a:rPr>
              <a:t> </a:t>
            </a:r>
            <a:r>
              <a:rPr lang="en-US" sz="2600" spc="70" dirty="0">
                <a:solidFill>
                  <a:srgbClr val="0C0C0C"/>
                </a:solidFill>
                <a:latin typeface="Arial"/>
                <a:cs typeface="Arial"/>
              </a:rPr>
              <a:t>of</a:t>
            </a:r>
            <a:r>
              <a:rPr lang="en-US" sz="2600" spc="130" dirty="0">
                <a:solidFill>
                  <a:srgbClr val="0C0C0C"/>
                </a:solidFill>
                <a:latin typeface="Arial"/>
                <a:cs typeface="Arial"/>
              </a:rPr>
              <a:t> </a:t>
            </a:r>
            <a:r>
              <a:rPr lang="en-US" sz="2600" spc="95" dirty="0">
                <a:solidFill>
                  <a:srgbClr val="0C0C0C"/>
                </a:solidFill>
                <a:latin typeface="Arial"/>
                <a:cs typeface="Arial"/>
              </a:rPr>
              <a:t>authors</a:t>
            </a:r>
            <a:r>
              <a:rPr lang="en-US" sz="2600" spc="-50" dirty="0">
                <a:solidFill>
                  <a:srgbClr val="0C0C0C"/>
                </a:solidFill>
                <a:latin typeface="Arial"/>
                <a:cs typeface="Arial"/>
              </a:rPr>
              <a:t> </a:t>
            </a:r>
            <a:r>
              <a:rPr lang="en-US" sz="2600" spc="220" dirty="0">
                <a:solidFill>
                  <a:srgbClr val="0C0C0C"/>
                </a:solidFill>
                <a:latin typeface="Arial"/>
                <a:cs typeface="Arial"/>
              </a:rPr>
              <a:t>with</a:t>
            </a:r>
            <a:r>
              <a:rPr lang="en-US" sz="2600" spc="-140" dirty="0">
                <a:solidFill>
                  <a:srgbClr val="0C0C0C"/>
                </a:solidFill>
                <a:latin typeface="Arial"/>
                <a:cs typeface="Arial"/>
              </a:rPr>
              <a:t> </a:t>
            </a:r>
            <a:r>
              <a:rPr lang="en-US" sz="2600" spc="70" dirty="0">
                <a:solidFill>
                  <a:srgbClr val="0C0C0C"/>
                </a:solidFill>
                <a:latin typeface="Arial"/>
                <a:cs typeface="Arial"/>
              </a:rPr>
              <a:t>clients</a:t>
            </a:r>
            <a:r>
              <a:rPr lang="en-US" sz="2600" spc="-145" dirty="0">
                <a:solidFill>
                  <a:srgbClr val="0C0C0C"/>
                </a:solidFill>
                <a:latin typeface="Arial"/>
                <a:cs typeface="Arial"/>
              </a:rPr>
              <a:t> </a:t>
            </a:r>
            <a:r>
              <a:rPr lang="en-US" sz="2600" spc="70" dirty="0">
                <a:solidFill>
                  <a:srgbClr val="0C0C0C"/>
                </a:solidFill>
                <a:latin typeface="Arial"/>
                <a:cs typeface="Arial"/>
              </a:rPr>
              <a:t>to</a:t>
            </a:r>
            <a:r>
              <a:rPr lang="en-US" sz="2600" spc="285" dirty="0">
                <a:solidFill>
                  <a:srgbClr val="0C0C0C"/>
                </a:solidFill>
                <a:latin typeface="Arial"/>
                <a:cs typeface="Arial"/>
              </a:rPr>
              <a:t> </a:t>
            </a:r>
            <a:r>
              <a:rPr lang="en-US" sz="2600" spc="180" dirty="0">
                <a:solidFill>
                  <a:srgbClr val="0C0C0C"/>
                </a:solidFill>
                <a:latin typeface="Arial"/>
                <a:cs typeface="Arial"/>
              </a:rPr>
              <a:t>write</a:t>
            </a:r>
            <a:r>
              <a:rPr lang="en-US" sz="2600" spc="-35" dirty="0">
                <a:solidFill>
                  <a:srgbClr val="0C0C0C"/>
                </a:solidFill>
                <a:latin typeface="Arial"/>
                <a:cs typeface="Arial"/>
              </a:rPr>
              <a:t> </a:t>
            </a:r>
            <a:r>
              <a:rPr lang="en-US" sz="2600" spc="65" dirty="0">
                <a:solidFill>
                  <a:srgbClr val="0C0C0C"/>
                </a:solidFill>
                <a:latin typeface="Arial"/>
                <a:cs typeface="Arial"/>
              </a:rPr>
              <a:t>and</a:t>
            </a:r>
            <a:r>
              <a:rPr lang="en-US" sz="2600" spc="-114" dirty="0">
                <a:solidFill>
                  <a:srgbClr val="0C0C0C"/>
                </a:solidFill>
                <a:latin typeface="Arial"/>
                <a:cs typeface="Arial"/>
              </a:rPr>
              <a:t> </a:t>
            </a:r>
            <a:r>
              <a:rPr lang="en-US" sz="2600" spc="114" dirty="0">
                <a:solidFill>
                  <a:srgbClr val="0C0C0C"/>
                </a:solidFill>
                <a:latin typeface="Arial"/>
                <a:cs typeface="Arial"/>
              </a:rPr>
              <a:t>submit</a:t>
            </a:r>
            <a:r>
              <a:rPr lang="en-US" sz="2600" dirty="0">
                <a:latin typeface="Arial"/>
                <a:cs typeface="Arial"/>
              </a:rPr>
              <a:t> </a:t>
            </a:r>
            <a:r>
              <a:rPr lang="en-US" sz="2600" spc="70" dirty="0">
                <a:solidFill>
                  <a:srgbClr val="0C0C0C"/>
                </a:solidFill>
                <a:latin typeface="Arial"/>
                <a:cs typeface="Arial"/>
              </a:rPr>
              <a:t>reviews</a:t>
            </a:r>
            <a:endParaRPr lang="en-US" sz="2600" spc="90" dirty="0">
              <a:solidFill>
                <a:srgbClr val="0C0C0C"/>
              </a:solidFill>
              <a:latin typeface="Arial"/>
              <a:cs typeface="Arial"/>
            </a:endParaRPr>
          </a:p>
          <a:p>
            <a:pPr marL="890588" indent="-361950">
              <a:lnSpc>
                <a:spcPct val="110000"/>
              </a:lnSpc>
            </a:pPr>
            <a:r>
              <a:rPr lang="en-IN" sz="2600" spc="90" dirty="0">
                <a:solidFill>
                  <a:srgbClr val="0C0C0C"/>
                </a:solidFill>
                <a:latin typeface="Arial"/>
                <a:cs typeface="Arial"/>
              </a:rPr>
              <a:t>Unsolicited </a:t>
            </a:r>
            <a:r>
              <a:rPr lang="en-IN" sz="2600" spc="35" dirty="0">
                <a:solidFill>
                  <a:srgbClr val="0C0C0C"/>
                </a:solidFill>
                <a:latin typeface="Arial"/>
                <a:cs typeface="Arial"/>
              </a:rPr>
              <a:t>Review</a:t>
            </a:r>
            <a:r>
              <a:rPr lang="en-IN" sz="2600" spc="-30" dirty="0">
                <a:solidFill>
                  <a:srgbClr val="0C0C0C"/>
                </a:solidFill>
                <a:latin typeface="Arial"/>
                <a:cs typeface="Arial"/>
              </a:rPr>
              <a:t> </a:t>
            </a:r>
            <a:r>
              <a:rPr lang="en-IN" sz="2600" spc="15" dirty="0">
                <a:solidFill>
                  <a:srgbClr val="0C0C0C"/>
                </a:solidFill>
                <a:latin typeface="Arial"/>
                <a:cs typeface="Arial"/>
              </a:rPr>
              <a:t>Submissions:</a:t>
            </a:r>
          </a:p>
          <a:p>
            <a:pPr marL="1443038" indent="-360363">
              <a:lnSpc>
                <a:spcPct val="110000"/>
              </a:lnSpc>
              <a:buFont typeface="Wingdings" panose="05000000000000000000" pitchFamily="2" charset="2"/>
              <a:buChar char="Ø"/>
            </a:pPr>
            <a:r>
              <a:rPr lang="en-US" sz="2600" spc="95" dirty="0">
                <a:solidFill>
                  <a:srgbClr val="0C0C0C"/>
                </a:solidFill>
                <a:latin typeface="Arial"/>
                <a:cs typeface="Arial"/>
              </a:rPr>
              <a:t>Individual</a:t>
            </a:r>
            <a:r>
              <a:rPr lang="en-US" sz="2600" spc="60" dirty="0">
                <a:solidFill>
                  <a:srgbClr val="0C0C0C"/>
                </a:solidFill>
                <a:latin typeface="Arial"/>
                <a:cs typeface="Arial"/>
              </a:rPr>
              <a:t> </a:t>
            </a:r>
            <a:r>
              <a:rPr lang="en-US" sz="2600" spc="114" dirty="0">
                <a:solidFill>
                  <a:srgbClr val="0C0C0C"/>
                </a:solidFill>
                <a:latin typeface="Arial"/>
                <a:cs typeface="Arial"/>
              </a:rPr>
              <a:t>or</a:t>
            </a:r>
            <a:r>
              <a:rPr lang="en-US" sz="2600" spc="-110" dirty="0">
                <a:solidFill>
                  <a:srgbClr val="0C0C0C"/>
                </a:solidFill>
                <a:latin typeface="Arial"/>
                <a:cs typeface="Arial"/>
              </a:rPr>
              <a:t> </a:t>
            </a:r>
            <a:r>
              <a:rPr lang="en-US" sz="2600" spc="120" dirty="0">
                <a:solidFill>
                  <a:srgbClr val="0C0C0C"/>
                </a:solidFill>
                <a:latin typeface="Arial"/>
                <a:cs typeface="Arial"/>
              </a:rPr>
              <a:t>group</a:t>
            </a:r>
            <a:r>
              <a:rPr lang="en-US" sz="2600" spc="-120" dirty="0">
                <a:solidFill>
                  <a:srgbClr val="0C0C0C"/>
                </a:solidFill>
                <a:latin typeface="Arial"/>
                <a:cs typeface="Arial"/>
              </a:rPr>
              <a:t> </a:t>
            </a:r>
            <a:r>
              <a:rPr lang="en-US" sz="2600" spc="95" dirty="0">
                <a:solidFill>
                  <a:srgbClr val="0C0C0C"/>
                </a:solidFill>
                <a:latin typeface="Arial"/>
                <a:cs typeface="Arial"/>
              </a:rPr>
              <a:t>of </a:t>
            </a:r>
            <a:r>
              <a:rPr lang="en-US" sz="2600" spc="15" dirty="0">
                <a:solidFill>
                  <a:srgbClr val="0C0C0C"/>
                </a:solidFill>
                <a:latin typeface="Arial"/>
                <a:cs typeface="Arial"/>
              </a:rPr>
              <a:t>researchers</a:t>
            </a:r>
            <a:r>
              <a:rPr lang="en-US" sz="2600" spc="130" dirty="0">
                <a:solidFill>
                  <a:srgbClr val="0C0C0C"/>
                </a:solidFill>
                <a:latin typeface="Arial"/>
                <a:cs typeface="Arial"/>
              </a:rPr>
              <a:t> </a:t>
            </a:r>
            <a:r>
              <a:rPr lang="en-US" sz="2600" spc="85" dirty="0">
                <a:solidFill>
                  <a:srgbClr val="0C0C0C"/>
                </a:solidFill>
                <a:latin typeface="Arial"/>
                <a:cs typeface="Arial"/>
              </a:rPr>
              <a:t>develop</a:t>
            </a:r>
            <a:r>
              <a:rPr lang="en-US" sz="2600" spc="-75" dirty="0">
                <a:solidFill>
                  <a:srgbClr val="0C0C0C"/>
                </a:solidFill>
                <a:latin typeface="Arial"/>
                <a:cs typeface="Arial"/>
              </a:rPr>
              <a:t> </a:t>
            </a:r>
            <a:r>
              <a:rPr lang="en-US" sz="2600" spc="65" dirty="0">
                <a:solidFill>
                  <a:srgbClr val="0C0C0C"/>
                </a:solidFill>
                <a:latin typeface="Arial"/>
                <a:cs typeface="Arial"/>
              </a:rPr>
              <a:t>an</a:t>
            </a:r>
            <a:r>
              <a:rPr lang="en-US" sz="2600" spc="-45" dirty="0">
                <a:solidFill>
                  <a:srgbClr val="0C0C0C"/>
                </a:solidFill>
                <a:latin typeface="Arial"/>
                <a:cs typeface="Arial"/>
              </a:rPr>
              <a:t> </a:t>
            </a:r>
            <a:r>
              <a:rPr lang="en-US" sz="2600" spc="25" dirty="0">
                <a:solidFill>
                  <a:srgbClr val="0C0C0C"/>
                </a:solidFill>
                <a:latin typeface="Arial"/>
                <a:cs typeface="Arial"/>
              </a:rPr>
              <a:t>idea</a:t>
            </a:r>
            <a:r>
              <a:rPr lang="en-US" sz="2600" spc="75" dirty="0">
                <a:solidFill>
                  <a:srgbClr val="0C0C0C"/>
                </a:solidFill>
                <a:latin typeface="Arial"/>
                <a:cs typeface="Arial"/>
              </a:rPr>
              <a:t> </a:t>
            </a:r>
            <a:r>
              <a:rPr lang="en-US" sz="2600" spc="20" dirty="0">
                <a:solidFill>
                  <a:srgbClr val="0C0C0C"/>
                </a:solidFill>
                <a:latin typeface="Arial"/>
                <a:cs typeface="Arial"/>
              </a:rPr>
              <a:t>for</a:t>
            </a:r>
            <a:r>
              <a:rPr lang="en-US" sz="2600" spc="375" dirty="0">
                <a:solidFill>
                  <a:srgbClr val="0C0C0C"/>
                </a:solidFill>
                <a:latin typeface="Arial"/>
                <a:cs typeface="Arial"/>
              </a:rPr>
              <a:t> </a:t>
            </a:r>
            <a:r>
              <a:rPr lang="en-US" sz="2600" spc="-125" dirty="0">
                <a:solidFill>
                  <a:srgbClr val="0C0C0C"/>
                </a:solidFill>
                <a:latin typeface="Arial"/>
                <a:cs typeface="Arial"/>
              </a:rPr>
              <a:t>a r</a:t>
            </a:r>
            <a:r>
              <a:rPr lang="en-US" sz="2600" spc="100" dirty="0">
                <a:solidFill>
                  <a:srgbClr val="0C0C0C"/>
                </a:solidFill>
                <a:latin typeface="Arial"/>
                <a:cs typeface="Arial"/>
              </a:rPr>
              <a:t>eview</a:t>
            </a:r>
            <a:r>
              <a:rPr lang="en-US" sz="2600" spc="10" dirty="0">
                <a:solidFill>
                  <a:srgbClr val="0C0C0C"/>
                </a:solidFill>
                <a:latin typeface="Arial"/>
                <a:cs typeface="Arial"/>
              </a:rPr>
              <a:t> </a:t>
            </a:r>
            <a:r>
              <a:rPr lang="en-US" sz="2600" spc="95" dirty="0">
                <a:solidFill>
                  <a:srgbClr val="0C0C0C"/>
                </a:solidFill>
                <a:latin typeface="Arial"/>
                <a:cs typeface="Arial"/>
              </a:rPr>
              <a:t>and</a:t>
            </a:r>
            <a:r>
              <a:rPr lang="en-US" sz="2600" spc="-120" dirty="0">
                <a:solidFill>
                  <a:srgbClr val="0C0C0C"/>
                </a:solidFill>
                <a:latin typeface="Arial"/>
                <a:cs typeface="Arial"/>
              </a:rPr>
              <a:t> </a:t>
            </a:r>
            <a:r>
              <a:rPr lang="en-US" sz="2600" spc="114" dirty="0">
                <a:solidFill>
                  <a:srgbClr val="0C0C0C"/>
                </a:solidFill>
                <a:latin typeface="Arial"/>
                <a:cs typeface="Arial"/>
              </a:rPr>
              <a:t>submit</a:t>
            </a:r>
            <a:r>
              <a:rPr lang="en-US" sz="2600" spc="75" dirty="0">
                <a:solidFill>
                  <a:srgbClr val="0C0C0C"/>
                </a:solidFill>
                <a:latin typeface="Arial"/>
                <a:cs typeface="Arial"/>
              </a:rPr>
              <a:t> </a:t>
            </a:r>
            <a:r>
              <a:rPr lang="en-US" sz="2600" spc="55" dirty="0">
                <a:solidFill>
                  <a:srgbClr val="0C0C0C"/>
                </a:solidFill>
                <a:latin typeface="Arial"/>
                <a:cs typeface="Arial"/>
              </a:rPr>
              <a:t>it</a:t>
            </a:r>
            <a:r>
              <a:rPr lang="en-US" sz="2600" spc="175" dirty="0">
                <a:solidFill>
                  <a:srgbClr val="0C0C0C"/>
                </a:solidFill>
                <a:latin typeface="Arial"/>
                <a:cs typeface="Arial"/>
              </a:rPr>
              <a:t> </a:t>
            </a:r>
            <a:r>
              <a:rPr lang="en-US" sz="2600" spc="95" dirty="0">
                <a:solidFill>
                  <a:srgbClr val="0C0C0C"/>
                </a:solidFill>
                <a:latin typeface="Arial"/>
                <a:cs typeface="Arial"/>
              </a:rPr>
              <a:t>to</a:t>
            </a:r>
            <a:r>
              <a:rPr lang="en-US" sz="2600" spc="165" dirty="0">
                <a:solidFill>
                  <a:srgbClr val="0C0C0C"/>
                </a:solidFill>
                <a:latin typeface="Arial"/>
                <a:cs typeface="Arial"/>
              </a:rPr>
              <a:t> </a:t>
            </a:r>
            <a:r>
              <a:rPr lang="en-US" sz="2600" spc="110" dirty="0">
                <a:solidFill>
                  <a:srgbClr val="0C0C0C"/>
                </a:solidFill>
                <a:latin typeface="Arial"/>
                <a:cs typeface="Arial"/>
              </a:rPr>
              <a:t>journal</a:t>
            </a:r>
            <a:r>
              <a:rPr lang="en-US" sz="2600" spc="-25" dirty="0">
                <a:solidFill>
                  <a:srgbClr val="0C0C0C"/>
                </a:solidFill>
                <a:latin typeface="Arial"/>
                <a:cs typeface="Arial"/>
              </a:rPr>
              <a:t> </a:t>
            </a:r>
            <a:r>
              <a:rPr lang="en-US" sz="2600" spc="95" dirty="0">
                <a:solidFill>
                  <a:srgbClr val="0C0C0C"/>
                </a:solidFill>
                <a:latin typeface="Arial"/>
                <a:cs typeface="Arial"/>
              </a:rPr>
              <a:t>editors</a:t>
            </a:r>
            <a:endParaRPr lang="en-US" sz="2600" dirty="0">
              <a:latin typeface="Arial"/>
              <a:cs typeface="Arial"/>
            </a:endParaRPr>
          </a:p>
          <a:p>
            <a:pPr>
              <a:lnSpc>
                <a:spcPct val="110000"/>
              </a:lnSpc>
            </a:pPr>
            <a:endParaRPr lang="en-IN" sz="3200" dirty="0">
              <a:latin typeface="Arial"/>
              <a:cs typeface="Arial"/>
            </a:endParaRPr>
          </a:p>
          <a:p>
            <a:endParaRPr lang="en-US" sz="2900" dirty="0">
              <a:latin typeface="Arial"/>
              <a:cs typeface="Arial"/>
            </a:endParaRPr>
          </a:p>
          <a:p>
            <a:endParaRPr lang="en-IN" dirty="0">
              <a:latin typeface="Arial"/>
              <a:cs typeface="Arial"/>
            </a:endParaRPr>
          </a:p>
          <a:p>
            <a:endParaRPr lang="en-IN" dirty="0">
              <a:latin typeface="Arial"/>
              <a:cs typeface="Arial"/>
            </a:endParaRPr>
          </a:p>
        </p:txBody>
      </p:sp>
    </p:spTree>
    <p:extLst>
      <p:ext uri="{BB962C8B-B14F-4D97-AF65-F5344CB8AC3E}">
        <p14:creationId xmlns:p14="http://schemas.microsoft.com/office/powerpoint/2010/main" val="115142864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54601"/>
          </a:xfrm>
        </p:spPr>
        <p:txBody>
          <a:bodyPr>
            <a:normAutofit/>
          </a:bodyPr>
          <a:lstStyle/>
          <a:p>
            <a:pPr algn="ctr"/>
            <a:r>
              <a:rPr lang="en-US" sz="3200" b="1" dirty="0">
                <a:solidFill>
                  <a:srgbClr val="0000FF"/>
                </a:solidFill>
              </a:rPr>
              <a:t>Classification of Literature Review</a:t>
            </a:r>
            <a:br>
              <a:rPr lang="en-US" sz="3200" b="1" dirty="0"/>
            </a:br>
            <a:r>
              <a:rPr lang="en-US" sz="3200" b="1" dirty="0">
                <a:solidFill>
                  <a:srgbClr val="FF0000"/>
                </a:solidFill>
              </a:rPr>
              <a:t>Another Approach</a:t>
            </a:r>
            <a:endParaRPr lang="en-IN" sz="3200" b="1" dirty="0">
              <a:solidFill>
                <a:srgbClr val="FF0000"/>
              </a:solidFill>
            </a:endParaRPr>
          </a:p>
        </p:txBody>
      </p:sp>
      <p:sp>
        <p:nvSpPr>
          <p:cNvPr id="3" name="Content Placeholder 2"/>
          <p:cNvSpPr>
            <a:spLocks noGrp="1"/>
          </p:cNvSpPr>
          <p:nvPr>
            <p:ph idx="1"/>
          </p:nvPr>
        </p:nvSpPr>
        <p:spPr>
          <a:xfrm>
            <a:off x="838200" y="1419726"/>
            <a:ext cx="10515600" cy="4757237"/>
          </a:xfrm>
        </p:spPr>
        <p:txBody>
          <a:bodyPr/>
          <a:lstStyle/>
          <a:p>
            <a:r>
              <a:rPr lang="en-US" dirty="0"/>
              <a:t>Topical order - organize by main topics or issues</a:t>
            </a:r>
          </a:p>
          <a:p>
            <a:r>
              <a:rPr lang="en-US" dirty="0"/>
              <a:t>Chronological order - organize by dates the research was published</a:t>
            </a:r>
          </a:p>
          <a:p>
            <a:r>
              <a:rPr lang="en-US" dirty="0"/>
              <a:t>Problem-cause-solution order - organize by moves from problem to the solution</a:t>
            </a:r>
          </a:p>
          <a:p>
            <a:r>
              <a:rPr lang="en-US" dirty="0"/>
              <a:t>General-to-specific order (Funnel approach)-examine broad-based research first and then focus on specific studies that relate to the topic</a:t>
            </a:r>
          </a:p>
          <a:p>
            <a:r>
              <a:rPr lang="en-US" dirty="0"/>
              <a:t>Specific-to-general order - discuss specific research studies so conclusions can be drawn</a:t>
            </a:r>
            <a:endParaRPr lang="en-IN" dirty="0"/>
          </a:p>
        </p:txBody>
      </p:sp>
    </p:spTree>
    <p:extLst>
      <p:ext uri="{BB962C8B-B14F-4D97-AF65-F5344CB8AC3E}">
        <p14:creationId xmlns:p14="http://schemas.microsoft.com/office/powerpoint/2010/main" val="306922644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45527"/>
          </a:xfrm>
        </p:spPr>
        <p:txBody>
          <a:bodyPr>
            <a:normAutofit/>
          </a:bodyPr>
          <a:lstStyle/>
          <a:p>
            <a:pPr algn="ctr"/>
            <a:r>
              <a:rPr lang="en-IN" sz="3200" b="1" dirty="0">
                <a:solidFill>
                  <a:srgbClr val="0000FF"/>
                </a:solidFill>
              </a:rPr>
              <a:t>Review Article - Organization</a:t>
            </a:r>
          </a:p>
        </p:txBody>
      </p:sp>
      <p:sp>
        <p:nvSpPr>
          <p:cNvPr id="3" name="Content Placeholder 2"/>
          <p:cNvSpPr>
            <a:spLocks noGrp="1"/>
          </p:cNvSpPr>
          <p:nvPr>
            <p:ph idx="1"/>
          </p:nvPr>
        </p:nvSpPr>
        <p:spPr>
          <a:xfrm>
            <a:off x="838200" y="1010653"/>
            <a:ext cx="10515600" cy="5166310"/>
          </a:xfrm>
        </p:spPr>
        <p:txBody>
          <a:bodyPr>
            <a:normAutofit fontScale="92500" lnSpcReduction="10000"/>
          </a:bodyPr>
          <a:lstStyle/>
          <a:p>
            <a:pPr marL="514350" indent="-514350">
              <a:buFont typeface="+mj-lt"/>
              <a:buAutoNum type="arabicPeriod"/>
            </a:pPr>
            <a:r>
              <a:rPr lang="en-US" dirty="0">
                <a:solidFill>
                  <a:srgbClr val="FF0000"/>
                </a:solidFill>
              </a:rPr>
              <a:t>Title</a:t>
            </a:r>
            <a:r>
              <a:rPr lang="en-US" dirty="0"/>
              <a:t> - Helping readers to decide whether they should read the text or not</a:t>
            </a:r>
          </a:p>
          <a:p>
            <a:pPr marL="514350" indent="-514350">
              <a:buFont typeface="+mj-lt"/>
              <a:buAutoNum type="arabicPeriod"/>
            </a:pPr>
            <a:r>
              <a:rPr lang="en-US" dirty="0">
                <a:solidFill>
                  <a:srgbClr val="FF0000"/>
                </a:solidFill>
              </a:rPr>
              <a:t>List of Authors </a:t>
            </a:r>
            <a:r>
              <a:rPr lang="en-US" dirty="0"/>
              <a:t>- Declare intellectual ownership of the work and provide contact information</a:t>
            </a:r>
          </a:p>
          <a:p>
            <a:pPr marL="514350" indent="-514350">
              <a:buFont typeface="+mj-lt"/>
              <a:buAutoNum type="arabicPeriod"/>
            </a:pPr>
            <a:r>
              <a:rPr lang="en-US" dirty="0">
                <a:solidFill>
                  <a:srgbClr val="FF0000"/>
                </a:solidFill>
              </a:rPr>
              <a:t>Abstract</a:t>
            </a:r>
            <a:r>
              <a:rPr lang="en-US" dirty="0"/>
              <a:t> - Informs about the main objectives and result of the review article</a:t>
            </a:r>
          </a:p>
          <a:p>
            <a:pPr marL="514350" indent="-514350">
              <a:buFont typeface="+mj-lt"/>
              <a:buAutoNum type="arabicPeriod"/>
            </a:pPr>
            <a:r>
              <a:rPr lang="en-US" dirty="0">
                <a:solidFill>
                  <a:srgbClr val="FF0000"/>
                </a:solidFill>
              </a:rPr>
              <a:t>Table of Contents </a:t>
            </a:r>
            <a:r>
              <a:rPr lang="en-US" dirty="0"/>
              <a:t>- Shows the readers the organization of the text. Helps orientation among sections.</a:t>
            </a:r>
          </a:p>
          <a:p>
            <a:pPr marL="514350" indent="-514350">
              <a:buFont typeface="+mj-lt"/>
              <a:buAutoNum type="arabicPeriod"/>
            </a:pPr>
            <a:r>
              <a:rPr lang="en-US" dirty="0">
                <a:solidFill>
                  <a:srgbClr val="FF0000"/>
                </a:solidFill>
              </a:rPr>
              <a:t>Introduction </a:t>
            </a:r>
            <a:r>
              <a:rPr lang="en-US" dirty="0"/>
              <a:t>- provides information about the</a:t>
            </a:r>
          </a:p>
          <a:p>
            <a:pPr marL="890588" indent="-361950">
              <a:buFont typeface="Wingdings" panose="05000000000000000000" pitchFamily="2" charset="2"/>
              <a:buChar char="Ø"/>
            </a:pPr>
            <a:r>
              <a:rPr lang="en-US" dirty="0"/>
              <a:t>Context (one or two paragraphs)</a:t>
            </a:r>
          </a:p>
          <a:p>
            <a:pPr marL="890588" indent="-361950">
              <a:buFont typeface="Wingdings" panose="05000000000000000000" pitchFamily="2" charset="2"/>
              <a:buChar char="Ø"/>
            </a:pPr>
            <a:r>
              <a:rPr lang="en-US" dirty="0"/>
              <a:t>Motivation for review (one paragraph)</a:t>
            </a:r>
          </a:p>
          <a:p>
            <a:pPr marL="890588" indent="-361950">
              <a:buFont typeface="Wingdings" panose="05000000000000000000" pitchFamily="2" charset="2"/>
              <a:buChar char="Ø"/>
            </a:pPr>
            <a:r>
              <a:rPr lang="en-US" dirty="0"/>
              <a:t>Focus (one paragraph). Research question (one paragraph) and </a:t>
            </a:r>
          </a:p>
          <a:p>
            <a:pPr marL="890588" indent="-361950">
              <a:buFont typeface="Wingdings" panose="05000000000000000000" pitchFamily="2" charset="2"/>
              <a:buChar char="Ø"/>
            </a:pPr>
            <a:r>
              <a:rPr lang="en-US" dirty="0"/>
              <a:t>Text structure (one paragraph)</a:t>
            </a:r>
            <a:endParaRPr lang="en-IN" dirty="0"/>
          </a:p>
        </p:txBody>
      </p:sp>
    </p:spTree>
    <p:extLst>
      <p:ext uri="{BB962C8B-B14F-4D97-AF65-F5344CB8AC3E}">
        <p14:creationId xmlns:p14="http://schemas.microsoft.com/office/powerpoint/2010/main" val="262184676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45527"/>
          </a:xfrm>
        </p:spPr>
        <p:txBody>
          <a:bodyPr>
            <a:normAutofit/>
          </a:bodyPr>
          <a:lstStyle/>
          <a:p>
            <a:pPr algn="ctr"/>
            <a:r>
              <a:rPr lang="en-US" sz="3200" b="1" dirty="0">
                <a:solidFill>
                  <a:srgbClr val="0000FF"/>
                </a:solidFill>
              </a:rPr>
              <a:t>Review Article - Organization</a:t>
            </a:r>
            <a:endParaRPr lang="en-IN" sz="3200" b="1" dirty="0">
              <a:solidFill>
                <a:srgbClr val="0000FF"/>
              </a:solidFill>
            </a:endParaRPr>
          </a:p>
        </p:txBody>
      </p:sp>
      <p:sp>
        <p:nvSpPr>
          <p:cNvPr id="3" name="Content Placeholder 2"/>
          <p:cNvSpPr>
            <a:spLocks noGrp="1"/>
          </p:cNvSpPr>
          <p:nvPr>
            <p:ph idx="1"/>
          </p:nvPr>
        </p:nvSpPr>
        <p:spPr>
          <a:xfrm>
            <a:off x="838200" y="1010653"/>
            <a:ext cx="10515600" cy="5847348"/>
          </a:xfrm>
        </p:spPr>
        <p:txBody>
          <a:bodyPr>
            <a:noAutofit/>
          </a:bodyPr>
          <a:lstStyle/>
          <a:p>
            <a:pPr marL="0" indent="0" algn="just">
              <a:buNone/>
            </a:pPr>
            <a:r>
              <a:rPr lang="en-US" sz="2400" dirty="0">
                <a:solidFill>
                  <a:srgbClr val="FF0000"/>
                </a:solidFill>
              </a:rPr>
              <a:t>6. Body-Materials and Methods</a:t>
            </a:r>
          </a:p>
          <a:p>
            <a:pPr marL="890588" indent="-361950" algn="just">
              <a:buFont typeface="Wingdings" panose="05000000000000000000" pitchFamily="2" charset="2"/>
              <a:buChar char="Ø"/>
            </a:pPr>
            <a:r>
              <a:rPr lang="en-US" sz="2400" dirty="0"/>
              <a:t>Systematic and best evidence reviews have a methods section.</a:t>
            </a:r>
          </a:p>
          <a:p>
            <a:pPr marL="890588" indent="-361950" algn="just">
              <a:buFont typeface="Wingdings" panose="05000000000000000000" pitchFamily="2" charset="2"/>
              <a:buChar char="Ø"/>
            </a:pPr>
            <a:r>
              <a:rPr lang="en-US" sz="2400" dirty="0"/>
              <a:t>Narrative reviews do not have a methods section but should include some information about applied methods at the end of the introduction.</a:t>
            </a:r>
          </a:p>
          <a:p>
            <a:pPr marL="0" indent="0" algn="just">
              <a:buNone/>
            </a:pPr>
            <a:r>
              <a:rPr lang="en-US" sz="2400" dirty="0">
                <a:solidFill>
                  <a:srgbClr val="FF0000"/>
                </a:solidFill>
              </a:rPr>
              <a:t>7. Body-Main Review </a:t>
            </a:r>
            <a:r>
              <a:rPr lang="en-US" sz="2400" dirty="0"/>
              <a:t>- A coherent structuring of the topic is necessary to develop   the section structure. Subheadings reflect the organization of the topic and indicate the content of the various sections. Possible criteria for structuring the topic are:</a:t>
            </a:r>
          </a:p>
          <a:p>
            <a:pPr marL="890588" indent="-361950" algn="just">
              <a:buFont typeface="Wingdings" panose="05000000000000000000" pitchFamily="2" charset="2"/>
              <a:buChar char="Ø"/>
            </a:pPr>
            <a:r>
              <a:rPr lang="en-US" sz="2400" dirty="0"/>
              <a:t>Methodological approaches</a:t>
            </a:r>
          </a:p>
          <a:p>
            <a:pPr marL="890588" indent="-361950" algn="just">
              <a:buFont typeface="Wingdings" panose="05000000000000000000" pitchFamily="2" charset="2"/>
              <a:buChar char="Ø"/>
            </a:pPr>
            <a:r>
              <a:rPr lang="en-US" sz="2400" dirty="0"/>
              <a:t>Models or theories</a:t>
            </a:r>
          </a:p>
          <a:p>
            <a:pPr marL="890588" indent="-361950" algn="just">
              <a:buFont typeface="Wingdings" panose="05000000000000000000" pitchFamily="2" charset="2"/>
              <a:buChar char="Ø"/>
            </a:pPr>
            <a:r>
              <a:rPr lang="en-US" sz="2400" dirty="0"/>
              <a:t>Extent of support for a given thesis</a:t>
            </a:r>
          </a:p>
          <a:p>
            <a:pPr marL="890588" indent="-361950" algn="just">
              <a:buFont typeface="Wingdings" panose="05000000000000000000" pitchFamily="2" charset="2"/>
              <a:buChar char="Ø"/>
            </a:pPr>
            <a:r>
              <a:rPr lang="en-US" sz="2400" dirty="0"/>
              <a:t>Studies that agree with another versus studies that disagree</a:t>
            </a:r>
          </a:p>
          <a:p>
            <a:pPr marL="890588" indent="-361950" algn="just">
              <a:buFont typeface="Wingdings" panose="05000000000000000000" pitchFamily="2" charset="2"/>
              <a:buChar char="Ø"/>
            </a:pPr>
            <a:r>
              <a:rPr lang="en-US" sz="2400" dirty="0"/>
              <a:t>Chronological order</a:t>
            </a:r>
          </a:p>
          <a:p>
            <a:pPr marL="890588" indent="-361950" algn="just">
              <a:buFont typeface="Wingdings" panose="05000000000000000000" pitchFamily="2" charset="2"/>
              <a:buChar char="Ø"/>
            </a:pPr>
            <a:r>
              <a:rPr lang="en-US" sz="2400" dirty="0"/>
              <a:t>Geographical location</a:t>
            </a:r>
            <a:endParaRPr lang="en-IN" sz="2400" dirty="0"/>
          </a:p>
        </p:txBody>
      </p:sp>
    </p:spTree>
    <p:extLst>
      <p:ext uri="{BB962C8B-B14F-4D97-AF65-F5344CB8AC3E}">
        <p14:creationId xmlns:p14="http://schemas.microsoft.com/office/powerpoint/2010/main" val="117450994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9591"/>
          </a:xfrm>
        </p:spPr>
        <p:txBody>
          <a:bodyPr>
            <a:normAutofit/>
          </a:bodyPr>
          <a:lstStyle/>
          <a:p>
            <a:pPr algn="ctr"/>
            <a:r>
              <a:rPr lang="en-US" sz="3200" b="1" dirty="0">
                <a:solidFill>
                  <a:srgbClr val="0000FF"/>
                </a:solidFill>
              </a:rPr>
              <a:t>Review Article - Organization</a:t>
            </a:r>
            <a:endParaRPr lang="en-IN" sz="3200" dirty="0"/>
          </a:p>
        </p:txBody>
      </p:sp>
      <p:sp>
        <p:nvSpPr>
          <p:cNvPr id="3" name="Content Placeholder 2"/>
          <p:cNvSpPr>
            <a:spLocks noGrp="1"/>
          </p:cNvSpPr>
          <p:nvPr>
            <p:ph idx="1"/>
          </p:nvPr>
        </p:nvSpPr>
        <p:spPr>
          <a:xfrm>
            <a:off x="834608" y="1034716"/>
            <a:ext cx="10515600" cy="5142247"/>
          </a:xfrm>
        </p:spPr>
        <p:txBody>
          <a:bodyPr>
            <a:normAutofit fontScale="70000" lnSpcReduction="20000"/>
          </a:bodyPr>
          <a:lstStyle/>
          <a:p>
            <a:pPr marL="0" indent="0">
              <a:lnSpc>
                <a:spcPct val="120000"/>
              </a:lnSpc>
              <a:buNone/>
            </a:pPr>
            <a:r>
              <a:rPr lang="en-US" dirty="0"/>
              <a:t>8. Conclusion – </a:t>
            </a:r>
          </a:p>
          <a:p>
            <a:pPr marL="890588" indent="-361950">
              <a:lnSpc>
                <a:spcPct val="120000"/>
              </a:lnSpc>
              <a:buFont typeface="Wingdings" panose="05000000000000000000" pitchFamily="2" charset="2"/>
              <a:buChar char="Ø"/>
            </a:pPr>
            <a:r>
              <a:rPr lang="en-US" dirty="0"/>
              <a:t>Answer the research question set in the introduction.</a:t>
            </a:r>
          </a:p>
          <a:p>
            <a:pPr marL="890588" indent="-361950">
              <a:lnSpc>
                <a:spcPct val="120000"/>
              </a:lnSpc>
              <a:buFont typeface="Wingdings" panose="05000000000000000000" pitchFamily="2" charset="2"/>
              <a:buChar char="Ø"/>
            </a:pPr>
            <a:r>
              <a:rPr lang="en-US" dirty="0"/>
              <a:t>States the implications of the findings and an identifies possible new research field.9. </a:t>
            </a:r>
          </a:p>
          <a:p>
            <a:pPr marL="0" indent="0">
              <a:lnSpc>
                <a:spcPct val="120000"/>
              </a:lnSpc>
              <a:buNone/>
            </a:pPr>
            <a:r>
              <a:rPr lang="en-US" dirty="0"/>
              <a:t>9. Acknowledgements - Expresses gratitude to</a:t>
            </a:r>
          </a:p>
          <a:p>
            <a:pPr marL="890588" indent="-361950">
              <a:lnSpc>
                <a:spcPct val="120000"/>
              </a:lnSpc>
              <a:buFont typeface="Wingdings" panose="05000000000000000000" pitchFamily="2" charset="2"/>
              <a:buChar char="Ø"/>
            </a:pPr>
            <a:r>
              <a:rPr lang="en-US" dirty="0"/>
              <a:t>People who helped with the literature review, but whose contribution is too small to justify co-authorship.</a:t>
            </a:r>
          </a:p>
          <a:p>
            <a:pPr marL="890588" indent="-361950">
              <a:lnSpc>
                <a:spcPct val="120000"/>
              </a:lnSpc>
              <a:buFont typeface="Wingdings" panose="05000000000000000000" pitchFamily="2" charset="2"/>
              <a:buChar char="Ø"/>
            </a:pPr>
            <a:r>
              <a:rPr lang="en-US" dirty="0"/>
              <a:t>Funding </a:t>
            </a:r>
            <a:r>
              <a:rPr lang="en-US" dirty="0" err="1"/>
              <a:t>organisation</a:t>
            </a:r>
            <a:r>
              <a:rPr lang="en-US" dirty="0"/>
              <a:t> and specifies the funding program (often required by funding agencies).</a:t>
            </a:r>
          </a:p>
          <a:p>
            <a:pPr marL="0" indent="0">
              <a:lnSpc>
                <a:spcPct val="120000"/>
              </a:lnSpc>
              <a:buNone/>
            </a:pPr>
            <a:r>
              <a:rPr lang="en-US" dirty="0"/>
              <a:t>10. References ("Literature Review") - </a:t>
            </a:r>
            <a:r>
              <a:rPr lang="en-US" dirty="0" err="1"/>
              <a:t>organised</a:t>
            </a:r>
            <a:r>
              <a:rPr lang="en-US" dirty="0"/>
              <a:t> by number in the order they were cited in the text.</a:t>
            </a:r>
          </a:p>
          <a:p>
            <a:pPr marL="890588" indent="-361950">
              <a:lnSpc>
                <a:spcPct val="120000"/>
              </a:lnSpc>
              <a:buFont typeface="Wingdings" panose="05000000000000000000" pitchFamily="2" charset="2"/>
              <a:buChar char="Ø"/>
            </a:pPr>
            <a:r>
              <a:rPr lang="en-US" dirty="0"/>
              <a:t>Shows interested readers how to find the literature mentioned in the text.</a:t>
            </a:r>
          </a:p>
          <a:p>
            <a:pPr marL="890588" indent="-361950">
              <a:lnSpc>
                <a:spcPct val="120000"/>
              </a:lnSpc>
              <a:buFont typeface="Wingdings" panose="05000000000000000000" pitchFamily="2" charset="2"/>
              <a:buChar char="Ø"/>
            </a:pPr>
            <a:r>
              <a:rPr lang="en-US" dirty="0"/>
              <a:t>Acknowledges the work of other scientists.</a:t>
            </a:r>
          </a:p>
          <a:p>
            <a:pPr marL="890588" indent="-361950">
              <a:lnSpc>
                <a:spcPct val="120000"/>
              </a:lnSpc>
              <a:buFont typeface="Wingdings" panose="05000000000000000000" pitchFamily="2" charset="2"/>
              <a:buChar char="Ø"/>
            </a:pPr>
            <a:r>
              <a:rPr lang="en-US" dirty="0"/>
              <a:t>Compulsory to avoid charges of plagiarism</a:t>
            </a:r>
            <a:endParaRPr lang="en-IN" dirty="0"/>
          </a:p>
        </p:txBody>
      </p:sp>
    </p:spTree>
    <p:extLst>
      <p:ext uri="{BB962C8B-B14F-4D97-AF65-F5344CB8AC3E}">
        <p14:creationId xmlns:p14="http://schemas.microsoft.com/office/powerpoint/2010/main" val="350352395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p:spPr>
        <p:txBody>
          <a:bodyPr>
            <a:normAutofit/>
          </a:bodyPr>
          <a:lstStyle/>
          <a:p>
            <a:pPr algn="ctr"/>
            <a:r>
              <a:rPr lang="en-US" sz="3200" b="1" dirty="0">
                <a:solidFill>
                  <a:srgbClr val="0000FF"/>
                </a:solidFill>
              </a:rPr>
              <a:t>Meta Analysis: "Analysis of an Analysis“</a:t>
            </a:r>
            <a:endParaRPr lang="en-IN" sz="3200" b="1" dirty="0">
              <a:solidFill>
                <a:srgbClr val="0000FF"/>
              </a:solidFill>
            </a:endParaRPr>
          </a:p>
        </p:txBody>
      </p:sp>
      <p:sp>
        <p:nvSpPr>
          <p:cNvPr id="3" name="Content Placeholder 2"/>
          <p:cNvSpPr>
            <a:spLocks noGrp="1"/>
          </p:cNvSpPr>
          <p:nvPr>
            <p:ph idx="1"/>
          </p:nvPr>
        </p:nvSpPr>
        <p:spPr>
          <a:xfrm>
            <a:off x="838200" y="914400"/>
            <a:ext cx="10515600" cy="5262563"/>
          </a:xfrm>
        </p:spPr>
        <p:txBody>
          <a:bodyPr>
            <a:normAutofit fontScale="85000" lnSpcReduction="20000"/>
          </a:bodyPr>
          <a:lstStyle/>
          <a:p>
            <a:pPr>
              <a:lnSpc>
                <a:spcPct val="110000"/>
              </a:lnSpc>
            </a:pPr>
            <a:r>
              <a:rPr lang="en-US" dirty="0"/>
              <a:t>Coined by Gene V. Glass in educational research</a:t>
            </a:r>
          </a:p>
          <a:p>
            <a:pPr marL="890588" indent="-433388">
              <a:lnSpc>
                <a:spcPct val="110000"/>
              </a:lnSpc>
              <a:buFont typeface="Wingdings" panose="05000000000000000000" pitchFamily="2" charset="2"/>
              <a:buChar char="Ø"/>
            </a:pPr>
            <a:r>
              <a:rPr lang="en-US" dirty="0"/>
              <a:t>Meta-analysis is </a:t>
            </a:r>
            <a:r>
              <a:rPr lang="en-US" dirty="0">
                <a:solidFill>
                  <a:srgbClr val="FF0000"/>
                </a:solidFill>
              </a:rPr>
              <a:t>quantitative</a:t>
            </a:r>
            <a:r>
              <a:rPr lang="en-US" dirty="0"/>
              <a:t> approach for </a:t>
            </a:r>
            <a:r>
              <a:rPr lang="en-US" dirty="0">
                <a:solidFill>
                  <a:srgbClr val="FF0000"/>
                </a:solidFill>
              </a:rPr>
              <a:t>systematically combining </a:t>
            </a:r>
            <a:r>
              <a:rPr lang="en-US" dirty="0"/>
              <a:t>results of </a:t>
            </a:r>
            <a:r>
              <a:rPr lang="en-US" dirty="0">
                <a:solidFill>
                  <a:srgbClr val="FF0000"/>
                </a:solidFill>
              </a:rPr>
              <a:t>previous research </a:t>
            </a:r>
            <a:r>
              <a:rPr lang="en-US" dirty="0"/>
              <a:t>to arrive at conclusions about the body of research.</a:t>
            </a:r>
          </a:p>
          <a:p>
            <a:pPr marL="890588" indent="-433388">
              <a:lnSpc>
                <a:spcPct val="110000"/>
              </a:lnSpc>
              <a:buFont typeface="Wingdings" panose="05000000000000000000" pitchFamily="2" charset="2"/>
              <a:buChar char="Ø"/>
            </a:pPr>
            <a:r>
              <a:rPr lang="en-US" dirty="0">
                <a:solidFill>
                  <a:srgbClr val="FF0000"/>
                </a:solidFill>
              </a:rPr>
              <a:t>Quantitative</a:t>
            </a:r>
            <a:r>
              <a:rPr lang="en-US" dirty="0"/>
              <a:t> : Numbers</a:t>
            </a:r>
          </a:p>
          <a:p>
            <a:pPr marL="890588" indent="-433388">
              <a:lnSpc>
                <a:spcPct val="110000"/>
              </a:lnSpc>
              <a:buFont typeface="Wingdings" panose="05000000000000000000" pitchFamily="2" charset="2"/>
              <a:buChar char="Ø"/>
            </a:pPr>
            <a:r>
              <a:rPr lang="en-US" dirty="0">
                <a:solidFill>
                  <a:srgbClr val="FF0000"/>
                </a:solidFill>
              </a:rPr>
              <a:t>Systematic</a:t>
            </a:r>
            <a:r>
              <a:rPr lang="en-US" dirty="0"/>
              <a:t> : Methodical </a:t>
            </a:r>
          </a:p>
          <a:p>
            <a:pPr marL="890588" indent="-433388">
              <a:lnSpc>
                <a:spcPct val="110000"/>
              </a:lnSpc>
              <a:buFont typeface="Wingdings" panose="05000000000000000000" pitchFamily="2" charset="2"/>
              <a:buChar char="Ø"/>
            </a:pPr>
            <a:r>
              <a:rPr lang="en-US" dirty="0">
                <a:solidFill>
                  <a:srgbClr val="FF0000"/>
                </a:solidFill>
              </a:rPr>
              <a:t>Combining</a:t>
            </a:r>
            <a:r>
              <a:rPr lang="en-US" dirty="0"/>
              <a:t> : Putting together</a:t>
            </a:r>
          </a:p>
          <a:p>
            <a:pPr marL="890588" indent="-433388">
              <a:lnSpc>
                <a:spcPct val="110000"/>
              </a:lnSpc>
              <a:buFont typeface="Wingdings" panose="05000000000000000000" pitchFamily="2" charset="2"/>
              <a:buChar char="Ø"/>
            </a:pPr>
            <a:r>
              <a:rPr lang="en-US" dirty="0">
                <a:solidFill>
                  <a:srgbClr val="FF0000"/>
                </a:solidFill>
              </a:rPr>
              <a:t>Previous Research </a:t>
            </a:r>
            <a:r>
              <a:rPr lang="en-US" dirty="0"/>
              <a:t>: What's already done </a:t>
            </a:r>
          </a:p>
          <a:p>
            <a:pPr marL="890588" indent="-433388">
              <a:lnSpc>
                <a:spcPct val="110000"/>
              </a:lnSpc>
              <a:buFont typeface="Wingdings" panose="05000000000000000000" pitchFamily="2" charset="2"/>
              <a:buChar char="Ø"/>
            </a:pPr>
            <a:r>
              <a:rPr lang="en-US" dirty="0"/>
              <a:t>Conclusions : New knowledge (stronger than the analysis of any single study)</a:t>
            </a:r>
          </a:p>
          <a:p>
            <a:pPr>
              <a:lnSpc>
                <a:spcPct val="110000"/>
              </a:lnSpc>
            </a:pPr>
            <a:r>
              <a:rPr lang="en-US" dirty="0"/>
              <a:t>Meta-analysis is a set of statistical techniques for combining data from independent studies that share a hypotheses to produce a single estimate of an effect.</a:t>
            </a:r>
            <a:endParaRPr lang="en-IN" dirty="0"/>
          </a:p>
        </p:txBody>
      </p:sp>
    </p:spTree>
    <p:extLst>
      <p:ext uri="{BB962C8B-B14F-4D97-AF65-F5344CB8AC3E}">
        <p14:creationId xmlns:p14="http://schemas.microsoft.com/office/powerpoint/2010/main" val="204495378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9113"/>
          </a:xfrm>
        </p:spPr>
        <p:txBody>
          <a:bodyPr>
            <a:normAutofit/>
          </a:bodyPr>
          <a:lstStyle/>
          <a:p>
            <a:pPr algn="ctr"/>
            <a:r>
              <a:rPr lang="en-US" sz="3200" b="1" dirty="0">
                <a:solidFill>
                  <a:srgbClr val="0000FF"/>
                </a:solidFill>
              </a:rPr>
              <a:t>Meta Analysis: “Analysis of an Analysis”</a:t>
            </a:r>
            <a:endParaRPr lang="en-IN" sz="3200" b="1" dirty="0">
              <a:solidFill>
                <a:srgbClr val="0000FF"/>
              </a:solidFill>
            </a:endParaRPr>
          </a:p>
        </p:txBody>
      </p:sp>
      <p:sp>
        <p:nvSpPr>
          <p:cNvPr id="3" name="Content Placeholder 2"/>
          <p:cNvSpPr>
            <a:spLocks noGrp="1"/>
          </p:cNvSpPr>
          <p:nvPr>
            <p:ph idx="1"/>
          </p:nvPr>
        </p:nvSpPr>
        <p:spPr>
          <a:xfrm>
            <a:off x="838200" y="1064239"/>
            <a:ext cx="10515600" cy="5793762"/>
          </a:xfrm>
        </p:spPr>
        <p:txBody>
          <a:bodyPr>
            <a:normAutofit/>
          </a:bodyPr>
          <a:lstStyle/>
          <a:p>
            <a:pPr marL="0" indent="0">
              <a:buNone/>
            </a:pPr>
            <a:r>
              <a:rPr lang="en-US" sz="2400" dirty="0"/>
              <a:t>Meta-analysis is often part of the systematic review process. It is used when you are comparing multiple studies that looked at similar relationships.</a:t>
            </a:r>
            <a:endParaRPr lang="en-IN" sz="2400" dirty="0"/>
          </a:p>
        </p:txBody>
      </p:sp>
      <p:sp>
        <p:nvSpPr>
          <p:cNvPr id="32" name="Freeform 31"/>
          <p:cNvSpPr/>
          <p:nvPr/>
        </p:nvSpPr>
        <p:spPr>
          <a:xfrm>
            <a:off x="8809999" y="1946582"/>
            <a:ext cx="767917" cy="688310"/>
          </a:xfrm>
          <a:custGeom>
            <a:avLst/>
            <a:gdLst>
              <a:gd name="connsiteX0" fmla="*/ 383958 w 767917"/>
              <a:gd name="connsiteY0" fmla="*/ 0 h 688310"/>
              <a:gd name="connsiteX1" fmla="*/ 767917 w 767917"/>
              <a:gd name="connsiteY1" fmla="*/ 688310 h 688310"/>
              <a:gd name="connsiteX2" fmla="*/ 0 w 767917"/>
              <a:gd name="connsiteY2" fmla="*/ 688310 h 688310"/>
              <a:gd name="connsiteX3" fmla="*/ 383958 w 767917"/>
              <a:gd name="connsiteY3" fmla="*/ 0 h 688310"/>
            </a:gdLst>
            <a:ahLst/>
            <a:cxnLst>
              <a:cxn ang="0">
                <a:pos x="connsiteX0" y="connsiteY0"/>
              </a:cxn>
              <a:cxn ang="0">
                <a:pos x="connsiteX1" y="connsiteY1"/>
              </a:cxn>
              <a:cxn ang="0">
                <a:pos x="connsiteX2" y="connsiteY2"/>
              </a:cxn>
              <a:cxn ang="0">
                <a:pos x="connsiteX3" y="connsiteY3"/>
              </a:cxn>
            </a:cxnLst>
            <a:rect l="l" t="t" r="r" b="b"/>
            <a:pathLst>
              <a:path w="767917" h="688310">
                <a:moveTo>
                  <a:pt x="383958" y="0"/>
                </a:moveTo>
                <a:lnTo>
                  <a:pt x="767917" y="688310"/>
                </a:lnTo>
                <a:lnTo>
                  <a:pt x="0" y="688310"/>
                </a:lnTo>
                <a:lnTo>
                  <a:pt x="383958" y="0"/>
                </a:lnTo>
                <a:close/>
              </a:path>
            </a:pathLst>
          </a:cu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a:p>
            <a:pPr algn="ctr"/>
            <a:endParaRPr lang="en-US" sz="800" dirty="0"/>
          </a:p>
          <a:p>
            <a:pPr algn="ctr"/>
            <a:r>
              <a:rPr lang="en-US" sz="800" dirty="0"/>
              <a:t>Meta -Analysis</a:t>
            </a:r>
            <a:endParaRPr lang="en-IN" sz="800" dirty="0"/>
          </a:p>
        </p:txBody>
      </p:sp>
      <p:sp>
        <p:nvSpPr>
          <p:cNvPr id="29" name="Freeform 28"/>
          <p:cNvSpPr/>
          <p:nvPr/>
        </p:nvSpPr>
        <p:spPr>
          <a:xfrm>
            <a:off x="8468377" y="2680612"/>
            <a:ext cx="1451158" cy="566693"/>
          </a:xfrm>
          <a:custGeom>
            <a:avLst/>
            <a:gdLst>
              <a:gd name="connsiteX0" fmla="*/ 316117 w 1451158"/>
              <a:gd name="connsiteY0" fmla="*/ 0 h 566693"/>
              <a:gd name="connsiteX1" fmla="*/ 1135041 w 1451158"/>
              <a:gd name="connsiteY1" fmla="*/ 0 h 566693"/>
              <a:gd name="connsiteX2" fmla="*/ 1451158 w 1451158"/>
              <a:gd name="connsiteY2" fmla="*/ 566693 h 566693"/>
              <a:gd name="connsiteX3" fmla="*/ 0 w 1451158"/>
              <a:gd name="connsiteY3" fmla="*/ 566693 h 566693"/>
              <a:gd name="connsiteX4" fmla="*/ 316117 w 1451158"/>
              <a:gd name="connsiteY4" fmla="*/ 0 h 566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1158" h="566693">
                <a:moveTo>
                  <a:pt x="316117" y="0"/>
                </a:moveTo>
                <a:lnTo>
                  <a:pt x="1135041" y="0"/>
                </a:lnTo>
                <a:lnTo>
                  <a:pt x="1451158" y="566693"/>
                </a:lnTo>
                <a:lnTo>
                  <a:pt x="0" y="566693"/>
                </a:lnTo>
                <a:lnTo>
                  <a:pt x="316117" y="0"/>
                </a:lnTo>
                <a:close/>
              </a:path>
            </a:pathLst>
          </a:cu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Systematic Review</a:t>
            </a:r>
            <a:endParaRPr lang="en-IN" sz="800" dirty="0"/>
          </a:p>
        </p:txBody>
      </p:sp>
      <p:sp>
        <p:nvSpPr>
          <p:cNvPr id="26" name="Freeform 25"/>
          <p:cNvSpPr/>
          <p:nvPr/>
        </p:nvSpPr>
        <p:spPr>
          <a:xfrm>
            <a:off x="8134993" y="3293024"/>
            <a:ext cx="2117926" cy="551929"/>
          </a:xfrm>
          <a:custGeom>
            <a:avLst/>
            <a:gdLst>
              <a:gd name="connsiteX0" fmla="*/ 307881 w 2117926"/>
              <a:gd name="connsiteY0" fmla="*/ 0 h 551929"/>
              <a:gd name="connsiteX1" fmla="*/ 1810045 w 2117926"/>
              <a:gd name="connsiteY1" fmla="*/ 0 h 551929"/>
              <a:gd name="connsiteX2" fmla="*/ 2117926 w 2117926"/>
              <a:gd name="connsiteY2" fmla="*/ 551929 h 551929"/>
              <a:gd name="connsiteX3" fmla="*/ 0 w 2117926"/>
              <a:gd name="connsiteY3" fmla="*/ 551929 h 551929"/>
              <a:gd name="connsiteX4" fmla="*/ 307881 w 2117926"/>
              <a:gd name="connsiteY4" fmla="*/ 0 h 5519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7926" h="551929">
                <a:moveTo>
                  <a:pt x="307881" y="0"/>
                </a:moveTo>
                <a:lnTo>
                  <a:pt x="1810045" y="0"/>
                </a:lnTo>
                <a:lnTo>
                  <a:pt x="2117926" y="551929"/>
                </a:lnTo>
                <a:lnTo>
                  <a:pt x="0" y="551929"/>
                </a:lnTo>
                <a:lnTo>
                  <a:pt x="307881" y="0"/>
                </a:lnTo>
                <a:close/>
              </a:path>
            </a:pathLst>
          </a:cu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Practice Guideline</a:t>
            </a:r>
            <a:endParaRPr lang="en-IN" sz="800" dirty="0"/>
          </a:p>
        </p:txBody>
      </p:sp>
      <p:sp>
        <p:nvSpPr>
          <p:cNvPr id="23" name="Freeform 22"/>
          <p:cNvSpPr/>
          <p:nvPr/>
        </p:nvSpPr>
        <p:spPr>
          <a:xfrm>
            <a:off x="7749539" y="3890671"/>
            <a:ext cx="2888834" cy="645272"/>
          </a:xfrm>
          <a:custGeom>
            <a:avLst/>
            <a:gdLst>
              <a:gd name="connsiteX0" fmla="*/ 359950 w 2888834"/>
              <a:gd name="connsiteY0" fmla="*/ 0 h 645272"/>
              <a:gd name="connsiteX1" fmla="*/ 2528884 w 2888834"/>
              <a:gd name="connsiteY1" fmla="*/ 0 h 645272"/>
              <a:gd name="connsiteX2" fmla="*/ 2888834 w 2888834"/>
              <a:gd name="connsiteY2" fmla="*/ 645272 h 645272"/>
              <a:gd name="connsiteX3" fmla="*/ 0 w 2888834"/>
              <a:gd name="connsiteY3" fmla="*/ 645272 h 645272"/>
              <a:gd name="connsiteX4" fmla="*/ 359950 w 2888834"/>
              <a:gd name="connsiteY4" fmla="*/ 0 h 645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8834" h="645272">
                <a:moveTo>
                  <a:pt x="359950" y="0"/>
                </a:moveTo>
                <a:lnTo>
                  <a:pt x="2528884" y="0"/>
                </a:lnTo>
                <a:lnTo>
                  <a:pt x="2888834" y="645272"/>
                </a:lnTo>
                <a:lnTo>
                  <a:pt x="0" y="645272"/>
                </a:lnTo>
                <a:lnTo>
                  <a:pt x="359950" y="0"/>
                </a:lnTo>
                <a:close/>
              </a:path>
            </a:pathLst>
          </a:cu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Randomized Controlled Trail</a:t>
            </a:r>
            <a:endParaRPr lang="en-IN" sz="800" dirty="0"/>
          </a:p>
        </p:txBody>
      </p:sp>
      <p:sp>
        <p:nvSpPr>
          <p:cNvPr id="20" name="Freeform 19"/>
          <p:cNvSpPr/>
          <p:nvPr/>
        </p:nvSpPr>
        <p:spPr>
          <a:xfrm>
            <a:off x="7395167" y="4581662"/>
            <a:ext cx="3597578" cy="589552"/>
          </a:xfrm>
          <a:custGeom>
            <a:avLst/>
            <a:gdLst>
              <a:gd name="connsiteX0" fmla="*/ 328868 w 3597578"/>
              <a:gd name="connsiteY0" fmla="*/ 0 h 589552"/>
              <a:gd name="connsiteX1" fmla="*/ 3268709 w 3597578"/>
              <a:gd name="connsiteY1" fmla="*/ 0 h 589552"/>
              <a:gd name="connsiteX2" fmla="*/ 3597578 w 3597578"/>
              <a:gd name="connsiteY2" fmla="*/ 589552 h 589552"/>
              <a:gd name="connsiteX3" fmla="*/ 0 w 3597578"/>
              <a:gd name="connsiteY3" fmla="*/ 589552 h 589552"/>
              <a:gd name="connsiteX4" fmla="*/ 328868 w 3597578"/>
              <a:gd name="connsiteY4" fmla="*/ 0 h 5895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7578" h="589552">
                <a:moveTo>
                  <a:pt x="328868" y="0"/>
                </a:moveTo>
                <a:lnTo>
                  <a:pt x="3268709" y="0"/>
                </a:lnTo>
                <a:lnTo>
                  <a:pt x="3597578" y="589552"/>
                </a:lnTo>
                <a:lnTo>
                  <a:pt x="0" y="589552"/>
                </a:lnTo>
                <a:lnTo>
                  <a:pt x="328868" y="0"/>
                </a:lnTo>
                <a:close/>
              </a:path>
            </a:pathLst>
          </a:cu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Cohort Study</a:t>
            </a:r>
            <a:endParaRPr lang="en-IN" sz="800" dirty="0"/>
          </a:p>
        </p:txBody>
      </p:sp>
      <p:sp>
        <p:nvSpPr>
          <p:cNvPr id="17" name="Freeform 16"/>
          <p:cNvSpPr/>
          <p:nvPr/>
        </p:nvSpPr>
        <p:spPr>
          <a:xfrm>
            <a:off x="7034113" y="5216933"/>
            <a:ext cx="4319687" cy="601532"/>
          </a:xfrm>
          <a:custGeom>
            <a:avLst/>
            <a:gdLst>
              <a:gd name="connsiteX0" fmla="*/ 335551 w 4319687"/>
              <a:gd name="connsiteY0" fmla="*/ 0 h 601532"/>
              <a:gd name="connsiteX1" fmla="*/ 3984136 w 4319687"/>
              <a:gd name="connsiteY1" fmla="*/ 0 h 601532"/>
              <a:gd name="connsiteX2" fmla="*/ 4319687 w 4319687"/>
              <a:gd name="connsiteY2" fmla="*/ 601532 h 601532"/>
              <a:gd name="connsiteX3" fmla="*/ 0 w 4319687"/>
              <a:gd name="connsiteY3" fmla="*/ 601532 h 601532"/>
              <a:gd name="connsiteX4" fmla="*/ 335551 w 4319687"/>
              <a:gd name="connsiteY4" fmla="*/ 0 h 601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9687" h="601532">
                <a:moveTo>
                  <a:pt x="335551" y="0"/>
                </a:moveTo>
                <a:lnTo>
                  <a:pt x="3984136" y="0"/>
                </a:lnTo>
                <a:lnTo>
                  <a:pt x="4319687" y="601532"/>
                </a:lnTo>
                <a:lnTo>
                  <a:pt x="0" y="601532"/>
                </a:lnTo>
                <a:lnTo>
                  <a:pt x="335551" y="0"/>
                </a:lnTo>
                <a:close/>
              </a:path>
            </a:pathLst>
          </a:cu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Case Control Study</a:t>
            </a:r>
            <a:endParaRPr lang="en-IN" sz="800" dirty="0"/>
          </a:p>
        </p:txBody>
      </p:sp>
      <p:sp>
        <p:nvSpPr>
          <p:cNvPr id="14" name="Freeform 13"/>
          <p:cNvSpPr/>
          <p:nvPr/>
        </p:nvSpPr>
        <p:spPr>
          <a:xfrm>
            <a:off x="6691388" y="5864185"/>
            <a:ext cx="5005137" cy="568673"/>
          </a:xfrm>
          <a:custGeom>
            <a:avLst/>
            <a:gdLst>
              <a:gd name="connsiteX0" fmla="*/ 317222 w 5005137"/>
              <a:gd name="connsiteY0" fmla="*/ 0 h 568673"/>
              <a:gd name="connsiteX1" fmla="*/ 4687916 w 5005137"/>
              <a:gd name="connsiteY1" fmla="*/ 0 h 568673"/>
              <a:gd name="connsiteX2" fmla="*/ 5005137 w 5005137"/>
              <a:gd name="connsiteY2" fmla="*/ 568673 h 568673"/>
              <a:gd name="connsiteX3" fmla="*/ 0 w 5005137"/>
              <a:gd name="connsiteY3" fmla="*/ 568673 h 568673"/>
              <a:gd name="connsiteX4" fmla="*/ 317222 w 5005137"/>
              <a:gd name="connsiteY4" fmla="*/ 0 h 56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5137" h="568673">
                <a:moveTo>
                  <a:pt x="317222" y="0"/>
                </a:moveTo>
                <a:lnTo>
                  <a:pt x="4687916" y="0"/>
                </a:lnTo>
                <a:lnTo>
                  <a:pt x="5005137" y="568673"/>
                </a:lnTo>
                <a:lnTo>
                  <a:pt x="0" y="568673"/>
                </a:lnTo>
                <a:lnTo>
                  <a:pt x="317222" y="0"/>
                </a:lnTo>
                <a:close/>
              </a:path>
            </a:pathLst>
          </a:cu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Case Report</a:t>
            </a:r>
            <a:endParaRPr lang="en-IN" sz="800" dirty="0"/>
          </a:p>
        </p:txBody>
      </p:sp>
      <p:sp>
        <p:nvSpPr>
          <p:cNvPr id="40" name="Oval 39"/>
          <p:cNvSpPr/>
          <p:nvPr/>
        </p:nvSpPr>
        <p:spPr>
          <a:xfrm>
            <a:off x="1296684" y="2634892"/>
            <a:ext cx="6710036" cy="2363828"/>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r>
              <a:rPr lang="en-US" dirty="0">
                <a:solidFill>
                  <a:schemeClr val="tx1"/>
                </a:solidFill>
              </a:rPr>
              <a:t>Overview</a:t>
            </a:r>
            <a:endParaRPr lang="en-IN" dirty="0">
              <a:solidFill>
                <a:schemeClr val="tx1"/>
              </a:solidFill>
            </a:endParaRPr>
          </a:p>
        </p:txBody>
      </p:sp>
      <p:sp>
        <p:nvSpPr>
          <p:cNvPr id="41" name="Oval 40"/>
          <p:cNvSpPr/>
          <p:nvPr/>
        </p:nvSpPr>
        <p:spPr>
          <a:xfrm>
            <a:off x="3506484" y="3070534"/>
            <a:ext cx="4500236" cy="1528114"/>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r>
              <a:rPr lang="en-US" dirty="0">
                <a:solidFill>
                  <a:schemeClr val="tx1"/>
                </a:solidFill>
              </a:rPr>
              <a:t>Systematic </a:t>
            </a:r>
          </a:p>
          <a:p>
            <a:r>
              <a:rPr lang="en-US" dirty="0">
                <a:solidFill>
                  <a:schemeClr val="tx1"/>
                </a:solidFill>
              </a:rPr>
              <a:t>Review</a:t>
            </a:r>
            <a:endParaRPr lang="en-IN" dirty="0">
              <a:solidFill>
                <a:schemeClr val="tx1"/>
              </a:solidFill>
            </a:endParaRPr>
          </a:p>
        </p:txBody>
      </p:sp>
      <p:sp>
        <p:nvSpPr>
          <p:cNvPr id="42" name="Oval 41"/>
          <p:cNvSpPr/>
          <p:nvPr/>
        </p:nvSpPr>
        <p:spPr>
          <a:xfrm>
            <a:off x="5659134" y="3389388"/>
            <a:ext cx="2347586" cy="854835"/>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solidFill>
                  <a:schemeClr val="tx1"/>
                </a:solidFill>
              </a:rPr>
              <a:t>Meta Analysis</a:t>
            </a:r>
            <a:endParaRPr lang="en-IN" dirty="0">
              <a:solidFill>
                <a:schemeClr val="tx1"/>
              </a:solidFill>
            </a:endParaRPr>
          </a:p>
        </p:txBody>
      </p:sp>
    </p:spTree>
    <p:extLst>
      <p:ext uri="{BB962C8B-B14F-4D97-AF65-F5344CB8AC3E}">
        <p14:creationId xmlns:p14="http://schemas.microsoft.com/office/powerpoint/2010/main" val="224079263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1359"/>
          </a:xfrm>
        </p:spPr>
        <p:txBody>
          <a:bodyPr>
            <a:normAutofit/>
          </a:bodyPr>
          <a:lstStyle/>
          <a:p>
            <a:pPr algn="ctr"/>
            <a:r>
              <a:rPr lang="en-US" sz="3200" b="1" dirty="0">
                <a:solidFill>
                  <a:srgbClr val="0000FF"/>
                </a:solidFill>
              </a:rPr>
              <a:t>Advantages of Meta - Analysis</a:t>
            </a:r>
            <a:endParaRPr lang="en-IN" sz="3200" b="1" dirty="0">
              <a:solidFill>
                <a:srgbClr val="0000FF"/>
              </a:solidFill>
            </a:endParaRPr>
          </a:p>
        </p:txBody>
      </p:sp>
      <p:sp>
        <p:nvSpPr>
          <p:cNvPr id="3" name="Content Placeholder 2"/>
          <p:cNvSpPr>
            <a:spLocks noGrp="1"/>
          </p:cNvSpPr>
          <p:nvPr>
            <p:ph idx="1"/>
          </p:nvPr>
        </p:nvSpPr>
        <p:spPr>
          <a:xfrm>
            <a:off x="838200" y="946484"/>
            <a:ext cx="10515600" cy="5230479"/>
          </a:xfrm>
        </p:spPr>
        <p:txBody>
          <a:bodyPr>
            <a:normAutofit/>
          </a:bodyPr>
          <a:lstStyle/>
          <a:p>
            <a:pPr>
              <a:lnSpc>
                <a:spcPct val="100000"/>
              </a:lnSpc>
            </a:pPr>
            <a:r>
              <a:rPr lang="en-US" sz="2400" dirty="0"/>
              <a:t>Results can be generalized to a larger population</a:t>
            </a:r>
          </a:p>
          <a:p>
            <a:pPr>
              <a:lnSpc>
                <a:spcPct val="100000"/>
              </a:lnSpc>
            </a:pPr>
            <a:r>
              <a:rPr lang="en-US" sz="2400" dirty="0"/>
              <a:t>Precision and accuracy of estimates can be improved as more data is used</a:t>
            </a:r>
          </a:p>
          <a:p>
            <a:pPr>
              <a:lnSpc>
                <a:spcPct val="100000"/>
              </a:lnSpc>
            </a:pPr>
            <a:r>
              <a:rPr lang="en-US" sz="2400" dirty="0"/>
              <a:t>Inconsistency of results across studies can be quantified and analyzed</a:t>
            </a:r>
          </a:p>
          <a:p>
            <a:pPr>
              <a:lnSpc>
                <a:spcPct val="100000"/>
              </a:lnSpc>
            </a:pPr>
            <a:r>
              <a:rPr lang="en-US" sz="2400" dirty="0"/>
              <a:t>Hypothesis testing can be applied on summary estimates</a:t>
            </a:r>
          </a:p>
          <a:p>
            <a:pPr>
              <a:lnSpc>
                <a:spcPct val="100000"/>
              </a:lnSpc>
            </a:pPr>
            <a:r>
              <a:rPr lang="en-US" sz="2400" dirty="0"/>
              <a:t>Moderators can be included to explain variation between studies</a:t>
            </a:r>
          </a:p>
          <a:p>
            <a:pPr>
              <a:lnSpc>
                <a:spcPct val="100000"/>
              </a:lnSpc>
            </a:pPr>
            <a:r>
              <a:rPr lang="en-US" sz="2400" dirty="0"/>
              <a:t>Presence of publication bias can be investigated</a:t>
            </a:r>
            <a:endParaRPr lang="en-IN" sz="2400" dirty="0"/>
          </a:p>
        </p:txBody>
      </p:sp>
    </p:spTree>
    <p:extLst>
      <p:ext uri="{BB962C8B-B14F-4D97-AF65-F5344CB8AC3E}">
        <p14:creationId xmlns:p14="http://schemas.microsoft.com/office/powerpoint/2010/main" val="172279485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a:solidFill>
                  <a:srgbClr val="0000FF"/>
                </a:solidFill>
              </a:rPr>
              <a:t>Research Journal Indexing and Quality Standards</a:t>
            </a:r>
            <a:br>
              <a:rPr lang="en-US" sz="3200" b="1" dirty="0">
                <a:solidFill>
                  <a:srgbClr val="0000FF"/>
                </a:solidFill>
              </a:rPr>
            </a:br>
            <a:r>
              <a:rPr lang="en-US" sz="3200" b="1" dirty="0">
                <a:solidFill>
                  <a:srgbClr val="FF0000"/>
                </a:solidFill>
              </a:rPr>
              <a:t>Factors Necessitating Development of Journal Citation Indexing</a:t>
            </a:r>
            <a:endParaRPr lang="en-IN" sz="3200" b="1" dirty="0">
              <a:solidFill>
                <a:srgbClr val="FF0000"/>
              </a:solidFill>
            </a:endParaRPr>
          </a:p>
        </p:txBody>
      </p:sp>
      <p:sp>
        <p:nvSpPr>
          <p:cNvPr id="3" name="Content Placeholder 2"/>
          <p:cNvSpPr>
            <a:spLocks noGrp="1"/>
          </p:cNvSpPr>
          <p:nvPr>
            <p:ph idx="1"/>
          </p:nvPr>
        </p:nvSpPr>
        <p:spPr/>
        <p:txBody>
          <a:bodyPr>
            <a:normAutofit fontScale="77500" lnSpcReduction="20000"/>
          </a:bodyPr>
          <a:lstStyle/>
          <a:p>
            <a:pPr marL="0" indent="0">
              <a:buNone/>
            </a:pPr>
            <a:r>
              <a:rPr lang="en-US" dirty="0"/>
              <a:t>There are three factors that led to development of citation indexing back in 1950's:</a:t>
            </a:r>
          </a:p>
          <a:p>
            <a:r>
              <a:rPr lang="en-US" dirty="0"/>
              <a:t>Followed by World War II, there were huge influx </a:t>
            </a:r>
          </a:p>
          <a:p>
            <a:pPr marL="0" indent="0">
              <a:buNone/>
            </a:pPr>
            <a:r>
              <a:rPr lang="en-US" dirty="0"/>
              <a:t>   of government funds for research. Publication of </a:t>
            </a:r>
          </a:p>
          <a:p>
            <a:pPr marL="0" indent="0">
              <a:buNone/>
            </a:pPr>
            <a:r>
              <a:rPr lang="en-US" dirty="0"/>
              <a:t>   research finding by researchers burgeoned the </a:t>
            </a:r>
          </a:p>
          <a:p>
            <a:pPr marL="0" indent="0">
              <a:buNone/>
            </a:pPr>
            <a:r>
              <a:rPr lang="en-US" dirty="0"/>
              <a:t>   body of knowledge. In order to retrieve from the</a:t>
            </a:r>
          </a:p>
          <a:p>
            <a:pPr marL="0" indent="0">
              <a:buNone/>
            </a:pPr>
            <a:r>
              <a:rPr lang="en-US" dirty="0"/>
              <a:t>   huge document database, it became necessary to </a:t>
            </a:r>
          </a:p>
          <a:p>
            <a:pPr marL="0" indent="0">
              <a:buNone/>
            </a:pPr>
            <a:r>
              <a:rPr lang="en-US" dirty="0"/>
              <a:t>   index it. Manual indexing practice is time consuming </a:t>
            </a:r>
          </a:p>
          <a:p>
            <a:pPr marL="0" indent="0">
              <a:buNone/>
            </a:pPr>
            <a:r>
              <a:rPr lang="en-US" dirty="0"/>
              <a:t>   and not a cost effective one.</a:t>
            </a:r>
          </a:p>
          <a:p>
            <a:r>
              <a:rPr lang="en-US" dirty="0"/>
              <a:t>The then method of subject indexing was not useful </a:t>
            </a:r>
          </a:p>
          <a:p>
            <a:pPr marL="0" indent="0">
              <a:buNone/>
            </a:pPr>
            <a:r>
              <a:rPr lang="en-US" dirty="0"/>
              <a:t>    because of discipline specific terminology etc.</a:t>
            </a:r>
          </a:p>
          <a:p>
            <a:r>
              <a:rPr lang="en-US" dirty="0"/>
              <a:t>Availability of machines for computation of data spurred citation indexing </a:t>
            </a:r>
          </a:p>
          <a:p>
            <a:r>
              <a:rPr lang="en-US" dirty="0"/>
              <a:t>Citation Indexing proposed and developed by Eugene Garfield</a:t>
            </a:r>
            <a:endParaRPr lang="en-IN" dirty="0"/>
          </a:p>
        </p:txBody>
      </p:sp>
      <p:pic>
        <p:nvPicPr>
          <p:cNvPr id="4" name="Picture 3"/>
          <p:cNvPicPr>
            <a:picLocks noChangeAspect="1"/>
          </p:cNvPicPr>
          <p:nvPr/>
        </p:nvPicPr>
        <p:blipFill>
          <a:blip r:embed="rId2"/>
          <a:stretch>
            <a:fillRect/>
          </a:stretch>
        </p:blipFill>
        <p:spPr>
          <a:xfrm>
            <a:off x="7515225" y="2133600"/>
            <a:ext cx="1762125" cy="3138031"/>
          </a:xfrm>
          <a:prstGeom prst="rect">
            <a:avLst/>
          </a:prstGeom>
        </p:spPr>
      </p:pic>
    </p:spTree>
    <p:extLst>
      <p:ext uri="{BB962C8B-B14F-4D97-AF65-F5344CB8AC3E}">
        <p14:creationId xmlns:p14="http://schemas.microsoft.com/office/powerpoint/2010/main" val="367578826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3575"/>
          </a:xfrm>
        </p:spPr>
        <p:txBody>
          <a:bodyPr>
            <a:normAutofit/>
          </a:bodyPr>
          <a:lstStyle/>
          <a:p>
            <a:pPr algn="ctr"/>
            <a:r>
              <a:rPr lang="en-US" sz="3200" b="1" dirty="0">
                <a:solidFill>
                  <a:srgbClr val="0000FF"/>
                </a:solidFill>
              </a:rPr>
              <a:t>Research Journal Indexing and Quality Standards</a:t>
            </a:r>
            <a:endParaRPr lang="en-IN" sz="3200" b="1" dirty="0">
              <a:solidFill>
                <a:srgbClr val="0000FF"/>
              </a:solidFill>
            </a:endParaRPr>
          </a:p>
        </p:txBody>
      </p:sp>
      <p:sp>
        <p:nvSpPr>
          <p:cNvPr id="3" name="Content Placeholder 2"/>
          <p:cNvSpPr>
            <a:spLocks noGrp="1"/>
          </p:cNvSpPr>
          <p:nvPr>
            <p:ph idx="1"/>
          </p:nvPr>
        </p:nvSpPr>
        <p:spPr>
          <a:xfrm>
            <a:off x="838200" y="1028700"/>
            <a:ext cx="10515600" cy="5148263"/>
          </a:xfrm>
        </p:spPr>
        <p:txBody>
          <a:bodyPr>
            <a:normAutofit fontScale="92500" lnSpcReduction="20000"/>
          </a:bodyPr>
          <a:lstStyle/>
          <a:p>
            <a:r>
              <a:rPr lang="en-US" dirty="0"/>
              <a:t>When a manuscript is ready for submission, from the </a:t>
            </a:r>
            <a:r>
              <a:rPr lang="en-US" dirty="0">
                <a:solidFill>
                  <a:srgbClr val="FF0000"/>
                </a:solidFill>
              </a:rPr>
              <a:t>researcher</a:t>
            </a:r>
            <a:r>
              <a:rPr lang="en-US" dirty="0"/>
              <a:t> </a:t>
            </a:r>
            <a:r>
              <a:rPr lang="en-US" dirty="0">
                <a:solidFill>
                  <a:srgbClr val="FF0000"/>
                </a:solidFill>
              </a:rPr>
              <a:t>perspective</a:t>
            </a:r>
            <a:r>
              <a:rPr lang="en-US" dirty="0"/>
              <a:t>, the criteria used for selecting the journal is the it's </a:t>
            </a:r>
            <a:r>
              <a:rPr lang="en-US" dirty="0">
                <a:solidFill>
                  <a:srgbClr val="FF0000"/>
                </a:solidFill>
              </a:rPr>
              <a:t>subject focus</a:t>
            </a:r>
            <a:r>
              <a:rPr lang="en-US" dirty="0"/>
              <a:t>, however, other factors such as </a:t>
            </a:r>
            <a:r>
              <a:rPr lang="en-US" dirty="0">
                <a:solidFill>
                  <a:srgbClr val="FF0000"/>
                </a:solidFill>
              </a:rPr>
              <a:t>good reputation </a:t>
            </a:r>
            <a:r>
              <a:rPr lang="en-US" dirty="0"/>
              <a:t>with </a:t>
            </a:r>
            <a:r>
              <a:rPr lang="en-US" dirty="0">
                <a:solidFill>
                  <a:srgbClr val="FF0000"/>
                </a:solidFill>
              </a:rPr>
              <a:t>indexing</a:t>
            </a:r>
            <a:r>
              <a:rPr lang="en-US" dirty="0"/>
              <a:t> in major databases also needs to be considered.</a:t>
            </a:r>
          </a:p>
          <a:p>
            <a:r>
              <a:rPr lang="en-US" dirty="0"/>
              <a:t>This subject focus + reputation + indexing ensures:</a:t>
            </a:r>
          </a:p>
          <a:p>
            <a:pPr marL="895350" indent="-361950">
              <a:buFont typeface="Wingdings" panose="05000000000000000000" pitchFamily="2" charset="2"/>
              <a:buChar char="Ø"/>
            </a:pPr>
            <a:r>
              <a:rPr lang="en-US" dirty="0"/>
              <a:t>Good potential for exposure of the work to research community </a:t>
            </a:r>
          </a:p>
          <a:p>
            <a:pPr marL="895350" indent="-361950">
              <a:buFont typeface="Wingdings" panose="05000000000000000000" pitchFamily="2" charset="2"/>
              <a:buChar char="Ø"/>
            </a:pPr>
            <a:r>
              <a:rPr lang="en-US" dirty="0"/>
              <a:t>Greater chance of being discovered and cited by other researchers </a:t>
            </a:r>
          </a:p>
          <a:p>
            <a:pPr marL="895350" indent="-361950">
              <a:buFont typeface="Wingdings" panose="05000000000000000000" pitchFamily="2" charset="2"/>
              <a:buChar char="Ø"/>
            </a:pPr>
            <a:r>
              <a:rPr lang="en-US" dirty="0"/>
              <a:t>Greater potential for garnering citations, thereby be able to track the opinion of other researchers and learn how the work contributed to the science and society.</a:t>
            </a:r>
          </a:p>
          <a:p>
            <a:r>
              <a:rPr lang="en-US" dirty="0"/>
              <a:t>The </a:t>
            </a:r>
            <a:r>
              <a:rPr lang="en-US" dirty="0">
                <a:solidFill>
                  <a:srgbClr val="FF0000"/>
                </a:solidFill>
              </a:rPr>
              <a:t>reputation</a:t>
            </a:r>
            <a:r>
              <a:rPr lang="en-US" dirty="0"/>
              <a:t> of the journal is judged by </a:t>
            </a:r>
            <a:r>
              <a:rPr lang="en-US" dirty="0">
                <a:solidFill>
                  <a:srgbClr val="FF0000"/>
                </a:solidFill>
              </a:rPr>
              <a:t>quality standards </a:t>
            </a:r>
            <a:r>
              <a:rPr lang="en-US" dirty="0"/>
              <a:t>as assessed by </a:t>
            </a:r>
            <a:r>
              <a:rPr lang="en-US" dirty="0">
                <a:solidFill>
                  <a:srgbClr val="FF0000"/>
                </a:solidFill>
              </a:rPr>
              <a:t>impact factor </a:t>
            </a:r>
            <a:r>
              <a:rPr lang="en-US" dirty="0"/>
              <a:t>and </a:t>
            </a:r>
            <a:r>
              <a:rPr lang="en-US" dirty="0">
                <a:solidFill>
                  <a:srgbClr val="FF0000"/>
                </a:solidFill>
              </a:rPr>
              <a:t>source normalized impact factor.</a:t>
            </a:r>
          </a:p>
          <a:p>
            <a:r>
              <a:rPr lang="en-US" dirty="0"/>
              <a:t>From the </a:t>
            </a:r>
            <a:r>
              <a:rPr lang="en-US" dirty="0">
                <a:solidFill>
                  <a:srgbClr val="FF0000"/>
                </a:solidFill>
              </a:rPr>
              <a:t>research journal's perspective</a:t>
            </a:r>
            <a:r>
              <a:rPr lang="en-US" dirty="0"/>
              <a:t>, the prestige of the journal is determined by the abstracting and indexing services covering it, which in turn is linked to the citations received by articles published in it</a:t>
            </a:r>
            <a:endParaRPr lang="en-IN" dirty="0"/>
          </a:p>
        </p:txBody>
      </p:sp>
    </p:spTree>
    <p:extLst>
      <p:ext uri="{BB962C8B-B14F-4D97-AF65-F5344CB8AC3E}">
        <p14:creationId xmlns:p14="http://schemas.microsoft.com/office/powerpoint/2010/main" val="262906521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1463"/>
          </a:xfrm>
        </p:spPr>
        <p:txBody>
          <a:bodyPr>
            <a:normAutofit/>
          </a:bodyPr>
          <a:lstStyle/>
          <a:p>
            <a:pPr algn="ctr"/>
            <a:r>
              <a:rPr lang="en-IN" sz="3200" b="1" dirty="0">
                <a:solidFill>
                  <a:srgbClr val="0000FF"/>
                </a:solidFill>
              </a:rPr>
              <a:t>Citation Indices</a:t>
            </a:r>
          </a:p>
        </p:txBody>
      </p:sp>
      <p:sp>
        <p:nvSpPr>
          <p:cNvPr id="3" name="Content Placeholder 2"/>
          <p:cNvSpPr>
            <a:spLocks noGrp="1"/>
          </p:cNvSpPr>
          <p:nvPr>
            <p:ph idx="1"/>
          </p:nvPr>
        </p:nvSpPr>
        <p:spPr>
          <a:xfrm>
            <a:off x="838200" y="986589"/>
            <a:ext cx="10515600" cy="5190374"/>
          </a:xfrm>
        </p:spPr>
        <p:txBody>
          <a:bodyPr>
            <a:normAutofit fontScale="85000" lnSpcReduction="20000"/>
          </a:bodyPr>
          <a:lstStyle/>
          <a:p>
            <a:r>
              <a:rPr lang="en-IN" dirty="0"/>
              <a:t>The first modern citation index was suggested by information scientist </a:t>
            </a:r>
            <a:r>
              <a:rPr lang="en-IN" dirty="0">
                <a:solidFill>
                  <a:srgbClr val="FF0000"/>
                </a:solidFill>
              </a:rPr>
              <a:t>Eugene Garfield </a:t>
            </a:r>
            <a:r>
              <a:rPr lang="en-IN" dirty="0"/>
              <a:t>in </a:t>
            </a:r>
            <a:r>
              <a:rPr lang="en-IN" dirty="0">
                <a:solidFill>
                  <a:srgbClr val="FF0000"/>
                </a:solidFill>
              </a:rPr>
              <a:t>1955</a:t>
            </a:r>
            <a:r>
              <a:rPr lang="en-IN" dirty="0"/>
              <a:t> and created by him in 1964, and it represents an important innovation to knowledge organization and information retrieval.</a:t>
            </a:r>
          </a:p>
          <a:p>
            <a:r>
              <a:rPr lang="en-IN" dirty="0"/>
              <a:t>Current important citation indices are:</a:t>
            </a:r>
          </a:p>
          <a:p>
            <a:pPr marL="890588" indent="-361950">
              <a:buFont typeface="Wingdings" panose="05000000000000000000" pitchFamily="2" charset="2"/>
              <a:buChar char="Ø"/>
            </a:pPr>
            <a:r>
              <a:rPr lang="en-IN" dirty="0" err="1"/>
              <a:t>Clarivate</a:t>
            </a:r>
            <a:r>
              <a:rPr lang="en-IN" dirty="0"/>
              <a:t> Analytics citation indices </a:t>
            </a:r>
            <a:r>
              <a:rPr lang="en-IN" dirty="0">
                <a:solidFill>
                  <a:srgbClr val="FF0000"/>
                </a:solidFill>
              </a:rPr>
              <a:t>(</a:t>
            </a:r>
            <a:r>
              <a:rPr lang="en-IN" dirty="0" err="1">
                <a:solidFill>
                  <a:srgbClr val="FF0000"/>
                </a:solidFill>
              </a:rPr>
              <a:t>WoS</a:t>
            </a:r>
            <a:r>
              <a:rPr lang="en-IN" dirty="0">
                <a:solidFill>
                  <a:srgbClr val="FF0000"/>
                </a:solidFill>
              </a:rPr>
              <a:t>) </a:t>
            </a:r>
            <a:r>
              <a:rPr lang="en-IN" dirty="0"/>
              <a:t>- Science Citation Index (SCI); Science Citation Index Expanded </a:t>
            </a:r>
            <a:r>
              <a:rPr lang="en-IN" dirty="0">
                <a:solidFill>
                  <a:srgbClr val="FF0000"/>
                </a:solidFill>
              </a:rPr>
              <a:t>(SCIE); </a:t>
            </a:r>
            <a:r>
              <a:rPr lang="en-IN" dirty="0"/>
              <a:t>Social Sciences Citation Index (SSCI); Arts &amp; Humanities Citation Index (A&amp;HCI); Conference Proceedings Citation Index (CPCI); Book Citation Index (BKCI); Data Citation Index Emerging Source Citation Index </a:t>
            </a:r>
            <a:r>
              <a:rPr lang="en-IN" dirty="0">
                <a:solidFill>
                  <a:srgbClr val="FF0000"/>
                </a:solidFill>
              </a:rPr>
              <a:t>(ESCI)</a:t>
            </a:r>
          </a:p>
          <a:p>
            <a:pPr marL="890588" indent="-361950">
              <a:buFont typeface="Wingdings" panose="05000000000000000000" pitchFamily="2" charset="2"/>
              <a:buChar char="Ø"/>
            </a:pPr>
            <a:r>
              <a:rPr lang="en-IN" dirty="0" err="1"/>
              <a:t>CiteSeerx</a:t>
            </a:r>
            <a:r>
              <a:rPr lang="en-IN" dirty="0"/>
              <a:t>-since 1997, mainly computer and info. science </a:t>
            </a:r>
          </a:p>
          <a:p>
            <a:pPr marL="890588" indent="-361950">
              <a:buFont typeface="Wingdings" panose="05000000000000000000" pitchFamily="2" charset="2"/>
              <a:buChar char="Ø"/>
            </a:pPr>
            <a:r>
              <a:rPr lang="en-IN" dirty="0" err="1"/>
              <a:t>Crossref</a:t>
            </a:r>
            <a:r>
              <a:rPr lang="en-IN" dirty="0"/>
              <a:t>-since 2000 by Publishers Association using the DOI </a:t>
            </a:r>
          </a:p>
          <a:p>
            <a:pPr marL="890588" indent="-361950">
              <a:buFont typeface="Wingdings" panose="05000000000000000000" pitchFamily="2" charset="2"/>
              <a:buChar char="Ø"/>
            </a:pPr>
            <a:r>
              <a:rPr lang="en-IN" dirty="0"/>
              <a:t>Scopus Citation Index </a:t>
            </a:r>
            <a:r>
              <a:rPr lang="en-IN" dirty="0">
                <a:solidFill>
                  <a:srgbClr val="FF0000"/>
                </a:solidFill>
              </a:rPr>
              <a:t>(Scopus) </a:t>
            </a:r>
            <a:r>
              <a:rPr lang="en-IN" dirty="0"/>
              <a:t>- since 2004 by Elsevier, largest database</a:t>
            </a:r>
          </a:p>
          <a:p>
            <a:pPr marL="890588" indent="-361950">
              <a:buFont typeface="Wingdings" panose="05000000000000000000" pitchFamily="2" charset="2"/>
              <a:buChar char="Ø"/>
            </a:pPr>
            <a:r>
              <a:rPr lang="en-US" dirty="0"/>
              <a:t>Google Scholar (GS)-since 2004 by Google Inc., but poor metrics </a:t>
            </a:r>
          </a:p>
          <a:p>
            <a:pPr marL="890588" indent="-361950">
              <a:buFont typeface="Wingdings" panose="05000000000000000000" pitchFamily="2" charset="2"/>
              <a:buChar char="Ø"/>
            </a:pPr>
            <a:r>
              <a:rPr lang="en-US" dirty="0"/>
              <a:t>Microsoft Academic (MA)- since 2016, poor </a:t>
            </a:r>
            <a:r>
              <a:rPr lang="en-US" dirty="0" err="1"/>
              <a:t>bibliometrics</a:t>
            </a:r>
            <a:r>
              <a:rPr lang="en-US" dirty="0"/>
              <a:t> tool </a:t>
            </a:r>
          </a:p>
          <a:p>
            <a:pPr marL="890588" indent="-361950">
              <a:buFont typeface="Wingdings" panose="05000000000000000000" pitchFamily="2" charset="2"/>
              <a:buChar char="Ø"/>
            </a:pPr>
            <a:r>
              <a:rPr lang="en-US" dirty="0"/>
              <a:t>Dimensions-since 2018 by Digital Science</a:t>
            </a:r>
            <a:endParaRPr lang="en-IN" dirty="0"/>
          </a:p>
        </p:txBody>
      </p:sp>
    </p:spTree>
    <p:extLst>
      <p:ext uri="{BB962C8B-B14F-4D97-AF65-F5344CB8AC3E}">
        <p14:creationId xmlns:p14="http://schemas.microsoft.com/office/powerpoint/2010/main" val="161902055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89907"/>
          </a:xfrm>
        </p:spPr>
        <p:txBody>
          <a:bodyPr>
            <a:normAutofit fontScale="90000"/>
          </a:bodyPr>
          <a:lstStyle/>
          <a:p>
            <a:pPr algn="ctr"/>
            <a:r>
              <a:rPr lang="en-IN" sz="3200" b="1" dirty="0">
                <a:solidFill>
                  <a:srgbClr val="0000FF"/>
                </a:solidFill>
              </a:rPr>
              <a:t>Important Citation Indices </a:t>
            </a:r>
            <a:br>
              <a:rPr lang="en-IN" sz="3200" b="1" dirty="0">
                <a:solidFill>
                  <a:srgbClr val="0000FF"/>
                </a:solidFill>
              </a:rPr>
            </a:br>
            <a:r>
              <a:rPr lang="en-IN" sz="3200" b="1" dirty="0">
                <a:solidFill>
                  <a:srgbClr val="FF0000"/>
                </a:solidFill>
              </a:rPr>
              <a:t>Web of Knowledge/Science based by </a:t>
            </a:r>
            <a:r>
              <a:rPr lang="en-IN" sz="3200" b="1" dirty="0" err="1">
                <a:solidFill>
                  <a:srgbClr val="FF0000"/>
                </a:solidFill>
              </a:rPr>
              <a:t>Clarivate</a:t>
            </a:r>
            <a:r>
              <a:rPr lang="en-IN" sz="3200" b="1" dirty="0">
                <a:solidFill>
                  <a:srgbClr val="FF0000"/>
                </a:solidFill>
              </a:rPr>
              <a:t> Analytics</a:t>
            </a:r>
          </a:p>
        </p:txBody>
      </p:sp>
      <p:sp>
        <p:nvSpPr>
          <p:cNvPr id="3" name="Content Placeholder 2"/>
          <p:cNvSpPr>
            <a:spLocks noGrp="1"/>
          </p:cNvSpPr>
          <p:nvPr>
            <p:ph idx="1"/>
          </p:nvPr>
        </p:nvSpPr>
        <p:spPr>
          <a:xfrm>
            <a:off x="838200" y="1371600"/>
            <a:ext cx="10515600" cy="4805363"/>
          </a:xfrm>
        </p:spPr>
        <p:txBody>
          <a:bodyPr>
            <a:normAutofit fontScale="85000" lnSpcReduction="10000"/>
          </a:bodyPr>
          <a:lstStyle/>
          <a:p>
            <a:r>
              <a:rPr lang="en-IN" dirty="0"/>
              <a:t>Science Citation Index (SCI) and Science Citation Index Expanded (SCIE)-(established 1964, database 1899 to present)</a:t>
            </a:r>
          </a:p>
          <a:p>
            <a:pPr marL="890588" indent="-361950">
              <a:buFont typeface="Wingdings" panose="05000000000000000000" pitchFamily="2" charset="2"/>
              <a:buChar char="Ø"/>
            </a:pPr>
            <a:r>
              <a:rPr lang="en-IN" dirty="0"/>
              <a:t>A multidisciplinary database, with searchable author abstracts, covering the journal literature of the sciences. </a:t>
            </a:r>
          </a:p>
          <a:p>
            <a:pPr marL="890588" indent="-361950">
              <a:buFont typeface="Wingdings" panose="05000000000000000000" pitchFamily="2" charset="2"/>
              <a:buChar char="Ø"/>
            </a:pPr>
            <a:r>
              <a:rPr lang="en-IN" dirty="0"/>
              <a:t>It indexes more than 6,650 major journals across 150 scientific disciplines. </a:t>
            </a:r>
          </a:p>
          <a:p>
            <a:r>
              <a:rPr lang="en-US" dirty="0"/>
              <a:t>S</a:t>
            </a:r>
            <a:r>
              <a:rPr lang="en-IN" dirty="0" err="1"/>
              <a:t>ocial</a:t>
            </a:r>
            <a:r>
              <a:rPr lang="en-IN" dirty="0"/>
              <a:t> Science Citation Index (SSCI) - (established 1973, database 1898 to present)</a:t>
            </a:r>
          </a:p>
          <a:p>
            <a:pPr marL="890588" indent="-361950">
              <a:buFont typeface="Wingdings" panose="05000000000000000000" pitchFamily="2" charset="2"/>
              <a:buChar char="Ø"/>
            </a:pPr>
            <a:r>
              <a:rPr lang="en-IN" dirty="0"/>
              <a:t>Covering journal literature of the social sciences It indexes more than 1,950 journals spanning 50 disciplines </a:t>
            </a:r>
          </a:p>
          <a:p>
            <a:r>
              <a:rPr lang="en-IN" dirty="0"/>
              <a:t>Arts &amp; Humanities Citation Index (A&amp;HCI) -(established 1978, database 1975 to present)</a:t>
            </a:r>
          </a:p>
          <a:p>
            <a:pPr marL="890588" indent="-361950">
              <a:buFont typeface="Wingdings" panose="05000000000000000000" pitchFamily="2" charset="2"/>
              <a:buChar char="Ø"/>
            </a:pPr>
            <a:r>
              <a:rPr lang="en-IN" dirty="0"/>
              <a:t>Covering the journal literature of the arts and humanities </a:t>
            </a:r>
          </a:p>
          <a:p>
            <a:pPr marL="890588" indent="-361950">
              <a:buFont typeface="Wingdings" panose="05000000000000000000" pitchFamily="2" charset="2"/>
              <a:buChar char="Ø"/>
            </a:pPr>
            <a:r>
              <a:rPr lang="en-IN" dirty="0"/>
              <a:t>It indexes more than 1,395 of the world's leading arts and humanities journals.</a:t>
            </a:r>
          </a:p>
        </p:txBody>
      </p:sp>
    </p:spTree>
    <p:extLst>
      <p:ext uri="{BB962C8B-B14F-4D97-AF65-F5344CB8AC3E}">
        <p14:creationId xmlns:p14="http://schemas.microsoft.com/office/powerpoint/2010/main" val="13754136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1780"/>
          </a:xfrm>
        </p:spPr>
        <p:txBody>
          <a:bodyPr>
            <a:normAutofit/>
          </a:bodyPr>
          <a:lstStyle/>
          <a:p>
            <a:pPr algn="ctr"/>
            <a:r>
              <a:rPr lang="en-US" sz="3200" b="1" dirty="0">
                <a:solidFill>
                  <a:srgbClr val="0000FF"/>
                </a:solidFill>
              </a:rPr>
              <a:t>Important Citation Indices</a:t>
            </a:r>
            <a:endParaRPr lang="en-IN" sz="3200" b="1" dirty="0">
              <a:solidFill>
                <a:srgbClr val="0000FF"/>
              </a:solidFill>
            </a:endParaRPr>
          </a:p>
        </p:txBody>
      </p:sp>
      <p:sp>
        <p:nvSpPr>
          <p:cNvPr id="3" name="Content Placeholder 2"/>
          <p:cNvSpPr>
            <a:spLocks noGrp="1"/>
          </p:cNvSpPr>
          <p:nvPr>
            <p:ph idx="1"/>
          </p:nvPr>
        </p:nvSpPr>
        <p:spPr>
          <a:xfrm>
            <a:off x="838200" y="1106906"/>
            <a:ext cx="10515600" cy="5070057"/>
          </a:xfrm>
        </p:spPr>
        <p:txBody>
          <a:bodyPr>
            <a:normAutofit fontScale="77500" lnSpcReduction="20000"/>
          </a:bodyPr>
          <a:lstStyle/>
          <a:p>
            <a:r>
              <a:rPr lang="en-US" dirty="0"/>
              <a:t>Conference Proceedings Citation Index-Science (CPCI-S) - (established in 2008, database from 1991 to present)</a:t>
            </a:r>
          </a:p>
          <a:p>
            <a:pPr marL="628650" indent="-266700">
              <a:buFont typeface="Wingdings" panose="05000000000000000000" pitchFamily="2" charset="2"/>
              <a:buChar char="Ø"/>
            </a:pPr>
            <a:r>
              <a:rPr lang="en-US" dirty="0"/>
              <a:t>Lets you use cited reference searching to see the full impact of conferences and other professional meeting </a:t>
            </a:r>
          </a:p>
          <a:p>
            <a:pPr marL="628650" indent="-266700">
              <a:buFont typeface="Wingdings" panose="05000000000000000000" pitchFamily="2" charset="2"/>
              <a:buChar char="Ø"/>
            </a:pPr>
            <a:r>
              <a:rPr lang="en-US" dirty="0"/>
              <a:t>With a global coverage of over 110,000 conference proceedings</a:t>
            </a:r>
          </a:p>
          <a:p>
            <a:r>
              <a:rPr lang="en-US" dirty="0"/>
              <a:t>Conference proceedings Citation Index-Arts &amp; Humanities (CPCI-A&amp;H)-(established in 2008, database 1991 to present)</a:t>
            </a:r>
          </a:p>
          <a:p>
            <a:pPr marL="628650" indent="-266700">
              <a:buFont typeface="Wingdings" panose="05000000000000000000" pitchFamily="2" charset="2"/>
              <a:buChar char="Ø"/>
            </a:pPr>
            <a:r>
              <a:rPr lang="en-US" dirty="0"/>
              <a:t>This citation index covers conference literature in all fields of social sciences, arts and humanities.</a:t>
            </a:r>
          </a:p>
          <a:p>
            <a:pPr marL="0" indent="0">
              <a:buNone/>
            </a:pPr>
            <a:r>
              <a:rPr lang="en-US" dirty="0"/>
              <a:t>Scopus Database based by Elsevier</a:t>
            </a:r>
          </a:p>
          <a:p>
            <a:r>
              <a:rPr lang="en-US" dirty="0"/>
              <a:t>Scopus (established in 2004, database mainly 1996 to present)</a:t>
            </a:r>
          </a:p>
          <a:p>
            <a:pPr marL="628650" indent="-266700">
              <a:buFont typeface="Wingdings" panose="05000000000000000000" pitchFamily="2" charset="2"/>
              <a:buChar char="Ø"/>
            </a:pPr>
            <a:r>
              <a:rPr lang="en-US" dirty="0"/>
              <a:t>Largest abstract and citation database of peer-reviewed literature: scientific journals, books and conference proceedings </a:t>
            </a:r>
          </a:p>
          <a:p>
            <a:pPr marL="628650" indent="-266700">
              <a:buFont typeface="Wingdings" panose="05000000000000000000" pitchFamily="2" charset="2"/>
              <a:buChar char="Ø"/>
            </a:pPr>
            <a:r>
              <a:rPr lang="en-US" dirty="0"/>
              <a:t>Created by extracting records from child databases and enhanced with their cited references</a:t>
            </a:r>
          </a:p>
          <a:p>
            <a:pPr marL="628650" indent="-266700">
              <a:buFont typeface="Wingdings" panose="05000000000000000000" pitchFamily="2" charset="2"/>
              <a:buChar char="Ø"/>
            </a:pPr>
            <a:r>
              <a:rPr lang="en-US" dirty="0"/>
              <a:t>Bibliometric data poor maintained for prior 1996 records</a:t>
            </a:r>
            <a:endParaRPr lang="en-IN" dirty="0"/>
          </a:p>
        </p:txBody>
      </p:sp>
    </p:spTree>
    <p:extLst>
      <p:ext uri="{BB962C8B-B14F-4D97-AF65-F5344CB8AC3E}">
        <p14:creationId xmlns:p14="http://schemas.microsoft.com/office/powerpoint/2010/main" val="279137451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96925"/>
          </a:xfrm>
        </p:spPr>
        <p:txBody>
          <a:bodyPr>
            <a:normAutofit/>
          </a:bodyPr>
          <a:lstStyle/>
          <a:p>
            <a:pPr algn="ctr"/>
            <a:r>
              <a:rPr lang="en-US" sz="3200" b="1" dirty="0">
                <a:solidFill>
                  <a:srgbClr val="0000FF"/>
                </a:solidFill>
              </a:rPr>
              <a:t>Principles Underlying Journal Impact Factor</a:t>
            </a:r>
            <a:endParaRPr lang="en-IN" sz="3200" b="1" dirty="0">
              <a:solidFill>
                <a:srgbClr val="0000FF"/>
              </a:solidFill>
            </a:endParaRPr>
          </a:p>
        </p:txBody>
      </p:sp>
      <p:sp>
        <p:nvSpPr>
          <p:cNvPr id="3" name="Content Placeholder 2"/>
          <p:cNvSpPr>
            <a:spLocks noGrp="1"/>
          </p:cNvSpPr>
          <p:nvPr>
            <p:ph idx="1"/>
          </p:nvPr>
        </p:nvSpPr>
        <p:spPr>
          <a:xfrm>
            <a:off x="838200" y="1162050"/>
            <a:ext cx="10515600" cy="5014913"/>
          </a:xfrm>
        </p:spPr>
        <p:txBody>
          <a:bodyPr/>
          <a:lstStyle/>
          <a:p>
            <a:r>
              <a:rPr lang="en-US" dirty="0"/>
              <a:t>Journal Impact Factor (JIF): </a:t>
            </a:r>
            <a:r>
              <a:rPr lang="en-US" dirty="0" err="1"/>
              <a:t>Clarivate</a:t>
            </a:r>
            <a:r>
              <a:rPr lang="en-US" dirty="0"/>
              <a:t> Analytics (which used to be a part of Thomson Reuters till 2016) publishes JIF in a periodic journal called Journal Citation Reports (JCR) to be used as a quality measure.</a:t>
            </a:r>
          </a:p>
          <a:p>
            <a:r>
              <a:rPr lang="en-US" dirty="0"/>
              <a:t>JIF is a part of Web of Science (</a:t>
            </a:r>
            <a:r>
              <a:rPr lang="en-US" dirty="0" err="1"/>
              <a:t>WoS</a:t>
            </a:r>
            <a:r>
              <a:rPr lang="en-US" dirty="0"/>
              <a:t>) database. </a:t>
            </a:r>
            <a:r>
              <a:rPr lang="en-US" dirty="0" err="1"/>
              <a:t>Clarivate</a:t>
            </a:r>
            <a:r>
              <a:rPr lang="en-US" dirty="0"/>
              <a:t> owns and operates a collection of subscription-based services focused largely on analytics which includes Web of Science (</a:t>
            </a:r>
            <a:r>
              <a:rPr lang="en-US" dirty="0" err="1"/>
              <a:t>WoS</a:t>
            </a:r>
            <a:r>
              <a:rPr lang="en-US" dirty="0"/>
              <a:t>).</a:t>
            </a:r>
          </a:p>
          <a:p>
            <a:r>
              <a:rPr lang="en-US" dirty="0"/>
              <a:t>JIF is calculated by as the average of the sum of the citations received in a given year to a journal's previous two years of publications (linked to the journal, but not necessarily to specific publications) divided by the sum of "citable" publications in the previous two years.</a:t>
            </a:r>
            <a:endParaRPr lang="en-IN" dirty="0"/>
          </a:p>
        </p:txBody>
      </p:sp>
    </p:spTree>
    <p:extLst>
      <p:ext uri="{BB962C8B-B14F-4D97-AF65-F5344CB8AC3E}">
        <p14:creationId xmlns:p14="http://schemas.microsoft.com/office/powerpoint/2010/main" val="213329720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4525"/>
          </a:xfrm>
        </p:spPr>
        <p:txBody>
          <a:bodyPr>
            <a:normAutofit/>
          </a:bodyPr>
          <a:lstStyle/>
          <a:p>
            <a:pPr algn="ctr"/>
            <a:r>
              <a:rPr lang="en-US" sz="3200" b="1" dirty="0">
                <a:solidFill>
                  <a:srgbClr val="0000FF"/>
                </a:solidFill>
              </a:rPr>
              <a:t>Computation of Journal Impact Factor</a:t>
            </a:r>
            <a:endParaRPr lang="en-IN" sz="3200" b="1" dirty="0">
              <a:solidFill>
                <a:srgbClr val="0000FF"/>
              </a:solidFill>
            </a:endParaRPr>
          </a:p>
        </p:txBody>
      </p:sp>
      <p:sp>
        <p:nvSpPr>
          <p:cNvPr id="3" name="Content Placeholder 2"/>
          <p:cNvSpPr>
            <a:spLocks noGrp="1"/>
          </p:cNvSpPr>
          <p:nvPr>
            <p:ph idx="1"/>
          </p:nvPr>
        </p:nvSpPr>
        <p:spPr>
          <a:xfrm>
            <a:off x="838200" y="1009650"/>
            <a:ext cx="10515600" cy="5167313"/>
          </a:xfrm>
        </p:spPr>
        <p:txBody>
          <a:bodyPr>
            <a:normAutofit fontScale="77500" lnSpcReduction="20000"/>
          </a:bodyPr>
          <a:lstStyle/>
          <a:p>
            <a:pPr algn="just">
              <a:lnSpc>
                <a:spcPct val="120000"/>
              </a:lnSpc>
            </a:pPr>
            <a:r>
              <a:rPr lang="en-US" dirty="0"/>
              <a:t>Consider a journal, SRMIST journal that has been published in 2018, 2019 and 2020.</a:t>
            </a:r>
          </a:p>
          <a:p>
            <a:pPr algn="just">
              <a:lnSpc>
                <a:spcPct val="120000"/>
              </a:lnSpc>
            </a:pPr>
            <a:r>
              <a:rPr lang="en-US" dirty="0"/>
              <a:t>Total number of articles published in 2018 = 130</a:t>
            </a:r>
          </a:p>
          <a:p>
            <a:pPr algn="just">
              <a:lnSpc>
                <a:spcPct val="120000"/>
              </a:lnSpc>
            </a:pPr>
            <a:r>
              <a:rPr lang="en-US" dirty="0"/>
              <a:t>Total number of articles published in 2019 = 170</a:t>
            </a:r>
          </a:p>
          <a:p>
            <a:pPr algn="just">
              <a:lnSpc>
                <a:spcPct val="120000"/>
              </a:lnSpc>
            </a:pPr>
            <a:r>
              <a:rPr lang="en-US" dirty="0"/>
              <a:t>SRM’s total number of articles published in 2018 and 2019, say A = 300</a:t>
            </a:r>
          </a:p>
          <a:p>
            <a:pPr algn="just">
              <a:lnSpc>
                <a:spcPct val="120000"/>
              </a:lnSpc>
            </a:pPr>
            <a:r>
              <a:rPr lang="en-US" dirty="0"/>
              <a:t>So, SRMIST journal had a total of 300 publications in 2018 and 2019 which had a potential to be cited as a reference by articles that appeared subsequent years, say in 2020 in various journals.</a:t>
            </a:r>
          </a:p>
          <a:p>
            <a:pPr algn="just">
              <a:lnSpc>
                <a:spcPct val="120000"/>
              </a:lnSpc>
            </a:pPr>
            <a:r>
              <a:rPr lang="en-US" dirty="0"/>
              <a:t>Please note that there is a possibility that some of the 300 publications are poor quality that would not attract any citations in 2020. Also, some of the articles might be extraordinary enough to attract very high citations in the future years. Hence, different articles will attract different number of citations. All these citations put together regardless of which article attracted how many citations go onto define the magnitude of B.</a:t>
            </a:r>
            <a:endParaRPr lang="en-IN" dirty="0"/>
          </a:p>
        </p:txBody>
      </p:sp>
    </p:spTree>
    <p:extLst>
      <p:ext uri="{BB962C8B-B14F-4D97-AF65-F5344CB8AC3E}">
        <p14:creationId xmlns:p14="http://schemas.microsoft.com/office/powerpoint/2010/main" val="428985378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1675"/>
          </a:xfrm>
        </p:spPr>
        <p:txBody>
          <a:bodyPr>
            <a:normAutofit/>
          </a:bodyPr>
          <a:lstStyle/>
          <a:p>
            <a:pPr algn="ctr"/>
            <a:r>
              <a:rPr lang="en-US" sz="3200" b="1" dirty="0">
                <a:solidFill>
                  <a:srgbClr val="0000FF"/>
                </a:solidFill>
              </a:rPr>
              <a:t>Computation of Journal Impact Factor</a:t>
            </a:r>
            <a:endParaRPr lang="en-IN" sz="32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066800"/>
                <a:ext cx="10515600" cy="5110163"/>
              </a:xfrm>
            </p:spPr>
            <p:txBody>
              <a:bodyPr>
                <a:noAutofit/>
              </a:bodyPr>
              <a:lstStyle/>
              <a:p>
                <a:pPr>
                  <a:lnSpc>
                    <a:spcPct val="100000"/>
                  </a:lnSpc>
                </a:pPr>
                <a:r>
                  <a:rPr lang="en-US" sz="2000" dirty="0"/>
                  <a:t>Let the total number of citations garnered from various journal (SRMIST as well as other journals) in 2020 by the 300 articles that appeared in SRMIST Journal in 2018 and 2019, say B = 600 </a:t>
                </a:r>
              </a:p>
              <a:p>
                <a:pPr>
                  <a:lnSpc>
                    <a:spcPct val="100000"/>
                  </a:lnSpc>
                </a:pPr>
                <a:r>
                  <a:rPr lang="en-US" sz="2000" dirty="0"/>
                  <a:t>Please note the citations in 2020 is not restricted to SRMIST journal and maybe from other journals as well.</a:t>
                </a:r>
              </a:p>
              <a:p>
                <a:pPr>
                  <a:lnSpc>
                    <a:spcPct val="100000"/>
                  </a:lnSpc>
                </a:pPr>
                <a:r>
                  <a:rPr lang="en-US" sz="2000" dirty="0"/>
                  <a:t>Then JIF for SRMIST journal in 2020 is B/A = 600/300 = 2</a:t>
                </a:r>
              </a:p>
              <a:p>
                <a:pPr>
                  <a:lnSpc>
                    <a:spcPct val="100000"/>
                  </a:lnSpc>
                </a:pPr>
                <a:endParaRPr lang="en-US" sz="2000" dirty="0"/>
              </a:p>
              <a:p>
                <a:pPr marL="0" indent="0">
                  <a:lnSpc>
                    <a:spcPct val="100000"/>
                  </a:lnSpc>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𝐼𝐹</m:t>
                      </m:r>
                      <m:r>
                        <a:rPr lang="en-US" sz="2000" b="0" i="1" smtClean="0">
                          <a:latin typeface="Cambria Math" panose="02040503050406030204" pitchFamily="18" charset="0"/>
                        </a:rPr>
                        <m:t> </m:t>
                      </m:r>
                      <m:r>
                        <a:rPr lang="en-US" sz="2000" b="0" i="1" smtClean="0">
                          <a:latin typeface="Cambria Math" panose="02040503050406030204" pitchFamily="18" charset="0"/>
                        </a:rPr>
                        <m:t>𝑜𝑓</m:t>
                      </m:r>
                      <m:r>
                        <a:rPr lang="en-US" sz="2000" b="0" i="1" smtClean="0">
                          <a:latin typeface="Cambria Math" panose="02040503050406030204" pitchFamily="18" charset="0"/>
                        </a:rPr>
                        <m:t> </m:t>
                      </m:r>
                      <m:r>
                        <a:rPr lang="en-US" sz="2000" b="0" i="1" smtClean="0">
                          <a:latin typeface="Cambria Math" panose="02040503050406030204" pitchFamily="18" charset="0"/>
                        </a:rPr>
                        <m:t>𝑌𝑒𝑎𝑟</m:t>
                      </m:r>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 </m:t>
                          </m:r>
                          <m:r>
                            <a:rPr lang="en-US" sz="2000" b="0" i="1" smtClean="0">
                              <a:latin typeface="Cambria Math" panose="02040503050406030204" pitchFamily="18" charset="0"/>
                            </a:rPr>
                            <m:t>𝑜𝑓</m:t>
                          </m:r>
                          <m:r>
                            <a:rPr lang="en-US" sz="2000" b="0" i="1" smtClean="0">
                              <a:latin typeface="Cambria Math" panose="02040503050406030204" pitchFamily="18" charset="0"/>
                            </a:rPr>
                            <m:t> </m:t>
                          </m:r>
                          <m:r>
                            <a:rPr lang="en-US" sz="2000" b="0" i="1" smtClean="0">
                              <a:latin typeface="Cambria Math" panose="02040503050406030204" pitchFamily="18" charset="0"/>
                            </a:rPr>
                            <m:t>𝑐𝑖𝑡𝑎𝑡𝑖𝑜𝑛𝑠</m:t>
                          </m:r>
                          <m:r>
                            <a:rPr lang="en-US" sz="2000" b="0" i="1" smtClean="0">
                              <a:latin typeface="Cambria Math" panose="02040503050406030204" pitchFamily="18" charset="0"/>
                            </a:rPr>
                            <m:t> </m:t>
                          </m:r>
                          <m:r>
                            <a:rPr lang="en-US" sz="2000" b="0" i="1" smtClean="0">
                              <a:latin typeface="Cambria Math" panose="02040503050406030204" pitchFamily="18" charset="0"/>
                            </a:rPr>
                            <m:t>𝑡𝑜</m:t>
                          </m:r>
                          <m:r>
                            <a:rPr lang="en-US" sz="2000" b="0" i="1" smtClean="0">
                              <a:latin typeface="Cambria Math" panose="02040503050406030204" pitchFamily="18" charset="0"/>
                            </a:rPr>
                            <m:t> </m:t>
                          </m:r>
                          <m:r>
                            <a:rPr lang="en-US" sz="2000" b="0" i="1" smtClean="0">
                              <a:latin typeface="Cambria Math" panose="02040503050406030204" pitchFamily="18" charset="0"/>
                            </a:rPr>
                            <m:t>𝐽𝑜𝑢𝑟𝑛𝑎𝑙</m:t>
                          </m:r>
                          <m:r>
                            <a:rPr lang="en-US" sz="2000" b="0" i="1" smtClean="0">
                              <a:latin typeface="Cambria Math" panose="02040503050406030204" pitchFamily="18" charset="0"/>
                            </a:rPr>
                            <m:t> </m:t>
                          </m:r>
                          <m:r>
                            <a:rPr lang="en-US" sz="2000" b="0" i="1" smtClean="0">
                              <a:latin typeface="Cambria Math" panose="02040503050406030204" pitchFamily="18" charset="0"/>
                            </a:rPr>
                            <m:t>𝑋</m:t>
                          </m:r>
                          <m:r>
                            <a:rPr lang="en-US" sz="2000" b="0" i="1" smtClean="0">
                              <a:latin typeface="Cambria Math" panose="02040503050406030204" pitchFamily="18" charset="0"/>
                            </a:rPr>
                            <m:t> </m:t>
                          </m:r>
                          <m:r>
                            <a:rPr lang="en-US" sz="2000" b="0" i="1" smtClean="0">
                              <a:latin typeface="Cambria Math" panose="02040503050406030204" pitchFamily="18" charset="0"/>
                            </a:rPr>
                            <m:t>𝑖𝑛</m:t>
                          </m:r>
                          <m:r>
                            <a:rPr lang="en-US" sz="2000" b="0" i="1" smtClean="0">
                              <a:latin typeface="Cambria Math" panose="02040503050406030204" pitchFamily="18" charset="0"/>
                            </a:rPr>
                            <m:t> </m:t>
                          </m:r>
                          <m:r>
                            <a:rPr lang="en-US" sz="2000" b="0" i="1" smtClean="0">
                              <a:latin typeface="Cambria Math" panose="02040503050406030204" pitchFamily="18" charset="0"/>
                            </a:rPr>
                            <m:t>𝑡h𝑒</m:t>
                          </m:r>
                          <m:r>
                            <a:rPr lang="en-US" sz="2000" b="0" i="1" smtClean="0">
                              <a:latin typeface="Cambria Math" panose="02040503050406030204" pitchFamily="18" charset="0"/>
                            </a:rPr>
                            <m:t> </m:t>
                          </m:r>
                          <m:r>
                            <a:rPr lang="en-US" sz="2000" b="0" i="1" smtClean="0">
                              <a:latin typeface="Cambria Math" panose="02040503050406030204" pitchFamily="18" charset="0"/>
                            </a:rPr>
                            <m:t>𝑝𝑎𝑠𝑡</m:t>
                          </m:r>
                          <m:r>
                            <a:rPr lang="en-US" sz="2000" b="0" i="1" smtClean="0">
                              <a:latin typeface="Cambria Math" panose="02040503050406030204" pitchFamily="18" charset="0"/>
                            </a:rPr>
                            <m:t> </m:t>
                          </m:r>
                          <m:r>
                            <a:rPr lang="en-US" sz="2000" b="0" i="1" smtClean="0">
                              <a:latin typeface="Cambria Math" panose="02040503050406030204" pitchFamily="18" charset="0"/>
                            </a:rPr>
                            <m:t>𝑡𝑤𝑜</m:t>
                          </m:r>
                          <m:r>
                            <a:rPr lang="en-US" sz="2000" b="0" i="1" smtClean="0">
                              <a:latin typeface="Cambria Math" panose="02040503050406030204" pitchFamily="18" charset="0"/>
                            </a:rPr>
                            <m:t> </m:t>
                          </m:r>
                          <m:r>
                            <a:rPr lang="en-US" sz="2000" b="0" i="1" smtClean="0">
                              <a:latin typeface="Cambria Math" panose="02040503050406030204" pitchFamily="18" charset="0"/>
                            </a:rPr>
                            <m:t>𝑦𝑒𝑎𝑟𝑠</m:t>
                          </m:r>
                        </m:num>
                        <m:den>
                          <m:r>
                            <a:rPr lang="en-US" sz="2000" i="1">
                              <a:latin typeface="Cambria Math" panose="02040503050406030204" pitchFamily="18" charset="0"/>
                            </a:rPr>
                            <m:t>#</m:t>
                          </m:r>
                          <m:r>
                            <a:rPr lang="en-US" sz="2000" b="0" i="1" smtClean="0">
                              <a:latin typeface="Cambria Math" panose="02040503050406030204" pitchFamily="18" charset="0"/>
                            </a:rPr>
                            <m:t> </m:t>
                          </m:r>
                          <m:r>
                            <a:rPr lang="en-US" sz="2000" b="0" i="1" smtClean="0">
                              <a:latin typeface="Cambria Math" panose="02040503050406030204" pitchFamily="18" charset="0"/>
                            </a:rPr>
                            <m:t>𝑜𝑓</m:t>
                          </m:r>
                          <m:r>
                            <a:rPr lang="en-US" sz="2000" b="0" i="1" smtClean="0">
                              <a:latin typeface="Cambria Math" panose="02040503050406030204" pitchFamily="18" charset="0"/>
                            </a:rPr>
                            <m:t> </m:t>
                          </m:r>
                          <m:r>
                            <a:rPr lang="en-US" sz="2000" b="0" i="1" smtClean="0">
                              <a:latin typeface="Cambria Math" panose="02040503050406030204" pitchFamily="18" charset="0"/>
                            </a:rPr>
                            <m:t>𝑡𝑜𝑡𝑎𝑙</m:t>
                          </m:r>
                          <m:r>
                            <a:rPr lang="en-US" sz="2000" b="0" i="1" smtClean="0">
                              <a:latin typeface="Cambria Math" panose="02040503050406030204" pitchFamily="18" charset="0"/>
                            </a:rPr>
                            <m:t> </m:t>
                          </m:r>
                          <m:r>
                            <a:rPr lang="en-US" sz="2000" b="0" i="1" smtClean="0">
                              <a:latin typeface="Cambria Math" panose="02040503050406030204" pitchFamily="18" charset="0"/>
                            </a:rPr>
                            <m:t>𝑐𝑖𝑡𝑎𝑏𝑙𝑒</m:t>
                          </m:r>
                          <m:r>
                            <a:rPr lang="en-US" sz="2000" b="0" i="1" smtClean="0">
                              <a:latin typeface="Cambria Math" panose="02040503050406030204" pitchFamily="18" charset="0"/>
                            </a:rPr>
                            <m:t> </m:t>
                          </m:r>
                          <m:r>
                            <a:rPr lang="en-US" sz="2000" b="0" i="1" smtClean="0">
                              <a:latin typeface="Cambria Math" panose="02040503050406030204" pitchFamily="18" charset="0"/>
                            </a:rPr>
                            <m:t>𝑖𝑡𝑒𝑚𝑠</m:t>
                          </m:r>
                          <m:r>
                            <a:rPr lang="en-US" sz="2000" b="0" i="1" smtClean="0">
                              <a:latin typeface="Cambria Math" panose="02040503050406030204" pitchFamily="18" charset="0"/>
                            </a:rPr>
                            <m:t> </m:t>
                          </m:r>
                          <m:r>
                            <a:rPr lang="en-US" sz="2000" b="0" i="1" smtClean="0">
                              <a:latin typeface="Cambria Math" panose="02040503050406030204" pitchFamily="18" charset="0"/>
                            </a:rPr>
                            <m:t>𝑏𝑦</m:t>
                          </m:r>
                          <m:r>
                            <a:rPr lang="en-US" sz="2000" b="0" i="1" smtClean="0">
                              <a:latin typeface="Cambria Math" panose="02040503050406030204" pitchFamily="18" charset="0"/>
                            </a:rPr>
                            <m:t> </m:t>
                          </m:r>
                          <m:r>
                            <a:rPr lang="en-US" sz="2000" b="0" i="1" smtClean="0">
                              <a:latin typeface="Cambria Math" panose="02040503050406030204" pitchFamily="18" charset="0"/>
                            </a:rPr>
                            <m:t>𝐽𝑜𝑢𝑟𝑛𝑎𝑙</m:t>
                          </m:r>
                          <m:r>
                            <a:rPr lang="en-US" sz="2000" b="0" i="1" smtClean="0">
                              <a:latin typeface="Cambria Math" panose="02040503050406030204" pitchFamily="18" charset="0"/>
                            </a:rPr>
                            <m:t> </m:t>
                          </m:r>
                          <m:r>
                            <a:rPr lang="en-US" sz="2000" b="0" i="1" smtClean="0">
                              <a:latin typeface="Cambria Math" panose="02040503050406030204" pitchFamily="18" charset="0"/>
                            </a:rPr>
                            <m:t>𝑋</m:t>
                          </m:r>
                          <m:r>
                            <a:rPr lang="en-US" sz="2000" b="0" i="1" smtClean="0">
                              <a:latin typeface="Cambria Math" panose="02040503050406030204" pitchFamily="18" charset="0"/>
                            </a:rPr>
                            <m:t> </m:t>
                          </m:r>
                          <m:r>
                            <a:rPr lang="en-US" sz="2000" b="0" i="1" smtClean="0">
                              <a:latin typeface="Cambria Math" panose="02040503050406030204" pitchFamily="18" charset="0"/>
                            </a:rPr>
                            <m:t>𝑖𝑛</m:t>
                          </m:r>
                          <m:r>
                            <a:rPr lang="en-US" sz="2000" b="0" i="1" smtClean="0">
                              <a:latin typeface="Cambria Math" panose="02040503050406030204" pitchFamily="18" charset="0"/>
                            </a:rPr>
                            <m:t> </m:t>
                          </m:r>
                          <m:r>
                            <a:rPr lang="en-US" sz="2000" b="0" i="1" smtClean="0">
                              <a:latin typeface="Cambria Math" panose="02040503050406030204" pitchFamily="18" charset="0"/>
                            </a:rPr>
                            <m:t>𝑡h𝑒</m:t>
                          </m:r>
                          <m:r>
                            <a:rPr lang="en-US" sz="2000" b="0" i="1" smtClean="0">
                              <a:latin typeface="Cambria Math" panose="02040503050406030204" pitchFamily="18" charset="0"/>
                            </a:rPr>
                            <m:t> </m:t>
                          </m:r>
                          <m:r>
                            <a:rPr lang="en-US" sz="2000" b="0" i="1" smtClean="0">
                              <a:latin typeface="Cambria Math" panose="02040503050406030204" pitchFamily="18" charset="0"/>
                            </a:rPr>
                            <m:t>𝑝𝑎𝑠𝑡</m:t>
                          </m:r>
                          <m:r>
                            <a:rPr lang="en-US" sz="2000" b="0" i="1" smtClean="0">
                              <a:latin typeface="Cambria Math" panose="02040503050406030204" pitchFamily="18" charset="0"/>
                            </a:rPr>
                            <m:t> </m:t>
                          </m:r>
                          <m:r>
                            <a:rPr lang="en-US" sz="2000" b="0" i="1" smtClean="0">
                              <a:latin typeface="Cambria Math" panose="02040503050406030204" pitchFamily="18" charset="0"/>
                            </a:rPr>
                            <m:t>𝑡𝑤𝑜</m:t>
                          </m:r>
                          <m:r>
                            <a:rPr lang="en-US" sz="2000" b="0" i="1" smtClean="0">
                              <a:latin typeface="Cambria Math" panose="02040503050406030204" pitchFamily="18" charset="0"/>
                            </a:rPr>
                            <m:t> </m:t>
                          </m:r>
                          <m:r>
                            <a:rPr lang="en-US" sz="2000" b="0" i="1" smtClean="0">
                              <a:latin typeface="Cambria Math" panose="02040503050406030204" pitchFamily="18" charset="0"/>
                            </a:rPr>
                            <m:t>𝑦𝑒𝑎𝑟𝑠</m:t>
                          </m:r>
                        </m:den>
                      </m:f>
                    </m:oMath>
                  </m:oMathPara>
                </a14:m>
                <a:endParaRPr lang="en-US" sz="2000" dirty="0"/>
              </a:p>
              <a:p>
                <a:pPr marL="0" indent="0">
                  <a:lnSpc>
                    <a:spcPct val="100000"/>
                  </a:lnSpc>
                  <a:buNone/>
                </a:pPr>
                <a:endParaRPr lang="en-US" sz="2000" dirty="0"/>
              </a:p>
              <a:p>
                <a:pPr>
                  <a:lnSpc>
                    <a:spcPct val="100000"/>
                  </a:lnSpc>
                </a:pPr>
                <a:r>
                  <a:rPr lang="en-US" sz="2000" dirty="0"/>
                  <a:t>Please note that IF for 2020 can be calculated only in 2021 after all journal issues have been published and their citations have been populated in the database.</a:t>
                </a:r>
              </a:p>
              <a:p>
                <a:pPr>
                  <a:lnSpc>
                    <a:spcPct val="100000"/>
                  </a:lnSpc>
                </a:pPr>
                <a:r>
                  <a:rPr lang="en-US" sz="2000" dirty="0"/>
                  <a:t>The citations garnered in the last two years is a measure of the significance of the journals and is reflected in its impact factor. So, editors try to maximize B value in the expression!</a:t>
                </a:r>
                <a:endParaRPr lang="en-IN"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066800"/>
                <a:ext cx="10515600" cy="5110163"/>
              </a:xfrm>
              <a:blipFill>
                <a:blip r:embed="rId2"/>
                <a:stretch>
                  <a:fillRect l="-522" t="-597" r="-348"/>
                </a:stretch>
              </a:blipFill>
            </p:spPr>
            <p:txBody>
              <a:bodyPr/>
              <a:lstStyle/>
              <a:p>
                <a:r>
                  <a:rPr lang="en-IN">
                    <a:noFill/>
                  </a:rPr>
                  <a:t> </a:t>
                </a:r>
              </a:p>
            </p:txBody>
          </p:sp>
        </mc:Fallback>
      </mc:AlternateContent>
    </p:spTree>
    <p:extLst>
      <p:ext uri="{BB962C8B-B14F-4D97-AF65-F5344CB8AC3E}">
        <p14:creationId xmlns:p14="http://schemas.microsoft.com/office/powerpoint/2010/main" val="276766127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3654"/>
          </a:xfrm>
        </p:spPr>
        <p:txBody>
          <a:bodyPr>
            <a:normAutofit/>
          </a:bodyPr>
          <a:lstStyle/>
          <a:p>
            <a:pPr algn="ctr"/>
            <a:r>
              <a:rPr lang="en-US" sz="3200" b="1" dirty="0">
                <a:solidFill>
                  <a:srgbClr val="0000FF"/>
                </a:solidFill>
              </a:rPr>
              <a:t>Merits of Journal Impact Factor</a:t>
            </a:r>
            <a:endParaRPr lang="en-IN" sz="3200" b="1" dirty="0">
              <a:solidFill>
                <a:srgbClr val="0000FF"/>
              </a:solidFill>
            </a:endParaRPr>
          </a:p>
        </p:txBody>
      </p:sp>
      <p:sp>
        <p:nvSpPr>
          <p:cNvPr id="3" name="Content Placeholder 2"/>
          <p:cNvSpPr>
            <a:spLocks noGrp="1"/>
          </p:cNvSpPr>
          <p:nvPr>
            <p:ph idx="1"/>
          </p:nvPr>
        </p:nvSpPr>
        <p:spPr>
          <a:xfrm>
            <a:off x="838200" y="1058780"/>
            <a:ext cx="10515600" cy="5118183"/>
          </a:xfrm>
        </p:spPr>
        <p:txBody>
          <a:bodyPr>
            <a:normAutofit fontScale="70000" lnSpcReduction="20000"/>
          </a:bodyPr>
          <a:lstStyle/>
          <a:p>
            <a:pPr>
              <a:lnSpc>
                <a:spcPct val="120000"/>
              </a:lnSpc>
            </a:pPr>
            <a:r>
              <a:rPr lang="en-US" dirty="0"/>
              <a:t>Authors prefer to publish in higher impact factor journals because:</a:t>
            </a:r>
          </a:p>
          <a:p>
            <a:pPr marL="722313" indent="-361950">
              <a:lnSpc>
                <a:spcPct val="120000"/>
              </a:lnSpc>
              <a:buFont typeface="Wingdings" panose="05000000000000000000" pitchFamily="2" charset="2"/>
              <a:buChar char="Ø"/>
            </a:pPr>
            <a:r>
              <a:rPr lang="en-US" dirty="0"/>
              <a:t>Higher citations rate means article has higher chances of getting cited</a:t>
            </a:r>
          </a:p>
          <a:p>
            <a:pPr marL="722313" indent="-361950">
              <a:lnSpc>
                <a:spcPct val="120000"/>
              </a:lnSpc>
              <a:buFont typeface="Wingdings" panose="05000000000000000000" pitchFamily="2" charset="2"/>
              <a:buChar char="Ø"/>
            </a:pPr>
            <a:r>
              <a:rPr lang="en-US" dirty="0"/>
              <a:t>Higher reading rate means article gets read by more researchers</a:t>
            </a:r>
          </a:p>
          <a:p>
            <a:pPr marL="722313" indent="-361950">
              <a:lnSpc>
                <a:spcPct val="120000"/>
              </a:lnSpc>
              <a:buFont typeface="Wingdings" panose="05000000000000000000" pitchFamily="2" charset="2"/>
              <a:buChar char="Ø"/>
            </a:pPr>
            <a:r>
              <a:rPr lang="en-US" dirty="0"/>
              <a:t>More recognition in terms of scholarly contribution</a:t>
            </a:r>
          </a:p>
          <a:p>
            <a:pPr>
              <a:lnSpc>
                <a:spcPct val="120000"/>
              </a:lnSpc>
            </a:pPr>
            <a:r>
              <a:rPr lang="en-US" dirty="0"/>
              <a:t>JIF provides an input about how frequently an average article in a journal has been cited in a particular year</a:t>
            </a:r>
          </a:p>
          <a:p>
            <a:pPr>
              <a:lnSpc>
                <a:spcPct val="120000"/>
              </a:lnSpc>
            </a:pPr>
            <a:r>
              <a:rPr lang="en-US" dirty="0"/>
              <a:t>JIF informs us about the prestige of a journal as a whole </a:t>
            </a:r>
          </a:p>
          <a:p>
            <a:pPr>
              <a:lnSpc>
                <a:spcPct val="120000"/>
              </a:lnSpc>
            </a:pPr>
            <a:r>
              <a:rPr lang="en-US" dirty="0"/>
              <a:t>Editors use it to judge the popularity of their journals and strive to enhance the JIF by choosing good articles that have potential to garner more citations and eliminate ones that might not.</a:t>
            </a:r>
          </a:p>
          <a:p>
            <a:pPr>
              <a:lnSpc>
                <a:spcPct val="120000"/>
              </a:lnSpc>
            </a:pPr>
            <a:r>
              <a:rPr lang="en-US" dirty="0"/>
              <a:t>In libraries, it is a tool used for management of library journal collections (unsubscribe from low JIF ones)</a:t>
            </a:r>
          </a:p>
          <a:p>
            <a:pPr>
              <a:lnSpc>
                <a:spcPct val="120000"/>
              </a:lnSpc>
            </a:pPr>
            <a:r>
              <a:rPr lang="en-US" dirty="0"/>
              <a:t>In market research, publishers use it as a quantitative evidence about the popularity of their journals</a:t>
            </a:r>
            <a:endParaRPr lang="en-IN" dirty="0"/>
          </a:p>
        </p:txBody>
      </p:sp>
    </p:spTree>
    <p:extLst>
      <p:ext uri="{BB962C8B-B14F-4D97-AF65-F5344CB8AC3E}">
        <p14:creationId xmlns:p14="http://schemas.microsoft.com/office/powerpoint/2010/main" val="314609257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17717"/>
          </a:xfrm>
        </p:spPr>
        <p:txBody>
          <a:bodyPr>
            <a:normAutofit/>
          </a:bodyPr>
          <a:lstStyle/>
          <a:p>
            <a:pPr algn="ctr"/>
            <a:r>
              <a:rPr lang="en-US" sz="3200" b="1" dirty="0">
                <a:solidFill>
                  <a:srgbClr val="0000FF"/>
                </a:solidFill>
              </a:rPr>
              <a:t>Demerits of Journal Impact Factor</a:t>
            </a:r>
            <a:endParaRPr lang="en-IN" sz="3200" b="1" dirty="0">
              <a:solidFill>
                <a:srgbClr val="0000FF"/>
              </a:solidFill>
            </a:endParaRPr>
          </a:p>
        </p:txBody>
      </p:sp>
      <p:sp>
        <p:nvSpPr>
          <p:cNvPr id="3" name="Content Placeholder 2"/>
          <p:cNvSpPr>
            <a:spLocks noGrp="1"/>
          </p:cNvSpPr>
          <p:nvPr>
            <p:ph idx="1"/>
          </p:nvPr>
        </p:nvSpPr>
        <p:spPr>
          <a:xfrm>
            <a:off x="838200" y="1082842"/>
            <a:ext cx="10515600" cy="5094121"/>
          </a:xfrm>
        </p:spPr>
        <p:txBody>
          <a:bodyPr>
            <a:normAutofit fontScale="70000" lnSpcReduction="20000"/>
          </a:bodyPr>
          <a:lstStyle/>
          <a:p>
            <a:pPr>
              <a:lnSpc>
                <a:spcPct val="120000"/>
              </a:lnSpc>
            </a:pPr>
            <a:r>
              <a:rPr lang="en-US" dirty="0"/>
              <a:t>JIF is an average statistic and not all articles are equally cited. So, an article having fewer citations published in a high IF journal is given more importance than a highly cited article in a low IF journal.</a:t>
            </a:r>
          </a:p>
          <a:p>
            <a:pPr>
              <a:lnSpc>
                <a:spcPct val="120000"/>
              </a:lnSpc>
            </a:pPr>
            <a:r>
              <a:rPr lang="en-US" dirty="0"/>
              <a:t>Only includes "citable" articles in the denominator of the equation, i.e., articles and reviews</a:t>
            </a:r>
          </a:p>
          <a:p>
            <a:pPr>
              <a:lnSpc>
                <a:spcPct val="120000"/>
              </a:lnSpc>
            </a:pPr>
            <a:r>
              <a:rPr lang="en-US" dirty="0"/>
              <a:t>Only a limited subset of journals is indexed by </a:t>
            </a:r>
            <a:r>
              <a:rPr lang="en-US" dirty="0" err="1"/>
              <a:t>Clarivate</a:t>
            </a:r>
            <a:r>
              <a:rPr lang="en-US" dirty="0"/>
              <a:t> Analytics</a:t>
            </a:r>
          </a:p>
          <a:p>
            <a:pPr>
              <a:lnSpc>
                <a:spcPct val="120000"/>
              </a:lnSpc>
            </a:pPr>
            <a:r>
              <a:rPr lang="en-US" dirty="0"/>
              <a:t>While calculating JIF, self citations are also counted.</a:t>
            </a:r>
          </a:p>
          <a:p>
            <a:pPr>
              <a:lnSpc>
                <a:spcPct val="120000"/>
              </a:lnSpc>
            </a:pPr>
            <a:r>
              <a:rPr lang="en-US" dirty="0"/>
              <a:t>Tell us nothing concrete about any specific paper or specific author </a:t>
            </a:r>
          </a:p>
          <a:p>
            <a:pPr>
              <a:lnSpc>
                <a:spcPct val="120000"/>
              </a:lnSpc>
            </a:pPr>
            <a:r>
              <a:rPr lang="en-US" dirty="0"/>
              <a:t>Review articles are generally highly cited. Publication of more number of review papers in a journal can greatly affect the journal's IF.</a:t>
            </a:r>
          </a:p>
          <a:p>
            <a:pPr>
              <a:lnSpc>
                <a:spcPct val="120000"/>
              </a:lnSpc>
            </a:pPr>
            <a:r>
              <a:rPr lang="en-US" dirty="0"/>
              <a:t>IF depends on the size of the field concerned. A larger field size would draw more citations than the one having a small size.</a:t>
            </a:r>
          </a:p>
          <a:p>
            <a:pPr>
              <a:lnSpc>
                <a:spcPct val="120000"/>
              </a:lnSpc>
            </a:pPr>
            <a:r>
              <a:rPr lang="en-US" dirty="0"/>
              <a:t>Biased toward English language journals and JCR is also expensive</a:t>
            </a:r>
            <a:endParaRPr lang="en-IN" dirty="0"/>
          </a:p>
        </p:txBody>
      </p:sp>
    </p:spTree>
    <p:extLst>
      <p:ext uri="{BB962C8B-B14F-4D97-AF65-F5344CB8AC3E}">
        <p14:creationId xmlns:p14="http://schemas.microsoft.com/office/powerpoint/2010/main" val="69816025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69590"/>
          </a:xfrm>
        </p:spPr>
        <p:txBody>
          <a:bodyPr>
            <a:normAutofit/>
          </a:bodyPr>
          <a:lstStyle/>
          <a:p>
            <a:pPr algn="ctr"/>
            <a:r>
              <a:rPr lang="en-IN" sz="3200" b="1" dirty="0">
                <a:solidFill>
                  <a:srgbClr val="0000FF"/>
                </a:solidFill>
              </a:rPr>
              <a:t>Journal Immediacy Index</a:t>
            </a:r>
          </a:p>
        </p:txBody>
      </p:sp>
      <p:sp>
        <p:nvSpPr>
          <p:cNvPr id="3" name="Content Placeholder 2"/>
          <p:cNvSpPr>
            <a:spLocks noGrp="1"/>
          </p:cNvSpPr>
          <p:nvPr>
            <p:ph idx="1"/>
          </p:nvPr>
        </p:nvSpPr>
        <p:spPr>
          <a:xfrm>
            <a:off x="838200" y="1034716"/>
            <a:ext cx="10515600" cy="5142247"/>
          </a:xfrm>
        </p:spPr>
        <p:txBody>
          <a:bodyPr>
            <a:normAutofit fontScale="92500" lnSpcReduction="10000"/>
          </a:bodyPr>
          <a:lstStyle/>
          <a:p>
            <a:r>
              <a:rPr lang="en-US" dirty="0"/>
              <a:t>Journal Immediacy Index (JII) is also reported in JCR and is a measure about how topical or state-of-the-art the topic of a published article might be.</a:t>
            </a:r>
          </a:p>
          <a:p>
            <a:r>
              <a:rPr lang="en-US" dirty="0"/>
              <a:t>This is measured by how quickly a published article in a given journal is cited in the same calendar year.</a:t>
            </a:r>
          </a:p>
          <a:p>
            <a:r>
              <a:rPr lang="en-US" dirty="0"/>
              <a:t>It is the ratio of total citations for a journal's articles published during a calendar year divided by the total number of articles published in the same calendar year.</a:t>
            </a:r>
          </a:p>
          <a:p>
            <a:endParaRPr lang="en-US" dirty="0"/>
          </a:p>
          <a:p>
            <a:endParaRPr lang="en-US" dirty="0"/>
          </a:p>
          <a:p>
            <a:endParaRPr lang="en-US" dirty="0"/>
          </a:p>
          <a:p>
            <a:r>
              <a:rPr lang="en-US" dirty="0"/>
              <a:t>Journals that publish only review articles such as "Chemical Reviews are likely to garner more citations in the same year due to wide applicability of the review articles.</a:t>
            </a:r>
            <a:endParaRPr lang="en-IN" dirty="0"/>
          </a:p>
        </p:txBody>
      </p:sp>
      <p:pic>
        <p:nvPicPr>
          <p:cNvPr id="4" name="Picture 3"/>
          <p:cNvPicPr>
            <a:picLocks noChangeAspect="1"/>
          </p:cNvPicPr>
          <p:nvPr/>
        </p:nvPicPr>
        <p:blipFill>
          <a:blip r:embed="rId2"/>
          <a:stretch>
            <a:fillRect/>
          </a:stretch>
        </p:blipFill>
        <p:spPr>
          <a:xfrm>
            <a:off x="3465345" y="3392488"/>
            <a:ext cx="5125202" cy="1606952"/>
          </a:xfrm>
          <a:prstGeom prst="rect">
            <a:avLst/>
          </a:prstGeom>
        </p:spPr>
      </p:pic>
    </p:spTree>
    <p:extLst>
      <p:ext uri="{BB962C8B-B14F-4D97-AF65-F5344CB8AC3E}">
        <p14:creationId xmlns:p14="http://schemas.microsoft.com/office/powerpoint/2010/main" val="53487997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69590"/>
          </a:xfrm>
        </p:spPr>
        <p:txBody>
          <a:bodyPr>
            <a:normAutofit/>
          </a:bodyPr>
          <a:lstStyle/>
          <a:p>
            <a:pPr algn="ctr"/>
            <a:r>
              <a:rPr lang="en-IN" sz="3200" b="1" dirty="0">
                <a:solidFill>
                  <a:srgbClr val="0000FF"/>
                </a:solidFill>
              </a:rPr>
              <a:t>h-index (Hirsch index):</a:t>
            </a:r>
          </a:p>
        </p:txBody>
      </p:sp>
      <p:sp>
        <p:nvSpPr>
          <p:cNvPr id="3" name="Content Placeholder 2"/>
          <p:cNvSpPr>
            <a:spLocks noGrp="1"/>
          </p:cNvSpPr>
          <p:nvPr>
            <p:ph idx="1"/>
          </p:nvPr>
        </p:nvSpPr>
        <p:spPr>
          <a:xfrm>
            <a:off x="838200" y="1034716"/>
            <a:ext cx="10515600" cy="5142247"/>
          </a:xfrm>
        </p:spPr>
        <p:txBody>
          <a:bodyPr>
            <a:normAutofit lnSpcReduction="10000"/>
          </a:bodyPr>
          <a:lstStyle/>
          <a:p>
            <a:r>
              <a:rPr lang="en-US" dirty="0"/>
              <a:t>The h-index was suggested in 2005 by Jorge E. Hirsch, a physicist at UC San Diego, USA and hence also called as "Hirsch Index".</a:t>
            </a:r>
          </a:p>
          <a:p>
            <a:r>
              <a:rPr lang="en-US" dirty="0"/>
              <a:t>It is a metric for evaluating the cumulative impact of an author's scholarly output and performance </a:t>
            </a:r>
          </a:p>
          <a:p>
            <a:r>
              <a:rPr lang="en-US" dirty="0"/>
              <a:t>It combines an assessment of both quantity (number of papers) and quality (impact, or citations to these papers)</a:t>
            </a:r>
          </a:p>
          <a:p>
            <a:r>
              <a:rPr lang="en-US" dirty="0"/>
              <a:t>It is automatically calculated by citation indexing agencies such as Web of Science, Scopus, Google Scholar etc. But, it can also be calculated manually. </a:t>
            </a:r>
          </a:p>
          <a:p>
            <a:r>
              <a:rPr lang="en-US" dirty="0"/>
              <a:t>The index can also be applied to the productivity and impact of a scholarly journal as well as a group of scientists, such as a department or university or country</a:t>
            </a:r>
            <a:endParaRPr lang="en-IN" dirty="0"/>
          </a:p>
        </p:txBody>
      </p:sp>
    </p:spTree>
    <p:extLst>
      <p:ext uri="{BB962C8B-B14F-4D97-AF65-F5344CB8AC3E}">
        <p14:creationId xmlns:p14="http://schemas.microsoft.com/office/powerpoint/2010/main" val="386172239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3654"/>
          </a:xfrm>
        </p:spPr>
        <p:txBody>
          <a:bodyPr>
            <a:normAutofit/>
          </a:bodyPr>
          <a:lstStyle/>
          <a:p>
            <a:pPr algn="ctr"/>
            <a:r>
              <a:rPr lang="en-IN" sz="3200" b="1" dirty="0">
                <a:solidFill>
                  <a:srgbClr val="0000FF"/>
                </a:solidFill>
              </a:rPr>
              <a:t>h-index (Hirsch index)</a:t>
            </a:r>
            <a:endParaRPr lang="en-IN" sz="3200" dirty="0"/>
          </a:p>
        </p:txBody>
      </p:sp>
      <p:sp>
        <p:nvSpPr>
          <p:cNvPr id="3" name="Content Placeholder 2"/>
          <p:cNvSpPr>
            <a:spLocks noGrp="1"/>
          </p:cNvSpPr>
          <p:nvPr>
            <p:ph idx="1"/>
          </p:nvPr>
        </p:nvSpPr>
        <p:spPr>
          <a:xfrm>
            <a:off x="838200" y="1058780"/>
            <a:ext cx="5899484" cy="5799220"/>
          </a:xfrm>
        </p:spPr>
        <p:txBody>
          <a:bodyPr>
            <a:noAutofit/>
          </a:bodyPr>
          <a:lstStyle/>
          <a:p>
            <a:r>
              <a:rPr lang="en-US" sz="2400" dirty="0"/>
              <a:t>The h-index is defined as the maximum value of h such that the given author/journal has published "h" papers that have each been cited at least "h" times.</a:t>
            </a:r>
          </a:p>
          <a:p>
            <a:r>
              <a:rPr lang="en-US" sz="2400" dirty="0"/>
              <a:t>For example consider the tabulation for "rank of article" vs. "decreasing number of citations for a particular author.</a:t>
            </a:r>
          </a:p>
          <a:p>
            <a:r>
              <a:rPr lang="en-US" sz="2400" dirty="0"/>
              <a:t>The articles are listed in decreasing order of number of citations and then plotted for serial number of article vs. number of citations as shown in the plot.</a:t>
            </a:r>
          </a:p>
          <a:p>
            <a:r>
              <a:rPr lang="en-US" sz="2400" dirty="0"/>
              <a:t>A diagonal line is drawn across the plot that shows that the h-index is 5. This can also be inferred from the table, where the article serial number and number of citations match</a:t>
            </a:r>
            <a:endParaRPr lang="en-IN" sz="2400" dirty="0"/>
          </a:p>
        </p:txBody>
      </p:sp>
      <p:graphicFrame>
        <p:nvGraphicFramePr>
          <p:cNvPr id="4" name="Table 3"/>
          <p:cNvGraphicFramePr>
            <a:graphicFrameLocks noGrp="1"/>
          </p:cNvGraphicFramePr>
          <p:nvPr/>
        </p:nvGraphicFramePr>
        <p:xfrm>
          <a:off x="7624009" y="1195916"/>
          <a:ext cx="2790494" cy="2743200"/>
        </p:xfrm>
        <a:graphic>
          <a:graphicData uri="http://schemas.openxmlformats.org/drawingml/2006/table">
            <a:tbl>
              <a:tblPr firstRow="1" bandRow="1">
                <a:tableStyleId>{5C22544A-7EE6-4342-B048-85BDC9FD1C3A}</a:tableStyleId>
              </a:tblPr>
              <a:tblGrid>
                <a:gridCol w="1395247">
                  <a:extLst>
                    <a:ext uri="{9D8B030D-6E8A-4147-A177-3AD203B41FA5}">
                      <a16:colId xmlns:a16="http://schemas.microsoft.com/office/drawing/2014/main" val="617509799"/>
                    </a:ext>
                  </a:extLst>
                </a:gridCol>
                <a:gridCol w="1395247">
                  <a:extLst>
                    <a:ext uri="{9D8B030D-6E8A-4147-A177-3AD203B41FA5}">
                      <a16:colId xmlns:a16="http://schemas.microsoft.com/office/drawing/2014/main" val="4068396248"/>
                    </a:ext>
                  </a:extLst>
                </a:gridCol>
              </a:tblGrid>
              <a:tr h="261136">
                <a:tc>
                  <a:txBody>
                    <a:bodyPr/>
                    <a:lstStyle/>
                    <a:p>
                      <a:pPr algn="ctr"/>
                      <a:r>
                        <a:rPr lang="en-US" sz="1400" dirty="0"/>
                        <a:t>Articles</a:t>
                      </a:r>
                      <a:endParaRPr lang="en-IN" sz="1400" dirty="0"/>
                    </a:p>
                  </a:txBody>
                  <a:tcPr/>
                </a:tc>
                <a:tc>
                  <a:txBody>
                    <a:bodyPr/>
                    <a:lstStyle/>
                    <a:p>
                      <a:pPr algn="ctr"/>
                      <a:r>
                        <a:rPr lang="en-US" sz="1400" dirty="0"/>
                        <a:t>Citations</a:t>
                      </a:r>
                      <a:endParaRPr lang="en-IN" sz="1400" dirty="0"/>
                    </a:p>
                  </a:txBody>
                  <a:tcPr/>
                </a:tc>
                <a:extLst>
                  <a:ext uri="{0D108BD9-81ED-4DB2-BD59-A6C34878D82A}">
                    <a16:rowId xmlns:a16="http://schemas.microsoft.com/office/drawing/2014/main" val="1851889102"/>
                  </a:ext>
                </a:extLst>
              </a:tr>
              <a:tr h="261136">
                <a:tc>
                  <a:txBody>
                    <a:bodyPr/>
                    <a:lstStyle/>
                    <a:p>
                      <a:pPr algn="ctr"/>
                      <a:r>
                        <a:rPr lang="en-US" sz="1400" dirty="0"/>
                        <a:t>1</a:t>
                      </a:r>
                      <a:endParaRPr lang="en-IN" sz="1400" dirty="0"/>
                    </a:p>
                  </a:txBody>
                  <a:tcPr/>
                </a:tc>
                <a:tc>
                  <a:txBody>
                    <a:bodyPr/>
                    <a:lstStyle/>
                    <a:p>
                      <a:pPr algn="ctr"/>
                      <a:r>
                        <a:rPr lang="en-US" sz="1400" dirty="0"/>
                        <a:t>46</a:t>
                      </a:r>
                      <a:endParaRPr lang="en-IN" sz="1400" dirty="0"/>
                    </a:p>
                  </a:txBody>
                  <a:tcPr/>
                </a:tc>
                <a:extLst>
                  <a:ext uri="{0D108BD9-81ED-4DB2-BD59-A6C34878D82A}">
                    <a16:rowId xmlns:a16="http://schemas.microsoft.com/office/drawing/2014/main" val="1071930011"/>
                  </a:ext>
                </a:extLst>
              </a:tr>
              <a:tr h="261136">
                <a:tc>
                  <a:txBody>
                    <a:bodyPr/>
                    <a:lstStyle/>
                    <a:p>
                      <a:pPr algn="ctr"/>
                      <a:r>
                        <a:rPr lang="en-US" sz="1400" dirty="0"/>
                        <a:t>2</a:t>
                      </a:r>
                      <a:endParaRPr lang="en-IN" sz="1400" dirty="0"/>
                    </a:p>
                  </a:txBody>
                  <a:tcPr/>
                </a:tc>
                <a:tc>
                  <a:txBody>
                    <a:bodyPr/>
                    <a:lstStyle/>
                    <a:p>
                      <a:pPr algn="ctr"/>
                      <a:r>
                        <a:rPr lang="en-US" sz="1400" dirty="0"/>
                        <a:t>25</a:t>
                      </a:r>
                      <a:endParaRPr lang="en-IN" sz="1400" dirty="0"/>
                    </a:p>
                  </a:txBody>
                  <a:tcPr/>
                </a:tc>
                <a:extLst>
                  <a:ext uri="{0D108BD9-81ED-4DB2-BD59-A6C34878D82A}">
                    <a16:rowId xmlns:a16="http://schemas.microsoft.com/office/drawing/2014/main" val="316824406"/>
                  </a:ext>
                </a:extLst>
              </a:tr>
              <a:tr h="261136">
                <a:tc>
                  <a:txBody>
                    <a:bodyPr/>
                    <a:lstStyle/>
                    <a:p>
                      <a:pPr algn="ctr"/>
                      <a:r>
                        <a:rPr lang="en-US" sz="1400" dirty="0"/>
                        <a:t>3</a:t>
                      </a:r>
                      <a:endParaRPr lang="en-IN" sz="1400" dirty="0"/>
                    </a:p>
                  </a:txBody>
                  <a:tcPr/>
                </a:tc>
                <a:tc>
                  <a:txBody>
                    <a:bodyPr/>
                    <a:lstStyle/>
                    <a:p>
                      <a:pPr algn="ctr"/>
                      <a:r>
                        <a:rPr lang="en-US" sz="1400" dirty="0"/>
                        <a:t>12</a:t>
                      </a:r>
                      <a:endParaRPr lang="en-IN" sz="1400" dirty="0"/>
                    </a:p>
                  </a:txBody>
                  <a:tcPr/>
                </a:tc>
                <a:extLst>
                  <a:ext uri="{0D108BD9-81ED-4DB2-BD59-A6C34878D82A}">
                    <a16:rowId xmlns:a16="http://schemas.microsoft.com/office/drawing/2014/main" val="1425299186"/>
                  </a:ext>
                </a:extLst>
              </a:tr>
              <a:tr h="261136">
                <a:tc>
                  <a:txBody>
                    <a:bodyPr/>
                    <a:lstStyle/>
                    <a:p>
                      <a:pPr algn="ctr"/>
                      <a:r>
                        <a:rPr lang="en-US" sz="1400" dirty="0"/>
                        <a:t>4</a:t>
                      </a:r>
                      <a:endParaRPr lang="en-IN" sz="1400" dirty="0"/>
                    </a:p>
                  </a:txBody>
                  <a:tcPr/>
                </a:tc>
                <a:tc>
                  <a:txBody>
                    <a:bodyPr/>
                    <a:lstStyle/>
                    <a:p>
                      <a:pPr algn="ctr"/>
                      <a:r>
                        <a:rPr lang="en-US" sz="1400" dirty="0"/>
                        <a:t>11</a:t>
                      </a:r>
                      <a:endParaRPr lang="en-IN" sz="1400" dirty="0"/>
                    </a:p>
                  </a:txBody>
                  <a:tcPr/>
                </a:tc>
                <a:extLst>
                  <a:ext uri="{0D108BD9-81ED-4DB2-BD59-A6C34878D82A}">
                    <a16:rowId xmlns:a16="http://schemas.microsoft.com/office/drawing/2014/main" val="1907054936"/>
                  </a:ext>
                </a:extLst>
              </a:tr>
              <a:tr h="261136">
                <a:tc>
                  <a:txBody>
                    <a:bodyPr/>
                    <a:lstStyle/>
                    <a:p>
                      <a:pPr algn="ctr"/>
                      <a:r>
                        <a:rPr lang="en-US" sz="1400" dirty="0"/>
                        <a:t>5</a:t>
                      </a:r>
                      <a:endParaRPr lang="en-IN" sz="1400" dirty="0"/>
                    </a:p>
                  </a:txBody>
                  <a:tcPr/>
                </a:tc>
                <a:tc>
                  <a:txBody>
                    <a:bodyPr/>
                    <a:lstStyle/>
                    <a:p>
                      <a:pPr algn="ctr"/>
                      <a:r>
                        <a:rPr lang="en-US" sz="1400" dirty="0"/>
                        <a:t>5 = H - Index</a:t>
                      </a:r>
                      <a:endParaRPr lang="en-IN" sz="1400" dirty="0"/>
                    </a:p>
                  </a:txBody>
                  <a:tcPr/>
                </a:tc>
                <a:extLst>
                  <a:ext uri="{0D108BD9-81ED-4DB2-BD59-A6C34878D82A}">
                    <a16:rowId xmlns:a16="http://schemas.microsoft.com/office/drawing/2014/main" val="30181582"/>
                  </a:ext>
                </a:extLst>
              </a:tr>
              <a:tr h="261136">
                <a:tc>
                  <a:txBody>
                    <a:bodyPr/>
                    <a:lstStyle/>
                    <a:p>
                      <a:pPr algn="ctr"/>
                      <a:r>
                        <a:rPr lang="en-US" sz="1400" dirty="0"/>
                        <a:t>6</a:t>
                      </a:r>
                      <a:endParaRPr lang="en-IN" sz="1400" dirty="0"/>
                    </a:p>
                  </a:txBody>
                  <a:tcPr/>
                </a:tc>
                <a:tc>
                  <a:txBody>
                    <a:bodyPr/>
                    <a:lstStyle/>
                    <a:p>
                      <a:pPr algn="ctr"/>
                      <a:r>
                        <a:rPr lang="en-US" sz="1400" dirty="0"/>
                        <a:t>4</a:t>
                      </a:r>
                      <a:endParaRPr lang="en-IN" sz="1400" dirty="0"/>
                    </a:p>
                  </a:txBody>
                  <a:tcPr/>
                </a:tc>
                <a:extLst>
                  <a:ext uri="{0D108BD9-81ED-4DB2-BD59-A6C34878D82A}">
                    <a16:rowId xmlns:a16="http://schemas.microsoft.com/office/drawing/2014/main" val="1794248996"/>
                  </a:ext>
                </a:extLst>
              </a:tr>
              <a:tr h="261136">
                <a:tc>
                  <a:txBody>
                    <a:bodyPr/>
                    <a:lstStyle/>
                    <a:p>
                      <a:pPr algn="ctr"/>
                      <a:r>
                        <a:rPr lang="en-US" sz="1400" dirty="0"/>
                        <a:t>7</a:t>
                      </a:r>
                      <a:endParaRPr lang="en-IN" sz="1400" dirty="0"/>
                    </a:p>
                  </a:txBody>
                  <a:tcPr/>
                </a:tc>
                <a:tc>
                  <a:txBody>
                    <a:bodyPr/>
                    <a:lstStyle/>
                    <a:p>
                      <a:pPr algn="ctr"/>
                      <a:r>
                        <a:rPr lang="en-US" sz="1400" dirty="0"/>
                        <a:t>2</a:t>
                      </a:r>
                      <a:endParaRPr lang="en-IN" sz="1400" dirty="0"/>
                    </a:p>
                  </a:txBody>
                  <a:tcPr/>
                </a:tc>
                <a:extLst>
                  <a:ext uri="{0D108BD9-81ED-4DB2-BD59-A6C34878D82A}">
                    <a16:rowId xmlns:a16="http://schemas.microsoft.com/office/drawing/2014/main" val="567990208"/>
                  </a:ext>
                </a:extLst>
              </a:tr>
              <a:tr h="261136">
                <a:tc>
                  <a:txBody>
                    <a:bodyPr/>
                    <a:lstStyle/>
                    <a:p>
                      <a:pPr algn="ctr"/>
                      <a:r>
                        <a:rPr lang="en-US" sz="1400" dirty="0"/>
                        <a:t>8</a:t>
                      </a:r>
                      <a:endParaRPr lang="en-IN" sz="1400" dirty="0"/>
                    </a:p>
                  </a:txBody>
                  <a:tcPr/>
                </a:tc>
                <a:tc>
                  <a:txBody>
                    <a:bodyPr/>
                    <a:lstStyle/>
                    <a:p>
                      <a:pPr algn="ctr"/>
                      <a:r>
                        <a:rPr lang="en-US" sz="1400" dirty="0"/>
                        <a:t>1</a:t>
                      </a:r>
                      <a:endParaRPr lang="en-IN" sz="1400" dirty="0"/>
                    </a:p>
                  </a:txBody>
                  <a:tcPr/>
                </a:tc>
                <a:extLst>
                  <a:ext uri="{0D108BD9-81ED-4DB2-BD59-A6C34878D82A}">
                    <a16:rowId xmlns:a16="http://schemas.microsoft.com/office/drawing/2014/main" val="602964932"/>
                  </a:ext>
                </a:extLst>
              </a:tr>
            </a:tbl>
          </a:graphicData>
        </a:graphic>
      </p:graphicFrame>
      <p:pic>
        <p:nvPicPr>
          <p:cNvPr id="5" name="Picture 4"/>
          <p:cNvPicPr>
            <a:picLocks noChangeAspect="1"/>
          </p:cNvPicPr>
          <p:nvPr/>
        </p:nvPicPr>
        <p:blipFill>
          <a:blip r:embed="rId2"/>
          <a:stretch>
            <a:fillRect/>
          </a:stretch>
        </p:blipFill>
        <p:spPr>
          <a:xfrm>
            <a:off x="7826123" y="4076252"/>
            <a:ext cx="2386265" cy="2502263"/>
          </a:xfrm>
          <a:prstGeom prst="rect">
            <a:avLst/>
          </a:prstGeom>
        </p:spPr>
      </p:pic>
    </p:spTree>
    <p:extLst>
      <p:ext uri="{BB962C8B-B14F-4D97-AF65-F5344CB8AC3E}">
        <p14:creationId xmlns:p14="http://schemas.microsoft.com/office/powerpoint/2010/main" val="55064036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69590"/>
          </a:xfrm>
        </p:spPr>
        <p:txBody>
          <a:bodyPr>
            <a:normAutofit/>
          </a:bodyPr>
          <a:lstStyle/>
          <a:p>
            <a:pPr algn="ctr"/>
            <a:r>
              <a:rPr lang="en-IN" sz="3200" b="1" dirty="0">
                <a:solidFill>
                  <a:srgbClr val="0000FF"/>
                </a:solidFill>
              </a:rPr>
              <a:t>Factors influencing h-index</a:t>
            </a:r>
          </a:p>
        </p:txBody>
      </p:sp>
      <p:sp>
        <p:nvSpPr>
          <p:cNvPr id="3" name="Content Placeholder 2"/>
          <p:cNvSpPr>
            <a:spLocks noGrp="1"/>
          </p:cNvSpPr>
          <p:nvPr>
            <p:ph idx="1"/>
          </p:nvPr>
        </p:nvSpPr>
        <p:spPr>
          <a:xfrm>
            <a:off x="838200" y="1034716"/>
            <a:ext cx="10515600" cy="5142247"/>
          </a:xfrm>
        </p:spPr>
        <p:txBody>
          <a:bodyPr>
            <a:noAutofit/>
          </a:bodyPr>
          <a:lstStyle/>
          <a:p>
            <a:pPr>
              <a:lnSpc>
                <a:spcPct val="100000"/>
              </a:lnSpc>
            </a:pPr>
            <a:r>
              <a:rPr lang="en-US" sz="2000" dirty="0"/>
              <a:t>The h-index of a particular author may vary from one database to another, depending on the coverage of each database.</a:t>
            </a:r>
          </a:p>
          <a:p>
            <a:pPr>
              <a:lnSpc>
                <a:spcPct val="100000"/>
              </a:lnSpc>
            </a:pPr>
            <a:r>
              <a:rPr lang="en-US" sz="2000" dirty="0"/>
              <a:t>Co-publishing can elevate the h-index, because it does not take the order of authorship into account. </a:t>
            </a:r>
          </a:p>
          <a:p>
            <a:pPr>
              <a:lnSpc>
                <a:spcPct val="100000"/>
              </a:lnSpc>
            </a:pPr>
            <a:r>
              <a:rPr lang="en-US" sz="2000" dirty="0"/>
              <a:t>Time helps to increase the h-index; young researchers generally2have a low h-index.</a:t>
            </a:r>
          </a:p>
          <a:p>
            <a:pPr>
              <a:lnSpc>
                <a:spcPct val="100000"/>
              </a:lnSpc>
            </a:pPr>
            <a:r>
              <a:rPr lang="en-US" sz="2000" dirty="0"/>
              <a:t>The subject area can have an effect on the h-Index: a researcher who publishes on a trendy subject will have a higher h-index than another one who publishes on a niche topic.</a:t>
            </a:r>
          </a:p>
          <a:p>
            <a:pPr>
              <a:lnSpc>
                <a:spcPct val="100000"/>
              </a:lnSpc>
            </a:pPr>
            <a:r>
              <a:rPr lang="en-US" sz="2000" dirty="0"/>
              <a:t>The language affects h-index; with English receiving more citations.</a:t>
            </a:r>
          </a:p>
          <a:p>
            <a:pPr>
              <a:lnSpc>
                <a:spcPct val="100000"/>
              </a:lnSpc>
            </a:pPr>
            <a:r>
              <a:rPr lang="en-US" sz="2000" dirty="0"/>
              <a:t>Open access publishing increases the visibility of articles and increase their chance to be cited.</a:t>
            </a:r>
          </a:p>
          <a:p>
            <a:pPr>
              <a:lnSpc>
                <a:spcPct val="100000"/>
              </a:lnSpc>
            </a:pPr>
            <a:r>
              <a:rPr lang="en-US" sz="2000" dirty="0"/>
              <a:t>Promotion of publications (blog posts, conferences etc.) helps to make articles more visible and increases their chance of being cited.</a:t>
            </a:r>
          </a:p>
          <a:p>
            <a:pPr>
              <a:lnSpc>
                <a:spcPct val="100000"/>
              </a:lnSpc>
            </a:pPr>
            <a:r>
              <a:rPr lang="en-US" sz="2000" dirty="0"/>
              <a:t>h-index does not eliminate self-citations!</a:t>
            </a:r>
            <a:endParaRPr lang="en-IN" sz="2000" dirty="0"/>
          </a:p>
        </p:txBody>
      </p:sp>
    </p:spTree>
    <p:extLst>
      <p:ext uri="{BB962C8B-B14F-4D97-AF65-F5344CB8AC3E}">
        <p14:creationId xmlns:p14="http://schemas.microsoft.com/office/powerpoint/2010/main" val="73963788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25475"/>
          </a:xfrm>
        </p:spPr>
        <p:txBody>
          <a:bodyPr>
            <a:normAutofit/>
          </a:bodyPr>
          <a:lstStyle/>
          <a:p>
            <a:pPr algn="ctr"/>
            <a:r>
              <a:rPr lang="en-US" sz="3200" b="1" dirty="0">
                <a:solidFill>
                  <a:srgbClr val="0000FF"/>
                </a:solidFill>
              </a:rPr>
              <a:t>Source Normalized Impact per Paper (SNIP)</a:t>
            </a:r>
            <a:endParaRPr lang="en-IN" sz="3200" b="1" dirty="0">
              <a:solidFill>
                <a:srgbClr val="0000FF"/>
              </a:solidFill>
            </a:endParaRPr>
          </a:p>
        </p:txBody>
      </p:sp>
      <p:sp>
        <p:nvSpPr>
          <p:cNvPr id="3" name="Content Placeholder 2"/>
          <p:cNvSpPr>
            <a:spLocks noGrp="1"/>
          </p:cNvSpPr>
          <p:nvPr>
            <p:ph idx="1"/>
          </p:nvPr>
        </p:nvSpPr>
        <p:spPr>
          <a:xfrm>
            <a:off x="838200" y="990600"/>
            <a:ext cx="10515600" cy="6000750"/>
          </a:xfrm>
        </p:spPr>
        <p:txBody>
          <a:bodyPr>
            <a:normAutofit/>
          </a:bodyPr>
          <a:lstStyle/>
          <a:p>
            <a:r>
              <a:rPr lang="en-US" sz="2000" dirty="0"/>
              <a:t>SNIP is a factor released in 2012 by Elsevier based on Scopus to estimate impact of a journal article.</a:t>
            </a:r>
          </a:p>
          <a:p>
            <a:r>
              <a:rPr lang="en-US" sz="2000" dirty="0"/>
              <a:t>The measure is calculated as SNIP RIP/(R/M), where RIP = Raw Impact per Paper, R = Citation Potential and M = Median database citation potential.</a:t>
            </a:r>
          </a:p>
          <a:p>
            <a:r>
              <a:rPr lang="en-US" sz="2000" dirty="0"/>
              <a:t>SNIP corrects for differences in citation practices between scientific fields, thereby allowing for more accurate between-field comparisons of citation impact. </a:t>
            </a:r>
          </a:p>
          <a:p>
            <a:r>
              <a:rPr lang="en-US" sz="2000" dirty="0"/>
              <a:t>The main differences between the SNIP and JIF are:</a:t>
            </a:r>
          </a:p>
          <a:p>
            <a:endParaRPr lang="en-US" dirty="0"/>
          </a:p>
        </p:txBody>
      </p:sp>
      <p:graphicFrame>
        <p:nvGraphicFramePr>
          <p:cNvPr id="4" name="Table 3"/>
          <p:cNvGraphicFramePr>
            <a:graphicFrameLocks noGrp="1"/>
          </p:cNvGraphicFramePr>
          <p:nvPr/>
        </p:nvGraphicFramePr>
        <p:xfrm>
          <a:off x="2489200" y="3512344"/>
          <a:ext cx="8127999" cy="313436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865759648"/>
                    </a:ext>
                  </a:extLst>
                </a:gridCol>
                <a:gridCol w="2709333">
                  <a:extLst>
                    <a:ext uri="{9D8B030D-6E8A-4147-A177-3AD203B41FA5}">
                      <a16:colId xmlns:a16="http://schemas.microsoft.com/office/drawing/2014/main" val="3808160167"/>
                    </a:ext>
                  </a:extLst>
                </a:gridCol>
                <a:gridCol w="2709333">
                  <a:extLst>
                    <a:ext uri="{9D8B030D-6E8A-4147-A177-3AD203B41FA5}">
                      <a16:colId xmlns:a16="http://schemas.microsoft.com/office/drawing/2014/main" val="257399592"/>
                    </a:ext>
                  </a:extLst>
                </a:gridCol>
              </a:tblGrid>
              <a:tr h="370840">
                <a:tc gridSpan="3">
                  <a:txBody>
                    <a:bodyPr/>
                    <a:lstStyle/>
                    <a:p>
                      <a:pPr algn="ctr"/>
                      <a:r>
                        <a:rPr lang="en-US" dirty="0"/>
                        <a:t>Differences between SNIP and JIF </a:t>
                      </a:r>
                      <a:endParaRPr lang="en-IN" dirty="0"/>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3902189516"/>
                  </a:ext>
                </a:extLst>
              </a:tr>
              <a:tr h="370840">
                <a:tc>
                  <a:txBody>
                    <a:bodyPr/>
                    <a:lstStyle/>
                    <a:p>
                      <a:endParaRPr lang="en-IN" dirty="0"/>
                    </a:p>
                  </a:txBody>
                  <a:tcPr/>
                </a:tc>
                <a:tc>
                  <a:txBody>
                    <a:bodyPr/>
                    <a:lstStyle/>
                    <a:p>
                      <a:pPr algn="ctr"/>
                      <a:r>
                        <a:rPr lang="en-US" dirty="0"/>
                        <a:t>SNIP</a:t>
                      </a:r>
                      <a:endParaRPr lang="en-IN" dirty="0"/>
                    </a:p>
                  </a:txBody>
                  <a:tcPr/>
                </a:tc>
                <a:tc>
                  <a:txBody>
                    <a:bodyPr/>
                    <a:lstStyle/>
                    <a:p>
                      <a:pPr algn="ctr"/>
                      <a:r>
                        <a:rPr lang="en-US" dirty="0"/>
                        <a:t>JIF</a:t>
                      </a:r>
                      <a:endParaRPr lang="en-IN" dirty="0"/>
                    </a:p>
                  </a:txBody>
                  <a:tcPr/>
                </a:tc>
                <a:extLst>
                  <a:ext uri="{0D108BD9-81ED-4DB2-BD59-A6C34878D82A}">
                    <a16:rowId xmlns:a16="http://schemas.microsoft.com/office/drawing/2014/main" val="327949636"/>
                  </a:ext>
                </a:extLst>
              </a:tr>
              <a:tr h="370840">
                <a:tc>
                  <a:txBody>
                    <a:bodyPr/>
                    <a:lstStyle/>
                    <a:p>
                      <a:r>
                        <a:rPr lang="en-US" dirty="0"/>
                        <a:t>Database based on</a:t>
                      </a:r>
                      <a:endParaRPr lang="en-IN" dirty="0"/>
                    </a:p>
                  </a:txBody>
                  <a:tcPr/>
                </a:tc>
                <a:tc>
                  <a:txBody>
                    <a:bodyPr/>
                    <a:lstStyle/>
                    <a:p>
                      <a:pPr algn="ctr"/>
                      <a:r>
                        <a:rPr lang="en-US" dirty="0"/>
                        <a:t>Scopus</a:t>
                      </a:r>
                      <a:endParaRPr lang="en-IN" dirty="0"/>
                    </a:p>
                  </a:txBody>
                  <a:tcPr/>
                </a:tc>
                <a:tc>
                  <a:txBody>
                    <a:bodyPr/>
                    <a:lstStyle/>
                    <a:p>
                      <a:pPr algn="ctr"/>
                      <a:r>
                        <a:rPr lang="en-US" dirty="0"/>
                        <a:t>Web of Science </a:t>
                      </a:r>
                      <a:endParaRPr lang="en-IN" dirty="0"/>
                    </a:p>
                  </a:txBody>
                  <a:tcPr/>
                </a:tc>
                <a:extLst>
                  <a:ext uri="{0D108BD9-81ED-4DB2-BD59-A6C34878D82A}">
                    <a16:rowId xmlns:a16="http://schemas.microsoft.com/office/drawing/2014/main" val="2945680791"/>
                  </a:ext>
                </a:extLst>
              </a:tr>
              <a:tr h="370840">
                <a:tc>
                  <a:txBody>
                    <a:bodyPr/>
                    <a:lstStyle/>
                    <a:p>
                      <a:r>
                        <a:rPr lang="en-US" dirty="0"/>
                        <a:t>Field Differences taken into account </a:t>
                      </a:r>
                      <a:endParaRPr lang="en-IN" dirty="0"/>
                    </a:p>
                  </a:txBody>
                  <a:tcPr/>
                </a:tc>
                <a:tc>
                  <a:txBody>
                    <a:bodyPr/>
                    <a:lstStyle/>
                    <a:p>
                      <a:pPr algn="ctr"/>
                      <a:r>
                        <a:rPr lang="en-US" dirty="0"/>
                        <a:t>Corrected</a:t>
                      </a:r>
                      <a:endParaRPr lang="en-IN" dirty="0"/>
                    </a:p>
                  </a:txBody>
                  <a:tcPr/>
                </a:tc>
                <a:tc>
                  <a:txBody>
                    <a:bodyPr/>
                    <a:lstStyle/>
                    <a:p>
                      <a:pPr algn="ctr"/>
                      <a:r>
                        <a:rPr lang="en-US" dirty="0"/>
                        <a:t>No correction</a:t>
                      </a:r>
                      <a:endParaRPr lang="en-IN" dirty="0"/>
                    </a:p>
                  </a:txBody>
                  <a:tcPr/>
                </a:tc>
                <a:extLst>
                  <a:ext uri="{0D108BD9-81ED-4DB2-BD59-A6C34878D82A}">
                    <a16:rowId xmlns:a16="http://schemas.microsoft.com/office/drawing/2014/main" val="657670240"/>
                  </a:ext>
                </a:extLst>
              </a:tr>
              <a:tr h="370840">
                <a:tc>
                  <a:txBody>
                    <a:bodyPr/>
                    <a:lstStyle/>
                    <a:p>
                      <a:r>
                        <a:rPr lang="en-US" dirty="0"/>
                        <a:t>No. of Year of Cited Publications</a:t>
                      </a:r>
                      <a:endParaRPr lang="en-IN" dirty="0"/>
                    </a:p>
                  </a:txBody>
                  <a:tcPr/>
                </a:tc>
                <a:tc>
                  <a:txBody>
                    <a:bodyPr/>
                    <a:lstStyle/>
                    <a:p>
                      <a:pPr algn="ctr"/>
                      <a:r>
                        <a:rPr lang="en-US" dirty="0"/>
                        <a:t>Three</a:t>
                      </a:r>
                      <a:endParaRPr lang="en-IN" dirty="0"/>
                    </a:p>
                  </a:txBody>
                  <a:tcPr/>
                </a:tc>
                <a:tc>
                  <a:txBody>
                    <a:bodyPr/>
                    <a:lstStyle/>
                    <a:p>
                      <a:pPr algn="ctr"/>
                      <a:r>
                        <a:rPr lang="en-US" dirty="0"/>
                        <a:t>Two</a:t>
                      </a:r>
                      <a:endParaRPr lang="en-IN" dirty="0"/>
                    </a:p>
                  </a:txBody>
                  <a:tcPr/>
                </a:tc>
                <a:extLst>
                  <a:ext uri="{0D108BD9-81ED-4DB2-BD59-A6C34878D82A}">
                    <a16:rowId xmlns:a16="http://schemas.microsoft.com/office/drawing/2014/main" val="3637797178"/>
                  </a:ext>
                </a:extLst>
              </a:tr>
              <a:tr h="370840">
                <a:tc>
                  <a:txBody>
                    <a:bodyPr/>
                    <a:lstStyle/>
                    <a:p>
                      <a:r>
                        <a:rPr lang="en-US" dirty="0"/>
                        <a:t>Citation Sources </a:t>
                      </a:r>
                      <a:endParaRPr lang="en-IN" dirty="0"/>
                    </a:p>
                  </a:txBody>
                  <a:tcPr/>
                </a:tc>
                <a:tc>
                  <a:txBody>
                    <a:bodyPr/>
                    <a:lstStyle/>
                    <a:p>
                      <a:pPr algn="ctr"/>
                      <a:r>
                        <a:rPr lang="en-US" dirty="0"/>
                        <a:t>Selected sources only </a:t>
                      </a:r>
                      <a:endParaRPr lang="en-IN" dirty="0"/>
                    </a:p>
                  </a:txBody>
                  <a:tcPr/>
                </a:tc>
                <a:tc>
                  <a:txBody>
                    <a:bodyPr/>
                    <a:lstStyle/>
                    <a:p>
                      <a:pPr algn="ctr"/>
                      <a:r>
                        <a:rPr lang="en-US" dirty="0"/>
                        <a:t>All</a:t>
                      </a:r>
                      <a:r>
                        <a:rPr lang="en-US" baseline="0" dirty="0"/>
                        <a:t> sources</a:t>
                      </a:r>
                      <a:endParaRPr lang="en-IN" dirty="0"/>
                    </a:p>
                  </a:txBody>
                  <a:tcPr/>
                </a:tc>
                <a:extLst>
                  <a:ext uri="{0D108BD9-81ED-4DB2-BD59-A6C34878D82A}">
                    <a16:rowId xmlns:a16="http://schemas.microsoft.com/office/drawing/2014/main" val="3758803093"/>
                  </a:ext>
                </a:extLst>
              </a:tr>
              <a:tr h="370840">
                <a:tc>
                  <a:txBody>
                    <a:bodyPr/>
                    <a:lstStyle/>
                    <a:p>
                      <a:r>
                        <a:rPr lang="en-US" dirty="0"/>
                        <a:t>Citations Referred to </a:t>
                      </a:r>
                      <a:endParaRPr lang="en-IN" dirty="0"/>
                    </a:p>
                  </a:txBody>
                  <a:tcPr/>
                </a:tc>
                <a:tc>
                  <a:txBody>
                    <a:bodyPr/>
                    <a:lstStyle/>
                    <a:p>
                      <a:pPr algn="ctr"/>
                      <a:r>
                        <a:rPr lang="en-US" dirty="0"/>
                        <a:t>Selected documents only </a:t>
                      </a:r>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All types of documents</a:t>
                      </a:r>
                      <a:endParaRPr lang="en-IN" dirty="0"/>
                    </a:p>
                  </a:txBody>
                  <a:tcPr/>
                </a:tc>
                <a:extLst>
                  <a:ext uri="{0D108BD9-81ED-4DB2-BD59-A6C34878D82A}">
                    <a16:rowId xmlns:a16="http://schemas.microsoft.com/office/drawing/2014/main" val="3359463720"/>
                  </a:ext>
                </a:extLst>
              </a:tr>
            </a:tbl>
          </a:graphicData>
        </a:graphic>
      </p:graphicFrame>
    </p:spTree>
    <p:extLst>
      <p:ext uri="{BB962C8B-B14F-4D97-AF65-F5344CB8AC3E}">
        <p14:creationId xmlns:p14="http://schemas.microsoft.com/office/powerpoint/2010/main" val="356955976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6425"/>
          </a:xfrm>
        </p:spPr>
        <p:txBody>
          <a:bodyPr>
            <a:normAutofit/>
          </a:bodyPr>
          <a:lstStyle/>
          <a:p>
            <a:pPr algn="ctr"/>
            <a:r>
              <a:rPr lang="en-IN" sz="3200" b="1" dirty="0">
                <a:solidFill>
                  <a:srgbClr val="0000FF"/>
                </a:solidFill>
              </a:rPr>
              <a:t>Calculation of SNIP</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971550"/>
                <a:ext cx="10515600" cy="5205413"/>
              </a:xfrm>
            </p:spPr>
            <p:txBody>
              <a:bodyPr/>
              <a:lstStyle/>
              <a:p>
                <a:r>
                  <a:rPr lang="en-US" sz="1600" dirty="0"/>
                  <a:t>SNIP can be obtained from www.journalindicators.com.it can also be obtained from the Scopus' Journal Metric webpage as shown below. It can also be calculated as shown below.</a:t>
                </a:r>
              </a:p>
              <a:p>
                <a:endParaRPr lang="en-US" sz="1600" dirty="0"/>
              </a:p>
              <a:p>
                <a:pPr marL="0" indent="0">
                  <a:buNone/>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𝑆𝑁𝐼𝑃</m:t>
                      </m:r>
                      <m:r>
                        <a:rPr lang="en-US" sz="1600" b="0" i="1" smtClean="0">
                          <a:latin typeface="Cambria Math" panose="02040503050406030204" pitchFamily="18" charset="0"/>
                        </a:rPr>
                        <m:t> </m:t>
                      </m:r>
                      <m:r>
                        <a:rPr lang="en-US" sz="1600" b="0" i="1" smtClean="0">
                          <a:latin typeface="Cambria Math" panose="02040503050406030204" pitchFamily="18" charset="0"/>
                        </a:rPr>
                        <m:t>𝑜𝑓</m:t>
                      </m:r>
                      <m:r>
                        <a:rPr lang="en-US" sz="1600" b="0" i="1" smtClean="0">
                          <a:latin typeface="Cambria Math" panose="02040503050406030204" pitchFamily="18" charset="0"/>
                        </a:rPr>
                        <m:t> </m:t>
                      </m:r>
                      <m:r>
                        <a:rPr lang="en-US" sz="1600" b="0" i="1" smtClean="0">
                          <a:latin typeface="Cambria Math" panose="02040503050406030204" pitchFamily="18" charset="0"/>
                        </a:rPr>
                        <m:t>𝑗𝑜𝑢𝑟𝑛𝑎𝑙</m:t>
                      </m:r>
                      <m:r>
                        <a:rPr lang="en-US" sz="1600" b="0" i="1" smtClean="0">
                          <a:latin typeface="Cambria Math" panose="02040503050406030204" pitchFamily="18" charset="0"/>
                        </a:rPr>
                        <m:t> = </m:t>
                      </m:r>
                      <m:f>
                        <m:fPr>
                          <m:ctrlPr>
                            <a:rPr lang="en-US" sz="1600" b="0" i="1" smtClean="0">
                              <a:latin typeface="Cambria Math" panose="02040503050406030204" pitchFamily="18" charset="0"/>
                              <a:ea typeface="Cambria Math" panose="02040503050406030204" pitchFamily="18" charset="0"/>
                            </a:rPr>
                          </m:ctrlPr>
                        </m:fPr>
                        <m:num>
                          <m:r>
                            <m:rPr>
                              <m:nor/>
                            </m:rPr>
                            <a:rPr lang="en-US" sz="1600" i="1" dirty="0"/>
                            <m:t>Journal</m:t>
                          </m:r>
                          <m:r>
                            <m:rPr>
                              <m:nor/>
                            </m:rPr>
                            <a:rPr lang="en-US" sz="1600" i="1" dirty="0"/>
                            <m:t>′</m:t>
                          </m:r>
                          <m:r>
                            <m:rPr>
                              <m:nor/>
                            </m:rPr>
                            <a:rPr lang="en-US" sz="1600" i="1" dirty="0"/>
                            <m:t>s</m:t>
                          </m:r>
                          <m:r>
                            <m:rPr>
                              <m:nor/>
                            </m:rPr>
                            <a:rPr lang="en-US" sz="1600" i="1" dirty="0"/>
                            <m:t> </m:t>
                          </m:r>
                          <m:r>
                            <m:rPr>
                              <m:nor/>
                            </m:rPr>
                            <a:rPr lang="en-US" sz="1600" i="1" dirty="0"/>
                            <m:t>citation</m:t>
                          </m:r>
                          <m:r>
                            <m:rPr>
                              <m:nor/>
                            </m:rPr>
                            <a:rPr lang="en-US" sz="1600" i="1" dirty="0"/>
                            <m:t> </m:t>
                          </m:r>
                          <m:r>
                            <m:rPr>
                              <m:nor/>
                            </m:rPr>
                            <a:rPr lang="en-US" sz="1600" i="1" dirty="0"/>
                            <m:t>count</m:t>
                          </m:r>
                          <m:r>
                            <m:rPr>
                              <m:nor/>
                            </m:rPr>
                            <a:rPr lang="en-US" sz="1600" i="1" dirty="0"/>
                            <m:t> </m:t>
                          </m:r>
                          <m:r>
                            <m:rPr>
                              <m:nor/>
                            </m:rPr>
                            <a:rPr lang="en-US" sz="1600" i="1" dirty="0"/>
                            <m:t>per</m:t>
                          </m:r>
                          <m:r>
                            <m:rPr>
                              <m:nor/>
                            </m:rPr>
                            <a:rPr lang="en-US" sz="1600" i="1" dirty="0"/>
                            <m:t> </m:t>
                          </m:r>
                          <m:r>
                            <m:rPr>
                              <m:nor/>
                            </m:rPr>
                            <a:rPr lang="en-US" sz="1600" i="1" dirty="0"/>
                            <m:t>article</m:t>
                          </m:r>
                          <m:r>
                            <m:rPr>
                              <m:nor/>
                            </m:rPr>
                            <a:rPr lang="en-US" sz="1600" i="1" dirty="0"/>
                            <m:t>  </m:t>
                          </m:r>
                        </m:num>
                        <m:den>
                          <m:r>
                            <m:rPr>
                              <m:nor/>
                            </m:rPr>
                            <a:rPr lang="en-US" sz="1600" i="1" dirty="0"/>
                            <m:t>Citation</m:t>
                          </m:r>
                          <m:r>
                            <m:rPr>
                              <m:nor/>
                            </m:rPr>
                            <a:rPr lang="en-US" sz="1600" i="1" dirty="0"/>
                            <m:t> </m:t>
                          </m:r>
                          <m:r>
                            <m:rPr>
                              <m:nor/>
                            </m:rPr>
                            <a:rPr lang="en-US" sz="1600" i="1" dirty="0"/>
                            <m:t>potential</m:t>
                          </m:r>
                          <m:r>
                            <m:rPr>
                              <m:nor/>
                            </m:rPr>
                            <a:rPr lang="en-US" sz="1600" i="1" dirty="0"/>
                            <m:t> </m:t>
                          </m:r>
                          <m:r>
                            <m:rPr>
                              <m:nor/>
                            </m:rPr>
                            <a:rPr lang="en-US" sz="1600" i="1" dirty="0"/>
                            <m:t>in</m:t>
                          </m:r>
                          <m:r>
                            <m:rPr>
                              <m:nor/>
                            </m:rPr>
                            <a:rPr lang="en-US" sz="1600" i="1" dirty="0"/>
                            <m:t> </m:t>
                          </m:r>
                          <m:r>
                            <m:rPr>
                              <m:nor/>
                            </m:rPr>
                            <a:rPr lang="en-US" sz="1600" i="1" dirty="0"/>
                            <m:t>the</m:t>
                          </m:r>
                          <m:r>
                            <m:rPr>
                              <m:nor/>
                            </m:rPr>
                            <a:rPr lang="en-US" sz="1600" i="1" dirty="0"/>
                            <m:t> </m:t>
                          </m:r>
                          <m:r>
                            <m:rPr>
                              <m:nor/>
                            </m:rPr>
                            <a:rPr lang="en-US" sz="1600" i="1" dirty="0"/>
                            <m:t>subject</m:t>
                          </m:r>
                          <m:r>
                            <m:rPr>
                              <m:nor/>
                            </m:rPr>
                            <a:rPr lang="en-US" sz="1600" i="1" dirty="0"/>
                            <m:t> </m:t>
                          </m:r>
                          <m:r>
                            <m:rPr>
                              <m:nor/>
                            </m:rPr>
                            <a:rPr lang="en-US" sz="1600" i="1" dirty="0"/>
                            <m:t>field</m:t>
                          </m:r>
                          <m:r>
                            <m:rPr>
                              <m:nor/>
                            </m:rPr>
                            <a:rPr lang="en-IN" sz="1600" i="1" dirty="0"/>
                            <m:t> </m:t>
                          </m:r>
                        </m:den>
                      </m:f>
                    </m:oMath>
                  </m:oMathPara>
                </a14:m>
                <a:endParaRPr lang="en-US" sz="1600" i="1"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971550"/>
                <a:ext cx="10515600" cy="5205413"/>
              </a:xfrm>
              <a:blipFill>
                <a:blip r:embed="rId2"/>
                <a:stretch>
                  <a:fillRect l="-232" t="-820"/>
                </a:stretch>
              </a:blipFill>
            </p:spPr>
            <p:txBody>
              <a:bodyPr/>
              <a:lstStyle/>
              <a:p>
                <a:r>
                  <a:rPr lang="en-IN">
                    <a:noFill/>
                  </a:rPr>
                  <a:t> </a:t>
                </a:r>
              </a:p>
            </p:txBody>
          </p:sp>
        </mc:Fallback>
      </mc:AlternateContent>
      <p:pic>
        <p:nvPicPr>
          <p:cNvPr id="4" name="Picture 3"/>
          <p:cNvPicPr>
            <a:picLocks noChangeAspect="1"/>
          </p:cNvPicPr>
          <p:nvPr/>
        </p:nvPicPr>
        <p:blipFill>
          <a:blip r:embed="rId3"/>
          <a:stretch>
            <a:fillRect/>
          </a:stretch>
        </p:blipFill>
        <p:spPr>
          <a:xfrm>
            <a:off x="2010623" y="2466974"/>
            <a:ext cx="7038127" cy="3938232"/>
          </a:xfrm>
          <a:prstGeom prst="rect">
            <a:avLst/>
          </a:prstGeom>
        </p:spPr>
      </p:pic>
    </p:spTree>
    <p:extLst>
      <p:ext uri="{BB962C8B-B14F-4D97-AF65-F5344CB8AC3E}">
        <p14:creationId xmlns:p14="http://schemas.microsoft.com/office/powerpoint/2010/main" val="102790312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1464"/>
          </a:xfrm>
        </p:spPr>
        <p:txBody>
          <a:bodyPr>
            <a:normAutofit/>
          </a:bodyPr>
          <a:lstStyle/>
          <a:p>
            <a:pPr algn="ctr"/>
            <a:r>
              <a:rPr lang="en-IN" sz="3200" b="1" dirty="0">
                <a:solidFill>
                  <a:srgbClr val="0000FF"/>
                </a:solidFill>
              </a:rPr>
              <a:t>i10-Index - Introduction and Computation</a:t>
            </a:r>
          </a:p>
        </p:txBody>
      </p:sp>
      <p:sp>
        <p:nvSpPr>
          <p:cNvPr id="3" name="Content Placeholder 2"/>
          <p:cNvSpPr>
            <a:spLocks noGrp="1"/>
          </p:cNvSpPr>
          <p:nvPr>
            <p:ph idx="1"/>
          </p:nvPr>
        </p:nvSpPr>
        <p:spPr>
          <a:xfrm>
            <a:off x="838200" y="986590"/>
            <a:ext cx="10515600" cy="5190373"/>
          </a:xfrm>
        </p:spPr>
        <p:txBody>
          <a:bodyPr>
            <a:normAutofit/>
          </a:bodyPr>
          <a:lstStyle/>
          <a:p>
            <a:pPr algn="just"/>
            <a:r>
              <a:rPr lang="en-US" dirty="0"/>
              <a:t>The i10-index was created by Google Scholar in 2011.</a:t>
            </a:r>
          </a:p>
          <a:p>
            <a:pPr algn="just"/>
            <a:r>
              <a:rPr lang="en-US" dirty="0"/>
              <a:t>The i10-Index for a particular author is the number of publications with at least 10 citations.</a:t>
            </a:r>
          </a:p>
          <a:p>
            <a:pPr algn="just"/>
            <a:r>
              <a:rPr lang="en-US" dirty="0"/>
              <a:t>It is accessible only from Google Scholar Citations profile of the author.</a:t>
            </a:r>
          </a:p>
          <a:p>
            <a:pPr algn="just"/>
            <a:r>
              <a:rPr lang="en-US" dirty="0"/>
              <a:t>i10-index is a very simple measure proposed by Google Scholar, and is another way to help gauge the productivity of a scholar.</a:t>
            </a:r>
          </a:p>
          <a:p>
            <a:pPr algn="just"/>
            <a:r>
              <a:rPr lang="en-US" dirty="0"/>
              <a:t>Therefore, if someone has an i10-index of 32, it means that the person has 32 papers with citations more than 10. In reality, many papers may have much more than 10 citations (say 100 or even more), but reference frame is at least 10</a:t>
            </a:r>
            <a:endParaRPr lang="en-IN" dirty="0"/>
          </a:p>
        </p:txBody>
      </p:sp>
    </p:spTree>
    <p:extLst>
      <p:ext uri="{BB962C8B-B14F-4D97-AF65-F5344CB8AC3E}">
        <p14:creationId xmlns:p14="http://schemas.microsoft.com/office/powerpoint/2010/main" val="310756029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86474"/>
          </a:xfrm>
        </p:spPr>
        <p:txBody>
          <a:bodyPr>
            <a:normAutofit/>
          </a:bodyPr>
          <a:lstStyle/>
          <a:p>
            <a:pPr algn="ctr"/>
            <a:r>
              <a:rPr lang="en-IN" sz="3200" b="1" dirty="0">
                <a:solidFill>
                  <a:srgbClr val="0000FF"/>
                </a:solidFill>
              </a:rPr>
              <a:t>i10-Index-Introduction and Computation</a:t>
            </a:r>
          </a:p>
        </p:txBody>
      </p:sp>
      <p:sp>
        <p:nvSpPr>
          <p:cNvPr id="3" name="Content Placeholder 2"/>
          <p:cNvSpPr>
            <a:spLocks noGrp="1"/>
          </p:cNvSpPr>
          <p:nvPr>
            <p:ph idx="1"/>
          </p:nvPr>
        </p:nvSpPr>
        <p:spPr>
          <a:xfrm>
            <a:off x="838200" y="1051600"/>
            <a:ext cx="5294313" cy="5125363"/>
          </a:xfrm>
        </p:spPr>
        <p:txBody>
          <a:bodyPr>
            <a:normAutofit fontScale="92500" lnSpcReduction="10000"/>
          </a:bodyPr>
          <a:lstStyle/>
          <a:p>
            <a:r>
              <a:rPr lang="en-US" dirty="0"/>
              <a:t>Advantages of i10-IndexSerial </a:t>
            </a:r>
          </a:p>
          <a:p>
            <a:pPr marL="890588" indent="-168275">
              <a:buFont typeface="Wingdings" panose="05000000000000000000" pitchFamily="2" charset="2"/>
              <a:buChar char="Ø"/>
            </a:pPr>
            <a:r>
              <a:rPr lang="en-US" dirty="0"/>
              <a:t>Very simple and straight forward to calculate</a:t>
            </a:r>
          </a:p>
          <a:p>
            <a:pPr marL="890588" indent="-168275">
              <a:buFont typeface="Wingdings" panose="05000000000000000000" pitchFamily="2" charset="2"/>
              <a:buChar char="Ø"/>
            </a:pPr>
            <a:r>
              <a:rPr lang="en-US" dirty="0"/>
              <a:t>My Citations in Google65Scholar is free and easy to use</a:t>
            </a:r>
          </a:p>
          <a:p>
            <a:pPr marL="722313" indent="0">
              <a:buNone/>
            </a:pPr>
            <a:endParaRPr lang="en-US" dirty="0"/>
          </a:p>
          <a:p>
            <a:r>
              <a:rPr lang="en-US" dirty="0"/>
              <a:t>Disadvantages of i10-Index</a:t>
            </a:r>
          </a:p>
          <a:p>
            <a:pPr marL="985838" indent="-263525">
              <a:buFont typeface="Wingdings" panose="05000000000000000000" pitchFamily="2" charset="2"/>
              <a:buChar char="Ø"/>
            </a:pPr>
            <a:r>
              <a:rPr lang="en-US" dirty="0"/>
              <a:t>Used only in Google Scholar </a:t>
            </a:r>
          </a:p>
          <a:p>
            <a:pPr marL="985838" indent="-263525">
              <a:buFont typeface="Wingdings" panose="05000000000000000000" pitchFamily="2" charset="2"/>
              <a:buChar char="Ø"/>
            </a:pPr>
            <a:r>
              <a:rPr lang="en-US" dirty="0"/>
              <a:t>Minimum requirement is 10 citations per article, so there is no weightage for articles with more than 10 citations.</a:t>
            </a:r>
          </a:p>
          <a:p>
            <a:pPr marL="722313" indent="0">
              <a:buNone/>
            </a:pPr>
            <a:endParaRPr lang="en-IN" dirty="0"/>
          </a:p>
        </p:txBody>
      </p:sp>
      <p:graphicFrame>
        <p:nvGraphicFramePr>
          <p:cNvPr id="4" name="Table 3"/>
          <p:cNvGraphicFramePr>
            <a:graphicFrameLocks noGrp="1"/>
          </p:cNvGraphicFramePr>
          <p:nvPr/>
        </p:nvGraphicFramePr>
        <p:xfrm>
          <a:off x="8446165" y="1663450"/>
          <a:ext cx="2907634" cy="3798883"/>
        </p:xfrm>
        <a:graphic>
          <a:graphicData uri="http://schemas.openxmlformats.org/drawingml/2006/table">
            <a:tbl>
              <a:tblPr firstRow="1" bandRow="1">
                <a:tableStyleId>{5C22544A-7EE6-4342-B048-85BDC9FD1C3A}</a:tableStyleId>
              </a:tblPr>
              <a:tblGrid>
                <a:gridCol w="1453817">
                  <a:extLst>
                    <a:ext uri="{9D8B030D-6E8A-4147-A177-3AD203B41FA5}">
                      <a16:colId xmlns:a16="http://schemas.microsoft.com/office/drawing/2014/main" val="2321009691"/>
                    </a:ext>
                  </a:extLst>
                </a:gridCol>
                <a:gridCol w="1453817">
                  <a:extLst>
                    <a:ext uri="{9D8B030D-6E8A-4147-A177-3AD203B41FA5}">
                      <a16:colId xmlns:a16="http://schemas.microsoft.com/office/drawing/2014/main" val="4092354753"/>
                    </a:ext>
                  </a:extLst>
                </a:gridCol>
              </a:tblGrid>
              <a:tr h="345353">
                <a:tc>
                  <a:txBody>
                    <a:bodyPr/>
                    <a:lstStyle/>
                    <a:p>
                      <a:pPr algn="ctr"/>
                      <a:r>
                        <a:rPr lang="en-IN" sz="1200" dirty="0"/>
                        <a:t>Serial No.</a:t>
                      </a:r>
                    </a:p>
                  </a:txBody>
                  <a:tcPr anchor="ctr"/>
                </a:tc>
                <a:tc>
                  <a:txBody>
                    <a:bodyPr/>
                    <a:lstStyle/>
                    <a:p>
                      <a:pPr algn="ctr"/>
                      <a:r>
                        <a:rPr lang="en-IN" sz="1200" dirty="0"/>
                        <a:t>Number of Citation</a:t>
                      </a:r>
                    </a:p>
                  </a:txBody>
                  <a:tcPr anchor="ctr"/>
                </a:tc>
                <a:extLst>
                  <a:ext uri="{0D108BD9-81ED-4DB2-BD59-A6C34878D82A}">
                    <a16:rowId xmlns:a16="http://schemas.microsoft.com/office/drawing/2014/main" val="192218951"/>
                  </a:ext>
                </a:extLst>
              </a:tr>
              <a:tr h="345353">
                <a:tc>
                  <a:txBody>
                    <a:bodyPr/>
                    <a:lstStyle/>
                    <a:p>
                      <a:pPr algn="ctr"/>
                      <a:r>
                        <a:rPr lang="en-IN" sz="1200" dirty="0"/>
                        <a:t>1</a:t>
                      </a:r>
                    </a:p>
                  </a:txBody>
                  <a:tcPr anchor="ctr"/>
                </a:tc>
                <a:tc>
                  <a:txBody>
                    <a:bodyPr/>
                    <a:lstStyle/>
                    <a:p>
                      <a:pPr algn="ctr"/>
                      <a:r>
                        <a:rPr lang="en-IN" sz="1200" dirty="0"/>
                        <a:t>75</a:t>
                      </a:r>
                    </a:p>
                  </a:txBody>
                  <a:tcPr anchor="ctr"/>
                </a:tc>
                <a:extLst>
                  <a:ext uri="{0D108BD9-81ED-4DB2-BD59-A6C34878D82A}">
                    <a16:rowId xmlns:a16="http://schemas.microsoft.com/office/drawing/2014/main" val="3378833885"/>
                  </a:ext>
                </a:extLst>
              </a:tr>
              <a:tr h="345353">
                <a:tc>
                  <a:txBody>
                    <a:bodyPr/>
                    <a:lstStyle/>
                    <a:p>
                      <a:pPr algn="ctr"/>
                      <a:r>
                        <a:rPr lang="en-IN" sz="1200" dirty="0"/>
                        <a:t>2</a:t>
                      </a:r>
                    </a:p>
                  </a:txBody>
                  <a:tcPr anchor="ctr"/>
                </a:tc>
                <a:tc>
                  <a:txBody>
                    <a:bodyPr/>
                    <a:lstStyle/>
                    <a:p>
                      <a:pPr algn="ctr"/>
                      <a:r>
                        <a:rPr lang="en-IN" sz="1200" dirty="0"/>
                        <a:t>68</a:t>
                      </a:r>
                    </a:p>
                  </a:txBody>
                  <a:tcPr anchor="ctr"/>
                </a:tc>
                <a:extLst>
                  <a:ext uri="{0D108BD9-81ED-4DB2-BD59-A6C34878D82A}">
                    <a16:rowId xmlns:a16="http://schemas.microsoft.com/office/drawing/2014/main" val="1002601712"/>
                  </a:ext>
                </a:extLst>
              </a:tr>
              <a:tr h="345353">
                <a:tc>
                  <a:txBody>
                    <a:bodyPr/>
                    <a:lstStyle/>
                    <a:p>
                      <a:pPr algn="ctr"/>
                      <a:r>
                        <a:rPr lang="en-IN" sz="1200" dirty="0"/>
                        <a:t>3</a:t>
                      </a:r>
                    </a:p>
                  </a:txBody>
                  <a:tcPr anchor="ctr"/>
                </a:tc>
                <a:tc>
                  <a:txBody>
                    <a:bodyPr/>
                    <a:lstStyle/>
                    <a:p>
                      <a:pPr algn="ctr"/>
                      <a:r>
                        <a:rPr lang="en-IN" sz="1200" dirty="0"/>
                        <a:t>65</a:t>
                      </a:r>
                    </a:p>
                  </a:txBody>
                  <a:tcPr anchor="ctr"/>
                </a:tc>
                <a:extLst>
                  <a:ext uri="{0D108BD9-81ED-4DB2-BD59-A6C34878D82A}">
                    <a16:rowId xmlns:a16="http://schemas.microsoft.com/office/drawing/2014/main" val="590761895"/>
                  </a:ext>
                </a:extLst>
              </a:tr>
              <a:tr h="345353">
                <a:tc>
                  <a:txBody>
                    <a:bodyPr/>
                    <a:lstStyle/>
                    <a:p>
                      <a:pPr algn="ctr"/>
                      <a:r>
                        <a:rPr lang="en-IN" sz="1200" dirty="0"/>
                        <a:t>4</a:t>
                      </a:r>
                    </a:p>
                  </a:txBody>
                  <a:tcPr anchor="ctr"/>
                </a:tc>
                <a:tc>
                  <a:txBody>
                    <a:bodyPr/>
                    <a:lstStyle/>
                    <a:p>
                      <a:pPr algn="ctr"/>
                      <a:r>
                        <a:rPr lang="en-IN" sz="1200" dirty="0"/>
                        <a:t>60</a:t>
                      </a:r>
                    </a:p>
                  </a:txBody>
                  <a:tcPr anchor="ctr"/>
                </a:tc>
                <a:extLst>
                  <a:ext uri="{0D108BD9-81ED-4DB2-BD59-A6C34878D82A}">
                    <a16:rowId xmlns:a16="http://schemas.microsoft.com/office/drawing/2014/main" val="1770928323"/>
                  </a:ext>
                </a:extLst>
              </a:tr>
              <a:tr h="345353">
                <a:tc>
                  <a:txBody>
                    <a:bodyPr/>
                    <a:lstStyle/>
                    <a:p>
                      <a:pPr algn="ctr"/>
                      <a:r>
                        <a:rPr lang="en-IN" sz="1200" dirty="0"/>
                        <a:t>5</a:t>
                      </a:r>
                    </a:p>
                  </a:txBody>
                  <a:tcPr anchor="ctr"/>
                </a:tc>
                <a:tc>
                  <a:txBody>
                    <a:bodyPr/>
                    <a:lstStyle/>
                    <a:p>
                      <a:pPr algn="ctr"/>
                      <a:r>
                        <a:rPr lang="en-IN" sz="1200" dirty="0"/>
                        <a:t>45</a:t>
                      </a:r>
                    </a:p>
                  </a:txBody>
                  <a:tcPr anchor="ctr"/>
                </a:tc>
                <a:extLst>
                  <a:ext uri="{0D108BD9-81ED-4DB2-BD59-A6C34878D82A}">
                    <a16:rowId xmlns:a16="http://schemas.microsoft.com/office/drawing/2014/main" val="3246512374"/>
                  </a:ext>
                </a:extLst>
              </a:tr>
              <a:tr h="345353">
                <a:tc>
                  <a:txBody>
                    <a:bodyPr/>
                    <a:lstStyle/>
                    <a:p>
                      <a:pPr algn="ctr"/>
                      <a:r>
                        <a:rPr lang="en-IN" sz="1200" dirty="0"/>
                        <a:t>6</a:t>
                      </a:r>
                    </a:p>
                  </a:txBody>
                  <a:tcPr anchor="ctr"/>
                </a:tc>
                <a:tc>
                  <a:txBody>
                    <a:bodyPr/>
                    <a:lstStyle/>
                    <a:p>
                      <a:pPr algn="ctr"/>
                      <a:r>
                        <a:rPr lang="en-IN" sz="1200" dirty="0"/>
                        <a:t>15</a:t>
                      </a:r>
                    </a:p>
                  </a:txBody>
                  <a:tcPr anchor="ctr"/>
                </a:tc>
                <a:extLst>
                  <a:ext uri="{0D108BD9-81ED-4DB2-BD59-A6C34878D82A}">
                    <a16:rowId xmlns:a16="http://schemas.microsoft.com/office/drawing/2014/main" val="3858036819"/>
                  </a:ext>
                </a:extLst>
              </a:tr>
              <a:tr h="345353">
                <a:tc>
                  <a:txBody>
                    <a:bodyPr/>
                    <a:lstStyle/>
                    <a:p>
                      <a:pPr algn="ctr"/>
                      <a:r>
                        <a:rPr lang="en-IN" sz="1200" dirty="0"/>
                        <a:t>7</a:t>
                      </a:r>
                    </a:p>
                  </a:txBody>
                  <a:tcPr anchor="ctr"/>
                </a:tc>
                <a:tc>
                  <a:txBody>
                    <a:bodyPr/>
                    <a:lstStyle/>
                    <a:p>
                      <a:pPr algn="ctr"/>
                      <a:r>
                        <a:rPr lang="en-IN" sz="1200" dirty="0"/>
                        <a:t>12</a:t>
                      </a:r>
                    </a:p>
                  </a:txBody>
                  <a:tcPr anchor="ctr"/>
                </a:tc>
                <a:extLst>
                  <a:ext uri="{0D108BD9-81ED-4DB2-BD59-A6C34878D82A}">
                    <a16:rowId xmlns:a16="http://schemas.microsoft.com/office/drawing/2014/main" val="3521403188"/>
                  </a:ext>
                </a:extLst>
              </a:tr>
              <a:tr h="345353">
                <a:tc>
                  <a:txBody>
                    <a:bodyPr/>
                    <a:lstStyle/>
                    <a:p>
                      <a:pPr algn="ctr"/>
                      <a:r>
                        <a:rPr lang="en-IN" sz="1200" dirty="0"/>
                        <a:t>8</a:t>
                      </a:r>
                    </a:p>
                  </a:txBody>
                  <a:tcPr anchor="ctr"/>
                </a:tc>
                <a:tc>
                  <a:txBody>
                    <a:bodyPr/>
                    <a:lstStyle/>
                    <a:p>
                      <a:pPr algn="ctr"/>
                      <a:r>
                        <a:rPr lang="en-IN" sz="1200" dirty="0"/>
                        <a:t>9</a:t>
                      </a:r>
                    </a:p>
                  </a:txBody>
                  <a:tcPr anchor="ctr"/>
                </a:tc>
                <a:extLst>
                  <a:ext uri="{0D108BD9-81ED-4DB2-BD59-A6C34878D82A}">
                    <a16:rowId xmlns:a16="http://schemas.microsoft.com/office/drawing/2014/main" val="497323844"/>
                  </a:ext>
                </a:extLst>
              </a:tr>
              <a:tr h="345353">
                <a:tc>
                  <a:txBody>
                    <a:bodyPr/>
                    <a:lstStyle/>
                    <a:p>
                      <a:pPr algn="ctr"/>
                      <a:r>
                        <a:rPr lang="en-IN" sz="1200" dirty="0"/>
                        <a:t>9</a:t>
                      </a:r>
                    </a:p>
                  </a:txBody>
                  <a:tcPr anchor="ctr"/>
                </a:tc>
                <a:tc>
                  <a:txBody>
                    <a:bodyPr/>
                    <a:lstStyle/>
                    <a:p>
                      <a:pPr algn="ctr"/>
                      <a:r>
                        <a:rPr lang="en-IN" sz="1200" dirty="0"/>
                        <a:t>5</a:t>
                      </a:r>
                    </a:p>
                  </a:txBody>
                  <a:tcPr anchor="ctr"/>
                </a:tc>
                <a:extLst>
                  <a:ext uri="{0D108BD9-81ED-4DB2-BD59-A6C34878D82A}">
                    <a16:rowId xmlns:a16="http://schemas.microsoft.com/office/drawing/2014/main" val="244221462"/>
                  </a:ext>
                </a:extLst>
              </a:tr>
              <a:tr h="345353">
                <a:tc>
                  <a:txBody>
                    <a:bodyPr/>
                    <a:lstStyle/>
                    <a:p>
                      <a:pPr algn="ctr"/>
                      <a:r>
                        <a:rPr lang="en-IN" sz="1200" dirty="0"/>
                        <a:t>10</a:t>
                      </a:r>
                    </a:p>
                  </a:txBody>
                  <a:tcPr anchor="ctr"/>
                </a:tc>
                <a:tc>
                  <a:txBody>
                    <a:bodyPr/>
                    <a:lstStyle/>
                    <a:p>
                      <a:pPr algn="ctr"/>
                      <a:r>
                        <a:rPr lang="en-IN" sz="1200" dirty="0"/>
                        <a:t>0</a:t>
                      </a:r>
                    </a:p>
                  </a:txBody>
                  <a:tcPr anchor="ctr"/>
                </a:tc>
                <a:extLst>
                  <a:ext uri="{0D108BD9-81ED-4DB2-BD59-A6C34878D82A}">
                    <a16:rowId xmlns:a16="http://schemas.microsoft.com/office/drawing/2014/main" val="625538217"/>
                  </a:ext>
                </a:extLst>
              </a:tr>
            </a:tbl>
          </a:graphicData>
        </a:graphic>
      </p:graphicFrame>
      <p:sp>
        <p:nvSpPr>
          <p:cNvPr id="5" name="Oval 4"/>
          <p:cNvSpPr/>
          <p:nvPr/>
        </p:nvSpPr>
        <p:spPr>
          <a:xfrm>
            <a:off x="8975558" y="4150895"/>
            <a:ext cx="385010" cy="2045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p:cNvSpPr/>
          <p:nvPr/>
        </p:nvSpPr>
        <p:spPr>
          <a:xfrm>
            <a:off x="8975558" y="4483769"/>
            <a:ext cx="385010" cy="2045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Curved Connector 7"/>
          <p:cNvCxnSpPr/>
          <p:nvPr/>
        </p:nvCxnSpPr>
        <p:spPr>
          <a:xfrm>
            <a:off x="7291137" y="3789947"/>
            <a:ext cx="1684421" cy="463217"/>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9" name="Curved Connector 8"/>
          <p:cNvCxnSpPr/>
          <p:nvPr/>
        </p:nvCxnSpPr>
        <p:spPr>
          <a:xfrm flipV="1">
            <a:off x="7291136" y="4585034"/>
            <a:ext cx="1684421" cy="463217"/>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
        <p:nvSpPr>
          <p:cNvPr id="11" name="Rectangle 10"/>
          <p:cNvSpPr/>
          <p:nvPr/>
        </p:nvSpPr>
        <p:spPr>
          <a:xfrm>
            <a:off x="6148139" y="3645568"/>
            <a:ext cx="1199564" cy="3128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solidFill>
                  <a:srgbClr val="FF0000"/>
                </a:solidFill>
              </a:rPr>
              <a:t>i10 Index is 7</a:t>
            </a:r>
          </a:p>
        </p:txBody>
      </p:sp>
      <p:sp>
        <p:nvSpPr>
          <p:cNvPr id="12" name="Rectangle 11"/>
          <p:cNvSpPr/>
          <p:nvPr/>
        </p:nvSpPr>
        <p:spPr>
          <a:xfrm>
            <a:off x="6266655" y="4893845"/>
            <a:ext cx="1082842" cy="3050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solidFill>
                  <a:srgbClr val="0000FF"/>
                </a:solidFill>
              </a:rPr>
              <a:t>H Index is 8</a:t>
            </a:r>
          </a:p>
        </p:txBody>
      </p:sp>
    </p:spTree>
    <p:extLst>
      <p:ext uri="{BB962C8B-B14F-4D97-AF65-F5344CB8AC3E}">
        <p14:creationId xmlns:p14="http://schemas.microsoft.com/office/powerpoint/2010/main" val="197298667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82412"/>
          </a:xfrm>
        </p:spPr>
        <p:txBody>
          <a:bodyPr>
            <a:normAutofit/>
          </a:bodyPr>
          <a:lstStyle/>
          <a:p>
            <a:pPr algn="ctr"/>
            <a:r>
              <a:rPr lang="en-US" sz="3200" b="1" dirty="0">
                <a:solidFill>
                  <a:srgbClr val="0000FF"/>
                </a:solidFill>
              </a:rPr>
              <a:t>Intellectual Property Rights (IPR)</a:t>
            </a:r>
            <a:br>
              <a:rPr lang="en-US" sz="3200" b="1" dirty="0"/>
            </a:br>
            <a:r>
              <a:rPr lang="en-US" sz="3200" b="1" dirty="0">
                <a:solidFill>
                  <a:srgbClr val="FF0000"/>
                </a:solidFill>
              </a:rPr>
              <a:t>Definition and Motivation for IPR</a:t>
            </a:r>
            <a:endParaRPr lang="en-IN" sz="3200" b="1" dirty="0">
              <a:solidFill>
                <a:srgbClr val="FF0000"/>
              </a:solidFill>
            </a:endParaRPr>
          </a:p>
        </p:txBody>
      </p:sp>
      <p:sp>
        <p:nvSpPr>
          <p:cNvPr id="3" name="Content Placeholder 2"/>
          <p:cNvSpPr>
            <a:spLocks noGrp="1"/>
          </p:cNvSpPr>
          <p:nvPr>
            <p:ph idx="1"/>
          </p:nvPr>
        </p:nvSpPr>
        <p:spPr>
          <a:xfrm>
            <a:off x="838200" y="1347538"/>
            <a:ext cx="10515600" cy="4829425"/>
          </a:xfrm>
        </p:spPr>
        <p:txBody>
          <a:bodyPr>
            <a:normAutofit fontScale="92500" lnSpcReduction="10000"/>
          </a:bodyPr>
          <a:lstStyle/>
          <a:p>
            <a:r>
              <a:rPr lang="en-US" dirty="0"/>
              <a:t>Intellectual property rights are legal rights that provide creators protection for original works, inventions, or the appearance of products, artistic works, scientific developments etc.</a:t>
            </a:r>
          </a:p>
          <a:p>
            <a:r>
              <a:rPr lang="en-US" dirty="0"/>
              <a:t>This incentivizes discovery and creativity by providing creators with an opportunity to profit from the value of their innovative work</a:t>
            </a:r>
          </a:p>
          <a:p>
            <a:r>
              <a:rPr lang="en-US" dirty="0"/>
              <a:t>The IP rights are important because they can:</a:t>
            </a:r>
          </a:p>
          <a:p>
            <a:pPr marL="890588" indent="-168275">
              <a:buFont typeface="Wingdings" panose="05000000000000000000" pitchFamily="2" charset="2"/>
              <a:buChar char="Ø"/>
            </a:pPr>
            <a:r>
              <a:rPr lang="en-US" dirty="0"/>
              <a:t>Used to differentiate a business from its competitors</a:t>
            </a:r>
          </a:p>
          <a:p>
            <a:pPr marL="890588" indent="-168275">
              <a:buFont typeface="Wingdings" panose="05000000000000000000" pitchFamily="2" charset="2"/>
              <a:buChar char="Ø"/>
            </a:pPr>
            <a:r>
              <a:rPr lang="en-US" dirty="0"/>
              <a:t>Be sold or licensed providing an important revenue stream</a:t>
            </a:r>
          </a:p>
          <a:p>
            <a:pPr marL="890588" indent="-168275">
              <a:buFont typeface="Wingdings" panose="05000000000000000000" pitchFamily="2" charset="2"/>
              <a:buChar char="Ø"/>
            </a:pPr>
            <a:r>
              <a:rPr lang="en-US" dirty="0"/>
              <a:t>Offer customers something innovative that is not available with other businesses etc.</a:t>
            </a:r>
          </a:p>
          <a:p>
            <a:pPr marL="890588" indent="-168275">
              <a:buFont typeface="Wingdings" panose="05000000000000000000" pitchFamily="2" charset="2"/>
              <a:buChar char="Ø"/>
            </a:pPr>
            <a:r>
              <a:rPr lang="en-US" dirty="0"/>
              <a:t>This encourages innovation, competitiveness, knowledge economy development, jobs and economic growth and prosperity</a:t>
            </a:r>
            <a:endParaRPr lang="en-IN" dirty="0"/>
          </a:p>
        </p:txBody>
      </p:sp>
    </p:spTree>
    <p:extLst>
      <p:ext uri="{BB962C8B-B14F-4D97-AF65-F5344CB8AC3E}">
        <p14:creationId xmlns:p14="http://schemas.microsoft.com/office/powerpoint/2010/main" val="330662177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46386"/>
          </a:xfrm>
        </p:spPr>
        <p:txBody>
          <a:bodyPr>
            <a:normAutofit/>
          </a:bodyPr>
          <a:lstStyle/>
          <a:p>
            <a:pPr algn="ctr"/>
            <a:r>
              <a:rPr lang="en-IN" sz="3200" b="1" dirty="0">
                <a:solidFill>
                  <a:srgbClr val="0000FF"/>
                </a:solidFill>
              </a:rPr>
              <a:t>Broad Classification of IPR</a:t>
            </a:r>
          </a:p>
        </p:txBody>
      </p:sp>
      <p:sp>
        <p:nvSpPr>
          <p:cNvPr id="3" name="Content Placeholder 2"/>
          <p:cNvSpPr>
            <a:spLocks noGrp="1"/>
          </p:cNvSpPr>
          <p:nvPr>
            <p:ph idx="1"/>
          </p:nvPr>
        </p:nvSpPr>
        <p:spPr>
          <a:xfrm>
            <a:off x="838200" y="1011512"/>
            <a:ext cx="10515600" cy="5165451"/>
          </a:xfrm>
        </p:spPr>
        <p:txBody>
          <a:bodyPr/>
          <a:lstStyle/>
          <a:p>
            <a:r>
              <a:rPr lang="en-US" sz="2000" dirty="0"/>
              <a:t>Intellectual property is broadly categorized into two:</a:t>
            </a:r>
          </a:p>
          <a:p>
            <a:pPr marL="890588" indent="-361950">
              <a:buFont typeface="+mj-lt"/>
              <a:buAutoNum type="romanLcPeriod"/>
            </a:pPr>
            <a:r>
              <a:rPr lang="en-US" sz="2000" dirty="0"/>
              <a:t>Industrial Property-Patents, trademarks and designs-</a:t>
            </a:r>
            <a:r>
              <a:rPr lang="en-US" sz="2000" dirty="0" err="1"/>
              <a:t>eg</a:t>
            </a:r>
            <a:r>
              <a:rPr lang="en-US" sz="2000" dirty="0"/>
              <a:t>. drug molecule patent, coca cola trademark and bottle design</a:t>
            </a:r>
          </a:p>
          <a:p>
            <a:pPr marL="890588" indent="-361950">
              <a:buFont typeface="+mj-lt"/>
              <a:buAutoNum type="romanLcPeriod"/>
            </a:pPr>
            <a:endParaRPr lang="en-US" dirty="0"/>
          </a:p>
          <a:p>
            <a:pPr marL="890588" indent="-361950">
              <a:buFont typeface="+mj-lt"/>
              <a:buAutoNum type="romanLcPeriod"/>
            </a:pPr>
            <a:endParaRPr lang="en-US" dirty="0"/>
          </a:p>
          <a:p>
            <a:pPr marL="890588" indent="-361950">
              <a:buFont typeface="+mj-lt"/>
              <a:buAutoNum type="romanLcPeriod"/>
            </a:pPr>
            <a:endParaRPr lang="en-US" dirty="0"/>
          </a:p>
          <a:p>
            <a:pPr marL="890588" indent="-361950">
              <a:buFont typeface="+mj-lt"/>
              <a:buAutoNum type="romanLcPeriod"/>
            </a:pPr>
            <a:endParaRPr lang="en-US" dirty="0"/>
          </a:p>
          <a:p>
            <a:pPr marL="890588" indent="-361950">
              <a:buFont typeface="+mj-lt"/>
              <a:buAutoNum type="romanLcPeriod"/>
            </a:pPr>
            <a:r>
              <a:rPr lang="en-US" sz="2000" dirty="0"/>
              <a:t>Literary and Artistic Property-copyright and related rights- </a:t>
            </a:r>
            <a:r>
              <a:rPr lang="en-US" sz="2000" dirty="0" err="1"/>
              <a:t>eg</a:t>
            </a:r>
            <a:r>
              <a:rPr lang="en-US" sz="2000" dirty="0"/>
              <a:t>. Shakespeare's literary works, Computer codes, Video recordings, Musical works, Website design, Pictures </a:t>
            </a:r>
            <a:r>
              <a:rPr lang="en-US" sz="2000" dirty="0" err="1"/>
              <a:t>etc</a:t>
            </a:r>
            <a:endParaRPr lang="en-IN" sz="2000" dirty="0"/>
          </a:p>
        </p:txBody>
      </p:sp>
      <p:pic>
        <p:nvPicPr>
          <p:cNvPr id="4" name="Picture 3"/>
          <p:cNvPicPr>
            <a:picLocks noChangeAspect="1"/>
          </p:cNvPicPr>
          <p:nvPr/>
        </p:nvPicPr>
        <p:blipFill>
          <a:blip r:embed="rId2"/>
          <a:stretch>
            <a:fillRect/>
          </a:stretch>
        </p:blipFill>
        <p:spPr>
          <a:xfrm>
            <a:off x="3072272" y="2218199"/>
            <a:ext cx="6120481" cy="1735713"/>
          </a:xfrm>
          <a:prstGeom prst="rect">
            <a:avLst/>
          </a:prstGeom>
        </p:spPr>
      </p:pic>
      <p:pic>
        <p:nvPicPr>
          <p:cNvPr id="5" name="Picture 4"/>
          <p:cNvPicPr>
            <a:picLocks noChangeAspect="1"/>
          </p:cNvPicPr>
          <p:nvPr/>
        </p:nvPicPr>
        <p:blipFill>
          <a:blip r:embed="rId3"/>
          <a:stretch>
            <a:fillRect/>
          </a:stretch>
        </p:blipFill>
        <p:spPr>
          <a:xfrm>
            <a:off x="2719137" y="4884821"/>
            <a:ext cx="7026442" cy="1292143"/>
          </a:xfrm>
          <a:prstGeom prst="rect">
            <a:avLst/>
          </a:prstGeom>
        </p:spPr>
      </p:pic>
    </p:spTree>
    <p:extLst>
      <p:ext uri="{BB962C8B-B14F-4D97-AF65-F5344CB8AC3E}">
        <p14:creationId xmlns:p14="http://schemas.microsoft.com/office/powerpoint/2010/main" val="259117315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45528"/>
          </a:xfrm>
        </p:spPr>
        <p:txBody>
          <a:bodyPr>
            <a:normAutofit/>
          </a:bodyPr>
          <a:lstStyle/>
          <a:p>
            <a:pPr algn="ctr"/>
            <a:r>
              <a:rPr lang="en-IN" sz="3200" b="1" dirty="0">
                <a:solidFill>
                  <a:srgbClr val="0000FF"/>
                </a:solidFill>
              </a:rPr>
              <a:t>World Trade Organization</a:t>
            </a:r>
          </a:p>
        </p:txBody>
      </p:sp>
      <p:sp>
        <p:nvSpPr>
          <p:cNvPr id="3" name="Content Placeholder 2"/>
          <p:cNvSpPr>
            <a:spLocks noGrp="1"/>
          </p:cNvSpPr>
          <p:nvPr>
            <p:ph idx="1"/>
          </p:nvPr>
        </p:nvSpPr>
        <p:spPr>
          <a:xfrm>
            <a:off x="838200" y="1010654"/>
            <a:ext cx="10515600" cy="5166309"/>
          </a:xfrm>
        </p:spPr>
        <p:txBody>
          <a:bodyPr>
            <a:normAutofit fontScale="92500"/>
          </a:bodyPr>
          <a:lstStyle/>
          <a:p>
            <a:r>
              <a:rPr lang="en-US" dirty="0"/>
              <a:t>The World Trade Organization (WTO) </a:t>
            </a:r>
          </a:p>
          <a:p>
            <a:pPr marL="0" indent="0">
              <a:buNone/>
            </a:pPr>
            <a:r>
              <a:rPr lang="en-US" dirty="0"/>
              <a:t>   is a global international organization </a:t>
            </a:r>
          </a:p>
          <a:p>
            <a:pPr marL="0" indent="0">
              <a:buNone/>
            </a:pPr>
            <a:r>
              <a:rPr lang="en-US" dirty="0"/>
              <a:t>   dealing with the rules of trade between </a:t>
            </a:r>
          </a:p>
          <a:p>
            <a:pPr marL="0" indent="0">
              <a:buNone/>
            </a:pPr>
            <a:r>
              <a:rPr lang="en-US" dirty="0"/>
              <a:t>   nations.</a:t>
            </a:r>
          </a:p>
          <a:p>
            <a:r>
              <a:rPr lang="en-US" dirty="0"/>
              <a:t>It is based on WTO agreements signed by </a:t>
            </a:r>
          </a:p>
          <a:p>
            <a:pPr marL="0" indent="0">
              <a:buNone/>
            </a:pPr>
            <a:r>
              <a:rPr lang="en-US" dirty="0"/>
              <a:t>   the bulk of the world's trading nations.</a:t>
            </a:r>
          </a:p>
          <a:p>
            <a:r>
              <a:rPr lang="en-US" dirty="0"/>
              <a:t>Its goal is to ensure that trade flows smoothly, predictably and as freely as possible between nations.</a:t>
            </a:r>
          </a:p>
          <a:p>
            <a:r>
              <a:rPr lang="en-US" dirty="0"/>
              <a:t>It acts as a forum for negotiating trade agreements, settling trade disputes between its members and supporting the needs of developing countries.</a:t>
            </a:r>
          </a:p>
          <a:p>
            <a:r>
              <a:rPr lang="en-US" dirty="0"/>
              <a:t>India is a member of WTO since inception in 1995</a:t>
            </a:r>
            <a:endParaRPr lang="en-IN" dirty="0"/>
          </a:p>
        </p:txBody>
      </p:sp>
      <p:pic>
        <p:nvPicPr>
          <p:cNvPr id="4" name="Picture 3"/>
          <p:cNvPicPr>
            <a:picLocks noChangeAspect="1"/>
          </p:cNvPicPr>
          <p:nvPr/>
        </p:nvPicPr>
        <p:blipFill>
          <a:blip r:embed="rId2"/>
          <a:stretch>
            <a:fillRect/>
          </a:stretch>
        </p:blipFill>
        <p:spPr>
          <a:xfrm>
            <a:off x="6514850" y="1347537"/>
            <a:ext cx="4838950" cy="1712244"/>
          </a:xfrm>
          <a:prstGeom prst="rect">
            <a:avLst/>
          </a:prstGeom>
        </p:spPr>
      </p:pic>
    </p:spTree>
    <p:extLst>
      <p:ext uri="{BB962C8B-B14F-4D97-AF65-F5344CB8AC3E}">
        <p14:creationId xmlns:p14="http://schemas.microsoft.com/office/powerpoint/2010/main" val="322300465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9591"/>
          </a:xfrm>
        </p:spPr>
        <p:txBody>
          <a:bodyPr>
            <a:normAutofit/>
          </a:bodyPr>
          <a:lstStyle/>
          <a:p>
            <a:pPr algn="ctr"/>
            <a:r>
              <a:rPr lang="en-IN" sz="3200" b="1" dirty="0">
                <a:solidFill>
                  <a:srgbClr val="0000FF"/>
                </a:solidFill>
              </a:rPr>
              <a:t>World Intellectual Property Organization</a:t>
            </a:r>
          </a:p>
        </p:txBody>
      </p:sp>
      <p:sp>
        <p:nvSpPr>
          <p:cNvPr id="3" name="Content Placeholder 2"/>
          <p:cNvSpPr>
            <a:spLocks noGrp="1"/>
          </p:cNvSpPr>
          <p:nvPr>
            <p:ph idx="1"/>
          </p:nvPr>
        </p:nvSpPr>
        <p:spPr>
          <a:xfrm>
            <a:off x="838200" y="1034716"/>
            <a:ext cx="10515600" cy="5142247"/>
          </a:xfrm>
        </p:spPr>
        <p:txBody>
          <a:bodyPr>
            <a:normAutofit fontScale="92500"/>
          </a:bodyPr>
          <a:lstStyle/>
          <a:p>
            <a:r>
              <a:rPr lang="en-US" dirty="0"/>
              <a:t>The World Intellectual Property </a:t>
            </a:r>
          </a:p>
          <a:p>
            <a:pPr marL="0" indent="0">
              <a:buNone/>
            </a:pPr>
            <a:r>
              <a:rPr lang="en-US" dirty="0"/>
              <a:t>   Organization (WIPO) was established </a:t>
            </a:r>
          </a:p>
          <a:p>
            <a:pPr marL="0" indent="0">
              <a:buNone/>
            </a:pPr>
            <a:r>
              <a:rPr lang="en-US" dirty="0"/>
              <a:t>   in 1967 and is a specialized agency of </a:t>
            </a:r>
          </a:p>
          <a:p>
            <a:pPr marL="0" indent="0">
              <a:buNone/>
            </a:pPr>
            <a:r>
              <a:rPr lang="en-US" dirty="0"/>
              <a:t>   the United Nations with 193 member states.</a:t>
            </a:r>
          </a:p>
          <a:p>
            <a:r>
              <a:rPr lang="en-US" dirty="0"/>
              <a:t>WIPO provides a platform with treaties, forums, standards, databases and services to register and protect IP in different countries, resolving transboundary IP disputes etc. for a balanced and accessible international IP system which will rewards creativity, stimulates innovation and contributes to economic development while safeguarding public interest.</a:t>
            </a:r>
          </a:p>
          <a:p>
            <a:r>
              <a:rPr lang="en-US" dirty="0"/>
              <a:t>India is a member to several WIPO conventions and treaties, thereby underlining its strong multilateral engagement with WIPO and intent to create a strong regime for IP protection</a:t>
            </a:r>
            <a:endParaRPr lang="en-IN" dirty="0"/>
          </a:p>
        </p:txBody>
      </p:sp>
      <p:pic>
        <p:nvPicPr>
          <p:cNvPr id="4" name="Picture 3"/>
          <p:cNvPicPr>
            <a:picLocks noChangeAspect="1"/>
          </p:cNvPicPr>
          <p:nvPr/>
        </p:nvPicPr>
        <p:blipFill>
          <a:blip r:embed="rId2"/>
          <a:stretch>
            <a:fillRect/>
          </a:stretch>
        </p:blipFill>
        <p:spPr>
          <a:xfrm>
            <a:off x="7352797" y="1034716"/>
            <a:ext cx="3348185" cy="1446546"/>
          </a:xfrm>
          <a:prstGeom prst="rect">
            <a:avLst/>
          </a:prstGeom>
        </p:spPr>
      </p:pic>
    </p:spTree>
    <p:extLst>
      <p:ext uri="{BB962C8B-B14F-4D97-AF65-F5344CB8AC3E}">
        <p14:creationId xmlns:p14="http://schemas.microsoft.com/office/powerpoint/2010/main" val="240150088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62096"/>
          </a:xfrm>
        </p:spPr>
        <p:txBody>
          <a:bodyPr>
            <a:normAutofit/>
          </a:bodyPr>
          <a:lstStyle/>
          <a:p>
            <a:r>
              <a:rPr lang="en-US" sz="3200" b="1" dirty="0">
                <a:solidFill>
                  <a:srgbClr val="0000FF"/>
                </a:solidFill>
              </a:rPr>
              <a:t>Trade-Related Aspects of Intellectual Property Rights Agreement</a:t>
            </a:r>
            <a:endParaRPr lang="en-IN" sz="3200" b="1" dirty="0">
              <a:solidFill>
                <a:srgbClr val="0000FF"/>
              </a:solidFill>
            </a:endParaRPr>
          </a:p>
        </p:txBody>
      </p:sp>
      <p:sp>
        <p:nvSpPr>
          <p:cNvPr id="3" name="Content Placeholder 2"/>
          <p:cNvSpPr>
            <a:spLocks noGrp="1"/>
          </p:cNvSpPr>
          <p:nvPr>
            <p:ph idx="1"/>
          </p:nvPr>
        </p:nvSpPr>
        <p:spPr>
          <a:xfrm>
            <a:off x="838200" y="1227222"/>
            <a:ext cx="10515600" cy="4949741"/>
          </a:xfrm>
        </p:spPr>
        <p:txBody>
          <a:bodyPr>
            <a:normAutofit fontScale="92500" lnSpcReduction="10000"/>
          </a:bodyPr>
          <a:lstStyle/>
          <a:p>
            <a:r>
              <a:rPr lang="en-US" dirty="0"/>
              <a:t>The widespread piracy, counterfeiting and IPR infringement constituted a major barrier to trade between nations, </a:t>
            </a:r>
            <a:r>
              <a:rPr lang="en-US" dirty="0" err="1"/>
              <a:t>inspite</a:t>
            </a:r>
            <a:r>
              <a:rPr lang="en-US" dirty="0"/>
              <a:t> of the WTO agreement.</a:t>
            </a:r>
          </a:p>
          <a:p>
            <a:r>
              <a:rPr lang="en-US" dirty="0"/>
              <a:t>To reduce these impediments, resolve IP related disputes and support a mutually supportive relationship between WTO and WIPO, the Trade-Related Aspects of Intellectual Property Rights (TRIPS) agreement was constituted in 1995.</a:t>
            </a:r>
          </a:p>
          <a:p>
            <a:r>
              <a:rPr lang="en-US" dirty="0"/>
              <a:t>Hence, TRIPS is an international legal agreement between all WTO member nations.</a:t>
            </a:r>
          </a:p>
          <a:p>
            <a:r>
              <a:rPr lang="en-US" dirty="0"/>
              <a:t>It establishes minimum standards for resolution of IP related trade disputes between WTO members while taking into account the domestic interests of the nations.</a:t>
            </a:r>
          </a:p>
          <a:p>
            <a:r>
              <a:rPr lang="en-US" dirty="0"/>
              <a:t>The Agreement is a legal recognition of the significance of links between IP and trade and the need for a balanced IP system</a:t>
            </a:r>
            <a:endParaRPr lang="en-IN" dirty="0"/>
          </a:p>
        </p:txBody>
      </p:sp>
    </p:spTree>
    <p:extLst>
      <p:ext uri="{BB962C8B-B14F-4D97-AF65-F5344CB8AC3E}">
        <p14:creationId xmlns:p14="http://schemas.microsoft.com/office/powerpoint/2010/main" val="148215123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9591"/>
          </a:xfrm>
        </p:spPr>
        <p:txBody>
          <a:bodyPr>
            <a:normAutofit/>
          </a:bodyPr>
          <a:lstStyle/>
          <a:p>
            <a:pPr algn="ctr"/>
            <a:r>
              <a:rPr lang="en-IN" sz="3200" b="1" dirty="0">
                <a:solidFill>
                  <a:srgbClr val="0000FF"/>
                </a:solidFill>
              </a:rPr>
              <a:t>Types of Indian IPR</a:t>
            </a:r>
          </a:p>
        </p:txBody>
      </p:sp>
      <p:sp>
        <p:nvSpPr>
          <p:cNvPr id="3" name="Content Placeholder 2"/>
          <p:cNvSpPr>
            <a:spLocks noGrp="1"/>
          </p:cNvSpPr>
          <p:nvPr>
            <p:ph idx="1"/>
          </p:nvPr>
        </p:nvSpPr>
        <p:spPr>
          <a:xfrm>
            <a:off x="838200" y="1034716"/>
            <a:ext cx="10515600" cy="5142247"/>
          </a:xfrm>
        </p:spPr>
        <p:txBody>
          <a:bodyPr>
            <a:normAutofit/>
          </a:bodyPr>
          <a:lstStyle/>
          <a:p>
            <a:pPr marL="0" indent="0">
              <a:buNone/>
            </a:pPr>
            <a:r>
              <a:rPr lang="en-US" sz="2400" dirty="0"/>
              <a:t>IPR in India can be classified as follows:</a:t>
            </a:r>
          </a:p>
          <a:p>
            <a:pPr marL="1082675" indent="-360363">
              <a:buFont typeface="+mj-lt"/>
              <a:buAutoNum type="arabicPeriod"/>
            </a:pPr>
            <a:r>
              <a:rPr lang="en-US" sz="2400" dirty="0"/>
              <a:t>Patents (and inventions)</a:t>
            </a:r>
          </a:p>
          <a:p>
            <a:pPr marL="1082675" indent="-360363">
              <a:buFont typeface="+mj-lt"/>
              <a:buAutoNum type="arabicPeriod"/>
            </a:pPr>
            <a:r>
              <a:rPr lang="en-US" sz="2400" dirty="0"/>
              <a:t>Design (Industrial Design)</a:t>
            </a:r>
          </a:p>
          <a:p>
            <a:pPr marL="1082675" indent="-360363">
              <a:buFont typeface="+mj-lt"/>
              <a:buAutoNum type="arabicPeriod"/>
            </a:pPr>
            <a:r>
              <a:rPr lang="en-US" sz="2400" dirty="0"/>
              <a:t>Trademark</a:t>
            </a:r>
          </a:p>
          <a:p>
            <a:pPr marL="1082675" indent="-360363">
              <a:buFont typeface="+mj-lt"/>
              <a:buAutoNum type="arabicPeriod"/>
            </a:pPr>
            <a:r>
              <a:rPr lang="en-US" sz="2400" dirty="0"/>
              <a:t>Copyright</a:t>
            </a:r>
          </a:p>
          <a:p>
            <a:pPr marL="1082675" indent="-360363">
              <a:buFont typeface="+mj-lt"/>
              <a:buAutoNum type="arabicPeriod"/>
            </a:pPr>
            <a:r>
              <a:rPr lang="en-US" sz="2400" dirty="0"/>
              <a:t>Geographical Indication</a:t>
            </a:r>
          </a:p>
          <a:p>
            <a:pPr marL="1082675" indent="-360363">
              <a:buFont typeface="+mj-lt"/>
              <a:buAutoNum type="arabicPeriod"/>
            </a:pPr>
            <a:r>
              <a:rPr lang="en-US" sz="2400" dirty="0"/>
              <a:t>Trade Secret</a:t>
            </a:r>
            <a:endParaRPr lang="en-IN" sz="2400" dirty="0"/>
          </a:p>
        </p:txBody>
      </p:sp>
      <p:sp>
        <p:nvSpPr>
          <p:cNvPr id="4" name="Oval 3"/>
          <p:cNvSpPr/>
          <p:nvPr/>
        </p:nvSpPr>
        <p:spPr>
          <a:xfrm>
            <a:off x="7520079" y="2519780"/>
            <a:ext cx="2879387" cy="2717359"/>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4000" dirty="0"/>
              <a:t>IRP in India</a:t>
            </a:r>
          </a:p>
        </p:txBody>
      </p:sp>
      <p:sp>
        <p:nvSpPr>
          <p:cNvPr id="6" name="Oval 5"/>
          <p:cNvSpPr/>
          <p:nvPr/>
        </p:nvSpPr>
        <p:spPr>
          <a:xfrm>
            <a:off x="6263836" y="3613720"/>
            <a:ext cx="1424080" cy="1272420"/>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1200" dirty="0">
                <a:solidFill>
                  <a:schemeClr val="tx1"/>
                </a:solidFill>
              </a:rPr>
              <a:t>Geographical</a:t>
            </a:r>
          </a:p>
          <a:p>
            <a:pPr algn="ctr"/>
            <a:r>
              <a:rPr lang="en-IN" sz="1200" dirty="0">
                <a:solidFill>
                  <a:schemeClr val="tx1"/>
                </a:solidFill>
              </a:rPr>
              <a:t>indication</a:t>
            </a:r>
          </a:p>
        </p:txBody>
      </p:sp>
      <p:sp>
        <p:nvSpPr>
          <p:cNvPr id="7" name="Oval 6"/>
          <p:cNvSpPr/>
          <p:nvPr/>
        </p:nvSpPr>
        <p:spPr>
          <a:xfrm>
            <a:off x="7434279" y="4839390"/>
            <a:ext cx="1424080" cy="1272420"/>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1200" dirty="0">
                <a:solidFill>
                  <a:schemeClr val="tx1"/>
                </a:solidFill>
              </a:rPr>
              <a:t>Utility / Model Design</a:t>
            </a:r>
          </a:p>
        </p:txBody>
      </p:sp>
      <p:sp>
        <p:nvSpPr>
          <p:cNvPr id="8" name="Oval 7"/>
          <p:cNvSpPr/>
          <p:nvPr/>
        </p:nvSpPr>
        <p:spPr>
          <a:xfrm>
            <a:off x="9192316" y="4823881"/>
            <a:ext cx="1424079" cy="1269450"/>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1400" dirty="0">
                <a:solidFill>
                  <a:schemeClr val="tx1"/>
                </a:solidFill>
              </a:rPr>
              <a:t>Plant Breeders</a:t>
            </a:r>
          </a:p>
        </p:txBody>
      </p:sp>
      <p:sp>
        <p:nvSpPr>
          <p:cNvPr id="10" name="Oval 9"/>
          <p:cNvSpPr/>
          <p:nvPr/>
        </p:nvSpPr>
        <p:spPr>
          <a:xfrm>
            <a:off x="6581358" y="2111069"/>
            <a:ext cx="1424079" cy="1263212"/>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1200" dirty="0">
                <a:solidFill>
                  <a:schemeClr val="tx1"/>
                </a:solidFill>
              </a:rPr>
              <a:t>Trademark</a:t>
            </a:r>
          </a:p>
        </p:txBody>
      </p:sp>
      <p:sp>
        <p:nvSpPr>
          <p:cNvPr id="11" name="Oval 10"/>
          <p:cNvSpPr/>
          <p:nvPr/>
        </p:nvSpPr>
        <p:spPr>
          <a:xfrm>
            <a:off x="8247732" y="1354908"/>
            <a:ext cx="1424080" cy="1267457"/>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1400" dirty="0">
                <a:solidFill>
                  <a:schemeClr val="tx1"/>
                </a:solidFill>
              </a:rPr>
              <a:t>Patent</a:t>
            </a:r>
          </a:p>
        </p:txBody>
      </p:sp>
      <p:sp>
        <p:nvSpPr>
          <p:cNvPr id="5" name="Oval 4"/>
          <p:cNvSpPr/>
          <p:nvPr/>
        </p:nvSpPr>
        <p:spPr>
          <a:xfrm>
            <a:off x="9891883" y="2113352"/>
            <a:ext cx="1424080" cy="1263212"/>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1400" dirty="0">
                <a:solidFill>
                  <a:schemeClr val="tx1"/>
                </a:solidFill>
              </a:rPr>
              <a:t>Trade Secrets</a:t>
            </a:r>
          </a:p>
        </p:txBody>
      </p:sp>
      <p:sp>
        <p:nvSpPr>
          <p:cNvPr id="9" name="Oval 8"/>
          <p:cNvSpPr/>
          <p:nvPr/>
        </p:nvSpPr>
        <p:spPr>
          <a:xfrm>
            <a:off x="10196639" y="3602604"/>
            <a:ext cx="1424080" cy="1283536"/>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1200" dirty="0">
                <a:solidFill>
                  <a:schemeClr val="tx1"/>
                </a:solidFill>
              </a:rPr>
              <a:t>Copyright</a:t>
            </a:r>
          </a:p>
        </p:txBody>
      </p:sp>
    </p:spTree>
    <p:extLst>
      <p:ext uri="{BB962C8B-B14F-4D97-AF65-F5344CB8AC3E}">
        <p14:creationId xmlns:p14="http://schemas.microsoft.com/office/powerpoint/2010/main" val="244135335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6425"/>
          </a:xfrm>
        </p:spPr>
        <p:txBody>
          <a:bodyPr>
            <a:normAutofit/>
          </a:bodyPr>
          <a:lstStyle/>
          <a:p>
            <a:pPr algn="ctr"/>
            <a:r>
              <a:rPr lang="en-IN" sz="3200" b="1" dirty="0">
                <a:solidFill>
                  <a:srgbClr val="0000FF"/>
                </a:solidFill>
              </a:rPr>
              <a:t>Types of Indian IPR</a:t>
            </a:r>
          </a:p>
        </p:txBody>
      </p:sp>
      <p:sp>
        <p:nvSpPr>
          <p:cNvPr id="3" name="Content Placeholder 2"/>
          <p:cNvSpPr>
            <a:spLocks noGrp="1"/>
          </p:cNvSpPr>
          <p:nvPr>
            <p:ph idx="1"/>
          </p:nvPr>
        </p:nvSpPr>
        <p:spPr>
          <a:xfrm>
            <a:off x="838200" y="971550"/>
            <a:ext cx="6870895" cy="5205413"/>
          </a:xfrm>
        </p:spPr>
        <p:txBody>
          <a:bodyPr>
            <a:normAutofit fontScale="92500" lnSpcReduction="20000"/>
          </a:bodyPr>
          <a:lstStyle/>
          <a:p>
            <a:pPr marL="514350" indent="-514350">
              <a:buAutoNum type="arabicPeriod"/>
            </a:pPr>
            <a:r>
              <a:rPr lang="en-US" dirty="0"/>
              <a:t>Indian Patents : </a:t>
            </a:r>
          </a:p>
          <a:p>
            <a:pPr>
              <a:buFont typeface="Wingdings" panose="05000000000000000000" pitchFamily="2" charset="2"/>
              <a:buChar char="Ø"/>
            </a:pPr>
            <a:r>
              <a:rPr lang="en-US" dirty="0"/>
              <a:t>A patent is used to prevent an invention from being created, sold, or used by another party without permission. </a:t>
            </a:r>
          </a:p>
          <a:p>
            <a:pPr>
              <a:buFont typeface="Wingdings" panose="05000000000000000000" pitchFamily="2" charset="2"/>
              <a:buChar char="Ø"/>
            </a:pPr>
            <a:r>
              <a:rPr lang="en-US" dirty="0"/>
              <a:t>Patents are the most common type of intellectual property rights that come to people's minds when they think of IPR protection.</a:t>
            </a:r>
          </a:p>
          <a:p>
            <a:pPr>
              <a:buFont typeface="Wingdings" panose="05000000000000000000" pitchFamily="2" charset="2"/>
              <a:buChar char="Ø"/>
            </a:pPr>
            <a:r>
              <a:rPr lang="en-US" dirty="0"/>
              <a:t>A patent owner has every right to commercialize the patent, including buying and selling the patent or granting a license to the invention to any third party under mutually agreed terms.</a:t>
            </a:r>
          </a:p>
          <a:p>
            <a:pPr>
              <a:buFont typeface="Wingdings" panose="05000000000000000000" pitchFamily="2" charset="2"/>
              <a:buChar char="Ø"/>
            </a:pPr>
            <a:r>
              <a:rPr lang="en-US" dirty="0"/>
              <a:t>A patent has a 20 year validity under Indian Patent Act, 1970.</a:t>
            </a:r>
            <a:endParaRPr lang="en-IN" dirty="0"/>
          </a:p>
        </p:txBody>
      </p:sp>
      <p:pic>
        <p:nvPicPr>
          <p:cNvPr id="4" name="Picture 3"/>
          <p:cNvPicPr>
            <a:picLocks noChangeAspect="1"/>
          </p:cNvPicPr>
          <p:nvPr/>
        </p:nvPicPr>
        <p:blipFill>
          <a:blip r:embed="rId2"/>
          <a:stretch>
            <a:fillRect/>
          </a:stretch>
        </p:blipFill>
        <p:spPr>
          <a:xfrm>
            <a:off x="8088146" y="477404"/>
            <a:ext cx="3733740" cy="6015471"/>
          </a:xfrm>
          <a:prstGeom prst="rect">
            <a:avLst/>
          </a:prstGeom>
        </p:spPr>
      </p:pic>
    </p:spTree>
    <p:extLst>
      <p:ext uri="{BB962C8B-B14F-4D97-AF65-F5344CB8AC3E}">
        <p14:creationId xmlns:p14="http://schemas.microsoft.com/office/powerpoint/2010/main" val="136611095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44696"/>
          </a:xfrm>
        </p:spPr>
        <p:txBody>
          <a:bodyPr>
            <a:normAutofit/>
          </a:bodyPr>
          <a:lstStyle/>
          <a:p>
            <a:pPr algn="ctr"/>
            <a:r>
              <a:rPr lang="en-US" sz="3200" b="1" dirty="0">
                <a:solidFill>
                  <a:srgbClr val="0000FF"/>
                </a:solidFill>
              </a:rPr>
              <a:t>Factors to be Considered in Patenting</a:t>
            </a:r>
            <a:endParaRPr lang="en-IN" sz="3200" b="1" dirty="0">
              <a:solidFill>
                <a:srgbClr val="0000FF"/>
              </a:solidFill>
            </a:endParaRPr>
          </a:p>
        </p:txBody>
      </p:sp>
      <p:sp>
        <p:nvSpPr>
          <p:cNvPr id="3" name="Content Placeholder 2"/>
          <p:cNvSpPr>
            <a:spLocks noGrp="1"/>
          </p:cNvSpPr>
          <p:nvPr>
            <p:ph idx="1"/>
          </p:nvPr>
        </p:nvSpPr>
        <p:spPr>
          <a:xfrm>
            <a:off x="838200" y="1209822"/>
            <a:ext cx="10515600" cy="4967141"/>
          </a:xfrm>
        </p:spPr>
        <p:txBody>
          <a:bodyPr/>
          <a:lstStyle/>
          <a:p>
            <a:r>
              <a:rPr lang="en-US" dirty="0"/>
              <a:t>A patent is a "negative right" - it gives the right to EXCLUDE others from practicing your invention </a:t>
            </a:r>
          </a:p>
          <a:p>
            <a:r>
              <a:rPr lang="en-US" dirty="0"/>
              <a:t>All rights in patents (derive from the inventors)</a:t>
            </a:r>
          </a:p>
          <a:p>
            <a:r>
              <a:rPr lang="en-US" dirty="0"/>
              <a:t>Patentable vs. Non-patentable </a:t>
            </a:r>
          </a:p>
          <a:p>
            <a:pPr marL="890588" indent="-361950">
              <a:buFont typeface="Wingdings" panose="05000000000000000000" pitchFamily="2" charset="2"/>
              <a:buChar char="Ø"/>
            </a:pPr>
            <a:r>
              <a:rPr lang="en-US" dirty="0"/>
              <a:t>Patentable (utility, plant and design) - le. process, machine, manufacture, or composition of matter, "everything under the sun that is made by man“</a:t>
            </a:r>
          </a:p>
          <a:p>
            <a:pPr marL="890588" indent="-361950">
              <a:buFont typeface="Wingdings" panose="05000000000000000000" pitchFamily="2" charset="2"/>
              <a:buChar char="Ø"/>
            </a:pPr>
            <a:r>
              <a:rPr lang="en-US" dirty="0"/>
              <a:t>Non-patentable-abstract ideas, laws of nature, and natural phenomena</a:t>
            </a:r>
            <a:endParaRPr lang="en-IN" dirty="0"/>
          </a:p>
        </p:txBody>
      </p:sp>
    </p:spTree>
    <p:extLst>
      <p:ext uri="{BB962C8B-B14F-4D97-AF65-F5344CB8AC3E}">
        <p14:creationId xmlns:p14="http://schemas.microsoft.com/office/powerpoint/2010/main" val="20385959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1463"/>
          </a:xfrm>
        </p:spPr>
        <p:txBody>
          <a:bodyPr>
            <a:normAutofit/>
          </a:bodyPr>
          <a:lstStyle/>
          <a:p>
            <a:pPr algn="ctr"/>
            <a:r>
              <a:rPr lang="en-US" sz="3200" b="1" dirty="0">
                <a:solidFill>
                  <a:srgbClr val="0000FF"/>
                </a:solidFill>
              </a:rPr>
              <a:t>Factors to be Considered in Patenting</a:t>
            </a:r>
            <a:endParaRPr lang="en-IN" sz="3200" b="1" dirty="0">
              <a:solidFill>
                <a:srgbClr val="0000FF"/>
              </a:solidFill>
            </a:endParaRPr>
          </a:p>
        </p:txBody>
      </p:sp>
      <p:sp>
        <p:nvSpPr>
          <p:cNvPr id="3" name="Content Placeholder 2"/>
          <p:cNvSpPr>
            <a:spLocks noGrp="1"/>
          </p:cNvSpPr>
          <p:nvPr>
            <p:ph idx="1"/>
          </p:nvPr>
        </p:nvSpPr>
        <p:spPr>
          <a:xfrm>
            <a:off x="838200" y="986590"/>
            <a:ext cx="10515600" cy="5190374"/>
          </a:xfrm>
        </p:spPr>
        <p:txBody>
          <a:bodyPr>
            <a:normAutofit fontScale="92500" lnSpcReduction="10000"/>
          </a:bodyPr>
          <a:lstStyle/>
          <a:p>
            <a:pPr>
              <a:lnSpc>
                <a:spcPct val="110000"/>
              </a:lnSpc>
            </a:pPr>
            <a:r>
              <a:rPr lang="en-US" dirty="0"/>
              <a:t>Obtaining a patent can be expensive and arduous process</a:t>
            </a:r>
          </a:p>
          <a:p>
            <a:pPr marL="890588" indent="-361950">
              <a:lnSpc>
                <a:spcPct val="110000"/>
              </a:lnSpc>
              <a:buFont typeface="Wingdings" panose="05000000000000000000" pitchFamily="2" charset="2"/>
              <a:buChar char="Ø"/>
            </a:pPr>
            <a:r>
              <a:rPr lang="en-US" dirty="0"/>
              <a:t>Average time from filing to first response from PTO: 1.5-3 years</a:t>
            </a:r>
          </a:p>
          <a:p>
            <a:pPr marL="890588" indent="-361950">
              <a:lnSpc>
                <a:spcPct val="110000"/>
              </a:lnSpc>
              <a:buFont typeface="Wingdings" panose="05000000000000000000" pitchFamily="2" charset="2"/>
              <a:buChar char="Ø"/>
            </a:pPr>
            <a:r>
              <a:rPr lang="en-US" dirty="0"/>
              <a:t>Average time to obtain patent: 3-5 years</a:t>
            </a:r>
          </a:p>
          <a:p>
            <a:pPr marL="890588" indent="-361950">
              <a:lnSpc>
                <a:spcPct val="110000"/>
              </a:lnSpc>
              <a:buFont typeface="Wingdings" panose="05000000000000000000" pitchFamily="2" charset="2"/>
              <a:buChar char="Ø"/>
            </a:pPr>
            <a:r>
              <a:rPr lang="en-US" dirty="0"/>
              <a:t>Average cost of U.S. patent: US $ 20,000-40,000</a:t>
            </a:r>
          </a:p>
          <a:p>
            <a:pPr marL="890588" indent="-361950">
              <a:lnSpc>
                <a:spcPct val="110000"/>
              </a:lnSpc>
              <a:buFont typeface="Wingdings" panose="05000000000000000000" pitchFamily="2" charset="2"/>
              <a:buChar char="Ø"/>
            </a:pPr>
            <a:r>
              <a:rPr lang="en-US" dirty="0"/>
              <a:t>Can file "continuations" (P-&gt; C1-&gt; C2 -&gt; CIP)</a:t>
            </a:r>
          </a:p>
          <a:p>
            <a:pPr>
              <a:lnSpc>
                <a:spcPct val="110000"/>
              </a:lnSpc>
            </a:pPr>
            <a:r>
              <a:rPr lang="en-US" dirty="0"/>
              <a:t>Patent litigation is the most intellectually challenging type of IP litigation</a:t>
            </a:r>
          </a:p>
          <a:p>
            <a:pPr>
              <a:lnSpc>
                <a:spcPct val="110000"/>
              </a:lnSpc>
            </a:pPr>
            <a:r>
              <a:rPr lang="en-US" dirty="0"/>
              <a:t>Ultimate aim of patent is to promote public good by providing royalties for inventors &amp; companies which invest in new inventions </a:t>
            </a:r>
          </a:p>
          <a:p>
            <a:pPr marL="890588" indent="-361950">
              <a:lnSpc>
                <a:spcPct val="110000"/>
              </a:lnSpc>
              <a:buFont typeface="Wingdings" panose="05000000000000000000" pitchFamily="2" charset="2"/>
              <a:buChar char="Ø"/>
            </a:pPr>
            <a:r>
              <a:rPr lang="en-US" dirty="0"/>
              <a:t>Royalty rate per "use" is the monopoly price </a:t>
            </a:r>
          </a:p>
          <a:p>
            <a:pPr marL="890588" indent="-361950">
              <a:lnSpc>
                <a:spcPct val="110000"/>
              </a:lnSpc>
              <a:buFont typeface="Wingdings" panose="05000000000000000000" pitchFamily="2" charset="2"/>
              <a:buChar char="Ø"/>
            </a:pPr>
            <a:r>
              <a:rPr lang="en-US" dirty="0"/>
              <a:t>Marginal cost=0, so revenue maximization</a:t>
            </a:r>
            <a:endParaRPr lang="en-IN" dirty="0"/>
          </a:p>
        </p:txBody>
      </p:sp>
    </p:spTree>
    <p:extLst>
      <p:ext uri="{BB962C8B-B14F-4D97-AF65-F5344CB8AC3E}">
        <p14:creationId xmlns:p14="http://schemas.microsoft.com/office/powerpoint/2010/main" val="224554655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1464"/>
          </a:xfrm>
        </p:spPr>
        <p:txBody>
          <a:bodyPr>
            <a:normAutofit/>
          </a:bodyPr>
          <a:lstStyle/>
          <a:p>
            <a:pPr algn="ctr"/>
            <a:r>
              <a:rPr lang="en-US" sz="3200" b="1" dirty="0">
                <a:solidFill>
                  <a:srgbClr val="0000FF"/>
                </a:solidFill>
              </a:rPr>
              <a:t>Procedures for Obtaining Patent Rights</a:t>
            </a:r>
            <a:endParaRPr lang="en-IN" sz="3200" b="1" dirty="0">
              <a:solidFill>
                <a:srgbClr val="0000FF"/>
              </a:solidFill>
            </a:endParaRPr>
          </a:p>
        </p:txBody>
      </p:sp>
      <p:sp>
        <p:nvSpPr>
          <p:cNvPr id="3" name="Content Placeholder 2"/>
          <p:cNvSpPr>
            <a:spLocks noGrp="1"/>
          </p:cNvSpPr>
          <p:nvPr>
            <p:ph idx="1"/>
          </p:nvPr>
        </p:nvSpPr>
        <p:spPr>
          <a:xfrm>
            <a:off x="838200" y="986590"/>
            <a:ext cx="10515600" cy="5190373"/>
          </a:xfrm>
        </p:spPr>
        <p:txBody>
          <a:bodyPr>
            <a:normAutofit fontScale="92500" lnSpcReduction="10000"/>
          </a:bodyPr>
          <a:lstStyle/>
          <a:p>
            <a:pPr>
              <a:lnSpc>
                <a:spcPct val="110000"/>
              </a:lnSpc>
            </a:pPr>
            <a:r>
              <a:rPr lang="en-US" dirty="0"/>
              <a:t>Step 01: Invention disclosure.... with novelty and disclosure to agent if necessary</a:t>
            </a:r>
          </a:p>
          <a:p>
            <a:pPr>
              <a:lnSpc>
                <a:spcPct val="110000"/>
              </a:lnSpc>
            </a:pPr>
            <a:r>
              <a:rPr lang="en-US" dirty="0"/>
              <a:t>Step 02: Patentability search.... for prior art by agent</a:t>
            </a:r>
          </a:p>
          <a:p>
            <a:pPr>
              <a:lnSpc>
                <a:spcPct val="110000"/>
              </a:lnSpc>
            </a:pPr>
            <a:r>
              <a:rPr lang="en-US" dirty="0"/>
              <a:t>Step 03: Decision to file an application for patent..... with a inventive step</a:t>
            </a:r>
          </a:p>
          <a:p>
            <a:pPr>
              <a:lnSpc>
                <a:spcPct val="110000"/>
              </a:lnSpc>
            </a:pPr>
            <a:r>
              <a:rPr lang="en-US" dirty="0"/>
              <a:t>Step 04: Patent drafting.... with scope and detail</a:t>
            </a:r>
          </a:p>
          <a:p>
            <a:pPr>
              <a:lnSpc>
                <a:spcPct val="110000"/>
              </a:lnSpc>
            </a:pPr>
            <a:r>
              <a:rPr lang="en-US" dirty="0"/>
              <a:t>Step 05: Filing the patent application....</a:t>
            </a:r>
          </a:p>
          <a:p>
            <a:pPr>
              <a:lnSpc>
                <a:spcPct val="110000"/>
              </a:lnSpc>
            </a:pPr>
            <a:r>
              <a:rPr lang="en-US" dirty="0"/>
              <a:t>Step 06: Request for examination.... by the officers</a:t>
            </a:r>
          </a:p>
          <a:p>
            <a:pPr>
              <a:lnSpc>
                <a:spcPct val="110000"/>
              </a:lnSpc>
            </a:pPr>
            <a:r>
              <a:rPr lang="en-US" dirty="0"/>
              <a:t>Step 07: Responding to objections (if any)...</a:t>
            </a:r>
          </a:p>
          <a:p>
            <a:pPr>
              <a:lnSpc>
                <a:spcPct val="110000"/>
              </a:lnSpc>
            </a:pPr>
            <a:r>
              <a:rPr lang="en-US" dirty="0"/>
              <a:t>Step 08: Grant of patent.....</a:t>
            </a:r>
          </a:p>
          <a:p>
            <a:pPr>
              <a:lnSpc>
                <a:spcPct val="110000"/>
              </a:lnSpc>
            </a:pPr>
            <a:r>
              <a:rPr lang="en-US" dirty="0"/>
              <a:t>Step 09: Renewal of patent...</a:t>
            </a:r>
            <a:endParaRPr lang="en-IN" dirty="0"/>
          </a:p>
        </p:txBody>
      </p:sp>
    </p:spTree>
    <p:extLst>
      <p:ext uri="{BB962C8B-B14F-4D97-AF65-F5344CB8AC3E}">
        <p14:creationId xmlns:p14="http://schemas.microsoft.com/office/powerpoint/2010/main" val="30531181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82412"/>
          </a:xfrm>
        </p:spPr>
        <p:txBody>
          <a:bodyPr>
            <a:normAutofit/>
          </a:bodyPr>
          <a:lstStyle/>
          <a:p>
            <a:pPr algn="ctr"/>
            <a:r>
              <a:rPr lang="en-IN" sz="3200" b="1" dirty="0">
                <a:solidFill>
                  <a:srgbClr val="0000FF"/>
                </a:solidFill>
              </a:rPr>
              <a:t>Intellectual Property Rights (IPR)</a:t>
            </a:r>
            <a:br>
              <a:rPr lang="en-IN" sz="3200" b="1" dirty="0">
                <a:solidFill>
                  <a:srgbClr val="0000FF"/>
                </a:solidFill>
              </a:rPr>
            </a:br>
            <a:r>
              <a:rPr lang="en-US" sz="3200" b="1" dirty="0">
                <a:solidFill>
                  <a:srgbClr val="FF0000"/>
                </a:solidFill>
              </a:rPr>
              <a:t>Product Development as a Case Study</a:t>
            </a:r>
            <a:endParaRPr lang="en-IN" sz="3200" b="1" dirty="0">
              <a:solidFill>
                <a:srgbClr val="FF0000"/>
              </a:solidFill>
            </a:endParaRPr>
          </a:p>
        </p:txBody>
      </p:sp>
      <p:sp>
        <p:nvSpPr>
          <p:cNvPr id="3" name="Content Placeholder 2"/>
          <p:cNvSpPr>
            <a:spLocks noGrp="1"/>
          </p:cNvSpPr>
          <p:nvPr>
            <p:ph idx="1"/>
          </p:nvPr>
        </p:nvSpPr>
        <p:spPr>
          <a:xfrm>
            <a:off x="838200" y="1347538"/>
            <a:ext cx="10515600" cy="4829425"/>
          </a:xfrm>
        </p:spPr>
        <p:txBody>
          <a:bodyPr>
            <a:normAutofit/>
          </a:bodyPr>
          <a:lstStyle/>
          <a:p>
            <a:r>
              <a:rPr lang="en-US" sz="2400" dirty="0"/>
              <a:t>Property right-control over usage</a:t>
            </a:r>
          </a:p>
          <a:p>
            <a:r>
              <a:rPr lang="en-US" sz="2400" dirty="0"/>
              <a:t>Each right protects a different feature or aspects</a:t>
            </a:r>
          </a:p>
          <a:p>
            <a:r>
              <a:rPr lang="en-US" sz="2400" dirty="0"/>
              <a:t>Various aspects of work protected by one or more of these rights</a:t>
            </a:r>
          </a:p>
          <a:p>
            <a:endParaRPr lang="en-US" dirty="0"/>
          </a:p>
          <a:p>
            <a:endParaRPr lang="en-US" dirty="0"/>
          </a:p>
          <a:p>
            <a:endParaRPr lang="en-US" dirty="0"/>
          </a:p>
          <a:p>
            <a:endParaRPr lang="en-US" dirty="0"/>
          </a:p>
          <a:p>
            <a:pPr marL="0" indent="0">
              <a:buNone/>
            </a:pPr>
            <a:endParaRPr lang="en-US" dirty="0"/>
          </a:p>
        </p:txBody>
      </p:sp>
      <p:sp>
        <p:nvSpPr>
          <p:cNvPr id="4" name="Rectangle 3"/>
          <p:cNvSpPr/>
          <p:nvPr/>
        </p:nvSpPr>
        <p:spPr>
          <a:xfrm>
            <a:off x="1160546" y="3152274"/>
            <a:ext cx="1828800" cy="7700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Product Concept</a:t>
            </a:r>
            <a:endParaRPr lang="en-IN"/>
          </a:p>
        </p:txBody>
      </p:sp>
      <p:sp>
        <p:nvSpPr>
          <p:cNvPr id="5" name="Rectangle 4"/>
          <p:cNvSpPr/>
          <p:nvPr/>
        </p:nvSpPr>
        <p:spPr>
          <a:xfrm>
            <a:off x="9608971" y="3152274"/>
            <a:ext cx="1828800" cy="7700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Product Migrations</a:t>
            </a:r>
            <a:endParaRPr lang="en-IN"/>
          </a:p>
        </p:txBody>
      </p:sp>
      <p:sp>
        <p:nvSpPr>
          <p:cNvPr id="6" name="Rectangle 5"/>
          <p:cNvSpPr/>
          <p:nvPr/>
        </p:nvSpPr>
        <p:spPr>
          <a:xfrm>
            <a:off x="3798220" y="4904708"/>
            <a:ext cx="1828800" cy="7700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Provisional Filings</a:t>
            </a:r>
            <a:endParaRPr lang="en-IN"/>
          </a:p>
        </p:txBody>
      </p:sp>
      <p:sp>
        <p:nvSpPr>
          <p:cNvPr id="7" name="Rectangle 6"/>
          <p:cNvSpPr/>
          <p:nvPr/>
        </p:nvSpPr>
        <p:spPr>
          <a:xfrm>
            <a:off x="1160546" y="4904708"/>
            <a:ext cx="1828800" cy="7700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Prior Art Search</a:t>
            </a:r>
            <a:endParaRPr lang="en-IN"/>
          </a:p>
        </p:txBody>
      </p:sp>
      <p:sp>
        <p:nvSpPr>
          <p:cNvPr id="8" name="Rectangle 7"/>
          <p:cNvSpPr/>
          <p:nvPr/>
        </p:nvSpPr>
        <p:spPr>
          <a:xfrm>
            <a:off x="9692941" y="4880646"/>
            <a:ext cx="1828800" cy="7700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Continuation filings</a:t>
            </a:r>
            <a:endParaRPr lang="en-IN" dirty="0"/>
          </a:p>
        </p:txBody>
      </p:sp>
      <p:sp>
        <p:nvSpPr>
          <p:cNvPr id="9" name="Rectangle 8"/>
          <p:cNvSpPr/>
          <p:nvPr/>
        </p:nvSpPr>
        <p:spPr>
          <a:xfrm>
            <a:off x="3905000" y="3152274"/>
            <a:ext cx="1828800" cy="7700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Prototype</a:t>
            </a:r>
            <a:endParaRPr lang="en-IN" dirty="0"/>
          </a:p>
        </p:txBody>
      </p:sp>
      <p:sp>
        <p:nvSpPr>
          <p:cNvPr id="10" name="Rectangle 9"/>
          <p:cNvSpPr/>
          <p:nvPr/>
        </p:nvSpPr>
        <p:spPr>
          <a:xfrm>
            <a:off x="6864517" y="4904708"/>
            <a:ext cx="1828800" cy="7700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Patent Obtainment</a:t>
            </a:r>
            <a:endParaRPr lang="en-IN"/>
          </a:p>
        </p:txBody>
      </p:sp>
      <p:sp>
        <p:nvSpPr>
          <p:cNvPr id="11" name="Rectangle 10"/>
          <p:cNvSpPr/>
          <p:nvPr/>
        </p:nvSpPr>
        <p:spPr>
          <a:xfrm>
            <a:off x="6864517" y="3152274"/>
            <a:ext cx="1828800" cy="7700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Product introduction</a:t>
            </a:r>
            <a:endParaRPr lang="en-IN"/>
          </a:p>
        </p:txBody>
      </p:sp>
      <p:cxnSp>
        <p:nvCxnSpPr>
          <p:cNvPr id="15" name="Straight Arrow Connector 14"/>
          <p:cNvCxnSpPr>
            <a:endCxn id="9" idx="1"/>
          </p:cNvCxnSpPr>
          <p:nvPr/>
        </p:nvCxnSpPr>
        <p:spPr>
          <a:xfrm>
            <a:off x="2989346" y="3537285"/>
            <a:ext cx="91565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p:cNvCxnSpPr>
            <a:endCxn id="11" idx="1"/>
          </p:cNvCxnSpPr>
          <p:nvPr/>
        </p:nvCxnSpPr>
        <p:spPr>
          <a:xfrm>
            <a:off x="5733800" y="3537285"/>
            <a:ext cx="113071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p:cNvCxnSpPr>
            <a:endCxn id="5" idx="1"/>
          </p:cNvCxnSpPr>
          <p:nvPr/>
        </p:nvCxnSpPr>
        <p:spPr>
          <a:xfrm>
            <a:off x="8693317" y="3537285"/>
            <a:ext cx="91565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p:cNvCxnSpPr>
            <a:stCxn id="7" idx="3"/>
            <a:endCxn id="6" idx="1"/>
          </p:cNvCxnSpPr>
          <p:nvPr/>
        </p:nvCxnSpPr>
        <p:spPr>
          <a:xfrm>
            <a:off x="2989346" y="5289719"/>
            <a:ext cx="80887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p:cNvCxnSpPr>
            <a:stCxn id="6" idx="3"/>
            <a:endCxn id="10" idx="1"/>
          </p:cNvCxnSpPr>
          <p:nvPr/>
        </p:nvCxnSpPr>
        <p:spPr>
          <a:xfrm>
            <a:off x="5627020" y="5289719"/>
            <a:ext cx="123749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p:cNvCxnSpPr>
            <a:stCxn id="10" idx="3"/>
          </p:cNvCxnSpPr>
          <p:nvPr/>
        </p:nvCxnSpPr>
        <p:spPr>
          <a:xfrm>
            <a:off x="8693317" y="5289719"/>
            <a:ext cx="99962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p:cNvCxnSpPr>
            <a:stCxn id="5" idx="2"/>
          </p:cNvCxnSpPr>
          <p:nvPr/>
        </p:nvCxnSpPr>
        <p:spPr>
          <a:xfrm>
            <a:off x="10523371" y="3922296"/>
            <a:ext cx="0" cy="9583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p:cNvCxnSpPr>
            <a:stCxn id="11" idx="2"/>
          </p:cNvCxnSpPr>
          <p:nvPr/>
        </p:nvCxnSpPr>
        <p:spPr>
          <a:xfrm>
            <a:off x="7778917" y="3922296"/>
            <a:ext cx="0" cy="9824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2" name="Straight Arrow Connector 51"/>
          <p:cNvCxnSpPr/>
          <p:nvPr/>
        </p:nvCxnSpPr>
        <p:spPr>
          <a:xfrm>
            <a:off x="4819400" y="3922296"/>
            <a:ext cx="0" cy="9824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p:cNvCxnSpPr>
            <a:endCxn id="7" idx="0"/>
          </p:cNvCxnSpPr>
          <p:nvPr/>
        </p:nvCxnSpPr>
        <p:spPr>
          <a:xfrm>
            <a:off x="2074946" y="3922296"/>
            <a:ext cx="0" cy="9824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79" name="Group 78"/>
          <p:cNvGrpSpPr/>
          <p:nvPr/>
        </p:nvGrpSpPr>
        <p:grpSpPr>
          <a:xfrm>
            <a:off x="2581275" y="3922296"/>
            <a:ext cx="1466850" cy="982412"/>
            <a:chOff x="2581275" y="3922296"/>
            <a:chExt cx="1466850" cy="982412"/>
          </a:xfrm>
        </p:grpSpPr>
        <p:cxnSp>
          <p:nvCxnSpPr>
            <p:cNvPr id="69" name="Straight Connector 68"/>
            <p:cNvCxnSpPr/>
            <p:nvPr/>
          </p:nvCxnSpPr>
          <p:spPr>
            <a:xfrm>
              <a:off x="2581275" y="3922296"/>
              <a:ext cx="0" cy="491206"/>
            </a:xfrm>
            <a:prstGeom prst="line">
              <a:avLst/>
            </a:prstGeom>
          </p:spPr>
          <p:style>
            <a:lnRef idx="1">
              <a:schemeClr val="dk1"/>
            </a:lnRef>
            <a:fillRef idx="0">
              <a:schemeClr val="dk1"/>
            </a:fillRef>
            <a:effectRef idx="0">
              <a:schemeClr val="dk1"/>
            </a:effectRef>
            <a:fontRef idx="minor">
              <a:schemeClr val="tx1"/>
            </a:fontRef>
          </p:style>
        </p:cxnSp>
        <p:cxnSp>
          <p:nvCxnSpPr>
            <p:cNvPr id="71" name="Straight Connector 70"/>
            <p:cNvCxnSpPr/>
            <p:nvPr/>
          </p:nvCxnSpPr>
          <p:spPr>
            <a:xfrm>
              <a:off x="2581275" y="4413502"/>
              <a:ext cx="1466850" cy="0"/>
            </a:xfrm>
            <a:prstGeom prst="line">
              <a:avLst/>
            </a:prstGeom>
          </p:spPr>
          <p:style>
            <a:lnRef idx="1">
              <a:schemeClr val="dk1"/>
            </a:lnRef>
            <a:fillRef idx="0">
              <a:schemeClr val="dk1"/>
            </a:fillRef>
            <a:effectRef idx="0">
              <a:schemeClr val="dk1"/>
            </a:effectRef>
            <a:fontRef idx="minor">
              <a:schemeClr val="tx1"/>
            </a:fontRef>
          </p:style>
        </p:cxnSp>
        <p:cxnSp>
          <p:nvCxnSpPr>
            <p:cNvPr id="77" name="Straight Arrow Connector 76"/>
            <p:cNvCxnSpPr/>
            <p:nvPr/>
          </p:nvCxnSpPr>
          <p:spPr>
            <a:xfrm>
              <a:off x="4048125" y="4401471"/>
              <a:ext cx="0" cy="5032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80" name="Group 79"/>
          <p:cNvGrpSpPr/>
          <p:nvPr/>
        </p:nvGrpSpPr>
        <p:grpSpPr>
          <a:xfrm>
            <a:off x="8497804" y="3898234"/>
            <a:ext cx="1466850" cy="982412"/>
            <a:chOff x="2581275" y="3922296"/>
            <a:chExt cx="1466850" cy="982412"/>
          </a:xfrm>
        </p:grpSpPr>
        <p:cxnSp>
          <p:nvCxnSpPr>
            <p:cNvPr id="81" name="Straight Connector 80"/>
            <p:cNvCxnSpPr/>
            <p:nvPr/>
          </p:nvCxnSpPr>
          <p:spPr>
            <a:xfrm>
              <a:off x="2581275" y="3922296"/>
              <a:ext cx="0" cy="491206"/>
            </a:xfrm>
            <a:prstGeom prst="line">
              <a:avLst/>
            </a:prstGeom>
          </p:spPr>
          <p:style>
            <a:lnRef idx="1">
              <a:schemeClr val="dk1"/>
            </a:lnRef>
            <a:fillRef idx="0">
              <a:schemeClr val="dk1"/>
            </a:fillRef>
            <a:effectRef idx="0">
              <a:schemeClr val="dk1"/>
            </a:effectRef>
            <a:fontRef idx="minor">
              <a:schemeClr val="tx1"/>
            </a:fontRef>
          </p:style>
        </p:cxnSp>
        <p:cxnSp>
          <p:nvCxnSpPr>
            <p:cNvPr id="82" name="Straight Connector 81"/>
            <p:cNvCxnSpPr/>
            <p:nvPr/>
          </p:nvCxnSpPr>
          <p:spPr>
            <a:xfrm>
              <a:off x="2581275" y="4413502"/>
              <a:ext cx="1466850" cy="0"/>
            </a:xfrm>
            <a:prstGeom prst="line">
              <a:avLst/>
            </a:prstGeom>
          </p:spPr>
          <p:style>
            <a:lnRef idx="1">
              <a:schemeClr val="dk1"/>
            </a:lnRef>
            <a:fillRef idx="0">
              <a:schemeClr val="dk1"/>
            </a:fillRef>
            <a:effectRef idx="0">
              <a:schemeClr val="dk1"/>
            </a:effectRef>
            <a:fontRef idx="minor">
              <a:schemeClr val="tx1"/>
            </a:fontRef>
          </p:style>
        </p:cxnSp>
        <p:cxnSp>
          <p:nvCxnSpPr>
            <p:cNvPr id="83" name="Straight Arrow Connector 82"/>
            <p:cNvCxnSpPr/>
            <p:nvPr/>
          </p:nvCxnSpPr>
          <p:spPr>
            <a:xfrm>
              <a:off x="4048125" y="4401471"/>
              <a:ext cx="0" cy="5032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91771834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p:spPr>
        <p:txBody>
          <a:bodyPr>
            <a:normAutofit/>
          </a:bodyPr>
          <a:lstStyle/>
          <a:p>
            <a:pPr algn="ctr"/>
            <a:r>
              <a:rPr lang="en-US" sz="3200" b="1" dirty="0">
                <a:solidFill>
                  <a:srgbClr val="0000FF"/>
                </a:solidFill>
              </a:rPr>
              <a:t>Copyright Laws vs. Patent Rights</a:t>
            </a:r>
            <a:endParaRPr lang="en-IN" sz="3200" b="1" dirty="0">
              <a:solidFill>
                <a:srgbClr val="0000FF"/>
              </a:solidFill>
            </a:endParaRPr>
          </a:p>
        </p:txBody>
      </p:sp>
      <p:graphicFrame>
        <p:nvGraphicFramePr>
          <p:cNvPr id="4" name="Content Placeholder 3"/>
          <p:cNvGraphicFramePr>
            <a:graphicFrameLocks noGrp="1"/>
          </p:cNvGraphicFramePr>
          <p:nvPr>
            <p:ph idx="1"/>
          </p:nvPr>
        </p:nvGraphicFramePr>
        <p:xfrm>
          <a:off x="874713" y="1695451"/>
          <a:ext cx="10515600" cy="4095747"/>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4142998151"/>
                    </a:ext>
                  </a:extLst>
                </a:gridCol>
                <a:gridCol w="5257800">
                  <a:extLst>
                    <a:ext uri="{9D8B030D-6E8A-4147-A177-3AD203B41FA5}">
                      <a16:colId xmlns:a16="http://schemas.microsoft.com/office/drawing/2014/main" val="983558289"/>
                    </a:ext>
                  </a:extLst>
                </a:gridCol>
              </a:tblGrid>
              <a:tr h="633452">
                <a:tc>
                  <a:txBody>
                    <a:bodyPr/>
                    <a:lstStyle/>
                    <a:p>
                      <a:pPr algn="ctr"/>
                      <a:r>
                        <a:rPr lang="en-IN" dirty="0"/>
                        <a:t>Copyright</a:t>
                      </a:r>
                    </a:p>
                  </a:txBody>
                  <a:tcPr anchor="ctr"/>
                </a:tc>
                <a:tc>
                  <a:txBody>
                    <a:bodyPr/>
                    <a:lstStyle/>
                    <a:p>
                      <a:pPr algn="ctr"/>
                      <a:r>
                        <a:rPr lang="en-IN" dirty="0"/>
                        <a:t>Patent Rights</a:t>
                      </a:r>
                    </a:p>
                  </a:txBody>
                  <a:tcPr anchor="ctr"/>
                </a:tc>
                <a:extLst>
                  <a:ext uri="{0D108BD9-81ED-4DB2-BD59-A6C34878D82A}">
                    <a16:rowId xmlns:a16="http://schemas.microsoft.com/office/drawing/2014/main" val="252378373"/>
                  </a:ext>
                </a:extLst>
              </a:tr>
              <a:tr h="633452">
                <a:tc>
                  <a:txBody>
                    <a:bodyPr/>
                    <a:lstStyle/>
                    <a:p>
                      <a:pPr algn="l"/>
                      <a:r>
                        <a:rPr lang="en-IN" dirty="0"/>
                        <a:t>Protects expression, not ideas</a:t>
                      </a:r>
                    </a:p>
                  </a:txBody>
                  <a:tcPr anchor="ctr"/>
                </a:tc>
                <a:tc>
                  <a:txBody>
                    <a:bodyPr/>
                    <a:lstStyle/>
                    <a:p>
                      <a:pPr algn="l"/>
                      <a:r>
                        <a:rPr lang="en-US" dirty="0"/>
                        <a:t>Protects ideas that have been reduced to practice</a:t>
                      </a:r>
                      <a:endParaRPr lang="en-IN" dirty="0"/>
                    </a:p>
                  </a:txBody>
                  <a:tcPr anchor="ctr"/>
                </a:tc>
                <a:extLst>
                  <a:ext uri="{0D108BD9-81ED-4DB2-BD59-A6C34878D82A}">
                    <a16:rowId xmlns:a16="http://schemas.microsoft.com/office/drawing/2014/main" val="2745267397"/>
                  </a:ext>
                </a:extLst>
              </a:tr>
              <a:tr h="1561939">
                <a:tc>
                  <a:txBody>
                    <a:bodyPr/>
                    <a:lstStyle/>
                    <a:p>
                      <a:pPr algn="l"/>
                      <a:r>
                        <a:rPr lang="en-US" dirty="0"/>
                        <a:t>Protects the use or performance of original works of literature, art, music, drama, or any other form of expression</a:t>
                      </a:r>
                      <a:endParaRPr lang="en-IN" dirty="0"/>
                    </a:p>
                  </a:txBody>
                  <a:tcPr anchor="ctr"/>
                </a:tc>
                <a:tc>
                  <a:txBody>
                    <a:bodyPr/>
                    <a:lstStyle/>
                    <a:p>
                      <a:pPr algn="l"/>
                      <a:r>
                        <a:rPr lang="en-US" dirty="0"/>
                        <a:t>Protects the use manufacture or sale of inventions</a:t>
                      </a:r>
                      <a:endParaRPr lang="en-IN" dirty="0"/>
                    </a:p>
                  </a:txBody>
                  <a:tcPr anchor="ctr"/>
                </a:tc>
                <a:extLst>
                  <a:ext uri="{0D108BD9-81ED-4DB2-BD59-A6C34878D82A}">
                    <a16:rowId xmlns:a16="http://schemas.microsoft.com/office/drawing/2014/main" val="3939562421"/>
                  </a:ext>
                </a:extLst>
              </a:tr>
              <a:tr h="633452">
                <a:tc>
                  <a:txBody>
                    <a:bodyPr/>
                    <a:lstStyle/>
                    <a:p>
                      <a:pPr algn="l"/>
                      <a:r>
                        <a:rPr lang="en-IN" dirty="0"/>
                        <a:t>Life of author + 70</a:t>
                      </a:r>
                    </a:p>
                  </a:txBody>
                  <a:tcPr anchor="ctr"/>
                </a:tc>
                <a:tc>
                  <a:txBody>
                    <a:bodyPr/>
                    <a:lstStyle/>
                    <a:p>
                      <a:pPr algn="l"/>
                      <a:r>
                        <a:rPr lang="en-IN" dirty="0"/>
                        <a:t>20 years from filing</a:t>
                      </a:r>
                    </a:p>
                  </a:txBody>
                  <a:tcPr anchor="ctr"/>
                </a:tc>
                <a:extLst>
                  <a:ext uri="{0D108BD9-81ED-4DB2-BD59-A6C34878D82A}">
                    <a16:rowId xmlns:a16="http://schemas.microsoft.com/office/drawing/2014/main" val="2196063237"/>
                  </a:ext>
                </a:extLst>
              </a:tr>
              <a:tr h="633452">
                <a:tc>
                  <a:txBody>
                    <a:bodyPr/>
                    <a:lstStyle/>
                    <a:p>
                      <a:pPr algn="l"/>
                      <a:r>
                        <a:rPr lang="en-IN" dirty="0"/>
                        <a:t>Fair Use</a:t>
                      </a:r>
                    </a:p>
                  </a:txBody>
                  <a:tcPr anchor="ctr"/>
                </a:tc>
                <a:tc>
                  <a:txBody>
                    <a:bodyPr/>
                    <a:lstStyle/>
                    <a:p>
                      <a:pPr algn="l"/>
                      <a:r>
                        <a:rPr lang="en-US" dirty="0"/>
                        <a:t>No Fair Use, No Research Exemption</a:t>
                      </a:r>
                      <a:endParaRPr lang="en-IN" dirty="0"/>
                    </a:p>
                  </a:txBody>
                  <a:tcPr anchor="ctr"/>
                </a:tc>
                <a:extLst>
                  <a:ext uri="{0D108BD9-81ED-4DB2-BD59-A6C34878D82A}">
                    <a16:rowId xmlns:a16="http://schemas.microsoft.com/office/drawing/2014/main" val="2836520282"/>
                  </a:ext>
                </a:extLst>
              </a:tr>
            </a:tbl>
          </a:graphicData>
        </a:graphic>
      </p:graphicFrame>
    </p:spTree>
    <p:extLst>
      <p:ext uri="{BB962C8B-B14F-4D97-AF65-F5344CB8AC3E}">
        <p14:creationId xmlns:p14="http://schemas.microsoft.com/office/powerpoint/2010/main" val="389885864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11175"/>
          </a:xfrm>
        </p:spPr>
        <p:txBody>
          <a:bodyPr>
            <a:normAutofit fontScale="90000"/>
          </a:bodyPr>
          <a:lstStyle/>
          <a:p>
            <a:pPr algn="ctr"/>
            <a:r>
              <a:rPr lang="en-US" sz="3200" b="1" dirty="0">
                <a:solidFill>
                  <a:srgbClr val="0000FF"/>
                </a:solidFill>
              </a:rPr>
              <a:t>Copyright Laws vs. Patent Rights</a:t>
            </a:r>
            <a:endParaRPr lang="en-IN" sz="3200" dirty="0"/>
          </a:p>
        </p:txBody>
      </p:sp>
      <p:graphicFrame>
        <p:nvGraphicFramePr>
          <p:cNvPr id="4" name="Content Placeholder 3"/>
          <p:cNvGraphicFramePr>
            <a:graphicFrameLocks noGrp="1"/>
          </p:cNvGraphicFramePr>
          <p:nvPr>
            <p:ph idx="1"/>
          </p:nvPr>
        </p:nvGraphicFramePr>
        <p:xfrm>
          <a:off x="874713" y="1582739"/>
          <a:ext cx="10515600" cy="3619498"/>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521707824"/>
                    </a:ext>
                  </a:extLst>
                </a:gridCol>
                <a:gridCol w="5257800">
                  <a:extLst>
                    <a:ext uri="{9D8B030D-6E8A-4147-A177-3AD203B41FA5}">
                      <a16:colId xmlns:a16="http://schemas.microsoft.com/office/drawing/2014/main" val="117189085"/>
                    </a:ext>
                  </a:extLst>
                </a:gridCol>
              </a:tblGrid>
              <a:tr h="441845">
                <a:tc>
                  <a:txBody>
                    <a:bodyPr/>
                    <a:lstStyle/>
                    <a:p>
                      <a:pPr algn="ctr"/>
                      <a:r>
                        <a:rPr lang="en-US" sz="1800" b="1" dirty="0">
                          <a:solidFill>
                            <a:schemeClr val="bg1"/>
                          </a:solidFill>
                        </a:rPr>
                        <a:t>Copyright </a:t>
                      </a:r>
                      <a:endParaRPr lang="en-IN" dirty="0">
                        <a:solidFill>
                          <a:schemeClr val="bg1"/>
                        </a:solidFill>
                      </a:endParaRPr>
                    </a:p>
                  </a:txBody>
                  <a:tcPr/>
                </a:tc>
                <a:tc>
                  <a:txBody>
                    <a:bodyPr/>
                    <a:lstStyle/>
                    <a:p>
                      <a:pPr algn="ctr"/>
                      <a:r>
                        <a:rPr lang="en-US" sz="1800" b="1" dirty="0">
                          <a:solidFill>
                            <a:schemeClr val="bg1"/>
                          </a:solidFill>
                        </a:rPr>
                        <a:t>Patent Rights</a:t>
                      </a:r>
                      <a:endParaRPr lang="en-IN" dirty="0">
                        <a:solidFill>
                          <a:schemeClr val="bg1"/>
                        </a:solidFill>
                      </a:endParaRPr>
                    </a:p>
                  </a:txBody>
                  <a:tcPr/>
                </a:tc>
                <a:extLst>
                  <a:ext uri="{0D108BD9-81ED-4DB2-BD59-A6C34878D82A}">
                    <a16:rowId xmlns:a16="http://schemas.microsoft.com/office/drawing/2014/main" val="1590999865"/>
                  </a:ext>
                </a:extLst>
              </a:tr>
              <a:tr h="4418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Works for hire </a:t>
                      </a:r>
                    </a:p>
                  </a:txBody>
                  <a:tcPr/>
                </a:tc>
                <a:tc>
                  <a:txBody>
                    <a:bodyPr/>
                    <a:lstStyle/>
                    <a:p>
                      <a:r>
                        <a:rPr lang="en-IN" dirty="0"/>
                        <a:t>Employee inventor owns</a:t>
                      </a:r>
                    </a:p>
                  </a:txBody>
                  <a:tcPr/>
                </a:tc>
                <a:extLst>
                  <a:ext uri="{0D108BD9-81ED-4DB2-BD59-A6C34878D82A}">
                    <a16:rowId xmlns:a16="http://schemas.microsoft.com/office/drawing/2014/main" val="570944132"/>
                  </a:ext>
                </a:extLst>
              </a:tr>
              <a:tr h="441845">
                <a:tc>
                  <a:txBody>
                    <a:bodyPr/>
                    <a:lstStyle/>
                    <a:p>
                      <a:r>
                        <a:rPr lang="en-IN" dirty="0"/>
                        <a:t>Protects against copying </a:t>
                      </a:r>
                    </a:p>
                  </a:txBody>
                  <a:tcPr/>
                </a:tc>
                <a:tc>
                  <a:txBody>
                    <a:bodyPr/>
                    <a:lstStyle/>
                    <a:p>
                      <a:r>
                        <a:rPr lang="en-IN" dirty="0"/>
                        <a:t>Innocent Infringement not a </a:t>
                      </a:r>
                      <a:r>
                        <a:rPr lang="en-IN" dirty="0" err="1"/>
                        <a:t>defense</a:t>
                      </a:r>
                      <a:r>
                        <a:rPr lang="en-IN" dirty="0"/>
                        <a:t> </a:t>
                      </a:r>
                    </a:p>
                  </a:txBody>
                  <a:tcPr/>
                </a:tc>
                <a:extLst>
                  <a:ext uri="{0D108BD9-81ED-4DB2-BD59-A6C34878D82A}">
                    <a16:rowId xmlns:a16="http://schemas.microsoft.com/office/drawing/2014/main" val="1059351567"/>
                  </a:ext>
                </a:extLst>
              </a:tr>
              <a:tr h="762637">
                <a:tc>
                  <a:txBody>
                    <a:bodyPr/>
                    <a:lstStyle/>
                    <a:p>
                      <a:r>
                        <a:rPr lang="en-IN" dirty="0"/>
                        <a:t>Protection is automatic (registration is relatively simple)</a:t>
                      </a:r>
                    </a:p>
                  </a:txBody>
                  <a:tcPr/>
                </a:tc>
                <a:tc>
                  <a:txBody>
                    <a:bodyPr/>
                    <a:lstStyle/>
                    <a:p>
                      <a:r>
                        <a:rPr lang="en-IN" dirty="0"/>
                        <a:t>Extensive examination process before any rights granted </a:t>
                      </a:r>
                    </a:p>
                  </a:txBody>
                  <a:tcPr/>
                </a:tc>
                <a:extLst>
                  <a:ext uri="{0D108BD9-81ED-4DB2-BD59-A6C34878D82A}">
                    <a16:rowId xmlns:a16="http://schemas.microsoft.com/office/drawing/2014/main" val="24890124"/>
                  </a:ext>
                </a:extLst>
              </a:tr>
              <a:tr h="441845">
                <a:tc>
                  <a:txBody>
                    <a:bodyPr/>
                    <a:lstStyle/>
                    <a:p>
                      <a:r>
                        <a:rPr lang="en-IN" dirty="0"/>
                        <a:t>Originality (low bars) </a:t>
                      </a:r>
                    </a:p>
                  </a:txBody>
                  <a:tcPr/>
                </a:tc>
                <a:tc>
                  <a:txBody>
                    <a:bodyPr/>
                    <a:lstStyle/>
                    <a:p>
                      <a:r>
                        <a:rPr lang="en-IN" dirty="0"/>
                        <a:t>Novelty and Nonobvious (high bars) </a:t>
                      </a:r>
                    </a:p>
                  </a:txBody>
                  <a:tcPr/>
                </a:tc>
                <a:extLst>
                  <a:ext uri="{0D108BD9-81ED-4DB2-BD59-A6C34878D82A}">
                    <a16:rowId xmlns:a16="http://schemas.microsoft.com/office/drawing/2014/main" val="2587946593"/>
                  </a:ext>
                </a:extLst>
              </a:tr>
              <a:tr h="1089481">
                <a:tc>
                  <a:txBody>
                    <a:bodyPr/>
                    <a:lstStyle/>
                    <a:p>
                      <a:r>
                        <a:rPr lang="en-IN" dirty="0"/>
                        <a:t>In software, copyright automatically covers the authorship in the source code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Patentability standard for software patents is strict and uncertain</a:t>
                      </a:r>
                    </a:p>
                    <a:p>
                      <a:endParaRPr lang="en-IN" dirty="0"/>
                    </a:p>
                  </a:txBody>
                  <a:tcPr/>
                </a:tc>
                <a:extLst>
                  <a:ext uri="{0D108BD9-81ED-4DB2-BD59-A6C34878D82A}">
                    <a16:rowId xmlns:a16="http://schemas.microsoft.com/office/drawing/2014/main" val="3086347255"/>
                  </a:ext>
                </a:extLst>
              </a:tr>
            </a:tbl>
          </a:graphicData>
        </a:graphic>
      </p:graphicFrame>
    </p:spTree>
    <p:extLst>
      <p:ext uri="{BB962C8B-B14F-4D97-AF65-F5344CB8AC3E}">
        <p14:creationId xmlns:p14="http://schemas.microsoft.com/office/powerpoint/2010/main" val="3774601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3107</TotalTime>
  <Words>14404</Words>
  <Application>Microsoft Office PowerPoint</Application>
  <PresentationFormat>Widescreen</PresentationFormat>
  <Paragraphs>1731</Paragraphs>
  <Slides>139</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139</vt:i4>
      </vt:variant>
    </vt:vector>
  </HeadingPairs>
  <TitlesOfParts>
    <vt:vector size="149" baseType="lpstr">
      <vt:lpstr>Arial</vt:lpstr>
      <vt:lpstr>Berlin Sans FB Demi</vt:lpstr>
      <vt:lpstr>Calibri</vt:lpstr>
      <vt:lpstr>Calibri Light</vt:lpstr>
      <vt:lpstr>Cambria Math</vt:lpstr>
      <vt:lpstr>Garamond</vt:lpstr>
      <vt:lpstr>Times New Roman</vt:lpstr>
      <vt:lpstr>Wingdings</vt:lpstr>
      <vt:lpstr>Wingdings 2</vt:lpstr>
      <vt:lpstr>Office Theme</vt:lpstr>
      <vt:lpstr>21IPC501J  Research Methodology and Publication Ethics</vt:lpstr>
      <vt:lpstr>Module-1 – RESEARCH PREPARATION, PLANNING AND RESOURCES</vt:lpstr>
      <vt:lpstr>Module-1 – RESEARCH PREPARATION, PLANNING AND RESOURCES</vt:lpstr>
      <vt:lpstr>Research :</vt:lpstr>
      <vt:lpstr>PowerPoint Presentation</vt:lpstr>
      <vt:lpstr>Research :</vt:lpstr>
      <vt:lpstr>Definition of Research in Common Parlance</vt:lpstr>
      <vt:lpstr>PowerPoint Presentation</vt:lpstr>
      <vt:lpstr>PowerPoint Presentation</vt:lpstr>
      <vt:lpstr>Technical Definitions of Research</vt:lpstr>
      <vt:lpstr>Objectives of Research:</vt:lpstr>
      <vt:lpstr>Objectives of Research</vt:lpstr>
      <vt:lpstr>Research and Knowledge Economy</vt:lpstr>
      <vt:lpstr>Research and Stakeholders Perspectives</vt:lpstr>
      <vt:lpstr>Research and Stakeholders Perspectives</vt:lpstr>
      <vt:lpstr>Types of Research </vt:lpstr>
      <vt:lpstr>Pure Research (or) Basic (or) Fundamental (or) Theoretical Research:</vt:lpstr>
      <vt:lpstr>PowerPoint Presentation</vt:lpstr>
      <vt:lpstr>PowerPoint Presentation</vt:lpstr>
      <vt:lpstr>Types of Research</vt:lpstr>
      <vt:lpstr>Types of Research</vt:lpstr>
      <vt:lpstr>Types of Research</vt:lpstr>
      <vt:lpstr>Types of Research</vt:lpstr>
      <vt:lpstr>Types of Research</vt:lpstr>
      <vt:lpstr>Types of Research</vt:lpstr>
      <vt:lpstr>Types of Research</vt:lpstr>
      <vt:lpstr>Types of Research</vt:lpstr>
      <vt:lpstr>Types of Research</vt:lpstr>
      <vt:lpstr>Types of Research</vt:lpstr>
      <vt:lpstr>Types of Research</vt:lpstr>
      <vt:lpstr>Classification of Research</vt:lpstr>
      <vt:lpstr>Classification of Research</vt:lpstr>
      <vt:lpstr>Classification of Research</vt:lpstr>
      <vt:lpstr>Classification of Research</vt:lpstr>
      <vt:lpstr>Research Methods vs. Research Methodology</vt:lpstr>
      <vt:lpstr>Research Methods vs. Research Methodology</vt:lpstr>
      <vt:lpstr>Attributes of Good Researcher Role of Critical Thinking and Creative Thinking</vt:lpstr>
      <vt:lpstr>Critical Thinking vs. Creative Thinking</vt:lpstr>
      <vt:lpstr>Critical Thinking and Bloom's Taxonomy</vt:lpstr>
      <vt:lpstr>Tools of Critical Thinking</vt:lpstr>
      <vt:lpstr>Stages of Research</vt:lpstr>
      <vt:lpstr>Research Problem Identification of Research Area and Topic</vt:lpstr>
      <vt:lpstr>Research Problem Identification of Research Area and Topic</vt:lpstr>
      <vt:lpstr>Research Problem Originality (Novelty)of Research Area and Topic</vt:lpstr>
      <vt:lpstr>Research Problem Originality (Novelty)of Research Area and Topic</vt:lpstr>
      <vt:lpstr>Research Problem Approach for Selection of Research Area and Topic</vt:lpstr>
      <vt:lpstr>Research Problem Approach for Selection of Research Area and Topic</vt:lpstr>
      <vt:lpstr>Research Problem Approach for Selection of Research Area and Topic</vt:lpstr>
      <vt:lpstr>Research Problem Approach for Selection of Research Area and Topic</vt:lpstr>
      <vt:lpstr>Research Problem Statement Introduction</vt:lpstr>
      <vt:lpstr>Problem Statement Formulation Problem Definition “A problem well defined is a problem half- solved”</vt:lpstr>
      <vt:lpstr>Problem Statement Formulation Suggested Techniques / Steps</vt:lpstr>
      <vt:lpstr>Problem Statement Formulation Suggested Techniques / Steps</vt:lpstr>
      <vt:lpstr>Questionnaire</vt:lpstr>
      <vt:lpstr>Designing a Questionnaire Ten Points to be Considered</vt:lpstr>
      <vt:lpstr>Designing a Questionnaire Ten Points to be Considered</vt:lpstr>
      <vt:lpstr>Hypothesis Introduction and Definition</vt:lpstr>
      <vt:lpstr>Functions of an Hypothesis</vt:lpstr>
      <vt:lpstr>Characteristics of an Hypothesis</vt:lpstr>
      <vt:lpstr>Characteristics of an Hypothesis</vt:lpstr>
      <vt:lpstr>Types of Hypothesis</vt:lpstr>
      <vt:lpstr>Level of Statistical Significance (α)</vt:lpstr>
      <vt:lpstr>Two – Tailed and One – Tailed Test</vt:lpstr>
      <vt:lpstr>Two – Tailed and One – Tailed Test</vt:lpstr>
      <vt:lpstr>Hypothesis Testing Procedure</vt:lpstr>
      <vt:lpstr>Hypothesis Testing with Example</vt:lpstr>
      <vt:lpstr>Hypothesis Testing with Example</vt:lpstr>
      <vt:lpstr>Hypothesis Testing with Example</vt:lpstr>
      <vt:lpstr>PowerPoint Presentation</vt:lpstr>
      <vt:lpstr>PowerPoint Presentation</vt:lpstr>
      <vt:lpstr>PowerPoint Presentation</vt:lpstr>
      <vt:lpstr>PowerPoint Presentation</vt:lpstr>
      <vt:lpstr>Literature  Definition and General Characteristics</vt:lpstr>
      <vt:lpstr>General Characteristics of Literature</vt:lpstr>
      <vt:lpstr>Types and Sources of Literature</vt:lpstr>
      <vt:lpstr>Primary Sources of Literature</vt:lpstr>
      <vt:lpstr>Primary Sources of Literature</vt:lpstr>
      <vt:lpstr>Secondary Sources of Literature</vt:lpstr>
      <vt:lpstr>Secondary Sources of Literature</vt:lpstr>
      <vt:lpstr>Tertiary Sources of Literature</vt:lpstr>
      <vt:lpstr>PowerPoint Presentation</vt:lpstr>
      <vt:lpstr>Literature Survey vs. Literature Review</vt:lpstr>
      <vt:lpstr>Significance of Literature Survey and Review</vt:lpstr>
      <vt:lpstr>Significance of Literature Survey and Review</vt:lpstr>
      <vt:lpstr>Significance of Literature Survey and Review</vt:lpstr>
      <vt:lpstr>Literature Review Strategy</vt:lpstr>
      <vt:lpstr>Identify Key Terms (Keywords)</vt:lpstr>
      <vt:lpstr>Identify Key Terms (Keywords)</vt:lpstr>
      <vt:lpstr>Locate Literature Public and Private Sources</vt:lpstr>
      <vt:lpstr>Locate Literature  Online Databases - Introduction</vt:lpstr>
      <vt:lpstr>Locate Literature List of Online Databases</vt:lpstr>
      <vt:lpstr>Reference Searching and Types</vt:lpstr>
      <vt:lpstr>Reference Searching Retrospective Type - Backward Searching</vt:lpstr>
      <vt:lpstr>Reference Searching Retrospective Type - Backward Searching</vt:lpstr>
      <vt:lpstr>Reference Searching Citation Type-Forward Searching</vt:lpstr>
      <vt:lpstr>Review Articles - Definition</vt:lpstr>
      <vt:lpstr>Review Articles - Function and Audience</vt:lpstr>
      <vt:lpstr>Review Article vs. Research Article</vt:lpstr>
      <vt:lpstr>Classification of Review Articles</vt:lpstr>
      <vt:lpstr>Classification of Review Articles</vt:lpstr>
      <vt:lpstr>Classification of Review Articles</vt:lpstr>
      <vt:lpstr>Classification of Literature Review Another Approach</vt:lpstr>
      <vt:lpstr>Review Article - Organization</vt:lpstr>
      <vt:lpstr>Review Article - Organization</vt:lpstr>
      <vt:lpstr>Review Article - Organization</vt:lpstr>
      <vt:lpstr>Meta Analysis: "Analysis of an Analysis“</vt:lpstr>
      <vt:lpstr>Meta Analysis: “Analysis of an Analysis”</vt:lpstr>
      <vt:lpstr>Advantages of Meta - Analysis</vt:lpstr>
      <vt:lpstr>Research Journal Indexing and Quality Standards Factors Necessitating Development of Journal Citation Indexing</vt:lpstr>
      <vt:lpstr>Research Journal Indexing and Quality Standards</vt:lpstr>
      <vt:lpstr>Citation Indices</vt:lpstr>
      <vt:lpstr>Important Citation Indices  Web of Knowledge/Science based by Clarivate Analytics</vt:lpstr>
      <vt:lpstr>Important Citation Indices</vt:lpstr>
      <vt:lpstr>Principles Underlying Journal Impact Factor</vt:lpstr>
      <vt:lpstr>Computation of Journal Impact Factor</vt:lpstr>
      <vt:lpstr>Computation of Journal Impact Factor</vt:lpstr>
      <vt:lpstr>Merits of Journal Impact Factor</vt:lpstr>
      <vt:lpstr>Demerits of Journal Impact Factor</vt:lpstr>
      <vt:lpstr>Journal Immediacy Index</vt:lpstr>
      <vt:lpstr>h-index (Hirsch index):</vt:lpstr>
      <vt:lpstr>h-index (Hirsch index)</vt:lpstr>
      <vt:lpstr>Factors influencing h-index</vt:lpstr>
      <vt:lpstr>Source Normalized Impact per Paper (SNIP)</vt:lpstr>
      <vt:lpstr>Calculation of SNIP</vt:lpstr>
      <vt:lpstr>i10-Index - Introduction and Computation</vt:lpstr>
      <vt:lpstr>i10-Index-Introduction and Computation</vt:lpstr>
      <vt:lpstr>Intellectual Property Rights (IPR) Definition and Motivation for IPR</vt:lpstr>
      <vt:lpstr>Broad Classification of IPR</vt:lpstr>
      <vt:lpstr>World Trade Organization</vt:lpstr>
      <vt:lpstr>World Intellectual Property Organization</vt:lpstr>
      <vt:lpstr>Trade-Related Aspects of Intellectual Property Rights Agreement</vt:lpstr>
      <vt:lpstr>Types of Indian IPR</vt:lpstr>
      <vt:lpstr>Types of Indian IPR</vt:lpstr>
      <vt:lpstr>Factors to be Considered in Patenting</vt:lpstr>
      <vt:lpstr>Factors to be Considered in Patenting</vt:lpstr>
      <vt:lpstr>Procedures for Obtaining Patent Rights</vt:lpstr>
      <vt:lpstr>Intellectual Property Rights (IPR) Product Development as a Case Study</vt:lpstr>
      <vt:lpstr>Copyright Laws vs. Patent Rights</vt:lpstr>
      <vt:lpstr>Copyright Laws vs. Patent Rights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20GNS502J Research Methodology</dc:title>
  <dc:creator>Bridget Mary</dc:creator>
  <cp:lastModifiedBy>Subash R 101616</cp:lastModifiedBy>
  <cp:revision>179</cp:revision>
  <dcterms:created xsi:type="dcterms:W3CDTF">2024-06-21T08:40:44Z</dcterms:created>
  <dcterms:modified xsi:type="dcterms:W3CDTF">2025-08-23T12:35:06Z</dcterms:modified>
</cp:coreProperties>
</file>