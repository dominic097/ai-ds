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1"/>
  </p:notesMasterIdLst>
  <p:sldIdLst>
    <p:sldId id="256" r:id="rId2"/>
    <p:sldId id="257" r:id="rId3"/>
    <p:sldId id="288" r:id="rId4"/>
    <p:sldId id="319" r:id="rId5"/>
    <p:sldId id="384" r:id="rId6"/>
    <p:sldId id="385" r:id="rId7"/>
    <p:sldId id="386" r:id="rId8"/>
    <p:sldId id="387" r:id="rId9"/>
    <p:sldId id="295" r:id="rId10"/>
    <p:sldId id="383" r:id="rId11"/>
    <p:sldId id="400" r:id="rId12"/>
    <p:sldId id="399" r:id="rId13"/>
    <p:sldId id="401" r:id="rId14"/>
    <p:sldId id="402" r:id="rId15"/>
    <p:sldId id="404" r:id="rId16"/>
    <p:sldId id="405" r:id="rId17"/>
    <p:sldId id="406" r:id="rId18"/>
    <p:sldId id="408" r:id="rId19"/>
    <p:sldId id="409" r:id="rId20"/>
    <p:sldId id="388" r:id="rId21"/>
    <p:sldId id="389" r:id="rId22"/>
    <p:sldId id="390" r:id="rId23"/>
    <p:sldId id="300" r:id="rId24"/>
    <p:sldId id="302" r:id="rId25"/>
    <p:sldId id="303" r:id="rId26"/>
    <p:sldId id="304" r:id="rId27"/>
    <p:sldId id="305" r:id="rId28"/>
    <p:sldId id="306" r:id="rId29"/>
    <p:sldId id="296" r:id="rId30"/>
    <p:sldId id="307" r:id="rId31"/>
    <p:sldId id="308" r:id="rId32"/>
    <p:sldId id="309" r:id="rId33"/>
    <p:sldId id="310" r:id="rId34"/>
    <p:sldId id="297" r:id="rId35"/>
    <p:sldId id="314" r:id="rId36"/>
    <p:sldId id="380" r:id="rId37"/>
    <p:sldId id="393" r:id="rId38"/>
    <p:sldId id="394" r:id="rId39"/>
    <p:sldId id="397" r:id="rId40"/>
    <p:sldId id="341" r:id="rId41"/>
    <p:sldId id="343" r:id="rId42"/>
    <p:sldId id="345" r:id="rId43"/>
    <p:sldId id="346" r:id="rId44"/>
    <p:sldId id="347" r:id="rId45"/>
    <p:sldId id="391" r:id="rId46"/>
    <p:sldId id="392" r:id="rId47"/>
    <p:sldId id="351" r:id="rId48"/>
    <p:sldId id="509" r:id="rId49"/>
    <p:sldId id="510" r:id="rId50"/>
    <p:sldId id="511" r:id="rId51"/>
    <p:sldId id="512" r:id="rId52"/>
    <p:sldId id="513" r:id="rId53"/>
    <p:sldId id="514" r:id="rId54"/>
    <p:sldId id="515" r:id="rId55"/>
    <p:sldId id="516" r:id="rId56"/>
    <p:sldId id="517" r:id="rId57"/>
    <p:sldId id="518" r:id="rId58"/>
    <p:sldId id="519" r:id="rId59"/>
    <p:sldId id="522" r:id="rId60"/>
    <p:sldId id="521" r:id="rId61"/>
    <p:sldId id="520" r:id="rId62"/>
    <p:sldId id="523" r:id="rId63"/>
    <p:sldId id="524" r:id="rId64"/>
    <p:sldId id="352" r:id="rId65"/>
    <p:sldId id="356" r:id="rId66"/>
    <p:sldId id="357" r:id="rId67"/>
    <p:sldId id="358" r:id="rId68"/>
    <p:sldId id="359" r:id="rId69"/>
    <p:sldId id="360" r:id="rId70"/>
    <p:sldId id="361" r:id="rId71"/>
    <p:sldId id="362" r:id="rId72"/>
    <p:sldId id="363" r:id="rId73"/>
    <p:sldId id="365" r:id="rId74"/>
    <p:sldId id="368" r:id="rId75"/>
    <p:sldId id="369" r:id="rId76"/>
    <p:sldId id="370" r:id="rId77"/>
    <p:sldId id="371" r:id="rId78"/>
    <p:sldId id="372" r:id="rId79"/>
    <p:sldId id="373" r:id="rId80"/>
    <p:sldId id="374" r:id="rId81"/>
    <p:sldId id="375" r:id="rId82"/>
    <p:sldId id="376" r:id="rId83"/>
    <p:sldId id="425" r:id="rId84"/>
    <p:sldId id="481" r:id="rId85"/>
    <p:sldId id="484" r:id="rId86"/>
    <p:sldId id="426" r:id="rId87"/>
    <p:sldId id="485" r:id="rId88"/>
    <p:sldId id="429" r:id="rId89"/>
    <p:sldId id="487" r:id="rId9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167" autoAdjust="0"/>
    <p:restoredTop sz="94660"/>
  </p:normalViewPr>
  <p:slideViewPr>
    <p:cSldViewPr>
      <p:cViewPr varScale="1">
        <p:scale>
          <a:sx n="56" d="100"/>
          <a:sy n="56" d="100"/>
        </p:scale>
        <p:origin x="1260"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56EB45D-0FFC-9741-86BE-D422D967E788}" type="doc">
      <dgm:prSet loTypeId="urn:microsoft.com/office/officeart/2005/8/layout/hProcess9" loCatId="" qsTypeId="urn:microsoft.com/office/officeart/2005/8/quickstyle/simple4" qsCatId="simple" csTypeId="urn:microsoft.com/office/officeart/2005/8/colors/accent1_2" csCatId="accent1" phldr="1"/>
      <dgm:spPr/>
      <dgm:t>
        <a:bodyPr/>
        <a:lstStyle/>
        <a:p>
          <a:endParaRPr lang="en-ZA"/>
        </a:p>
      </dgm:t>
    </dgm:pt>
    <dgm:pt modelId="{9E308EE0-CDCA-5E49-AD89-B71F6E2492A9}">
      <dgm:prSet phldrT="[Text]" custT="1"/>
      <dgm:spPr/>
      <dgm:t>
        <a:bodyPr/>
        <a:lstStyle/>
        <a:p>
          <a:r>
            <a:rPr lang="en-ZA" sz="1800" dirty="0"/>
            <a:t>Aristotle (384-322 BC) </a:t>
          </a:r>
          <a:r>
            <a:rPr lang="en-US" sz="1800" dirty="0"/>
            <a:t>–</a:t>
          </a:r>
          <a:r>
            <a:rPr lang="en-ZA" sz="1800" dirty="0"/>
            <a:t> proposed a theory of virtue</a:t>
          </a:r>
        </a:p>
      </dgm:t>
    </dgm:pt>
    <dgm:pt modelId="{D6AA5A1A-F73B-8240-9B9D-364275DEA552}" type="parTrans" cxnId="{5D33E709-9DC4-304A-8B17-D0CB35A780B5}">
      <dgm:prSet/>
      <dgm:spPr/>
      <dgm:t>
        <a:bodyPr/>
        <a:lstStyle/>
        <a:p>
          <a:endParaRPr lang="en-ZA"/>
        </a:p>
      </dgm:t>
    </dgm:pt>
    <dgm:pt modelId="{01D7AC76-C653-6147-92A2-9557434FEC1A}" type="sibTrans" cxnId="{5D33E709-9DC4-304A-8B17-D0CB35A780B5}">
      <dgm:prSet/>
      <dgm:spPr/>
      <dgm:t>
        <a:bodyPr/>
        <a:lstStyle/>
        <a:p>
          <a:endParaRPr lang="en-ZA"/>
        </a:p>
      </dgm:t>
    </dgm:pt>
    <dgm:pt modelId="{E99EB9B0-AD84-4B41-B5B5-798C457DB15E}">
      <dgm:prSet phldrT="[Text]" custT="1"/>
      <dgm:spPr/>
      <dgm:t>
        <a:bodyPr/>
        <a:lstStyle/>
        <a:p>
          <a:r>
            <a:rPr lang="en-ZA" sz="1800" dirty="0"/>
            <a:t>Socrates (469-399</a:t>
          </a:r>
          <a:r>
            <a:rPr lang="en-ZA" sz="1600" dirty="0"/>
            <a:t>)</a:t>
          </a:r>
        </a:p>
      </dgm:t>
    </dgm:pt>
    <dgm:pt modelId="{61D52EC6-2E34-5E45-9E4B-3F3B20721906}" type="parTrans" cxnId="{9EE177C3-DB81-C94C-BF59-7AC346D8DFC0}">
      <dgm:prSet/>
      <dgm:spPr/>
      <dgm:t>
        <a:bodyPr/>
        <a:lstStyle/>
        <a:p>
          <a:endParaRPr lang="en-ZA"/>
        </a:p>
      </dgm:t>
    </dgm:pt>
    <dgm:pt modelId="{CBE937A5-AE9C-FF4A-926B-2D3878509986}" type="sibTrans" cxnId="{9EE177C3-DB81-C94C-BF59-7AC346D8DFC0}">
      <dgm:prSet/>
      <dgm:spPr/>
      <dgm:t>
        <a:bodyPr/>
        <a:lstStyle/>
        <a:p>
          <a:endParaRPr lang="en-ZA"/>
        </a:p>
      </dgm:t>
    </dgm:pt>
    <dgm:pt modelId="{AA4F02FE-2FFE-744D-B592-19D91169DE2C}">
      <dgm:prSet phldrT="[Text]" custT="1"/>
      <dgm:spPr/>
      <dgm:t>
        <a:bodyPr/>
        <a:lstStyle/>
        <a:p>
          <a:r>
            <a:rPr lang="en-ZA" sz="1800" dirty="0"/>
            <a:t>Kant (1724-1804)</a:t>
          </a:r>
        </a:p>
        <a:p>
          <a:r>
            <a:rPr lang="en-US" sz="1800" dirty="0"/>
            <a:t>rightness of an action is determined by the character of the principle that a person chooses to act upon</a:t>
          </a:r>
          <a:endParaRPr lang="en-ZA" sz="1800" dirty="0"/>
        </a:p>
      </dgm:t>
    </dgm:pt>
    <dgm:pt modelId="{64D2A94A-DB1F-B742-9C21-D15F02A95550}" type="parTrans" cxnId="{4C52749D-1300-A844-B0C0-4D25D23B395F}">
      <dgm:prSet/>
      <dgm:spPr/>
      <dgm:t>
        <a:bodyPr/>
        <a:lstStyle/>
        <a:p>
          <a:endParaRPr lang="en-ZA"/>
        </a:p>
      </dgm:t>
    </dgm:pt>
    <dgm:pt modelId="{E72356DF-025B-EB4A-A2F7-E488E4C99A0A}" type="sibTrans" cxnId="{4C52749D-1300-A844-B0C0-4D25D23B395F}">
      <dgm:prSet/>
      <dgm:spPr/>
      <dgm:t>
        <a:bodyPr/>
        <a:lstStyle/>
        <a:p>
          <a:endParaRPr lang="en-ZA"/>
        </a:p>
      </dgm:t>
    </dgm:pt>
    <dgm:pt modelId="{F04F6344-1C8F-2645-8F5B-F7D5317A5391}">
      <dgm:prSet custT="1"/>
      <dgm:spPr/>
      <dgm:t>
        <a:bodyPr/>
        <a:lstStyle/>
        <a:p>
          <a:r>
            <a:rPr lang="fi-FI" sz="1800" dirty="0"/>
            <a:t>Siddhartha Gautama (563-480 BC</a:t>
          </a:r>
          <a:r>
            <a:rPr lang="fi-FI" sz="1600" dirty="0"/>
            <a:t>)</a:t>
          </a:r>
          <a:endParaRPr lang="en-ZA" sz="1600" dirty="0"/>
        </a:p>
      </dgm:t>
    </dgm:pt>
    <dgm:pt modelId="{B318D906-6E94-6942-9C35-008FE48EF048}" type="parTrans" cxnId="{0283A7D8-665F-EA47-8BAC-219BF69901BE}">
      <dgm:prSet/>
      <dgm:spPr/>
      <dgm:t>
        <a:bodyPr/>
        <a:lstStyle/>
        <a:p>
          <a:endParaRPr lang="en-ZA"/>
        </a:p>
      </dgm:t>
    </dgm:pt>
    <dgm:pt modelId="{1268D01E-9C48-E046-AC8E-18679F65617C}" type="sibTrans" cxnId="{0283A7D8-665F-EA47-8BAC-219BF69901BE}">
      <dgm:prSet/>
      <dgm:spPr/>
      <dgm:t>
        <a:bodyPr/>
        <a:lstStyle/>
        <a:p>
          <a:endParaRPr lang="en-ZA"/>
        </a:p>
      </dgm:t>
    </dgm:pt>
    <dgm:pt modelId="{A6A64CF3-2C5F-3240-8D92-4990376BE1D4}" type="pres">
      <dgm:prSet presAssocID="{456EB45D-0FFC-9741-86BE-D422D967E788}" presName="CompostProcess" presStyleCnt="0">
        <dgm:presLayoutVars>
          <dgm:dir/>
          <dgm:resizeHandles val="exact"/>
        </dgm:presLayoutVars>
      </dgm:prSet>
      <dgm:spPr/>
    </dgm:pt>
    <dgm:pt modelId="{90D71E74-2DAF-5344-A720-7CDC07078343}" type="pres">
      <dgm:prSet presAssocID="{456EB45D-0FFC-9741-86BE-D422D967E788}" presName="arrow" presStyleLbl="bgShp" presStyleIdx="0" presStyleCnt="1" custScaleX="117647"/>
      <dgm:spPr/>
    </dgm:pt>
    <dgm:pt modelId="{59AC3B21-037F-3046-8E07-B97E1ECCCB85}" type="pres">
      <dgm:prSet presAssocID="{456EB45D-0FFC-9741-86BE-D422D967E788}" presName="linearProcess" presStyleCnt="0"/>
      <dgm:spPr/>
    </dgm:pt>
    <dgm:pt modelId="{FAFD52F9-7F66-3D4E-8B67-65B13E068268}" type="pres">
      <dgm:prSet presAssocID="{9E308EE0-CDCA-5E49-AD89-B71F6E2492A9}" presName="textNode" presStyleLbl="node1" presStyleIdx="0" presStyleCnt="4" custScaleX="45552" custLinFactX="-17678" custLinFactNeighborX="-100000">
        <dgm:presLayoutVars>
          <dgm:bulletEnabled val="1"/>
        </dgm:presLayoutVars>
      </dgm:prSet>
      <dgm:spPr/>
    </dgm:pt>
    <dgm:pt modelId="{0E8ED423-6229-7743-A195-524207063A34}" type="pres">
      <dgm:prSet presAssocID="{01D7AC76-C653-6147-92A2-9557434FEC1A}" presName="sibTrans" presStyleCnt="0"/>
      <dgm:spPr/>
    </dgm:pt>
    <dgm:pt modelId="{C2C44EFD-CD81-4F4E-A5AE-A41028C87944}" type="pres">
      <dgm:prSet presAssocID="{E99EB9B0-AD84-4B41-B5B5-798C457DB15E}" presName="textNode" presStyleLbl="node1" presStyleIdx="1" presStyleCnt="4" custScaleX="39812" custLinFactNeighborX="-94628" custLinFactNeighborY="-3125">
        <dgm:presLayoutVars>
          <dgm:bulletEnabled val="1"/>
        </dgm:presLayoutVars>
      </dgm:prSet>
      <dgm:spPr/>
    </dgm:pt>
    <dgm:pt modelId="{E31877B0-DACB-0449-9727-6AA88B62E08C}" type="pres">
      <dgm:prSet presAssocID="{CBE937A5-AE9C-FF4A-926B-2D3878509986}" presName="sibTrans" presStyleCnt="0"/>
      <dgm:spPr/>
    </dgm:pt>
    <dgm:pt modelId="{B597827C-4D7C-0647-AEAA-A99C70EFF66B}" type="pres">
      <dgm:prSet presAssocID="{F04F6344-1C8F-2645-8F5B-F7D5317A5391}" presName="textNode" presStyleLbl="node1" presStyleIdx="2" presStyleCnt="4" custScaleX="53880" custLinFactX="-231" custLinFactNeighborX="-100000" custLinFactNeighborY="-4167">
        <dgm:presLayoutVars>
          <dgm:bulletEnabled val="1"/>
        </dgm:presLayoutVars>
      </dgm:prSet>
      <dgm:spPr/>
    </dgm:pt>
    <dgm:pt modelId="{D7A3575B-28C1-ED49-A3EF-957617AD390F}" type="pres">
      <dgm:prSet presAssocID="{1268D01E-9C48-E046-AC8E-18679F65617C}" presName="sibTrans" presStyleCnt="0"/>
      <dgm:spPr/>
    </dgm:pt>
    <dgm:pt modelId="{58F4332D-C59F-CB42-9818-B095F9B29768}" type="pres">
      <dgm:prSet presAssocID="{AA4F02FE-2FFE-744D-B592-19D91169DE2C}" presName="textNode" presStyleLbl="node1" presStyleIdx="3" presStyleCnt="4" custScaleX="79422" custLinFactNeighborX="-58866">
        <dgm:presLayoutVars>
          <dgm:bulletEnabled val="1"/>
        </dgm:presLayoutVars>
      </dgm:prSet>
      <dgm:spPr/>
    </dgm:pt>
  </dgm:ptLst>
  <dgm:cxnLst>
    <dgm:cxn modelId="{5D33E709-9DC4-304A-8B17-D0CB35A780B5}" srcId="{456EB45D-0FFC-9741-86BE-D422D967E788}" destId="{9E308EE0-CDCA-5E49-AD89-B71F6E2492A9}" srcOrd="0" destOrd="0" parTransId="{D6AA5A1A-F73B-8240-9B9D-364275DEA552}" sibTransId="{01D7AC76-C653-6147-92A2-9557434FEC1A}"/>
    <dgm:cxn modelId="{FEB5C30A-6449-43A7-B163-B8CD2ED35D42}" type="presOf" srcId="{F04F6344-1C8F-2645-8F5B-F7D5317A5391}" destId="{B597827C-4D7C-0647-AEAA-A99C70EFF66B}" srcOrd="0" destOrd="0" presId="urn:microsoft.com/office/officeart/2005/8/layout/hProcess9"/>
    <dgm:cxn modelId="{198F650C-5555-4301-A2CB-EFEBE8313483}" type="presOf" srcId="{E99EB9B0-AD84-4B41-B5B5-798C457DB15E}" destId="{C2C44EFD-CD81-4F4E-A5AE-A41028C87944}" srcOrd="0" destOrd="0" presId="urn:microsoft.com/office/officeart/2005/8/layout/hProcess9"/>
    <dgm:cxn modelId="{CD8A0B8C-2470-4440-8B1E-D4286C0FFD8B}" type="presOf" srcId="{456EB45D-0FFC-9741-86BE-D422D967E788}" destId="{A6A64CF3-2C5F-3240-8D92-4990376BE1D4}" srcOrd="0" destOrd="0" presId="urn:microsoft.com/office/officeart/2005/8/layout/hProcess9"/>
    <dgm:cxn modelId="{CB5D8999-8319-402D-9923-5E50E70D41E2}" type="presOf" srcId="{9E308EE0-CDCA-5E49-AD89-B71F6E2492A9}" destId="{FAFD52F9-7F66-3D4E-8B67-65B13E068268}" srcOrd="0" destOrd="0" presId="urn:microsoft.com/office/officeart/2005/8/layout/hProcess9"/>
    <dgm:cxn modelId="{4C52749D-1300-A844-B0C0-4D25D23B395F}" srcId="{456EB45D-0FFC-9741-86BE-D422D967E788}" destId="{AA4F02FE-2FFE-744D-B592-19D91169DE2C}" srcOrd="3" destOrd="0" parTransId="{64D2A94A-DB1F-B742-9C21-D15F02A95550}" sibTransId="{E72356DF-025B-EB4A-A2F7-E488E4C99A0A}"/>
    <dgm:cxn modelId="{513723B3-A862-40FD-8291-CE00A8B7364C}" type="presOf" srcId="{AA4F02FE-2FFE-744D-B592-19D91169DE2C}" destId="{58F4332D-C59F-CB42-9818-B095F9B29768}" srcOrd="0" destOrd="0" presId="urn:microsoft.com/office/officeart/2005/8/layout/hProcess9"/>
    <dgm:cxn modelId="{9EE177C3-DB81-C94C-BF59-7AC346D8DFC0}" srcId="{456EB45D-0FFC-9741-86BE-D422D967E788}" destId="{E99EB9B0-AD84-4B41-B5B5-798C457DB15E}" srcOrd="1" destOrd="0" parTransId="{61D52EC6-2E34-5E45-9E4B-3F3B20721906}" sibTransId="{CBE937A5-AE9C-FF4A-926B-2D3878509986}"/>
    <dgm:cxn modelId="{0283A7D8-665F-EA47-8BAC-219BF69901BE}" srcId="{456EB45D-0FFC-9741-86BE-D422D967E788}" destId="{F04F6344-1C8F-2645-8F5B-F7D5317A5391}" srcOrd="2" destOrd="0" parTransId="{B318D906-6E94-6942-9C35-008FE48EF048}" sibTransId="{1268D01E-9C48-E046-AC8E-18679F65617C}"/>
    <dgm:cxn modelId="{6DA48B97-026C-4B4C-BDBF-DEBD5C06358A}" type="presParOf" srcId="{A6A64CF3-2C5F-3240-8D92-4990376BE1D4}" destId="{90D71E74-2DAF-5344-A720-7CDC07078343}" srcOrd="0" destOrd="0" presId="urn:microsoft.com/office/officeart/2005/8/layout/hProcess9"/>
    <dgm:cxn modelId="{4605CA5D-3C7F-4F75-846E-3E4C1C56E430}" type="presParOf" srcId="{A6A64CF3-2C5F-3240-8D92-4990376BE1D4}" destId="{59AC3B21-037F-3046-8E07-B97E1ECCCB85}" srcOrd="1" destOrd="0" presId="urn:microsoft.com/office/officeart/2005/8/layout/hProcess9"/>
    <dgm:cxn modelId="{F506F3C6-1FFE-4D05-B4D5-0031652F7712}" type="presParOf" srcId="{59AC3B21-037F-3046-8E07-B97E1ECCCB85}" destId="{FAFD52F9-7F66-3D4E-8B67-65B13E068268}" srcOrd="0" destOrd="0" presId="urn:microsoft.com/office/officeart/2005/8/layout/hProcess9"/>
    <dgm:cxn modelId="{03DC07ED-DDC0-43D4-BF22-F69A5ECA2985}" type="presParOf" srcId="{59AC3B21-037F-3046-8E07-B97E1ECCCB85}" destId="{0E8ED423-6229-7743-A195-524207063A34}" srcOrd="1" destOrd="0" presId="urn:microsoft.com/office/officeart/2005/8/layout/hProcess9"/>
    <dgm:cxn modelId="{F0024B5A-7F98-4E63-98F9-5DD0B19DEB7D}" type="presParOf" srcId="{59AC3B21-037F-3046-8E07-B97E1ECCCB85}" destId="{C2C44EFD-CD81-4F4E-A5AE-A41028C87944}" srcOrd="2" destOrd="0" presId="urn:microsoft.com/office/officeart/2005/8/layout/hProcess9"/>
    <dgm:cxn modelId="{CC2D8BA8-85B7-4373-9AA2-0F855ECB118B}" type="presParOf" srcId="{59AC3B21-037F-3046-8E07-B97E1ECCCB85}" destId="{E31877B0-DACB-0449-9727-6AA88B62E08C}" srcOrd="3" destOrd="0" presId="urn:microsoft.com/office/officeart/2005/8/layout/hProcess9"/>
    <dgm:cxn modelId="{2FA1A9C9-8C5B-4077-91B6-E4C07C0BBF43}" type="presParOf" srcId="{59AC3B21-037F-3046-8E07-B97E1ECCCB85}" destId="{B597827C-4D7C-0647-AEAA-A99C70EFF66B}" srcOrd="4" destOrd="0" presId="urn:microsoft.com/office/officeart/2005/8/layout/hProcess9"/>
    <dgm:cxn modelId="{16618F58-FF25-4AA9-AF30-72359943A4C5}" type="presParOf" srcId="{59AC3B21-037F-3046-8E07-B97E1ECCCB85}" destId="{D7A3575B-28C1-ED49-A3EF-957617AD390F}" srcOrd="5" destOrd="0" presId="urn:microsoft.com/office/officeart/2005/8/layout/hProcess9"/>
    <dgm:cxn modelId="{F7FD8CF0-62DE-4B20-92F0-E1D77CA72510}" type="presParOf" srcId="{59AC3B21-037F-3046-8E07-B97E1ECCCB85}" destId="{58F4332D-C59F-CB42-9818-B095F9B29768}" srcOrd="6" destOrd="0" presId="urn:microsoft.com/office/officeart/2005/8/layout/hProcess9"/>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56EB45D-0FFC-9741-86BE-D422D967E788}" type="doc">
      <dgm:prSet loTypeId="urn:microsoft.com/office/officeart/2005/8/layout/hProcess9" loCatId="" qsTypeId="urn:microsoft.com/office/officeart/2005/8/quickstyle/simple4" qsCatId="simple" csTypeId="urn:microsoft.com/office/officeart/2005/8/colors/accent1_2" csCatId="accent1" phldr="1"/>
      <dgm:spPr/>
      <dgm:t>
        <a:bodyPr/>
        <a:lstStyle/>
        <a:p>
          <a:endParaRPr lang="en-ZA"/>
        </a:p>
      </dgm:t>
    </dgm:pt>
    <dgm:pt modelId="{9C85E858-3561-5246-BAEB-6B740617B4F5}">
      <dgm:prSet custT="1"/>
      <dgm:spPr/>
      <dgm:t>
        <a:bodyPr/>
        <a:lstStyle/>
        <a:p>
          <a:r>
            <a:rPr lang="en-ZA" sz="1600" dirty="0"/>
            <a:t>Bentham (1781) </a:t>
          </a:r>
          <a:r>
            <a:rPr lang="en-US" sz="1600" dirty="0"/>
            <a:t>–</a:t>
          </a:r>
          <a:r>
            <a:rPr lang="en-ZA" sz="1600" dirty="0"/>
            <a:t>Principle of utility </a:t>
          </a:r>
          <a:r>
            <a:rPr lang="en-US" sz="1600" dirty="0"/>
            <a:t>–</a:t>
          </a:r>
          <a:r>
            <a:rPr lang="en-ZA" sz="1600" dirty="0"/>
            <a:t> diapproves or approves of every action according to tendency to augment or diminish happiness</a:t>
          </a:r>
        </a:p>
      </dgm:t>
    </dgm:pt>
    <dgm:pt modelId="{DB83BE12-DFFA-A14A-B2E5-D2A8AC2703F6}" type="parTrans" cxnId="{23396FA2-A5B4-2E40-8026-366CA150BC26}">
      <dgm:prSet/>
      <dgm:spPr/>
      <dgm:t>
        <a:bodyPr/>
        <a:lstStyle/>
        <a:p>
          <a:endParaRPr lang="en-ZA"/>
        </a:p>
      </dgm:t>
    </dgm:pt>
    <dgm:pt modelId="{50BADED8-6F71-704D-B5D3-C07C368DAAE7}" type="sibTrans" cxnId="{23396FA2-A5B4-2E40-8026-366CA150BC26}">
      <dgm:prSet/>
      <dgm:spPr/>
      <dgm:t>
        <a:bodyPr/>
        <a:lstStyle/>
        <a:p>
          <a:endParaRPr lang="en-ZA"/>
        </a:p>
      </dgm:t>
    </dgm:pt>
    <dgm:pt modelId="{E44BF459-C857-AB4F-AD34-0A258A35F5E2}">
      <dgm:prSet custT="1"/>
      <dgm:spPr/>
      <dgm:t>
        <a:bodyPr/>
        <a:lstStyle/>
        <a:p>
          <a:r>
            <a:rPr lang="en-ZA" sz="1600" dirty="0"/>
            <a:t>Fanon (1925-1961)  A</a:t>
          </a:r>
          <a:r>
            <a:rPr lang="en-US" sz="1600" dirty="0"/>
            <a:t>f</a:t>
          </a:r>
          <a:r>
            <a:rPr lang="en-ZA" sz="1600" dirty="0"/>
            <a:t>rican philosophy, humaneness</a:t>
          </a:r>
        </a:p>
      </dgm:t>
    </dgm:pt>
    <dgm:pt modelId="{30F40691-EB71-0341-984D-983C777AA49C}" type="parTrans" cxnId="{223A6E44-EE35-2348-8CFF-1F6E3DB880EF}">
      <dgm:prSet/>
      <dgm:spPr/>
      <dgm:t>
        <a:bodyPr/>
        <a:lstStyle/>
        <a:p>
          <a:endParaRPr lang="en-ZA"/>
        </a:p>
      </dgm:t>
    </dgm:pt>
    <dgm:pt modelId="{111AE12C-4473-5446-B212-A11F70390DA6}" type="sibTrans" cxnId="{223A6E44-EE35-2348-8CFF-1F6E3DB880EF}">
      <dgm:prSet/>
      <dgm:spPr/>
      <dgm:t>
        <a:bodyPr/>
        <a:lstStyle/>
        <a:p>
          <a:endParaRPr lang="en-ZA"/>
        </a:p>
      </dgm:t>
    </dgm:pt>
    <dgm:pt modelId="{D8C30333-63CB-4240-ADA5-34719B5227D6}">
      <dgm:prSet custT="1"/>
      <dgm:spPr/>
      <dgm:t>
        <a:bodyPr/>
        <a:lstStyle/>
        <a:p>
          <a:r>
            <a:rPr lang="en-ZA" sz="1600" dirty="0"/>
            <a:t>Martin Luther King</a:t>
          </a:r>
        </a:p>
        <a:p>
          <a:r>
            <a:rPr lang="en-ZA" sz="1600" dirty="0"/>
            <a:t>Nelson Mandela (1918-2013)</a:t>
          </a:r>
        </a:p>
      </dgm:t>
    </dgm:pt>
    <dgm:pt modelId="{2F44C75B-411B-BA41-B5E0-9DD0B60F584B}" type="parTrans" cxnId="{D37BFA7E-3331-5741-A7CA-5BF07EB53F6F}">
      <dgm:prSet/>
      <dgm:spPr/>
      <dgm:t>
        <a:bodyPr/>
        <a:lstStyle/>
        <a:p>
          <a:endParaRPr lang="en-ZA"/>
        </a:p>
      </dgm:t>
    </dgm:pt>
    <dgm:pt modelId="{79CDF6AA-EC87-4444-9180-A8CF1BF1FD69}" type="sibTrans" cxnId="{D37BFA7E-3331-5741-A7CA-5BF07EB53F6F}">
      <dgm:prSet/>
      <dgm:spPr/>
      <dgm:t>
        <a:bodyPr/>
        <a:lstStyle/>
        <a:p>
          <a:endParaRPr lang="en-ZA"/>
        </a:p>
      </dgm:t>
    </dgm:pt>
    <dgm:pt modelId="{1C62443B-E6B0-1046-BCB7-4BA5BD32BA0F}">
      <dgm:prSet custT="1"/>
      <dgm:spPr/>
      <dgm:t>
        <a:bodyPr/>
        <a:lstStyle/>
        <a:p>
          <a:r>
            <a:rPr lang="en-ZA" sz="1600" dirty="0"/>
            <a:t>Mahatma Ghandi (1869 – 1948)</a:t>
          </a:r>
        </a:p>
      </dgm:t>
    </dgm:pt>
    <dgm:pt modelId="{DBC22425-1A9F-5541-81BA-4EC216C7DF81}" type="parTrans" cxnId="{B907DFB3-0BCC-7441-A227-353BC9BEE1F0}">
      <dgm:prSet/>
      <dgm:spPr/>
      <dgm:t>
        <a:bodyPr/>
        <a:lstStyle/>
        <a:p>
          <a:endParaRPr lang="en-ZA"/>
        </a:p>
      </dgm:t>
    </dgm:pt>
    <dgm:pt modelId="{D095B44F-6CC4-F84A-9B69-229EAF542462}" type="sibTrans" cxnId="{B907DFB3-0BCC-7441-A227-353BC9BEE1F0}">
      <dgm:prSet/>
      <dgm:spPr/>
      <dgm:t>
        <a:bodyPr/>
        <a:lstStyle/>
        <a:p>
          <a:endParaRPr lang="en-ZA"/>
        </a:p>
      </dgm:t>
    </dgm:pt>
    <dgm:pt modelId="{A6A64CF3-2C5F-3240-8D92-4990376BE1D4}" type="pres">
      <dgm:prSet presAssocID="{456EB45D-0FFC-9741-86BE-D422D967E788}" presName="CompostProcess" presStyleCnt="0">
        <dgm:presLayoutVars>
          <dgm:dir/>
          <dgm:resizeHandles val="exact"/>
        </dgm:presLayoutVars>
      </dgm:prSet>
      <dgm:spPr/>
    </dgm:pt>
    <dgm:pt modelId="{90D71E74-2DAF-5344-A720-7CDC07078343}" type="pres">
      <dgm:prSet presAssocID="{456EB45D-0FFC-9741-86BE-D422D967E788}" presName="arrow" presStyleLbl="bgShp" presStyleIdx="0" presStyleCnt="1" custScaleX="117647"/>
      <dgm:spPr/>
    </dgm:pt>
    <dgm:pt modelId="{59AC3B21-037F-3046-8E07-B97E1ECCCB85}" type="pres">
      <dgm:prSet presAssocID="{456EB45D-0FFC-9741-86BE-D422D967E788}" presName="linearProcess" presStyleCnt="0"/>
      <dgm:spPr/>
    </dgm:pt>
    <dgm:pt modelId="{411BA684-C8A8-DB4D-9926-9916E23BC248}" type="pres">
      <dgm:prSet presAssocID="{9C85E858-3561-5246-BAEB-6B740617B4F5}" presName="textNode" presStyleLbl="node1" presStyleIdx="0" presStyleCnt="4" custScaleX="120991">
        <dgm:presLayoutVars>
          <dgm:bulletEnabled val="1"/>
        </dgm:presLayoutVars>
      </dgm:prSet>
      <dgm:spPr/>
    </dgm:pt>
    <dgm:pt modelId="{97FBDFCD-4C0C-4B47-B5D5-0A55F0030325}" type="pres">
      <dgm:prSet presAssocID="{50BADED8-6F71-704D-B5D3-C07C368DAAE7}" presName="sibTrans" presStyleCnt="0"/>
      <dgm:spPr/>
    </dgm:pt>
    <dgm:pt modelId="{863D9093-F935-1140-93BC-59E923A10ECB}" type="pres">
      <dgm:prSet presAssocID="{1C62443B-E6B0-1046-BCB7-4BA5BD32BA0F}" presName="textNode" presStyleLbl="node1" presStyleIdx="1" presStyleCnt="4" custLinFactNeighborX="-43392">
        <dgm:presLayoutVars>
          <dgm:bulletEnabled val="1"/>
        </dgm:presLayoutVars>
      </dgm:prSet>
      <dgm:spPr/>
    </dgm:pt>
    <dgm:pt modelId="{448F6FEC-2E15-FE44-9912-691CFFD2C008}" type="pres">
      <dgm:prSet presAssocID="{D095B44F-6CC4-F84A-9B69-229EAF542462}" presName="sibTrans" presStyleCnt="0"/>
      <dgm:spPr/>
    </dgm:pt>
    <dgm:pt modelId="{322D947F-FB47-3B4F-BD62-81EC2BF775A4}" type="pres">
      <dgm:prSet presAssocID="{D8C30333-63CB-4240-ADA5-34719B5227D6}" presName="textNode" presStyleLbl="node1" presStyleIdx="2" presStyleCnt="4" custLinFactNeighborX="-59664">
        <dgm:presLayoutVars>
          <dgm:bulletEnabled val="1"/>
        </dgm:presLayoutVars>
      </dgm:prSet>
      <dgm:spPr/>
    </dgm:pt>
    <dgm:pt modelId="{0087D83A-F625-A647-BA27-BFB7A439B87F}" type="pres">
      <dgm:prSet presAssocID="{79CDF6AA-EC87-4444-9180-A8CF1BF1FD69}" presName="sibTrans" presStyleCnt="0"/>
      <dgm:spPr/>
    </dgm:pt>
    <dgm:pt modelId="{3A88BF49-0B70-504E-8DA0-CCAA019FD45C}" type="pres">
      <dgm:prSet presAssocID="{E44BF459-C857-AB4F-AD34-0A258A35F5E2}" presName="textNode" presStyleLbl="node1" presStyleIdx="3" presStyleCnt="4" custLinFactX="-509" custLinFactNeighborX="-100000">
        <dgm:presLayoutVars>
          <dgm:bulletEnabled val="1"/>
        </dgm:presLayoutVars>
      </dgm:prSet>
      <dgm:spPr/>
    </dgm:pt>
  </dgm:ptLst>
  <dgm:cxnLst>
    <dgm:cxn modelId="{92259313-E357-4030-B760-E32BFA069E50}" type="presOf" srcId="{456EB45D-0FFC-9741-86BE-D422D967E788}" destId="{A6A64CF3-2C5F-3240-8D92-4990376BE1D4}" srcOrd="0" destOrd="0" presId="urn:microsoft.com/office/officeart/2005/8/layout/hProcess9"/>
    <dgm:cxn modelId="{B4BFC81A-9F80-4559-B0A2-3BF5183353B9}" type="presOf" srcId="{D8C30333-63CB-4240-ADA5-34719B5227D6}" destId="{322D947F-FB47-3B4F-BD62-81EC2BF775A4}" srcOrd="0" destOrd="0" presId="urn:microsoft.com/office/officeart/2005/8/layout/hProcess9"/>
    <dgm:cxn modelId="{223A6E44-EE35-2348-8CFF-1F6E3DB880EF}" srcId="{456EB45D-0FFC-9741-86BE-D422D967E788}" destId="{E44BF459-C857-AB4F-AD34-0A258A35F5E2}" srcOrd="3" destOrd="0" parTransId="{30F40691-EB71-0341-984D-983C777AA49C}" sibTransId="{111AE12C-4473-5446-B212-A11F70390DA6}"/>
    <dgm:cxn modelId="{E6AC216E-E977-459E-A0E4-E6EBA6E6BBF3}" type="presOf" srcId="{9C85E858-3561-5246-BAEB-6B740617B4F5}" destId="{411BA684-C8A8-DB4D-9926-9916E23BC248}" srcOrd="0" destOrd="0" presId="urn:microsoft.com/office/officeart/2005/8/layout/hProcess9"/>
    <dgm:cxn modelId="{D37BFA7E-3331-5741-A7CA-5BF07EB53F6F}" srcId="{456EB45D-0FFC-9741-86BE-D422D967E788}" destId="{D8C30333-63CB-4240-ADA5-34719B5227D6}" srcOrd="2" destOrd="0" parTransId="{2F44C75B-411B-BA41-B5E0-9DD0B60F584B}" sibTransId="{79CDF6AA-EC87-4444-9180-A8CF1BF1FD69}"/>
    <dgm:cxn modelId="{DBACA582-1B3E-4EED-9624-79D2A0514946}" type="presOf" srcId="{1C62443B-E6B0-1046-BCB7-4BA5BD32BA0F}" destId="{863D9093-F935-1140-93BC-59E923A10ECB}" srcOrd="0" destOrd="0" presId="urn:microsoft.com/office/officeart/2005/8/layout/hProcess9"/>
    <dgm:cxn modelId="{ED029793-A238-4D1E-9AD7-D72D27FC1634}" type="presOf" srcId="{E44BF459-C857-AB4F-AD34-0A258A35F5E2}" destId="{3A88BF49-0B70-504E-8DA0-CCAA019FD45C}" srcOrd="0" destOrd="0" presId="urn:microsoft.com/office/officeart/2005/8/layout/hProcess9"/>
    <dgm:cxn modelId="{23396FA2-A5B4-2E40-8026-366CA150BC26}" srcId="{456EB45D-0FFC-9741-86BE-D422D967E788}" destId="{9C85E858-3561-5246-BAEB-6B740617B4F5}" srcOrd="0" destOrd="0" parTransId="{DB83BE12-DFFA-A14A-B2E5-D2A8AC2703F6}" sibTransId="{50BADED8-6F71-704D-B5D3-C07C368DAAE7}"/>
    <dgm:cxn modelId="{B907DFB3-0BCC-7441-A227-353BC9BEE1F0}" srcId="{456EB45D-0FFC-9741-86BE-D422D967E788}" destId="{1C62443B-E6B0-1046-BCB7-4BA5BD32BA0F}" srcOrd="1" destOrd="0" parTransId="{DBC22425-1A9F-5541-81BA-4EC216C7DF81}" sibTransId="{D095B44F-6CC4-F84A-9B69-229EAF542462}"/>
    <dgm:cxn modelId="{A027FA08-361D-455F-894A-EB9F5E19FF83}" type="presParOf" srcId="{A6A64CF3-2C5F-3240-8D92-4990376BE1D4}" destId="{90D71E74-2DAF-5344-A720-7CDC07078343}" srcOrd="0" destOrd="0" presId="urn:microsoft.com/office/officeart/2005/8/layout/hProcess9"/>
    <dgm:cxn modelId="{F5E4264F-4370-4135-93A7-D9C0F97D6275}" type="presParOf" srcId="{A6A64CF3-2C5F-3240-8D92-4990376BE1D4}" destId="{59AC3B21-037F-3046-8E07-B97E1ECCCB85}" srcOrd="1" destOrd="0" presId="urn:microsoft.com/office/officeart/2005/8/layout/hProcess9"/>
    <dgm:cxn modelId="{B45495D4-4838-4AA5-BAE9-64CEB3867F83}" type="presParOf" srcId="{59AC3B21-037F-3046-8E07-B97E1ECCCB85}" destId="{411BA684-C8A8-DB4D-9926-9916E23BC248}" srcOrd="0" destOrd="0" presId="urn:microsoft.com/office/officeart/2005/8/layout/hProcess9"/>
    <dgm:cxn modelId="{DE3A30BF-269A-48D1-8E88-544D20341117}" type="presParOf" srcId="{59AC3B21-037F-3046-8E07-B97E1ECCCB85}" destId="{97FBDFCD-4C0C-4B47-B5D5-0A55F0030325}" srcOrd="1" destOrd="0" presId="urn:microsoft.com/office/officeart/2005/8/layout/hProcess9"/>
    <dgm:cxn modelId="{936C8EA6-7059-439B-916C-BF2FFA96113F}" type="presParOf" srcId="{59AC3B21-037F-3046-8E07-B97E1ECCCB85}" destId="{863D9093-F935-1140-93BC-59E923A10ECB}" srcOrd="2" destOrd="0" presId="urn:microsoft.com/office/officeart/2005/8/layout/hProcess9"/>
    <dgm:cxn modelId="{A9F263A5-FE3C-4E5F-B128-4BE8B9384D56}" type="presParOf" srcId="{59AC3B21-037F-3046-8E07-B97E1ECCCB85}" destId="{448F6FEC-2E15-FE44-9912-691CFFD2C008}" srcOrd="3" destOrd="0" presId="urn:microsoft.com/office/officeart/2005/8/layout/hProcess9"/>
    <dgm:cxn modelId="{5FE15243-0A4C-455A-B17C-072362930EC5}" type="presParOf" srcId="{59AC3B21-037F-3046-8E07-B97E1ECCCB85}" destId="{322D947F-FB47-3B4F-BD62-81EC2BF775A4}" srcOrd="4" destOrd="0" presId="urn:microsoft.com/office/officeart/2005/8/layout/hProcess9"/>
    <dgm:cxn modelId="{DF2ECBF4-7952-48D0-A4FB-3D558CEBAD17}" type="presParOf" srcId="{59AC3B21-037F-3046-8E07-B97E1ECCCB85}" destId="{0087D83A-F625-A647-BA27-BFB7A439B87F}" srcOrd="5" destOrd="0" presId="urn:microsoft.com/office/officeart/2005/8/layout/hProcess9"/>
    <dgm:cxn modelId="{597CB39C-D5DF-4CA4-9EF1-EF022C8F5ED7}" type="presParOf" srcId="{59AC3B21-037F-3046-8E07-B97E1ECCCB85}" destId="{3A88BF49-0B70-504E-8DA0-CCAA019FD45C}" srcOrd="6" destOrd="0" presId="urn:microsoft.com/office/officeart/2005/8/layout/hProcess9"/>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D71E74-2DAF-5344-A720-7CDC07078343}">
      <dsp:nvSpPr>
        <dsp:cNvPr id="0" name=""/>
        <dsp:cNvSpPr/>
      </dsp:nvSpPr>
      <dsp:spPr>
        <a:xfrm>
          <a:off x="2" y="0"/>
          <a:ext cx="8830728" cy="5747808"/>
        </a:xfrm>
        <a:prstGeom prst="rightArrow">
          <a:avLst/>
        </a:prstGeom>
        <a:solidFill>
          <a:schemeClr val="accent1">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FAFD52F9-7F66-3D4E-8B67-65B13E068268}">
      <dsp:nvSpPr>
        <dsp:cNvPr id="0" name=""/>
        <dsp:cNvSpPr/>
      </dsp:nvSpPr>
      <dsp:spPr>
        <a:xfrm>
          <a:off x="0" y="1724342"/>
          <a:ext cx="1380010" cy="2299123"/>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ZA" sz="1800" kern="1200" dirty="0"/>
            <a:t>Aristotle (384-322 BC) </a:t>
          </a:r>
          <a:r>
            <a:rPr lang="en-US" sz="1800" kern="1200" dirty="0"/>
            <a:t>–</a:t>
          </a:r>
          <a:r>
            <a:rPr lang="en-ZA" sz="1800" kern="1200" dirty="0"/>
            <a:t> proposed a theory of virtue</a:t>
          </a:r>
        </a:p>
      </dsp:txBody>
      <dsp:txXfrm>
        <a:off x="67367" y="1791709"/>
        <a:ext cx="1245276" cy="2164389"/>
      </dsp:txXfrm>
    </dsp:sp>
    <dsp:sp modelId="{C2C44EFD-CD81-4F4E-A5AE-A41028C87944}">
      <dsp:nvSpPr>
        <dsp:cNvPr id="0" name=""/>
        <dsp:cNvSpPr/>
      </dsp:nvSpPr>
      <dsp:spPr>
        <a:xfrm>
          <a:off x="1844517" y="1652494"/>
          <a:ext cx="1206115" cy="2299123"/>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ZA" sz="1800" kern="1200" dirty="0"/>
            <a:t>Socrates (469-399</a:t>
          </a:r>
          <a:r>
            <a:rPr lang="en-ZA" sz="1600" kern="1200" dirty="0"/>
            <a:t>)</a:t>
          </a:r>
        </a:p>
      </dsp:txBody>
      <dsp:txXfrm>
        <a:off x="1903395" y="1711372"/>
        <a:ext cx="1088359" cy="2181367"/>
      </dsp:txXfrm>
    </dsp:sp>
    <dsp:sp modelId="{B597827C-4D7C-0647-AEAA-A99C70EFF66B}">
      <dsp:nvSpPr>
        <dsp:cNvPr id="0" name=""/>
        <dsp:cNvSpPr/>
      </dsp:nvSpPr>
      <dsp:spPr>
        <a:xfrm>
          <a:off x="3461452" y="1628537"/>
          <a:ext cx="1632309" cy="2299123"/>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i-FI" sz="1800" kern="1200" dirty="0"/>
            <a:t>Siddhartha Gautama (563-480 BC</a:t>
          </a:r>
          <a:r>
            <a:rPr lang="fi-FI" sz="1600" kern="1200" dirty="0"/>
            <a:t>)</a:t>
          </a:r>
          <a:endParaRPr lang="en-ZA" sz="1600" kern="1200" dirty="0"/>
        </a:p>
      </dsp:txBody>
      <dsp:txXfrm>
        <a:off x="3541135" y="1708220"/>
        <a:ext cx="1472943" cy="2139757"/>
      </dsp:txXfrm>
    </dsp:sp>
    <dsp:sp modelId="{58F4332D-C59F-CB42-9818-B095F9B29768}">
      <dsp:nvSpPr>
        <dsp:cNvPr id="0" name=""/>
        <dsp:cNvSpPr/>
      </dsp:nvSpPr>
      <dsp:spPr>
        <a:xfrm>
          <a:off x="5723918" y="1724342"/>
          <a:ext cx="2406111" cy="2299123"/>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ZA" sz="1800" kern="1200" dirty="0"/>
            <a:t>Kant (1724-1804)</a:t>
          </a:r>
        </a:p>
        <a:p>
          <a:pPr marL="0" lvl="0" indent="0" algn="ctr" defTabSz="800100">
            <a:lnSpc>
              <a:spcPct val="90000"/>
            </a:lnSpc>
            <a:spcBef>
              <a:spcPct val="0"/>
            </a:spcBef>
            <a:spcAft>
              <a:spcPct val="35000"/>
            </a:spcAft>
            <a:buNone/>
          </a:pPr>
          <a:r>
            <a:rPr lang="en-US" sz="1800" kern="1200" dirty="0"/>
            <a:t>rightness of an action is determined by the character of the principle that a person chooses to act upon</a:t>
          </a:r>
          <a:endParaRPr lang="en-ZA" sz="1800" kern="1200" dirty="0"/>
        </a:p>
      </dsp:txBody>
      <dsp:txXfrm>
        <a:off x="5836152" y="1836576"/>
        <a:ext cx="2181643" cy="207465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D71E74-2DAF-5344-A720-7CDC07078343}">
      <dsp:nvSpPr>
        <dsp:cNvPr id="0" name=""/>
        <dsp:cNvSpPr/>
      </dsp:nvSpPr>
      <dsp:spPr>
        <a:xfrm>
          <a:off x="2" y="0"/>
          <a:ext cx="8830728" cy="5418665"/>
        </a:xfrm>
        <a:prstGeom prst="rightArrow">
          <a:avLst/>
        </a:prstGeom>
        <a:solidFill>
          <a:schemeClr val="accent1">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411BA684-C8A8-DB4D-9926-9916E23BC248}">
      <dsp:nvSpPr>
        <dsp:cNvPr id="0" name=""/>
        <dsp:cNvSpPr/>
      </dsp:nvSpPr>
      <dsp:spPr>
        <a:xfrm>
          <a:off x="4344" y="1625599"/>
          <a:ext cx="2266259" cy="2167466"/>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ZA" sz="1600" kern="1200" dirty="0"/>
            <a:t>Bentham (1781) </a:t>
          </a:r>
          <a:r>
            <a:rPr lang="en-US" sz="1600" kern="1200" dirty="0"/>
            <a:t>–</a:t>
          </a:r>
          <a:r>
            <a:rPr lang="en-ZA" sz="1600" kern="1200" dirty="0"/>
            <a:t>Principle of utility </a:t>
          </a:r>
          <a:r>
            <a:rPr lang="en-US" sz="1600" kern="1200" dirty="0"/>
            <a:t>–</a:t>
          </a:r>
          <a:r>
            <a:rPr lang="en-ZA" sz="1600" kern="1200" dirty="0"/>
            <a:t> diapproves or approves of every action according to tendency to augment or diminish happiness</a:t>
          </a:r>
        </a:p>
      </dsp:txBody>
      <dsp:txXfrm>
        <a:off x="110151" y="1731406"/>
        <a:ext cx="2054645" cy="1955852"/>
      </dsp:txXfrm>
    </dsp:sp>
    <dsp:sp modelId="{863D9093-F935-1140-93BC-59E923A10ECB}">
      <dsp:nvSpPr>
        <dsp:cNvPr id="0" name=""/>
        <dsp:cNvSpPr/>
      </dsp:nvSpPr>
      <dsp:spPr>
        <a:xfrm>
          <a:off x="2447323" y="1625599"/>
          <a:ext cx="1873081" cy="2167466"/>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ZA" sz="1600" kern="1200" dirty="0"/>
            <a:t>Mahatma Ghandi (1869 – 1948)</a:t>
          </a:r>
        </a:p>
      </dsp:txBody>
      <dsp:txXfrm>
        <a:off x="2538759" y="1717035"/>
        <a:ext cx="1690209" cy="1984594"/>
      </dsp:txXfrm>
    </dsp:sp>
    <dsp:sp modelId="{322D947F-FB47-3B4F-BD62-81EC2BF775A4}">
      <dsp:nvSpPr>
        <dsp:cNvPr id="0" name=""/>
        <dsp:cNvSpPr/>
      </dsp:nvSpPr>
      <dsp:spPr>
        <a:xfrm>
          <a:off x="4581786" y="1625599"/>
          <a:ext cx="1873081" cy="2167466"/>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ZA" sz="1600" kern="1200" dirty="0"/>
            <a:t>Martin Luther King</a:t>
          </a:r>
        </a:p>
        <a:p>
          <a:pPr marL="0" lvl="0" indent="0" algn="ctr" defTabSz="711200">
            <a:lnSpc>
              <a:spcPct val="90000"/>
            </a:lnSpc>
            <a:spcBef>
              <a:spcPct val="0"/>
            </a:spcBef>
            <a:spcAft>
              <a:spcPct val="35000"/>
            </a:spcAft>
            <a:buNone/>
          </a:pPr>
          <a:r>
            <a:rPr lang="en-ZA" sz="1600" kern="1200" dirty="0"/>
            <a:t>Nelson Mandela (1918-2013)</a:t>
          </a:r>
        </a:p>
      </dsp:txBody>
      <dsp:txXfrm>
        <a:off x="4673222" y="1717035"/>
        <a:ext cx="1690209" cy="1984594"/>
      </dsp:txXfrm>
    </dsp:sp>
    <dsp:sp modelId="{3A88BF49-0B70-504E-8DA0-CCAA019FD45C}">
      <dsp:nvSpPr>
        <dsp:cNvPr id="0" name=""/>
        <dsp:cNvSpPr/>
      </dsp:nvSpPr>
      <dsp:spPr>
        <a:xfrm>
          <a:off x="6631593" y="1625599"/>
          <a:ext cx="1873081" cy="2167466"/>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ZA" sz="1600" kern="1200" dirty="0"/>
            <a:t>Fanon (1925-1961)  A</a:t>
          </a:r>
          <a:r>
            <a:rPr lang="en-US" sz="1600" kern="1200" dirty="0"/>
            <a:t>f</a:t>
          </a:r>
          <a:r>
            <a:rPr lang="en-ZA" sz="1600" kern="1200" dirty="0"/>
            <a:t>rican philosophy, humaneness</a:t>
          </a:r>
        </a:p>
      </dsp:txBody>
      <dsp:txXfrm>
        <a:off x="6723029" y="1717035"/>
        <a:ext cx="1690209" cy="1984594"/>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62A2209-C98E-45D0-A9CF-096E1DA85513}" type="datetimeFigureOut">
              <a:rPr lang="en-IN" smtClean="0"/>
              <a:t>11-10-2025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A26A469-6169-4527-B911-CCF76CA3976C}" type="slidenum">
              <a:rPr lang="en-IN" smtClean="0"/>
              <a:t>‹#›</a:t>
            </a:fld>
            <a:endParaRPr lang="en-IN"/>
          </a:p>
        </p:txBody>
      </p:sp>
    </p:spTree>
    <p:extLst>
      <p:ext uri="{BB962C8B-B14F-4D97-AF65-F5344CB8AC3E}">
        <p14:creationId xmlns:p14="http://schemas.microsoft.com/office/powerpoint/2010/main" val="5607771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3726D47-2F31-4326-AB9A-5B388B4C6D72}" type="datetime1">
              <a:rPr lang="en-US" smtClean="0"/>
              <a:t>10/11/2025</a:t>
            </a:fld>
            <a:endParaRPr lang="en-US"/>
          </a:p>
        </p:txBody>
      </p:sp>
      <p:sp>
        <p:nvSpPr>
          <p:cNvPr id="5" name="Footer Placeholder 4"/>
          <p:cNvSpPr>
            <a:spLocks noGrp="1"/>
          </p:cNvSpPr>
          <p:nvPr>
            <p:ph type="ftr" sz="quarter" idx="11"/>
          </p:nvPr>
        </p:nvSpPr>
        <p:spPr/>
        <p:txBody>
          <a:bodyPr/>
          <a:lstStyle/>
          <a:p>
            <a:r>
              <a:rPr lang="en-IN"/>
              <a:t>Dr. Sumit Pramanik, Res. Assoc. Prof. ME, SRMIST,Ktr</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11CF3A3-4EE5-47DF-BA20-6C7521D36A21}" type="datetime1">
              <a:rPr lang="en-US" smtClean="0"/>
              <a:t>10/11/2025</a:t>
            </a:fld>
            <a:endParaRPr lang="en-US"/>
          </a:p>
        </p:txBody>
      </p:sp>
      <p:sp>
        <p:nvSpPr>
          <p:cNvPr id="5" name="Footer Placeholder 4"/>
          <p:cNvSpPr>
            <a:spLocks noGrp="1"/>
          </p:cNvSpPr>
          <p:nvPr>
            <p:ph type="ftr" sz="quarter" idx="11"/>
          </p:nvPr>
        </p:nvSpPr>
        <p:spPr/>
        <p:txBody>
          <a:bodyPr/>
          <a:lstStyle/>
          <a:p>
            <a:r>
              <a:rPr lang="en-IN"/>
              <a:t>Dr. Sumit Pramanik, Res. Assoc. Prof. ME, SRMIST,Ktr</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F4EA6F7-254C-4B62-BBE4-B7DB5EC0EFFA}" type="datetime1">
              <a:rPr lang="en-US" smtClean="0"/>
              <a:t>10/11/2025</a:t>
            </a:fld>
            <a:endParaRPr lang="en-US"/>
          </a:p>
        </p:txBody>
      </p:sp>
      <p:sp>
        <p:nvSpPr>
          <p:cNvPr id="5" name="Footer Placeholder 4"/>
          <p:cNvSpPr>
            <a:spLocks noGrp="1"/>
          </p:cNvSpPr>
          <p:nvPr>
            <p:ph type="ftr" sz="quarter" idx="11"/>
          </p:nvPr>
        </p:nvSpPr>
        <p:spPr/>
        <p:txBody>
          <a:bodyPr/>
          <a:lstStyle/>
          <a:p>
            <a:r>
              <a:rPr lang="en-IN"/>
              <a:t>Dr. Sumit Pramanik, Res. Assoc. Prof. ME, SRMIST,Ktr</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EC2503B-190A-46F7-9686-B96C1EEB3D2F}" type="datetime1">
              <a:rPr lang="en-US" smtClean="0"/>
              <a:t>10/11/2025</a:t>
            </a:fld>
            <a:endParaRPr lang="en-US"/>
          </a:p>
        </p:txBody>
      </p:sp>
      <p:sp>
        <p:nvSpPr>
          <p:cNvPr id="6" name="Footer Placeholder 5"/>
          <p:cNvSpPr>
            <a:spLocks noGrp="1"/>
          </p:cNvSpPr>
          <p:nvPr>
            <p:ph type="ftr" sz="quarter" idx="11"/>
          </p:nvPr>
        </p:nvSpPr>
        <p:spPr/>
        <p:txBody>
          <a:bodyPr/>
          <a:lstStyle/>
          <a:p>
            <a:r>
              <a:rPr lang="en-IN"/>
              <a:t>Dr. Sumit Pramanik, Res. Assoc. Prof. ME, SRMIST,Ktr</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EB01F54-FE52-4941-B3D3-5C2D8B429AFA}" type="datetime1">
              <a:rPr lang="en-US" smtClean="0"/>
              <a:t>10/11/2025</a:t>
            </a:fld>
            <a:endParaRPr lang="en-US"/>
          </a:p>
        </p:txBody>
      </p:sp>
      <p:sp>
        <p:nvSpPr>
          <p:cNvPr id="8" name="Footer Placeholder 7"/>
          <p:cNvSpPr>
            <a:spLocks noGrp="1"/>
          </p:cNvSpPr>
          <p:nvPr>
            <p:ph type="ftr" sz="quarter" idx="11"/>
          </p:nvPr>
        </p:nvSpPr>
        <p:spPr/>
        <p:txBody>
          <a:bodyPr/>
          <a:lstStyle/>
          <a:p>
            <a:r>
              <a:rPr lang="en-IN"/>
              <a:t>Dr. Sumit Pramanik, Res. Assoc. Prof. ME, SRMIST,Ktr</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9E8C7A8-0292-44D3-A146-23315227D27D}" type="datetime1">
              <a:rPr lang="en-US" smtClean="0"/>
              <a:t>10/11/2025</a:t>
            </a:fld>
            <a:endParaRPr lang="en-US"/>
          </a:p>
        </p:txBody>
      </p:sp>
      <p:sp>
        <p:nvSpPr>
          <p:cNvPr id="4" name="Footer Placeholder 3"/>
          <p:cNvSpPr>
            <a:spLocks noGrp="1"/>
          </p:cNvSpPr>
          <p:nvPr>
            <p:ph type="ftr" sz="quarter" idx="11"/>
          </p:nvPr>
        </p:nvSpPr>
        <p:spPr/>
        <p:txBody>
          <a:bodyPr/>
          <a:lstStyle/>
          <a:p>
            <a:r>
              <a:rPr lang="en-IN"/>
              <a:t>Dr. Sumit Pramanik, Res. Assoc. Prof. ME, SRMIST,Ktr</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46DB51-ADEF-4ED7-AC98-AF65AD44C122}" type="datetime1">
              <a:rPr lang="en-US" smtClean="0"/>
              <a:t>10/11/2025</a:t>
            </a:fld>
            <a:endParaRPr lang="en-US"/>
          </a:p>
        </p:txBody>
      </p:sp>
      <p:sp>
        <p:nvSpPr>
          <p:cNvPr id="3" name="Footer Placeholder 2"/>
          <p:cNvSpPr>
            <a:spLocks noGrp="1"/>
          </p:cNvSpPr>
          <p:nvPr>
            <p:ph type="ftr" sz="quarter" idx="11"/>
          </p:nvPr>
        </p:nvSpPr>
        <p:spPr/>
        <p:txBody>
          <a:bodyPr/>
          <a:lstStyle/>
          <a:p>
            <a:r>
              <a:rPr lang="en-IN"/>
              <a:t>Dr. Sumit Pramanik, Res. Assoc. Prof. ME, SRMIST,Ktr</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3395D0D-39F3-4B07-83B6-4B4546968804}" type="datetime1">
              <a:rPr lang="en-US" smtClean="0"/>
              <a:t>10/11/2025</a:t>
            </a:fld>
            <a:endParaRPr lang="en-US"/>
          </a:p>
        </p:txBody>
      </p:sp>
      <p:sp>
        <p:nvSpPr>
          <p:cNvPr id="6" name="Footer Placeholder 5"/>
          <p:cNvSpPr>
            <a:spLocks noGrp="1"/>
          </p:cNvSpPr>
          <p:nvPr>
            <p:ph type="ftr" sz="quarter" idx="11"/>
          </p:nvPr>
        </p:nvSpPr>
        <p:spPr/>
        <p:txBody>
          <a:bodyPr/>
          <a:lstStyle/>
          <a:p>
            <a:r>
              <a:rPr lang="en-IN"/>
              <a:t>Dr. Sumit Pramanik, Res. Assoc. Prof. ME, SRMIST,Ktr</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9E52D6-3FAF-44B5-B928-6C7B17112508}" type="datetime1">
              <a:rPr lang="en-US" smtClean="0"/>
              <a:t>10/11/2025</a:t>
            </a:fld>
            <a:endParaRPr lang="en-US"/>
          </a:p>
        </p:txBody>
      </p:sp>
      <p:sp>
        <p:nvSpPr>
          <p:cNvPr id="6" name="Footer Placeholder 5"/>
          <p:cNvSpPr>
            <a:spLocks noGrp="1"/>
          </p:cNvSpPr>
          <p:nvPr>
            <p:ph type="ftr" sz="quarter" idx="11"/>
          </p:nvPr>
        </p:nvSpPr>
        <p:spPr/>
        <p:txBody>
          <a:bodyPr/>
          <a:lstStyle/>
          <a:p>
            <a:r>
              <a:rPr lang="en-IN"/>
              <a:t>Dr. Sumit Pramanik, Res. Assoc. Prof. ME, SRMIST,Ktr</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547A0C3-BA85-4D25-AD07-88F8B898A580}" type="datetime1">
              <a:rPr lang="en-US" smtClean="0"/>
              <a:t>10/11/2025</a:t>
            </a:fld>
            <a:endParaRPr lang="en-US"/>
          </a:p>
        </p:txBody>
      </p:sp>
      <p:sp>
        <p:nvSpPr>
          <p:cNvPr id="5" name="Footer Placeholder 4"/>
          <p:cNvSpPr>
            <a:spLocks noGrp="1"/>
          </p:cNvSpPr>
          <p:nvPr>
            <p:ph type="ftr" sz="quarter" idx="11"/>
          </p:nvPr>
        </p:nvSpPr>
        <p:spPr/>
        <p:txBody>
          <a:bodyPr/>
          <a:lstStyle/>
          <a:p>
            <a:r>
              <a:rPr lang="en-IN"/>
              <a:t>Dr. Sumit Pramanik, Res. Assoc. Prof. ME, SRMIST,Ktr</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86CD67A-AFD0-4387-AC10-9CDF40FD4EBE}" type="datetime1">
              <a:rPr lang="en-US" smtClean="0"/>
              <a:t>10/11/2025</a:t>
            </a:fld>
            <a:endParaRPr lang="en-US"/>
          </a:p>
        </p:txBody>
      </p:sp>
      <p:sp>
        <p:nvSpPr>
          <p:cNvPr id="5" name="Footer Placeholder 4"/>
          <p:cNvSpPr>
            <a:spLocks noGrp="1"/>
          </p:cNvSpPr>
          <p:nvPr>
            <p:ph type="ftr" sz="quarter" idx="11"/>
          </p:nvPr>
        </p:nvSpPr>
        <p:spPr/>
        <p:txBody>
          <a:bodyPr/>
          <a:lstStyle/>
          <a:p>
            <a:r>
              <a:rPr lang="en-IN"/>
              <a:t>Dr. Sumit Pramanik, Res. Assoc. Prof. ME, SRMIST,Ktr</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el und Inhalt">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9F9FC2E7-02BB-4E27-AF35-A68F40DC7A2B}"/>
              </a:ext>
            </a:extLst>
          </p:cNvPr>
          <p:cNvSpPr/>
          <p:nvPr userDrawn="1"/>
        </p:nvSpPr>
        <p:spPr bwMode="auto">
          <a:xfrm>
            <a:off x="0" y="365124"/>
            <a:ext cx="9143999" cy="1260000"/>
          </a:xfrm>
          <a:prstGeom prst="rect">
            <a:avLst/>
          </a:prstGeom>
          <a:solidFill>
            <a:schemeClr val="accent1">
              <a:lumMod val="20000"/>
              <a:lumOff val="80000"/>
            </a:schemeClr>
          </a:solidFill>
          <a:ln w="1905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de-DE" sz="2200" b="0" i="0" u="none" strike="noStrike" cap="none" normalizeH="0" baseline="0">
              <a:ln>
                <a:noFill/>
              </a:ln>
              <a:solidFill>
                <a:schemeClr val="tx1"/>
              </a:solidFill>
              <a:effectLst/>
              <a:latin typeface="Arial" pitchFamily="34" charset="0"/>
              <a:ea typeface="ＭＳ Ｐゴシック" pitchFamily="-110" charset="-128"/>
            </a:endParaRPr>
          </a:p>
        </p:txBody>
      </p:sp>
      <p:sp>
        <p:nvSpPr>
          <p:cNvPr id="12" name="Rechteck 11">
            <a:extLst>
              <a:ext uri="{FF2B5EF4-FFF2-40B4-BE49-F238E27FC236}">
                <a16:creationId xmlns:a16="http://schemas.microsoft.com/office/drawing/2014/main" id="{5B49B422-F709-4988-A074-2C5590B6E780}"/>
              </a:ext>
            </a:extLst>
          </p:cNvPr>
          <p:cNvSpPr/>
          <p:nvPr userDrawn="1"/>
        </p:nvSpPr>
        <p:spPr bwMode="auto">
          <a:xfrm>
            <a:off x="127364" y="365124"/>
            <a:ext cx="945000" cy="1260000"/>
          </a:xfrm>
          <a:prstGeom prst="rect">
            <a:avLst/>
          </a:prstGeom>
          <a:solidFill>
            <a:schemeClr val="tx2">
              <a:lumMod val="40000"/>
              <a:lumOff val="60000"/>
            </a:schemeClr>
          </a:solidFill>
          <a:ln w="1905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de-DE" sz="2200" b="0" i="0" u="none" strike="noStrike" cap="none" normalizeH="0" baseline="0">
              <a:ln>
                <a:noFill/>
              </a:ln>
              <a:solidFill>
                <a:schemeClr val="tx1"/>
              </a:solidFill>
              <a:effectLst/>
              <a:latin typeface="Arial" pitchFamily="34" charset="0"/>
              <a:ea typeface="ＭＳ Ｐゴシック" pitchFamily="-110" charset="-128"/>
            </a:endParaRPr>
          </a:p>
        </p:txBody>
      </p:sp>
      <p:sp>
        <p:nvSpPr>
          <p:cNvPr id="17" name="Inhaltsplatzhalter 3">
            <a:extLst>
              <a:ext uri="{FF2B5EF4-FFF2-40B4-BE49-F238E27FC236}">
                <a16:creationId xmlns:a16="http://schemas.microsoft.com/office/drawing/2014/main" id="{F950414B-8306-43D4-9A9A-C9CAE4072D84}"/>
              </a:ext>
            </a:extLst>
          </p:cNvPr>
          <p:cNvSpPr>
            <a:spLocks noGrp="1"/>
          </p:cNvSpPr>
          <p:nvPr>
            <p:ph sz="quarter" idx="11"/>
          </p:nvPr>
        </p:nvSpPr>
        <p:spPr>
          <a:xfrm>
            <a:off x="470263" y="1998617"/>
            <a:ext cx="8492762" cy="4337097"/>
          </a:xfrm>
        </p:spPr>
        <p:txBody>
          <a:bodyPr/>
          <a:lstStyle>
            <a:lvl1pPr marL="270000" indent="-270000">
              <a:lnSpc>
                <a:spcPct val="90000"/>
              </a:lnSpc>
              <a:spcBef>
                <a:spcPts val="1800"/>
              </a:spcBef>
              <a:spcAft>
                <a:spcPts val="300"/>
              </a:spcAft>
              <a:buFont typeface="Wingdings" panose="05000000000000000000" pitchFamily="2" charset="2"/>
              <a:buChar char="§"/>
              <a:defRPr sz="2400"/>
            </a:lvl1pPr>
            <a:lvl2pPr marL="685800" indent="-270000">
              <a:spcBef>
                <a:spcPts val="300"/>
              </a:spcBef>
              <a:spcAft>
                <a:spcPts val="300"/>
              </a:spcAft>
              <a:buFont typeface="Wingdings" panose="05000000000000000000" pitchFamily="2" charset="2"/>
              <a:buChar char="§"/>
              <a:defRPr sz="2200"/>
            </a:lvl2pPr>
            <a:lvl3pPr marL="1143000" indent="-270000">
              <a:spcBef>
                <a:spcPts val="300"/>
              </a:spcBef>
              <a:spcAft>
                <a:spcPts val="600"/>
              </a:spcAft>
              <a:buFont typeface="Wingdings" panose="05000000000000000000" pitchFamily="2" charset="2"/>
              <a:buChar char="§"/>
              <a:defRPr/>
            </a:lvl3pPr>
            <a:lvl4pPr marL="1600200" indent="-270000">
              <a:spcBef>
                <a:spcPts val="0"/>
              </a:spcBef>
              <a:spcAft>
                <a:spcPts val="600"/>
              </a:spcAft>
              <a:buFont typeface="Wingdings" panose="05000000000000000000" pitchFamily="2" charset="2"/>
              <a:buChar char="§"/>
              <a:defRPr/>
            </a:lvl4pPr>
            <a:lvl5pPr marL="2057400" indent="-270000">
              <a:spcBef>
                <a:spcPts val="0"/>
              </a:spcBef>
              <a:spcAft>
                <a:spcPts val="600"/>
              </a:spcAft>
              <a:buFont typeface="Wingdings" panose="05000000000000000000" pitchFamily="2" charset="2"/>
              <a:buChar char="§"/>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cxnSp>
        <p:nvCxnSpPr>
          <p:cNvPr id="15" name="Gerader Verbinder 14">
            <a:extLst>
              <a:ext uri="{FF2B5EF4-FFF2-40B4-BE49-F238E27FC236}">
                <a16:creationId xmlns:a16="http://schemas.microsoft.com/office/drawing/2014/main" id="{E1AB3F79-B538-40E1-B0D6-537295416E35}"/>
              </a:ext>
            </a:extLst>
          </p:cNvPr>
          <p:cNvCxnSpPr>
            <a:cxnSpLocks/>
          </p:cNvCxnSpPr>
          <p:nvPr userDrawn="1"/>
        </p:nvCxnSpPr>
        <p:spPr>
          <a:xfrm>
            <a:off x="0" y="1625124"/>
            <a:ext cx="914400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11" name="Titel 11">
            <a:extLst>
              <a:ext uri="{FF2B5EF4-FFF2-40B4-BE49-F238E27FC236}">
                <a16:creationId xmlns:a16="http://schemas.microsoft.com/office/drawing/2014/main" id="{884B122A-D463-49D8-B467-E8B9A9FE66D9}"/>
              </a:ext>
            </a:extLst>
          </p:cNvPr>
          <p:cNvSpPr>
            <a:spLocks noGrp="1"/>
          </p:cNvSpPr>
          <p:nvPr>
            <p:ph type="title"/>
          </p:nvPr>
        </p:nvSpPr>
        <p:spPr>
          <a:xfrm>
            <a:off x="1199728" y="365124"/>
            <a:ext cx="7944272" cy="868407"/>
          </a:xfrm>
          <a:prstGeom prst="rect">
            <a:avLst/>
          </a:prstGeom>
        </p:spPr>
        <p:txBody>
          <a:bodyPr anchor="ctr">
            <a:normAutofit/>
          </a:bodyPr>
          <a:lstStyle>
            <a:lvl1pPr>
              <a:lnSpc>
                <a:spcPct val="100000"/>
              </a:lnSpc>
              <a:defRPr sz="4000" b="1"/>
            </a:lvl1pPr>
          </a:lstStyle>
          <a:p>
            <a:r>
              <a:rPr lang="de-DE" dirty="0"/>
              <a:t>Mastertitelformat</a:t>
            </a:r>
            <a:endParaRPr lang="de-DE" sz="2600" b="0" dirty="0"/>
          </a:p>
        </p:txBody>
      </p:sp>
      <p:sp>
        <p:nvSpPr>
          <p:cNvPr id="21" name="Datumsplatzhalter 3">
            <a:extLst>
              <a:ext uri="{FF2B5EF4-FFF2-40B4-BE49-F238E27FC236}">
                <a16:creationId xmlns:a16="http://schemas.microsoft.com/office/drawing/2014/main" id="{3FCD4C5A-37F2-4837-9510-092FFE04D0A8}"/>
              </a:ext>
            </a:extLst>
          </p:cNvPr>
          <p:cNvSpPr>
            <a:spLocks noGrp="1"/>
          </p:cNvSpPr>
          <p:nvPr>
            <p:ph type="dt" sz="half" idx="2"/>
          </p:nvPr>
        </p:nvSpPr>
        <p:spPr>
          <a:xfrm>
            <a:off x="180974" y="6492875"/>
            <a:ext cx="1215000" cy="228600"/>
          </a:xfrm>
          <a:prstGeom prst="rect">
            <a:avLst/>
          </a:prstGeom>
        </p:spPr>
        <p:txBody>
          <a:bodyPr vert="horz" lIns="91440" tIns="45720" rIns="91440" bIns="45720" rtlCol="0" anchor="ctr"/>
          <a:lstStyle>
            <a:lvl1pPr algn="l">
              <a:defRPr sz="1050">
                <a:solidFill>
                  <a:schemeClr val="tx1">
                    <a:tint val="75000"/>
                  </a:schemeClr>
                </a:solidFill>
                <a:latin typeface="Arial" panose="020B0604020202020204" pitchFamily="34" charset="0"/>
                <a:cs typeface="Arial" panose="020B0604020202020204" pitchFamily="34" charset="0"/>
              </a:defRPr>
            </a:lvl1pPr>
          </a:lstStyle>
          <a:p>
            <a:fld id="{44115ED6-99BF-423A-9A2A-6C27BE78330E}" type="datetime1">
              <a:rPr lang="en-US" smtClean="0"/>
              <a:t>10/11/2025</a:t>
            </a:fld>
            <a:endParaRPr lang="de-DE" dirty="0"/>
          </a:p>
        </p:txBody>
      </p:sp>
      <p:sp>
        <p:nvSpPr>
          <p:cNvPr id="22" name="Fußzeilenplatzhalter 4">
            <a:extLst>
              <a:ext uri="{FF2B5EF4-FFF2-40B4-BE49-F238E27FC236}">
                <a16:creationId xmlns:a16="http://schemas.microsoft.com/office/drawing/2014/main" id="{DF6A4948-5F29-45C7-8622-B83C953FE871}"/>
              </a:ext>
            </a:extLst>
          </p:cNvPr>
          <p:cNvSpPr>
            <a:spLocks noGrp="1"/>
          </p:cNvSpPr>
          <p:nvPr>
            <p:ph type="ftr" sz="quarter" idx="3"/>
          </p:nvPr>
        </p:nvSpPr>
        <p:spPr>
          <a:xfrm>
            <a:off x="1602000" y="6492874"/>
            <a:ext cx="5940000" cy="228601"/>
          </a:xfrm>
          <a:prstGeom prst="rect">
            <a:avLst/>
          </a:prstGeom>
        </p:spPr>
        <p:txBody>
          <a:bodyPr vert="horz" lIns="91440" tIns="45720" rIns="91440" bIns="45720" rtlCol="0" anchor="ctr"/>
          <a:lstStyle>
            <a:lvl1pPr algn="ctr">
              <a:defRPr sz="1050" b="0">
                <a:solidFill>
                  <a:schemeClr val="tx1">
                    <a:tint val="75000"/>
                  </a:schemeClr>
                </a:solidFill>
                <a:latin typeface="Arial" panose="020B0604020202020204" pitchFamily="34" charset="0"/>
                <a:cs typeface="Arial" panose="020B0604020202020204" pitchFamily="34" charset="0"/>
              </a:defRPr>
            </a:lvl1pPr>
          </a:lstStyle>
          <a:p>
            <a:r>
              <a:rPr lang="en-IN"/>
              <a:t>Dr. Sumit Pramanik, Res. Assoc. Prof. ME, SRMIST,Ktr</a:t>
            </a:r>
            <a:endParaRPr lang="de-DE" dirty="0"/>
          </a:p>
        </p:txBody>
      </p:sp>
      <p:sp>
        <p:nvSpPr>
          <p:cNvPr id="23" name="Foliennummernplatzhalter 5">
            <a:extLst>
              <a:ext uri="{FF2B5EF4-FFF2-40B4-BE49-F238E27FC236}">
                <a16:creationId xmlns:a16="http://schemas.microsoft.com/office/drawing/2014/main" id="{8B6C9457-1637-463B-A5C2-27097177FB37}"/>
              </a:ext>
            </a:extLst>
          </p:cNvPr>
          <p:cNvSpPr>
            <a:spLocks noGrp="1"/>
          </p:cNvSpPr>
          <p:nvPr>
            <p:ph type="sldNum" sz="quarter" idx="4"/>
          </p:nvPr>
        </p:nvSpPr>
        <p:spPr>
          <a:xfrm>
            <a:off x="7748026" y="6492875"/>
            <a:ext cx="1214999" cy="228601"/>
          </a:xfrm>
          <a:prstGeom prst="rect">
            <a:avLst/>
          </a:prstGeom>
        </p:spPr>
        <p:txBody>
          <a:bodyPr vert="horz" lIns="91440" tIns="45720" rIns="91440" bIns="45720" rtlCol="0" anchor="ctr"/>
          <a:lstStyle>
            <a:lvl1pPr algn="r">
              <a:defRPr sz="1050">
                <a:solidFill>
                  <a:schemeClr val="tx1">
                    <a:tint val="75000"/>
                  </a:schemeClr>
                </a:solidFill>
                <a:latin typeface="Arial" panose="020B0604020202020204" pitchFamily="34" charset="0"/>
                <a:cs typeface="Arial" panose="020B0604020202020204" pitchFamily="34" charset="0"/>
              </a:defRPr>
            </a:lvl1pPr>
          </a:lstStyle>
          <a:p>
            <a:fld id="{48195EE2-BBDB-4836-A200-C62792C76FA9}" type="slidenum">
              <a:rPr lang="de-DE" smtClean="0"/>
              <a:pPr/>
              <a:t>‹#›</a:t>
            </a:fld>
            <a:endParaRPr lang="de-DE" dirty="0"/>
          </a:p>
        </p:txBody>
      </p:sp>
      <p:sp>
        <p:nvSpPr>
          <p:cNvPr id="3" name="Inhaltsplatzhalter 2">
            <a:extLst>
              <a:ext uri="{FF2B5EF4-FFF2-40B4-BE49-F238E27FC236}">
                <a16:creationId xmlns:a16="http://schemas.microsoft.com/office/drawing/2014/main" id="{B858B6B7-D1BE-42AC-BC76-21D1A5EA4E2D}"/>
              </a:ext>
            </a:extLst>
          </p:cNvPr>
          <p:cNvSpPr>
            <a:spLocks noGrp="1"/>
          </p:cNvSpPr>
          <p:nvPr>
            <p:ph sz="quarter" idx="12" hasCustomPrompt="1"/>
          </p:nvPr>
        </p:nvSpPr>
        <p:spPr>
          <a:xfrm>
            <a:off x="1199727" y="1136478"/>
            <a:ext cx="7944273" cy="470544"/>
          </a:xfrm>
        </p:spPr>
        <p:txBody>
          <a:bodyPr anchor="ctr">
            <a:noAutofit/>
          </a:bodyPr>
          <a:lstStyle>
            <a:lvl1pPr marL="0" indent="0">
              <a:spcBef>
                <a:spcPts val="0"/>
              </a:spcBef>
              <a:buNone/>
              <a:defRPr sz="2600"/>
            </a:lvl1pPr>
            <a:lvl3pPr marL="914400" indent="0">
              <a:buNone/>
              <a:defRPr/>
            </a:lvl3pPr>
            <a:lvl4pPr marL="1371600" indent="0">
              <a:buNone/>
              <a:defRPr/>
            </a:lvl4pPr>
            <a:lvl5pPr marL="1828800" indent="0">
              <a:buNone/>
              <a:defRPr/>
            </a:lvl5pPr>
          </a:lstStyle>
          <a:p>
            <a:pPr lvl="0"/>
            <a:r>
              <a:rPr lang="de-DE" sz="2800" b="0" dirty="0"/>
              <a:t>Untertitel</a:t>
            </a:r>
            <a:endParaRPr lang="de-DE" dirty="0"/>
          </a:p>
        </p:txBody>
      </p:sp>
      <p:sp>
        <p:nvSpPr>
          <p:cNvPr id="14" name="Fußzeilenplatzhalter 2">
            <a:extLst>
              <a:ext uri="{FF2B5EF4-FFF2-40B4-BE49-F238E27FC236}">
                <a16:creationId xmlns:a16="http://schemas.microsoft.com/office/drawing/2014/main" id="{7F7C0D5E-3FE0-4B13-A0EF-CDA239423972}"/>
              </a:ext>
            </a:extLst>
          </p:cNvPr>
          <p:cNvSpPr txBox="1">
            <a:spLocks/>
          </p:cNvSpPr>
          <p:nvPr userDrawn="1"/>
        </p:nvSpPr>
        <p:spPr>
          <a:xfrm>
            <a:off x="1716300" y="6645274"/>
            <a:ext cx="5940000" cy="228601"/>
          </a:xfrm>
          <a:prstGeom prst="rect">
            <a:avLst/>
          </a:prstGeom>
        </p:spPr>
        <p:txBody>
          <a:bodyPr vert="horz" lIns="91440" tIns="45720" rIns="91440" bIns="45720" rtlCol="0" anchor="ctr"/>
          <a:lstStyle>
            <a:defPPr>
              <a:defRPr lang="de-DE"/>
            </a:defPPr>
            <a:lvl1pPr marL="0" algn="ctr" defTabSz="914400" rtl="0" eaLnBrk="1" latinLnBrk="0" hangingPunct="1">
              <a:defRPr sz="1050" b="0" kern="1200">
                <a:solidFill>
                  <a:schemeClr val="tx1">
                    <a:tint val="75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de-DE" dirty="0"/>
          </a:p>
        </p:txBody>
      </p:sp>
    </p:spTree>
    <p:extLst>
      <p:ext uri="{BB962C8B-B14F-4D97-AF65-F5344CB8AC3E}">
        <p14:creationId xmlns:p14="http://schemas.microsoft.com/office/powerpoint/2010/main" val="46277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30FB19-C2E1-410D-840A-93177B123014}" type="datetime1">
              <a:rPr lang="en-US" smtClean="0"/>
              <a:t>10/11/2025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Dr. Sumit Pramanik, Res. Assoc. Prof. ME, SRMIST,Ktr</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www.iep.utm.edu/ethic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hyperlink" Target="http://ori.dhhs.gov/html/publications/studies.asp" TargetMode="External"/><Relationship Id="rId2" Type="http://schemas.openxmlformats.org/officeDocument/2006/relationships/hyperlink" Target="http://ori.dhhs.gov/html/polanal2.htm" TargetMode="Externa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hyperlink" Target="http://www.icmje.org/#correct" TargetMode="Externa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8" Type="http://schemas.openxmlformats.org/officeDocument/2006/relationships/hyperlink" Target="https://wame.org/principles-of-transparency-and-best-practice-in-scholarly-publishing#Organization" TargetMode="External"/><Relationship Id="rId3" Type="http://schemas.openxmlformats.org/officeDocument/2006/relationships/hyperlink" Target="https://doaj.org/" TargetMode="External"/><Relationship Id="rId7" Type="http://schemas.openxmlformats.org/officeDocument/2006/relationships/hyperlink" Target="https://wame.org/principles-of-transparency-and-best-practice-in-scholarly-publishing#Journal%20practices" TargetMode="External"/><Relationship Id="rId2" Type="http://schemas.openxmlformats.org/officeDocument/2006/relationships/hyperlink" Target="https://publicationethics.org/" TargetMode="External"/><Relationship Id="rId1" Type="http://schemas.openxmlformats.org/officeDocument/2006/relationships/slideLayout" Target="../slideLayouts/slideLayout2.xml"/><Relationship Id="rId6" Type="http://schemas.openxmlformats.org/officeDocument/2006/relationships/hyperlink" Target="https://wame.org/principles-of-transparency-and-best-practice-in-scholarly-publishing#Journal%20content" TargetMode="External"/><Relationship Id="rId5" Type="http://schemas.openxmlformats.org/officeDocument/2006/relationships/hyperlink" Target="https://wame.org/" TargetMode="External"/><Relationship Id="rId10" Type="http://schemas.openxmlformats.org/officeDocument/2006/relationships/hyperlink" Target="https://wame.org/principles-of-transparency-and-best-practice-in-scholarly-publishing#Translations" TargetMode="External"/><Relationship Id="rId4" Type="http://schemas.openxmlformats.org/officeDocument/2006/relationships/hyperlink" Target="https://oaspa.org/" TargetMode="External"/><Relationship Id="rId9" Type="http://schemas.openxmlformats.org/officeDocument/2006/relationships/hyperlink" Target="https://wame.org/principles-of-transparency-and-best-practice-in-scholarly-publishing#Business%20practices" TargetMode="Externa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59D7D-5E35-0564-EB36-3F6D41B506B6}"/>
              </a:ext>
            </a:extLst>
          </p:cNvPr>
          <p:cNvSpPr>
            <a:spLocks noGrp="1"/>
          </p:cNvSpPr>
          <p:nvPr>
            <p:ph type="ctrTitle"/>
          </p:nvPr>
        </p:nvSpPr>
        <p:spPr>
          <a:xfrm>
            <a:off x="128962" y="1267889"/>
            <a:ext cx="8689243" cy="1790519"/>
          </a:xfrm>
        </p:spPr>
        <p:txBody>
          <a:bodyPr>
            <a:normAutofit/>
          </a:bodyPr>
          <a:lstStyle/>
          <a:p>
            <a:pPr>
              <a:defRPr/>
            </a:pPr>
            <a:r>
              <a:rPr lang="en-US" sz="3599" b="1" dirty="0">
                <a:solidFill>
                  <a:srgbClr val="C00000"/>
                </a:solidFill>
              </a:rPr>
              <a:t>21IPC501J</a:t>
            </a:r>
            <a:br>
              <a:rPr lang="en-GB" dirty="0">
                <a:solidFill>
                  <a:srgbClr val="C00000"/>
                </a:solidFill>
                <a:latin typeface="Garamond" panose="02020404030301010803" pitchFamily="18" charset="0"/>
                <a:ea typeface="Calibri" panose="020F0502020204030204" pitchFamily="34" charset="0"/>
                <a:cs typeface="Times New Roman" panose="02020603050405020304" pitchFamily="18" charset="0"/>
              </a:rPr>
            </a:br>
            <a:r>
              <a:rPr lang="en-US" sz="3599" b="1" dirty="0">
                <a:solidFill>
                  <a:srgbClr val="C00000"/>
                </a:solidFill>
              </a:rPr>
              <a:t> PUBLICATION ETHICS AND MISCONDUCTS</a:t>
            </a:r>
            <a:endParaRPr lang="en-IN" sz="3599" b="1" dirty="0">
              <a:solidFill>
                <a:srgbClr val="C00000"/>
              </a:solidFill>
            </a:endParaRPr>
          </a:p>
        </p:txBody>
      </p:sp>
      <p:sp>
        <p:nvSpPr>
          <p:cNvPr id="3" name="Subtitle 2">
            <a:extLst>
              <a:ext uri="{FF2B5EF4-FFF2-40B4-BE49-F238E27FC236}">
                <a16:creationId xmlns:a16="http://schemas.microsoft.com/office/drawing/2014/main" id="{A99AC7DF-8E78-54A3-FC3C-E9DD5EEDA527}"/>
              </a:ext>
            </a:extLst>
          </p:cNvPr>
          <p:cNvSpPr>
            <a:spLocks noGrp="1"/>
          </p:cNvSpPr>
          <p:nvPr/>
        </p:nvSpPr>
        <p:spPr>
          <a:xfrm>
            <a:off x="2614511" y="3536242"/>
            <a:ext cx="4090094" cy="1284178"/>
          </a:xfrm>
          <a:prstGeom prst="rect">
            <a:avLst/>
          </a:prstGeom>
        </p:spPr>
        <p:txBody>
          <a:bodyPr lIns="68562" tIns="34281" rIns="68562" bIns="34281">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defRPr/>
            </a:pPr>
            <a:r>
              <a:rPr lang="en-IN" sz="1800" dirty="0">
                <a:solidFill>
                  <a:srgbClr val="0033CC"/>
                </a:solidFill>
                <a:latin typeface="Berlin Sans FB Demi" panose="020E0802020502020306" pitchFamily="34" charset="0"/>
              </a:rPr>
              <a:t>Prepared by – </a:t>
            </a:r>
          </a:p>
          <a:p>
            <a:pPr>
              <a:defRPr/>
            </a:pPr>
            <a:r>
              <a:rPr lang="en-IN" sz="1800" dirty="0">
                <a:solidFill>
                  <a:srgbClr val="0033CC"/>
                </a:solidFill>
                <a:latin typeface="Berlin Sans FB Demi" panose="020E0802020502020306" pitchFamily="34" charset="0"/>
              </a:rPr>
              <a:t>Dr. Banu Priya P / 103206</a:t>
            </a:r>
          </a:p>
          <a:p>
            <a:pPr>
              <a:defRPr/>
            </a:pPr>
            <a:r>
              <a:rPr lang="en-IN" sz="1800" dirty="0">
                <a:solidFill>
                  <a:srgbClr val="0033CC"/>
                </a:solidFill>
                <a:latin typeface="Berlin Sans FB Demi" panose="020E0802020502020306" pitchFamily="34" charset="0"/>
              </a:rPr>
              <a:t>Assistant Professor / NWC/ SOC</a:t>
            </a:r>
          </a:p>
          <a:p>
            <a:pPr>
              <a:defRPr/>
            </a:pPr>
            <a:r>
              <a:rPr lang="en-IN" sz="1800" dirty="0">
                <a:solidFill>
                  <a:srgbClr val="0033CC"/>
                </a:solidFill>
                <a:latin typeface="Berlin Sans FB Demi" panose="020E0802020502020306" pitchFamily="34" charset="0"/>
              </a:rPr>
              <a:t>SRMIST, KTR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B0270A-DDAD-C48B-2642-8D26E98E274E}"/>
              </a:ext>
            </a:extLst>
          </p:cNvPr>
          <p:cNvSpPr>
            <a:spLocks noGrp="1"/>
          </p:cNvSpPr>
          <p:nvPr>
            <p:ph idx="1"/>
          </p:nvPr>
        </p:nvSpPr>
        <p:spPr>
          <a:xfrm>
            <a:off x="585617" y="457200"/>
            <a:ext cx="7972765" cy="5812828"/>
          </a:xfrm>
        </p:spPr>
        <p:txBody>
          <a:bodyPr>
            <a:noAutofit/>
          </a:bodyPr>
          <a:lstStyle/>
          <a:p>
            <a:pPr marL="0" indent="0">
              <a:buNone/>
              <a:defRPr/>
            </a:pPr>
            <a:r>
              <a:rPr lang="en-US" sz="2000" dirty="0">
                <a:solidFill>
                  <a:srgbClr val="0000FF"/>
                </a:solidFill>
              </a:rPr>
              <a:t>Topics</a:t>
            </a:r>
            <a:endParaRPr lang="en-IN" sz="2000" dirty="0">
              <a:solidFill>
                <a:srgbClr val="0000FF"/>
              </a:solidFill>
            </a:endParaRPr>
          </a:p>
          <a:p>
            <a:pPr algn="just">
              <a:defRPr/>
            </a:pPr>
            <a:r>
              <a:rPr lang="en-US" sz="2000" dirty="0">
                <a:latin typeface="Garamond" panose="02020404030301010803" pitchFamily="18" charset="0"/>
                <a:ea typeface="Calibri" panose="020F0502020204030204" pitchFamily="34" charset="0"/>
                <a:cs typeface="Times New Roman" panose="02020603050405020304" pitchFamily="18" charset="0"/>
              </a:rPr>
              <a:t>Ethics: definition </a:t>
            </a:r>
          </a:p>
          <a:p>
            <a:pPr algn="just">
              <a:defRPr/>
            </a:pPr>
            <a:r>
              <a:rPr lang="en-US" sz="2000" dirty="0">
                <a:latin typeface="Garamond" panose="02020404030301010803" pitchFamily="18" charset="0"/>
                <a:ea typeface="Calibri" panose="020F0502020204030204" pitchFamily="34" charset="0"/>
                <a:cs typeface="Times New Roman" panose="02020603050405020304" pitchFamily="18" charset="0"/>
              </a:rPr>
              <a:t>Ethics with respect to science and research</a:t>
            </a:r>
          </a:p>
          <a:p>
            <a:pPr algn="just">
              <a:defRPr/>
            </a:pPr>
            <a:r>
              <a:rPr lang="en-US" sz="2000" dirty="0">
                <a:latin typeface="Garamond" panose="02020404030301010803" pitchFamily="18" charset="0"/>
                <a:ea typeface="Calibri" panose="020F0502020204030204" pitchFamily="34" charset="0"/>
                <a:cs typeface="Times New Roman" panose="02020603050405020304" pitchFamily="18" charset="0"/>
              </a:rPr>
              <a:t> Intellectual honesty and research integrity</a:t>
            </a:r>
          </a:p>
          <a:p>
            <a:pPr algn="just">
              <a:defRPr/>
            </a:pPr>
            <a:r>
              <a:rPr lang="en-US" sz="2000" dirty="0">
                <a:latin typeface="Garamond" panose="02020404030301010803" pitchFamily="18" charset="0"/>
                <a:ea typeface="Calibri" panose="020F0502020204030204" pitchFamily="34" charset="0"/>
                <a:cs typeface="Times New Roman" panose="02020603050405020304" pitchFamily="18" charset="0"/>
              </a:rPr>
              <a:t>Scientific misconducts: Falsification, Fabrication and Plagiarism (FFP)</a:t>
            </a:r>
          </a:p>
          <a:p>
            <a:pPr algn="just">
              <a:defRPr/>
            </a:pPr>
            <a:r>
              <a:rPr lang="en-US" sz="2000" dirty="0">
                <a:latin typeface="Garamond" panose="02020404030301010803" pitchFamily="18" charset="0"/>
                <a:ea typeface="Calibri" panose="020F0502020204030204" pitchFamily="34" charset="0"/>
                <a:cs typeface="Times New Roman" panose="02020603050405020304" pitchFamily="18" charset="0"/>
              </a:rPr>
              <a:t>Redundant publications: duplicate and overlapping publications, salami slicing</a:t>
            </a:r>
          </a:p>
          <a:p>
            <a:pPr algn="just">
              <a:defRPr/>
            </a:pPr>
            <a:r>
              <a:rPr lang="en-US" sz="2000" dirty="0">
                <a:latin typeface="Garamond" panose="02020404030301010803" pitchFamily="18" charset="0"/>
                <a:ea typeface="Calibri" panose="020F0502020204030204" pitchFamily="34" charset="0"/>
                <a:cs typeface="Times New Roman" panose="02020603050405020304" pitchFamily="18" charset="0"/>
              </a:rPr>
              <a:t>Selective reporting and misrepresentation of data</a:t>
            </a:r>
          </a:p>
          <a:p>
            <a:pPr algn="just">
              <a:defRPr/>
            </a:pPr>
            <a:r>
              <a:rPr lang="en-US" sz="2000" dirty="0">
                <a:latin typeface="Garamond" panose="02020404030301010803" pitchFamily="18" charset="0"/>
                <a:ea typeface="Calibri" panose="020F0502020204030204" pitchFamily="34" charset="0"/>
                <a:cs typeface="Times New Roman" panose="02020603050405020304" pitchFamily="18" charset="0"/>
              </a:rPr>
              <a:t>Publication ethics: introduction and importance</a:t>
            </a:r>
          </a:p>
          <a:p>
            <a:pPr algn="just">
              <a:defRPr/>
            </a:pPr>
            <a:r>
              <a:rPr lang="en-GB" sz="2000" dirty="0">
                <a:latin typeface="Garamond" panose="02020404030301010803" pitchFamily="18" charset="0"/>
                <a:ea typeface="Calibri" panose="020F0502020204030204" pitchFamily="34" charset="0"/>
                <a:cs typeface="Times New Roman" panose="02020603050405020304" pitchFamily="18" charset="0"/>
              </a:rPr>
              <a:t>Standards setting initiatives and guidelines: COPE, WAME</a:t>
            </a:r>
          </a:p>
          <a:p>
            <a:pPr algn="just">
              <a:defRPr/>
            </a:pPr>
            <a:r>
              <a:rPr lang="en-GB" sz="2000" dirty="0">
                <a:latin typeface="Garamond" panose="02020404030301010803" pitchFamily="18" charset="0"/>
                <a:ea typeface="Calibri" panose="020F0502020204030204" pitchFamily="34" charset="0"/>
                <a:cs typeface="Times New Roman" panose="02020603050405020304" pitchFamily="18" charset="0"/>
              </a:rPr>
              <a:t>Conflicts of interest</a:t>
            </a:r>
          </a:p>
          <a:p>
            <a:pPr algn="just">
              <a:defRPr/>
            </a:pPr>
            <a:r>
              <a:rPr lang="en-GB" sz="2000" dirty="0">
                <a:latin typeface="Garamond" panose="02020404030301010803" pitchFamily="18" charset="0"/>
                <a:ea typeface="Calibri" panose="020F0502020204030204" pitchFamily="34" charset="0"/>
                <a:cs typeface="Times New Roman" panose="02020603050405020304" pitchFamily="18" charset="0"/>
              </a:rPr>
              <a:t>Publication misconduct: definition, concept, unethical behaviour; </a:t>
            </a:r>
          </a:p>
          <a:p>
            <a:pPr algn="just">
              <a:defRPr/>
            </a:pPr>
            <a:r>
              <a:rPr lang="en-GB" sz="2000" dirty="0">
                <a:latin typeface="Garamond" panose="02020404030301010803" pitchFamily="18" charset="0"/>
                <a:ea typeface="Calibri" panose="020F0502020204030204" pitchFamily="34" charset="0"/>
                <a:cs typeface="Times New Roman" panose="02020603050405020304" pitchFamily="18" charset="0"/>
              </a:rPr>
              <a:t>Violation of publication ethics</a:t>
            </a:r>
          </a:p>
          <a:p>
            <a:pPr algn="just">
              <a:defRPr/>
            </a:pPr>
            <a:r>
              <a:rPr lang="en-GB" sz="2000" dirty="0">
                <a:latin typeface="Garamond" panose="02020404030301010803" pitchFamily="18" charset="0"/>
                <a:ea typeface="Calibri" panose="020F0502020204030204" pitchFamily="34" charset="0"/>
                <a:cs typeface="Times New Roman" panose="02020603050405020304" pitchFamily="18" charset="0"/>
              </a:rPr>
              <a:t>Authorship and contributor ship</a:t>
            </a:r>
          </a:p>
          <a:p>
            <a:pPr algn="just">
              <a:defRPr/>
            </a:pPr>
            <a:r>
              <a:rPr lang="en-GB" sz="2000" dirty="0">
                <a:latin typeface="Garamond" panose="02020404030301010803" pitchFamily="18" charset="0"/>
                <a:ea typeface="Calibri" panose="020F0502020204030204" pitchFamily="34" charset="0"/>
                <a:cs typeface="Times New Roman" panose="02020603050405020304" pitchFamily="18" charset="0"/>
              </a:rPr>
              <a:t>Identification, complaints and appeals</a:t>
            </a:r>
          </a:p>
          <a:p>
            <a:pPr algn="just">
              <a:defRPr/>
            </a:pPr>
            <a:r>
              <a:rPr lang="en-GB" sz="2000" dirty="0">
                <a:latin typeface="Garamond" panose="02020404030301010803" pitchFamily="18" charset="0"/>
                <a:ea typeface="Calibri" panose="020F0502020204030204" pitchFamily="34" charset="0"/>
                <a:cs typeface="Times New Roman" panose="02020603050405020304" pitchFamily="18" charset="0"/>
              </a:rPr>
              <a:t>Predatory publisher and journals</a:t>
            </a:r>
            <a:endParaRPr lang="en-US" sz="2000" dirty="0">
              <a:latin typeface="Garamond" panose="02020404030301010803"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en-IN" b="1" dirty="0"/>
              <a:t>Ethics</a:t>
            </a:r>
            <a:endParaRPr lang="en-IN" dirty="0"/>
          </a:p>
        </p:txBody>
      </p:sp>
      <p:sp>
        <p:nvSpPr>
          <p:cNvPr id="3" name="Content Placeholder 2"/>
          <p:cNvSpPr>
            <a:spLocks noGrp="1"/>
          </p:cNvSpPr>
          <p:nvPr>
            <p:ph idx="1"/>
          </p:nvPr>
        </p:nvSpPr>
        <p:spPr>
          <a:xfrm>
            <a:off x="457200" y="868362"/>
            <a:ext cx="8458200" cy="5303838"/>
          </a:xfrm>
        </p:spPr>
        <p:txBody>
          <a:bodyPr>
            <a:noAutofit/>
          </a:bodyPr>
          <a:lstStyle/>
          <a:p>
            <a:r>
              <a:rPr lang="en-IN" sz="2000" dirty="0"/>
              <a:t>Everybody in their everyday life attempts to behave from certain perspectives laid out moral standards. This </a:t>
            </a:r>
            <a:r>
              <a:rPr lang="en-IN" sz="2000" b="1" dirty="0">
                <a:solidFill>
                  <a:srgbClr val="0070C0"/>
                </a:solidFill>
              </a:rPr>
              <a:t>philosophical idea </a:t>
            </a:r>
            <a:r>
              <a:rPr lang="en-IN" sz="2000" dirty="0">
                <a:solidFill>
                  <a:srgbClr val="0070C0"/>
                </a:solidFill>
              </a:rPr>
              <a:t>has various applications in an </a:t>
            </a:r>
            <a:r>
              <a:rPr lang="en-IN" sz="2000" b="1" dirty="0">
                <a:solidFill>
                  <a:srgbClr val="0070C0"/>
                </a:solidFill>
              </a:rPr>
              <a:t>individual's reality</a:t>
            </a:r>
            <a:r>
              <a:rPr lang="en-IN" sz="2000" dirty="0"/>
              <a:t>. </a:t>
            </a:r>
          </a:p>
          <a:p>
            <a:r>
              <a:rPr lang="en-IN" sz="2000" dirty="0">
                <a:solidFill>
                  <a:srgbClr val="0070C0"/>
                </a:solidFill>
              </a:rPr>
              <a:t>Morals is concerned with the meaning of good and bad</a:t>
            </a:r>
            <a:r>
              <a:rPr lang="en-IN" sz="2000" dirty="0"/>
              <a:t>. It clarifies ways of thinking that teach us the proper behaviour in a given circumstance, which has forever involved dispute between savants. </a:t>
            </a:r>
          </a:p>
          <a:p>
            <a:r>
              <a:rPr lang="en-IN" sz="2000" dirty="0">
                <a:solidFill>
                  <a:srgbClr val="0070C0"/>
                </a:solidFill>
              </a:rPr>
              <a:t>Each thinker has characterized it as indicated by their own emotional understanding. While epistemology is worried about what we should accept and how we should reason. </a:t>
            </a:r>
          </a:p>
          <a:p>
            <a:r>
              <a:rPr lang="en-IN" sz="2000" b="1" dirty="0">
                <a:solidFill>
                  <a:srgbClr val="0070C0"/>
                </a:solidFill>
              </a:rPr>
              <a:t>Ethics is worried about what we should do, how we should live, and how we should coordinate our networks. </a:t>
            </a:r>
            <a:r>
              <a:rPr lang="en-IN" sz="2000" dirty="0"/>
              <a:t>Unfortunately, it shocks numerous new truth seekers that can reason about things like this. Strictly propelled sees about ethical quality frequently take right and wrong to be only a question of what is instructed by a heavenly being. </a:t>
            </a:r>
          </a:p>
          <a:p>
            <a:r>
              <a:rPr lang="en-IN" sz="2000" dirty="0"/>
              <a:t>Moral Relativism, maybe the most prominent attitude among individuals who have dismissed confidence, essentially substitutes the orders of society for the orders of God. </a:t>
            </a:r>
          </a:p>
          <a:p>
            <a:endParaRPr lang="en-IN" sz="2000" dirty="0"/>
          </a:p>
        </p:txBody>
      </p:sp>
    </p:spTree>
    <p:extLst>
      <p:ext uri="{BB962C8B-B14F-4D97-AF65-F5344CB8AC3E}">
        <p14:creationId xmlns:p14="http://schemas.microsoft.com/office/powerpoint/2010/main" val="1236101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105400"/>
          </a:xfrm>
        </p:spPr>
        <p:txBody>
          <a:bodyPr>
            <a:noAutofit/>
          </a:bodyPr>
          <a:lstStyle/>
          <a:p>
            <a:r>
              <a:rPr lang="en-IN" sz="2000" b="1" dirty="0">
                <a:solidFill>
                  <a:srgbClr val="0070C0"/>
                </a:solidFill>
              </a:rPr>
              <a:t>Considering ethical quality </a:t>
            </a:r>
            <a:r>
              <a:rPr lang="en-IN" sz="2000" dirty="0"/>
              <a:t>as far as whose orders are definitive rules out level headed investigation into </a:t>
            </a:r>
            <a:r>
              <a:rPr lang="en-IN" sz="2000" dirty="0">
                <a:solidFill>
                  <a:srgbClr val="0070C0"/>
                </a:solidFill>
              </a:rPr>
              <a:t>how we should live, how we should treat others, or how we should structure our networks</a:t>
            </a:r>
            <a:r>
              <a:rPr lang="en-IN" sz="2000" dirty="0"/>
              <a:t>. </a:t>
            </a:r>
          </a:p>
          <a:p>
            <a:r>
              <a:rPr lang="en-IN" sz="2000" dirty="0">
                <a:solidFill>
                  <a:srgbClr val="0070C0"/>
                </a:solidFill>
              </a:rPr>
              <a:t>Reasoning</a:t>
            </a:r>
            <a:r>
              <a:rPr lang="en-IN" sz="2000" dirty="0"/>
              <a:t>, then again, </a:t>
            </a:r>
            <a:r>
              <a:rPr lang="en-IN" sz="2000" dirty="0">
                <a:solidFill>
                  <a:srgbClr val="0070C0"/>
                </a:solidFill>
              </a:rPr>
              <a:t>treats in a serious way the chance of objective request into these issues</a:t>
            </a:r>
            <a:r>
              <a:rPr lang="en-IN" sz="2000" dirty="0"/>
              <a:t>. </a:t>
            </a:r>
          </a:p>
          <a:p>
            <a:r>
              <a:rPr lang="en-IN" sz="2000" dirty="0"/>
              <a:t>The long furthermore, </a:t>
            </a:r>
            <a:r>
              <a:rPr lang="en-IN" sz="2000" dirty="0">
                <a:solidFill>
                  <a:srgbClr val="0070C0"/>
                </a:solidFill>
              </a:rPr>
              <a:t>troublesome history of science </a:t>
            </a:r>
            <a:r>
              <a:rPr lang="en-IN" sz="2000" dirty="0"/>
              <a:t>ought to provide us with some modest acknowledgment of how troublesome and </a:t>
            </a:r>
            <a:r>
              <a:rPr lang="en-IN" sz="2000" dirty="0">
                <a:solidFill>
                  <a:srgbClr val="0070C0"/>
                </a:solidFill>
              </a:rPr>
              <a:t>disappointing cautious request and examination can be</a:t>
            </a:r>
            <a:r>
              <a:rPr lang="en-IN" sz="2000" dirty="0"/>
              <a:t>. </a:t>
            </a:r>
          </a:p>
          <a:p>
            <a:r>
              <a:rPr lang="en-IN" sz="2000" dirty="0"/>
              <a:t>The way of thinking of science, for example, is worried about magical issues about what science is, yet in addition with epistemological inquiries concerning how we can know logical insights. </a:t>
            </a:r>
          </a:p>
          <a:p>
            <a:r>
              <a:rPr lang="en-IN" sz="2000" dirty="0"/>
              <a:t>The way of thinking of affection is also worried about magical inquiries concerning what love is. However, it additionally worried about inquiries regarding the worth of adoration that are more moral in character. </a:t>
            </a:r>
          </a:p>
        </p:txBody>
      </p:sp>
    </p:spTree>
    <p:extLst>
      <p:ext uri="{BB962C8B-B14F-4D97-AF65-F5344CB8AC3E}">
        <p14:creationId xmlns:p14="http://schemas.microsoft.com/office/powerpoint/2010/main" val="29338467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ZA" sz="4000" dirty="0"/>
              <a:t>Ethics Defined</a:t>
            </a:r>
          </a:p>
        </p:txBody>
      </p:sp>
      <p:sp>
        <p:nvSpPr>
          <p:cNvPr id="7" name="Content Placeholder 6"/>
          <p:cNvSpPr>
            <a:spLocks noGrp="1"/>
          </p:cNvSpPr>
          <p:nvPr>
            <p:ph idx="1"/>
          </p:nvPr>
        </p:nvSpPr>
        <p:spPr>
          <a:xfrm>
            <a:off x="457200" y="1447800"/>
            <a:ext cx="8153400" cy="4373563"/>
          </a:xfrm>
        </p:spPr>
        <p:txBody>
          <a:bodyPr>
            <a:noAutofit/>
          </a:bodyPr>
          <a:lstStyle/>
          <a:p>
            <a:pPr marL="342900" indent="-342900">
              <a:buClr>
                <a:schemeClr val="tx2"/>
              </a:buClr>
              <a:buFont typeface="Wingdings" charset="2"/>
              <a:buChar char="v"/>
            </a:pPr>
            <a:r>
              <a:rPr lang="en-ZA" sz="2400" b="0" dirty="0"/>
              <a:t>A discipline dealing with what is proper course of action for man </a:t>
            </a:r>
            <a:r>
              <a:rPr lang="en-ZA" sz="2800" b="0" dirty="0"/>
              <a:t>(Aristotle, </a:t>
            </a:r>
            <a:r>
              <a:rPr lang="en-ZA" sz="2800" b="0" i="1" dirty="0"/>
              <a:t>cit in </a:t>
            </a:r>
            <a:r>
              <a:rPr lang="en-ZA" sz="2800" b="0" dirty="0"/>
              <a:t>Mckeon,1941)</a:t>
            </a:r>
          </a:p>
          <a:p>
            <a:pPr marL="342900" indent="-342900">
              <a:buClr>
                <a:schemeClr val="tx2"/>
              </a:buClr>
              <a:buFont typeface="Wingdings" charset="2"/>
              <a:buChar char="v"/>
            </a:pPr>
            <a:endParaRPr lang="en-ZA" sz="800" b="0" dirty="0"/>
          </a:p>
          <a:p>
            <a:pPr marL="342900" indent="-342900">
              <a:buClr>
                <a:schemeClr val="tx2"/>
              </a:buClr>
              <a:buFont typeface="Wingdings" charset="2"/>
              <a:buChar char="v"/>
            </a:pPr>
            <a:r>
              <a:rPr lang="en-ZA" sz="2400" b="0" dirty="0"/>
              <a:t> A branch of philosophy that looks at what is good and w</a:t>
            </a:r>
            <a:r>
              <a:rPr lang="en-US" sz="2400" b="0" dirty="0"/>
              <a:t>ha</a:t>
            </a:r>
            <a:r>
              <a:rPr lang="en-ZA" sz="2400" b="0" dirty="0"/>
              <a:t>t is bad</a:t>
            </a:r>
          </a:p>
          <a:p>
            <a:pPr marL="342900" indent="-342900">
              <a:buClr>
                <a:schemeClr val="tx2"/>
              </a:buClr>
              <a:buFont typeface="Wingdings" charset="2"/>
              <a:buChar char="v"/>
            </a:pPr>
            <a:endParaRPr lang="en-ZA" sz="800" b="0" dirty="0"/>
          </a:p>
          <a:p>
            <a:pPr marL="342900" indent="-342900">
              <a:buClr>
                <a:schemeClr val="tx2"/>
              </a:buClr>
              <a:buFont typeface="Wingdings" charset="2"/>
              <a:buChar char="v"/>
            </a:pPr>
            <a:r>
              <a:rPr lang="en-ZA" sz="2400" b="0" dirty="0"/>
              <a:t>A system of obligation that we have towards others</a:t>
            </a:r>
          </a:p>
          <a:p>
            <a:pPr marL="342900" indent="-342900">
              <a:buClr>
                <a:schemeClr val="tx2"/>
              </a:buClr>
              <a:buFont typeface="Wingdings" charset="2"/>
              <a:buChar char="v"/>
            </a:pPr>
            <a:endParaRPr lang="en-ZA" sz="800" b="0" dirty="0"/>
          </a:p>
          <a:p>
            <a:pPr marL="342900" indent="-342900">
              <a:buClr>
                <a:schemeClr val="tx2"/>
              </a:buClr>
              <a:buFont typeface="Wingdings" charset="2"/>
              <a:buChar char="v"/>
            </a:pPr>
            <a:r>
              <a:rPr lang="en-ZA" sz="2400" b="0" dirty="0"/>
              <a:t>Also known as moral philosophy, involves,  systematising, </a:t>
            </a:r>
            <a:r>
              <a:rPr lang="en-ZA" sz="2400" b="0" i="1" dirty="0"/>
              <a:t>defending</a:t>
            </a:r>
            <a:r>
              <a:rPr lang="en-ZA" sz="2400" b="0" dirty="0"/>
              <a:t>, and </a:t>
            </a:r>
            <a:r>
              <a:rPr lang="en-ZA" sz="2400" b="0" i="1" dirty="0"/>
              <a:t>recommending</a:t>
            </a:r>
            <a:r>
              <a:rPr lang="en-ZA" sz="2400" b="0" dirty="0"/>
              <a:t> concepts of right and wrong behaviour </a:t>
            </a:r>
            <a:r>
              <a:rPr lang="en-ZA" sz="2800" b="0" i="1" dirty="0"/>
              <a:t>(</a:t>
            </a:r>
            <a:r>
              <a:rPr lang="en-ZA" sz="2800" b="0" i="1" dirty="0">
                <a:hlinkClick r:id="rId2"/>
              </a:rPr>
              <a:t>www.iep.utm.edu/ethics</a:t>
            </a:r>
            <a:r>
              <a:rPr lang="en-ZA" sz="2800" b="0" i="1" dirty="0"/>
              <a:t>)</a:t>
            </a:r>
          </a:p>
          <a:p>
            <a:pPr marL="342900" indent="-342900">
              <a:buClr>
                <a:schemeClr val="tx2"/>
              </a:buClr>
              <a:buFont typeface="Wingdings" charset="2"/>
              <a:buChar char="v"/>
            </a:pPr>
            <a:endParaRPr lang="en-ZA" sz="800" b="0" i="1" dirty="0"/>
          </a:p>
          <a:p>
            <a:pPr marL="342900" indent="-342900">
              <a:buClr>
                <a:schemeClr val="tx2"/>
              </a:buClr>
              <a:buFont typeface="Wingdings" charset="2"/>
              <a:buChar char="v"/>
            </a:pPr>
            <a:r>
              <a:rPr lang="en-ZA" sz="2400" b="0" i="1" dirty="0"/>
              <a:t>A study of principles guiding the good of the individual within the context of social interactions and the community </a:t>
            </a:r>
          </a:p>
          <a:p>
            <a:pPr marL="342900" indent="-342900">
              <a:buClr>
                <a:schemeClr val="tx2"/>
              </a:buClr>
              <a:buFont typeface="Wingdings" charset="2"/>
              <a:buChar char="v"/>
            </a:pPr>
            <a:endParaRPr lang="en-ZA" sz="2800" b="0" i="1" dirty="0"/>
          </a:p>
          <a:p>
            <a:pPr>
              <a:buClr>
                <a:schemeClr val="tx2"/>
              </a:buClr>
            </a:pPr>
            <a:endParaRPr lang="en-ZA" sz="2800" b="0" i="1" dirty="0"/>
          </a:p>
        </p:txBody>
      </p:sp>
    </p:spTree>
    <p:extLst>
      <p:ext uri="{BB962C8B-B14F-4D97-AF65-F5344CB8AC3E}">
        <p14:creationId xmlns:p14="http://schemas.microsoft.com/office/powerpoint/2010/main" val="42750178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5791200" cy="830051"/>
          </a:xfrm>
        </p:spPr>
        <p:txBody>
          <a:bodyPr>
            <a:normAutofit/>
          </a:bodyPr>
          <a:lstStyle/>
          <a:p>
            <a:r>
              <a:rPr lang="en-ZA" sz="4000" dirty="0"/>
              <a:t>Type of Ethics - Defined </a:t>
            </a:r>
          </a:p>
        </p:txBody>
      </p:sp>
      <p:sp>
        <p:nvSpPr>
          <p:cNvPr id="8" name="TextBox 7"/>
          <p:cNvSpPr txBox="1"/>
          <p:nvPr/>
        </p:nvSpPr>
        <p:spPr>
          <a:xfrm>
            <a:off x="321733" y="3258712"/>
            <a:ext cx="2675467" cy="1200328"/>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pPr algn="ctr"/>
            <a:r>
              <a:rPr lang="en-ZA" sz="2400" dirty="0"/>
              <a:t>ETHICS AS A THEORETICAL ENTERPRISE</a:t>
            </a:r>
          </a:p>
        </p:txBody>
      </p:sp>
      <p:sp>
        <p:nvSpPr>
          <p:cNvPr id="11" name="TextBox 10"/>
          <p:cNvSpPr txBox="1"/>
          <p:nvPr/>
        </p:nvSpPr>
        <p:spPr>
          <a:xfrm>
            <a:off x="4147608" y="780545"/>
            <a:ext cx="4707467" cy="2123658"/>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en-ZA" sz="2400" b="1" dirty="0"/>
              <a:t>Meta Ethics: “</a:t>
            </a:r>
            <a:r>
              <a:rPr lang="en-US" sz="2000" i="1" dirty="0"/>
              <a:t>is a branch of analytic philosophy that explores the status, foundations, and scope of moral values, properties, and words” </a:t>
            </a:r>
            <a:r>
              <a:rPr lang="en-US" sz="1600" i="1" dirty="0"/>
              <a:t>Source:  </a:t>
            </a:r>
            <a:r>
              <a:rPr lang="en-US" sz="1600" dirty="0"/>
              <a:t>https://www.princeton.edu/~achaney/tmve/wiki100k/docs/Meta-ethics.html</a:t>
            </a:r>
            <a:endParaRPr lang="en-ZA" sz="1600" i="1" dirty="0"/>
          </a:p>
          <a:p>
            <a:r>
              <a:rPr lang="en-ZA" sz="1600" b="1" dirty="0"/>
              <a:t>  </a:t>
            </a:r>
          </a:p>
        </p:txBody>
      </p:sp>
      <p:sp>
        <p:nvSpPr>
          <p:cNvPr id="13" name="TextBox 12"/>
          <p:cNvSpPr txBox="1"/>
          <p:nvPr/>
        </p:nvSpPr>
        <p:spPr>
          <a:xfrm>
            <a:off x="4147608" y="3066549"/>
            <a:ext cx="4707467" cy="2000548"/>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en-ZA" sz="2400" b="1" dirty="0"/>
              <a:t>Normative Ethics: </a:t>
            </a:r>
            <a:r>
              <a:rPr lang="en-US" sz="2000" dirty="0"/>
              <a:t>addresses the question of ‘What ought to be done?’ Normative Ethical theorists (Socrates, Kant, Stuart, Bentham) seek to provide action guides and codes. </a:t>
            </a:r>
            <a:endParaRPr lang="en-ZA" sz="2000" i="1" dirty="0"/>
          </a:p>
          <a:p>
            <a:r>
              <a:rPr lang="en-ZA" sz="2000" i="1" dirty="0"/>
              <a:t>  </a:t>
            </a:r>
          </a:p>
        </p:txBody>
      </p:sp>
      <p:sp>
        <p:nvSpPr>
          <p:cNvPr id="14" name="TextBox 13"/>
          <p:cNvSpPr txBox="1"/>
          <p:nvPr/>
        </p:nvSpPr>
        <p:spPr>
          <a:xfrm>
            <a:off x="4198410" y="5183177"/>
            <a:ext cx="4707467" cy="1384995"/>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en-ZA" sz="2400" b="1" dirty="0"/>
              <a:t>Applied Ethics: </a:t>
            </a:r>
            <a:r>
              <a:rPr lang="en-US" sz="2000" dirty="0"/>
              <a:t>domain specific ethics (Business, biomedical; APA, engineering, etc.)</a:t>
            </a:r>
            <a:endParaRPr lang="en-ZA" sz="2000" i="1" dirty="0"/>
          </a:p>
          <a:p>
            <a:r>
              <a:rPr lang="en-ZA" sz="2000" i="1" dirty="0"/>
              <a:t>  </a:t>
            </a:r>
          </a:p>
        </p:txBody>
      </p:sp>
      <p:cxnSp>
        <p:nvCxnSpPr>
          <p:cNvPr id="17" name="Straight Arrow Connector 16"/>
          <p:cNvCxnSpPr/>
          <p:nvPr/>
        </p:nvCxnSpPr>
        <p:spPr>
          <a:xfrm flipV="1">
            <a:off x="2997200" y="2047846"/>
            <a:ext cx="1048808" cy="1210866"/>
          </a:xfrm>
          <a:prstGeom prst="straightConnector1">
            <a:avLst/>
          </a:prstGeom>
          <a:ln w="57150" cmpd="sng">
            <a:tailEnd type="arrow"/>
          </a:ln>
        </p:spPr>
        <p:style>
          <a:lnRef idx="1">
            <a:schemeClr val="accent5"/>
          </a:lnRef>
          <a:fillRef idx="0">
            <a:schemeClr val="accent5"/>
          </a:fillRef>
          <a:effectRef idx="0">
            <a:schemeClr val="accent5"/>
          </a:effectRef>
          <a:fontRef idx="minor">
            <a:schemeClr val="tx1"/>
          </a:fontRef>
        </p:style>
      </p:cxnSp>
      <p:cxnSp>
        <p:nvCxnSpPr>
          <p:cNvPr id="21" name="Straight Arrow Connector 20"/>
          <p:cNvCxnSpPr/>
          <p:nvPr/>
        </p:nvCxnSpPr>
        <p:spPr>
          <a:xfrm>
            <a:off x="2997200" y="3843867"/>
            <a:ext cx="1048808" cy="0"/>
          </a:xfrm>
          <a:prstGeom prst="straightConnector1">
            <a:avLst/>
          </a:prstGeom>
          <a:ln w="57150" cmpd="sng">
            <a:solidFill>
              <a:srgbClr val="FF6600"/>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p:nvPr/>
        </p:nvCxnSpPr>
        <p:spPr>
          <a:xfrm>
            <a:off x="2997200" y="4459040"/>
            <a:ext cx="1150408" cy="951159"/>
          </a:xfrm>
          <a:prstGeom prst="straightConnector1">
            <a:avLst/>
          </a:prstGeom>
          <a:ln w="57150" cmpd="sng">
            <a:solidFill>
              <a:srgbClr val="FF6600"/>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61752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718"/>
            <a:ext cx="5791200" cy="592349"/>
          </a:xfrm>
        </p:spPr>
        <p:txBody>
          <a:bodyPr>
            <a:normAutofit fontScale="90000"/>
          </a:bodyPr>
          <a:lstStyle/>
          <a:p>
            <a:r>
              <a:rPr lang="en-ZA" dirty="0"/>
              <a:t>Ethics Evolution</a:t>
            </a:r>
          </a:p>
        </p:txBody>
      </p:sp>
      <p:graphicFrame>
        <p:nvGraphicFramePr>
          <p:cNvPr id="6" name="Diagram 5"/>
          <p:cNvGraphicFramePr/>
          <p:nvPr/>
        </p:nvGraphicFramePr>
        <p:xfrm>
          <a:off x="237067" y="745067"/>
          <a:ext cx="8830733" cy="57478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081204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718"/>
            <a:ext cx="5791200" cy="592349"/>
          </a:xfrm>
        </p:spPr>
        <p:txBody>
          <a:bodyPr>
            <a:normAutofit fontScale="90000"/>
          </a:bodyPr>
          <a:lstStyle/>
          <a:p>
            <a:r>
              <a:rPr lang="en-ZA" dirty="0"/>
              <a:t>Ethics Evolution</a:t>
            </a:r>
          </a:p>
        </p:txBody>
      </p:sp>
      <p:graphicFrame>
        <p:nvGraphicFramePr>
          <p:cNvPr id="6" name="Diagram 5"/>
          <p:cNvGraphicFramePr/>
          <p:nvPr/>
        </p:nvGraphicFramePr>
        <p:xfrm>
          <a:off x="220134" y="914401"/>
          <a:ext cx="8830733" cy="54186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504763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62000"/>
          </a:xfrm>
        </p:spPr>
        <p:txBody>
          <a:bodyPr/>
          <a:lstStyle/>
          <a:p>
            <a:r>
              <a:rPr lang="en-IN" dirty="0"/>
              <a:t>What is Research Ethics?</a:t>
            </a:r>
          </a:p>
        </p:txBody>
      </p:sp>
      <p:sp>
        <p:nvSpPr>
          <p:cNvPr id="3" name="Content Placeholder 2"/>
          <p:cNvSpPr>
            <a:spLocks noGrp="1"/>
          </p:cNvSpPr>
          <p:nvPr>
            <p:ph idx="1"/>
          </p:nvPr>
        </p:nvSpPr>
        <p:spPr>
          <a:xfrm>
            <a:off x="457200" y="1143000"/>
            <a:ext cx="8229600" cy="5410200"/>
          </a:xfrm>
        </p:spPr>
        <p:txBody>
          <a:bodyPr>
            <a:normAutofit fontScale="70000" lnSpcReduction="20000"/>
          </a:bodyPr>
          <a:lstStyle/>
          <a:p>
            <a:pPr fontAlgn="base"/>
            <a:r>
              <a:rPr lang="en-IN" b="1" i="1" dirty="0">
                <a:solidFill>
                  <a:srgbClr val="0070C0"/>
                </a:solidFill>
              </a:rPr>
              <a:t>Ethics</a:t>
            </a:r>
            <a:r>
              <a:rPr lang="en-IN" dirty="0"/>
              <a:t> are the </a:t>
            </a:r>
            <a:r>
              <a:rPr lang="en-IN" b="1" dirty="0">
                <a:solidFill>
                  <a:srgbClr val="0070C0"/>
                </a:solidFill>
              </a:rPr>
              <a:t>set of rules</a:t>
            </a:r>
            <a:r>
              <a:rPr lang="en-IN" dirty="0">
                <a:solidFill>
                  <a:srgbClr val="0070C0"/>
                </a:solidFill>
              </a:rPr>
              <a:t> that govern our expectations of our own and others’ behaviour</a:t>
            </a:r>
            <a:r>
              <a:rPr lang="en-IN" dirty="0"/>
              <a:t>.</a:t>
            </a:r>
          </a:p>
          <a:p>
            <a:pPr fontAlgn="base"/>
            <a:r>
              <a:rPr lang="en-IN" b="1" i="1" dirty="0">
                <a:solidFill>
                  <a:srgbClr val="0070C0"/>
                </a:solidFill>
              </a:rPr>
              <a:t>Research ethics </a:t>
            </a:r>
            <a:r>
              <a:rPr lang="en-IN" dirty="0"/>
              <a:t>are the </a:t>
            </a:r>
            <a:r>
              <a:rPr lang="en-IN" b="1" dirty="0">
                <a:solidFill>
                  <a:srgbClr val="0070C0"/>
                </a:solidFill>
              </a:rPr>
              <a:t>set of ethical guidelines </a:t>
            </a:r>
            <a:r>
              <a:rPr lang="en-IN" dirty="0">
                <a:solidFill>
                  <a:srgbClr val="0070C0"/>
                </a:solidFill>
              </a:rPr>
              <a:t>that guides us on how </a:t>
            </a:r>
            <a:r>
              <a:rPr lang="en-IN" b="1" i="1" dirty="0">
                <a:solidFill>
                  <a:srgbClr val="0070C0"/>
                </a:solidFill>
              </a:rPr>
              <a:t>scientific research </a:t>
            </a:r>
            <a:r>
              <a:rPr lang="en-IN" b="1" dirty="0">
                <a:solidFill>
                  <a:srgbClr val="0070C0"/>
                </a:solidFill>
              </a:rPr>
              <a:t>should be </a:t>
            </a:r>
            <a:r>
              <a:rPr lang="en-IN" b="1" i="1" dirty="0">
                <a:solidFill>
                  <a:srgbClr val="0070C0"/>
                </a:solidFill>
              </a:rPr>
              <a:t>conducted </a:t>
            </a:r>
            <a:r>
              <a:rPr lang="en-IN" b="1" dirty="0">
                <a:solidFill>
                  <a:srgbClr val="0070C0"/>
                </a:solidFill>
              </a:rPr>
              <a:t>and </a:t>
            </a:r>
            <a:r>
              <a:rPr lang="en-IN" b="1" i="1" dirty="0">
                <a:solidFill>
                  <a:srgbClr val="0070C0"/>
                </a:solidFill>
              </a:rPr>
              <a:t>disseminated</a:t>
            </a:r>
            <a:r>
              <a:rPr lang="en-IN" dirty="0"/>
              <a:t>.</a:t>
            </a:r>
          </a:p>
          <a:p>
            <a:pPr fontAlgn="base"/>
            <a:r>
              <a:rPr lang="en-IN" dirty="0"/>
              <a:t>Research ethics govern the standards of conduct for scientific researchers .</a:t>
            </a:r>
          </a:p>
          <a:p>
            <a:pPr fontAlgn="base"/>
            <a:r>
              <a:rPr lang="en-IN" dirty="0"/>
              <a:t>It is the guideline for responsibly conducting the research.</a:t>
            </a:r>
          </a:p>
          <a:p>
            <a:pPr fontAlgn="base"/>
            <a:r>
              <a:rPr lang="en-IN" dirty="0">
                <a:solidFill>
                  <a:srgbClr val="0070C0"/>
                </a:solidFill>
              </a:rPr>
              <a:t>Research that implicates human subjects or contributors rears distinctive and multifaceted ethical, legitimate, communal and administrative concerns</a:t>
            </a:r>
            <a:r>
              <a:rPr lang="en-IN" dirty="0"/>
              <a:t>.</a:t>
            </a:r>
          </a:p>
          <a:p>
            <a:pPr fontAlgn="base"/>
            <a:r>
              <a:rPr lang="en-IN" dirty="0"/>
              <a:t>Research ethics is </a:t>
            </a:r>
            <a:r>
              <a:rPr lang="en-IN" dirty="0">
                <a:solidFill>
                  <a:srgbClr val="0070C0"/>
                </a:solidFill>
              </a:rPr>
              <a:t>unambiguously concerned in the examination of ethical issues</a:t>
            </a:r>
            <a:r>
              <a:rPr lang="en-IN" dirty="0"/>
              <a:t> that are upraised when individuals are involved as participants in the study.</a:t>
            </a:r>
          </a:p>
          <a:p>
            <a:pPr fontAlgn="base"/>
            <a:r>
              <a:rPr lang="en-IN" dirty="0">
                <a:solidFill>
                  <a:srgbClr val="0070C0"/>
                </a:solidFill>
              </a:rPr>
              <a:t>Research ethics committee/Institutional Review Board (IRB) </a:t>
            </a:r>
            <a:r>
              <a:rPr lang="en-IN" dirty="0"/>
              <a:t>reviews whether the research is ethical enough or not to protect the rights, dignity and welfare of the respondents.</a:t>
            </a:r>
          </a:p>
          <a:p>
            <a:endParaRPr lang="en-IN" dirty="0"/>
          </a:p>
        </p:txBody>
      </p:sp>
    </p:spTree>
    <p:extLst>
      <p:ext uri="{BB962C8B-B14F-4D97-AF65-F5344CB8AC3E}">
        <p14:creationId xmlns:p14="http://schemas.microsoft.com/office/powerpoint/2010/main" val="5561385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val 7"/>
          <p:cNvSpPr/>
          <p:nvPr/>
        </p:nvSpPr>
        <p:spPr>
          <a:xfrm>
            <a:off x="1318787" y="4228882"/>
            <a:ext cx="5763589" cy="2385038"/>
          </a:xfrm>
          <a:prstGeom prst="ellipse">
            <a:avLst/>
          </a:prstGeom>
          <a:effectLst>
            <a:outerShdw blurRad="50800" dist="38100" algn="l" rotWithShape="0">
              <a:prstClr val="black">
                <a:alpha val="40000"/>
              </a:prstClr>
            </a:outerShdw>
          </a:effectLst>
          <a:scene3d>
            <a:camera prst="perspectiveRelaxedModerately"/>
            <a:lightRig rig="threePt" dir="t"/>
          </a:scene3d>
          <a:sp3d>
            <a:bevelT/>
          </a:sp3d>
        </p:spPr>
        <p:style>
          <a:lnRef idx="1">
            <a:schemeClr val="accent1"/>
          </a:lnRef>
          <a:fillRef idx="2">
            <a:schemeClr val="accent1"/>
          </a:fillRef>
          <a:effectRef idx="1">
            <a:schemeClr val="accent1"/>
          </a:effectRef>
          <a:fontRef idx="minor">
            <a:schemeClr val="dk1"/>
          </a:fontRef>
        </p:style>
        <p:txBody>
          <a:bodyPr rtlCol="0" anchor="ctr"/>
          <a:lstStyle/>
          <a:p>
            <a:pPr algn="ctr"/>
            <a:r>
              <a:rPr lang="en-ZA" sz="3200" b="1" dirty="0">
                <a:solidFill>
                  <a:srgbClr val="000000"/>
                </a:solidFill>
              </a:rPr>
              <a:t>What exactly is research Ethics</a:t>
            </a:r>
            <a:r>
              <a:rPr lang="en-ZA" sz="4800" b="1" dirty="0">
                <a:solidFill>
                  <a:srgbClr val="FF6600"/>
                </a:solidFill>
              </a:rPr>
              <a:t>?</a:t>
            </a:r>
          </a:p>
        </p:txBody>
      </p:sp>
      <p:sp>
        <p:nvSpPr>
          <p:cNvPr id="10" name="Rounded Rectangle 9"/>
          <p:cNvSpPr/>
          <p:nvPr/>
        </p:nvSpPr>
        <p:spPr>
          <a:xfrm>
            <a:off x="457200" y="1025647"/>
            <a:ext cx="3140973" cy="2588539"/>
          </a:xfrm>
          <a:prstGeom prst="roundRect">
            <a:avLst/>
          </a:prstGeom>
          <a:effectLst>
            <a:outerShdw blurRad="76200" dir="18900000" sy="23000" kx="-1200000" algn="bl" rotWithShape="0">
              <a:prstClr val="black">
                <a:alpha val="20000"/>
              </a:prstClr>
            </a:outerShdw>
          </a:effectLst>
          <a:scene3d>
            <a:camera prst="orthographicFront"/>
            <a:lightRig rig="threePt" dir="t"/>
          </a:scene3d>
          <a:sp3d>
            <a:bevelT w="139700" prst="cross"/>
          </a:sp3d>
        </p:spPr>
        <p:style>
          <a:lnRef idx="1">
            <a:schemeClr val="accent6"/>
          </a:lnRef>
          <a:fillRef idx="2">
            <a:schemeClr val="accent6"/>
          </a:fillRef>
          <a:effectRef idx="1">
            <a:schemeClr val="accent6"/>
          </a:effectRef>
          <a:fontRef idx="minor">
            <a:schemeClr val="dk1"/>
          </a:fontRef>
        </p:style>
        <p:txBody>
          <a:bodyPr rtlCol="0" anchor="ctr"/>
          <a:lstStyle/>
          <a:p>
            <a:pPr algn="ctr"/>
            <a:r>
              <a:rPr lang="en-ZA" sz="2400" b="1" dirty="0"/>
              <a:t>What is ethics?</a:t>
            </a:r>
          </a:p>
        </p:txBody>
      </p:sp>
      <p:sp>
        <p:nvSpPr>
          <p:cNvPr id="11" name="Rounded Rectangle 10"/>
          <p:cNvSpPr/>
          <p:nvPr/>
        </p:nvSpPr>
        <p:spPr>
          <a:xfrm>
            <a:off x="4586295" y="1025647"/>
            <a:ext cx="3179897" cy="2507139"/>
          </a:xfrm>
          <a:prstGeom prst="roundRect">
            <a:avLst/>
          </a:prstGeom>
          <a:effectLst>
            <a:outerShdw blurRad="76200" dir="18900000" sy="23000" kx="-1200000" algn="bl" rotWithShape="0">
              <a:prstClr val="black">
                <a:alpha val="20000"/>
              </a:prstClr>
            </a:outerShdw>
          </a:effectLst>
          <a:scene3d>
            <a:camera prst="orthographicFront"/>
            <a:lightRig rig="threePt" dir="t"/>
          </a:scene3d>
          <a:sp3d>
            <a:bevelT w="139700" prst="cross"/>
          </a:sp3d>
        </p:spPr>
        <p:style>
          <a:lnRef idx="1">
            <a:schemeClr val="accent6"/>
          </a:lnRef>
          <a:fillRef idx="2">
            <a:schemeClr val="accent6"/>
          </a:fillRef>
          <a:effectRef idx="1">
            <a:schemeClr val="accent6"/>
          </a:effectRef>
          <a:fontRef idx="minor">
            <a:schemeClr val="dk1"/>
          </a:fontRef>
        </p:style>
        <p:txBody>
          <a:bodyPr rtlCol="0" anchor="ctr"/>
          <a:lstStyle/>
          <a:p>
            <a:pPr algn="ctr"/>
            <a:r>
              <a:rPr lang="en-ZA" sz="2400" b="1" dirty="0"/>
              <a:t>What is Research?</a:t>
            </a:r>
          </a:p>
        </p:txBody>
      </p:sp>
      <p:sp>
        <p:nvSpPr>
          <p:cNvPr id="14" name="Down Arrow 13"/>
          <p:cNvSpPr/>
          <p:nvPr/>
        </p:nvSpPr>
        <p:spPr>
          <a:xfrm rot="10800000">
            <a:off x="2067719" y="3614186"/>
            <a:ext cx="1074568" cy="911687"/>
          </a:xfrm>
          <a:prstGeom prst="downArrow">
            <a:avLst/>
          </a:prstGeom>
          <a:solidFill>
            <a:schemeClr val="tx2">
              <a:lumMod val="60000"/>
              <a:lumOff val="40000"/>
            </a:schemeClr>
          </a:solidFill>
          <a:ln>
            <a:solidFill>
              <a:srgbClr val="F4891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dirty="0">
              <a:solidFill>
                <a:srgbClr val="FF6600"/>
              </a:solidFill>
            </a:endParaRPr>
          </a:p>
        </p:txBody>
      </p:sp>
      <p:sp>
        <p:nvSpPr>
          <p:cNvPr id="15" name="Down Arrow 14"/>
          <p:cNvSpPr/>
          <p:nvPr/>
        </p:nvSpPr>
        <p:spPr>
          <a:xfrm rot="10800000">
            <a:off x="4955327" y="3587506"/>
            <a:ext cx="1074568" cy="911687"/>
          </a:xfrm>
          <a:prstGeom prst="downArrow">
            <a:avLst/>
          </a:prstGeom>
          <a:solidFill>
            <a:schemeClr val="tx2">
              <a:lumMod val="60000"/>
              <a:lumOff val="40000"/>
            </a:schemeClr>
          </a:solidFill>
          <a:ln>
            <a:solidFill>
              <a:srgbClr val="F4891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dirty="0">
              <a:solidFill>
                <a:srgbClr val="FF6600"/>
              </a:solidFill>
            </a:endParaRPr>
          </a:p>
        </p:txBody>
      </p:sp>
    </p:spTree>
    <p:extLst>
      <p:ext uri="{BB962C8B-B14F-4D97-AF65-F5344CB8AC3E}">
        <p14:creationId xmlns:p14="http://schemas.microsoft.com/office/powerpoint/2010/main" val="29666299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a:xfrm>
            <a:off x="812800" y="742950"/>
            <a:ext cx="8331200" cy="628650"/>
          </a:xfrm>
        </p:spPr>
        <p:txBody>
          <a:bodyPr>
            <a:normAutofit fontScale="90000"/>
          </a:bodyPr>
          <a:lstStyle/>
          <a:p>
            <a:r>
              <a:rPr lang="en-US" sz="4400" b="0"/>
              <a:t>Research Ethics</a:t>
            </a:r>
          </a:p>
        </p:txBody>
      </p:sp>
      <p:sp>
        <p:nvSpPr>
          <p:cNvPr id="134147" name="Rectangle 3"/>
          <p:cNvSpPr>
            <a:spLocks noGrp="1" noChangeArrowheads="1"/>
          </p:cNvSpPr>
          <p:nvPr>
            <p:ph type="body" idx="1"/>
          </p:nvPr>
        </p:nvSpPr>
        <p:spPr>
          <a:xfrm>
            <a:off x="1016000" y="2343150"/>
            <a:ext cx="7315200" cy="4057650"/>
          </a:xfrm>
        </p:spPr>
        <p:txBody>
          <a:bodyPr/>
          <a:lstStyle/>
          <a:p>
            <a:pPr>
              <a:buFont typeface="Wingdings" pitchFamily="2" charset="2"/>
              <a:buNone/>
            </a:pPr>
            <a:r>
              <a:rPr lang="en-US" sz="3200"/>
              <a:t>“Greek </a:t>
            </a:r>
            <a:r>
              <a:rPr lang="en-US" sz="3200" b="1" i="1"/>
              <a:t>ethos </a:t>
            </a:r>
            <a:r>
              <a:rPr lang="en-US" sz="3200"/>
              <a:t>‘character’ is the systematic study of value concepts—good, bad, right, wrong and the general principles that justify applying these concepts”.</a:t>
            </a:r>
          </a:p>
          <a:p>
            <a:pPr algn="r">
              <a:buFont typeface="Wingdings" pitchFamily="2" charset="2"/>
              <a:buNone/>
            </a:pPr>
            <a:endParaRPr lang="en-US" sz="1600"/>
          </a:p>
          <a:p>
            <a:pPr algn="r">
              <a:buFont typeface="Wingdings" pitchFamily="2" charset="2"/>
              <a:buNone/>
            </a:pPr>
            <a:endParaRPr lang="en-US" sz="1600"/>
          </a:p>
          <a:p>
            <a:pPr algn="r">
              <a:buFont typeface="Wingdings" pitchFamily="2" charset="2"/>
              <a:buNone/>
            </a:pPr>
            <a:endParaRPr lang="en-US" sz="1600"/>
          </a:p>
          <a:p>
            <a:pPr algn="r">
              <a:buFont typeface="Wingdings" pitchFamily="2" charset="2"/>
              <a:buNone/>
            </a:pPr>
            <a:r>
              <a:rPr lang="en-US" sz="1600"/>
              <a:t>Joan E. Sieber</a:t>
            </a:r>
          </a:p>
          <a:p>
            <a:pPr algn="r">
              <a:buFont typeface="Wingdings" pitchFamily="2" charset="2"/>
              <a:buNone/>
            </a:pPr>
            <a:r>
              <a:rPr lang="en-US" sz="1600"/>
              <a:t>Planning Ethically Responsible Research, p. 3</a:t>
            </a:r>
          </a:p>
        </p:txBody>
      </p:sp>
    </p:spTree>
    <p:extLst>
      <p:ext uri="{BB962C8B-B14F-4D97-AF65-F5344CB8AC3E}">
        <p14:creationId xmlns:p14="http://schemas.microsoft.com/office/powerpoint/2010/main" val="2108726886"/>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ChangeArrowheads="1"/>
          </p:cNvSpPr>
          <p:nvPr>
            <p:ph type="title"/>
          </p:nvPr>
        </p:nvSpPr>
        <p:spPr>
          <a:xfrm>
            <a:off x="812800" y="742950"/>
            <a:ext cx="8331200" cy="628650"/>
          </a:xfrm>
        </p:spPr>
        <p:txBody>
          <a:bodyPr>
            <a:normAutofit fontScale="90000"/>
          </a:bodyPr>
          <a:lstStyle/>
          <a:p>
            <a:r>
              <a:rPr lang="en-US" sz="4400" b="0"/>
              <a:t>Research Ethics</a:t>
            </a:r>
          </a:p>
        </p:txBody>
      </p:sp>
      <p:sp>
        <p:nvSpPr>
          <p:cNvPr id="168963" name="Rectangle 3"/>
          <p:cNvSpPr>
            <a:spLocks noGrp="1" noChangeArrowheads="1"/>
          </p:cNvSpPr>
          <p:nvPr>
            <p:ph type="body" idx="1"/>
          </p:nvPr>
        </p:nvSpPr>
        <p:spPr>
          <a:xfrm>
            <a:off x="1371600" y="2362200"/>
            <a:ext cx="6477000" cy="4057650"/>
          </a:xfrm>
        </p:spPr>
        <p:txBody>
          <a:bodyPr/>
          <a:lstStyle/>
          <a:p>
            <a:pPr>
              <a:lnSpc>
                <a:spcPct val="90000"/>
              </a:lnSpc>
              <a:buFont typeface="Wingdings" pitchFamily="2" charset="2"/>
              <a:buNone/>
            </a:pPr>
            <a:r>
              <a:rPr lang="en-US" sz="3200" dirty="0"/>
              <a:t>“Ethics is the disciplined study or morality….and morality asks the question…what should one’s behavior be”.</a:t>
            </a:r>
          </a:p>
          <a:p>
            <a:pPr algn="r">
              <a:lnSpc>
                <a:spcPct val="90000"/>
              </a:lnSpc>
              <a:buFont typeface="Wingdings" pitchFamily="2" charset="2"/>
              <a:buNone/>
            </a:pPr>
            <a:endParaRPr lang="en-US" sz="1600" dirty="0"/>
          </a:p>
          <a:p>
            <a:pPr algn="r">
              <a:lnSpc>
                <a:spcPct val="90000"/>
              </a:lnSpc>
              <a:buFont typeface="Wingdings" pitchFamily="2" charset="2"/>
              <a:buNone/>
            </a:pPr>
            <a:endParaRPr lang="en-US" sz="1600" dirty="0"/>
          </a:p>
          <a:p>
            <a:pPr algn="r">
              <a:lnSpc>
                <a:spcPct val="90000"/>
              </a:lnSpc>
              <a:buFont typeface="Wingdings" pitchFamily="2" charset="2"/>
              <a:buNone/>
            </a:pPr>
            <a:endParaRPr lang="en-US" sz="1600" dirty="0"/>
          </a:p>
          <a:p>
            <a:pPr algn="r">
              <a:lnSpc>
                <a:spcPct val="90000"/>
              </a:lnSpc>
              <a:buFont typeface="Wingdings" pitchFamily="2" charset="2"/>
              <a:buNone/>
            </a:pPr>
            <a:endParaRPr lang="en-US" sz="1600" dirty="0"/>
          </a:p>
          <a:p>
            <a:pPr algn="r">
              <a:lnSpc>
                <a:spcPct val="90000"/>
              </a:lnSpc>
              <a:buFont typeface="Wingdings" pitchFamily="2" charset="2"/>
              <a:buNone/>
            </a:pPr>
            <a:endParaRPr lang="en-US" sz="1600" dirty="0"/>
          </a:p>
          <a:p>
            <a:pPr algn="r">
              <a:lnSpc>
                <a:spcPct val="90000"/>
              </a:lnSpc>
              <a:buFont typeface="Wingdings" pitchFamily="2" charset="2"/>
              <a:buNone/>
            </a:pPr>
            <a:endParaRPr lang="en-US" sz="1600" dirty="0"/>
          </a:p>
          <a:p>
            <a:pPr algn="r">
              <a:lnSpc>
                <a:spcPct val="90000"/>
              </a:lnSpc>
              <a:buFont typeface="Wingdings" pitchFamily="2" charset="2"/>
              <a:buNone/>
            </a:pPr>
            <a:r>
              <a:rPr lang="en-US" sz="1600" dirty="0"/>
              <a:t>Jeff Cooper</a:t>
            </a:r>
          </a:p>
          <a:p>
            <a:pPr algn="r">
              <a:lnSpc>
                <a:spcPct val="90000"/>
              </a:lnSpc>
              <a:buFont typeface="Wingdings" pitchFamily="2" charset="2"/>
              <a:buNone/>
            </a:pPr>
            <a:r>
              <a:rPr lang="en-US" sz="1600" dirty="0"/>
              <a:t>Albany Medical Center, Ethical Decision Making, 2001, p. 1</a:t>
            </a:r>
          </a:p>
        </p:txBody>
      </p:sp>
    </p:spTree>
    <p:extLst>
      <p:ext uri="{BB962C8B-B14F-4D97-AF65-F5344CB8AC3E}">
        <p14:creationId xmlns:p14="http://schemas.microsoft.com/office/powerpoint/2010/main" val="2772128845"/>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type="title"/>
          </p:nvPr>
        </p:nvSpPr>
        <p:spPr>
          <a:xfrm>
            <a:off x="812800" y="742950"/>
            <a:ext cx="8331200" cy="628650"/>
          </a:xfrm>
        </p:spPr>
        <p:txBody>
          <a:bodyPr>
            <a:normAutofit fontScale="90000"/>
          </a:bodyPr>
          <a:lstStyle/>
          <a:p>
            <a:r>
              <a:rPr lang="en-US" sz="4400" b="0"/>
              <a:t>Research Ethics</a:t>
            </a:r>
          </a:p>
        </p:txBody>
      </p:sp>
      <p:sp>
        <p:nvSpPr>
          <p:cNvPr id="174083" name="Rectangle 3"/>
          <p:cNvSpPr>
            <a:spLocks noGrp="1" noChangeArrowheads="1"/>
          </p:cNvSpPr>
          <p:nvPr>
            <p:ph type="body" idx="1"/>
          </p:nvPr>
        </p:nvSpPr>
        <p:spPr>
          <a:xfrm>
            <a:off x="685800" y="2209800"/>
            <a:ext cx="7772400" cy="4057650"/>
          </a:xfrm>
        </p:spPr>
        <p:txBody>
          <a:bodyPr/>
          <a:lstStyle/>
          <a:p>
            <a:pPr>
              <a:lnSpc>
                <a:spcPct val="90000"/>
              </a:lnSpc>
              <a:buFont typeface="Wingdings" pitchFamily="2" charset="2"/>
              <a:buNone/>
            </a:pPr>
            <a:r>
              <a:rPr lang="en-US" sz="3200" dirty="0"/>
              <a:t>Two types of ethical decision-making</a:t>
            </a:r>
          </a:p>
          <a:p>
            <a:pPr marL="514350" indent="-514350">
              <a:lnSpc>
                <a:spcPct val="90000"/>
              </a:lnSpc>
              <a:buFont typeface="+mj-lt"/>
              <a:buAutoNum type="arabicPeriod"/>
            </a:pPr>
            <a:r>
              <a:rPr lang="en-US" sz="3200" dirty="0"/>
              <a:t>Deductive or </a:t>
            </a:r>
            <a:r>
              <a:rPr lang="en-US" dirty="0"/>
              <a:t>P</a:t>
            </a:r>
            <a:r>
              <a:rPr lang="en-US" sz="3200" dirty="0"/>
              <a:t>rinciple-based </a:t>
            </a:r>
            <a:r>
              <a:rPr lang="en-US" dirty="0"/>
              <a:t>R</a:t>
            </a:r>
            <a:r>
              <a:rPr lang="en-US" sz="3200" dirty="0"/>
              <a:t>easoning</a:t>
            </a:r>
          </a:p>
          <a:p>
            <a:pPr marL="514350" indent="-514350">
              <a:lnSpc>
                <a:spcPct val="90000"/>
              </a:lnSpc>
              <a:buFont typeface="+mj-lt"/>
              <a:buAutoNum type="arabicPeriod"/>
            </a:pPr>
            <a:r>
              <a:rPr lang="en-US" sz="3200" dirty="0"/>
              <a:t>Inductive or </a:t>
            </a:r>
            <a:r>
              <a:rPr lang="en-US" dirty="0"/>
              <a:t>C</a:t>
            </a:r>
            <a:r>
              <a:rPr lang="en-US" sz="3200" dirty="0"/>
              <a:t>ase-based </a:t>
            </a:r>
            <a:r>
              <a:rPr lang="en-US" dirty="0"/>
              <a:t>R</a:t>
            </a:r>
            <a:r>
              <a:rPr lang="en-US" sz="3200" dirty="0"/>
              <a:t>easoning</a:t>
            </a:r>
          </a:p>
          <a:p>
            <a:pPr algn="r">
              <a:lnSpc>
                <a:spcPct val="90000"/>
              </a:lnSpc>
              <a:buFont typeface="Wingdings" pitchFamily="2" charset="2"/>
              <a:buNone/>
            </a:pPr>
            <a:endParaRPr lang="en-US" sz="1600" dirty="0"/>
          </a:p>
          <a:p>
            <a:pPr algn="r">
              <a:lnSpc>
                <a:spcPct val="90000"/>
              </a:lnSpc>
              <a:buFont typeface="Wingdings" pitchFamily="2" charset="2"/>
              <a:buNone/>
            </a:pPr>
            <a:endParaRPr lang="en-US" sz="1600" dirty="0"/>
          </a:p>
          <a:p>
            <a:pPr algn="r">
              <a:lnSpc>
                <a:spcPct val="90000"/>
              </a:lnSpc>
              <a:buFont typeface="Wingdings" pitchFamily="2" charset="2"/>
              <a:buNone/>
            </a:pPr>
            <a:r>
              <a:rPr lang="en-US" sz="1600" dirty="0"/>
              <a:t>Jeff Cooper</a:t>
            </a:r>
          </a:p>
          <a:p>
            <a:pPr algn="r">
              <a:lnSpc>
                <a:spcPct val="90000"/>
              </a:lnSpc>
              <a:buFont typeface="Wingdings" pitchFamily="2" charset="2"/>
              <a:buNone/>
            </a:pPr>
            <a:r>
              <a:rPr lang="en-US" sz="1600" dirty="0"/>
              <a:t>Albany Medical Center, Ethical Decision Making, 2001, p. 1</a:t>
            </a:r>
          </a:p>
        </p:txBody>
      </p:sp>
    </p:spTree>
    <p:extLst>
      <p:ext uri="{BB962C8B-B14F-4D97-AF65-F5344CB8AC3E}">
        <p14:creationId xmlns:p14="http://schemas.microsoft.com/office/powerpoint/2010/main" val="2000934679"/>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ChangeArrowheads="1"/>
          </p:cNvSpPr>
          <p:nvPr>
            <p:ph type="title"/>
          </p:nvPr>
        </p:nvSpPr>
        <p:spPr>
          <a:xfrm>
            <a:off x="812800" y="742950"/>
            <a:ext cx="8331200" cy="628650"/>
          </a:xfrm>
        </p:spPr>
        <p:txBody>
          <a:bodyPr>
            <a:normAutofit fontScale="90000"/>
          </a:bodyPr>
          <a:lstStyle/>
          <a:p>
            <a:r>
              <a:rPr lang="en-US" sz="4400" b="0"/>
              <a:t>Research Ethics</a:t>
            </a:r>
          </a:p>
        </p:txBody>
      </p:sp>
      <p:sp>
        <p:nvSpPr>
          <p:cNvPr id="175107" name="Rectangle 3"/>
          <p:cNvSpPr>
            <a:spLocks noGrp="1" noChangeArrowheads="1"/>
          </p:cNvSpPr>
          <p:nvPr>
            <p:ph type="body" idx="1"/>
          </p:nvPr>
        </p:nvSpPr>
        <p:spPr>
          <a:xfrm>
            <a:off x="1371600" y="2362200"/>
            <a:ext cx="6477000" cy="4057650"/>
          </a:xfrm>
        </p:spPr>
        <p:txBody>
          <a:bodyPr/>
          <a:lstStyle/>
          <a:p>
            <a:pPr marL="514350" indent="-514350">
              <a:buFont typeface="+mj-lt"/>
              <a:buAutoNum type="arabicPeriod"/>
            </a:pPr>
            <a:r>
              <a:rPr lang="en-US" sz="3200" dirty="0"/>
              <a:t>Deductive or principle-based reasoning</a:t>
            </a:r>
          </a:p>
          <a:p>
            <a:pPr lvl="1"/>
            <a:r>
              <a:rPr lang="en-US" sz="2800" dirty="0"/>
              <a:t>Start with an ethical theory</a:t>
            </a:r>
          </a:p>
          <a:p>
            <a:pPr lvl="1"/>
            <a:r>
              <a:rPr lang="en-US" sz="2800" dirty="0"/>
              <a:t>Continue with a specific principle</a:t>
            </a:r>
          </a:p>
          <a:p>
            <a:pPr lvl="1"/>
            <a:r>
              <a:rPr lang="en-US" sz="2800" dirty="0"/>
              <a:t>Develop rules</a:t>
            </a:r>
          </a:p>
          <a:p>
            <a:pPr lvl="1"/>
            <a:r>
              <a:rPr lang="en-US" sz="2800" dirty="0"/>
              <a:t>Make judgments</a:t>
            </a:r>
          </a:p>
          <a:p>
            <a:pPr algn="r">
              <a:buFont typeface="Wingdings" pitchFamily="2" charset="2"/>
              <a:buNone/>
            </a:pPr>
            <a:endParaRPr lang="en-US" sz="1600" dirty="0"/>
          </a:p>
          <a:p>
            <a:pPr algn="r">
              <a:buFont typeface="Wingdings" pitchFamily="2" charset="2"/>
              <a:buNone/>
            </a:pPr>
            <a:r>
              <a:rPr lang="en-US" sz="1600" dirty="0"/>
              <a:t>Jeff Cooper</a:t>
            </a:r>
          </a:p>
          <a:p>
            <a:pPr algn="r">
              <a:buFont typeface="Wingdings" pitchFamily="2" charset="2"/>
              <a:buNone/>
            </a:pPr>
            <a:r>
              <a:rPr lang="en-US" sz="1600" dirty="0"/>
              <a:t>Albany Medical Center, Ethical Decision Making, 2001, p. 1</a:t>
            </a:r>
          </a:p>
        </p:txBody>
      </p:sp>
    </p:spTree>
    <p:extLst>
      <p:ext uri="{BB962C8B-B14F-4D97-AF65-F5344CB8AC3E}">
        <p14:creationId xmlns:p14="http://schemas.microsoft.com/office/powerpoint/2010/main" val="2121253552"/>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p:cNvSpPr>
            <a:spLocks noGrp="1" noChangeArrowheads="1"/>
          </p:cNvSpPr>
          <p:nvPr>
            <p:ph type="title"/>
          </p:nvPr>
        </p:nvSpPr>
        <p:spPr>
          <a:xfrm>
            <a:off x="812800" y="742950"/>
            <a:ext cx="8331200" cy="628650"/>
          </a:xfrm>
        </p:spPr>
        <p:txBody>
          <a:bodyPr>
            <a:normAutofit fontScale="90000"/>
          </a:bodyPr>
          <a:lstStyle/>
          <a:p>
            <a:r>
              <a:rPr lang="en-US" sz="4400" b="0"/>
              <a:t>Research Ethics</a:t>
            </a:r>
          </a:p>
        </p:txBody>
      </p:sp>
      <p:sp>
        <p:nvSpPr>
          <p:cNvPr id="179203" name="Rectangle 3"/>
          <p:cNvSpPr>
            <a:spLocks noGrp="1" noChangeArrowheads="1"/>
          </p:cNvSpPr>
          <p:nvPr>
            <p:ph type="body" idx="1"/>
          </p:nvPr>
        </p:nvSpPr>
        <p:spPr>
          <a:xfrm>
            <a:off x="-381000" y="1933575"/>
            <a:ext cx="9448800" cy="4057650"/>
          </a:xfrm>
        </p:spPr>
        <p:txBody>
          <a:bodyPr>
            <a:normAutofit fontScale="92500"/>
          </a:bodyPr>
          <a:lstStyle/>
          <a:p>
            <a:pPr marL="971550" lvl="1" indent="-514350" algn="ctr">
              <a:lnSpc>
                <a:spcPct val="90000"/>
              </a:lnSpc>
              <a:buFont typeface="+mj-lt"/>
              <a:buAutoNum type="arabicPeriod"/>
            </a:pPr>
            <a:r>
              <a:rPr lang="en-US" sz="3200" dirty="0"/>
              <a:t>Deductive Reasoning</a:t>
            </a:r>
          </a:p>
          <a:p>
            <a:pPr lvl="1">
              <a:lnSpc>
                <a:spcPct val="90000"/>
              </a:lnSpc>
              <a:buFontTx/>
              <a:buNone/>
            </a:pPr>
            <a:endParaRPr lang="en-US" sz="3200" dirty="0"/>
          </a:p>
          <a:p>
            <a:pPr lvl="1">
              <a:lnSpc>
                <a:spcPct val="90000"/>
              </a:lnSpc>
              <a:buFontTx/>
              <a:buNone/>
            </a:pPr>
            <a:r>
              <a:rPr lang="en-US" sz="3200" dirty="0"/>
              <a:t>Ethical Theory           Principle           Rules            Judgment</a:t>
            </a:r>
          </a:p>
          <a:p>
            <a:pPr>
              <a:lnSpc>
                <a:spcPct val="90000"/>
              </a:lnSpc>
              <a:buFont typeface="Wingdings" pitchFamily="2" charset="2"/>
              <a:buNone/>
            </a:pPr>
            <a:r>
              <a:rPr lang="en-US" sz="3200" dirty="0"/>
              <a:t>	</a:t>
            </a:r>
          </a:p>
          <a:p>
            <a:pPr>
              <a:lnSpc>
                <a:spcPct val="90000"/>
              </a:lnSpc>
              <a:buFont typeface="Wingdings" pitchFamily="2" charset="2"/>
              <a:buNone/>
            </a:pPr>
            <a:r>
              <a:rPr lang="en-US" sz="3200" dirty="0"/>
              <a:t>			         Peace	          Violence	       War</a:t>
            </a:r>
          </a:p>
          <a:p>
            <a:pPr algn="r">
              <a:lnSpc>
                <a:spcPct val="90000"/>
              </a:lnSpc>
              <a:buFont typeface="Wingdings" pitchFamily="2" charset="2"/>
              <a:buNone/>
            </a:pPr>
            <a:endParaRPr lang="en-US" sz="1400" dirty="0"/>
          </a:p>
          <a:p>
            <a:pPr algn="r">
              <a:lnSpc>
                <a:spcPct val="90000"/>
              </a:lnSpc>
              <a:buFont typeface="Wingdings" pitchFamily="2" charset="2"/>
              <a:buNone/>
            </a:pPr>
            <a:endParaRPr lang="en-US" sz="1400" dirty="0"/>
          </a:p>
          <a:p>
            <a:pPr algn="r">
              <a:lnSpc>
                <a:spcPct val="90000"/>
              </a:lnSpc>
              <a:buFont typeface="Wingdings" pitchFamily="2" charset="2"/>
              <a:buNone/>
            </a:pPr>
            <a:endParaRPr lang="en-US" sz="1400" dirty="0"/>
          </a:p>
          <a:p>
            <a:pPr algn="r">
              <a:lnSpc>
                <a:spcPct val="90000"/>
              </a:lnSpc>
              <a:buFont typeface="Wingdings" pitchFamily="2" charset="2"/>
              <a:buNone/>
            </a:pPr>
            <a:endParaRPr lang="en-US" sz="1400" dirty="0"/>
          </a:p>
          <a:p>
            <a:pPr algn="r">
              <a:lnSpc>
                <a:spcPct val="90000"/>
              </a:lnSpc>
              <a:buFont typeface="Wingdings" pitchFamily="2" charset="2"/>
              <a:buNone/>
            </a:pPr>
            <a:r>
              <a:rPr lang="en-US" sz="1400" dirty="0"/>
              <a:t>Jeff Cooper</a:t>
            </a:r>
          </a:p>
          <a:p>
            <a:pPr algn="r">
              <a:lnSpc>
                <a:spcPct val="90000"/>
              </a:lnSpc>
              <a:buFont typeface="Wingdings" pitchFamily="2" charset="2"/>
              <a:buNone/>
            </a:pPr>
            <a:r>
              <a:rPr lang="en-US" sz="1400" dirty="0"/>
              <a:t>Albany Medical Center, </a:t>
            </a:r>
            <a:r>
              <a:rPr lang="en-US" sz="1600" dirty="0"/>
              <a:t>Ethical Decision Making,</a:t>
            </a:r>
            <a:r>
              <a:rPr lang="en-US" sz="1400" dirty="0"/>
              <a:t> 2001, p. 2</a:t>
            </a:r>
          </a:p>
        </p:txBody>
      </p:sp>
      <p:sp>
        <p:nvSpPr>
          <p:cNvPr id="179204" name="AutoShape 4"/>
          <p:cNvSpPr>
            <a:spLocks noChangeArrowheads="1"/>
          </p:cNvSpPr>
          <p:nvPr/>
        </p:nvSpPr>
        <p:spPr bwMode="auto">
          <a:xfrm>
            <a:off x="2590800" y="2971800"/>
            <a:ext cx="381000" cy="533400"/>
          </a:xfrm>
          <a:prstGeom prst="rightArrow">
            <a:avLst>
              <a:gd name="adj1" fmla="val 50000"/>
              <a:gd name="adj2" fmla="val 25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79205" name="AutoShape 5"/>
          <p:cNvSpPr>
            <a:spLocks noChangeArrowheads="1"/>
          </p:cNvSpPr>
          <p:nvPr/>
        </p:nvSpPr>
        <p:spPr bwMode="auto">
          <a:xfrm>
            <a:off x="4932680" y="2971800"/>
            <a:ext cx="381000" cy="533400"/>
          </a:xfrm>
          <a:prstGeom prst="rightArrow">
            <a:avLst>
              <a:gd name="adj1" fmla="val 50000"/>
              <a:gd name="adj2" fmla="val 25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79206" name="AutoShape 6"/>
          <p:cNvSpPr>
            <a:spLocks noChangeArrowheads="1"/>
          </p:cNvSpPr>
          <p:nvPr/>
        </p:nvSpPr>
        <p:spPr bwMode="auto">
          <a:xfrm>
            <a:off x="6893560" y="2952750"/>
            <a:ext cx="381000" cy="533400"/>
          </a:xfrm>
          <a:prstGeom prst="rightArrow">
            <a:avLst>
              <a:gd name="adj1" fmla="val 50000"/>
              <a:gd name="adj2" fmla="val 25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79207" name="AutoShape 7"/>
          <p:cNvSpPr>
            <a:spLocks noChangeArrowheads="1"/>
          </p:cNvSpPr>
          <p:nvPr/>
        </p:nvSpPr>
        <p:spPr bwMode="auto">
          <a:xfrm>
            <a:off x="3505200" y="3962400"/>
            <a:ext cx="381000" cy="533400"/>
          </a:xfrm>
          <a:prstGeom prst="rightArrow">
            <a:avLst>
              <a:gd name="adj1" fmla="val 50000"/>
              <a:gd name="adj2" fmla="val 25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79208" name="AutoShape 8"/>
          <p:cNvSpPr>
            <a:spLocks noChangeArrowheads="1"/>
          </p:cNvSpPr>
          <p:nvPr/>
        </p:nvSpPr>
        <p:spPr bwMode="auto">
          <a:xfrm>
            <a:off x="5905500" y="3966210"/>
            <a:ext cx="381000" cy="533400"/>
          </a:xfrm>
          <a:prstGeom prst="rightArrow">
            <a:avLst>
              <a:gd name="adj1" fmla="val 50000"/>
              <a:gd name="adj2" fmla="val 25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Tree>
    <p:extLst>
      <p:ext uri="{BB962C8B-B14F-4D97-AF65-F5344CB8AC3E}">
        <p14:creationId xmlns:p14="http://schemas.microsoft.com/office/powerpoint/2010/main" val="4194878361"/>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Grp="1" noChangeArrowheads="1"/>
          </p:cNvSpPr>
          <p:nvPr>
            <p:ph type="title"/>
          </p:nvPr>
        </p:nvSpPr>
        <p:spPr>
          <a:xfrm>
            <a:off x="812800" y="609600"/>
            <a:ext cx="8331200" cy="628650"/>
          </a:xfrm>
        </p:spPr>
        <p:txBody>
          <a:bodyPr>
            <a:normAutofit fontScale="90000"/>
          </a:bodyPr>
          <a:lstStyle/>
          <a:p>
            <a:r>
              <a:rPr lang="en-US" sz="4400" b="0" dirty="0"/>
              <a:t>Research Ethics</a:t>
            </a:r>
          </a:p>
        </p:txBody>
      </p:sp>
      <p:sp>
        <p:nvSpPr>
          <p:cNvPr id="180227" name="Rectangle 3"/>
          <p:cNvSpPr>
            <a:spLocks noGrp="1" noChangeArrowheads="1"/>
          </p:cNvSpPr>
          <p:nvPr>
            <p:ph type="body" idx="1"/>
          </p:nvPr>
        </p:nvSpPr>
        <p:spPr>
          <a:xfrm>
            <a:off x="685800" y="1695450"/>
            <a:ext cx="7848600" cy="4495800"/>
          </a:xfrm>
        </p:spPr>
        <p:txBody>
          <a:bodyPr/>
          <a:lstStyle/>
          <a:p>
            <a:pPr marL="971550" lvl="1" indent="-514350" algn="ctr">
              <a:buFont typeface="+mj-lt"/>
              <a:buAutoNum type="arabicPeriod" startAt="2"/>
            </a:pPr>
            <a:r>
              <a:rPr lang="en-US" sz="3200" dirty="0"/>
              <a:t>Inductive or Case-based Reasoning</a:t>
            </a:r>
          </a:p>
          <a:p>
            <a:pPr lvl="1">
              <a:buClr>
                <a:srgbClr val="FF3399"/>
              </a:buClr>
              <a:buFont typeface="Wingdings" pitchFamily="2" charset="2"/>
              <a:buChar char="v"/>
            </a:pPr>
            <a:r>
              <a:rPr lang="en-US" sz="2800" dirty="0"/>
              <a:t>Decisions we have made – precedent</a:t>
            </a:r>
          </a:p>
          <a:p>
            <a:pPr lvl="1">
              <a:buClr>
                <a:srgbClr val="FF3399"/>
              </a:buClr>
              <a:buFont typeface="Wingdings" pitchFamily="2" charset="2"/>
              <a:buChar char="v"/>
            </a:pPr>
            <a:r>
              <a:rPr lang="en-US" sz="2800" dirty="0"/>
              <a:t>Look back at those decisions and combine them in order to make a judgment</a:t>
            </a:r>
          </a:p>
          <a:p>
            <a:pPr lvl="1">
              <a:buClr>
                <a:srgbClr val="FF3399"/>
              </a:buClr>
              <a:buFont typeface="Wingdings" pitchFamily="2" charset="2"/>
              <a:buChar char="v"/>
            </a:pPr>
            <a:r>
              <a:rPr lang="en-US" sz="2800" dirty="0"/>
              <a:t>Judgments reflect back on rules</a:t>
            </a:r>
          </a:p>
          <a:p>
            <a:pPr lvl="1">
              <a:buClr>
                <a:srgbClr val="FF3399"/>
              </a:buClr>
              <a:buFont typeface="Wingdings" pitchFamily="2" charset="2"/>
              <a:buChar char="v"/>
            </a:pPr>
            <a:r>
              <a:rPr lang="en-US" sz="2800" dirty="0"/>
              <a:t>Rules reflect on our principles</a:t>
            </a:r>
          </a:p>
          <a:p>
            <a:pPr lvl="1">
              <a:buClr>
                <a:srgbClr val="FF3399"/>
              </a:buClr>
              <a:buFont typeface="Wingdings" pitchFamily="2" charset="2"/>
              <a:buChar char="v"/>
            </a:pPr>
            <a:r>
              <a:rPr lang="en-US" sz="2800" dirty="0"/>
              <a:t>Principles reflect back to the ethical theory</a:t>
            </a:r>
          </a:p>
          <a:p>
            <a:pPr lvl="1" algn="r">
              <a:buClr>
                <a:srgbClr val="FF3399"/>
              </a:buClr>
              <a:buFont typeface="Wingdings" pitchFamily="2" charset="2"/>
              <a:buNone/>
            </a:pPr>
            <a:endParaRPr lang="en-US" sz="1200" dirty="0"/>
          </a:p>
          <a:p>
            <a:pPr lvl="1" algn="r">
              <a:buClr>
                <a:srgbClr val="FF3399"/>
              </a:buClr>
              <a:buFont typeface="Wingdings" pitchFamily="2" charset="2"/>
              <a:buNone/>
            </a:pPr>
            <a:r>
              <a:rPr lang="en-US" sz="1600" dirty="0"/>
              <a:t>Jeff Cooper</a:t>
            </a:r>
          </a:p>
          <a:p>
            <a:pPr algn="r">
              <a:buFont typeface="Wingdings" pitchFamily="2" charset="2"/>
              <a:buNone/>
            </a:pPr>
            <a:r>
              <a:rPr lang="en-US" sz="1600" dirty="0"/>
              <a:t>Albany Medical Center, Ethical Decision Making, 2001, p. 2</a:t>
            </a:r>
          </a:p>
        </p:txBody>
      </p:sp>
    </p:spTree>
    <p:extLst>
      <p:ext uri="{BB962C8B-B14F-4D97-AF65-F5344CB8AC3E}">
        <p14:creationId xmlns:p14="http://schemas.microsoft.com/office/powerpoint/2010/main" val="1192614556"/>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ChangeArrowheads="1"/>
          </p:cNvSpPr>
          <p:nvPr>
            <p:ph type="title"/>
          </p:nvPr>
        </p:nvSpPr>
        <p:spPr>
          <a:xfrm>
            <a:off x="812800" y="742950"/>
            <a:ext cx="8331200" cy="628650"/>
          </a:xfrm>
        </p:spPr>
        <p:txBody>
          <a:bodyPr>
            <a:normAutofit fontScale="90000"/>
          </a:bodyPr>
          <a:lstStyle/>
          <a:p>
            <a:r>
              <a:rPr lang="en-US" sz="4400" b="0"/>
              <a:t>Research Ethics</a:t>
            </a:r>
          </a:p>
        </p:txBody>
      </p:sp>
      <p:sp>
        <p:nvSpPr>
          <p:cNvPr id="181251" name="Rectangle 3"/>
          <p:cNvSpPr>
            <a:spLocks noGrp="1" noChangeArrowheads="1"/>
          </p:cNvSpPr>
          <p:nvPr>
            <p:ph type="body" idx="1"/>
          </p:nvPr>
        </p:nvSpPr>
        <p:spPr>
          <a:xfrm>
            <a:off x="685800" y="1905000"/>
            <a:ext cx="7848600" cy="4495800"/>
          </a:xfrm>
        </p:spPr>
        <p:txBody>
          <a:bodyPr/>
          <a:lstStyle/>
          <a:p>
            <a:pPr marL="971550" lvl="1" indent="-514350" algn="ctr">
              <a:lnSpc>
                <a:spcPct val="90000"/>
              </a:lnSpc>
              <a:buFont typeface="+mj-lt"/>
              <a:buAutoNum type="arabicPeriod" startAt="2"/>
            </a:pPr>
            <a:r>
              <a:rPr lang="en-US" sz="3200" dirty="0"/>
              <a:t>Inductive or Case Based Reasoning</a:t>
            </a:r>
          </a:p>
          <a:p>
            <a:pPr lvl="1">
              <a:lnSpc>
                <a:spcPct val="90000"/>
              </a:lnSpc>
              <a:buClr>
                <a:srgbClr val="FF3399"/>
              </a:buClr>
              <a:buFont typeface="Wingdings" pitchFamily="2" charset="2"/>
              <a:buChar char="v"/>
            </a:pPr>
            <a:r>
              <a:rPr lang="en-US" sz="2800" dirty="0"/>
              <a:t>Decisions we have made – avoid war and move to Canada (U.S. declares war on Canada)</a:t>
            </a:r>
          </a:p>
          <a:p>
            <a:pPr lvl="1">
              <a:lnSpc>
                <a:spcPct val="90000"/>
              </a:lnSpc>
              <a:buClr>
                <a:srgbClr val="FF3399"/>
              </a:buClr>
              <a:buFont typeface="Wingdings" pitchFamily="2" charset="2"/>
              <a:buChar char="v"/>
            </a:pPr>
            <a:r>
              <a:rPr lang="en-US" sz="2800" dirty="0"/>
              <a:t>Judgment – defend yourself</a:t>
            </a:r>
          </a:p>
          <a:p>
            <a:pPr lvl="1">
              <a:lnSpc>
                <a:spcPct val="90000"/>
              </a:lnSpc>
              <a:buClr>
                <a:srgbClr val="FF3399"/>
              </a:buClr>
              <a:buFont typeface="Wingdings" pitchFamily="2" charset="2"/>
              <a:buChar char="v"/>
            </a:pPr>
            <a:r>
              <a:rPr lang="en-US" sz="2800" dirty="0"/>
              <a:t>Rule – join Army (protect children)</a:t>
            </a:r>
          </a:p>
          <a:p>
            <a:pPr lvl="1">
              <a:lnSpc>
                <a:spcPct val="90000"/>
              </a:lnSpc>
              <a:buClr>
                <a:srgbClr val="FF3399"/>
              </a:buClr>
              <a:buFont typeface="Wingdings" pitchFamily="2" charset="2"/>
              <a:buChar char="v"/>
            </a:pPr>
            <a:r>
              <a:rPr lang="en-US" sz="2800" dirty="0"/>
              <a:t>Principles – family important</a:t>
            </a:r>
          </a:p>
          <a:p>
            <a:pPr lvl="1">
              <a:lnSpc>
                <a:spcPct val="90000"/>
              </a:lnSpc>
              <a:buClr>
                <a:srgbClr val="FF3399"/>
              </a:buClr>
              <a:buFont typeface="Wingdings" pitchFamily="2" charset="2"/>
              <a:buChar char="v"/>
            </a:pPr>
            <a:r>
              <a:rPr lang="en-US" sz="2800" dirty="0"/>
              <a:t>Ethical theory</a:t>
            </a:r>
          </a:p>
          <a:p>
            <a:pPr lvl="1" algn="r">
              <a:lnSpc>
                <a:spcPct val="90000"/>
              </a:lnSpc>
              <a:buClr>
                <a:srgbClr val="FF3399"/>
              </a:buClr>
              <a:buFont typeface="Wingdings" pitchFamily="2" charset="2"/>
              <a:buNone/>
            </a:pPr>
            <a:endParaRPr lang="en-US" sz="1200" dirty="0"/>
          </a:p>
          <a:p>
            <a:pPr lvl="1" algn="r">
              <a:lnSpc>
                <a:spcPct val="90000"/>
              </a:lnSpc>
              <a:buClr>
                <a:srgbClr val="FF3399"/>
              </a:buClr>
              <a:buFont typeface="Wingdings" pitchFamily="2" charset="2"/>
              <a:buNone/>
            </a:pPr>
            <a:r>
              <a:rPr lang="en-US" sz="1600" dirty="0"/>
              <a:t>Jeff Cooper</a:t>
            </a:r>
          </a:p>
          <a:p>
            <a:pPr algn="r">
              <a:lnSpc>
                <a:spcPct val="90000"/>
              </a:lnSpc>
              <a:buFont typeface="Wingdings" pitchFamily="2" charset="2"/>
              <a:buNone/>
            </a:pPr>
            <a:r>
              <a:rPr lang="en-US" sz="1600" dirty="0"/>
              <a:t>Albany Medical Center, Ethical Decision making, 2001, p. 2</a:t>
            </a:r>
          </a:p>
        </p:txBody>
      </p:sp>
    </p:spTree>
    <p:extLst>
      <p:ext uri="{BB962C8B-B14F-4D97-AF65-F5344CB8AC3E}">
        <p14:creationId xmlns:p14="http://schemas.microsoft.com/office/powerpoint/2010/main" val="1010244744"/>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noChangeArrowheads="1"/>
          </p:cNvSpPr>
          <p:nvPr>
            <p:ph type="title"/>
          </p:nvPr>
        </p:nvSpPr>
        <p:spPr>
          <a:xfrm>
            <a:off x="533400" y="76200"/>
            <a:ext cx="8331200" cy="628650"/>
          </a:xfrm>
        </p:spPr>
        <p:txBody>
          <a:bodyPr>
            <a:normAutofit fontScale="90000"/>
          </a:bodyPr>
          <a:lstStyle/>
          <a:p>
            <a:r>
              <a:rPr lang="en-US" sz="4400" b="0" dirty="0"/>
              <a:t>Research Ethics</a:t>
            </a:r>
          </a:p>
        </p:txBody>
      </p:sp>
      <p:sp>
        <p:nvSpPr>
          <p:cNvPr id="185347" name="Rectangle 3"/>
          <p:cNvSpPr>
            <a:spLocks noGrp="1" noChangeArrowheads="1"/>
          </p:cNvSpPr>
          <p:nvPr>
            <p:ph type="body" idx="1"/>
          </p:nvPr>
        </p:nvSpPr>
        <p:spPr>
          <a:xfrm>
            <a:off x="685800" y="2362200"/>
            <a:ext cx="7848600" cy="4495800"/>
          </a:xfrm>
        </p:spPr>
        <p:txBody>
          <a:bodyPr/>
          <a:lstStyle/>
          <a:p>
            <a:pPr lvl="1" algn="ctr">
              <a:lnSpc>
                <a:spcPct val="90000"/>
              </a:lnSpc>
              <a:buFontTx/>
              <a:buNone/>
            </a:pPr>
            <a:r>
              <a:rPr lang="en-US" sz="3600" dirty="0"/>
              <a:t>Conflict Between Decisions</a:t>
            </a:r>
          </a:p>
          <a:p>
            <a:pPr lvl="1">
              <a:lnSpc>
                <a:spcPct val="90000"/>
              </a:lnSpc>
              <a:buClr>
                <a:srgbClr val="FF3399"/>
              </a:buClr>
              <a:buFont typeface="Wingdings" pitchFamily="2" charset="2"/>
              <a:buChar char="v"/>
            </a:pPr>
            <a:r>
              <a:rPr lang="en-US" sz="3200" dirty="0"/>
              <a:t>When there is an argument</a:t>
            </a:r>
          </a:p>
          <a:p>
            <a:pPr lvl="1">
              <a:lnSpc>
                <a:spcPct val="90000"/>
              </a:lnSpc>
              <a:buClr>
                <a:srgbClr val="FF3399"/>
              </a:buClr>
              <a:buFont typeface="Wingdings" pitchFamily="2" charset="2"/>
              <a:buChar char="v"/>
            </a:pPr>
            <a:r>
              <a:rPr lang="en-US" sz="3200" dirty="0"/>
              <a:t>Go back to the original principles – ask yourself “What were my original principles?”</a:t>
            </a:r>
          </a:p>
          <a:p>
            <a:pPr lvl="1">
              <a:lnSpc>
                <a:spcPct val="90000"/>
              </a:lnSpc>
              <a:buClr>
                <a:srgbClr val="FF3399"/>
              </a:buClr>
              <a:buFont typeface="Wingdings" pitchFamily="2" charset="2"/>
              <a:buChar char="v"/>
            </a:pPr>
            <a:r>
              <a:rPr lang="en-US" sz="3200" dirty="0"/>
              <a:t>Original principles are in conflict or “incoherent”</a:t>
            </a:r>
          </a:p>
          <a:p>
            <a:pPr lvl="1" algn="r">
              <a:lnSpc>
                <a:spcPct val="90000"/>
              </a:lnSpc>
              <a:buClr>
                <a:srgbClr val="FF3399"/>
              </a:buClr>
              <a:buFont typeface="Wingdings" pitchFamily="2" charset="2"/>
              <a:buNone/>
            </a:pPr>
            <a:endParaRPr lang="en-US" sz="1400" dirty="0"/>
          </a:p>
          <a:p>
            <a:pPr lvl="1" algn="r">
              <a:lnSpc>
                <a:spcPct val="90000"/>
              </a:lnSpc>
              <a:buClr>
                <a:srgbClr val="FF3399"/>
              </a:buClr>
              <a:buFont typeface="Wingdings" pitchFamily="2" charset="2"/>
              <a:buNone/>
            </a:pPr>
            <a:r>
              <a:rPr lang="en-US" sz="1600" dirty="0"/>
              <a:t>Jeff Cooper</a:t>
            </a:r>
          </a:p>
          <a:p>
            <a:pPr algn="r">
              <a:lnSpc>
                <a:spcPct val="90000"/>
              </a:lnSpc>
              <a:buFont typeface="Wingdings" pitchFamily="2" charset="2"/>
              <a:buNone/>
            </a:pPr>
            <a:r>
              <a:rPr lang="en-US" sz="1600" dirty="0"/>
              <a:t>Albany Medical Center, Ethical Decision Making, 2001, p. 3</a:t>
            </a:r>
          </a:p>
        </p:txBody>
      </p:sp>
      <p:sp>
        <p:nvSpPr>
          <p:cNvPr id="4" name="Rectangle 3"/>
          <p:cNvSpPr txBox="1">
            <a:spLocks noChangeArrowheads="1"/>
          </p:cNvSpPr>
          <p:nvPr/>
        </p:nvSpPr>
        <p:spPr>
          <a:xfrm>
            <a:off x="304800" y="940087"/>
            <a:ext cx="4152900" cy="1752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itchFamily="2" charset="2"/>
              <a:buNone/>
            </a:pPr>
            <a:r>
              <a:rPr lang="en-US" sz="2800" dirty="0"/>
              <a:t>Principle-based reasoning</a:t>
            </a:r>
          </a:p>
          <a:p>
            <a:pPr lvl="1">
              <a:buFontTx/>
              <a:buNone/>
            </a:pPr>
            <a:r>
              <a:rPr lang="en-US" sz="2400" dirty="0"/>
              <a:t>No WAR!</a:t>
            </a:r>
          </a:p>
        </p:txBody>
      </p:sp>
      <p:sp>
        <p:nvSpPr>
          <p:cNvPr id="5" name="Rectangle 4"/>
          <p:cNvSpPr txBox="1">
            <a:spLocks noChangeArrowheads="1"/>
          </p:cNvSpPr>
          <p:nvPr/>
        </p:nvSpPr>
        <p:spPr>
          <a:xfrm>
            <a:off x="5562602" y="940087"/>
            <a:ext cx="4038600" cy="22098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itchFamily="2" charset="2"/>
              <a:buNone/>
            </a:pPr>
            <a:r>
              <a:rPr lang="en-US" sz="2800" dirty="0"/>
              <a:t>Case Based Reasoning</a:t>
            </a:r>
          </a:p>
          <a:p>
            <a:pPr lvl="1">
              <a:buFontTx/>
              <a:buNone/>
            </a:pPr>
            <a:r>
              <a:rPr lang="en-US" sz="2400" dirty="0"/>
              <a:t>Fight WAR!</a:t>
            </a:r>
          </a:p>
        </p:txBody>
      </p:sp>
      <p:sp>
        <p:nvSpPr>
          <p:cNvPr id="6" name="AutoShape 5"/>
          <p:cNvSpPr>
            <a:spLocks noChangeArrowheads="1"/>
          </p:cNvSpPr>
          <p:nvPr/>
        </p:nvSpPr>
        <p:spPr bwMode="auto">
          <a:xfrm>
            <a:off x="4457700" y="978308"/>
            <a:ext cx="944880" cy="584775"/>
          </a:xfrm>
          <a:prstGeom prst="rightArrow">
            <a:avLst>
              <a:gd name="adj1" fmla="val 50000"/>
              <a:gd name="adj2"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600"/>
          </a:p>
        </p:txBody>
      </p:sp>
      <p:sp>
        <p:nvSpPr>
          <p:cNvPr id="7" name="Text Box 6"/>
          <p:cNvSpPr txBox="1">
            <a:spLocks noChangeArrowheads="1"/>
          </p:cNvSpPr>
          <p:nvPr/>
        </p:nvSpPr>
        <p:spPr bwMode="auto">
          <a:xfrm>
            <a:off x="3581399" y="1523999"/>
            <a:ext cx="25146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sz="3200" dirty="0">
                <a:solidFill>
                  <a:srgbClr val="FF3399"/>
                </a:solidFill>
              </a:rPr>
              <a:t>Conflict</a:t>
            </a:r>
          </a:p>
        </p:txBody>
      </p:sp>
    </p:spTree>
    <p:extLst>
      <p:ext uri="{BB962C8B-B14F-4D97-AF65-F5344CB8AC3E}">
        <p14:creationId xmlns:p14="http://schemas.microsoft.com/office/powerpoint/2010/main" val="65563349"/>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Grp="1" noChangeArrowheads="1"/>
          </p:cNvSpPr>
          <p:nvPr>
            <p:ph type="title"/>
          </p:nvPr>
        </p:nvSpPr>
        <p:spPr>
          <a:xfrm>
            <a:off x="812800" y="742950"/>
            <a:ext cx="8331200" cy="628650"/>
          </a:xfrm>
        </p:spPr>
        <p:txBody>
          <a:bodyPr>
            <a:normAutofit fontScale="90000"/>
          </a:bodyPr>
          <a:lstStyle/>
          <a:p>
            <a:r>
              <a:rPr lang="en-US" sz="4400" b="0"/>
              <a:t>Research Ethics</a:t>
            </a:r>
          </a:p>
        </p:txBody>
      </p:sp>
      <p:sp>
        <p:nvSpPr>
          <p:cNvPr id="186371" name="Rectangle 3"/>
          <p:cNvSpPr>
            <a:spLocks noGrp="1" noChangeArrowheads="1"/>
          </p:cNvSpPr>
          <p:nvPr>
            <p:ph type="body" idx="1"/>
          </p:nvPr>
        </p:nvSpPr>
        <p:spPr>
          <a:xfrm>
            <a:off x="685800" y="1752600"/>
            <a:ext cx="7848600" cy="4495800"/>
          </a:xfrm>
        </p:spPr>
        <p:txBody>
          <a:bodyPr/>
          <a:lstStyle/>
          <a:p>
            <a:pPr lvl="1" algn="ctr">
              <a:lnSpc>
                <a:spcPct val="90000"/>
              </a:lnSpc>
              <a:buFontTx/>
              <a:buNone/>
            </a:pPr>
            <a:r>
              <a:rPr lang="en-US" sz="3200" dirty="0"/>
              <a:t>Conflict Between Decisions</a:t>
            </a:r>
          </a:p>
          <a:p>
            <a:pPr lvl="1">
              <a:lnSpc>
                <a:spcPct val="90000"/>
              </a:lnSpc>
              <a:buClr>
                <a:srgbClr val="FF3399"/>
              </a:buClr>
              <a:buFont typeface="Wingdings" pitchFamily="2" charset="2"/>
              <a:buChar char="v"/>
            </a:pPr>
            <a:r>
              <a:rPr lang="en-US" sz="2800" dirty="0"/>
              <a:t>There will be conflict</a:t>
            </a:r>
          </a:p>
          <a:p>
            <a:pPr lvl="1">
              <a:lnSpc>
                <a:spcPct val="90000"/>
              </a:lnSpc>
              <a:buClr>
                <a:srgbClr val="FF3399"/>
              </a:buClr>
              <a:buFont typeface="Wingdings" pitchFamily="2" charset="2"/>
              <a:buChar char="v"/>
            </a:pPr>
            <a:r>
              <a:rPr lang="en-US" sz="2800" dirty="0"/>
              <a:t>You will use both types of ethical decision-making to make decisions</a:t>
            </a:r>
          </a:p>
          <a:p>
            <a:pPr lvl="1">
              <a:lnSpc>
                <a:spcPct val="90000"/>
              </a:lnSpc>
              <a:buClr>
                <a:srgbClr val="FF3399"/>
              </a:buClr>
              <a:buFont typeface="Wingdings" pitchFamily="2" charset="2"/>
              <a:buChar char="v"/>
            </a:pPr>
            <a:r>
              <a:rPr lang="en-US" sz="2800" dirty="0"/>
              <a:t>When conflict arises…go back to the original principles and try to create coherence by dealing with the specific principles</a:t>
            </a:r>
          </a:p>
          <a:p>
            <a:pPr lvl="1" algn="r">
              <a:lnSpc>
                <a:spcPct val="90000"/>
              </a:lnSpc>
              <a:buClr>
                <a:srgbClr val="FF3399"/>
              </a:buClr>
              <a:buFont typeface="Wingdings" pitchFamily="2" charset="2"/>
              <a:buNone/>
            </a:pPr>
            <a:endParaRPr lang="en-US" sz="1200" dirty="0"/>
          </a:p>
          <a:p>
            <a:pPr lvl="1" algn="r">
              <a:lnSpc>
                <a:spcPct val="90000"/>
              </a:lnSpc>
              <a:buClr>
                <a:srgbClr val="FF3399"/>
              </a:buClr>
              <a:buFont typeface="Wingdings" pitchFamily="2" charset="2"/>
              <a:buNone/>
            </a:pPr>
            <a:r>
              <a:rPr lang="en-US" sz="1600" dirty="0"/>
              <a:t>Jeff Cooper</a:t>
            </a:r>
          </a:p>
          <a:p>
            <a:pPr algn="r">
              <a:lnSpc>
                <a:spcPct val="90000"/>
              </a:lnSpc>
              <a:buFont typeface="Wingdings" pitchFamily="2" charset="2"/>
              <a:buNone/>
            </a:pPr>
            <a:r>
              <a:rPr lang="en-US" sz="1600" dirty="0"/>
              <a:t>Albany Medical Center, Ethical Decision Making 2001, p. 3</a:t>
            </a:r>
          </a:p>
        </p:txBody>
      </p:sp>
    </p:spTree>
    <p:extLst>
      <p:ext uri="{BB962C8B-B14F-4D97-AF65-F5344CB8AC3E}">
        <p14:creationId xmlns:p14="http://schemas.microsoft.com/office/powerpoint/2010/main" val="3292204535"/>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p:cNvGrpSpPr/>
          <p:nvPr/>
        </p:nvGrpSpPr>
        <p:grpSpPr>
          <a:xfrm>
            <a:off x="2997200" y="1866900"/>
            <a:ext cx="3263900" cy="3523184"/>
            <a:chOff x="2997200" y="1866900"/>
            <a:chExt cx="3263900" cy="3213100"/>
          </a:xfrm>
          <a:solidFill>
            <a:srgbClr val="FF6600"/>
          </a:solidFill>
        </p:grpSpPr>
        <p:sp>
          <p:nvSpPr>
            <p:cNvPr id="10" name="Down Arrow Callout 9"/>
            <p:cNvSpPr/>
            <p:nvPr/>
          </p:nvSpPr>
          <p:spPr>
            <a:xfrm>
              <a:off x="3543300" y="3943529"/>
              <a:ext cx="2120900" cy="1136471"/>
            </a:xfrm>
            <a:prstGeom prst="downArrowCallout">
              <a:avLst/>
            </a:prstGeom>
            <a:grpFill/>
            <a:ln>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dirty="0"/>
            </a:p>
          </p:txBody>
        </p:sp>
        <p:grpSp>
          <p:nvGrpSpPr>
            <p:cNvPr id="12" name="Group 11"/>
            <p:cNvGrpSpPr/>
            <p:nvPr/>
          </p:nvGrpSpPr>
          <p:grpSpPr>
            <a:xfrm>
              <a:off x="2997200" y="1866900"/>
              <a:ext cx="3263900" cy="2060824"/>
              <a:chOff x="2997200" y="1866900"/>
              <a:chExt cx="3263900" cy="2060824"/>
            </a:xfrm>
            <a:grpFill/>
          </p:grpSpPr>
          <p:sp>
            <p:nvSpPr>
              <p:cNvPr id="6" name="Left Arrow Callout 5"/>
              <p:cNvSpPr/>
              <p:nvPr/>
            </p:nvSpPr>
            <p:spPr>
              <a:xfrm>
                <a:off x="2997200" y="2692400"/>
                <a:ext cx="1518424" cy="1235324"/>
              </a:xfrm>
              <a:prstGeom prst="leftArrowCallout">
                <a:avLst/>
              </a:prstGeom>
              <a:grpFill/>
              <a:ln>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dirty="0"/>
              </a:p>
            </p:txBody>
          </p:sp>
          <p:sp>
            <p:nvSpPr>
              <p:cNvPr id="8" name="Right Arrow Callout 7"/>
              <p:cNvSpPr/>
              <p:nvPr/>
            </p:nvSpPr>
            <p:spPr>
              <a:xfrm>
                <a:off x="4515624" y="2692400"/>
                <a:ext cx="1745476" cy="1235324"/>
              </a:xfrm>
              <a:prstGeom prst="rightArrowCallout">
                <a:avLst/>
              </a:prstGeom>
              <a:grpFill/>
              <a:ln>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dirty="0"/>
              </a:p>
            </p:txBody>
          </p:sp>
          <p:sp>
            <p:nvSpPr>
              <p:cNvPr id="11" name="Up Arrow Callout 10"/>
              <p:cNvSpPr/>
              <p:nvPr/>
            </p:nvSpPr>
            <p:spPr>
              <a:xfrm>
                <a:off x="3543300" y="1866900"/>
                <a:ext cx="2120900" cy="1155700"/>
              </a:xfrm>
              <a:prstGeom prst="upArrowCallout">
                <a:avLst/>
              </a:prstGeom>
              <a:grpFill/>
              <a:ln>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dirty="0"/>
              </a:p>
            </p:txBody>
          </p:sp>
        </p:grpSp>
      </p:grpSp>
      <p:sp>
        <p:nvSpPr>
          <p:cNvPr id="9" name="TextBox 8"/>
          <p:cNvSpPr txBox="1"/>
          <p:nvPr/>
        </p:nvSpPr>
        <p:spPr>
          <a:xfrm>
            <a:off x="3708400" y="2687072"/>
            <a:ext cx="1841500" cy="1569660"/>
          </a:xfrm>
          <a:prstGeom prst="rect">
            <a:avLst/>
          </a:prstGeom>
          <a:noFill/>
        </p:spPr>
        <p:txBody>
          <a:bodyPr wrap="square" rtlCol="0">
            <a:spAutoFit/>
          </a:bodyPr>
          <a:lstStyle/>
          <a:p>
            <a:pPr algn="ctr"/>
            <a:r>
              <a:rPr lang="en-US" sz="2400" b="1" dirty="0">
                <a:solidFill>
                  <a:schemeClr val="bg1"/>
                </a:solidFill>
              </a:rPr>
              <a:t>K</a:t>
            </a:r>
            <a:r>
              <a:rPr lang="en-ZA" sz="2400" b="1" dirty="0">
                <a:solidFill>
                  <a:schemeClr val="bg1"/>
                </a:solidFill>
              </a:rPr>
              <a:t>ey Features of Scientific Research</a:t>
            </a:r>
          </a:p>
        </p:txBody>
      </p:sp>
      <p:sp>
        <p:nvSpPr>
          <p:cNvPr id="14" name="TextBox 13"/>
          <p:cNvSpPr txBox="1"/>
          <p:nvPr/>
        </p:nvSpPr>
        <p:spPr>
          <a:xfrm>
            <a:off x="6261100" y="2070100"/>
            <a:ext cx="2654300" cy="2923877"/>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ZA" sz="2000" b="1" dirty="0"/>
              <a:t>Univesality and objectivity</a:t>
            </a:r>
            <a:r>
              <a:rPr lang="en-ZA" dirty="0"/>
              <a:t> </a:t>
            </a:r>
            <a:r>
              <a:rPr lang="en-US" dirty="0"/>
              <a:t>(</a:t>
            </a:r>
            <a:r>
              <a:rPr lang="en-ZA" dirty="0">
                <a:solidFill>
                  <a:srgbClr val="C00000"/>
                </a:solidFill>
              </a:rPr>
              <a:t>explicit rules and systematic procedures</a:t>
            </a:r>
            <a:r>
              <a:rPr lang="en-ZA" dirty="0"/>
              <a:t>) </a:t>
            </a:r>
          </a:p>
          <a:p>
            <a:r>
              <a:rPr lang="en-ZA" dirty="0"/>
              <a:t>- </a:t>
            </a:r>
            <a:r>
              <a:rPr lang="en-US" dirty="0"/>
              <a:t>R</a:t>
            </a:r>
            <a:r>
              <a:rPr lang="en-ZA" dirty="0"/>
              <a:t>esearch should be designed in a manner that allows any competent researcher to conduct a similar study and </a:t>
            </a:r>
            <a:r>
              <a:rPr lang="en-ZA" dirty="0">
                <a:solidFill>
                  <a:srgbClr val="C00000"/>
                </a:solidFill>
              </a:rPr>
              <a:t>generate the same findings</a:t>
            </a:r>
          </a:p>
        </p:txBody>
      </p:sp>
      <p:sp>
        <p:nvSpPr>
          <p:cNvPr id="16" name="TextBox 15"/>
          <p:cNvSpPr txBox="1"/>
          <p:nvPr/>
        </p:nvSpPr>
        <p:spPr>
          <a:xfrm>
            <a:off x="203200" y="2222497"/>
            <a:ext cx="2794000" cy="233910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ZA" sz="2000" b="1" dirty="0"/>
              <a:t>Scientific Rigour </a:t>
            </a:r>
            <a:r>
              <a:rPr lang="en-US" dirty="0"/>
              <a:t>(</a:t>
            </a:r>
            <a:r>
              <a:rPr lang="en-US" dirty="0">
                <a:solidFill>
                  <a:srgbClr val="C00000"/>
                </a:solidFill>
              </a:rPr>
              <a:t>truth</a:t>
            </a:r>
            <a:r>
              <a:rPr lang="en-US" dirty="0"/>
              <a:t> is accepted if there is </a:t>
            </a:r>
            <a:r>
              <a:rPr lang="en-US" dirty="0">
                <a:solidFill>
                  <a:srgbClr val="C00000"/>
                </a:solidFill>
              </a:rPr>
              <a:t>sufficient evidence to support claims </a:t>
            </a:r>
            <a:r>
              <a:rPr lang="en-US" dirty="0"/>
              <a:t>made through the research process. Such claims have to withstand the scrutiny of repeated testing)</a:t>
            </a:r>
            <a:endParaRPr lang="en-ZA" dirty="0"/>
          </a:p>
        </p:txBody>
      </p:sp>
      <p:sp>
        <p:nvSpPr>
          <p:cNvPr id="17" name="TextBox 16"/>
          <p:cNvSpPr txBox="1"/>
          <p:nvPr/>
        </p:nvSpPr>
        <p:spPr>
          <a:xfrm>
            <a:off x="2387598" y="648841"/>
            <a:ext cx="4318000" cy="1231106"/>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ZA" sz="2000" b="1" dirty="0"/>
              <a:t>Generalisability of findings</a:t>
            </a:r>
            <a:r>
              <a:rPr lang="en-US" dirty="0"/>
              <a:t>: the extent to which the sample used in the research project reflects </a:t>
            </a:r>
            <a:r>
              <a:rPr lang="en-US" dirty="0">
                <a:solidFill>
                  <a:srgbClr val="C00000"/>
                </a:solidFill>
              </a:rPr>
              <a:t>the broader population of interest</a:t>
            </a:r>
            <a:endParaRPr lang="en-ZA" dirty="0">
              <a:solidFill>
                <a:srgbClr val="C00000"/>
              </a:solidFill>
            </a:endParaRPr>
          </a:p>
        </p:txBody>
      </p:sp>
      <p:sp>
        <p:nvSpPr>
          <p:cNvPr id="18" name="TextBox 17"/>
          <p:cNvSpPr txBox="1"/>
          <p:nvPr/>
        </p:nvSpPr>
        <p:spPr>
          <a:xfrm>
            <a:off x="2082797" y="5390084"/>
            <a:ext cx="4927600" cy="1231106"/>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ZA" sz="2000" b="1" dirty="0"/>
              <a:t>Originality of research work</a:t>
            </a:r>
            <a:r>
              <a:rPr lang="en-US" dirty="0"/>
              <a:t>: original ideas backed with appropriate evidence in a clear, logical and convincing argument that </a:t>
            </a:r>
            <a:r>
              <a:rPr lang="en-US" dirty="0">
                <a:solidFill>
                  <a:srgbClr val="C00000"/>
                </a:solidFill>
              </a:rPr>
              <a:t>illustrates critical and analytical thinking.</a:t>
            </a:r>
            <a:endParaRPr lang="en-ZA" dirty="0">
              <a:solidFill>
                <a:srgbClr val="C00000"/>
              </a:solidFill>
            </a:endParaRPr>
          </a:p>
        </p:txBody>
      </p:sp>
    </p:spTree>
    <p:extLst>
      <p:ext uri="{BB962C8B-B14F-4D97-AF65-F5344CB8AC3E}">
        <p14:creationId xmlns:p14="http://schemas.microsoft.com/office/powerpoint/2010/main" val="10245799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18533" y="372534"/>
            <a:ext cx="7992533" cy="1619104"/>
          </a:xfrm>
          <a:solidFill>
            <a:schemeClr val="bg1"/>
          </a:solidFill>
        </p:spPr>
        <p:style>
          <a:lnRef idx="1">
            <a:schemeClr val="accent5"/>
          </a:lnRef>
          <a:fillRef idx="3">
            <a:schemeClr val="accent5"/>
          </a:fillRef>
          <a:effectRef idx="2">
            <a:schemeClr val="accent5"/>
          </a:effectRef>
          <a:fontRef idx="minor">
            <a:schemeClr val="lt1"/>
          </a:fontRef>
        </p:style>
        <p:txBody>
          <a:bodyPr>
            <a:noAutofit/>
          </a:bodyPr>
          <a:lstStyle/>
          <a:p>
            <a:br>
              <a:rPr lang="en-ZA" sz="2400" dirty="0">
                <a:solidFill>
                  <a:schemeClr val="tx1"/>
                </a:solidFill>
              </a:rPr>
            </a:br>
            <a:r>
              <a:rPr lang="en-ZA" sz="3600" b="1" cap="none" dirty="0">
                <a:solidFill>
                  <a:schemeClr val="tx1"/>
                </a:solidFill>
              </a:rPr>
              <a:t>Research Ethics are:</a:t>
            </a:r>
            <a:br>
              <a:rPr lang="en-ZA" sz="2400" dirty="0">
                <a:solidFill>
                  <a:schemeClr val="tx1"/>
                </a:solidFill>
              </a:rPr>
            </a:br>
            <a:endParaRPr lang="en-ZA" sz="2400" dirty="0">
              <a:solidFill>
                <a:schemeClr val="tx1"/>
              </a:solidFill>
            </a:endParaRPr>
          </a:p>
        </p:txBody>
      </p:sp>
      <p:sp>
        <p:nvSpPr>
          <p:cNvPr id="7" name="Title 4"/>
          <p:cNvSpPr txBox="1">
            <a:spLocks/>
          </p:cNvSpPr>
          <p:nvPr/>
        </p:nvSpPr>
        <p:spPr>
          <a:xfrm>
            <a:off x="254001" y="2201334"/>
            <a:ext cx="7857066" cy="1619103"/>
          </a:xfrm>
          <a:prstGeom prst="rect">
            <a:avLst/>
          </a:prstGeom>
          <a:solidFill>
            <a:schemeClr val="bg1"/>
          </a:solidFill>
        </p:spPr>
        <p:style>
          <a:lnRef idx="0">
            <a:schemeClr val="accent3"/>
          </a:lnRef>
          <a:fillRef idx="3">
            <a:schemeClr val="accent3"/>
          </a:fillRef>
          <a:effectRef idx="3">
            <a:schemeClr val="accent3"/>
          </a:effectRef>
          <a:fontRef idx="minor">
            <a:schemeClr val="lt1"/>
          </a:fontRef>
        </p:style>
        <p:txBody>
          <a:bodyPr vert="horz" lIns="91440" tIns="45720" rIns="91440" bIns="45720" rtlCol="0" anchor="b">
            <a:normAutofit fontScale="975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000" b="1" cap="none" dirty="0">
                <a:solidFill>
                  <a:schemeClr val="tx1"/>
                </a:solidFill>
              </a:rPr>
              <a:t>1. A code of guidelines on how to conduct scientific research in a morally acceptable way</a:t>
            </a:r>
            <a:r>
              <a:rPr lang="en-US" sz="2000" dirty="0">
                <a:solidFill>
                  <a:schemeClr val="tx1"/>
                </a:solidFill>
              </a:rPr>
              <a:t>.</a:t>
            </a:r>
          </a:p>
          <a:p>
            <a:br>
              <a:rPr lang="en-ZA" sz="2000" dirty="0">
                <a:solidFill>
                  <a:schemeClr val="tx1"/>
                </a:solidFill>
              </a:rPr>
            </a:br>
            <a:endParaRPr lang="en-ZA" sz="2000" dirty="0">
              <a:solidFill>
                <a:schemeClr val="tx1"/>
              </a:solidFill>
            </a:endParaRPr>
          </a:p>
        </p:txBody>
      </p:sp>
      <p:sp>
        <p:nvSpPr>
          <p:cNvPr id="10" name="Title 4"/>
          <p:cNvSpPr txBox="1">
            <a:spLocks/>
          </p:cNvSpPr>
          <p:nvPr/>
        </p:nvSpPr>
        <p:spPr>
          <a:xfrm>
            <a:off x="254001" y="4148667"/>
            <a:ext cx="7857066" cy="1619103"/>
          </a:xfrm>
          <a:prstGeom prst="rect">
            <a:avLst/>
          </a:prstGeom>
          <a:solidFill>
            <a:schemeClr val="bg1"/>
          </a:solidFill>
        </p:spPr>
        <p:style>
          <a:lnRef idx="0">
            <a:schemeClr val="accent3"/>
          </a:lnRef>
          <a:fillRef idx="3">
            <a:schemeClr val="accent3"/>
          </a:fillRef>
          <a:effectRef idx="3">
            <a:schemeClr val="accent3"/>
          </a:effectRef>
          <a:fontRef idx="minor">
            <a:schemeClr val="lt1"/>
          </a:fontRef>
        </p:style>
        <p:txBody>
          <a:bodyPr vert="horz" lIns="91440" tIns="45720" rIns="91440" bIns="45720" rtlCol="0" anchor="b">
            <a:normAutofit fontScale="90000" lnSpcReduction="200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000" b="1" cap="none" dirty="0">
                <a:solidFill>
                  <a:schemeClr val="tx1"/>
                </a:solidFill>
              </a:rPr>
              <a:t>2. Principles and standards that help researchers to uphold the value and standards of knowledge construction.</a:t>
            </a:r>
            <a:endParaRPr lang="en-US" sz="2000" dirty="0">
              <a:solidFill>
                <a:schemeClr val="tx1"/>
              </a:solidFill>
            </a:endParaRPr>
          </a:p>
          <a:p>
            <a:br>
              <a:rPr lang="en-ZA" sz="2000" dirty="0">
                <a:solidFill>
                  <a:schemeClr val="tx1"/>
                </a:solidFill>
              </a:rPr>
            </a:br>
            <a:endParaRPr lang="en-ZA" sz="2000" dirty="0">
              <a:solidFill>
                <a:schemeClr val="tx1"/>
              </a:solidFill>
            </a:endParaRPr>
          </a:p>
        </p:txBody>
      </p:sp>
    </p:spTree>
    <p:extLst>
      <p:ext uri="{BB962C8B-B14F-4D97-AF65-F5344CB8AC3E}">
        <p14:creationId xmlns:p14="http://schemas.microsoft.com/office/powerpoint/2010/main" val="40086201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718"/>
            <a:ext cx="8610600" cy="947949"/>
          </a:xfrm>
        </p:spPr>
        <p:txBody>
          <a:bodyPr>
            <a:noAutofit/>
          </a:bodyPr>
          <a:lstStyle/>
          <a:p>
            <a:r>
              <a:rPr lang="en-ZA" sz="4000" dirty="0"/>
              <a:t>Ethical Considerations in the Research Process</a:t>
            </a:r>
          </a:p>
        </p:txBody>
      </p:sp>
      <p:sp>
        <p:nvSpPr>
          <p:cNvPr id="6" name="Title 4"/>
          <p:cNvSpPr txBox="1">
            <a:spLocks/>
          </p:cNvSpPr>
          <p:nvPr/>
        </p:nvSpPr>
        <p:spPr>
          <a:xfrm>
            <a:off x="118537" y="1320800"/>
            <a:ext cx="3031064" cy="5172075"/>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vert="horz" lIns="91440" tIns="45720" rIns="91440" bIns="45720" rtlCol="0" anchor="b">
            <a:normAutofit fontScale="97500"/>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ZA" sz="2900" b="1" cap="none" dirty="0">
                <a:solidFill>
                  <a:schemeClr val="tx1"/>
                </a:solidFill>
              </a:rPr>
              <a:t>Ethical considerations come into play at six stages of research</a:t>
            </a:r>
          </a:p>
          <a:p>
            <a:endParaRPr lang="en-ZA" sz="2900" b="1" cap="none" dirty="0">
              <a:solidFill>
                <a:schemeClr val="tx1"/>
              </a:solidFill>
            </a:endParaRPr>
          </a:p>
          <a:p>
            <a:endParaRPr lang="en-ZA" sz="2900" b="1" cap="none" dirty="0">
              <a:solidFill>
                <a:schemeClr val="tx1"/>
              </a:solidFill>
            </a:endParaRPr>
          </a:p>
          <a:p>
            <a:br>
              <a:rPr lang="en-ZA" dirty="0">
                <a:solidFill>
                  <a:schemeClr val="tx1"/>
                </a:solidFill>
              </a:rPr>
            </a:br>
            <a:endParaRPr lang="en-ZA" dirty="0">
              <a:solidFill>
                <a:schemeClr val="tx1"/>
              </a:solidFill>
            </a:endParaRPr>
          </a:p>
        </p:txBody>
      </p:sp>
      <p:sp>
        <p:nvSpPr>
          <p:cNvPr id="7" name="Title 4"/>
          <p:cNvSpPr txBox="1">
            <a:spLocks/>
          </p:cNvSpPr>
          <p:nvPr/>
        </p:nvSpPr>
        <p:spPr>
          <a:xfrm>
            <a:off x="3149601" y="1337733"/>
            <a:ext cx="5689601" cy="5291667"/>
          </a:xfrm>
          <a:prstGeom prst="rect">
            <a:avLst/>
          </a:prstGeom>
          <a:solidFill>
            <a:schemeClr val="bg1"/>
          </a:solidFill>
        </p:spPr>
        <p:style>
          <a:lnRef idx="0">
            <a:schemeClr val="dk1"/>
          </a:lnRef>
          <a:fillRef idx="3">
            <a:schemeClr val="dk1"/>
          </a:fillRef>
          <a:effectRef idx="3">
            <a:schemeClr val="dk1"/>
          </a:effectRef>
          <a:fontRef idx="minor">
            <a:schemeClr val="lt1"/>
          </a:fontRef>
        </p:style>
        <p:txBody>
          <a:bodyPr vert="horz" lIns="91440" tIns="45720" rIns="91440" bIns="45720" rtlCol="0" anchor="b">
            <a:noAutofit/>
          </a:bodyPr>
          <a:lstStyle>
            <a:lvl1pPr algn="l" defTabSz="914400" rtl="0" eaLnBrk="1" latinLnBrk="0" hangingPunct="1">
              <a:spcBef>
                <a:spcPct val="0"/>
              </a:spcBef>
              <a:buNone/>
              <a:defRPr sz="3600" kern="1200" cap="all" spc="-60" baseline="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514350" indent="-514350">
              <a:buFont typeface="+mj-lt"/>
              <a:buAutoNum type="arabicPeriod"/>
            </a:pPr>
            <a:r>
              <a:rPr lang="en-US" sz="2300" b="1" cap="none" dirty="0">
                <a:solidFill>
                  <a:schemeClr val="tx1"/>
                </a:solidFill>
              </a:rPr>
              <a:t>Conceptualisation and design of the study (scientific merit, identify risks and ways to mitigate the risks)</a:t>
            </a:r>
          </a:p>
          <a:p>
            <a:pPr marL="514350" indent="-514350">
              <a:buFont typeface="+mj-lt"/>
              <a:buAutoNum type="arabicPeriod"/>
            </a:pPr>
            <a:r>
              <a:rPr lang="en-US" sz="2300" b="1" cap="none" dirty="0">
                <a:solidFill>
                  <a:schemeClr val="tx1"/>
                </a:solidFill>
              </a:rPr>
              <a:t>Recruitment of Participants(the process of informed consent, right to privacy)</a:t>
            </a:r>
          </a:p>
          <a:p>
            <a:pPr marL="457200" indent="-457200">
              <a:buFont typeface="+mj-lt"/>
              <a:buAutoNum type="arabicPeriod"/>
            </a:pPr>
            <a:r>
              <a:rPr lang="en-US" sz="2300" b="1" cap="none" dirty="0">
                <a:solidFill>
                  <a:schemeClr val="tx1"/>
                </a:solidFill>
              </a:rPr>
              <a:t>Intervention or Measurement Procedures (management of risk)</a:t>
            </a:r>
          </a:p>
          <a:p>
            <a:pPr marL="457200" indent="-457200">
              <a:buFont typeface="+mj-lt"/>
              <a:buAutoNum type="arabicPeriod"/>
            </a:pPr>
            <a:r>
              <a:rPr lang="en-ZA" sz="2300" b="1" cap="none" dirty="0">
                <a:solidFill>
                  <a:schemeClr val="tx1"/>
                </a:solidFill>
              </a:rPr>
              <a:t>Release of Results(protection of confidentiality and anonymity)</a:t>
            </a:r>
          </a:p>
          <a:p>
            <a:pPr marL="457200" indent="-457200">
              <a:buFont typeface="+mj-lt"/>
              <a:buAutoNum type="arabicPeriod"/>
            </a:pPr>
            <a:r>
              <a:rPr lang="en-ZA" sz="2300" b="1" cap="none" dirty="0">
                <a:solidFill>
                  <a:schemeClr val="tx1"/>
                </a:solidFill>
              </a:rPr>
              <a:t>After the release of results (ensure that participants and communities involved in the research benefit)</a:t>
            </a:r>
          </a:p>
          <a:p>
            <a:pPr marL="457200" indent="-457200">
              <a:buFont typeface="+mj-lt"/>
              <a:buAutoNum type="arabicPeriod"/>
            </a:pPr>
            <a:r>
              <a:rPr lang="en-US" sz="2300" b="1" cap="none" dirty="0">
                <a:solidFill>
                  <a:schemeClr val="tx1"/>
                </a:solidFill>
              </a:rPr>
              <a:t>Ongoing Ethical Responsibility (Maintain integrity and accountability at every stage -Disclose conflicts of interest)</a:t>
            </a:r>
            <a:endParaRPr lang="en-ZA" sz="2300" b="1" cap="none" dirty="0">
              <a:solidFill>
                <a:schemeClr val="tx1"/>
              </a:solidFill>
            </a:endParaRPr>
          </a:p>
        </p:txBody>
      </p:sp>
    </p:spTree>
    <p:extLst>
      <p:ext uri="{BB962C8B-B14F-4D97-AF65-F5344CB8AC3E}">
        <p14:creationId xmlns:p14="http://schemas.microsoft.com/office/powerpoint/2010/main" val="19454977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8437"/>
            <a:ext cx="8229600" cy="762000"/>
          </a:xfrm>
        </p:spPr>
        <p:txBody>
          <a:bodyPr/>
          <a:lstStyle/>
          <a:p>
            <a:r>
              <a:rPr lang="en-IN" dirty="0"/>
              <a:t>Objectives of Research Ethics</a:t>
            </a:r>
          </a:p>
        </p:txBody>
      </p:sp>
      <p:sp>
        <p:nvSpPr>
          <p:cNvPr id="3" name="Content Placeholder 2"/>
          <p:cNvSpPr>
            <a:spLocks noGrp="1"/>
          </p:cNvSpPr>
          <p:nvPr>
            <p:ph idx="1"/>
          </p:nvPr>
        </p:nvSpPr>
        <p:spPr>
          <a:xfrm>
            <a:off x="381000" y="1341437"/>
            <a:ext cx="8229600" cy="4525963"/>
          </a:xfrm>
        </p:spPr>
        <p:txBody>
          <a:bodyPr>
            <a:normAutofit/>
          </a:bodyPr>
          <a:lstStyle/>
          <a:p>
            <a:pPr fontAlgn="base"/>
            <a:r>
              <a:rPr lang="en-IN" sz="2400" b="1" dirty="0"/>
              <a:t>Three comprehensive objectives of Research Ethics are – </a:t>
            </a:r>
          </a:p>
          <a:p>
            <a:pPr marL="457200" indent="-457200" fontAlgn="base">
              <a:buFont typeface="+mj-lt"/>
              <a:buAutoNum type="arabicPeriod"/>
            </a:pPr>
            <a:r>
              <a:rPr lang="en-IN" sz="2400" dirty="0">
                <a:solidFill>
                  <a:srgbClr val="0070C0"/>
                </a:solidFill>
              </a:rPr>
              <a:t>To guard/protect human participants, their dignity, rights and welfare .</a:t>
            </a:r>
          </a:p>
          <a:p>
            <a:pPr marL="457200" indent="-457200" fontAlgn="base">
              <a:buFont typeface="+mj-lt"/>
              <a:buAutoNum type="arabicPeriod"/>
            </a:pPr>
            <a:r>
              <a:rPr lang="en-IN" sz="2400" dirty="0">
                <a:solidFill>
                  <a:srgbClr val="0070C0"/>
                </a:solidFill>
              </a:rPr>
              <a:t>To make sure that research is directed in a manner that assists welfares of persons, groups and/or civilization as a whole.</a:t>
            </a:r>
          </a:p>
          <a:p>
            <a:pPr marL="457200" indent="-457200" fontAlgn="base">
              <a:buFont typeface="+mj-lt"/>
              <a:buAutoNum type="arabicPeriod"/>
            </a:pPr>
            <a:r>
              <a:rPr lang="en-IN" sz="2400" dirty="0">
                <a:solidFill>
                  <a:srgbClr val="0070C0"/>
                </a:solidFill>
              </a:rPr>
              <a:t>To inspect particular research events and schemes for their ethical reliability, considering issues such as the controlling risk, protection of privacy and the progression of informed consent.</a:t>
            </a:r>
          </a:p>
        </p:txBody>
      </p:sp>
    </p:spTree>
    <p:extLst>
      <p:ext uri="{BB962C8B-B14F-4D97-AF65-F5344CB8AC3E}">
        <p14:creationId xmlns:p14="http://schemas.microsoft.com/office/powerpoint/2010/main" val="23941229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3449" y="228600"/>
            <a:ext cx="8229600" cy="762000"/>
          </a:xfrm>
        </p:spPr>
        <p:txBody>
          <a:bodyPr/>
          <a:lstStyle/>
          <a:p>
            <a:r>
              <a:rPr lang="en-IN" dirty="0"/>
              <a:t>Principles of Research Ethics</a:t>
            </a:r>
          </a:p>
        </p:txBody>
      </p:sp>
      <p:grpSp>
        <p:nvGrpSpPr>
          <p:cNvPr id="20" name="Group 19"/>
          <p:cNvGrpSpPr>
            <a:grpSpLocks noChangeAspect="1"/>
          </p:cNvGrpSpPr>
          <p:nvPr/>
        </p:nvGrpSpPr>
        <p:grpSpPr>
          <a:xfrm>
            <a:off x="1675866" y="1796534"/>
            <a:ext cx="6325134" cy="4320000"/>
            <a:chOff x="1428227" y="2133600"/>
            <a:chExt cx="5243712" cy="3581400"/>
          </a:xfrm>
        </p:grpSpPr>
        <p:sp>
          <p:nvSpPr>
            <p:cNvPr id="5" name="Rounded Rectangle 4"/>
            <p:cNvSpPr/>
            <p:nvPr/>
          </p:nvSpPr>
          <p:spPr>
            <a:xfrm>
              <a:off x="1676400" y="2821841"/>
              <a:ext cx="4741671" cy="2310646"/>
            </a:xfrm>
            <a:prstGeom prst="roundRect">
              <a:avLst/>
            </a:prstGeom>
            <a:gradFill flip="none" rotWithShape="1">
              <a:gsLst>
                <a:gs pos="0">
                  <a:srgbClr val="FFF200"/>
                </a:gs>
                <a:gs pos="45000">
                  <a:srgbClr val="FF7A00"/>
                </a:gs>
                <a:gs pos="70000">
                  <a:srgbClr val="FF0300"/>
                </a:gs>
                <a:gs pos="100000">
                  <a:srgbClr val="4D0808"/>
                </a:gs>
              </a:gsLst>
              <a:lin ang="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Hexagon 23"/>
            <p:cNvSpPr/>
            <p:nvPr/>
          </p:nvSpPr>
          <p:spPr>
            <a:xfrm>
              <a:off x="5257800" y="2737366"/>
              <a:ext cx="1337646" cy="920234"/>
            </a:xfrm>
            <a:prstGeom prst="hexagon">
              <a:avLst/>
            </a:prstGeom>
            <a:gradFill>
              <a:gsLst>
                <a:gs pos="0">
                  <a:srgbClr val="8488C4"/>
                </a:gs>
                <a:gs pos="53000">
                  <a:srgbClr val="D4DEFF"/>
                </a:gs>
                <a:gs pos="83000">
                  <a:srgbClr val="D4DEFF"/>
                </a:gs>
                <a:gs pos="100000">
                  <a:srgbClr val="96AB94"/>
                </a:gs>
              </a:gsLst>
              <a:lin ang="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Hexagon 22"/>
            <p:cNvSpPr/>
            <p:nvPr/>
          </p:nvSpPr>
          <p:spPr>
            <a:xfrm>
              <a:off x="4224954" y="2209800"/>
              <a:ext cx="1337646" cy="920234"/>
            </a:xfrm>
            <a:prstGeom prst="hexagon">
              <a:avLst/>
            </a:prstGeom>
            <a:gradFill>
              <a:gsLst>
                <a:gs pos="0">
                  <a:srgbClr val="8488C4"/>
                </a:gs>
                <a:gs pos="53000">
                  <a:srgbClr val="D4DEFF"/>
                </a:gs>
                <a:gs pos="83000">
                  <a:srgbClr val="D4DEFF"/>
                </a:gs>
                <a:gs pos="100000">
                  <a:srgbClr val="96AB94"/>
                </a:gs>
              </a:gsLst>
              <a:lin ang="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Hexagon 18"/>
            <p:cNvSpPr/>
            <p:nvPr/>
          </p:nvSpPr>
          <p:spPr>
            <a:xfrm>
              <a:off x="1481754" y="2514600"/>
              <a:ext cx="1337646" cy="920234"/>
            </a:xfrm>
            <a:prstGeom prst="hexagon">
              <a:avLst/>
            </a:prstGeom>
            <a:gradFill>
              <a:gsLst>
                <a:gs pos="0">
                  <a:srgbClr val="8488C4"/>
                </a:gs>
                <a:gs pos="53000">
                  <a:srgbClr val="D4DEFF"/>
                </a:gs>
                <a:gs pos="83000">
                  <a:srgbClr val="D4DEFF"/>
                </a:gs>
                <a:gs pos="100000">
                  <a:srgbClr val="96AB94"/>
                </a:gs>
              </a:gsLst>
              <a:lin ang="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Hexagon 20"/>
            <p:cNvSpPr/>
            <p:nvPr/>
          </p:nvSpPr>
          <p:spPr>
            <a:xfrm>
              <a:off x="2292125" y="2133600"/>
              <a:ext cx="1337646" cy="920234"/>
            </a:xfrm>
            <a:prstGeom prst="hexagon">
              <a:avLst/>
            </a:prstGeom>
            <a:gradFill>
              <a:gsLst>
                <a:gs pos="0">
                  <a:srgbClr val="8488C4"/>
                </a:gs>
                <a:gs pos="53000">
                  <a:srgbClr val="D4DEFF"/>
                </a:gs>
                <a:gs pos="83000">
                  <a:srgbClr val="D4DEFF"/>
                </a:gs>
                <a:gs pos="100000">
                  <a:srgbClr val="96AB94"/>
                </a:gs>
              </a:gsLst>
              <a:lin ang="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Hexagon 21"/>
            <p:cNvSpPr/>
            <p:nvPr/>
          </p:nvSpPr>
          <p:spPr>
            <a:xfrm>
              <a:off x="3200400" y="2514600"/>
              <a:ext cx="1337646" cy="920234"/>
            </a:xfrm>
            <a:prstGeom prst="hexagon">
              <a:avLst/>
            </a:prstGeom>
            <a:gradFill>
              <a:gsLst>
                <a:gs pos="0">
                  <a:srgbClr val="8488C4"/>
                </a:gs>
                <a:gs pos="53000">
                  <a:srgbClr val="D4DEFF"/>
                </a:gs>
                <a:gs pos="83000">
                  <a:srgbClr val="D4DEFF"/>
                </a:gs>
                <a:gs pos="100000">
                  <a:srgbClr val="96AB94"/>
                </a:gs>
              </a:gsLst>
              <a:lin ang="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Hexagon 24"/>
            <p:cNvSpPr/>
            <p:nvPr/>
          </p:nvSpPr>
          <p:spPr>
            <a:xfrm>
              <a:off x="3310554" y="3344049"/>
              <a:ext cx="1337646" cy="999351"/>
            </a:xfrm>
            <a:prstGeom prst="hexagon">
              <a:avLst/>
            </a:prstGeom>
            <a:gradFill>
              <a:gsLst>
                <a:gs pos="0">
                  <a:srgbClr val="8488C4"/>
                </a:gs>
                <a:gs pos="53000">
                  <a:srgbClr val="D4DEFF"/>
                </a:gs>
                <a:gs pos="83000">
                  <a:srgbClr val="D4DEFF"/>
                </a:gs>
                <a:gs pos="100000">
                  <a:srgbClr val="96AB94"/>
                </a:gs>
              </a:gsLst>
              <a:lin ang="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Hexagon 29"/>
            <p:cNvSpPr/>
            <p:nvPr/>
          </p:nvSpPr>
          <p:spPr>
            <a:xfrm>
              <a:off x="2405889" y="4642366"/>
              <a:ext cx="1337646" cy="920234"/>
            </a:xfrm>
            <a:prstGeom prst="hexagon">
              <a:avLst/>
            </a:prstGeom>
            <a:gradFill>
              <a:gsLst>
                <a:gs pos="0">
                  <a:srgbClr val="8488C4"/>
                </a:gs>
                <a:gs pos="53000">
                  <a:srgbClr val="D4DEFF"/>
                </a:gs>
                <a:gs pos="83000">
                  <a:srgbClr val="D4DEFF"/>
                </a:gs>
                <a:gs pos="100000">
                  <a:srgbClr val="96AB94"/>
                </a:gs>
              </a:gsLst>
              <a:lin ang="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Hexagon 30"/>
            <p:cNvSpPr/>
            <p:nvPr/>
          </p:nvSpPr>
          <p:spPr>
            <a:xfrm>
              <a:off x="1428227" y="4267200"/>
              <a:ext cx="1380321" cy="920234"/>
            </a:xfrm>
            <a:prstGeom prst="hexagon">
              <a:avLst/>
            </a:prstGeom>
            <a:gradFill>
              <a:gsLst>
                <a:gs pos="0">
                  <a:srgbClr val="8488C4"/>
                </a:gs>
                <a:gs pos="53000">
                  <a:srgbClr val="D4DEFF"/>
                </a:gs>
                <a:gs pos="83000">
                  <a:srgbClr val="D4DEFF"/>
                </a:gs>
                <a:gs pos="100000">
                  <a:srgbClr val="96AB94"/>
                </a:gs>
              </a:gsLst>
              <a:lin ang="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Hexagon 25"/>
            <p:cNvSpPr/>
            <p:nvPr/>
          </p:nvSpPr>
          <p:spPr>
            <a:xfrm>
              <a:off x="3343416" y="4337566"/>
              <a:ext cx="1337646" cy="920234"/>
            </a:xfrm>
            <a:prstGeom prst="hexagon">
              <a:avLst/>
            </a:prstGeom>
            <a:gradFill>
              <a:gsLst>
                <a:gs pos="0">
                  <a:srgbClr val="8488C4"/>
                </a:gs>
                <a:gs pos="53000">
                  <a:srgbClr val="D4DEFF"/>
                </a:gs>
                <a:gs pos="83000">
                  <a:srgbClr val="D4DEFF"/>
                </a:gs>
                <a:gs pos="100000">
                  <a:srgbClr val="96AB94"/>
                </a:gs>
              </a:gsLst>
              <a:lin ang="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Hexagon 26"/>
            <p:cNvSpPr/>
            <p:nvPr/>
          </p:nvSpPr>
          <p:spPr>
            <a:xfrm>
              <a:off x="4453554" y="4794766"/>
              <a:ext cx="1337646" cy="920234"/>
            </a:xfrm>
            <a:prstGeom prst="hexagon">
              <a:avLst/>
            </a:prstGeom>
            <a:gradFill>
              <a:gsLst>
                <a:gs pos="0">
                  <a:srgbClr val="8488C4"/>
                </a:gs>
                <a:gs pos="53000">
                  <a:srgbClr val="D4DEFF"/>
                </a:gs>
                <a:gs pos="83000">
                  <a:srgbClr val="D4DEFF"/>
                </a:gs>
                <a:gs pos="100000">
                  <a:srgbClr val="96AB94"/>
                </a:gs>
              </a:gsLst>
              <a:lin ang="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Hexagon 28"/>
            <p:cNvSpPr/>
            <p:nvPr/>
          </p:nvSpPr>
          <p:spPr>
            <a:xfrm>
              <a:off x="5257799" y="4337566"/>
              <a:ext cx="1414140" cy="920234"/>
            </a:xfrm>
            <a:prstGeom prst="hexagon">
              <a:avLst/>
            </a:prstGeom>
            <a:gradFill>
              <a:gsLst>
                <a:gs pos="0">
                  <a:srgbClr val="8488C4"/>
                </a:gs>
                <a:gs pos="53000">
                  <a:srgbClr val="D4DEFF"/>
                </a:gs>
                <a:gs pos="83000">
                  <a:srgbClr val="D4DEFF"/>
                </a:gs>
                <a:gs pos="100000">
                  <a:srgbClr val="96AB94"/>
                </a:gs>
              </a:gsLst>
              <a:lin ang="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p:cNvSpPr txBox="1"/>
            <p:nvPr/>
          </p:nvSpPr>
          <p:spPr>
            <a:xfrm>
              <a:off x="1515646" y="2790051"/>
              <a:ext cx="995657" cy="369332"/>
            </a:xfrm>
            <a:prstGeom prst="rect">
              <a:avLst/>
            </a:prstGeom>
            <a:noFill/>
          </p:spPr>
          <p:txBody>
            <a:bodyPr wrap="none" rtlCol="0">
              <a:spAutoFit/>
            </a:bodyPr>
            <a:lstStyle/>
            <a:p>
              <a:r>
                <a:rPr lang="en-US" b="1" dirty="0">
                  <a:effectLst>
                    <a:outerShdw blurRad="38100" dist="38100" dir="2700000" algn="tl">
                      <a:srgbClr val="000000">
                        <a:alpha val="43137"/>
                      </a:srgbClr>
                    </a:outerShdw>
                  </a:effectLst>
                </a:rPr>
                <a:t>Integrity</a:t>
              </a:r>
              <a:endParaRPr lang="en-IN" b="1" dirty="0">
                <a:effectLst>
                  <a:outerShdw blurRad="38100" dist="38100" dir="2700000" algn="tl">
                    <a:srgbClr val="000000">
                      <a:alpha val="43137"/>
                    </a:srgbClr>
                  </a:outerShdw>
                </a:effectLst>
              </a:endParaRPr>
            </a:p>
          </p:txBody>
        </p:sp>
        <p:sp>
          <p:nvSpPr>
            <p:cNvPr id="6" name="TextBox 5"/>
            <p:cNvSpPr txBox="1"/>
            <p:nvPr/>
          </p:nvSpPr>
          <p:spPr>
            <a:xfrm rot="20569783">
              <a:off x="2270663" y="2343076"/>
              <a:ext cx="1375185" cy="369332"/>
            </a:xfrm>
            <a:prstGeom prst="rect">
              <a:avLst/>
            </a:prstGeom>
            <a:noFill/>
          </p:spPr>
          <p:txBody>
            <a:bodyPr wrap="none" rtlCol="0">
              <a:spAutoFit/>
            </a:bodyPr>
            <a:lstStyle/>
            <a:p>
              <a:r>
                <a:rPr lang="en-US" b="1" dirty="0">
                  <a:effectLst>
                    <a:outerShdw blurRad="38100" dist="38100" dir="2700000" algn="tl">
                      <a:srgbClr val="000000">
                        <a:alpha val="43137"/>
                      </a:srgbClr>
                    </a:outerShdw>
                  </a:effectLst>
                </a:rPr>
                <a:t>Competence</a:t>
              </a:r>
              <a:endParaRPr lang="en-IN" b="1" dirty="0">
                <a:effectLst>
                  <a:outerShdw blurRad="38100" dist="38100" dir="2700000" algn="tl">
                    <a:srgbClr val="000000">
                      <a:alpha val="43137"/>
                    </a:srgbClr>
                  </a:outerShdw>
                </a:effectLst>
              </a:endParaRPr>
            </a:p>
          </p:txBody>
        </p:sp>
        <p:sp>
          <p:nvSpPr>
            <p:cNvPr id="7" name="TextBox 6"/>
            <p:cNvSpPr txBox="1"/>
            <p:nvPr/>
          </p:nvSpPr>
          <p:spPr>
            <a:xfrm>
              <a:off x="3200400" y="2587941"/>
              <a:ext cx="1331968" cy="646331"/>
            </a:xfrm>
            <a:prstGeom prst="rect">
              <a:avLst/>
            </a:prstGeom>
            <a:noFill/>
          </p:spPr>
          <p:txBody>
            <a:bodyPr wrap="square" rtlCol="0">
              <a:spAutoFit/>
            </a:bodyPr>
            <a:lstStyle/>
            <a:p>
              <a:pPr algn="ctr"/>
              <a:r>
                <a:rPr lang="en-US" b="1" dirty="0">
                  <a:effectLst>
                    <a:outerShdw blurRad="38100" dist="38100" dir="2700000" algn="tl">
                      <a:srgbClr val="000000">
                        <a:alpha val="43137"/>
                      </a:srgbClr>
                    </a:outerShdw>
                  </a:effectLst>
                </a:rPr>
                <a:t>Non-maleficence</a:t>
              </a:r>
              <a:endParaRPr lang="en-IN" b="1" dirty="0">
                <a:effectLst>
                  <a:outerShdw blurRad="38100" dist="38100" dir="2700000" algn="tl">
                    <a:srgbClr val="000000">
                      <a:alpha val="43137"/>
                    </a:srgbClr>
                  </a:outerShdw>
                </a:effectLst>
              </a:endParaRPr>
            </a:p>
          </p:txBody>
        </p:sp>
        <p:sp>
          <p:nvSpPr>
            <p:cNvPr id="8" name="TextBox 7"/>
            <p:cNvSpPr txBox="1"/>
            <p:nvPr/>
          </p:nvSpPr>
          <p:spPr>
            <a:xfrm>
              <a:off x="4538046" y="2409051"/>
              <a:ext cx="821700" cy="369332"/>
            </a:xfrm>
            <a:prstGeom prst="rect">
              <a:avLst/>
            </a:prstGeom>
            <a:noFill/>
          </p:spPr>
          <p:txBody>
            <a:bodyPr wrap="none" rtlCol="0">
              <a:spAutoFit/>
            </a:bodyPr>
            <a:lstStyle/>
            <a:p>
              <a:r>
                <a:rPr lang="en-US" b="1" dirty="0">
                  <a:effectLst>
                    <a:outerShdw blurRad="38100" dist="38100" dir="2700000" algn="tl">
                      <a:srgbClr val="000000">
                        <a:alpha val="43137"/>
                      </a:srgbClr>
                    </a:outerShdw>
                  </a:effectLst>
                </a:rPr>
                <a:t>Justice</a:t>
              </a:r>
              <a:endParaRPr lang="en-IN" b="1" dirty="0">
                <a:effectLst>
                  <a:outerShdw blurRad="38100" dist="38100" dir="2700000" algn="tl">
                    <a:srgbClr val="000000">
                      <a:alpha val="43137"/>
                    </a:srgbClr>
                  </a:outerShdw>
                </a:effectLst>
              </a:endParaRPr>
            </a:p>
          </p:txBody>
        </p:sp>
        <p:sp>
          <p:nvSpPr>
            <p:cNvPr id="9" name="TextBox 8"/>
            <p:cNvSpPr txBox="1"/>
            <p:nvPr/>
          </p:nvSpPr>
          <p:spPr>
            <a:xfrm>
              <a:off x="5615196" y="2974717"/>
              <a:ext cx="864339" cy="369332"/>
            </a:xfrm>
            <a:prstGeom prst="rect">
              <a:avLst/>
            </a:prstGeom>
            <a:noFill/>
          </p:spPr>
          <p:txBody>
            <a:bodyPr wrap="none" rtlCol="0">
              <a:spAutoFit/>
            </a:bodyPr>
            <a:lstStyle/>
            <a:p>
              <a:r>
                <a:rPr lang="en-US" b="1" dirty="0">
                  <a:effectLst>
                    <a:outerShdw blurRad="38100" dist="38100" dir="2700000" algn="tl">
                      <a:srgbClr val="000000">
                        <a:alpha val="43137"/>
                      </a:srgbClr>
                    </a:outerShdw>
                  </a:effectLst>
                </a:rPr>
                <a:t>Dignity</a:t>
              </a:r>
              <a:endParaRPr lang="en-IN" b="1" dirty="0">
                <a:effectLst>
                  <a:outerShdw blurRad="38100" dist="38100" dir="2700000" algn="tl">
                    <a:srgbClr val="000000">
                      <a:alpha val="43137"/>
                    </a:srgbClr>
                  </a:outerShdw>
                </a:effectLst>
              </a:endParaRPr>
            </a:p>
          </p:txBody>
        </p:sp>
        <p:sp>
          <p:nvSpPr>
            <p:cNvPr id="10" name="TextBox 9"/>
            <p:cNvSpPr txBox="1"/>
            <p:nvPr/>
          </p:nvSpPr>
          <p:spPr>
            <a:xfrm>
              <a:off x="5300620" y="4642366"/>
              <a:ext cx="1371319" cy="306186"/>
            </a:xfrm>
            <a:prstGeom prst="rect">
              <a:avLst/>
            </a:prstGeom>
            <a:noFill/>
          </p:spPr>
          <p:txBody>
            <a:bodyPr wrap="square" rtlCol="0">
              <a:spAutoFit/>
            </a:bodyPr>
            <a:lstStyle/>
            <a:p>
              <a:r>
                <a:rPr lang="en-US" b="1" dirty="0">
                  <a:effectLst>
                    <a:outerShdw blurRad="38100" dist="38100" dir="2700000" algn="tl">
                      <a:srgbClr val="000000">
                        <a:alpha val="43137"/>
                      </a:srgbClr>
                    </a:outerShdw>
                  </a:effectLst>
                </a:rPr>
                <a:t>Confidentiality </a:t>
              </a:r>
              <a:endParaRPr lang="en-IN" b="1" dirty="0">
                <a:effectLst>
                  <a:outerShdw blurRad="38100" dist="38100" dir="2700000" algn="tl">
                    <a:srgbClr val="000000">
                      <a:alpha val="43137"/>
                    </a:srgbClr>
                  </a:outerShdw>
                </a:effectLst>
              </a:endParaRPr>
            </a:p>
          </p:txBody>
        </p:sp>
        <p:sp>
          <p:nvSpPr>
            <p:cNvPr id="11" name="TextBox 10"/>
            <p:cNvSpPr txBox="1"/>
            <p:nvPr/>
          </p:nvSpPr>
          <p:spPr>
            <a:xfrm>
              <a:off x="4648200" y="5193268"/>
              <a:ext cx="870559" cy="369332"/>
            </a:xfrm>
            <a:prstGeom prst="rect">
              <a:avLst/>
            </a:prstGeom>
            <a:noFill/>
          </p:spPr>
          <p:txBody>
            <a:bodyPr wrap="none" rtlCol="0">
              <a:spAutoFit/>
            </a:bodyPr>
            <a:lstStyle/>
            <a:p>
              <a:r>
                <a:rPr lang="en-US" b="1" dirty="0">
                  <a:effectLst>
                    <a:outerShdw blurRad="38100" dist="38100" dir="2700000" algn="tl">
                      <a:srgbClr val="000000">
                        <a:alpha val="43137"/>
                      </a:srgbClr>
                    </a:outerShdw>
                  </a:effectLst>
                </a:rPr>
                <a:t>Privacy</a:t>
              </a:r>
              <a:endParaRPr lang="en-IN" b="1" dirty="0">
                <a:effectLst>
                  <a:outerShdw blurRad="38100" dist="38100" dir="2700000" algn="tl">
                    <a:srgbClr val="000000">
                      <a:alpha val="43137"/>
                    </a:srgbClr>
                  </a:outerShdw>
                </a:effectLst>
              </a:endParaRPr>
            </a:p>
          </p:txBody>
        </p:sp>
        <p:sp>
          <p:nvSpPr>
            <p:cNvPr id="12" name="TextBox 11"/>
            <p:cNvSpPr txBox="1"/>
            <p:nvPr/>
          </p:nvSpPr>
          <p:spPr>
            <a:xfrm>
              <a:off x="3368327" y="4636353"/>
              <a:ext cx="1188146" cy="369332"/>
            </a:xfrm>
            <a:prstGeom prst="rect">
              <a:avLst/>
            </a:prstGeom>
            <a:noFill/>
          </p:spPr>
          <p:txBody>
            <a:bodyPr wrap="none" rtlCol="0">
              <a:spAutoFit/>
            </a:bodyPr>
            <a:lstStyle/>
            <a:p>
              <a:r>
                <a:rPr lang="en-US" b="1" dirty="0">
                  <a:effectLst>
                    <a:outerShdw blurRad="38100" dist="38100" dir="2700000" algn="tl">
                      <a:srgbClr val="000000">
                        <a:alpha val="43137"/>
                      </a:srgbClr>
                    </a:outerShdw>
                  </a:effectLst>
                </a:rPr>
                <a:t>Autonomy</a:t>
              </a:r>
              <a:endParaRPr lang="en-IN" b="1" dirty="0">
                <a:effectLst>
                  <a:outerShdw blurRad="38100" dist="38100" dir="2700000" algn="tl">
                    <a:srgbClr val="000000">
                      <a:alpha val="43137"/>
                    </a:srgbClr>
                  </a:outerShdw>
                </a:effectLst>
              </a:endParaRPr>
            </a:p>
          </p:txBody>
        </p:sp>
        <p:sp>
          <p:nvSpPr>
            <p:cNvPr id="13" name="TextBox 12"/>
            <p:cNvSpPr txBox="1"/>
            <p:nvPr/>
          </p:nvSpPr>
          <p:spPr>
            <a:xfrm>
              <a:off x="2637167" y="5102483"/>
              <a:ext cx="970779" cy="369332"/>
            </a:xfrm>
            <a:prstGeom prst="rect">
              <a:avLst/>
            </a:prstGeom>
            <a:noFill/>
          </p:spPr>
          <p:txBody>
            <a:bodyPr wrap="none" rtlCol="0">
              <a:spAutoFit/>
            </a:bodyPr>
            <a:lstStyle/>
            <a:p>
              <a:r>
                <a:rPr lang="en-US" b="1" dirty="0">
                  <a:effectLst>
                    <a:outerShdw blurRad="38100" dist="38100" dir="2700000" algn="tl">
                      <a:srgbClr val="000000">
                        <a:alpha val="43137"/>
                      </a:srgbClr>
                    </a:outerShdw>
                  </a:effectLst>
                </a:rPr>
                <a:t>Honesty</a:t>
              </a:r>
              <a:endParaRPr lang="en-IN" b="1" dirty="0">
                <a:effectLst>
                  <a:outerShdw blurRad="38100" dist="38100" dir="2700000" algn="tl">
                    <a:srgbClr val="000000">
                      <a:alpha val="43137"/>
                    </a:srgbClr>
                  </a:outerShdw>
                </a:effectLst>
              </a:endParaRPr>
            </a:p>
          </p:txBody>
        </p:sp>
        <p:sp>
          <p:nvSpPr>
            <p:cNvPr id="14" name="TextBox 13"/>
            <p:cNvSpPr txBox="1"/>
            <p:nvPr/>
          </p:nvSpPr>
          <p:spPr>
            <a:xfrm>
              <a:off x="1515646" y="4542651"/>
              <a:ext cx="1429149" cy="306186"/>
            </a:xfrm>
            <a:prstGeom prst="rect">
              <a:avLst/>
            </a:prstGeom>
            <a:noFill/>
          </p:spPr>
          <p:txBody>
            <a:bodyPr wrap="square" rtlCol="0">
              <a:spAutoFit/>
            </a:bodyPr>
            <a:lstStyle/>
            <a:p>
              <a:r>
                <a:rPr lang="en-US" b="1" dirty="0">
                  <a:effectLst>
                    <a:outerShdw blurRad="38100" dist="38100" dir="2700000" algn="tl">
                      <a:srgbClr val="000000">
                        <a:alpha val="43137"/>
                      </a:srgbClr>
                    </a:outerShdw>
                  </a:effectLst>
                </a:rPr>
                <a:t>Responsibility</a:t>
              </a:r>
              <a:endParaRPr lang="en-IN" b="1" dirty="0">
                <a:effectLst>
                  <a:outerShdw blurRad="38100" dist="38100" dir="2700000" algn="tl">
                    <a:srgbClr val="000000">
                      <a:alpha val="43137"/>
                    </a:srgbClr>
                  </a:outerShdw>
                </a:effectLst>
              </a:endParaRPr>
            </a:p>
          </p:txBody>
        </p:sp>
        <p:sp>
          <p:nvSpPr>
            <p:cNvPr id="17" name="TextBox 16"/>
            <p:cNvSpPr txBox="1"/>
            <p:nvPr/>
          </p:nvSpPr>
          <p:spPr>
            <a:xfrm>
              <a:off x="1752600" y="3701534"/>
              <a:ext cx="1427700" cy="382733"/>
            </a:xfrm>
            <a:prstGeom prst="rect">
              <a:avLst/>
            </a:prstGeom>
            <a:noFill/>
          </p:spPr>
          <p:txBody>
            <a:bodyPr wrap="none" rtlCol="0">
              <a:spAutoFit/>
            </a:bodyPr>
            <a:lstStyle/>
            <a:p>
              <a:r>
                <a:rPr lang="en-US" sz="2400" b="1" dirty="0">
                  <a:effectLst>
                    <a:outerShdw blurRad="38100" dist="38100" dir="2700000" algn="tl">
                      <a:srgbClr val="000000">
                        <a:alpha val="43137"/>
                      </a:srgbClr>
                    </a:outerShdw>
                  </a:effectLst>
                </a:rPr>
                <a:t>Researchers</a:t>
              </a:r>
              <a:endParaRPr lang="en-IN" sz="2400" b="1" dirty="0">
                <a:effectLst>
                  <a:outerShdw blurRad="38100" dist="38100" dir="2700000" algn="tl">
                    <a:srgbClr val="000000">
                      <a:alpha val="43137"/>
                    </a:srgbClr>
                  </a:outerShdw>
                </a:effectLst>
              </a:endParaRPr>
            </a:p>
          </p:txBody>
        </p:sp>
        <p:sp>
          <p:nvSpPr>
            <p:cNvPr id="18" name="TextBox 17"/>
            <p:cNvSpPr txBox="1"/>
            <p:nvPr/>
          </p:nvSpPr>
          <p:spPr>
            <a:xfrm>
              <a:off x="4729569" y="3701534"/>
              <a:ext cx="1409521" cy="382733"/>
            </a:xfrm>
            <a:prstGeom prst="rect">
              <a:avLst/>
            </a:prstGeom>
            <a:noFill/>
          </p:spPr>
          <p:txBody>
            <a:bodyPr wrap="none" rtlCol="0">
              <a:spAutoFit/>
            </a:bodyPr>
            <a:lstStyle/>
            <a:p>
              <a:r>
                <a:rPr lang="en-US" sz="2400" b="1" dirty="0">
                  <a:solidFill>
                    <a:schemeClr val="bg1"/>
                  </a:solidFill>
                  <a:effectLst>
                    <a:outerShdw blurRad="38100" dist="38100" dir="2700000" algn="tl">
                      <a:srgbClr val="000000">
                        <a:alpha val="43137"/>
                      </a:srgbClr>
                    </a:outerShdw>
                  </a:effectLst>
                </a:rPr>
                <a:t>Participants</a:t>
              </a:r>
              <a:endParaRPr lang="en-IN" sz="2400" b="1" dirty="0">
                <a:solidFill>
                  <a:schemeClr val="bg1"/>
                </a:solidFill>
                <a:effectLst>
                  <a:outerShdw blurRad="38100" dist="38100" dir="2700000" algn="tl">
                    <a:srgbClr val="000000">
                      <a:alpha val="43137"/>
                    </a:srgbClr>
                  </a:outerShdw>
                </a:effectLst>
              </a:endParaRPr>
            </a:p>
          </p:txBody>
        </p:sp>
        <p:sp>
          <p:nvSpPr>
            <p:cNvPr id="15" name="TextBox 14"/>
            <p:cNvSpPr txBox="1"/>
            <p:nvPr/>
          </p:nvSpPr>
          <p:spPr>
            <a:xfrm>
              <a:off x="3277413" y="3638571"/>
              <a:ext cx="1440299" cy="382733"/>
            </a:xfrm>
            <a:prstGeom prst="rect">
              <a:avLst/>
            </a:prstGeom>
            <a:noFill/>
          </p:spPr>
          <p:txBody>
            <a:bodyPr wrap="none" rtlCol="0">
              <a:spAutoFit/>
            </a:bodyPr>
            <a:lstStyle/>
            <a:p>
              <a:r>
                <a:rPr lang="en-US" sz="2300" b="1" dirty="0">
                  <a:effectLst>
                    <a:outerShdw blurRad="38100" dist="38100" dir="2700000" algn="tl">
                      <a:srgbClr val="000000">
                        <a:alpha val="43137"/>
                      </a:srgbClr>
                    </a:outerShdw>
                  </a:effectLst>
                </a:rPr>
                <a:t>Beneficence</a:t>
              </a:r>
              <a:endParaRPr lang="en-IN" sz="2300" b="1" dirty="0">
                <a:effectLst>
                  <a:outerShdw blurRad="38100" dist="38100" dir="2700000" algn="tl">
                    <a:srgbClr val="000000">
                      <a:alpha val="43137"/>
                    </a:srgbClr>
                  </a:outerShdw>
                </a:effectLst>
              </a:endParaRPr>
            </a:p>
          </p:txBody>
        </p:sp>
      </p:grpSp>
    </p:spTree>
    <p:extLst>
      <p:ext uri="{BB962C8B-B14F-4D97-AF65-F5344CB8AC3E}">
        <p14:creationId xmlns:p14="http://schemas.microsoft.com/office/powerpoint/2010/main" val="29255695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lstStyle/>
          <a:p>
            <a:r>
              <a:rPr lang="en-IN" dirty="0"/>
              <a:t>Principles of Research Ethics</a:t>
            </a:r>
          </a:p>
        </p:txBody>
      </p:sp>
      <p:sp>
        <p:nvSpPr>
          <p:cNvPr id="4" name="Content Placeholder 3"/>
          <p:cNvSpPr>
            <a:spLocks noGrp="1"/>
          </p:cNvSpPr>
          <p:nvPr>
            <p:ph idx="1"/>
          </p:nvPr>
        </p:nvSpPr>
        <p:spPr>
          <a:xfrm>
            <a:off x="304800" y="762000"/>
            <a:ext cx="8382000" cy="5791200"/>
          </a:xfrm>
        </p:spPr>
        <p:txBody>
          <a:bodyPr>
            <a:normAutofit fontScale="70000" lnSpcReduction="20000"/>
          </a:bodyPr>
          <a:lstStyle/>
          <a:p>
            <a:pPr marL="0" indent="0">
              <a:buNone/>
            </a:pPr>
            <a:r>
              <a:rPr lang="en-IN" b="1" dirty="0"/>
              <a:t>The general principles of research ethics are:</a:t>
            </a:r>
          </a:p>
          <a:p>
            <a:r>
              <a:rPr lang="en-IN" b="1" dirty="0">
                <a:solidFill>
                  <a:srgbClr val="0070C0"/>
                </a:solidFill>
              </a:rPr>
              <a:t>Honesty</a:t>
            </a:r>
          </a:p>
          <a:p>
            <a:pPr lvl="1">
              <a:buFont typeface="Courier New" pitchFamily="49" charset="0"/>
              <a:buChar char="o"/>
            </a:pPr>
            <a:r>
              <a:rPr lang="en-IN" dirty="0"/>
              <a:t>Being honest with the beneficiaries and respondents. </a:t>
            </a:r>
          </a:p>
          <a:p>
            <a:pPr lvl="1">
              <a:buFont typeface="Courier New" pitchFamily="49" charset="0"/>
              <a:buChar char="o"/>
            </a:pPr>
            <a:r>
              <a:rPr lang="en-IN" dirty="0"/>
              <a:t>Being honest about the findings and methodology of the research. </a:t>
            </a:r>
          </a:p>
          <a:p>
            <a:pPr lvl="1">
              <a:buFont typeface="Courier New" pitchFamily="49" charset="0"/>
              <a:buChar char="o"/>
            </a:pPr>
            <a:r>
              <a:rPr lang="en-IN" dirty="0"/>
              <a:t>Being honest with other direct and indirect stakeholders.</a:t>
            </a:r>
          </a:p>
          <a:p>
            <a:r>
              <a:rPr lang="en-IN" b="1" dirty="0">
                <a:solidFill>
                  <a:srgbClr val="0070C0"/>
                </a:solidFill>
              </a:rPr>
              <a:t>Integrity</a:t>
            </a:r>
          </a:p>
          <a:p>
            <a:pPr lvl="1">
              <a:buFont typeface="Courier New" pitchFamily="49" charset="0"/>
              <a:buChar char="o"/>
            </a:pPr>
            <a:r>
              <a:rPr lang="en-IN" dirty="0"/>
              <a:t>Ensuring honesty and sincerity. </a:t>
            </a:r>
          </a:p>
          <a:p>
            <a:pPr lvl="1">
              <a:buFont typeface="Courier New" pitchFamily="49" charset="0"/>
              <a:buChar char="o"/>
            </a:pPr>
            <a:r>
              <a:rPr lang="en-IN" dirty="0"/>
              <a:t>Fulfilling agreements and promises. </a:t>
            </a:r>
          </a:p>
          <a:p>
            <a:pPr lvl="1">
              <a:buFont typeface="Courier New" pitchFamily="49" charset="0"/>
              <a:buChar char="o"/>
            </a:pPr>
            <a:r>
              <a:rPr lang="en-IN" dirty="0"/>
              <a:t>Do not create false expectations or make false promises.</a:t>
            </a:r>
          </a:p>
          <a:p>
            <a:r>
              <a:rPr lang="en-IN" b="1" dirty="0">
                <a:solidFill>
                  <a:srgbClr val="0070C0"/>
                </a:solidFill>
              </a:rPr>
              <a:t>Objectivity</a:t>
            </a:r>
          </a:p>
          <a:p>
            <a:pPr lvl="1">
              <a:buFont typeface="Courier New" pitchFamily="49" charset="0"/>
              <a:buChar char="o"/>
            </a:pPr>
            <a:r>
              <a:rPr lang="en-IN" dirty="0"/>
              <a:t>Avoiding bias in experimental design, data analysis, data interpretation, peer review, and other aspects of research.</a:t>
            </a:r>
          </a:p>
          <a:p>
            <a:r>
              <a:rPr lang="en-IN" b="1" dirty="0">
                <a:solidFill>
                  <a:srgbClr val="0070C0"/>
                </a:solidFill>
              </a:rPr>
              <a:t>Informed consent</a:t>
            </a:r>
          </a:p>
          <a:p>
            <a:pPr lvl="1" fontAlgn="base">
              <a:buFont typeface="Courier New" pitchFamily="49" charset="0"/>
              <a:buChar char="o"/>
            </a:pPr>
            <a:r>
              <a:rPr lang="en-IN" dirty="0"/>
              <a:t>Informed consent means that a person knowingly, voluntarily and intelligently gives consent to participate in a research.</a:t>
            </a:r>
          </a:p>
          <a:p>
            <a:pPr lvl="1" fontAlgn="base">
              <a:buFont typeface="Courier New" pitchFamily="49" charset="0"/>
              <a:buChar char="o"/>
            </a:pPr>
            <a:r>
              <a:rPr lang="en-IN" dirty="0"/>
              <a:t>Informed consent is related to the autonomous right of the individual to participate in the research.</a:t>
            </a:r>
          </a:p>
          <a:p>
            <a:pPr lvl="1" fontAlgn="base">
              <a:buFont typeface="Courier New" pitchFamily="49" charset="0"/>
              <a:buChar char="o"/>
            </a:pPr>
            <a:r>
              <a:rPr lang="en-IN" dirty="0"/>
              <a:t>Informing the participant about the research objective, their role, benefits/harms (if any) etc.</a:t>
            </a:r>
          </a:p>
          <a:p>
            <a:endParaRPr lang="en-IN" dirty="0"/>
          </a:p>
        </p:txBody>
      </p:sp>
    </p:spTree>
    <p:extLst>
      <p:ext uri="{BB962C8B-B14F-4D97-AF65-F5344CB8AC3E}">
        <p14:creationId xmlns:p14="http://schemas.microsoft.com/office/powerpoint/2010/main" val="6550129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lstStyle/>
          <a:p>
            <a:r>
              <a:rPr lang="en-IN" dirty="0"/>
              <a:t>Principles of Research Ethics</a:t>
            </a:r>
          </a:p>
        </p:txBody>
      </p:sp>
      <p:sp>
        <p:nvSpPr>
          <p:cNvPr id="4" name="Content Placeholder 3"/>
          <p:cNvSpPr>
            <a:spLocks noGrp="1"/>
          </p:cNvSpPr>
          <p:nvPr>
            <p:ph idx="1"/>
          </p:nvPr>
        </p:nvSpPr>
        <p:spPr>
          <a:xfrm>
            <a:off x="304800" y="762000"/>
            <a:ext cx="8229600" cy="5791200"/>
          </a:xfrm>
        </p:spPr>
        <p:txBody>
          <a:bodyPr>
            <a:normAutofit fontScale="62500" lnSpcReduction="20000"/>
          </a:bodyPr>
          <a:lstStyle/>
          <a:p>
            <a:r>
              <a:rPr lang="en-IN" dirty="0"/>
              <a:t>The general principles of research ethics are:</a:t>
            </a:r>
          </a:p>
          <a:p>
            <a:r>
              <a:rPr lang="en-IN" b="1" dirty="0">
                <a:solidFill>
                  <a:srgbClr val="0070C0"/>
                </a:solidFill>
              </a:rPr>
              <a:t>Respect for person/respondent</a:t>
            </a:r>
          </a:p>
          <a:p>
            <a:pPr lvl="1" fontAlgn="base">
              <a:buFont typeface="Courier New" pitchFamily="49" charset="0"/>
              <a:buChar char="o"/>
            </a:pPr>
            <a:r>
              <a:rPr lang="en-IN" dirty="0"/>
              <a:t>Autonomy, which requires that those who are capable of deliberation about their personal goals should be treated with respect for their capacity for self-determination; and</a:t>
            </a:r>
          </a:p>
          <a:p>
            <a:pPr lvl="1" fontAlgn="base">
              <a:buFont typeface="Courier New" pitchFamily="49" charset="0"/>
              <a:buChar char="o"/>
            </a:pPr>
            <a:r>
              <a:rPr lang="en-IN" dirty="0"/>
              <a:t>Protection of persons with impaired or diminished autonomy, which requires that those who are dependent or vulnerable be afforded security against harm or abuse.</a:t>
            </a:r>
          </a:p>
          <a:p>
            <a:r>
              <a:rPr lang="en-IN" b="1" dirty="0">
                <a:solidFill>
                  <a:srgbClr val="0070C0"/>
                </a:solidFill>
              </a:rPr>
              <a:t>Beneficence</a:t>
            </a:r>
          </a:p>
          <a:p>
            <a:pPr lvl="1">
              <a:buFont typeface="Courier New" pitchFamily="49" charset="0"/>
              <a:buChar char="o"/>
            </a:pPr>
            <a:r>
              <a:rPr lang="en-IN" dirty="0"/>
              <a:t>Maximize the benefits of the participants. Ethical obligation to maximize possible benefits and to minimize possible harms to the respondents.</a:t>
            </a:r>
          </a:p>
          <a:p>
            <a:r>
              <a:rPr lang="en-IN" b="1" dirty="0">
                <a:solidFill>
                  <a:srgbClr val="0070C0"/>
                </a:solidFill>
              </a:rPr>
              <a:t>Non-maleficence/ Protecting the subjects (human)</a:t>
            </a:r>
          </a:p>
          <a:p>
            <a:pPr lvl="1">
              <a:buFont typeface="Courier New" pitchFamily="49" charset="0"/>
              <a:buChar char="o"/>
            </a:pPr>
            <a:r>
              <a:rPr lang="en-IN" dirty="0"/>
              <a:t>Do no harm. Minimize harm/s or risks to the human. Ensure privacy, autonomy and dignity.</a:t>
            </a:r>
          </a:p>
          <a:p>
            <a:r>
              <a:rPr lang="en-IN" b="1" dirty="0">
                <a:solidFill>
                  <a:srgbClr val="0070C0"/>
                </a:solidFill>
              </a:rPr>
              <a:t>Responsible publication</a:t>
            </a:r>
          </a:p>
          <a:p>
            <a:pPr lvl="1">
              <a:buFont typeface="Courier New" pitchFamily="49" charset="0"/>
              <a:buChar char="o"/>
            </a:pPr>
            <a:r>
              <a:rPr lang="en-IN" dirty="0"/>
              <a:t>Responsibly publishing to promote and uptake research or knowledge. No duplicate publication.</a:t>
            </a:r>
          </a:p>
          <a:p>
            <a:r>
              <a:rPr lang="en-IN" b="1" dirty="0">
                <a:solidFill>
                  <a:srgbClr val="0070C0"/>
                </a:solidFill>
              </a:rPr>
              <a:t>Protecting anonymity</a:t>
            </a:r>
          </a:p>
          <a:p>
            <a:pPr lvl="1">
              <a:buFont typeface="Courier New" pitchFamily="49" charset="0"/>
              <a:buChar char="o"/>
            </a:pPr>
            <a:r>
              <a:rPr lang="en-IN" dirty="0"/>
              <a:t>It means keeping the participant anonymous. It involves not revealing the name, caste or any other information about the participants that may reveal his/her identity.</a:t>
            </a:r>
          </a:p>
        </p:txBody>
      </p:sp>
    </p:spTree>
    <p:extLst>
      <p:ext uri="{BB962C8B-B14F-4D97-AF65-F5344CB8AC3E}">
        <p14:creationId xmlns:p14="http://schemas.microsoft.com/office/powerpoint/2010/main" val="6995013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lstStyle/>
          <a:p>
            <a:r>
              <a:rPr lang="en-IN" dirty="0"/>
              <a:t>Principles of Research Ethics</a:t>
            </a:r>
          </a:p>
        </p:txBody>
      </p:sp>
      <p:sp>
        <p:nvSpPr>
          <p:cNvPr id="4" name="Content Placeholder 3"/>
          <p:cNvSpPr>
            <a:spLocks noGrp="1"/>
          </p:cNvSpPr>
          <p:nvPr>
            <p:ph idx="1"/>
          </p:nvPr>
        </p:nvSpPr>
        <p:spPr>
          <a:xfrm>
            <a:off x="304800" y="762000"/>
            <a:ext cx="8229600" cy="5791200"/>
          </a:xfrm>
        </p:spPr>
        <p:txBody>
          <a:bodyPr>
            <a:normAutofit fontScale="70000" lnSpcReduction="20000"/>
          </a:bodyPr>
          <a:lstStyle/>
          <a:p>
            <a:r>
              <a:rPr lang="en-IN" dirty="0"/>
              <a:t>The general principles of research ethics are:</a:t>
            </a:r>
          </a:p>
          <a:p>
            <a:r>
              <a:rPr lang="en-IN" b="1" dirty="0">
                <a:solidFill>
                  <a:srgbClr val="0070C0"/>
                </a:solidFill>
              </a:rPr>
              <a:t>Confidentiality</a:t>
            </a:r>
          </a:p>
          <a:p>
            <a:pPr lvl="1" fontAlgn="base">
              <a:buFont typeface="Wingdings" pitchFamily="2" charset="2"/>
              <a:buChar char="§"/>
            </a:pPr>
            <a:r>
              <a:rPr lang="en-IN" dirty="0"/>
              <a:t>Protecting confidential information, personnel records. It includes information such as:</a:t>
            </a:r>
          </a:p>
          <a:p>
            <a:pPr lvl="1" fontAlgn="base">
              <a:buFont typeface="Courier New" pitchFamily="49" charset="0"/>
              <a:buChar char="o"/>
            </a:pPr>
            <a:r>
              <a:rPr lang="en-IN" dirty="0"/>
              <a:t>Introduction and objective of the research</a:t>
            </a:r>
          </a:p>
          <a:p>
            <a:pPr lvl="1" fontAlgn="base">
              <a:buFont typeface="Courier New" pitchFamily="49" charset="0"/>
              <a:buChar char="o"/>
            </a:pPr>
            <a:r>
              <a:rPr lang="en-IN" dirty="0"/>
              <a:t>Purpose of the discussion</a:t>
            </a:r>
          </a:p>
          <a:p>
            <a:pPr lvl="1" fontAlgn="base">
              <a:buFont typeface="Courier New" pitchFamily="49" charset="0"/>
              <a:buChar char="o"/>
            </a:pPr>
            <a:r>
              <a:rPr lang="en-IN" dirty="0"/>
              <a:t>Procedure of the research</a:t>
            </a:r>
          </a:p>
          <a:p>
            <a:pPr lvl="1" fontAlgn="base">
              <a:buFont typeface="Courier New" pitchFamily="49" charset="0"/>
              <a:buChar char="o"/>
            </a:pPr>
            <a:r>
              <a:rPr lang="en-IN" dirty="0"/>
              <a:t>Anticipated advantages, benefits/harm from the research (if any)</a:t>
            </a:r>
          </a:p>
          <a:p>
            <a:pPr lvl="1" fontAlgn="base">
              <a:buFont typeface="Courier New" pitchFamily="49" charset="0"/>
              <a:buChar char="o"/>
            </a:pPr>
            <a:r>
              <a:rPr lang="en-IN" dirty="0"/>
              <a:t>Use of research</a:t>
            </a:r>
          </a:p>
          <a:p>
            <a:pPr lvl="1" fontAlgn="base">
              <a:buFont typeface="Courier New" pitchFamily="49" charset="0"/>
              <a:buChar char="o"/>
            </a:pPr>
            <a:r>
              <a:rPr lang="en-IN" dirty="0"/>
              <a:t>Their role in research</a:t>
            </a:r>
          </a:p>
          <a:p>
            <a:pPr lvl="1" fontAlgn="base">
              <a:buFont typeface="Courier New" pitchFamily="49" charset="0"/>
              <a:buChar char="o"/>
            </a:pPr>
            <a:r>
              <a:rPr lang="en-IN" dirty="0"/>
              <a:t>Right to refuse or withdraw</a:t>
            </a:r>
          </a:p>
          <a:p>
            <a:pPr lvl="1" fontAlgn="base">
              <a:buFont typeface="Courier New" pitchFamily="49" charset="0"/>
              <a:buChar char="o"/>
            </a:pPr>
            <a:r>
              <a:rPr lang="en-IN" dirty="0"/>
              <a:t>Methods which will be used to protect anonymity and confidentiality of the participant</a:t>
            </a:r>
          </a:p>
          <a:p>
            <a:pPr lvl="1" fontAlgn="base">
              <a:buFont typeface="Courier New" pitchFamily="49" charset="0"/>
              <a:buChar char="o"/>
            </a:pPr>
            <a:r>
              <a:rPr lang="en-IN" dirty="0"/>
              <a:t>Freedom to not answer any question/withdraw from the research</a:t>
            </a:r>
          </a:p>
          <a:p>
            <a:pPr lvl="1" fontAlgn="base">
              <a:buFont typeface="Courier New" pitchFamily="49" charset="0"/>
              <a:buChar char="o"/>
            </a:pPr>
            <a:r>
              <a:rPr lang="en-IN" dirty="0"/>
              <a:t>Who to contact if the participant needs additional information about the research.</a:t>
            </a:r>
          </a:p>
          <a:p>
            <a:endParaRPr lang="en-IN" b="1" dirty="0"/>
          </a:p>
        </p:txBody>
      </p:sp>
    </p:spTree>
    <p:extLst>
      <p:ext uri="{BB962C8B-B14F-4D97-AF65-F5344CB8AC3E}">
        <p14:creationId xmlns:p14="http://schemas.microsoft.com/office/powerpoint/2010/main" val="36512873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lstStyle/>
          <a:p>
            <a:r>
              <a:rPr lang="en-IN" dirty="0"/>
              <a:t>Principles of Research Ethics</a:t>
            </a:r>
          </a:p>
        </p:txBody>
      </p:sp>
      <p:sp>
        <p:nvSpPr>
          <p:cNvPr id="4" name="Content Placeholder 3"/>
          <p:cNvSpPr>
            <a:spLocks noGrp="1"/>
          </p:cNvSpPr>
          <p:nvPr>
            <p:ph idx="1"/>
          </p:nvPr>
        </p:nvSpPr>
        <p:spPr>
          <a:xfrm>
            <a:off x="304800" y="762000"/>
            <a:ext cx="8229600" cy="5791200"/>
          </a:xfrm>
        </p:spPr>
        <p:txBody>
          <a:bodyPr>
            <a:normAutofit fontScale="77500" lnSpcReduction="20000"/>
          </a:bodyPr>
          <a:lstStyle/>
          <a:p>
            <a:r>
              <a:rPr lang="en-IN" dirty="0"/>
              <a:t>The general principles of research ethics are:</a:t>
            </a:r>
          </a:p>
          <a:p>
            <a:r>
              <a:rPr lang="en-IN" b="1" dirty="0">
                <a:solidFill>
                  <a:srgbClr val="0070C0"/>
                </a:solidFill>
              </a:rPr>
              <a:t>Non-discrimination</a:t>
            </a:r>
          </a:p>
          <a:p>
            <a:pPr lvl="1">
              <a:buFont typeface="Courier New" pitchFamily="49" charset="0"/>
              <a:buChar char="o"/>
            </a:pPr>
            <a:r>
              <a:rPr lang="en-IN" dirty="0"/>
              <a:t>Avoid discrimination on the basis of age, sex, race, ethnicity or other factors that are violation of human rights and are not related to the study.</a:t>
            </a:r>
          </a:p>
          <a:p>
            <a:r>
              <a:rPr lang="en-IN" b="1" dirty="0">
                <a:solidFill>
                  <a:srgbClr val="0070C0"/>
                </a:solidFill>
              </a:rPr>
              <a:t>Openness</a:t>
            </a:r>
          </a:p>
          <a:p>
            <a:pPr lvl="1">
              <a:buFont typeface="Courier New" pitchFamily="49" charset="0"/>
              <a:buChar char="o"/>
            </a:pPr>
            <a:r>
              <a:rPr lang="en-IN" dirty="0"/>
              <a:t>Be open to sharing results, data and other resources. Also accept encouraging comments and constructive feedback.</a:t>
            </a:r>
          </a:p>
          <a:p>
            <a:r>
              <a:rPr lang="en-IN" b="1" dirty="0">
                <a:solidFill>
                  <a:srgbClr val="0070C0"/>
                </a:solidFill>
              </a:rPr>
              <a:t>Carefulness and respect for intellectual property</a:t>
            </a:r>
          </a:p>
          <a:p>
            <a:pPr lvl="1" fontAlgn="base">
              <a:buFont typeface="Courier New" pitchFamily="49" charset="0"/>
              <a:buChar char="o"/>
            </a:pPr>
            <a:r>
              <a:rPr lang="en-IN" dirty="0"/>
              <a:t>Be careful about the possible error and biases.</a:t>
            </a:r>
          </a:p>
          <a:p>
            <a:pPr lvl="1" fontAlgn="base">
              <a:buFont typeface="Courier New" pitchFamily="49" charset="0"/>
              <a:buChar char="o"/>
            </a:pPr>
            <a:r>
              <a:rPr lang="en-IN" dirty="0"/>
              <a:t>Give credit to the intellectual property of others. Always paraphrase while referring to others article, writing. Never plagiarize.</a:t>
            </a:r>
          </a:p>
          <a:p>
            <a:r>
              <a:rPr lang="en-IN" b="1" dirty="0">
                <a:solidFill>
                  <a:srgbClr val="0070C0"/>
                </a:solidFill>
              </a:rPr>
              <a:t>Justice</a:t>
            </a:r>
          </a:p>
          <a:p>
            <a:pPr lvl="1">
              <a:buFont typeface="Courier New" pitchFamily="49" charset="0"/>
              <a:buChar char="o"/>
            </a:pPr>
            <a:r>
              <a:rPr lang="en-IN" dirty="0"/>
              <a:t>The obligation to distribute benefits and burdens fairly, to treat equals equally, and to give reasons for differential treatment based on widely accepted criteria for just ways to distribute benefits and burdens.</a:t>
            </a:r>
            <a:endParaRPr lang="en-US" b="1" dirty="0"/>
          </a:p>
          <a:p>
            <a:endParaRPr lang="en-IN" b="1" dirty="0"/>
          </a:p>
        </p:txBody>
      </p:sp>
    </p:spTree>
    <p:extLst>
      <p:ext uri="{BB962C8B-B14F-4D97-AF65-F5344CB8AC3E}">
        <p14:creationId xmlns:p14="http://schemas.microsoft.com/office/powerpoint/2010/main" val="38184954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Broad Categorization of Research Ethics</a:t>
            </a:r>
          </a:p>
        </p:txBody>
      </p:sp>
      <p:sp>
        <p:nvSpPr>
          <p:cNvPr id="3" name="Content Placeholder 2"/>
          <p:cNvSpPr>
            <a:spLocks noGrp="1"/>
          </p:cNvSpPr>
          <p:nvPr>
            <p:ph idx="1"/>
          </p:nvPr>
        </p:nvSpPr>
        <p:spPr>
          <a:xfrm>
            <a:off x="457200" y="1905000"/>
            <a:ext cx="8229600" cy="4221163"/>
          </a:xfrm>
        </p:spPr>
        <p:txBody>
          <a:bodyPr>
            <a:normAutofit/>
          </a:bodyPr>
          <a:lstStyle/>
          <a:p>
            <a:pPr marL="0" indent="0" fontAlgn="base">
              <a:buNone/>
            </a:pPr>
            <a:r>
              <a:rPr lang="en-IN" sz="2400" dirty="0"/>
              <a:t>1. MINIMIZING THE RISK OF HARM</a:t>
            </a:r>
          </a:p>
          <a:p>
            <a:pPr marL="0" indent="0" fontAlgn="base">
              <a:buNone/>
            </a:pPr>
            <a:r>
              <a:rPr lang="en-IN" sz="2400" dirty="0"/>
              <a:t>2. OBTAINING INFORMED CONSENT </a:t>
            </a:r>
          </a:p>
          <a:p>
            <a:pPr marL="0" indent="0" fontAlgn="base">
              <a:buNone/>
            </a:pPr>
            <a:r>
              <a:rPr lang="en-IN" sz="2400" dirty="0"/>
              <a:t>3. PROTECTING ANONYMITY AND CONFIDENTIALITY</a:t>
            </a:r>
          </a:p>
          <a:p>
            <a:pPr marL="0" indent="0" fontAlgn="base">
              <a:buNone/>
            </a:pPr>
            <a:r>
              <a:rPr lang="en-IN" sz="2400" dirty="0"/>
              <a:t>4. AVOIDING MISLEADING PRACTICES</a:t>
            </a:r>
          </a:p>
          <a:p>
            <a:pPr marL="0" indent="0" fontAlgn="base">
              <a:buNone/>
            </a:pPr>
            <a:r>
              <a:rPr lang="en-IN" sz="2400" dirty="0"/>
              <a:t>5. PROVIDING THE RIGHT TO WITHDRAW</a:t>
            </a:r>
          </a:p>
          <a:p>
            <a:pPr marL="0" indent="0">
              <a:buNone/>
            </a:pPr>
            <a:endParaRPr lang="en-IN" sz="2400" dirty="0"/>
          </a:p>
        </p:txBody>
      </p:sp>
    </p:spTree>
    <p:extLst>
      <p:ext uri="{BB962C8B-B14F-4D97-AF65-F5344CB8AC3E}">
        <p14:creationId xmlns:p14="http://schemas.microsoft.com/office/powerpoint/2010/main" val="16173103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pPr marL="0" indent="0" fontAlgn="base">
              <a:buNone/>
            </a:pPr>
            <a:r>
              <a:rPr lang="en-IN" b="1" u="sng" dirty="0"/>
              <a:t>1. MINIMIZING THE RISK OF HARM</a:t>
            </a:r>
            <a:endParaRPr lang="en-IN" dirty="0"/>
          </a:p>
          <a:p>
            <a:pPr fontAlgn="base"/>
            <a:r>
              <a:rPr lang="en-IN" dirty="0"/>
              <a:t>It is necessary to minimize any sort of harm to the participants. There are a number of forms of harm that participants can be exposed to. They are:</a:t>
            </a:r>
          </a:p>
          <a:p>
            <a:pPr lvl="1" fontAlgn="base">
              <a:buFont typeface="Courier New" pitchFamily="49" charset="0"/>
              <a:buChar char="o"/>
            </a:pPr>
            <a:r>
              <a:rPr lang="en-IN" dirty="0"/>
              <a:t>Bodily harm to contributors.</a:t>
            </a:r>
          </a:p>
          <a:p>
            <a:pPr lvl="1" fontAlgn="base">
              <a:buFont typeface="Courier New" pitchFamily="49" charset="0"/>
              <a:buChar char="o"/>
            </a:pPr>
            <a:r>
              <a:rPr lang="en-IN" dirty="0"/>
              <a:t>Psychological agony and embarrassment.</a:t>
            </a:r>
          </a:p>
          <a:p>
            <a:pPr lvl="1" fontAlgn="base">
              <a:buFont typeface="Courier New" pitchFamily="49" charset="0"/>
              <a:buChar char="o"/>
            </a:pPr>
            <a:r>
              <a:rPr lang="en-IN" dirty="0"/>
              <a:t>Social drawback.</a:t>
            </a:r>
          </a:p>
          <a:p>
            <a:pPr lvl="1" fontAlgn="base">
              <a:buFont typeface="Courier New" pitchFamily="49" charset="0"/>
              <a:buChar char="o"/>
            </a:pPr>
            <a:r>
              <a:rPr lang="en-IN" dirty="0"/>
              <a:t>Violation of participant’s confidentiality and privacy.</a:t>
            </a:r>
          </a:p>
          <a:p>
            <a:pPr fontAlgn="base"/>
            <a:r>
              <a:rPr lang="en-IN" dirty="0"/>
              <a:t>In order to minimize the risk of harm, the researcher/data collector should:</a:t>
            </a:r>
          </a:p>
          <a:p>
            <a:pPr lvl="1" fontAlgn="base">
              <a:buFont typeface="Courier New" pitchFamily="49" charset="0"/>
              <a:buChar char="o"/>
            </a:pPr>
            <a:r>
              <a:rPr lang="en-IN" dirty="0"/>
              <a:t>Obtain </a:t>
            </a:r>
            <a:r>
              <a:rPr lang="en-IN" b="1" dirty="0"/>
              <a:t>informed consent </a:t>
            </a:r>
            <a:r>
              <a:rPr lang="en-IN" dirty="0"/>
              <a:t>from participants.</a:t>
            </a:r>
          </a:p>
          <a:p>
            <a:pPr lvl="1" fontAlgn="base">
              <a:buFont typeface="Courier New" pitchFamily="49" charset="0"/>
              <a:buChar char="o"/>
            </a:pPr>
            <a:r>
              <a:rPr lang="en-IN" dirty="0"/>
              <a:t>Protecting anonymity and confidentiality of participants.</a:t>
            </a:r>
          </a:p>
          <a:p>
            <a:pPr lvl="1" fontAlgn="base">
              <a:buFont typeface="Courier New" pitchFamily="49" charset="0"/>
              <a:buChar char="o"/>
            </a:pPr>
            <a:r>
              <a:rPr lang="en-IN" dirty="0"/>
              <a:t>Avoiding </a:t>
            </a:r>
            <a:r>
              <a:rPr lang="en-IN" b="1" dirty="0"/>
              <a:t>misleading practices </a:t>
            </a:r>
            <a:r>
              <a:rPr lang="en-IN" dirty="0"/>
              <a:t>when planning research.</a:t>
            </a:r>
          </a:p>
          <a:p>
            <a:pPr lvl="1" fontAlgn="base">
              <a:buFont typeface="Courier New" pitchFamily="49" charset="0"/>
              <a:buChar char="o"/>
            </a:pPr>
            <a:r>
              <a:rPr lang="en-IN" dirty="0"/>
              <a:t>Providing participants with the </a:t>
            </a:r>
            <a:r>
              <a:rPr lang="en-IN" b="1" dirty="0"/>
              <a:t>right to withdraw</a:t>
            </a:r>
            <a:r>
              <a:rPr lang="en-IN" dirty="0"/>
              <a:t>.</a:t>
            </a:r>
          </a:p>
        </p:txBody>
      </p:sp>
      <p:sp>
        <p:nvSpPr>
          <p:cNvPr id="6" name="Title 1">
            <a:extLst>
              <a:ext uri="{FF2B5EF4-FFF2-40B4-BE49-F238E27FC236}">
                <a16:creationId xmlns:a16="http://schemas.microsoft.com/office/drawing/2014/main" id="{74FE29BD-68AE-8ADF-B9FD-F8EC8D7CF29C}"/>
              </a:ext>
            </a:extLst>
          </p:cNvPr>
          <p:cNvSpPr txBox="1">
            <a:spLocks/>
          </p:cNvSpPr>
          <p:nvPr/>
        </p:nvSpPr>
        <p:spPr>
          <a:xfrm>
            <a:off x="609600" y="427038"/>
            <a:ext cx="8229600" cy="1143000"/>
          </a:xfrm>
          <a:prstGeom prst="rect">
            <a:avLst/>
          </a:prstGeom>
        </p:spPr>
        <p:txBody>
          <a:bodyPr vert="horz" lIns="91440" tIns="45720" rIns="91440" bIns="45720" rtlCol="0" anchor="ctr">
            <a:normAutofit fontScale="9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a:t>Broad Categorization of Research Ethics</a:t>
            </a:r>
            <a:endParaRPr lang="en-IN" dirty="0"/>
          </a:p>
        </p:txBody>
      </p:sp>
    </p:spTree>
    <p:extLst>
      <p:ext uri="{BB962C8B-B14F-4D97-AF65-F5344CB8AC3E}">
        <p14:creationId xmlns:p14="http://schemas.microsoft.com/office/powerpoint/2010/main" val="31378977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marL="0" indent="0" fontAlgn="base">
              <a:buNone/>
            </a:pPr>
            <a:r>
              <a:rPr lang="en-IN" sz="2000" b="1" u="sng" dirty="0"/>
              <a:t>2. OBTAINING INFORMED CONSENT </a:t>
            </a:r>
          </a:p>
          <a:p>
            <a:pPr fontAlgn="base"/>
            <a:r>
              <a:rPr lang="en-IN" sz="2000" dirty="0"/>
              <a:t>One of the fundamentals of research ethics is the notion of </a:t>
            </a:r>
            <a:r>
              <a:rPr lang="en-IN" sz="2000" b="1" dirty="0"/>
              <a:t>informed consent</a:t>
            </a:r>
            <a:r>
              <a:rPr lang="en-IN" sz="2000" dirty="0"/>
              <a:t>.</a:t>
            </a:r>
          </a:p>
          <a:p>
            <a:pPr fontAlgn="base"/>
            <a:r>
              <a:rPr lang="en-IN" sz="2000" dirty="0"/>
              <a:t>Informed consent means that a </a:t>
            </a:r>
            <a:r>
              <a:rPr lang="en-IN" sz="2000" b="1" dirty="0"/>
              <a:t>person knowingly, voluntarily and intelligently gives consent to participate in a research.</a:t>
            </a:r>
            <a:endParaRPr lang="en-IN" sz="2000" dirty="0"/>
          </a:p>
          <a:p>
            <a:pPr marL="0" indent="0" fontAlgn="base">
              <a:buNone/>
            </a:pPr>
            <a:r>
              <a:rPr lang="en-IN" sz="2000" dirty="0"/>
              <a:t>Informed consent means that the participants should be well-informed about the:</a:t>
            </a:r>
          </a:p>
          <a:p>
            <a:pPr lvl="1" fontAlgn="base">
              <a:buFont typeface="Courier New" pitchFamily="49" charset="0"/>
              <a:buChar char="o"/>
            </a:pPr>
            <a:r>
              <a:rPr lang="en-IN" sz="1600" dirty="0"/>
              <a:t>Introduction and objective of the research</a:t>
            </a:r>
          </a:p>
          <a:p>
            <a:pPr lvl="1" fontAlgn="base">
              <a:buFont typeface="Courier New" pitchFamily="49" charset="0"/>
              <a:buChar char="o"/>
            </a:pPr>
            <a:r>
              <a:rPr lang="en-IN" sz="1600" dirty="0"/>
              <a:t>Purpose of the discussion</a:t>
            </a:r>
          </a:p>
          <a:p>
            <a:pPr lvl="1" fontAlgn="base">
              <a:buFont typeface="Courier New" pitchFamily="49" charset="0"/>
              <a:buChar char="o"/>
            </a:pPr>
            <a:r>
              <a:rPr lang="en-IN" sz="1600" dirty="0"/>
              <a:t>Anticipated advantages, benefits/harm from the research (if any)</a:t>
            </a:r>
          </a:p>
          <a:p>
            <a:pPr lvl="1" fontAlgn="base">
              <a:buFont typeface="Courier New" pitchFamily="49" charset="0"/>
              <a:buChar char="o"/>
            </a:pPr>
            <a:r>
              <a:rPr lang="en-IN" sz="1600" dirty="0"/>
              <a:t>Use of research</a:t>
            </a:r>
          </a:p>
          <a:p>
            <a:pPr lvl="1" fontAlgn="base">
              <a:buFont typeface="Courier New" pitchFamily="49" charset="0"/>
              <a:buChar char="o"/>
            </a:pPr>
            <a:r>
              <a:rPr lang="en-IN" sz="1600" dirty="0"/>
              <a:t>Their role in research</a:t>
            </a:r>
          </a:p>
          <a:p>
            <a:pPr lvl="1" fontAlgn="base">
              <a:buFont typeface="Courier New" pitchFamily="49" charset="0"/>
              <a:buChar char="o"/>
            </a:pPr>
            <a:r>
              <a:rPr lang="en-IN" sz="1600" dirty="0"/>
              <a:t>Methods which will be used to protect anonymity and confidentiality of the participant</a:t>
            </a:r>
          </a:p>
          <a:p>
            <a:pPr lvl="1" fontAlgn="base">
              <a:buFont typeface="Courier New" pitchFamily="49" charset="0"/>
              <a:buChar char="o"/>
            </a:pPr>
            <a:r>
              <a:rPr lang="en-IN" sz="1600" dirty="0"/>
              <a:t>Freedom to not answer any question/withdraw from the research</a:t>
            </a:r>
          </a:p>
          <a:p>
            <a:pPr lvl="1" fontAlgn="base">
              <a:buFont typeface="Courier New" pitchFamily="49" charset="0"/>
              <a:buChar char="o"/>
            </a:pPr>
            <a:r>
              <a:rPr lang="en-IN" sz="1600" dirty="0"/>
              <a:t>Who to contact if the participant need additional information about the research</a:t>
            </a:r>
          </a:p>
        </p:txBody>
      </p:sp>
      <p:sp>
        <p:nvSpPr>
          <p:cNvPr id="6" name="Title 1">
            <a:extLst>
              <a:ext uri="{FF2B5EF4-FFF2-40B4-BE49-F238E27FC236}">
                <a16:creationId xmlns:a16="http://schemas.microsoft.com/office/drawing/2014/main" id="{65263593-439A-6BC3-00BF-9BAC0EA94158}"/>
              </a:ext>
            </a:extLst>
          </p:cNvPr>
          <p:cNvSpPr>
            <a:spLocks noGrp="1"/>
          </p:cNvSpPr>
          <p:nvPr>
            <p:ph type="title"/>
          </p:nvPr>
        </p:nvSpPr>
        <p:spPr>
          <a:xfrm>
            <a:off x="457200" y="274638"/>
            <a:ext cx="8229600" cy="1143000"/>
          </a:xfrm>
        </p:spPr>
        <p:txBody>
          <a:bodyPr>
            <a:normAutofit fontScale="90000"/>
          </a:bodyPr>
          <a:lstStyle/>
          <a:p>
            <a:r>
              <a:rPr lang="en-IN" dirty="0"/>
              <a:t>Broad Categorization of Research Ethics</a:t>
            </a:r>
          </a:p>
        </p:txBody>
      </p:sp>
    </p:spTree>
    <p:extLst>
      <p:ext uri="{BB962C8B-B14F-4D97-AF65-F5344CB8AC3E}">
        <p14:creationId xmlns:p14="http://schemas.microsoft.com/office/powerpoint/2010/main" val="14605027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pPr marL="0" indent="0" fontAlgn="base">
              <a:buNone/>
            </a:pPr>
            <a:r>
              <a:rPr lang="en-IN" b="1" u="sng" dirty="0"/>
              <a:t>3. PROTECTING ANONYMITY AND CONFIDENTIALITY</a:t>
            </a:r>
            <a:endParaRPr lang="en-IN" dirty="0"/>
          </a:p>
          <a:p>
            <a:pPr marL="457200" lvl="1" indent="0" fontAlgn="base">
              <a:buNone/>
            </a:pPr>
            <a:r>
              <a:rPr lang="en-IN" dirty="0"/>
              <a:t>Protecting the </a:t>
            </a:r>
            <a:r>
              <a:rPr lang="en-IN" b="1" dirty="0"/>
              <a:t>anonymity</a:t>
            </a:r>
            <a:r>
              <a:rPr lang="en-IN" dirty="0"/>
              <a:t> and </a:t>
            </a:r>
            <a:r>
              <a:rPr lang="en-IN" b="1" dirty="0"/>
              <a:t>confidentiality</a:t>
            </a:r>
            <a:r>
              <a:rPr lang="en-IN" dirty="0"/>
              <a:t> of research participants is an additionally applied constituent of research ethics.</a:t>
            </a:r>
          </a:p>
          <a:p>
            <a:pPr lvl="1" fontAlgn="base">
              <a:buFont typeface="Wingdings" pitchFamily="2" charset="2"/>
              <a:buChar char="§"/>
            </a:pPr>
            <a:r>
              <a:rPr lang="en-IN" b="1" u="sng" dirty="0"/>
              <a:t>Protecting anonymity:</a:t>
            </a:r>
            <a:r>
              <a:rPr lang="en-IN" u="sng" dirty="0"/>
              <a:t> </a:t>
            </a:r>
            <a:r>
              <a:rPr lang="en-IN" dirty="0"/>
              <a:t>It means keeping the participant anonymous. It involves not revealing the name, caste or any other information about the participants that may reveal his/her identity.</a:t>
            </a:r>
          </a:p>
          <a:p>
            <a:pPr lvl="1" fontAlgn="base">
              <a:buFont typeface="Wingdings" pitchFamily="2" charset="2"/>
              <a:buChar char="§"/>
            </a:pPr>
            <a:r>
              <a:rPr lang="en-IN" b="1" u="sng" dirty="0"/>
              <a:t>Maintaining confidentiality:</a:t>
            </a:r>
            <a:r>
              <a:rPr lang="en-IN" dirty="0"/>
              <a:t> It refers to ensuring that the information given by the participant are confidential and not shared with anyone, except the research team. It is also about keeping the information secretly from other people.</a:t>
            </a:r>
          </a:p>
          <a:p>
            <a:pPr lvl="1" fontAlgn="base">
              <a:buFont typeface="Wingdings" pitchFamily="2" charset="2"/>
              <a:buChar char="§"/>
            </a:pPr>
            <a:endParaRPr lang="en-IN" dirty="0"/>
          </a:p>
          <a:p>
            <a:pPr marL="0" indent="0" fontAlgn="base">
              <a:buNone/>
            </a:pPr>
            <a:r>
              <a:rPr lang="en-IN" b="1" u="sng" dirty="0"/>
              <a:t>4. AVOIDING MISLEADING PRACTICES</a:t>
            </a:r>
            <a:endParaRPr lang="en-IN" dirty="0"/>
          </a:p>
          <a:p>
            <a:pPr lvl="1" fontAlgn="base">
              <a:buFont typeface="Wingdings" pitchFamily="2" charset="2"/>
              <a:buChar char="§"/>
            </a:pPr>
            <a:r>
              <a:rPr lang="en-IN" dirty="0"/>
              <a:t>The researcher should avoid all the deceptive and misleading practices that might misinform the respondent.</a:t>
            </a:r>
          </a:p>
          <a:p>
            <a:pPr lvl="1" fontAlgn="base">
              <a:buFont typeface="Wingdings" pitchFamily="2" charset="2"/>
              <a:buChar char="§"/>
            </a:pPr>
            <a:r>
              <a:rPr lang="en-IN" dirty="0"/>
              <a:t>It includes avoiding all the activities like communicating wrong messages, giving false assurance, giving false information etc.</a:t>
            </a:r>
          </a:p>
        </p:txBody>
      </p:sp>
      <p:sp>
        <p:nvSpPr>
          <p:cNvPr id="6" name="Title 1">
            <a:extLst>
              <a:ext uri="{FF2B5EF4-FFF2-40B4-BE49-F238E27FC236}">
                <a16:creationId xmlns:a16="http://schemas.microsoft.com/office/drawing/2014/main" id="{DE41A2ED-F86B-9E90-C055-A018CA004248}"/>
              </a:ext>
            </a:extLst>
          </p:cNvPr>
          <p:cNvSpPr>
            <a:spLocks noGrp="1"/>
          </p:cNvSpPr>
          <p:nvPr>
            <p:ph type="title"/>
          </p:nvPr>
        </p:nvSpPr>
        <p:spPr>
          <a:xfrm>
            <a:off x="457200" y="274638"/>
            <a:ext cx="8229600" cy="1143000"/>
          </a:xfrm>
        </p:spPr>
        <p:txBody>
          <a:bodyPr>
            <a:normAutofit fontScale="90000"/>
          </a:bodyPr>
          <a:lstStyle/>
          <a:p>
            <a:r>
              <a:rPr lang="en-IN" dirty="0"/>
              <a:t>Broad Categorization of Research Ethics</a:t>
            </a:r>
          </a:p>
        </p:txBody>
      </p:sp>
    </p:spTree>
    <p:extLst>
      <p:ext uri="{BB962C8B-B14F-4D97-AF65-F5344CB8AC3E}">
        <p14:creationId xmlns:p14="http://schemas.microsoft.com/office/powerpoint/2010/main" val="14605027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1948" y="1143000"/>
            <a:ext cx="8382000" cy="5715000"/>
          </a:xfrm>
        </p:spPr>
        <p:txBody>
          <a:bodyPr>
            <a:noAutofit/>
          </a:bodyPr>
          <a:lstStyle/>
          <a:p>
            <a:pPr marL="0" indent="0" fontAlgn="base">
              <a:buNone/>
            </a:pPr>
            <a:r>
              <a:rPr lang="en-IN" sz="1600" b="1" u="sng" dirty="0"/>
              <a:t>5. PROVIDING THE RIGHT TO WITHDRAW</a:t>
            </a:r>
            <a:endParaRPr lang="en-IN" sz="1600" dirty="0"/>
          </a:p>
          <a:p>
            <a:pPr fontAlgn="base"/>
            <a:r>
              <a:rPr lang="en-IN" sz="1600" dirty="0"/>
              <a:t>Participants have to have the right to withdraw at any point of the research.</a:t>
            </a:r>
          </a:p>
          <a:p>
            <a:pPr fontAlgn="base"/>
            <a:r>
              <a:rPr lang="en-IN" sz="1600" dirty="0"/>
              <a:t>When any respondent decides on to withdraw from the research, they should not be </a:t>
            </a:r>
            <a:r>
              <a:rPr lang="en-IN" sz="1600" b="1" dirty="0"/>
              <a:t>stressed </a:t>
            </a:r>
            <a:r>
              <a:rPr lang="en-IN" sz="1600" dirty="0"/>
              <a:t>or </a:t>
            </a:r>
            <a:r>
              <a:rPr lang="en-IN" sz="1600" b="1" dirty="0"/>
              <a:t>forced</a:t>
            </a:r>
            <a:r>
              <a:rPr lang="en-IN" sz="1600" dirty="0"/>
              <a:t> in any manner to try to discontinue them from withdrawing.</a:t>
            </a:r>
          </a:p>
          <a:p>
            <a:pPr marL="0" indent="0" fontAlgn="base">
              <a:buNone/>
            </a:pPr>
            <a:r>
              <a:rPr lang="en-IN" sz="1600" b="1" dirty="0"/>
              <a:t>Apart from the above-mentioned ethics, </a:t>
            </a:r>
            <a:r>
              <a:rPr lang="en-IN" sz="1600" b="1" u="sng" dirty="0"/>
              <a:t>other ethical aspects things that must be considered</a:t>
            </a:r>
            <a:r>
              <a:rPr lang="en-IN" sz="1600" b="1" dirty="0"/>
              <a:t> while doing research are:</a:t>
            </a:r>
            <a:endParaRPr lang="en-IN" sz="1600" dirty="0"/>
          </a:p>
          <a:p>
            <a:pPr marL="0" indent="0" fontAlgn="base">
              <a:buNone/>
            </a:pPr>
            <a:r>
              <a:rPr lang="en-IN" sz="1600" b="1" dirty="0"/>
              <a:t>Protection of vulnerable groups of people:</a:t>
            </a:r>
            <a:endParaRPr lang="en-IN" sz="1600" dirty="0"/>
          </a:p>
          <a:p>
            <a:pPr fontAlgn="base"/>
            <a:r>
              <a:rPr lang="en-IN" sz="1600" dirty="0"/>
              <a:t>Vulnerability is one distinctive feature of people incapable to protect their moralities and wellbeing. Vulnerable groups comprise captive populations (detainees, established, students, etc.), mentally ill persons, and aged people, children, critically ill or dying, poor, with learning incapacities, sedated or insensible.</a:t>
            </a:r>
          </a:p>
          <a:p>
            <a:pPr fontAlgn="base"/>
            <a:r>
              <a:rPr lang="en-IN" sz="1600" dirty="0"/>
              <a:t>Their participation in research can be endorsed to their incapability to give an informed consent and to the need for their further safety and sensitivity from the research/researcher as they are in a greater risk of being betrayed, exposed or forced to participate.</a:t>
            </a:r>
          </a:p>
          <a:p>
            <a:pPr marL="0" indent="0" fontAlgn="base">
              <a:buNone/>
            </a:pPr>
            <a:r>
              <a:rPr lang="en-IN" sz="1600" b="1" dirty="0"/>
              <a:t> Skills of the researcher:</a:t>
            </a:r>
            <a:endParaRPr lang="en-IN" sz="1600" dirty="0"/>
          </a:p>
          <a:p>
            <a:pPr fontAlgn="base"/>
            <a:r>
              <a:rPr lang="en-IN" sz="1600" dirty="0"/>
              <a:t>Researchers should have the basic skills and familiarity for the specific study to be carried out and be conscious of the bounds of personal competence in research.</a:t>
            </a:r>
          </a:p>
          <a:p>
            <a:pPr fontAlgn="base"/>
            <a:r>
              <a:rPr lang="en-IN" sz="1600" dirty="0"/>
              <a:t>Any lack of knowledge in the area under research must be clearly specified.</a:t>
            </a:r>
          </a:p>
          <a:p>
            <a:pPr fontAlgn="base"/>
            <a:r>
              <a:rPr lang="en-IN" sz="1600" dirty="0"/>
              <a:t>Inexperienced researchers should work under qualified supervision that has to be revised by an ethics commission.</a:t>
            </a:r>
          </a:p>
          <a:p>
            <a:pPr marL="0" indent="0">
              <a:buNone/>
            </a:pPr>
            <a:endParaRPr lang="en-IN" sz="1600" dirty="0"/>
          </a:p>
        </p:txBody>
      </p:sp>
      <p:sp>
        <p:nvSpPr>
          <p:cNvPr id="6" name="Title 1">
            <a:extLst>
              <a:ext uri="{FF2B5EF4-FFF2-40B4-BE49-F238E27FC236}">
                <a16:creationId xmlns:a16="http://schemas.microsoft.com/office/drawing/2014/main" id="{5C536770-E67C-2874-A0DF-BDC645EA79FD}"/>
              </a:ext>
            </a:extLst>
          </p:cNvPr>
          <p:cNvSpPr>
            <a:spLocks noGrp="1"/>
          </p:cNvSpPr>
          <p:nvPr>
            <p:ph type="title"/>
          </p:nvPr>
        </p:nvSpPr>
        <p:spPr>
          <a:xfrm>
            <a:off x="381000" y="0"/>
            <a:ext cx="8229600" cy="1143000"/>
          </a:xfrm>
        </p:spPr>
        <p:txBody>
          <a:bodyPr>
            <a:normAutofit fontScale="90000"/>
          </a:bodyPr>
          <a:lstStyle/>
          <a:p>
            <a:r>
              <a:rPr lang="en-IN" dirty="0"/>
              <a:t>Broad Categorization of Research Ethics</a:t>
            </a:r>
          </a:p>
        </p:txBody>
      </p:sp>
    </p:spTree>
    <p:extLst>
      <p:ext uri="{BB962C8B-B14F-4D97-AF65-F5344CB8AC3E}">
        <p14:creationId xmlns:p14="http://schemas.microsoft.com/office/powerpoint/2010/main" val="14605027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39762"/>
          </a:xfrm>
        </p:spPr>
        <p:txBody>
          <a:bodyPr>
            <a:normAutofit fontScale="90000"/>
          </a:bodyPr>
          <a:lstStyle/>
          <a:p>
            <a:r>
              <a:rPr lang="en-IN" dirty="0"/>
              <a:t>Advantages of Research Ethics</a:t>
            </a:r>
          </a:p>
        </p:txBody>
      </p:sp>
      <p:sp>
        <p:nvSpPr>
          <p:cNvPr id="3" name="Content Placeholder 2"/>
          <p:cNvSpPr>
            <a:spLocks noGrp="1"/>
          </p:cNvSpPr>
          <p:nvPr>
            <p:ph idx="1"/>
          </p:nvPr>
        </p:nvSpPr>
        <p:spPr>
          <a:xfrm>
            <a:off x="457200" y="1143000"/>
            <a:ext cx="8229600" cy="4525963"/>
          </a:xfrm>
        </p:spPr>
        <p:txBody>
          <a:bodyPr>
            <a:normAutofit fontScale="70000" lnSpcReduction="20000"/>
          </a:bodyPr>
          <a:lstStyle/>
          <a:p>
            <a:pPr fontAlgn="base"/>
            <a:r>
              <a:rPr lang="en-IN" b="1" dirty="0"/>
              <a:t>Research ethics </a:t>
            </a:r>
            <a:r>
              <a:rPr lang="en-IN" b="1" dirty="0">
                <a:solidFill>
                  <a:schemeClr val="accent2">
                    <a:lumMod val="75000"/>
                  </a:schemeClr>
                </a:solidFill>
              </a:rPr>
              <a:t>promote the aims of research</a:t>
            </a:r>
            <a:r>
              <a:rPr lang="en-IN" b="1" dirty="0"/>
              <a:t>.</a:t>
            </a:r>
            <a:endParaRPr lang="en-IN" dirty="0"/>
          </a:p>
          <a:p>
            <a:pPr fontAlgn="base"/>
            <a:r>
              <a:rPr lang="en-IN" b="1" dirty="0"/>
              <a:t>It </a:t>
            </a:r>
            <a:r>
              <a:rPr lang="en-IN" b="1" dirty="0">
                <a:solidFill>
                  <a:schemeClr val="accent2">
                    <a:lumMod val="75000"/>
                  </a:schemeClr>
                </a:solidFill>
              </a:rPr>
              <a:t>increases trust among the researcher </a:t>
            </a:r>
            <a:r>
              <a:rPr lang="en-IN" b="1" dirty="0"/>
              <a:t>and the respondent.</a:t>
            </a:r>
            <a:endParaRPr lang="en-IN" dirty="0"/>
          </a:p>
          <a:p>
            <a:pPr fontAlgn="base"/>
            <a:r>
              <a:rPr lang="en-IN" dirty="0"/>
              <a:t>It is important to adhere to ethical principles in order to protect the dignity, rights and welfare of research participants.</a:t>
            </a:r>
          </a:p>
          <a:p>
            <a:pPr fontAlgn="base"/>
            <a:r>
              <a:rPr lang="en-IN" b="1" dirty="0"/>
              <a:t>Researchers can be held </a:t>
            </a:r>
            <a:r>
              <a:rPr lang="en-IN" b="1" dirty="0">
                <a:solidFill>
                  <a:schemeClr val="accent2">
                    <a:lumMod val="75000"/>
                  </a:schemeClr>
                </a:solidFill>
              </a:rPr>
              <a:t>accountable and answerable for their actions</a:t>
            </a:r>
            <a:r>
              <a:rPr lang="en-IN" b="1" dirty="0"/>
              <a:t>.</a:t>
            </a:r>
            <a:endParaRPr lang="en-IN" dirty="0"/>
          </a:p>
          <a:p>
            <a:pPr fontAlgn="base"/>
            <a:r>
              <a:rPr lang="en-IN" b="1" dirty="0"/>
              <a:t>Ethics </a:t>
            </a:r>
            <a:r>
              <a:rPr lang="en-IN" b="1" dirty="0">
                <a:solidFill>
                  <a:schemeClr val="accent2">
                    <a:lumMod val="75000"/>
                  </a:schemeClr>
                </a:solidFill>
              </a:rPr>
              <a:t>promote social and moral values</a:t>
            </a:r>
            <a:r>
              <a:rPr lang="en-IN" b="1" dirty="0"/>
              <a:t>.</a:t>
            </a:r>
            <a:endParaRPr lang="en-IN" dirty="0"/>
          </a:p>
          <a:p>
            <a:pPr fontAlgn="base"/>
            <a:r>
              <a:rPr lang="en-IN" b="1" dirty="0"/>
              <a:t>Promotes the </a:t>
            </a:r>
            <a:r>
              <a:rPr lang="en-IN" dirty="0">
                <a:solidFill>
                  <a:schemeClr val="accent2">
                    <a:lumMod val="75000"/>
                  </a:schemeClr>
                </a:solidFill>
              </a:rPr>
              <a:t>ambitions of research</a:t>
            </a:r>
            <a:r>
              <a:rPr lang="en-IN" dirty="0"/>
              <a:t>, such as understanding, veracity, and dodging of error.</a:t>
            </a:r>
          </a:p>
          <a:p>
            <a:pPr fontAlgn="base"/>
            <a:r>
              <a:rPr lang="en-IN" dirty="0"/>
              <a:t>Ethical standards uphold the </a:t>
            </a:r>
            <a:r>
              <a:rPr lang="en-IN" b="1" dirty="0"/>
              <a:t>values that are vital to </a:t>
            </a:r>
            <a:r>
              <a:rPr lang="en-IN" b="1" dirty="0">
                <a:solidFill>
                  <a:schemeClr val="accent2">
                    <a:lumMod val="75000"/>
                  </a:schemeClr>
                </a:solidFill>
              </a:rPr>
              <a:t>cooperative work</a:t>
            </a:r>
            <a:r>
              <a:rPr lang="en-IN" dirty="0"/>
              <a:t>, such as </a:t>
            </a:r>
            <a:r>
              <a:rPr lang="en-IN" dirty="0">
                <a:solidFill>
                  <a:schemeClr val="accent2">
                    <a:lumMod val="75000"/>
                  </a:schemeClr>
                </a:solidFill>
              </a:rPr>
              <a:t>belief, answerability, mutual respect, and impartiality</a:t>
            </a:r>
            <a:r>
              <a:rPr lang="en-IN" dirty="0"/>
              <a:t>.</a:t>
            </a:r>
          </a:p>
          <a:p>
            <a:pPr fontAlgn="base"/>
            <a:r>
              <a:rPr lang="en-IN" dirty="0"/>
              <a:t>Ethical norms in research also aid to construct </a:t>
            </a:r>
            <a:r>
              <a:rPr lang="en-IN" b="1" dirty="0"/>
              <a:t>public upkeep </a:t>
            </a:r>
            <a:r>
              <a:rPr lang="en-IN" dirty="0"/>
              <a:t>for research. People are more likely to trust a research project if they can trust the worth and reliability of research.</a:t>
            </a:r>
          </a:p>
          <a:p>
            <a:endParaRPr lang="en-IN" dirty="0"/>
          </a:p>
        </p:txBody>
      </p:sp>
    </p:spTree>
    <p:extLst>
      <p:ext uri="{BB962C8B-B14F-4D97-AF65-F5344CB8AC3E}">
        <p14:creationId xmlns:p14="http://schemas.microsoft.com/office/powerpoint/2010/main" val="7155085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39762"/>
          </a:xfrm>
        </p:spPr>
        <p:txBody>
          <a:bodyPr>
            <a:normAutofit fontScale="90000"/>
          </a:bodyPr>
          <a:lstStyle/>
          <a:p>
            <a:r>
              <a:rPr lang="en-IN" dirty="0"/>
              <a:t>Limitations of Research Ethics</a:t>
            </a:r>
          </a:p>
        </p:txBody>
      </p:sp>
      <p:sp>
        <p:nvSpPr>
          <p:cNvPr id="3" name="Content Placeholder 2"/>
          <p:cNvSpPr>
            <a:spLocks noGrp="1"/>
          </p:cNvSpPr>
          <p:nvPr>
            <p:ph idx="1"/>
          </p:nvPr>
        </p:nvSpPr>
        <p:spPr>
          <a:xfrm>
            <a:off x="457200" y="838200"/>
            <a:ext cx="8229600" cy="4525963"/>
          </a:xfrm>
        </p:spPr>
        <p:txBody>
          <a:bodyPr>
            <a:noAutofit/>
          </a:bodyPr>
          <a:lstStyle/>
          <a:p>
            <a:pPr fontAlgn="base"/>
            <a:r>
              <a:rPr lang="en-IN" sz="2000" dirty="0"/>
              <a:t>Possibilities to physical integrity, containing those linked with </a:t>
            </a:r>
            <a:r>
              <a:rPr lang="en-IN" sz="2000" dirty="0">
                <a:solidFill>
                  <a:schemeClr val="accent2">
                    <a:lumMod val="75000"/>
                  </a:schemeClr>
                </a:solidFill>
              </a:rPr>
              <a:t>experimental drugs and dealings </a:t>
            </a:r>
            <a:r>
              <a:rPr lang="en-IN" sz="2000" dirty="0"/>
              <a:t>and with other involvements that will be used in the study (e.g. measures used to observe research participants, such as blood sampling, X-rays or lumbar punctures).</a:t>
            </a:r>
          </a:p>
          <a:p>
            <a:pPr fontAlgn="base"/>
            <a:r>
              <a:rPr lang="en-IN" sz="2000" b="1" dirty="0"/>
              <a:t>Psychological risks:</a:t>
            </a:r>
            <a:r>
              <a:rPr lang="en-IN" sz="2000" dirty="0"/>
              <a:t> for example, a </a:t>
            </a:r>
            <a:r>
              <a:rPr lang="en-IN" sz="2000" dirty="0">
                <a:solidFill>
                  <a:schemeClr val="accent2">
                    <a:lumMod val="75000"/>
                  </a:schemeClr>
                </a:solidFill>
              </a:rPr>
              <a:t>questionnaire</a:t>
            </a:r>
            <a:r>
              <a:rPr lang="en-IN" sz="2000" dirty="0"/>
              <a:t> may perhaps signify a risk if it fears traumatic events or happenings that are especially traumatic.</a:t>
            </a:r>
          </a:p>
          <a:p>
            <a:pPr fontAlgn="base"/>
            <a:r>
              <a:rPr lang="en-IN" sz="2000" b="1" dirty="0"/>
              <a:t>Social, legal and economic risks</a:t>
            </a:r>
            <a:r>
              <a:rPr lang="en-IN" sz="2000" dirty="0"/>
              <a:t>: for example,</a:t>
            </a:r>
            <a:r>
              <a:rPr lang="en-IN" sz="2800" dirty="0"/>
              <a:t> </a:t>
            </a:r>
            <a:r>
              <a:rPr lang="en-IN" sz="2800" b="1" dirty="0">
                <a:solidFill>
                  <a:schemeClr val="accent2">
                    <a:lumMod val="75000"/>
                  </a:schemeClr>
                </a:solidFill>
              </a:rPr>
              <a:t>if </a:t>
            </a:r>
            <a:r>
              <a:rPr lang="en-IN" sz="2000" dirty="0">
                <a:solidFill>
                  <a:schemeClr val="accent2">
                    <a:lumMod val="75000"/>
                  </a:schemeClr>
                </a:solidFill>
              </a:rPr>
              <a:t>personal information collected during a study is unintentionally released</a:t>
            </a:r>
            <a:r>
              <a:rPr lang="en-IN" sz="2000" dirty="0"/>
              <a:t>, participants might face a threat of judgment and stigmatization.</a:t>
            </a:r>
          </a:p>
          <a:p>
            <a:pPr fontAlgn="base"/>
            <a:r>
              <a:rPr lang="en-IN" sz="2000" dirty="0"/>
              <a:t>Certain tribal or inhabitant groups may possibly suffer from discrimination or stigmatization, burdens because of research, typically if associates of those groups are recognized as having a greater-than-usual risk of devouring a specific disease.</a:t>
            </a:r>
          </a:p>
          <a:p>
            <a:pPr fontAlgn="base"/>
            <a:r>
              <a:rPr lang="en-IN" sz="2000" dirty="0"/>
              <a:t>The research may perhaps have an influence on the prevailing health system: for example, human and financial capitals dedicated to research may distract attention from other demanding health care necessities in the community.</a:t>
            </a:r>
          </a:p>
        </p:txBody>
      </p:sp>
    </p:spTree>
    <p:extLst>
      <p:ext uri="{BB962C8B-B14F-4D97-AF65-F5344CB8AC3E}">
        <p14:creationId xmlns:p14="http://schemas.microsoft.com/office/powerpoint/2010/main" val="42408682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8382000" cy="1066800"/>
          </a:xfrm>
        </p:spPr>
        <p:txBody>
          <a:bodyPr>
            <a:normAutofit fontScale="90000"/>
          </a:bodyPr>
          <a:lstStyle/>
          <a:p>
            <a:r>
              <a:rPr lang="en-IN" dirty="0"/>
              <a:t>Ensure Ethics at Different Steps of Research</a:t>
            </a:r>
          </a:p>
        </p:txBody>
      </p:sp>
      <p:sp>
        <p:nvSpPr>
          <p:cNvPr id="3" name="Content Placeholder 2"/>
          <p:cNvSpPr>
            <a:spLocks noGrp="1"/>
          </p:cNvSpPr>
          <p:nvPr>
            <p:ph idx="1"/>
          </p:nvPr>
        </p:nvSpPr>
        <p:spPr>
          <a:xfrm>
            <a:off x="457200" y="1341437"/>
            <a:ext cx="8229600" cy="4221163"/>
          </a:xfrm>
        </p:spPr>
        <p:txBody>
          <a:bodyPr>
            <a:noAutofit/>
          </a:bodyPr>
          <a:lstStyle/>
          <a:p>
            <a:pPr marL="0" indent="0" fontAlgn="base">
              <a:buNone/>
            </a:pPr>
            <a:r>
              <a:rPr lang="en-IN" sz="2400" dirty="0"/>
              <a:t>The following process helps to ensure ethics at different steps of research:</a:t>
            </a:r>
          </a:p>
          <a:p>
            <a:pPr fontAlgn="base"/>
            <a:r>
              <a:rPr lang="en-IN" sz="2400" dirty="0">
                <a:solidFill>
                  <a:schemeClr val="accent2">
                    <a:lumMod val="75000"/>
                  </a:schemeClr>
                </a:solidFill>
              </a:rPr>
              <a:t>Collect the facts </a:t>
            </a:r>
            <a:r>
              <a:rPr lang="en-IN" sz="2400" dirty="0"/>
              <a:t>and </a:t>
            </a:r>
            <a:r>
              <a:rPr lang="en-IN" sz="2400" dirty="0">
                <a:solidFill>
                  <a:schemeClr val="accent2">
                    <a:lumMod val="75000"/>
                  </a:schemeClr>
                </a:solidFill>
              </a:rPr>
              <a:t>talk over intellectual belongings openly</a:t>
            </a:r>
          </a:p>
          <a:p>
            <a:pPr fontAlgn="base"/>
            <a:r>
              <a:rPr lang="en-IN" sz="2400" dirty="0">
                <a:solidFill>
                  <a:schemeClr val="accent2">
                    <a:lumMod val="75000"/>
                  </a:schemeClr>
                </a:solidFill>
              </a:rPr>
              <a:t>Outline</a:t>
            </a:r>
            <a:r>
              <a:rPr lang="en-IN" sz="2400" dirty="0"/>
              <a:t> the ethical matters</a:t>
            </a:r>
          </a:p>
          <a:p>
            <a:pPr fontAlgn="base"/>
            <a:r>
              <a:rPr lang="en-IN" sz="2400" dirty="0">
                <a:solidFill>
                  <a:schemeClr val="accent2">
                    <a:lumMod val="75000"/>
                  </a:schemeClr>
                </a:solidFill>
              </a:rPr>
              <a:t>Detect </a:t>
            </a:r>
            <a:r>
              <a:rPr lang="en-IN" sz="2400" dirty="0"/>
              <a:t>the affected parties (stakeholders)</a:t>
            </a:r>
          </a:p>
          <a:p>
            <a:pPr fontAlgn="base"/>
            <a:r>
              <a:rPr lang="en-IN" sz="2400" dirty="0">
                <a:solidFill>
                  <a:schemeClr val="accent2">
                    <a:lumMod val="75000"/>
                  </a:schemeClr>
                </a:solidFill>
              </a:rPr>
              <a:t>Ascertain</a:t>
            </a:r>
            <a:r>
              <a:rPr lang="en-IN" sz="2400" dirty="0"/>
              <a:t> the </a:t>
            </a:r>
            <a:r>
              <a:rPr lang="en-IN" sz="2400" dirty="0">
                <a:solidFill>
                  <a:schemeClr val="accent2">
                    <a:lumMod val="75000"/>
                  </a:schemeClr>
                </a:solidFill>
              </a:rPr>
              <a:t>forfeits </a:t>
            </a:r>
            <a:r>
              <a:rPr lang="en-IN" sz="2400" dirty="0"/>
              <a:t>– Check different forces</a:t>
            </a:r>
          </a:p>
          <a:p>
            <a:pPr fontAlgn="base"/>
            <a:r>
              <a:rPr lang="en-IN" sz="2400" dirty="0">
                <a:solidFill>
                  <a:schemeClr val="accent2">
                    <a:lumMod val="75000"/>
                  </a:schemeClr>
                </a:solidFill>
              </a:rPr>
              <a:t>Recognize the responsibilities </a:t>
            </a:r>
            <a:r>
              <a:rPr lang="en-IN" sz="2400" dirty="0"/>
              <a:t>(principles, rights, justice)</a:t>
            </a:r>
          </a:p>
          <a:p>
            <a:pPr fontAlgn="base"/>
            <a:r>
              <a:rPr lang="en-IN" sz="2400" dirty="0">
                <a:solidFill>
                  <a:schemeClr val="accent2">
                    <a:lumMod val="75000"/>
                  </a:schemeClr>
                </a:solidFill>
              </a:rPr>
              <a:t>Contemplate </a:t>
            </a:r>
            <a:r>
              <a:rPr lang="en-IN" sz="2400" dirty="0"/>
              <a:t>your </a:t>
            </a:r>
            <a:r>
              <a:rPr lang="en-IN" sz="2400" dirty="0">
                <a:solidFill>
                  <a:schemeClr val="accent2">
                    <a:lumMod val="75000"/>
                  </a:schemeClr>
                </a:solidFill>
              </a:rPr>
              <a:t>personality and truthfulness</a:t>
            </a:r>
          </a:p>
          <a:p>
            <a:pPr fontAlgn="base"/>
            <a:r>
              <a:rPr lang="en-IN" sz="2400" dirty="0"/>
              <a:t>Deliberate innovatively about </a:t>
            </a:r>
            <a:r>
              <a:rPr lang="en-IN" sz="2400" dirty="0">
                <a:solidFill>
                  <a:schemeClr val="accent2">
                    <a:lumMod val="75000"/>
                  </a:schemeClr>
                </a:solidFill>
              </a:rPr>
              <a:t>possible actions</a:t>
            </a:r>
          </a:p>
          <a:p>
            <a:pPr fontAlgn="base"/>
            <a:r>
              <a:rPr lang="en-IN" sz="2400" dirty="0">
                <a:solidFill>
                  <a:schemeClr val="accent2">
                    <a:lumMod val="75000"/>
                  </a:schemeClr>
                </a:solidFill>
              </a:rPr>
              <a:t>Respect privacy </a:t>
            </a:r>
            <a:r>
              <a:rPr lang="en-IN" sz="2400" dirty="0"/>
              <a:t>and confidentiality</a:t>
            </a:r>
          </a:p>
          <a:p>
            <a:pPr fontAlgn="base"/>
            <a:r>
              <a:rPr lang="en-IN" sz="2400" dirty="0">
                <a:solidFill>
                  <a:schemeClr val="accent2">
                    <a:lumMod val="75000"/>
                  </a:schemeClr>
                </a:solidFill>
              </a:rPr>
              <a:t>Resolve</a:t>
            </a:r>
            <a:r>
              <a:rPr lang="en-IN" sz="2400" dirty="0"/>
              <a:t> on the appropriate ethical action and be willing to deal with </a:t>
            </a:r>
            <a:r>
              <a:rPr lang="en-IN" sz="2400" dirty="0">
                <a:solidFill>
                  <a:schemeClr val="accent2">
                    <a:lumMod val="75000"/>
                  </a:schemeClr>
                </a:solidFill>
              </a:rPr>
              <a:t>divergent point of view</a:t>
            </a:r>
            <a:r>
              <a:rPr lang="en-IN" sz="2400" dirty="0"/>
              <a:t>.</a:t>
            </a:r>
          </a:p>
        </p:txBody>
      </p:sp>
    </p:spTree>
    <p:extLst>
      <p:ext uri="{BB962C8B-B14F-4D97-AF65-F5344CB8AC3E}">
        <p14:creationId xmlns:p14="http://schemas.microsoft.com/office/powerpoint/2010/main" val="13932360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735703"/>
            <a:ext cx="6891867" cy="742689"/>
          </a:xfrm>
        </p:spPr>
        <p:txBody>
          <a:bodyPr>
            <a:noAutofit/>
          </a:bodyPr>
          <a:lstStyle/>
          <a:p>
            <a:r>
              <a:rPr lang="en-ZA" sz="4000" dirty="0"/>
              <a:t>FUNDAMENTALLY Research Ethics are:</a:t>
            </a:r>
          </a:p>
        </p:txBody>
      </p:sp>
      <p:sp>
        <p:nvSpPr>
          <p:cNvPr id="3" name="Text Placeholder 2"/>
          <p:cNvSpPr>
            <a:spLocks noGrp="1"/>
          </p:cNvSpPr>
          <p:nvPr>
            <p:ph idx="1"/>
          </p:nvPr>
        </p:nvSpPr>
        <p:spPr>
          <a:xfrm>
            <a:off x="457200" y="1107048"/>
            <a:ext cx="7518400" cy="5019115"/>
          </a:xfrm>
        </p:spPr>
        <p:txBody>
          <a:bodyPr>
            <a:normAutofit/>
          </a:bodyPr>
          <a:lstStyle/>
          <a:p>
            <a:pPr>
              <a:buClr>
                <a:schemeClr val="tx2"/>
              </a:buClr>
            </a:pPr>
            <a:endParaRPr lang="en-US" sz="3600" dirty="0"/>
          </a:p>
          <a:p>
            <a:pPr marL="342900" indent="-342900">
              <a:buClr>
                <a:schemeClr val="tx2"/>
              </a:buClr>
              <a:buFont typeface="Wingdings" charset="2"/>
              <a:buChar char="v"/>
            </a:pPr>
            <a:r>
              <a:rPr lang="en-US" sz="2800" dirty="0"/>
              <a:t>A way of conducting the research enterprise such that the three fundamental principles of research (</a:t>
            </a:r>
            <a:r>
              <a:rPr lang="en-US" sz="2800" u="sng" dirty="0">
                <a:solidFill>
                  <a:srgbClr val="FF0000"/>
                </a:solidFill>
              </a:rPr>
              <a:t>respect</a:t>
            </a:r>
            <a:r>
              <a:rPr lang="en-US" sz="2800" dirty="0"/>
              <a:t>, </a:t>
            </a:r>
            <a:r>
              <a:rPr lang="en-US" sz="2800" u="sng" dirty="0">
                <a:solidFill>
                  <a:srgbClr val="FF0000"/>
                </a:solidFill>
              </a:rPr>
              <a:t>beneficence</a:t>
            </a:r>
            <a:r>
              <a:rPr lang="en-US" sz="2800" dirty="0"/>
              <a:t> and </a:t>
            </a:r>
            <a:r>
              <a:rPr lang="en-US" sz="2800" u="sng" dirty="0">
                <a:solidFill>
                  <a:srgbClr val="FF0000"/>
                </a:solidFill>
              </a:rPr>
              <a:t>justice</a:t>
            </a:r>
            <a:r>
              <a:rPr lang="en-US" sz="2800" dirty="0"/>
              <a:t>) are upheld.</a:t>
            </a:r>
          </a:p>
          <a:p>
            <a:pPr marL="342900" indent="-342900">
              <a:buClr>
                <a:schemeClr val="tx2"/>
              </a:buClr>
              <a:buFont typeface="Wingdings" charset="2"/>
              <a:buChar char="v"/>
            </a:pPr>
            <a:r>
              <a:rPr lang="en-US" sz="2800" dirty="0"/>
              <a:t>Ethical research must conform with the national and international accords and prescripts.</a:t>
            </a:r>
          </a:p>
        </p:txBody>
      </p:sp>
    </p:spTree>
    <p:extLst>
      <p:ext uri="{BB962C8B-B14F-4D97-AF65-F5344CB8AC3E}">
        <p14:creationId xmlns:p14="http://schemas.microsoft.com/office/powerpoint/2010/main" val="13132907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2289607" y="3040513"/>
            <a:ext cx="3167133" cy="1270089"/>
          </a:xfrm>
          <a:prstGeom prst="ellipse">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ZA" sz="2000" b="1" dirty="0"/>
              <a:t>PRINCIPLES OF RESEARCH ETHICS</a:t>
            </a:r>
          </a:p>
        </p:txBody>
      </p:sp>
      <p:sp>
        <p:nvSpPr>
          <p:cNvPr id="5" name="TextBox 4"/>
          <p:cNvSpPr txBox="1"/>
          <p:nvPr/>
        </p:nvSpPr>
        <p:spPr>
          <a:xfrm>
            <a:off x="4021244" y="57725"/>
            <a:ext cx="4867821" cy="461665"/>
          </a:xfrm>
          <a:prstGeom prst="rect">
            <a:avLst/>
          </a:prstGeom>
          <a:solidFill>
            <a:srgbClr val="660066"/>
          </a:solidFill>
        </p:spPr>
        <p:style>
          <a:lnRef idx="0">
            <a:schemeClr val="accent5"/>
          </a:lnRef>
          <a:fillRef idx="3">
            <a:schemeClr val="accent5"/>
          </a:fillRef>
          <a:effectRef idx="3">
            <a:schemeClr val="accent5"/>
          </a:effectRef>
          <a:fontRef idx="minor">
            <a:schemeClr val="lt1"/>
          </a:fontRef>
        </p:style>
        <p:txBody>
          <a:bodyPr wrap="square" rtlCol="0">
            <a:spAutoFit/>
          </a:bodyPr>
          <a:lstStyle/>
          <a:p>
            <a:r>
              <a:rPr lang="en-ZA" sz="2400" b="1" dirty="0"/>
              <a:t>Respect</a:t>
            </a:r>
            <a:r>
              <a:rPr lang="en-ZA" dirty="0"/>
              <a:t> </a:t>
            </a:r>
          </a:p>
        </p:txBody>
      </p:sp>
      <p:cxnSp>
        <p:nvCxnSpPr>
          <p:cNvPr id="7" name="Straight Connector 6"/>
          <p:cNvCxnSpPr/>
          <p:nvPr/>
        </p:nvCxnSpPr>
        <p:spPr>
          <a:xfrm flipV="1">
            <a:off x="4059724" y="479350"/>
            <a:ext cx="0" cy="2599652"/>
          </a:xfrm>
          <a:prstGeom prst="line">
            <a:avLst/>
          </a:prstGeom>
          <a:ln w="57150" cmpd="sng">
            <a:solidFill>
              <a:srgbClr val="80008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304340" y="646140"/>
            <a:ext cx="3584725" cy="646331"/>
          </a:xfrm>
          <a:prstGeom prst="rect">
            <a:avLst/>
          </a:prstGeom>
          <a:ln>
            <a:solidFill>
              <a:srgbClr val="800080"/>
            </a:solidFill>
          </a:ln>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dirty="0"/>
              <a:t>R</a:t>
            </a:r>
            <a:r>
              <a:rPr lang="en-ZA" dirty="0"/>
              <a:t>espect for research participants  (informed consent)</a:t>
            </a:r>
          </a:p>
        </p:txBody>
      </p:sp>
      <p:grpSp>
        <p:nvGrpSpPr>
          <p:cNvPr id="15" name="Group 14"/>
          <p:cNvGrpSpPr/>
          <p:nvPr/>
        </p:nvGrpSpPr>
        <p:grpSpPr>
          <a:xfrm>
            <a:off x="4887066" y="519390"/>
            <a:ext cx="417274" cy="442791"/>
            <a:chOff x="5079466" y="1135198"/>
            <a:chExt cx="417274" cy="442791"/>
          </a:xfrm>
        </p:grpSpPr>
        <p:cxnSp>
          <p:nvCxnSpPr>
            <p:cNvPr id="11" name="Straight Connector 10"/>
            <p:cNvCxnSpPr/>
            <p:nvPr/>
          </p:nvCxnSpPr>
          <p:spPr>
            <a:xfrm flipH="1">
              <a:off x="5079466" y="1135198"/>
              <a:ext cx="19240" cy="442791"/>
            </a:xfrm>
            <a:prstGeom prst="line">
              <a:avLst/>
            </a:prstGeom>
            <a:ln>
              <a:solidFill>
                <a:srgbClr val="800080"/>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a:off x="5079466" y="1577989"/>
              <a:ext cx="417274" cy="0"/>
            </a:xfrm>
            <a:prstGeom prst="line">
              <a:avLst/>
            </a:prstGeom>
            <a:ln>
              <a:solidFill>
                <a:srgbClr val="800080"/>
              </a:solidFill>
            </a:ln>
          </p:spPr>
          <p:style>
            <a:lnRef idx="2">
              <a:schemeClr val="accent1"/>
            </a:lnRef>
            <a:fillRef idx="0">
              <a:schemeClr val="accent1"/>
            </a:fillRef>
            <a:effectRef idx="1">
              <a:schemeClr val="accent1"/>
            </a:effectRef>
            <a:fontRef idx="minor">
              <a:schemeClr val="tx1"/>
            </a:fontRef>
          </p:style>
        </p:cxnSp>
      </p:grpSp>
      <p:sp>
        <p:nvSpPr>
          <p:cNvPr id="14" name="TextBox 13"/>
          <p:cNvSpPr txBox="1"/>
          <p:nvPr/>
        </p:nvSpPr>
        <p:spPr>
          <a:xfrm>
            <a:off x="5304340" y="1414348"/>
            <a:ext cx="3660165" cy="369332"/>
          </a:xfrm>
          <a:prstGeom prst="rect">
            <a:avLst/>
          </a:prstGeom>
          <a:ln>
            <a:solidFill>
              <a:srgbClr val="800080"/>
            </a:solidFill>
          </a:ln>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dirty="0"/>
              <a:t>R</a:t>
            </a:r>
            <a:r>
              <a:rPr lang="en-ZA" dirty="0"/>
              <a:t>espect for sponsors of research</a:t>
            </a:r>
          </a:p>
        </p:txBody>
      </p:sp>
      <p:cxnSp>
        <p:nvCxnSpPr>
          <p:cNvPr id="17" name="Straight Connector 16"/>
          <p:cNvCxnSpPr/>
          <p:nvPr/>
        </p:nvCxnSpPr>
        <p:spPr>
          <a:xfrm flipH="1">
            <a:off x="4693146" y="479350"/>
            <a:ext cx="19240" cy="1020111"/>
          </a:xfrm>
          <a:prstGeom prst="line">
            <a:avLst/>
          </a:prstGeom>
          <a:ln>
            <a:solidFill>
              <a:srgbClr val="800080"/>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4693146" y="1499461"/>
            <a:ext cx="611194" cy="0"/>
          </a:xfrm>
          <a:prstGeom prst="line">
            <a:avLst/>
          </a:prstGeom>
          <a:ln>
            <a:solidFill>
              <a:srgbClr val="80008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341300" y="1951628"/>
            <a:ext cx="3660165" cy="646331"/>
          </a:xfrm>
          <a:prstGeom prst="rect">
            <a:avLst/>
          </a:prstGeom>
          <a:ln>
            <a:solidFill>
              <a:srgbClr val="800080"/>
            </a:solidFill>
          </a:ln>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dirty="0"/>
              <a:t>R</a:t>
            </a:r>
            <a:r>
              <a:rPr lang="en-ZA" dirty="0"/>
              <a:t>espect for communities where participants come from </a:t>
            </a:r>
          </a:p>
        </p:txBody>
      </p:sp>
      <p:cxnSp>
        <p:nvCxnSpPr>
          <p:cNvPr id="30" name="Straight Connector 29"/>
          <p:cNvCxnSpPr/>
          <p:nvPr/>
        </p:nvCxnSpPr>
        <p:spPr>
          <a:xfrm>
            <a:off x="4444532" y="519390"/>
            <a:ext cx="0" cy="1597425"/>
          </a:xfrm>
          <a:prstGeom prst="line">
            <a:avLst/>
          </a:prstGeom>
          <a:ln>
            <a:solidFill>
              <a:srgbClr val="800080"/>
            </a:solidFill>
          </a:ln>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p:nvCxnSpPr>
        <p:spPr>
          <a:xfrm>
            <a:off x="4444532" y="2116815"/>
            <a:ext cx="859808" cy="0"/>
          </a:xfrm>
          <a:prstGeom prst="line">
            <a:avLst/>
          </a:prstGeom>
          <a:ln>
            <a:solidFill>
              <a:srgbClr val="80008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359020" y="2719836"/>
            <a:ext cx="3660165" cy="646331"/>
          </a:xfrm>
          <a:prstGeom prst="rect">
            <a:avLst/>
          </a:prstGeom>
          <a:ln>
            <a:solidFill>
              <a:srgbClr val="800080"/>
            </a:solidFill>
          </a:ln>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dirty="0"/>
              <a:t>R</a:t>
            </a:r>
            <a:r>
              <a:rPr lang="en-ZA" dirty="0"/>
              <a:t>espect for knowledge and academic community</a:t>
            </a:r>
          </a:p>
        </p:txBody>
      </p:sp>
      <p:cxnSp>
        <p:nvCxnSpPr>
          <p:cNvPr id="35" name="Straight Connector 34"/>
          <p:cNvCxnSpPr/>
          <p:nvPr/>
        </p:nvCxnSpPr>
        <p:spPr>
          <a:xfrm>
            <a:off x="4232887" y="519390"/>
            <a:ext cx="0" cy="2347932"/>
          </a:xfrm>
          <a:prstGeom prst="line">
            <a:avLst/>
          </a:prstGeom>
          <a:ln>
            <a:solidFill>
              <a:srgbClr val="800080"/>
            </a:solidFill>
          </a:ln>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p:nvCxnSpPr>
        <p:spPr>
          <a:xfrm>
            <a:off x="4232887" y="2867322"/>
            <a:ext cx="1126133" cy="0"/>
          </a:xfrm>
          <a:prstGeom prst="line">
            <a:avLst/>
          </a:prstGeom>
          <a:ln>
            <a:solidFill>
              <a:srgbClr val="80008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0" y="5203207"/>
            <a:ext cx="4308316" cy="1292662"/>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en-ZA" sz="2400" b="1" dirty="0">
                <a:solidFill>
                  <a:srgbClr val="C00000"/>
                </a:solidFill>
              </a:rPr>
              <a:t>Beneficence:</a:t>
            </a:r>
            <a:r>
              <a:rPr lang="en-ZA" sz="2000" b="1" dirty="0">
                <a:solidFill>
                  <a:srgbClr val="C00000"/>
                </a:solidFill>
              </a:rPr>
              <a:t> </a:t>
            </a:r>
            <a:r>
              <a:rPr lang="en-ZA" b="1" dirty="0"/>
              <a:t>the researcher is responsible for the mental, physical and social wellbeing of </a:t>
            </a:r>
            <a:r>
              <a:rPr lang="en-US" b="1" dirty="0"/>
              <a:t>th</a:t>
            </a:r>
            <a:r>
              <a:rPr lang="en-ZA" b="1" dirty="0"/>
              <a:t>e participant throughout the participation in the study.</a:t>
            </a:r>
            <a:r>
              <a:rPr lang="en-ZA" dirty="0"/>
              <a:t> </a:t>
            </a:r>
          </a:p>
        </p:txBody>
      </p:sp>
      <p:sp>
        <p:nvSpPr>
          <p:cNvPr id="40" name="TextBox 39"/>
          <p:cNvSpPr txBox="1"/>
          <p:nvPr/>
        </p:nvSpPr>
        <p:spPr>
          <a:xfrm>
            <a:off x="4232888" y="4188140"/>
            <a:ext cx="4731618" cy="646331"/>
          </a:xfrm>
          <a:prstGeom prst="rect">
            <a:avLst/>
          </a:prstGeom>
          <a:ln>
            <a:solidFill>
              <a:srgbClr val="3366FF"/>
            </a:solidFill>
          </a:ln>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dirty="0"/>
              <a:t>Benefits must be weighed against potential risk that a person might have by participating</a:t>
            </a:r>
            <a:endParaRPr lang="en-ZA" dirty="0"/>
          </a:p>
        </p:txBody>
      </p:sp>
      <p:cxnSp>
        <p:nvCxnSpPr>
          <p:cNvPr id="42" name="Straight Connector 41"/>
          <p:cNvCxnSpPr/>
          <p:nvPr/>
        </p:nvCxnSpPr>
        <p:spPr>
          <a:xfrm>
            <a:off x="3328589" y="4284360"/>
            <a:ext cx="1" cy="918847"/>
          </a:xfrm>
          <a:prstGeom prst="line">
            <a:avLst/>
          </a:prstGeom>
          <a:ln w="57150" cmpd="sng">
            <a:solidFill>
              <a:srgbClr val="3366FF"/>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4887066" y="5028518"/>
            <a:ext cx="4132119" cy="923330"/>
          </a:xfrm>
          <a:prstGeom prst="rect">
            <a:avLst/>
          </a:prstGeom>
          <a:ln>
            <a:solidFill>
              <a:srgbClr val="3366FF"/>
            </a:solidFill>
          </a:ln>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dirty="0"/>
              <a:t>Research should only be justified if  its conduct and result will be of benefit to the participants</a:t>
            </a:r>
            <a:endParaRPr lang="en-ZA" dirty="0"/>
          </a:p>
        </p:txBody>
      </p:sp>
      <p:sp>
        <p:nvSpPr>
          <p:cNvPr id="45" name="TextBox 44"/>
          <p:cNvSpPr txBox="1"/>
          <p:nvPr/>
        </p:nvSpPr>
        <p:spPr>
          <a:xfrm>
            <a:off x="4712387" y="6052353"/>
            <a:ext cx="4289078" cy="646331"/>
          </a:xfrm>
          <a:prstGeom prst="rect">
            <a:avLst/>
          </a:prstGeom>
          <a:ln>
            <a:solidFill>
              <a:srgbClr val="3366FF"/>
            </a:solidFill>
          </a:ln>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dirty="0"/>
              <a:t>How the community will benefit should be clear from the research protocol</a:t>
            </a:r>
            <a:endParaRPr lang="en-ZA" dirty="0"/>
          </a:p>
        </p:txBody>
      </p:sp>
      <p:cxnSp>
        <p:nvCxnSpPr>
          <p:cNvPr id="47" name="Straight Connector 46"/>
          <p:cNvCxnSpPr>
            <a:stCxn id="40" idx="1"/>
          </p:cNvCxnSpPr>
          <p:nvPr/>
        </p:nvCxnSpPr>
        <p:spPr>
          <a:xfrm flipH="1">
            <a:off x="3655676" y="4511306"/>
            <a:ext cx="577212" cy="0"/>
          </a:xfrm>
          <a:prstGeom prst="line">
            <a:avLst/>
          </a:prstGeom>
          <a:ln>
            <a:solidFill>
              <a:srgbClr val="3366FF"/>
            </a:solidFill>
          </a:ln>
        </p:spPr>
        <p:style>
          <a:lnRef idx="2">
            <a:schemeClr val="accent1"/>
          </a:lnRef>
          <a:fillRef idx="0">
            <a:schemeClr val="accent1"/>
          </a:fillRef>
          <a:effectRef idx="1">
            <a:schemeClr val="accent1"/>
          </a:effectRef>
          <a:fontRef idx="minor">
            <a:schemeClr val="tx1"/>
          </a:fontRef>
        </p:style>
      </p:cxnSp>
      <p:cxnSp>
        <p:nvCxnSpPr>
          <p:cNvPr id="50" name="Straight Connector 49"/>
          <p:cNvCxnSpPr/>
          <p:nvPr/>
        </p:nvCxnSpPr>
        <p:spPr>
          <a:xfrm>
            <a:off x="3655676" y="4511306"/>
            <a:ext cx="0" cy="691901"/>
          </a:xfrm>
          <a:prstGeom prst="line">
            <a:avLst/>
          </a:prstGeom>
          <a:ln>
            <a:solidFill>
              <a:srgbClr val="3366FF"/>
            </a:solidFill>
          </a:ln>
        </p:spPr>
        <p:style>
          <a:lnRef idx="2">
            <a:schemeClr val="accent1"/>
          </a:lnRef>
          <a:fillRef idx="0">
            <a:schemeClr val="accent1"/>
          </a:fillRef>
          <a:effectRef idx="1">
            <a:schemeClr val="accent1"/>
          </a:effectRef>
          <a:fontRef idx="minor">
            <a:schemeClr val="tx1"/>
          </a:fontRef>
        </p:style>
      </p:cxnSp>
      <p:cxnSp>
        <p:nvCxnSpPr>
          <p:cNvPr id="53" name="Straight Connector 52"/>
          <p:cNvCxnSpPr/>
          <p:nvPr/>
        </p:nvCxnSpPr>
        <p:spPr>
          <a:xfrm flipH="1">
            <a:off x="4308316" y="5510442"/>
            <a:ext cx="577212" cy="0"/>
          </a:xfrm>
          <a:prstGeom prst="line">
            <a:avLst/>
          </a:prstGeom>
          <a:ln>
            <a:solidFill>
              <a:srgbClr val="3366FF"/>
            </a:solidFill>
          </a:ln>
        </p:spPr>
        <p:style>
          <a:lnRef idx="2">
            <a:schemeClr val="accent1"/>
          </a:lnRef>
          <a:fillRef idx="0">
            <a:schemeClr val="accent1"/>
          </a:fillRef>
          <a:effectRef idx="1">
            <a:schemeClr val="accent1"/>
          </a:effectRef>
          <a:fontRef idx="minor">
            <a:schemeClr val="tx1"/>
          </a:fontRef>
        </p:style>
      </p:cxnSp>
      <p:cxnSp>
        <p:nvCxnSpPr>
          <p:cNvPr id="56" name="Straight Connector 55"/>
          <p:cNvCxnSpPr/>
          <p:nvPr/>
        </p:nvCxnSpPr>
        <p:spPr>
          <a:xfrm flipH="1">
            <a:off x="4306796" y="6297894"/>
            <a:ext cx="405591" cy="0"/>
          </a:xfrm>
          <a:prstGeom prst="line">
            <a:avLst/>
          </a:prstGeom>
          <a:ln>
            <a:solidFill>
              <a:srgbClr val="3366FF"/>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0" y="96217"/>
            <a:ext cx="3886200" cy="1384995"/>
          </a:xfrm>
          <a:prstGeom prst="rect">
            <a:avLst/>
          </a:prstGeom>
          <a:solidFill>
            <a:srgbClr val="00FF00"/>
          </a:solidFill>
        </p:spPr>
        <p:txBody>
          <a:bodyPr wrap="square" rtlCol="0">
            <a:spAutoFit/>
          </a:bodyPr>
          <a:lstStyle/>
          <a:p>
            <a:r>
              <a:rPr lang="en-ZA" sz="2400" b="1" dirty="0"/>
              <a:t>Justice: </a:t>
            </a:r>
            <a:r>
              <a:rPr lang="en-ZA" sz="2000" dirty="0"/>
              <a:t>researchers should not place one group of people at risk solely for the benefit another.</a:t>
            </a:r>
            <a:endParaRPr lang="en-ZA" sz="2400" dirty="0"/>
          </a:p>
        </p:txBody>
      </p:sp>
      <p:cxnSp>
        <p:nvCxnSpPr>
          <p:cNvPr id="61" name="Straight Connector 60"/>
          <p:cNvCxnSpPr/>
          <p:nvPr/>
        </p:nvCxnSpPr>
        <p:spPr>
          <a:xfrm>
            <a:off x="3694150" y="1481212"/>
            <a:ext cx="0" cy="1597790"/>
          </a:xfrm>
          <a:prstGeom prst="line">
            <a:avLst/>
          </a:prstGeom>
          <a:ln w="57150" cmpd="sng">
            <a:solidFill>
              <a:srgbClr val="00FF00"/>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692658" y="1624480"/>
            <a:ext cx="2635931" cy="1242842"/>
          </a:xfrm>
          <a:prstGeom prst="rect">
            <a:avLst/>
          </a:prstGeom>
          <a:noFill/>
          <a:ln>
            <a:solidFill>
              <a:srgbClr val="00FF00"/>
            </a:solidFill>
          </a:ln>
        </p:spPr>
        <p:txBody>
          <a:bodyPr wrap="square" rtlCol="0">
            <a:spAutoFit/>
          </a:bodyPr>
          <a:lstStyle/>
          <a:p>
            <a:r>
              <a:rPr lang="en-ZA" dirty="0"/>
              <a:t>Risks and benefits should be distributed in an equitable manner when recruiting participancts</a:t>
            </a:r>
          </a:p>
        </p:txBody>
      </p:sp>
      <p:cxnSp>
        <p:nvCxnSpPr>
          <p:cNvPr id="64" name="Straight Connector 63"/>
          <p:cNvCxnSpPr/>
          <p:nvPr/>
        </p:nvCxnSpPr>
        <p:spPr>
          <a:xfrm>
            <a:off x="187840" y="1481212"/>
            <a:ext cx="0" cy="635603"/>
          </a:xfrm>
          <a:prstGeom prst="line">
            <a:avLst/>
          </a:prstGeom>
          <a:ln>
            <a:solidFill>
              <a:srgbClr val="00FF00"/>
            </a:solidFill>
          </a:ln>
        </p:spPr>
        <p:style>
          <a:lnRef idx="2">
            <a:schemeClr val="accent1"/>
          </a:lnRef>
          <a:fillRef idx="0">
            <a:schemeClr val="accent1"/>
          </a:fillRef>
          <a:effectRef idx="1">
            <a:schemeClr val="accent1"/>
          </a:effectRef>
          <a:fontRef idx="minor">
            <a:schemeClr val="tx1"/>
          </a:fontRef>
        </p:style>
      </p:cxnSp>
      <p:cxnSp>
        <p:nvCxnSpPr>
          <p:cNvPr id="66" name="Straight Connector 65"/>
          <p:cNvCxnSpPr/>
          <p:nvPr/>
        </p:nvCxnSpPr>
        <p:spPr>
          <a:xfrm>
            <a:off x="187840" y="2116815"/>
            <a:ext cx="504818" cy="0"/>
          </a:xfrm>
          <a:prstGeom prst="line">
            <a:avLst/>
          </a:prstGeom>
          <a:ln>
            <a:solidFill>
              <a:srgbClr val="00FF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173970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718"/>
            <a:ext cx="8610600" cy="812482"/>
          </a:xfrm>
        </p:spPr>
        <p:txBody>
          <a:bodyPr>
            <a:noAutofit/>
          </a:bodyPr>
          <a:lstStyle/>
          <a:p>
            <a:r>
              <a:rPr lang="en-ZA" sz="4000" dirty="0"/>
              <a:t>Concerned with Research Ethics: Reasons</a:t>
            </a:r>
          </a:p>
        </p:txBody>
      </p:sp>
      <p:sp>
        <p:nvSpPr>
          <p:cNvPr id="3" name="Content Placeholder 2"/>
          <p:cNvSpPr>
            <a:spLocks noGrp="1"/>
          </p:cNvSpPr>
          <p:nvPr>
            <p:ph idx="1"/>
          </p:nvPr>
        </p:nvSpPr>
        <p:spPr>
          <a:xfrm>
            <a:off x="457200" y="1316037"/>
            <a:ext cx="8369300" cy="5160963"/>
          </a:xfrm>
        </p:spPr>
        <p:txBody>
          <a:bodyPr>
            <a:normAutofit fontScale="85000" lnSpcReduction="20000"/>
          </a:bodyPr>
          <a:lstStyle/>
          <a:p>
            <a:pPr marL="457200" indent="-457200">
              <a:buFont typeface="+mj-lt"/>
              <a:buAutoNum type="arabicPeriod"/>
            </a:pPr>
            <a:r>
              <a:rPr lang="en-ZA" dirty="0"/>
              <a:t>Professional Responsibility</a:t>
            </a:r>
          </a:p>
          <a:p>
            <a:pPr marL="457200" indent="-457200">
              <a:buFont typeface="+mj-lt"/>
              <a:buAutoNum type="arabicPeriod"/>
            </a:pPr>
            <a:r>
              <a:rPr lang="en-ZA" dirty="0"/>
              <a:t>To avoid reputational damage</a:t>
            </a:r>
          </a:p>
          <a:p>
            <a:pPr marL="457200" indent="-457200">
              <a:buFont typeface="+mj-lt"/>
              <a:buAutoNum type="arabicPeriod"/>
            </a:pPr>
            <a:r>
              <a:rPr lang="en-ZA" dirty="0"/>
              <a:t>Research can be harmful to:</a:t>
            </a:r>
          </a:p>
          <a:p>
            <a:pPr marL="914400" lvl="1" indent="-457200"/>
            <a:r>
              <a:rPr lang="en-US" dirty="0"/>
              <a:t>P</a:t>
            </a:r>
            <a:r>
              <a:rPr lang="en-ZA" dirty="0"/>
              <a:t>articipants</a:t>
            </a:r>
          </a:p>
          <a:p>
            <a:pPr marL="914400" lvl="1" indent="-457200"/>
            <a:r>
              <a:rPr lang="en-US" dirty="0"/>
              <a:t>T</a:t>
            </a:r>
            <a:r>
              <a:rPr lang="en-ZA" dirty="0"/>
              <a:t>o researchers</a:t>
            </a:r>
          </a:p>
          <a:p>
            <a:pPr marL="914400" lvl="1" indent="-457200"/>
            <a:r>
              <a:rPr lang="en-US" dirty="0"/>
              <a:t>T</a:t>
            </a:r>
            <a:r>
              <a:rPr lang="en-ZA" dirty="0"/>
              <a:t>o institutions </a:t>
            </a:r>
          </a:p>
          <a:p>
            <a:pPr marL="914400" lvl="1" indent="-457200"/>
            <a:r>
              <a:rPr lang="en-US" dirty="0"/>
              <a:t>T</a:t>
            </a:r>
            <a:r>
              <a:rPr lang="en-ZA" dirty="0"/>
              <a:t>o research communities</a:t>
            </a:r>
          </a:p>
          <a:p>
            <a:pPr marL="914400" lvl="1" indent="-457200"/>
            <a:endParaRPr lang="en-ZA" dirty="0"/>
          </a:p>
          <a:p>
            <a:pPr marL="457200" indent="-457200">
              <a:buFont typeface="+mj-lt"/>
              <a:buAutoNum type="arabicPeriod"/>
            </a:pPr>
            <a:r>
              <a:rPr lang="en-ZA" dirty="0"/>
              <a:t>To avoid litigation</a:t>
            </a:r>
          </a:p>
          <a:p>
            <a:pPr marL="914400" lvl="1" indent="-457200"/>
            <a:r>
              <a:rPr lang="en-ZA" dirty="0"/>
              <a:t>In a scenario where a proposal is classified as Ethics Category 1 (exempt from Ethics and Biosafety Research Committee Review) liability and responsibility arising from decisions based on ethics are shouldered by the FRC and its members.</a:t>
            </a:r>
          </a:p>
        </p:txBody>
      </p:sp>
    </p:spTree>
    <p:extLst>
      <p:ext uri="{BB962C8B-B14F-4D97-AF65-F5344CB8AC3E}">
        <p14:creationId xmlns:p14="http://schemas.microsoft.com/office/powerpoint/2010/main" val="42800488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F22FFE8-2D31-49D0-BF1D-F35524C9F20D}"/>
              </a:ext>
            </a:extLst>
          </p:cNvPr>
          <p:cNvSpPr>
            <a:spLocks noGrp="1"/>
          </p:cNvSpPr>
          <p:nvPr>
            <p:ph sz="quarter" idx="11"/>
          </p:nvPr>
        </p:nvSpPr>
        <p:spPr/>
        <p:txBody>
          <a:bodyPr>
            <a:normAutofit/>
          </a:bodyPr>
          <a:lstStyle/>
          <a:p>
            <a:pPr marL="0" indent="0">
              <a:buNone/>
            </a:pPr>
            <a:r>
              <a:rPr lang="en-US" sz="2800" b="1" dirty="0"/>
              <a:t>Attribution of credit</a:t>
            </a:r>
          </a:p>
          <a:p>
            <a:pPr marL="239994" lvl="1" indent="0">
              <a:buNone/>
            </a:pPr>
            <a:r>
              <a:rPr lang="en-US" sz="2800" dirty="0"/>
              <a:t>Scientists should not </a:t>
            </a:r>
            <a:r>
              <a:rPr lang="en-US" sz="2800" dirty="0" err="1"/>
              <a:t>plagiarise</a:t>
            </a:r>
            <a:r>
              <a:rPr lang="en-US" sz="2800" dirty="0"/>
              <a:t> the work of other scientists. They should give credit where credit is due but not where it is not due.</a:t>
            </a:r>
          </a:p>
        </p:txBody>
      </p:sp>
      <p:sp>
        <p:nvSpPr>
          <p:cNvPr id="2" name="Title 1">
            <a:extLst>
              <a:ext uri="{FF2B5EF4-FFF2-40B4-BE49-F238E27FC236}">
                <a16:creationId xmlns:a16="http://schemas.microsoft.com/office/drawing/2014/main" id="{70D6E830-F623-40E0-9191-8E3F85E5DFFD}"/>
              </a:ext>
            </a:extLst>
          </p:cNvPr>
          <p:cNvSpPr>
            <a:spLocks noGrp="1"/>
          </p:cNvSpPr>
          <p:nvPr>
            <p:ph type="title"/>
          </p:nvPr>
        </p:nvSpPr>
        <p:spPr/>
        <p:txBody>
          <a:bodyPr>
            <a:normAutofit fontScale="90000"/>
          </a:bodyPr>
          <a:lstStyle/>
          <a:p>
            <a:r>
              <a:rPr lang="de-DE" dirty="0"/>
              <a:t>Six Fundamental </a:t>
            </a:r>
            <a:r>
              <a:rPr lang="de-DE" dirty="0" err="1"/>
              <a:t>Ethical</a:t>
            </a:r>
            <a:r>
              <a:rPr lang="de-DE" dirty="0"/>
              <a:t> </a:t>
            </a:r>
            <a:r>
              <a:rPr lang="de-DE" dirty="0" err="1"/>
              <a:t>Principles</a:t>
            </a:r>
            <a:r>
              <a:rPr lang="de-DE" dirty="0"/>
              <a:t> </a:t>
            </a:r>
            <a:r>
              <a:rPr lang="de-DE" dirty="0" err="1"/>
              <a:t>for</a:t>
            </a:r>
            <a:r>
              <a:rPr lang="de-DE" dirty="0"/>
              <a:t> Scientific Research</a:t>
            </a:r>
          </a:p>
        </p:txBody>
      </p:sp>
    </p:spTree>
    <p:extLst>
      <p:ext uri="{BB962C8B-B14F-4D97-AF65-F5344CB8AC3E}">
        <p14:creationId xmlns:p14="http://schemas.microsoft.com/office/powerpoint/2010/main" val="17876976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F22FFE8-2D31-49D0-BF1D-F35524C9F20D}"/>
              </a:ext>
            </a:extLst>
          </p:cNvPr>
          <p:cNvSpPr>
            <a:spLocks noGrp="1"/>
          </p:cNvSpPr>
          <p:nvPr>
            <p:ph sz="quarter" idx="11"/>
          </p:nvPr>
        </p:nvSpPr>
        <p:spPr/>
        <p:txBody>
          <a:bodyPr>
            <a:normAutofit/>
          </a:bodyPr>
          <a:lstStyle/>
          <a:p>
            <a:pPr marL="0" indent="0">
              <a:buNone/>
            </a:pPr>
            <a:r>
              <a:rPr lang="en-US" sz="2800" b="1" dirty="0"/>
              <a:t>Public responsibility</a:t>
            </a:r>
          </a:p>
          <a:p>
            <a:pPr marL="239994" lvl="1" indent="0">
              <a:buNone/>
            </a:pPr>
            <a:r>
              <a:rPr lang="en-US" sz="2800" dirty="0"/>
              <a:t>Scientists should report research in the public media when the research has an important and direct bearing on human happiness and when the research has been sufficiently validated by scientific peers.</a:t>
            </a:r>
            <a:endParaRPr lang="de-DE" sz="2800" dirty="0"/>
          </a:p>
        </p:txBody>
      </p:sp>
      <p:sp>
        <p:nvSpPr>
          <p:cNvPr id="2" name="Title 1">
            <a:extLst>
              <a:ext uri="{FF2B5EF4-FFF2-40B4-BE49-F238E27FC236}">
                <a16:creationId xmlns:a16="http://schemas.microsoft.com/office/drawing/2014/main" id="{70D6E830-F623-40E0-9191-8E3F85E5DFFD}"/>
              </a:ext>
            </a:extLst>
          </p:cNvPr>
          <p:cNvSpPr>
            <a:spLocks noGrp="1"/>
          </p:cNvSpPr>
          <p:nvPr>
            <p:ph type="title"/>
          </p:nvPr>
        </p:nvSpPr>
        <p:spPr/>
        <p:txBody>
          <a:bodyPr>
            <a:normAutofit fontScale="90000"/>
          </a:bodyPr>
          <a:lstStyle/>
          <a:p>
            <a:r>
              <a:rPr lang="de-DE" dirty="0"/>
              <a:t>Six Fundamental </a:t>
            </a:r>
            <a:r>
              <a:rPr lang="de-DE" dirty="0" err="1"/>
              <a:t>Ethical</a:t>
            </a:r>
            <a:r>
              <a:rPr lang="de-DE" dirty="0"/>
              <a:t> </a:t>
            </a:r>
            <a:r>
              <a:rPr lang="de-DE" dirty="0" err="1"/>
              <a:t>Principles</a:t>
            </a:r>
            <a:r>
              <a:rPr lang="de-DE" dirty="0"/>
              <a:t> </a:t>
            </a:r>
            <a:r>
              <a:rPr lang="de-DE" dirty="0" err="1"/>
              <a:t>for</a:t>
            </a:r>
            <a:r>
              <a:rPr lang="de-DE" dirty="0"/>
              <a:t> Scientific Research</a:t>
            </a:r>
          </a:p>
        </p:txBody>
      </p:sp>
    </p:spTree>
    <p:extLst>
      <p:ext uri="{BB962C8B-B14F-4D97-AF65-F5344CB8AC3E}">
        <p14:creationId xmlns:p14="http://schemas.microsoft.com/office/powerpoint/2010/main" val="13963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9F7AB5D-526D-44EB-87A1-47D69EBC3EDA}"/>
              </a:ext>
            </a:extLst>
          </p:cNvPr>
          <p:cNvSpPr>
            <a:spLocks noGrp="1"/>
          </p:cNvSpPr>
          <p:nvPr>
            <p:ph sz="quarter" idx="11"/>
          </p:nvPr>
        </p:nvSpPr>
        <p:spPr/>
        <p:txBody>
          <a:bodyPr>
            <a:normAutofit/>
          </a:bodyPr>
          <a:lstStyle/>
          <a:p>
            <a:r>
              <a:rPr lang="en-US" sz="2800" dirty="0"/>
              <a:t>All behaviors involved in the research process, such as developing a theory, collecting data, and testing hypotheses, are subject to ethical considerations, codified and uncodified</a:t>
            </a:r>
            <a:r>
              <a:rPr lang="en-US" sz="2800" b="1" dirty="0"/>
              <a:t>, particularly ethics related to empirical data collection and human </a:t>
            </a:r>
            <a:r>
              <a:rPr lang="de-DE" sz="2800" b="1" dirty="0" err="1"/>
              <a:t>subjects</a:t>
            </a:r>
            <a:r>
              <a:rPr lang="de-DE" sz="2800" dirty="0"/>
              <a:t>.</a:t>
            </a:r>
          </a:p>
          <a:p>
            <a:endParaRPr lang="de-DE" sz="2800" dirty="0"/>
          </a:p>
        </p:txBody>
      </p:sp>
      <p:sp>
        <p:nvSpPr>
          <p:cNvPr id="2" name="Title 1">
            <a:extLst>
              <a:ext uri="{FF2B5EF4-FFF2-40B4-BE49-F238E27FC236}">
                <a16:creationId xmlns:a16="http://schemas.microsoft.com/office/drawing/2014/main" id="{514AD638-3F01-4EAA-A32F-BD154D768422}"/>
              </a:ext>
            </a:extLst>
          </p:cNvPr>
          <p:cNvSpPr>
            <a:spLocks noGrp="1"/>
          </p:cNvSpPr>
          <p:nvPr>
            <p:ph type="title"/>
          </p:nvPr>
        </p:nvSpPr>
        <p:spPr/>
        <p:txBody>
          <a:bodyPr>
            <a:normAutofit fontScale="90000"/>
          </a:bodyPr>
          <a:lstStyle/>
          <a:p>
            <a:r>
              <a:rPr lang="de-DE" dirty="0" err="1"/>
              <a:t>Ethical</a:t>
            </a:r>
            <a:r>
              <a:rPr lang="de-DE" dirty="0"/>
              <a:t> </a:t>
            </a:r>
            <a:r>
              <a:rPr lang="de-DE" dirty="0" err="1"/>
              <a:t>considerations</a:t>
            </a:r>
            <a:r>
              <a:rPr lang="de-DE" dirty="0"/>
              <a:t> </a:t>
            </a:r>
            <a:r>
              <a:rPr lang="de-DE" dirty="0" err="1"/>
              <a:t>for</a:t>
            </a:r>
            <a:r>
              <a:rPr lang="de-DE" dirty="0"/>
              <a:t> </a:t>
            </a:r>
            <a:r>
              <a:rPr lang="de-DE" dirty="0" err="1"/>
              <a:t>scientific</a:t>
            </a:r>
            <a:r>
              <a:rPr lang="de-DE" dirty="0"/>
              <a:t> </a:t>
            </a:r>
            <a:r>
              <a:rPr lang="de-DE" dirty="0" err="1"/>
              <a:t>conduct</a:t>
            </a:r>
            <a:endParaRPr lang="de-DE" dirty="0"/>
          </a:p>
        </p:txBody>
      </p:sp>
    </p:spTree>
    <p:extLst>
      <p:ext uri="{BB962C8B-B14F-4D97-AF65-F5344CB8AC3E}">
        <p14:creationId xmlns:p14="http://schemas.microsoft.com/office/powerpoint/2010/main" val="9118218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9F7AB5D-526D-44EB-87A1-47D69EBC3EDA}"/>
              </a:ext>
            </a:extLst>
          </p:cNvPr>
          <p:cNvSpPr>
            <a:spLocks noGrp="1"/>
          </p:cNvSpPr>
          <p:nvPr>
            <p:ph sz="quarter" idx="11"/>
          </p:nvPr>
        </p:nvSpPr>
        <p:spPr/>
        <p:txBody>
          <a:bodyPr>
            <a:normAutofit/>
          </a:bodyPr>
          <a:lstStyle/>
          <a:p>
            <a:r>
              <a:rPr lang="de-DE" sz="2800" dirty="0"/>
              <a:t>Research </a:t>
            </a:r>
            <a:r>
              <a:rPr lang="de-DE" sz="2800" dirty="0" err="1"/>
              <a:t>involving</a:t>
            </a:r>
            <a:r>
              <a:rPr lang="de-DE" sz="2800" dirty="0"/>
              <a:t> human </a:t>
            </a:r>
            <a:r>
              <a:rPr lang="de-DE" sz="2800" dirty="0" err="1"/>
              <a:t>subjects</a:t>
            </a:r>
            <a:r>
              <a:rPr lang="de-DE" sz="2800" dirty="0"/>
              <a:t> in </a:t>
            </a:r>
            <a:r>
              <a:rPr lang="de-DE" sz="2800" dirty="0" err="1"/>
              <a:t>institutions</a:t>
            </a:r>
            <a:r>
              <a:rPr lang="de-DE" sz="2800" dirty="0"/>
              <a:t> </a:t>
            </a:r>
            <a:r>
              <a:rPr lang="de-DE" sz="2800" dirty="0" err="1"/>
              <a:t>that</a:t>
            </a:r>
            <a:r>
              <a:rPr lang="de-DE" sz="2800" dirty="0"/>
              <a:t> </a:t>
            </a:r>
            <a:r>
              <a:rPr lang="de-DE" sz="2800" dirty="0" err="1"/>
              <a:t>receive</a:t>
            </a:r>
            <a:r>
              <a:rPr lang="de-DE" sz="2800" dirty="0"/>
              <a:t> </a:t>
            </a:r>
            <a:r>
              <a:rPr lang="de-DE" sz="2800" dirty="0" err="1"/>
              <a:t>federal</a:t>
            </a:r>
            <a:r>
              <a:rPr lang="de-DE" sz="2800" dirty="0"/>
              <a:t> </a:t>
            </a:r>
            <a:r>
              <a:rPr lang="de-DE" sz="2800" dirty="0" err="1"/>
              <a:t>research</a:t>
            </a:r>
            <a:r>
              <a:rPr lang="de-DE" sz="2800" dirty="0"/>
              <a:t> </a:t>
            </a:r>
            <a:r>
              <a:rPr lang="de-DE" sz="2800" dirty="0" err="1"/>
              <a:t>funding</a:t>
            </a:r>
            <a:r>
              <a:rPr lang="de-DE" sz="2800" dirty="0"/>
              <a:t> </a:t>
            </a:r>
            <a:r>
              <a:rPr lang="de-DE" sz="2800" dirty="0" err="1"/>
              <a:t>must</a:t>
            </a:r>
            <a:r>
              <a:rPr lang="de-DE" sz="2800" dirty="0"/>
              <a:t> </a:t>
            </a:r>
            <a:r>
              <a:rPr lang="de-DE" sz="2800" dirty="0" err="1"/>
              <a:t>receive</a:t>
            </a:r>
            <a:r>
              <a:rPr lang="de-DE" sz="2800" dirty="0"/>
              <a:t> </a:t>
            </a:r>
            <a:r>
              <a:rPr lang="de-DE" sz="2800" b="1" dirty="0" err="1"/>
              <a:t>ethical</a:t>
            </a:r>
            <a:r>
              <a:rPr lang="de-DE" sz="2800" b="1" dirty="0"/>
              <a:t> </a:t>
            </a:r>
            <a:r>
              <a:rPr lang="de-DE" sz="2800" b="1" dirty="0" err="1"/>
              <a:t>clearance</a:t>
            </a:r>
            <a:r>
              <a:rPr lang="de-DE" sz="2800" b="1" dirty="0"/>
              <a:t> </a:t>
            </a:r>
            <a:r>
              <a:rPr lang="de-DE" sz="2800" dirty="0" err="1"/>
              <a:t>by</a:t>
            </a:r>
            <a:r>
              <a:rPr lang="de-DE" sz="2800" dirty="0"/>
              <a:t> an </a:t>
            </a:r>
            <a:r>
              <a:rPr lang="de-DE" sz="2800" b="1" dirty="0" err="1"/>
              <a:t>independent</a:t>
            </a:r>
            <a:r>
              <a:rPr lang="de-DE" sz="2800" b="1" dirty="0"/>
              <a:t> review </a:t>
            </a:r>
            <a:r>
              <a:rPr lang="de-DE" sz="2800" b="1" dirty="0" err="1"/>
              <a:t>board</a:t>
            </a:r>
            <a:r>
              <a:rPr lang="de-DE" sz="2800" dirty="0"/>
              <a:t>.</a:t>
            </a:r>
          </a:p>
          <a:p>
            <a:r>
              <a:rPr lang="en-US" sz="2800" dirty="0"/>
              <a:t>IRB must approve any research with human subjects </a:t>
            </a:r>
            <a:r>
              <a:rPr lang="en-US" sz="2800" i="1" dirty="0"/>
              <a:t>before</a:t>
            </a:r>
            <a:r>
              <a:rPr lang="en-US" sz="2800" dirty="0"/>
              <a:t> it is initiated</a:t>
            </a:r>
            <a:r>
              <a:rPr lang="de-DE" sz="2800" dirty="0"/>
              <a:t>.</a:t>
            </a:r>
          </a:p>
          <a:p>
            <a:endParaRPr lang="de-DE" sz="2800" dirty="0"/>
          </a:p>
        </p:txBody>
      </p:sp>
      <p:sp>
        <p:nvSpPr>
          <p:cNvPr id="2" name="Title 1">
            <a:extLst>
              <a:ext uri="{FF2B5EF4-FFF2-40B4-BE49-F238E27FC236}">
                <a16:creationId xmlns:a16="http://schemas.microsoft.com/office/drawing/2014/main" id="{514AD638-3F01-4EAA-A32F-BD154D768422}"/>
              </a:ext>
            </a:extLst>
          </p:cNvPr>
          <p:cNvSpPr>
            <a:spLocks noGrp="1"/>
          </p:cNvSpPr>
          <p:nvPr>
            <p:ph type="title"/>
          </p:nvPr>
        </p:nvSpPr>
        <p:spPr/>
        <p:txBody>
          <a:bodyPr>
            <a:normAutofit fontScale="90000"/>
          </a:bodyPr>
          <a:lstStyle/>
          <a:p>
            <a:r>
              <a:rPr lang="de-DE" dirty="0"/>
              <a:t>Ethical considerations for scientific conduct</a:t>
            </a:r>
          </a:p>
        </p:txBody>
      </p:sp>
    </p:spTree>
    <p:extLst>
      <p:ext uri="{BB962C8B-B14F-4D97-AF65-F5344CB8AC3E}">
        <p14:creationId xmlns:p14="http://schemas.microsoft.com/office/powerpoint/2010/main" val="8612429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9F7AB5D-526D-44EB-87A1-47D69EBC3EDA}"/>
              </a:ext>
            </a:extLst>
          </p:cNvPr>
          <p:cNvSpPr>
            <a:spLocks noGrp="1"/>
          </p:cNvSpPr>
          <p:nvPr>
            <p:ph sz="quarter" idx="11"/>
          </p:nvPr>
        </p:nvSpPr>
        <p:spPr>
          <a:xfrm>
            <a:off x="0" y="1600200"/>
            <a:ext cx="9144000" cy="4337097"/>
          </a:xfrm>
        </p:spPr>
        <p:txBody>
          <a:bodyPr>
            <a:noAutofit/>
          </a:bodyPr>
          <a:lstStyle/>
          <a:p>
            <a:r>
              <a:rPr lang="de-DE" dirty="0"/>
              <a:t>An IRB </a:t>
            </a:r>
            <a:r>
              <a:rPr lang="de-DE" dirty="0" err="1"/>
              <a:t>evaluates</a:t>
            </a:r>
            <a:endParaRPr lang="de-DE" dirty="0"/>
          </a:p>
          <a:p>
            <a:pPr marL="697183" lvl="1" indent="-457189">
              <a:buFont typeface="+mj-lt"/>
              <a:buAutoNum type="arabicPeriod"/>
            </a:pPr>
            <a:r>
              <a:rPr lang="en-US" sz="2400" dirty="0"/>
              <a:t>the extent to which participation in a study</a:t>
            </a:r>
          </a:p>
          <a:p>
            <a:pPr lvl="2"/>
            <a:r>
              <a:rPr lang="en-US" sz="1800" dirty="0"/>
              <a:t>is voluntary,</a:t>
            </a:r>
          </a:p>
          <a:p>
            <a:pPr lvl="2"/>
            <a:r>
              <a:rPr lang="en-US" sz="1800" dirty="0"/>
              <a:t>does not exert  physical or psychological stress, and </a:t>
            </a:r>
          </a:p>
          <a:p>
            <a:pPr lvl="2"/>
            <a:r>
              <a:rPr lang="en-US" sz="1800" dirty="0"/>
              <a:t>not cause other kinds of damage to participants</a:t>
            </a:r>
          </a:p>
          <a:p>
            <a:pPr marL="697183" lvl="1" indent="-457189">
              <a:buFont typeface="+mj-lt"/>
              <a:buAutoNum type="arabicPeriod"/>
            </a:pPr>
            <a:r>
              <a:rPr lang="en-US" sz="2400" dirty="0"/>
              <a:t>whether participants must give consent regarding</a:t>
            </a:r>
          </a:p>
          <a:p>
            <a:pPr lvl="2"/>
            <a:r>
              <a:rPr lang="en-US" sz="1800" dirty="0"/>
              <a:t>how their data will be used</a:t>
            </a:r>
          </a:p>
          <a:p>
            <a:pPr lvl="2"/>
            <a:r>
              <a:rPr lang="en-US" sz="1800" dirty="0"/>
              <a:t>how their data will be reported </a:t>
            </a:r>
          </a:p>
          <a:p>
            <a:pPr lvl="2"/>
            <a:r>
              <a:rPr lang="en-US" sz="1800" dirty="0"/>
              <a:t>how the data will be protected in terms of anonymity or confidentiality</a:t>
            </a:r>
          </a:p>
          <a:p>
            <a:pPr marL="697183" lvl="1" indent="-457189">
              <a:buFont typeface="+mj-lt"/>
              <a:buAutoNum type="arabicPeriod"/>
            </a:pPr>
            <a:r>
              <a:rPr lang="en-US" sz="2400" dirty="0"/>
              <a:t>whether participants have the right to withdraw from participation at </a:t>
            </a:r>
            <a:r>
              <a:rPr lang="de-DE" sz="2400" dirty="0" err="1"/>
              <a:t>any</a:t>
            </a:r>
            <a:r>
              <a:rPr lang="de-DE" sz="2400" dirty="0"/>
              <a:t> time.</a:t>
            </a:r>
          </a:p>
          <a:p>
            <a:pPr marL="697183" lvl="1" indent="-457189">
              <a:buFont typeface="+mj-lt"/>
              <a:buAutoNum type="arabicPeriod"/>
            </a:pPr>
            <a:r>
              <a:rPr lang="de-DE" sz="2400" dirty="0" err="1"/>
              <a:t>how</a:t>
            </a:r>
            <a:r>
              <a:rPr lang="de-DE" sz="2400" dirty="0"/>
              <a:t> </a:t>
            </a:r>
            <a:r>
              <a:rPr lang="de-DE" sz="2400" dirty="0" err="1"/>
              <a:t>data</a:t>
            </a:r>
            <a:r>
              <a:rPr lang="de-DE" sz="2400" dirty="0"/>
              <a:t> </a:t>
            </a:r>
            <a:r>
              <a:rPr lang="de-DE" sz="2400" dirty="0" err="1"/>
              <a:t>is</a:t>
            </a:r>
            <a:r>
              <a:rPr lang="de-DE" sz="2400" dirty="0"/>
              <a:t> </a:t>
            </a:r>
            <a:r>
              <a:rPr lang="de-DE" sz="2400" dirty="0" err="1"/>
              <a:t>stored</a:t>
            </a:r>
            <a:r>
              <a:rPr lang="de-DE" sz="2400" dirty="0"/>
              <a:t> and </a:t>
            </a:r>
            <a:r>
              <a:rPr lang="de-DE" sz="2400" dirty="0" err="1"/>
              <a:t>analysed</a:t>
            </a:r>
            <a:endParaRPr lang="de-DE" sz="2400" dirty="0"/>
          </a:p>
          <a:p>
            <a:pPr lvl="2"/>
            <a:r>
              <a:rPr lang="en-US" sz="1800" dirty="0"/>
              <a:t>Involves ownership, storage and backup, privacy, confidentiality, access, and reuse.</a:t>
            </a:r>
            <a:endParaRPr lang="de-DE" sz="1800" dirty="0"/>
          </a:p>
        </p:txBody>
      </p:sp>
      <p:sp>
        <p:nvSpPr>
          <p:cNvPr id="2" name="Title 1">
            <a:extLst>
              <a:ext uri="{FF2B5EF4-FFF2-40B4-BE49-F238E27FC236}">
                <a16:creationId xmlns:a16="http://schemas.microsoft.com/office/drawing/2014/main" id="{514AD638-3F01-4EAA-A32F-BD154D768422}"/>
              </a:ext>
            </a:extLst>
          </p:cNvPr>
          <p:cNvSpPr>
            <a:spLocks noGrp="1"/>
          </p:cNvSpPr>
          <p:nvPr>
            <p:ph type="title"/>
          </p:nvPr>
        </p:nvSpPr>
        <p:spPr/>
        <p:txBody>
          <a:bodyPr/>
          <a:lstStyle/>
          <a:p>
            <a:r>
              <a:rPr lang="de-DE" dirty="0" err="1"/>
              <a:t>Ethical</a:t>
            </a:r>
            <a:r>
              <a:rPr lang="de-DE" dirty="0"/>
              <a:t> </a:t>
            </a:r>
            <a:r>
              <a:rPr lang="de-DE" dirty="0" err="1"/>
              <a:t>clearance</a:t>
            </a:r>
            <a:r>
              <a:rPr lang="de-DE" dirty="0"/>
              <a:t> </a:t>
            </a:r>
            <a:r>
              <a:rPr lang="de-DE" dirty="0" err="1"/>
              <a:t>considerations</a:t>
            </a:r>
            <a:endParaRPr lang="de-DE" dirty="0"/>
          </a:p>
        </p:txBody>
      </p:sp>
    </p:spTree>
    <p:extLst>
      <p:ext uri="{BB962C8B-B14F-4D97-AF65-F5344CB8AC3E}">
        <p14:creationId xmlns:p14="http://schemas.microsoft.com/office/powerpoint/2010/main" val="37297683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37067"/>
            <a:ext cx="8060267" cy="1007373"/>
          </a:xfrm>
        </p:spPr>
        <p:txBody>
          <a:bodyPr>
            <a:noAutofit/>
          </a:bodyPr>
          <a:lstStyle/>
          <a:p>
            <a:r>
              <a:rPr lang="en-ZA" sz="3600" dirty="0"/>
              <a:t>Another way of looking at research ethics is by looking at unethical research conduct</a:t>
            </a:r>
          </a:p>
        </p:txBody>
      </p:sp>
      <p:sp>
        <p:nvSpPr>
          <p:cNvPr id="3" name="Content Placeholder 2"/>
          <p:cNvSpPr>
            <a:spLocks noGrp="1"/>
          </p:cNvSpPr>
          <p:nvPr>
            <p:ph idx="1"/>
          </p:nvPr>
        </p:nvSpPr>
        <p:spPr>
          <a:xfrm>
            <a:off x="457199" y="1422400"/>
            <a:ext cx="8245475" cy="5070475"/>
          </a:xfrm>
        </p:spPr>
        <p:txBody>
          <a:bodyPr>
            <a:normAutofit fontScale="62500" lnSpcReduction="20000"/>
          </a:bodyPr>
          <a:lstStyle/>
          <a:p>
            <a:pPr marL="342900" indent="-342900">
              <a:buClr>
                <a:schemeClr val="tx2"/>
              </a:buClr>
              <a:buFont typeface="Wingdings" charset="2"/>
              <a:buChar char="v"/>
            </a:pPr>
            <a:r>
              <a:rPr lang="en-US" dirty="0"/>
              <a:t>Deception (issues of full disclosure)</a:t>
            </a:r>
          </a:p>
          <a:p>
            <a:pPr marL="800100" lvl="1" indent="-342900">
              <a:buFont typeface="Arial"/>
              <a:buChar char="•"/>
            </a:pPr>
            <a:r>
              <a:rPr lang="en-US" dirty="0"/>
              <a:t>Withholding information about the aim of the study</a:t>
            </a:r>
          </a:p>
          <a:p>
            <a:pPr marL="800100" lvl="1" indent="-342900">
              <a:buFont typeface="Arial"/>
              <a:buChar char="•"/>
            </a:pPr>
            <a:r>
              <a:rPr lang="en-US" dirty="0"/>
              <a:t>Misleading participants about the risks inherent in participating in the study</a:t>
            </a:r>
          </a:p>
          <a:p>
            <a:pPr marL="342900" indent="-342900">
              <a:buClr>
                <a:srgbClr val="FF0000"/>
              </a:buClr>
              <a:buFont typeface="Wingdings" charset="2"/>
              <a:buChar char="v"/>
            </a:pPr>
            <a:r>
              <a:rPr lang="en-US" dirty="0"/>
              <a:t>Plagiarism</a:t>
            </a:r>
          </a:p>
          <a:p>
            <a:pPr marL="342900" indent="-342900">
              <a:buClr>
                <a:srgbClr val="FF0000"/>
              </a:buClr>
              <a:buFont typeface="Wingdings" charset="2"/>
              <a:buChar char="v"/>
            </a:pPr>
            <a:r>
              <a:rPr lang="en-US" dirty="0"/>
              <a:t>Conducting research that does not have a scientific base (ill-formed problem statement) </a:t>
            </a:r>
          </a:p>
          <a:p>
            <a:pPr marL="342900" indent="-342900">
              <a:buClr>
                <a:srgbClr val="FF0000"/>
              </a:buClr>
              <a:buFont typeface="Wingdings" charset="2"/>
              <a:buChar char="v"/>
            </a:pPr>
            <a:r>
              <a:rPr lang="en-US" dirty="0"/>
              <a:t>Lack of objectivity and integrity in the design and conduct of research</a:t>
            </a:r>
          </a:p>
          <a:p>
            <a:pPr marL="800100" lvl="1" indent="-342900">
              <a:buClr>
                <a:srgbClr val="FF0000"/>
              </a:buClr>
              <a:buFont typeface="Arial"/>
              <a:buChar char="•"/>
            </a:pPr>
            <a:r>
              <a:rPr lang="en-US" dirty="0"/>
              <a:t>Not identifying the methodological constraints of the study that determine the validity of the findings</a:t>
            </a:r>
          </a:p>
          <a:p>
            <a:pPr marL="800100" lvl="1" indent="-342900">
              <a:buClr>
                <a:srgbClr val="FF0000"/>
              </a:buClr>
              <a:buFont typeface="Arial"/>
              <a:buChar char="•"/>
            </a:pPr>
            <a:r>
              <a:rPr lang="en-US" dirty="0"/>
              <a:t>Misinterpretation of results</a:t>
            </a:r>
          </a:p>
          <a:p>
            <a:pPr marL="800100" lvl="1" indent="-342900">
              <a:buClr>
                <a:srgbClr val="FF0000"/>
              </a:buClr>
              <a:buFont typeface="Arial"/>
              <a:buChar char="•"/>
            </a:pPr>
            <a:r>
              <a:rPr lang="en-US" dirty="0"/>
              <a:t>Not providing details of theories and methods that might be relevant in the interpretation of research findings  </a:t>
            </a:r>
          </a:p>
          <a:p>
            <a:pPr marL="342900" indent="-342900">
              <a:buClr>
                <a:srgbClr val="FF0000"/>
              </a:buClr>
              <a:buFont typeface="Wingdings" charset="2"/>
              <a:buChar char="v"/>
            </a:pPr>
            <a:r>
              <a:rPr lang="en-US" dirty="0"/>
              <a:t>Fabrication  or falsification of data</a:t>
            </a:r>
          </a:p>
          <a:p>
            <a:pPr marL="342900" indent="-342900">
              <a:buClr>
                <a:srgbClr val="FF0000"/>
              </a:buClr>
              <a:buFont typeface="Wingdings" charset="2"/>
              <a:buChar char="v"/>
            </a:pPr>
            <a:r>
              <a:rPr lang="en-US" dirty="0"/>
              <a:t>Not following the appropriate ascription of authorship to a publication</a:t>
            </a:r>
          </a:p>
          <a:p>
            <a:pPr marL="342900" indent="-342900">
              <a:buClr>
                <a:srgbClr val="FF0000"/>
              </a:buClr>
              <a:buFont typeface="Wingdings" charset="2"/>
              <a:buChar char="v"/>
            </a:pPr>
            <a:endParaRPr lang="en-ZA" dirty="0"/>
          </a:p>
        </p:txBody>
      </p:sp>
    </p:spTree>
    <p:extLst>
      <p:ext uri="{BB962C8B-B14F-4D97-AF65-F5344CB8AC3E}">
        <p14:creationId xmlns:p14="http://schemas.microsoft.com/office/powerpoint/2010/main" val="30915578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37067"/>
            <a:ext cx="8060267" cy="1007373"/>
          </a:xfrm>
        </p:spPr>
        <p:txBody>
          <a:bodyPr>
            <a:noAutofit/>
          </a:bodyPr>
          <a:lstStyle/>
          <a:p>
            <a:r>
              <a:rPr lang="en-ZA" sz="3600" dirty="0"/>
              <a:t>Another way of looking at research ethics is by looking at unethical research conduct</a:t>
            </a:r>
          </a:p>
        </p:txBody>
      </p:sp>
      <p:sp>
        <p:nvSpPr>
          <p:cNvPr id="3" name="Content Placeholder 2"/>
          <p:cNvSpPr>
            <a:spLocks noGrp="1"/>
          </p:cNvSpPr>
          <p:nvPr>
            <p:ph idx="1"/>
          </p:nvPr>
        </p:nvSpPr>
        <p:spPr>
          <a:xfrm>
            <a:off x="457199" y="1422400"/>
            <a:ext cx="8245475" cy="5070475"/>
          </a:xfrm>
        </p:spPr>
        <p:txBody>
          <a:bodyPr>
            <a:normAutofit fontScale="92500" lnSpcReduction="20000"/>
          </a:bodyPr>
          <a:lstStyle/>
          <a:p>
            <a:pPr marL="342900" indent="-342900">
              <a:buClr>
                <a:schemeClr val="tx2"/>
              </a:buClr>
              <a:buFont typeface="Wingdings" charset="2"/>
              <a:buChar char="v"/>
            </a:pPr>
            <a:r>
              <a:rPr lang="en-US" dirty="0"/>
              <a:t>Not respecting the right to privacy</a:t>
            </a:r>
          </a:p>
          <a:p>
            <a:pPr marL="342900" indent="-342900">
              <a:buClr>
                <a:schemeClr val="tx2"/>
              </a:buClr>
              <a:buFont typeface="Wingdings" charset="2"/>
              <a:buChar char="v"/>
            </a:pPr>
            <a:r>
              <a:rPr lang="en-US" dirty="0"/>
              <a:t>Not respecting the right to anonymity and confidentiality</a:t>
            </a:r>
          </a:p>
          <a:p>
            <a:pPr marL="342900" indent="-342900">
              <a:buClr>
                <a:schemeClr val="tx2"/>
              </a:buClr>
              <a:buFont typeface="Wingdings" charset="2"/>
              <a:buChar char="v"/>
            </a:pPr>
            <a:r>
              <a:rPr lang="en-US" dirty="0"/>
              <a:t>Not respecting rights of vulnerable groups</a:t>
            </a:r>
          </a:p>
          <a:p>
            <a:pPr marL="1485900" lvl="2" indent="-342900">
              <a:buFont typeface="Arial"/>
              <a:buChar char="•"/>
            </a:pPr>
            <a:r>
              <a:rPr lang="en-US" dirty="0"/>
              <a:t>C</a:t>
            </a:r>
            <a:r>
              <a:rPr lang="en-ZA" dirty="0"/>
              <a:t>hildren</a:t>
            </a:r>
          </a:p>
          <a:p>
            <a:pPr marL="1485900" lvl="2" indent="-342900">
              <a:buFont typeface="Arial"/>
              <a:buChar char="•"/>
            </a:pPr>
            <a:r>
              <a:rPr lang="en-US" dirty="0"/>
              <a:t>M</a:t>
            </a:r>
            <a:r>
              <a:rPr lang="en-ZA" dirty="0"/>
              <a:t>entally handicapped individuals</a:t>
            </a:r>
          </a:p>
          <a:p>
            <a:pPr marL="1428750" lvl="2" indent="-285750"/>
            <a:r>
              <a:rPr lang="en-US" dirty="0"/>
              <a:t>The aged</a:t>
            </a:r>
          </a:p>
          <a:p>
            <a:pPr marL="1428750" lvl="2" indent="-285750"/>
            <a:r>
              <a:rPr lang="en-US" dirty="0"/>
              <a:t>Prisoners</a:t>
            </a:r>
          </a:p>
          <a:p>
            <a:pPr marL="1428750" lvl="2" indent="-285750"/>
            <a:r>
              <a:rPr lang="en-US" dirty="0"/>
              <a:t>Illiterate</a:t>
            </a:r>
          </a:p>
          <a:p>
            <a:pPr marL="1428750" lvl="2" indent="-285750"/>
            <a:r>
              <a:rPr lang="en-US" dirty="0"/>
              <a:t>Those with low social status</a:t>
            </a:r>
          </a:p>
          <a:p>
            <a:pPr marL="1428750" lvl="2" indent="-285750"/>
            <a:endParaRPr lang="en-US" dirty="0"/>
          </a:p>
          <a:p>
            <a:pPr marL="342900" indent="-342900">
              <a:buFont typeface="Wingdings" charset="2"/>
              <a:buChar char="v"/>
            </a:pPr>
            <a:r>
              <a:rPr lang="en-ZA" dirty="0"/>
              <a:t>Not having due consideration for the environment</a:t>
            </a:r>
            <a:endParaRPr lang="en-US" dirty="0"/>
          </a:p>
        </p:txBody>
      </p:sp>
    </p:spTree>
    <p:extLst>
      <p:ext uri="{BB962C8B-B14F-4D97-AF65-F5344CB8AC3E}">
        <p14:creationId xmlns:p14="http://schemas.microsoft.com/office/powerpoint/2010/main" val="17198156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4A469E6-30F0-4C14-92A5-AB9E436C1D59}"/>
              </a:ext>
            </a:extLst>
          </p:cNvPr>
          <p:cNvSpPr>
            <a:spLocks noGrp="1"/>
          </p:cNvSpPr>
          <p:nvPr>
            <p:ph sz="quarter" idx="11"/>
          </p:nvPr>
        </p:nvSpPr>
        <p:spPr/>
        <p:txBody>
          <a:bodyPr/>
          <a:lstStyle/>
          <a:p>
            <a:r>
              <a:rPr lang="en-US" dirty="0"/>
              <a:t>A subset of ethical issues in scientific conduct that relates only to the reporting of </a:t>
            </a:r>
            <a:r>
              <a:rPr lang="de-DE" dirty="0" err="1"/>
              <a:t>research</a:t>
            </a:r>
            <a:endParaRPr lang="de-DE" dirty="0"/>
          </a:p>
          <a:p>
            <a:r>
              <a:rPr lang="de-DE" dirty="0"/>
              <a:t>Very </a:t>
            </a:r>
            <a:r>
              <a:rPr lang="de-DE" dirty="0" err="1"/>
              <a:t>important</a:t>
            </a:r>
            <a:r>
              <a:rPr lang="de-DE" dirty="0"/>
              <a:t> </a:t>
            </a:r>
            <a:r>
              <a:rPr lang="de-DE" dirty="0" err="1"/>
              <a:t>part</a:t>
            </a:r>
            <a:r>
              <a:rPr lang="de-DE" dirty="0"/>
              <a:t> of </a:t>
            </a:r>
            <a:r>
              <a:rPr lang="de-DE" dirty="0" err="1"/>
              <a:t>scientific</a:t>
            </a:r>
            <a:r>
              <a:rPr lang="de-DE" dirty="0"/>
              <a:t> </a:t>
            </a:r>
            <a:r>
              <a:rPr lang="de-DE" dirty="0" err="1"/>
              <a:t>ethics</a:t>
            </a:r>
            <a:r>
              <a:rPr lang="de-DE" dirty="0"/>
              <a:t> </a:t>
            </a:r>
            <a:r>
              <a:rPr lang="de-DE" dirty="0" err="1"/>
              <a:t>because</a:t>
            </a:r>
            <a:r>
              <a:rPr lang="de-DE" dirty="0"/>
              <a:t> </a:t>
            </a:r>
            <a:r>
              <a:rPr lang="en-US" dirty="0"/>
              <a:t>it is typically only through reported research that an ethical issue is revealed </a:t>
            </a:r>
          </a:p>
          <a:p>
            <a:pPr lvl="1"/>
            <a:r>
              <a:rPr lang="en-US" sz="2400" dirty="0"/>
              <a:t>we typically cannot learn about data fabrication or amendment until those data are disclosed.</a:t>
            </a:r>
          </a:p>
          <a:p>
            <a:pPr lvl="1"/>
            <a:r>
              <a:rPr lang="en-US" sz="2400" dirty="0"/>
              <a:t>We cannot identify a lack of attribution of credit until an unnamed contributor sees it in writing</a:t>
            </a:r>
            <a:endParaRPr lang="de-DE" sz="2400" dirty="0"/>
          </a:p>
        </p:txBody>
      </p:sp>
      <p:sp>
        <p:nvSpPr>
          <p:cNvPr id="2" name="Title 1">
            <a:extLst>
              <a:ext uri="{FF2B5EF4-FFF2-40B4-BE49-F238E27FC236}">
                <a16:creationId xmlns:a16="http://schemas.microsoft.com/office/drawing/2014/main" id="{0B03C173-F771-4004-997E-9C32CE367C2C}"/>
              </a:ext>
            </a:extLst>
          </p:cNvPr>
          <p:cNvSpPr>
            <a:spLocks noGrp="1"/>
          </p:cNvSpPr>
          <p:nvPr>
            <p:ph type="title"/>
          </p:nvPr>
        </p:nvSpPr>
        <p:spPr/>
        <p:txBody>
          <a:bodyPr>
            <a:noAutofit/>
          </a:bodyPr>
          <a:lstStyle/>
          <a:p>
            <a:r>
              <a:rPr lang="de-DE" sz="3200" dirty="0"/>
              <a:t>Publication Ethics: </a:t>
            </a:r>
            <a:br>
              <a:rPr lang="de-DE" sz="3200" dirty="0"/>
            </a:br>
            <a:r>
              <a:rPr lang="de-DE" sz="3200" dirty="0"/>
              <a:t>Ethical considerations for scientific writing</a:t>
            </a:r>
          </a:p>
        </p:txBody>
      </p:sp>
    </p:spTree>
    <p:extLst>
      <p:ext uri="{BB962C8B-B14F-4D97-AF65-F5344CB8AC3E}">
        <p14:creationId xmlns:p14="http://schemas.microsoft.com/office/powerpoint/2010/main" val="30126388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80D1C2C-D99E-9362-7153-EC7C135D2F90}"/>
              </a:ext>
            </a:extLst>
          </p:cNvPr>
          <p:cNvSpPr txBox="1"/>
          <p:nvPr/>
        </p:nvSpPr>
        <p:spPr>
          <a:xfrm>
            <a:off x="381000" y="152400"/>
            <a:ext cx="8610600" cy="1077218"/>
          </a:xfrm>
          <a:prstGeom prst="rect">
            <a:avLst/>
          </a:prstGeom>
          <a:noFill/>
        </p:spPr>
        <p:txBody>
          <a:bodyPr wrap="square">
            <a:spAutoFit/>
          </a:bodyPr>
          <a:lstStyle/>
          <a:p>
            <a:pPr algn="ctr"/>
            <a:r>
              <a:rPr lang="en-GB" sz="3200" dirty="0">
                <a:effectLst/>
                <a:latin typeface="Arial" panose="020B0604020202020204" pitchFamily="34" charset="0"/>
                <a:ea typeface="Calibri" panose="020F0502020204030204" pitchFamily="34" charset="0"/>
                <a:cs typeface="Arial" panose="020B0604020202020204" pitchFamily="34" charset="0"/>
              </a:rPr>
              <a:t>Scientific misconducts: </a:t>
            </a:r>
          </a:p>
          <a:p>
            <a:pPr algn="ctr"/>
            <a:r>
              <a:rPr lang="en-GB" sz="3200" dirty="0">
                <a:effectLst/>
                <a:latin typeface="Arial" panose="020B0604020202020204" pitchFamily="34" charset="0"/>
                <a:ea typeface="Calibri" panose="020F0502020204030204" pitchFamily="34" charset="0"/>
                <a:cs typeface="Arial" panose="020B0604020202020204" pitchFamily="34" charset="0"/>
              </a:rPr>
              <a:t>Falsification, Fabrication and Plagiarism (</a:t>
            </a:r>
            <a:r>
              <a:rPr lang="en-GB" sz="3200" dirty="0" err="1">
                <a:effectLst/>
                <a:latin typeface="Arial" panose="020B0604020202020204" pitchFamily="34" charset="0"/>
                <a:ea typeface="Calibri" panose="020F0502020204030204" pitchFamily="34" charset="0"/>
                <a:cs typeface="Arial" panose="020B0604020202020204" pitchFamily="34" charset="0"/>
              </a:rPr>
              <a:t>FFP</a:t>
            </a:r>
            <a:r>
              <a:rPr lang="en-GB" sz="3200" dirty="0">
                <a:effectLst/>
                <a:latin typeface="Arial" panose="020B0604020202020204" pitchFamily="34" charset="0"/>
                <a:ea typeface="Calibri" panose="020F0502020204030204" pitchFamily="34" charset="0"/>
                <a:cs typeface="Arial" panose="020B0604020202020204" pitchFamily="34" charset="0"/>
              </a:rPr>
              <a:t>)</a:t>
            </a:r>
            <a:endParaRPr lang="en-US" sz="32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FE0C9B26-6673-DF4C-45C6-C9D9A43A0938}"/>
              </a:ext>
            </a:extLst>
          </p:cNvPr>
          <p:cNvSpPr txBox="1"/>
          <p:nvPr/>
        </p:nvSpPr>
        <p:spPr>
          <a:xfrm>
            <a:off x="533400" y="1752600"/>
            <a:ext cx="8153400" cy="3416320"/>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Scientific misconduct refers to unethical practices in research that compromise the integrity of scientific work.</a:t>
            </a:r>
          </a:p>
          <a:p>
            <a:pPr marL="342900" indent="-342900">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The three primary forms of scientific misconduct are </a:t>
            </a:r>
            <a:r>
              <a:rPr lang="en-US" sz="2400" b="1" dirty="0">
                <a:latin typeface="Arial" panose="020B0604020202020204" pitchFamily="34" charset="0"/>
                <a:cs typeface="Arial" panose="020B0604020202020204" pitchFamily="34" charset="0"/>
              </a:rPr>
              <a:t>Falsification</a:t>
            </a:r>
            <a:r>
              <a:rPr lang="en-US" sz="2400" dirty="0">
                <a:latin typeface="Arial" panose="020B0604020202020204" pitchFamily="34" charset="0"/>
                <a:cs typeface="Arial" panose="020B0604020202020204" pitchFamily="34" charset="0"/>
              </a:rPr>
              <a:t>, </a:t>
            </a:r>
            <a:r>
              <a:rPr lang="en-US" sz="2400" b="1" dirty="0">
                <a:latin typeface="Arial" panose="020B0604020202020204" pitchFamily="34" charset="0"/>
                <a:cs typeface="Arial" panose="020B0604020202020204" pitchFamily="34" charset="0"/>
              </a:rPr>
              <a:t>Fabrication</a:t>
            </a:r>
            <a:r>
              <a:rPr lang="en-US" sz="2400" dirty="0">
                <a:latin typeface="Arial" panose="020B0604020202020204" pitchFamily="34" charset="0"/>
                <a:cs typeface="Arial" panose="020B0604020202020204" pitchFamily="34" charset="0"/>
              </a:rPr>
              <a:t>, and </a:t>
            </a:r>
            <a:r>
              <a:rPr lang="en-US" sz="2400" b="1" dirty="0">
                <a:latin typeface="Arial" panose="020B0604020202020204" pitchFamily="34" charset="0"/>
                <a:cs typeface="Arial" panose="020B0604020202020204" pitchFamily="34" charset="0"/>
              </a:rPr>
              <a:t>Plagiarism (FFP)</a:t>
            </a:r>
            <a:r>
              <a:rPr lang="en-US" sz="2400" dirty="0">
                <a:latin typeface="Arial" panose="020B0604020202020204" pitchFamily="34" charset="0"/>
                <a:cs typeface="Arial" panose="020B0604020202020204" pitchFamily="34" charset="0"/>
              </a:rPr>
              <a:t>. </a:t>
            </a:r>
          </a:p>
          <a:p>
            <a:endParaRPr 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These actions violate the fundamental principles of research ethics and can undermine public trust in science.</a:t>
            </a:r>
          </a:p>
        </p:txBody>
      </p:sp>
    </p:spTree>
    <p:extLst>
      <p:ext uri="{BB962C8B-B14F-4D97-AF65-F5344CB8AC3E}">
        <p14:creationId xmlns:p14="http://schemas.microsoft.com/office/powerpoint/2010/main" val="12472175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EBB4EEA-9696-611C-C58C-A782E669A3EA}"/>
              </a:ext>
            </a:extLst>
          </p:cNvPr>
          <p:cNvSpPr txBox="1"/>
          <p:nvPr/>
        </p:nvSpPr>
        <p:spPr>
          <a:xfrm>
            <a:off x="685800" y="304800"/>
            <a:ext cx="7696200" cy="5755422"/>
          </a:xfrm>
          <a:prstGeom prst="rect">
            <a:avLst/>
          </a:prstGeom>
          <a:noFill/>
        </p:spPr>
        <p:txBody>
          <a:bodyPr wrap="square">
            <a:spAutoFit/>
          </a:bodyPr>
          <a:lstStyle/>
          <a:p>
            <a:r>
              <a:rPr lang="en-US" sz="3200" b="1" dirty="0"/>
              <a:t>Falsification</a:t>
            </a:r>
          </a:p>
          <a:p>
            <a:pPr marL="342900" indent="-342900">
              <a:buFont typeface="Arial" panose="020B0604020202020204" pitchFamily="34" charset="0"/>
              <a:buChar char="•"/>
            </a:pPr>
            <a:r>
              <a:rPr lang="en-US" sz="2400" dirty="0"/>
              <a:t>Falsification involves manipulating research materials, equipment, or processes, or changing or omitting data or results such that the research is not accurately represented in the research record.</a:t>
            </a:r>
          </a:p>
          <a:p>
            <a:pPr>
              <a:buFont typeface="Arial" panose="020B0604020202020204" pitchFamily="34" charset="0"/>
              <a:buChar char="•"/>
            </a:pPr>
            <a:r>
              <a:rPr lang="en-US" sz="2400" b="1" dirty="0"/>
              <a:t>Examples</a:t>
            </a:r>
            <a:r>
              <a:rPr lang="en-US" sz="2400" dirty="0"/>
              <a:t>:</a:t>
            </a:r>
          </a:p>
          <a:p>
            <a:pPr marL="742950" lvl="1" indent="-285750">
              <a:buFont typeface="Arial" panose="020B0604020202020204" pitchFamily="34" charset="0"/>
              <a:buChar char="•"/>
            </a:pPr>
            <a:r>
              <a:rPr lang="en-US" sz="2400" dirty="0"/>
              <a:t>Adjusting data to fit a desired outcome.</a:t>
            </a:r>
          </a:p>
          <a:p>
            <a:pPr marL="742950" lvl="1" indent="-285750">
              <a:buFont typeface="Arial" panose="020B0604020202020204" pitchFamily="34" charset="0"/>
              <a:buChar char="•"/>
            </a:pPr>
            <a:r>
              <a:rPr lang="en-US" sz="2400" dirty="0"/>
              <a:t>Manipulating images (e.g., changing the contrast in gel electrophoresis images to make results seem more significant).</a:t>
            </a:r>
          </a:p>
          <a:p>
            <a:pPr marL="742950" lvl="1" indent="-285750">
              <a:buFont typeface="Arial" panose="020B0604020202020204" pitchFamily="34" charset="0"/>
              <a:buChar char="•"/>
            </a:pPr>
            <a:r>
              <a:rPr lang="en-US" sz="2400" dirty="0"/>
              <a:t>Omitting negative or contradicting data from a study to present a biased result.</a:t>
            </a:r>
          </a:p>
          <a:p>
            <a:pPr marL="342900" indent="-342900">
              <a:buFont typeface="Arial" panose="020B0604020202020204" pitchFamily="34" charset="0"/>
              <a:buChar char="•"/>
            </a:pPr>
            <a:r>
              <a:rPr lang="en-US" sz="2400" dirty="0"/>
              <a:t>Falsification can lead to misleading conclusions, which may cause harm if applied in fields like medicine or environmental science.</a:t>
            </a:r>
          </a:p>
        </p:txBody>
      </p:sp>
    </p:spTree>
    <p:extLst>
      <p:ext uri="{BB962C8B-B14F-4D97-AF65-F5344CB8AC3E}">
        <p14:creationId xmlns:p14="http://schemas.microsoft.com/office/powerpoint/2010/main" val="377761592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F793466-D179-4C8C-06FC-E88710769FD8}"/>
              </a:ext>
            </a:extLst>
          </p:cNvPr>
          <p:cNvSpPr txBox="1"/>
          <p:nvPr/>
        </p:nvSpPr>
        <p:spPr>
          <a:xfrm>
            <a:off x="914400" y="609600"/>
            <a:ext cx="7620000" cy="4647426"/>
          </a:xfrm>
          <a:prstGeom prst="rect">
            <a:avLst/>
          </a:prstGeom>
          <a:noFill/>
        </p:spPr>
        <p:txBody>
          <a:bodyPr wrap="square">
            <a:spAutoFit/>
          </a:bodyPr>
          <a:lstStyle/>
          <a:p>
            <a:r>
              <a:rPr lang="en-US" sz="3200" b="1" dirty="0"/>
              <a:t>Fabrication</a:t>
            </a:r>
          </a:p>
          <a:p>
            <a:pPr marL="342900" indent="-342900">
              <a:buFont typeface="Arial" panose="020B0604020202020204" pitchFamily="34" charset="0"/>
              <a:buChar char="•"/>
            </a:pPr>
            <a:r>
              <a:rPr lang="en-US" sz="2400" dirty="0"/>
              <a:t>Fabrication refers to making up data or results and recording or reporting them as if they were real.</a:t>
            </a:r>
          </a:p>
          <a:p>
            <a:pPr>
              <a:buFont typeface="Arial" panose="020B0604020202020204" pitchFamily="34" charset="0"/>
              <a:buChar char="•"/>
            </a:pPr>
            <a:r>
              <a:rPr lang="en-US" sz="2400" b="1" dirty="0"/>
              <a:t>Examples</a:t>
            </a:r>
            <a:r>
              <a:rPr lang="en-US" sz="2400" dirty="0"/>
              <a:t>:</a:t>
            </a:r>
          </a:p>
          <a:p>
            <a:pPr marL="742950" lvl="1" indent="-285750">
              <a:buFont typeface="Arial" panose="020B0604020202020204" pitchFamily="34" charset="0"/>
              <a:buChar char="•"/>
            </a:pPr>
            <a:r>
              <a:rPr lang="en-US" sz="2400" dirty="0"/>
              <a:t>Creating fake data for experiments that were never conducted.</a:t>
            </a:r>
          </a:p>
          <a:p>
            <a:pPr marL="742950" lvl="1" indent="-285750">
              <a:buFont typeface="Arial" panose="020B0604020202020204" pitchFamily="34" charset="0"/>
              <a:buChar char="•"/>
            </a:pPr>
            <a:r>
              <a:rPr lang="en-US" sz="2400" dirty="0"/>
              <a:t>Reporting findings from nonexistent surveys or clinical trials.</a:t>
            </a:r>
          </a:p>
          <a:p>
            <a:pPr marL="342900" indent="-342900">
              <a:buFont typeface="Arial" panose="020B0604020202020204" pitchFamily="34" charset="0"/>
              <a:buChar char="•"/>
            </a:pPr>
            <a:r>
              <a:rPr lang="en-US" sz="2400" dirty="0"/>
              <a:t>Fabrication leads to a complete distortion of scientific knowledge, potentially influencing policy, medical treatments, or future research based on non-existent data.</a:t>
            </a:r>
          </a:p>
        </p:txBody>
      </p:sp>
    </p:spTree>
    <p:extLst>
      <p:ext uri="{BB962C8B-B14F-4D97-AF65-F5344CB8AC3E}">
        <p14:creationId xmlns:p14="http://schemas.microsoft.com/office/powerpoint/2010/main" val="38463507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6B044A5-D6AE-10D5-7AD4-0CF86E4B107C}"/>
              </a:ext>
            </a:extLst>
          </p:cNvPr>
          <p:cNvSpPr txBox="1"/>
          <p:nvPr/>
        </p:nvSpPr>
        <p:spPr>
          <a:xfrm>
            <a:off x="571500" y="551289"/>
            <a:ext cx="8001000" cy="5755422"/>
          </a:xfrm>
          <a:prstGeom prst="rect">
            <a:avLst/>
          </a:prstGeom>
          <a:noFill/>
        </p:spPr>
        <p:txBody>
          <a:bodyPr wrap="square">
            <a:spAutoFit/>
          </a:bodyPr>
          <a:lstStyle/>
          <a:p>
            <a:r>
              <a:rPr lang="en-US" sz="3200" b="1" dirty="0"/>
              <a:t>Plagiarism</a:t>
            </a:r>
          </a:p>
          <a:p>
            <a:pPr marL="342900" indent="-342900">
              <a:buFont typeface="Arial" panose="020B0604020202020204" pitchFamily="34" charset="0"/>
              <a:buChar char="•"/>
            </a:pPr>
            <a:r>
              <a:rPr lang="en-US" sz="2400" dirty="0"/>
              <a:t>Plagiarism involves taking someone else’s ideas, processes, results, or words without giving appropriate credit. </a:t>
            </a:r>
          </a:p>
          <a:p>
            <a:pPr marL="342900" indent="-342900">
              <a:buFont typeface="Arial" panose="020B0604020202020204" pitchFamily="34" charset="0"/>
              <a:buChar char="•"/>
            </a:pPr>
            <a:r>
              <a:rPr lang="en-US" sz="2400" dirty="0"/>
              <a:t>This can include copying text, figures, or entire sections of research from another source.</a:t>
            </a:r>
          </a:p>
          <a:p>
            <a:pPr>
              <a:buFont typeface="Arial" panose="020B0604020202020204" pitchFamily="34" charset="0"/>
              <a:buChar char="•"/>
            </a:pPr>
            <a:r>
              <a:rPr lang="en-US" sz="2400" b="1" dirty="0"/>
              <a:t>Examples</a:t>
            </a:r>
            <a:r>
              <a:rPr lang="en-US" sz="2400" dirty="0"/>
              <a:t>:</a:t>
            </a:r>
          </a:p>
          <a:p>
            <a:pPr marL="742950" lvl="1" indent="-285750">
              <a:buFont typeface="Arial" panose="020B0604020202020204" pitchFamily="34" charset="0"/>
              <a:buChar char="•"/>
            </a:pPr>
            <a:r>
              <a:rPr lang="en-US" sz="2400" dirty="0"/>
              <a:t>Copying text from another researcher’s paper without citation.</a:t>
            </a:r>
          </a:p>
          <a:p>
            <a:pPr marL="742950" lvl="1" indent="-285750">
              <a:buFont typeface="Arial" panose="020B0604020202020204" pitchFamily="34" charset="0"/>
              <a:buChar char="•"/>
            </a:pPr>
            <a:r>
              <a:rPr lang="en-US" sz="2400" dirty="0"/>
              <a:t>Using someone else’s research idea or methodology without permission or acknowledgment.</a:t>
            </a:r>
          </a:p>
          <a:p>
            <a:pPr marL="742950" lvl="1" indent="-285750">
              <a:buFont typeface="Arial" panose="020B0604020202020204" pitchFamily="34" charset="0"/>
              <a:buChar char="•"/>
            </a:pPr>
            <a:r>
              <a:rPr lang="en-US" sz="2400" dirty="0"/>
              <a:t>Submitting the same research paper to different journals without disclosure (self-plagiarism).</a:t>
            </a:r>
          </a:p>
          <a:p>
            <a:pPr marL="342900" indent="-342900">
              <a:buFont typeface="Arial" panose="020B0604020202020204" pitchFamily="34" charset="0"/>
              <a:buChar char="•"/>
            </a:pPr>
            <a:r>
              <a:rPr lang="en-US" sz="2400" dirty="0"/>
              <a:t>Plagiarism disrespects the intellectual property of other researchers and compromises the originality of the research process.</a:t>
            </a:r>
          </a:p>
        </p:txBody>
      </p:sp>
    </p:spTree>
    <p:extLst>
      <p:ext uri="{BB962C8B-B14F-4D97-AF65-F5344CB8AC3E}">
        <p14:creationId xmlns:p14="http://schemas.microsoft.com/office/powerpoint/2010/main" val="35562828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37939B2-A502-BEC2-A809-70CD14DCA96B}"/>
              </a:ext>
            </a:extLst>
          </p:cNvPr>
          <p:cNvSpPr txBox="1"/>
          <p:nvPr/>
        </p:nvSpPr>
        <p:spPr>
          <a:xfrm>
            <a:off x="609600" y="476803"/>
            <a:ext cx="7924800" cy="5570756"/>
          </a:xfrm>
          <a:prstGeom prst="rect">
            <a:avLst/>
          </a:prstGeom>
          <a:noFill/>
        </p:spPr>
        <p:txBody>
          <a:bodyPr wrap="square">
            <a:spAutoFit/>
          </a:bodyPr>
          <a:lstStyle/>
          <a:p>
            <a:r>
              <a:rPr lang="en-US" sz="2800" b="1" dirty="0"/>
              <a:t>Consequences of </a:t>
            </a:r>
            <a:r>
              <a:rPr lang="en-US" sz="2800" b="1" dirty="0" err="1"/>
              <a:t>FFP</a:t>
            </a:r>
            <a:r>
              <a:rPr lang="en-US" sz="2800" b="1" dirty="0"/>
              <a:t>:</a:t>
            </a:r>
          </a:p>
          <a:p>
            <a:pPr>
              <a:buFont typeface="Arial" panose="020B0604020202020204" pitchFamily="34" charset="0"/>
              <a:buChar char="•"/>
            </a:pPr>
            <a:r>
              <a:rPr lang="en-US" sz="2000" b="1" dirty="0"/>
              <a:t>Damage to Reputation</a:t>
            </a:r>
            <a:r>
              <a:rPr lang="en-US" sz="2000" dirty="0"/>
              <a:t>: Researchers found guilty of </a:t>
            </a:r>
            <a:r>
              <a:rPr lang="en-US" sz="2000" dirty="0" err="1"/>
              <a:t>FFP</a:t>
            </a:r>
            <a:r>
              <a:rPr lang="en-US" sz="2000" dirty="0"/>
              <a:t> often face public scrutiny, lose their credibility, and may be barred from publishing in reputable journals.</a:t>
            </a:r>
          </a:p>
          <a:p>
            <a:pPr>
              <a:buFont typeface="Arial" panose="020B0604020202020204" pitchFamily="34" charset="0"/>
              <a:buChar char="•"/>
            </a:pPr>
            <a:r>
              <a:rPr lang="en-US" sz="2000" b="1" dirty="0"/>
              <a:t>Retraction of Papers</a:t>
            </a:r>
            <a:r>
              <a:rPr lang="en-US" sz="2000" dirty="0"/>
              <a:t>: Journals may retract papers that are found to involve misconduct, impacting the entire research community relying on those results.</a:t>
            </a:r>
          </a:p>
          <a:p>
            <a:pPr>
              <a:buFont typeface="Arial" panose="020B0604020202020204" pitchFamily="34" charset="0"/>
              <a:buChar char="•"/>
            </a:pPr>
            <a:r>
              <a:rPr lang="en-US" sz="2000" b="1" dirty="0"/>
              <a:t>Legal or Career Repercussions</a:t>
            </a:r>
            <a:r>
              <a:rPr lang="en-US" sz="2000" dirty="0"/>
              <a:t>: In some cases, research misconduct can lead to job loss, legal action, or the revocation of research funding.</a:t>
            </a:r>
          </a:p>
          <a:p>
            <a:endParaRPr lang="en-US" sz="2000" b="1" dirty="0"/>
          </a:p>
          <a:p>
            <a:r>
              <a:rPr lang="en-US" sz="2800" b="1" dirty="0"/>
              <a:t>Prevention:</a:t>
            </a:r>
            <a:endParaRPr lang="en-US" sz="2000" b="1" dirty="0"/>
          </a:p>
          <a:p>
            <a:pPr>
              <a:buFont typeface="Arial" panose="020B0604020202020204" pitchFamily="34" charset="0"/>
              <a:buChar char="•"/>
            </a:pPr>
            <a:r>
              <a:rPr lang="en-US" sz="2000" b="1" dirty="0"/>
              <a:t>Rigorous Peer Review</a:t>
            </a:r>
            <a:r>
              <a:rPr lang="en-US" sz="2000" dirty="0"/>
              <a:t>: Peer review processes aim to detect misconduct before publication.</a:t>
            </a:r>
          </a:p>
          <a:p>
            <a:pPr>
              <a:buFont typeface="Arial" panose="020B0604020202020204" pitchFamily="34" charset="0"/>
              <a:buChar char="•"/>
            </a:pPr>
            <a:r>
              <a:rPr lang="en-US" sz="2000" b="1" dirty="0"/>
              <a:t>Ethical Training</a:t>
            </a:r>
            <a:r>
              <a:rPr lang="en-US" sz="2000" dirty="0"/>
              <a:t>: Many institutions require researchers to undergo training in responsible research conduct.</a:t>
            </a:r>
          </a:p>
          <a:p>
            <a:pPr>
              <a:buFont typeface="Arial" panose="020B0604020202020204" pitchFamily="34" charset="0"/>
              <a:buChar char="•"/>
            </a:pPr>
            <a:r>
              <a:rPr lang="en-US" sz="2000" b="1" dirty="0"/>
              <a:t>Transparency in Research</a:t>
            </a:r>
            <a:r>
              <a:rPr lang="en-US" sz="2000" dirty="0"/>
              <a:t>: Open data, materials, and methods allow for better scrutiny of research findings.</a:t>
            </a:r>
          </a:p>
        </p:txBody>
      </p:sp>
    </p:spTree>
    <p:extLst>
      <p:ext uri="{BB962C8B-B14F-4D97-AF65-F5344CB8AC3E}">
        <p14:creationId xmlns:p14="http://schemas.microsoft.com/office/powerpoint/2010/main" val="27513658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4B045A7-A308-F1D4-6EFF-CC25524FCECE}"/>
              </a:ext>
            </a:extLst>
          </p:cNvPr>
          <p:cNvSpPr txBox="1"/>
          <p:nvPr/>
        </p:nvSpPr>
        <p:spPr>
          <a:xfrm>
            <a:off x="533400" y="304800"/>
            <a:ext cx="8077200" cy="1754326"/>
          </a:xfrm>
          <a:prstGeom prst="rect">
            <a:avLst/>
          </a:prstGeom>
          <a:noFill/>
        </p:spPr>
        <p:txBody>
          <a:bodyPr wrap="square">
            <a:spAutoFit/>
          </a:bodyPr>
          <a:lstStyle/>
          <a:p>
            <a:pPr algn="ctr"/>
            <a:r>
              <a:rPr lang="en-US" sz="3600" b="1" dirty="0"/>
              <a:t>Redundant publications: </a:t>
            </a:r>
          </a:p>
          <a:p>
            <a:pPr algn="ctr"/>
            <a:r>
              <a:rPr lang="en-US" sz="3600" b="1" dirty="0"/>
              <a:t>duplicate and overlapping publications, salami slicing</a:t>
            </a:r>
          </a:p>
        </p:txBody>
      </p:sp>
      <p:sp>
        <p:nvSpPr>
          <p:cNvPr id="7" name="TextBox 6">
            <a:extLst>
              <a:ext uri="{FF2B5EF4-FFF2-40B4-BE49-F238E27FC236}">
                <a16:creationId xmlns:a16="http://schemas.microsoft.com/office/drawing/2014/main" id="{D7DD8595-4216-7242-7C2A-5E9AA5E95E2B}"/>
              </a:ext>
            </a:extLst>
          </p:cNvPr>
          <p:cNvSpPr txBox="1"/>
          <p:nvPr/>
        </p:nvSpPr>
        <p:spPr>
          <a:xfrm>
            <a:off x="533400" y="2362200"/>
            <a:ext cx="8077200" cy="4154984"/>
          </a:xfrm>
          <a:prstGeom prst="rect">
            <a:avLst/>
          </a:prstGeom>
          <a:noFill/>
        </p:spPr>
        <p:txBody>
          <a:bodyPr wrap="square">
            <a:spAutoFit/>
          </a:bodyPr>
          <a:lstStyle/>
          <a:p>
            <a:pPr marL="457200" indent="-457200" algn="just">
              <a:buFont typeface="Arial" panose="020B0604020202020204" pitchFamily="34" charset="0"/>
              <a:buChar char="•"/>
            </a:pPr>
            <a:r>
              <a:rPr lang="en-US" sz="2400" dirty="0"/>
              <a:t>Redundant publications refer to the practice of publishing the same or substantially similar research in multiple places without proper disclosure. </a:t>
            </a:r>
          </a:p>
          <a:p>
            <a:pPr marL="457200" indent="-457200" algn="just">
              <a:buFont typeface="Arial" panose="020B0604020202020204" pitchFamily="34" charset="0"/>
              <a:buChar char="•"/>
            </a:pPr>
            <a:r>
              <a:rPr lang="en-US" sz="2400" dirty="0"/>
              <a:t>This unethical practice can inflate a researcher’s publication count while wasting the time of peer reviewers and distorting the academic record. </a:t>
            </a:r>
          </a:p>
          <a:p>
            <a:pPr marL="457200" indent="-457200" algn="just">
              <a:buFont typeface="Arial" panose="020B0604020202020204" pitchFamily="34" charset="0"/>
              <a:buChar char="•"/>
            </a:pPr>
            <a:r>
              <a:rPr lang="en-US" sz="2400" dirty="0"/>
              <a:t>There are three main types of redundant publications.</a:t>
            </a:r>
          </a:p>
          <a:p>
            <a:pPr marL="914400" lvl="1" indent="-457200" algn="just">
              <a:buFont typeface="Arial" panose="020B0604020202020204" pitchFamily="34" charset="0"/>
              <a:buChar char="•"/>
            </a:pPr>
            <a:r>
              <a:rPr lang="en-US" sz="2400" b="1" dirty="0"/>
              <a:t>Duplicate </a:t>
            </a:r>
          </a:p>
          <a:p>
            <a:pPr marL="914400" lvl="1" indent="-457200" algn="just">
              <a:buFont typeface="Arial" panose="020B0604020202020204" pitchFamily="34" charset="0"/>
              <a:buChar char="•"/>
            </a:pPr>
            <a:r>
              <a:rPr lang="en-US" sz="2400" b="1" dirty="0"/>
              <a:t>Overlapping publications</a:t>
            </a:r>
          </a:p>
          <a:p>
            <a:pPr marL="914400" lvl="1" indent="-457200" algn="just">
              <a:buFont typeface="Arial" panose="020B0604020202020204" pitchFamily="34" charset="0"/>
              <a:buChar char="•"/>
            </a:pPr>
            <a:r>
              <a:rPr lang="en-US" sz="2400" b="1" dirty="0"/>
              <a:t>Salami slicing</a:t>
            </a:r>
          </a:p>
          <a:p>
            <a:pPr marL="457200" indent="-457200" algn="just">
              <a:buFont typeface="Arial" panose="020B0604020202020204" pitchFamily="34" charset="0"/>
              <a:buChar char="•"/>
            </a:pPr>
            <a:endParaRPr lang="en-US" sz="2400" dirty="0"/>
          </a:p>
        </p:txBody>
      </p:sp>
    </p:spTree>
    <p:extLst>
      <p:ext uri="{BB962C8B-B14F-4D97-AF65-F5344CB8AC3E}">
        <p14:creationId xmlns:p14="http://schemas.microsoft.com/office/powerpoint/2010/main" val="134788767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A65D034-1C11-B2E4-8D9A-759AF2498C18}"/>
              </a:ext>
            </a:extLst>
          </p:cNvPr>
          <p:cNvSpPr txBox="1"/>
          <p:nvPr/>
        </p:nvSpPr>
        <p:spPr>
          <a:xfrm>
            <a:off x="609600" y="381000"/>
            <a:ext cx="8229600" cy="6124754"/>
          </a:xfrm>
          <a:prstGeom prst="rect">
            <a:avLst/>
          </a:prstGeom>
          <a:noFill/>
        </p:spPr>
        <p:txBody>
          <a:bodyPr wrap="square">
            <a:spAutoFit/>
          </a:bodyPr>
          <a:lstStyle/>
          <a:p>
            <a:r>
              <a:rPr lang="en-US" sz="3200" b="1" dirty="0"/>
              <a:t>Duplicate Publications</a:t>
            </a:r>
          </a:p>
          <a:p>
            <a:pPr marL="342900" indent="-342900">
              <a:buFont typeface="Arial" panose="020B0604020202020204" pitchFamily="34" charset="0"/>
              <a:buChar char="•"/>
            </a:pPr>
            <a:r>
              <a:rPr lang="en-US" sz="2400" dirty="0"/>
              <a:t>Duplicate publication occurs when the same work (or nearly identical work) is published more than once without notifying the readers, editors, or reviewers.</a:t>
            </a:r>
          </a:p>
          <a:p>
            <a:pPr>
              <a:buFont typeface="Arial" panose="020B0604020202020204" pitchFamily="34" charset="0"/>
              <a:buChar char="•"/>
            </a:pPr>
            <a:r>
              <a:rPr lang="en-US" sz="2400" b="1" dirty="0"/>
              <a:t>Examples</a:t>
            </a:r>
            <a:r>
              <a:rPr lang="en-US" sz="2400" dirty="0"/>
              <a:t>:</a:t>
            </a:r>
          </a:p>
          <a:p>
            <a:pPr marL="742950" lvl="1" indent="-285750">
              <a:buFont typeface="Arial" panose="020B0604020202020204" pitchFamily="34" charset="0"/>
              <a:buChar char="•"/>
            </a:pPr>
            <a:r>
              <a:rPr lang="en-US" sz="2400" dirty="0"/>
              <a:t>Publishing the same research in two different journals without indicating that the paper has been previously published.</a:t>
            </a:r>
          </a:p>
          <a:p>
            <a:pPr marL="742950" lvl="1" indent="-285750">
              <a:buFont typeface="Arial" panose="020B0604020202020204" pitchFamily="34" charset="0"/>
              <a:buChar char="•"/>
            </a:pPr>
            <a:r>
              <a:rPr lang="en-US" sz="2400" dirty="0"/>
              <a:t>Submitting the same manuscript to multiple journals simultaneously (also known as "simultaneous submission").</a:t>
            </a:r>
          </a:p>
          <a:p>
            <a:pPr marL="342900" indent="-342900">
              <a:buFont typeface="Arial" panose="020B0604020202020204" pitchFamily="34" charset="0"/>
              <a:buChar char="•"/>
            </a:pPr>
            <a:r>
              <a:rPr lang="en-US" sz="2400" dirty="0"/>
              <a:t>Duplicate publications can mislead the scientific community by giving the impression that a particular finding has been independently verified or reproduced, when in fact it is the same study being counted multiple times. </a:t>
            </a:r>
          </a:p>
          <a:p>
            <a:pPr marL="342900" indent="-342900">
              <a:buFont typeface="Arial" panose="020B0604020202020204" pitchFamily="34" charset="0"/>
              <a:buChar char="•"/>
            </a:pPr>
            <a:r>
              <a:rPr lang="en-US" sz="2400" dirty="0"/>
              <a:t>It can also lead to wasted resources by journals and reviewers.</a:t>
            </a:r>
          </a:p>
        </p:txBody>
      </p:sp>
    </p:spTree>
    <p:extLst>
      <p:ext uri="{BB962C8B-B14F-4D97-AF65-F5344CB8AC3E}">
        <p14:creationId xmlns:p14="http://schemas.microsoft.com/office/powerpoint/2010/main" val="22751062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25CA269-8642-BCB3-31D2-AE49047D8787}"/>
              </a:ext>
            </a:extLst>
          </p:cNvPr>
          <p:cNvSpPr txBox="1"/>
          <p:nvPr/>
        </p:nvSpPr>
        <p:spPr>
          <a:xfrm>
            <a:off x="609600" y="615303"/>
            <a:ext cx="8153400" cy="5755422"/>
          </a:xfrm>
          <a:prstGeom prst="rect">
            <a:avLst/>
          </a:prstGeom>
          <a:noFill/>
        </p:spPr>
        <p:txBody>
          <a:bodyPr wrap="square">
            <a:spAutoFit/>
          </a:bodyPr>
          <a:lstStyle/>
          <a:p>
            <a:r>
              <a:rPr lang="en-US" sz="3200" b="1" dirty="0"/>
              <a:t>Overlapping Publications</a:t>
            </a:r>
          </a:p>
          <a:p>
            <a:pPr marL="342900" indent="-342900" algn="just">
              <a:buFont typeface="Arial" panose="020B0604020202020204" pitchFamily="34" charset="0"/>
              <a:buChar char="•"/>
            </a:pPr>
            <a:r>
              <a:rPr lang="en-US" sz="2400" dirty="0"/>
              <a:t>Overlapping publication occurs when a manuscript shares significant content with another paper but is presented as a new study, without proper citation or disclosure of the overlap.</a:t>
            </a:r>
          </a:p>
          <a:p>
            <a:pPr algn="just">
              <a:buFont typeface="Arial" panose="020B0604020202020204" pitchFamily="34" charset="0"/>
              <a:buChar char="•"/>
            </a:pPr>
            <a:r>
              <a:rPr lang="en-US" sz="2400" b="1" dirty="0"/>
              <a:t>Examples</a:t>
            </a:r>
            <a:r>
              <a:rPr lang="en-US" sz="2400" dirty="0"/>
              <a:t>:</a:t>
            </a:r>
          </a:p>
          <a:p>
            <a:pPr marL="742950" lvl="1" indent="-285750" algn="just">
              <a:buFont typeface="Arial" panose="020B0604020202020204" pitchFamily="34" charset="0"/>
              <a:buChar char="•"/>
            </a:pPr>
            <a:r>
              <a:rPr lang="en-US" sz="2400" dirty="0"/>
              <a:t>Using the same data set to draw conclusions for two different papers without clarifying the overlap.</a:t>
            </a:r>
          </a:p>
          <a:p>
            <a:pPr marL="742950" lvl="1" indent="-285750" algn="just">
              <a:buFont typeface="Arial" panose="020B0604020202020204" pitchFamily="34" charset="0"/>
              <a:buChar char="•"/>
            </a:pPr>
            <a:r>
              <a:rPr lang="en-US" sz="2400" dirty="0"/>
              <a:t>Reusing substantial portions of the text from a previous publication without proper acknowledgment (self-plagiarism).</a:t>
            </a:r>
          </a:p>
          <a:p>
            <a:pPr marL="342900" indent="-342900" algn="just">
              <a:buFont typeface="Arial" panose="020B0604020202020204" pitchFamily="34" charset="0"/>
              <a:buChar char="•"/>
            </a:pPr>
            <a:r>
              <a:rPr lang="en-US" sz="2400" dirty="0"/>
              <a:t>Overlapping publications distort the perception of novelty and can cause confusion in the literature, as researchers may believe they are citing new findings when in reality they are referencing the same work repeatedly.</a:t>
            </a:r>
          </a:p>
        </p:txBody>
      </p:sp>
    </p:spTree>
    <p:extLst>
      <p:ext uri="{BB962C8B-B14F-4D97-AF65-F5344CB8AC3E}">
        <p14:creationId xmlns:p14="http://schemas.microsoft.com/office/powerpoint/2010/main" val="168946521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8C1878F-B11E-FC73-1AC9-F77CDCAB23E8}"/>
              </a:ext>
            </a:extLst>
          </p:cNvPr>
          <p:cNvSpPr txBox="1"/>
          <p:nvPr/>
        </p:nvSpPr>
        <p:spPr>
          <a:xfrm>
            <a:off x="457200" y="458956"/>
            <a:ext cx="8229600" cy="5940088"/>
          </a:xfrm>
          <a:prstGeom prst="rect">
            <a:avLst/>
          </a:prstGeom>
          <a:noFill/>
        </p:spPr>
        <p:txBody>
          <a:bodyPr wrap="square">
            <a:spAutoFit/>
          </a:bodyPr>
          <a:lstStyle/>
          <a:p>
            <a:r>
              <a:rPr lang="en-US" sz="2800" b="1" dirty="0"/>
              <a:t>Salami Slicing (Segmented Publication)</a:t>
            </a:r>
            <a:endParaRPr lang="en-US" sz="2200" b="1" dirty="0"/>
          </a:p>
          <a:p>
            <a:pPr marL="342900" indent="-342900" algn="just">
              <a:buFont typeface="Arial" panose="020B0604020202020204" pitchFamily="34" charset="0"/>
              <a:buChar char="•"/>
            </a:pPr>
            <a:r>
              <a:rPr lang="en-US" sz="2200" dirty="0"/>
              <a:t>Salami slicing refers to the practice of dividing a large study into several smaller papers that each report part of the findings, even though they would be better presented as a single, comprehensive study.</a:t>
            </a:r>
          </a:p>
          <a:p>
            <a:pPr algn="just">
              <a:buFont typeface="Arial" panose="020B0604020202020204" pitchFamily="34" charset="0"/>
              <a:buChar char="•"/>
            </a:pPr>
            <a:r>
              <a:rPr lang="en-US" sz="2200" b="1" dirty="0"/>
              <a:t>Examples</a:t>
            </a:r>
            <a:r>
              <a:rPr lang="en-US" sz="2200" dirty="0"/>
              <a:t>:</a:t>
            </a:r>
          </a:p>
          <a:p>
            <a:pPr marL="742950" lvl="1" indent="-285750" algn="just">
              <a:buFont typeface="Arial" panose="020B0604020202020204" pitchFamily="34" charset="0"/>
              <a:buChar char="•"/>
            </a:pPr>
            <a:r>
              <a:rPr lang="en-US" sz="2200" dirty="0"/>
              <a:t>A researcher conducting a large survey but publishing individual papers on separate variables from the same data set instead of reporting the full findings together.</a:t>
            </a:r>
          </a:p>
          <a:p>
            <a:pPr marL="742950" lvl="1" indent="-285750" algn="just">
              <a:buFont typeface="Arial" panose="020B0604020202020204" pitchFamily="34" charset="0"/>
              <a:buChar char="•"/>
            </a:pPr>
            <a:r>
              <a:rPr lang="en-US" sz="2200" dirty="0"/>
              <a:t>Splitting the results of an experiment into multiple publications, where each paper contains incremental or partial data that, together, would form a more cohesive study.</a:t>
            </a:r>
          </a:p>
          <a:p>
            <a:pPr marL="342900" indent="-342900" algn="just">
              <a:buFont typeface="Arial" panose="020B0604020202020204" pitchFamily="34" charset="0"/>
              <a:buChar char="•"/>
            </a:pPr>
            <a:r>
              <a:rPr lang="en-US" sz="2200" dirty="0"/>
              <a:t>Salami slicing can inflate a researcher’s publication record artificially and may dilute the scientific message. </a:t>
            </a:r>
          </a:p>
          <a:p>
            <a:pPr marL="342900" indent="-342900" algn="just">
              <a:buFont typeface="Arial" panose="020B0604020202020204" pitchFamily="34" charset="0"/>
              <a:buChar char="•"/>
            </a:pPr>
            <a:r>
              <a:rPr lang="en-US" sz="2200" dirty="0"/>
              <a:t>It can also lead to fragmented understanding, where readers may not fully grasp the overall implications of a study because the results are scattered across multiple papers.</a:t>
            </a:r>
          </a:p>
        </p:txBody>
      </p:sp>
    </p:spTree>
    <p:extLst>
      <p:ext uri="{BB962C8B-B14F-4D97-AF65-F5344CB8AC3E}">
        <p14:creationId xmlns:p14="http://schemas.microsoft.com/office/powerpoint/2010/main" val="127324844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EF4BAC8-F67E-0E0E-C17D-16007BA70546}"/>
              </a:ext>
            </a:extLst>
          </p:cNvPr>
          <p:cNvSpPr txBox="1"/>
          <p:nvPr/>
        </p:nvSpPr>
        <p:spPr>
          <a:xfrm>
            <a:off x="762000" y="685800"/>
            <a:ext cx="7848600" cy="5940088"/>
          </a:xfrm>
          <a:prstGeom prst="rect">
            <a:avLst/>
          </a:prstGeom>
          <a:noFill/>
        </p:spPr>
        <p:txBody>
          <a:bodyPr wrap="square">
            <a:spAutoFit/>
          </a:bodyPr>
          <a:lstStyle/>
          <a:p>
            <a:r>
              <a:rPr lang="en-US" sz="2800" b="1" dirty="0"/>
              <a:t>Redundant Publications lead to …</a:t>
            </a:r>
          </a:p>
          <a:p>
            <a:pPr>
              <a:buFont typeface="Arial" panose="020B0604020202020204" pitchFamily="34" charset="0"/>
              <a:buChar char="•"/>
            </a:pPr>
            <a:r>
              <a:rPr lang="en-US" b="1" dirty="0"/>
              <a:t>Loss of Trust</a:t>
            </a:r>
            <a:r>
              <a:rPr lang="en-US" dirty="0"/>
              <a:t>: Journals and academic institutions take redundant publications seriously, and researchers found guilty may suffer reputational damage or face retraction of their papers.</a:t>
            </a:r>
          </a:p>
          <a:p>
            <a:pPr>
              <a:buFont typeface="Arial" panose="020B0604020202020204" pitchFamily="34" charset="0"/>
              <a:buChar char="•"/>
            </a:pPr>
            <a:r>
              <a:rPr lang="en-US" b="1" dirty="0"/>
              <a:t>Waste of Resources</a:t>
            </a:r>
            <a:r>
              <a:rPr lang="en-US" dirty="0"/>
              <a:t>: Redundant publications waste the time and efforts of editors, reviewers, and other researchers who rely on the integrity of the scientific record.</a:t>
            </a:r>
          </a:p>
          <a:p>
            <a:pPr>
              <a:buFont typeface="Arial" panose="020B0604020202020204" pitchFamily="34" charset="0"/>
              <a:buChar char="•"/>
            </a:pPr>
            <a:r>
              <a:rPr lang="en-US" b="1" dirty="0"/>
              <a:t>Distortion of the Literature</a:t>
            </a:r>
            <a:r>
              <a:rPr lang="en-US" dirty="0"/>
              <a:t>: By inflating the appearance of scientific progress, redundant publications can skew meta-analyses and literature reviews, leading to flawed conclusions.</a:t>
            </a:r>
          </a:p>
          <a:p>
            <a:pPr>
              <a:buFont typeface="Arial" panose="020B0604020202020204" pitchFamily="34" charset="0"/>
              <a:buChar char="•"/>
            </a:pPr>
            <a:endParaRPr lang="en-US" dirty="0"/>
          </a:p>
          <a:p>
            <a:r>
              <a:rPr lang="en-US" sz="2800" b="1" dirty="0"/>
              <a:t>How to avoid Redundant Publications </a:t>
            </a:r>
          </a:p>
          <a:p>
            <a:pPr>
              <a:buFont typeface="Arial" panose="020B0604020202020204" pitchFamily="34" charset="0"/>
              <a:buChar char="•"/>
            </a:pPr>
            <a:r>
              <a:rPr lang="en-US" b="1" dirty="0"/>
              <a:t>Clear Disclosure</a:t>
            </a:r>
            <a:r>
              <a:rPr lang="en-US" dirty="0"/>
              <a:t>: Researchers should disclose previous publications and any overlap when submitting manuscripts, ensuring that editors are aware of any related work.</a:t>
            </a:r>
          </a:p>
          <a:p>
            <a:pPr>
              <a:buFont typeface="Arial" panose="020B0604020202020204" pitchFamily="34" charset="0"/>
              <a:buChar char="•"/>
            </a:pPr>
            <a:r>
              <a:rPr lang="en-US" b="1" dirty="0"/>
              <a:t>Comprehensive Reporting</a:t>
            </a:r>
            <a:r>
              <a:rPr lang="en-US" dirty="0"/>
              <a:t>: Large studies should be published in their entirety, where appropriate, rather than broken into smaller, less meaningful parts.</a:t>
            </a:r>
          </a:p>
          <a:p>
            <a:pPr>
              <a:buFont typeface="Arial" panose="020B0604020202020204" pitchFamily="34" charset="0"/>
              <a:buChar char="•"/>
            </a:pPr>
            <a:r>
              <a:rPr lang="en-US" b="1" dirty="0"/>
              <a:t>Journal Policies</a:t>
            </a:r>
            <a:r>
              <a:rPr lang="en-US" dirty="0"/>
              <a:t>: Many journals now have strict guidelines against duplicate or overlapping publications and employ plagiarism detection software to catch such instances.</a:t>
            </a:r>
          </a:p>
        </p:txBody>
      </p:sp>
    </p:spTree>
    <p:extLst>
      <p:ext uri="{BB962C8B-B14F-4D97-AF65-F5344CB8AC3E}">
        <p14:creationId xmlns:p14="http://schemas.microsoft.com/office/powerpoint/2010/main" val="2710472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6D5C6A5-02DE-428A-6230-1ADBDC90E4E5}"/>
              </a:ext>
            </a:extLst>
          </p:cNvPr>
          <p:cNvSpPr txBox="1"/>
          <p:nvPr/>
        </p:nvSpPr>
        <p:spPr>
          <a:xfrm>
            <a:off x="419100" y="381000"/>
            <a:ext cx="8305800" cy="1200329"/>
          </a:xfrm>
          <a:prstGeom prst="rect">
            <a:avLst/>
          </a:prstGeom>
          <a:noFill/>
        </p:spPr>
        <p:txBody>
          <a:bodyPr wrap="square">
            <a:spAutoFit/>
          </a:bodyPr>
          <a:lstStyle/>
          <a:p>
            <a:pPr algn="ctr"/>
            <a:r>
              <a:rPr lang="en-US" sz="3600" b="1" dirty="0"/>
              <a:t>Selective reporting and misrepresentation of data</a:t>
            </a:r>
          </a:p>
        </p:txBody>
      </p:sp>
      <p:sp>
        <p:nvSpPr>
          <p:cNvPr id="3" name="TextBox 2">
            <a:extLst>
              <a:ext uri="{FF2B5EF4-FFF2-40B4-BE49-F238E27FC236}">
                <a16:creationId xmlns:a16="http://schemas.microsoft.com/office/drawing/2014/main" id="{854EC80C-6186-ED5D-ECD7-AB6B113B5345}"/>
              </a:ext>
            </a:extLst>
          </p:cNvPr>
          <p:cNvSpPr txBox="1"/>
          <p:nvPr/>
        </p:nvSpPr>
        <p:spPr>
          <a:xfrm>
            <a:off x="419100" y="1676400"/>
            <a:ext cx="8305800" cy="4708981"/>
          </a:xfrm>
          <a:prstGeom prst="rect">
            <a:avLst/>
          </a:prstGeom>
          <a:noFill/>
        </p:spPr>
        <p:txBody>
          <a:bodyPr wrap="square">
            <a:spAutoFit/>
          </a:bodyPr>
          <a:lstStyle/>
          <a:p>
            <a:pPr marL="457200" indent="-457200" algn="just">
              <a:buFont typeface="Arial" panose="020B0604020202020204" pitchFamily="34" charset="0"/>
              <a:buChar char="•"/>
            </a:pPr>
            <a:r>
              <a:rPr lang="en-US" sz="2400" dirty="0"/>
              <a:t>Selective reporting and misrepresentation of data are unethical practices in scientific research where findings are presented in a biased or misleading way. </a:t>
            </a:r>
          </a:p>
          <a:p>
            <a:pPr marL="457200" indent="-457200" algn="just">
              <a:buFont typeface="Arial" panose="020B0604020202020204" pitchFamily="34" charset="0"/>
              <a:buChar char="•"/>
            </a:pPr>
            <a:r>
              <a:rPr lang="en-US" sz="2400" dirty="0"/>
              <a:t>These practices can severely distort scientific knowledge, lead to erroneous conclusions, and undermine the credibility of research.</a:t>
            </a:r>
          </a:p>
          <a:p>
            <a:r>
              <a:rPr lang="en-US" sz="3600" b="1" dirty="0"/>
              <a:t>Selective Reporting</a:t>
            </a:r>
          </a:p>
          <a:p>
            <a:pPr marL="342900" indent="-342900">
              <a:buFont typeface="Arial" panose="020B0604020202020204" pitchFamily="34" charset="0"/>
              <a:buChar char="•"/>
            </a:pPr>
            <a:r>
              <a:rPr lang="en-US" sz="2400" dirty="0"/>
              <a:t>Selective reporting occurs when researchers choose to report only positive, significant, or desired outcomes, while ignoring or downplaying negative, non-significant, or conflicting results. </a:t>
            </a:r>
          </a:p>
          <a:p>
            <a:pPr marL="342900" indent="-342900">
              <a:buFont typeface="Arial" panose="020B0604020202020204" pitchFamily="34" charset="0"/>
              <a:buChar char="•"/>
            </a:pPr>
            <a:r>
              <a:rPr lang="en-US" sz="2400" dirty="0"/>
              <a:t>This creates a biased representation of the research findings.</a:t>
            </a:r>
          </a:p>
          <a:p>
            <a:pPr marL="457200" indent="-457200" algn="just">
              <a:buFont typeface="Arial" panose="020B0604020202020204" pitchFamily="34" charset="0"/>
              <a:buChar char="•"/>
            </a:pPr>
            <a:endParaRPr lang="en-US" sz="2400" dirty="0"/>
          </a:p>
        </p:txBody>
      </p:sp>
    </p:spTree>
    <p:extLst>
      <p:ext uri="{BB962C8B-B14F-4D97-AF65-F5344CB8AC3E}">
        <p14:creationId xmlns:p14="http://schemas.microsoft.com/office/powerpoint/2010/main" val="3476381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C21BF3-52E9-3C01-53ED-A11152AE7E38}"/>
              </a:ext>
            </a:extLst>
          </p:cNvPr>
          <p:cNvSpPr txBox="1"/>
          <p:nvPr/>
        </p:nvSpPr>
        <p:spPr>
          <a:xfrm>
            <a:off x="533400" y="89624"/>
            <a:ext cx="8382000" cy="6678751"/>
          </a:xfrm>
          <a:prstGeom prst="rect">
            <a:avLst/>
          </a:prstGeom>
          <a:noFill/>
        </p:spPr>
        <p:txBody>
          <a:bodyPr wrap="square">
            <a:spAutoFit/>
          </a:bodyPr>
          <a:lstStyle/>
          <a:p>
            <a:endParaRPr lang="en-US" sz="2000" dirty="0"/>
          </a:p>
          <a:p>
            <a:pPr>
              <a:buFont typeface="Arial" panose="020B0604020202020204" pitchFamily="34" charset="0"/>
              <a:buChar char="•"/>
            </a:pPr>
            <a:r>
              <a:rPr lang="en-US" sz="2400" b="1" dirty="0"/>
              <a:t>Examples</a:t>
            </a:r>
            <a:r>
              <a:rPr lang="en-US" sz="2400" dirty="0"/>
              <a:t>:</a:t>
            </a:r>
          </a:p>
          <a:p>
            <a:pPr marL="742950" lvl="1" indent="-285750">
              <a:buFont typeface="Arial" panose="020B0604020202020204" pitchFamily="34" charset="0"/>
              <a:buChar char="•"/>
            </a:pPr>
            <a:r>
              <a:rPr lang="en-US" sz="2400" dirty="0"/>
              <a:t>Only publishing favorable results while withholding unfavorable data that doesn’t support the hypothesis (also known as "cherry-picking").</a:t>
            </a:r>
          </a:p>
          <a:p>
            <a:pPr marL="742950" lvl="1" indent="-285750">
              <a:buFont typeface="Arial" panose="020B0604020202020204" pitchFamily="34" charset="0"/>
              <a:buChar char="•"/>
            </a:pPr>
            <a:r>
              <a:rPr lang="en-US" sz="2400" dirty="0"/>
              <a:t>Reporting only statistically significant results without mentioning non-significant findings from the same study.</a:t>
            </a:r>
          </a:p>
          <a:p>
            <a:pPr marL="742950" lvl="1" indent="-285750">
              <a:buFont typeface="Arial" panose="020B0604020202020204" pitchFamily="34" charset="0"/>
              <a:buChar char="•"/>
            </a:pPr>
            <a:r>
              <a:rPr lang="en-US" sz="2400" dirty="0"/>
              <a:t>Failing to disclose secondary or exploratory analyses that contradict the primary findings.</a:t>
            </a:r>
          </a:p>
          <a:p>
            <a:endParaRPr lang="en-US" sz="2400" b="1" dirty="0"/>
          </a:p>
          <a:p>
            <a:r>
              <a:rPr lang="en-US" sz="2400" b="1" dirty="0"/>
              <a:t>Distortion of the scientific record</a:t>
            </a:r>
            <a:r>
              <a:rPr lang="en-US" sz="2400" dirty="0"/>
              <a:t>: Other researchers who rely on published results to build on existing knowledge may form inaccurate conclusions, leading to skewed literature reviews or meta-analyses.</a:t>
            </a:r>
          </a:p>
          <a:p>
            <a:r>
              <a:rPr lang="en-US" sz="2400" b="1" dirty="0"/>
              <a:t>Bias in clinical trials</a:t>
            </a:r>
            <a:r>
              <a:rPr lang="en-US" sz="2400" dirty="0"/>
              <a:t>: In fields like medicine, selective reporting can have serious consequences, as it may give an exaggerated sense of a drug’s efficacy or safety while underreporting adverse effects.</a:t>
            </a:r>
          </a:p>
        </p:txBody>
      </p:sp>
    </p:spTree>
    <p:extLst>
      <p:ext uri="{BB962C8B-B14F-4D97-AF65-F5344CB8AC3E}">
        <p14:creationId xmlns:p14="http://schemas.microsoft.com/office/powerpoint/2010/main" val="38493902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4642015-6E84-2357-D55C-FF9A7E08DCFF}"/>
              </a:ext>
            </a:extLst>
          </p:cNvPr>
          <p:cNvSpPr txBox="1"/>
          <p:nvPr/>
        </p:nvSpPr>
        <p:spPr>
          <a:xfrm>
            <a:off x="171450" y="89624"/>
            <a:ext cx="8801100" cy="6678751"/>
          </a:xfrm>
          <a:prstGeom prst="rect">
            <a:avLst/>
          </a:prstGeom>
          <a:noFill/>
        </p:spPr>
        <p:txBody>
          <a:bodyPr wrap="square">
            <a:spAutoFit/>
          </a:bodyPr>
          <a:lstStyle/>
          <a:p>
            <a:r>
              <a:rPr lang="en-US" sz="2800" b="1" dirty="0"/>
              <a:t>Misrepresentation of Data</a:t>
            </a:r>
          </a:p>
          <a:p>
            <a:pPr marL="342900" indent="-342900">
              <a:buFont typeface="Arial" panose="020B0604020202020204" pitchFamily="34" charset="0"/>
              <a:buChar char="•"/>
            </a:pPr>
            <a:r>
              <a:rPr lang="en-US" sz="2000" dirty="0"/>
              <a:t>Misrepresentation of data involves deliberately altering, misinterpreting, or presenting data in a misleading way to make the findings appear more favorable or significant than they actually are. This could involve manipulating graphs, altering figures, or presenting statistical results in a deceptive manner.</a:t>
            </a:r>
          </a:p>
          <a:p>
            <a:endParaRPr lang="en-US" sz="2000" dirty="0"/>
          </a:p>
          <a:p>
            <a:pPr>
              <a:buFont typeface="Arial" panose="020B0604020202020204" pitchFamily="34" charset="0"/>
              <a:buChar char="•"/>
            </a:pPr>
            <a:r>
              <a:rPr lang="en-US" sz="2000" b="1" dirty="0"/>
              <a:t>Examples</a:t>
            </a:r>
            <a:r>
              <a:rPr lang="en-US" sz="2000" dirty="0"/>
              <a:t>:</a:t>
            </a:r>
          </a:p>
          <a:p>
            <a:pPr marL="742950" lvl="1" indent="-285750">
              <a:buFont typeface="Arial" panose="020B0604020202020204" pitchFamily="34" charset="0"/>
              <a:buChar char="•"/>
            </a:pPr>
            <a:r>
              <a:rPr lang="en-US" sz="2000" b="1" dirty="0"/>
              <a:t>Data manipulation</a:t>
            </a:r>
            <a:r>
              <a:rPr lang="en-US" sz="2000" dirty="0"/>
              <a:t>: Adjusting data points or statistical analyses to achieve desired results (e.g., rounding numbers, removing outliers without justification).</a:t>
            </a:r>
          </a:p>
          <a:p>
            <a:pPr marL="742950" lvl="1" indent="-285750">
              <a:buFont typeface="Arial" panose="020B0604020202020204" pitchFamily="34" charset="0"/>
              <a:buChar char="•"/>
            </a:pPr>
            <a:r>
              <a:rPr lang="en-US" sz="2000" b="1" dirty="0"/>
              <a:t>Misleading graphs or visuals</a:t>
            </a:r>
            <a:r>
              <a:rPr lang="en-US" sz="2000" dirty="0"/>
              <a:t>: Creating visual representations of data that exaggerate differences, such as by manipulating the scales of graphs.</a:t>
            </a:r>
          </a:p>
          <a:p>
            <a:pPr marL="742950" lvl="1" indent="-285750">
              <a:buFont typeface="Arial" panose="020B0604020202020204" pitchFamily="34" charset="0"/>
              <a:buChar char="•"/>
            </a:pPr>
            <a:r>
              <a:rPr lang="en-US" sz="2000" b="1" dirty="0"/>
              <a:t>P-hacking</a:t>
            </a:r>
            <a:r>
              <a:rPr lang="en-US" sz="2000" dirty="0"/>
              <a:t>: Conducting multiple statistical tests until significant results are found, then reporting only those results, even if they are due to chance.</a:t>
            </a:r>
          </a:p>
          <a:p>
            <a:pPr lvl="1"/>
            <a:endParaRPr lang="en-US" sz="2000" dirty="0"/>
          </a:p>
          <a:p>
            <a:r>
              <a:rPr lang="en-US" sz="2000" b="1" dirty="0"/>
              <a:t>False conclusions</a:t>
            </a:r>
            <a:r>
              <a:rPr lang="en-US" sz="2000" dirty="0"/>
              <a:t>: Misrepresentation can lead to the publication of false or misleading conclusions that may influence future research, policy decisions, or clinical guidelines.</a:t>
            </a:r>
          </a:p>
          <a:p>
            <a:r>
              <a:rPr lang="en-US" sz="2000" b="1" dirty="0"/>
              <a:t>Erosion of trust</a:t>
            </a:r>
            <a:r>
              <a:rPr lang="en-US" sz="2000" dirty="0"/>
              <a:t>: When misrepresentation is uncovered, it not only damages the credibility of the researchers involved but also undermines public trust in scientific research as a whole.</a:t>
            </a:r>
          </a:p>
        </p:txBody>
      </p:sp>
    </p:spTree>
    <p:extLst>
      <p:ext uri="{BB962C8B-B14F-4D97-AF65-F5344CB8AC3E}">
        <p14:creationId xmlns:p14="http://schemas.microsoft.com/office/powerpoint/2010/main" val="104549011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BA5CF05-60D0-C24F-5D8D-EAA31C6CF315}"/>
              </a:ext>
            </a:extLst>
          </p:cNvPr>
          <p:cNvSpPr txBox="1"/>
          <p:nvPr/>
        </p:nvSpPr>
        <p:spPr>
          <a:xfrm>
            <a:off x="533400" y="304800"/>
            <a:ext cx="8229600" cy="5878532"/>
          </a:xfrm>
          <a:prstGeom prst="rect">
            <a:avLst/>
          </a:prstGeom>
          <a:noFill/>
        </p:spPr>
        <p:txBody>
          <a:bodyPr wrap="square">
            <a:spAutoFit/>
          </a:bodyPr>
          <a:lstStyle/>
          <a:p>
            <a:r>
              <a:rPr lang="en-US" sz="3200" b="1" dirty="0"/>
              <a:t>Common Forms of Selective Reporting and Misrepresentation:</a:t>
            </a:r>
          </a:p>
          <a:p>
            <a:pPr>
              <a:buFont typeface="Arial" panose="020B0604020202020204" pitchFamily="34" charset="0"/>
              <a:buChar char="•"/>
            </a:pPr>
            <a:r>
              <a:rPr lang="en-US" sz="2400" b="1" dirty="0"/>
              <a:t>Reporting Bias</a:t>
            </a:r>
            <a:r>
              <a:rPr lang="en-US" sz="2400" dirty="0"/>
              <a:t>: This includes a range of biases like publication bias (where studies with positive results are more likely to be published), outcome reporting bias (reporting only significant outcomes), and analysis bias (only reporting certain analyses that yield desired results).</a:t>
            </a:r>
          </a:p>
          <a:p>
            <a:pPr>
              <a:buFont typeface="Arial" panose="020B0604020202020204" pitchFamily="34" charset="0"/>
              <a:buChar char="•"/>
            </a:pPr>
            <a:r>
              <a:rPr lang="en-US" sz="2400" b="1" dirty="0"/>
              <a:t>Incomplete Reporting</a:t>
            </a:r>
            <a:r>
              <a:rPr lang="en-US" sz="2400" dirty="0"/>
              <a:t>: In some cases, researchers may selectively report the methods and materials used in their study, which makes it difficult for others to replicate or verify the findings.</a:t>
            </a:r>
          </a:p>
          <a:p>
            <a:pPr>
              <a:buFont typeface="Arial" panose="020B0604020202020204" pitchFamily="34" charset="0"/>
              <a:buChar char="•"/>
            </a:pPr>
            <a:r>
              <a:rPr lang="en-US" sz="2400" b="1" dirty="0"/>
              <a:t>Overstating Findings</a:t>
            </a:r>
            <a:r>
              <a:rPr lang="en-US" sz="2400" dirty="0"/>
              <a:t>: Researchers may exaggerate the significance or implications of their results, often using terms like “breakthrough” or “significant” when the data does not fully support such conclusions.</a:t>
            </a:r>
          </a:p>
        </p:txBody>
      </p:sp>
    </p:spTree>
    <p:extLst>
      <p:ext uri="{BB962C8B-B14F-4D97-AF65-F5344CB8AC3E}">
        <p14:creationId xmlns:p14="http://schemas.microsoft.com/office/powerpoint/2010/main" val="38886936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6B168B6-D5DF-3CBC-5CDF-D1B37ACF16F6}"/>
              </a:ext>
            </a:extLst>
          </p:cNvPr>
          <p:cNvSpPr txBox="1"/>
          <p:nvPr/>
        </p:nvSpPr>
        <p:spPr>
          <a:xfrm>
            <a:off x="685800" y="762000"/>
            <a:ext cx="8077200" cy="5262979"/>
          </a:xfrm>
          <a:prstGeom prst="rect">
            <a:avLst/>
          </a:prstGeom>
          <a:noFill/>
        </p:spPr>
        <p:txBody>
          <a:bodyPr wrap="square">
            <a:spAutoFit/>
          </a:bodyPr>
          <a:lstStyle/>
          <a:p>
            <a:r>
              <a:rPr lang="en-US" sz="3200" b="1" dirty="0"/>
              <a:t>Selective Reporting and Misrepresentation may cost …</a:t>
            </a:r>
          </a:p>
          <a:p>
            <a:endParaRPr lang="en-US" sz="3200" b="1" dirty="0"/>
          </a:p>
          <a:p>
            <a:pPr>
              <a:buFont typeface="Arial" panose="020B0604020202020204" pitchFamily="34" charset="0"/>
              <a:buChar char="•"/>
            </a:pPr>
            <a:r>
              <a:rPr lang="en-US" sz="2400" b="1" dirty="0"/>
              <a:t>Skewed Meta-analyses</a:t>
            </a:r>
            <a:r>
              <a:rPr lang="en-US" sz="2400" dirty="0"/>
              <a:t>: Systematic reviews and meta-analyses rely on published data to synthesize findings across studies. Selective reporting or misrepresentation can distort these reviews, leading to incorrect scientific conclusions.</a:t>
            </a:r>
          </a:p>
          <a:p>
            <a:pPr>
              <a:buFont typeface="Arial" panose="020B0604020202020204" pitchFamily="34" charset="0"/>
              <a:buChar char="•"/>
            </a:pPr>
            <a:r>
              <a:rPr lang="en-US" sz="2400" b="1" dirty="0"/>
              <a:t>Wasted Resources</a:t>
            </a:r>
            <a:r>
              <a:rPr lang="en-US" sz="2400" dirty="0"/>
              <a:t>: Misleading studies may cause researchers to follow unproductive lines of inquiry, wasting time, funding, and effort.</a:t>
            </a:r>
          </a:p>
          <a:p>
            <a:pPr>
              <a:buFont typeface="Arial" panose="020B0604020202020204" pitchFamily="34" charset="0"/>
              <a:buChar char="•"/>
            </a:pPr>
            <a:r>
              <a:rPr lang="en-US" sz="2400" b="1" dirty="0"/>
              <a:t>Ethical Violations</a:t>
            </a:r>
            <a:r>
              <a:rPr lang="en-US" sz="2400" dirty="0"/>
              <a:t>: In fields like clinical research, selectively reporting or misrepresenting data can put human lives at risk by hiding critical information about drug efficacy or side effects.</a:t>
            </a:r>
          </a:p>
        </p:txBody>
      </p:sp>
    </p:spTree>
    <p:extLst>
      <p:ext uri="{BB962C8B-B14F-4D97-AF65-F5344CB8AC3E}">
        <p14:creationId xmlns:p14="http://schemas.microsoft.com/office/powerpoint/2010/main" val="7508791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E6B75EA-AA91-18CD-D175-CA23C2A45DBE}"/>
              </a:ext>
            </a:extLst>
          </p:cNvPr>
          <p:cNvSpPr txBox="1"/>
          <p:nvPr/>
        </p:nvSpPr>
        <p:spPr>
          <a:xfrm>
            <a:off x="495300" y="551289"/>
            <a:ext cx="8153400" cy="5755422"/>
          </a:xfrm>
          <a:prstGeom prst="rect">
            <a:avLst/>
          </a:prstGeom>
          <a:noFill/>
        </p:spPr>
        <p:txBody>
          <a:bodyPr wrap="square">
            <a:spAutoFit/>
          </a:bodyPr>
          <a:lstStyle/>
          <a:p>
            <a:r>
              <a:rPr lang="en-US" sz="3200" b="1" dirty="0"/>
              <a:t>Hence, we need to  do </a:t>
            </a:r>
          </a:p>
          <a:p>
            <a:endParaRPr lang="en-US" sz="2400" b="1" dirty="0"/>
          </a:p>
          <a:p>
            <a:pPr>
              <a:buFont typeface="Arial" panose="020B0604020202020204" pitchFamily="34" charset="0"/>
              <a:buChar char="•"/>
            </a:pPr>
            <a:r>
              <a:rPr lang="en-US" sz="2400" b="1" dirty="0"/>
              <a:t>Pre-registration of Studies</a:t>
            </a:r>
            <a:r>
              <a:rPr lang="en-US" sz="2400" dirty="0"/>
              <a:t>: Pre-registering studies and their hypotheses (especially in clinical trials) helps ensure transparency and reduces the likelihood of selective reporting.</a:t>
            </a:r>
          </a:p>
          <a:p>
            <a:pPr>
              <a:buFont typeface="Arial" panose="020B0604020202020204" pitchFamily="34" charset="0"/>
              <a:buChar char="•"/>
            </a:pPr>
            <a:r>
              <a:rPr lang="en-US" sz="2400" b="1" dirty="0"/>
              <a:t>Data Transparency</a:t>
            </a:r>
            <a:r>
              <a:rPr lang="en-US" sz="2400" dirty="0"/>
              <a:t>: Sharing raw data along with publications encourages scrutiny and validation of results by the broader research community.</a:t>
            </a:r>
          </a:p>
          <a:p>
            <a:pPr>
              <a:buFont typeface="Arial" panose="020B0604020202020204" pitchFamily="34" charset="0"/>
              <a:buChar char="•"/>
            </a:pPr>
            <a:r>
              <a:rPr lang="en-US" sz="2400" b="1" dirty="0"/>
              <a:t>Rigorous Peer Review</a:t>
            </a:r>
            <a:r>
              <a:rPr lang="en-US" sz="2400" dirty="0"/>
              <a:t>: Peer reviewers and journal editors should scrutinize methods and data presentation closely, asking for clarification when necessary.</a:t>
            </a:r>
          </a:p>
          <a:p>
            <a:pPr>
              <a:buFont typeface="Arial" panose="020B0604020202020204" pitchFamily="34" charset="0"/>
              <a:buChar char="•"/>
            </a:pPr>
            <a:r>
              <a:rPr lang="en-US" sz="2400" b="1" dirty="0"/>
              <a:t>Ethical Guidelines and Policies</a:t>
            </a:r>
            <a:r>
              <a:rPr lang="en-US" sz="2400" dirty="0"/>
              <a:t>: Institutions and funding agencies should enforce strict guidelines against selective reporting and misrepresentation, with consequences for those who violate them.</a:t>
            </a:r>
          </a:p>
        </p:txBody>
      </p:sp>
    </p:spTree>
    <p:extLst>
      <p:ext uri="{BB962C8B-B14F-4D97-AF65-F5344CB8AC3E}">
        <p14:creationId xmlns:p14="http://schemas.microsoft.com/office/powerpoint/2010/main" val="148114586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4A469E6-30F0-4C14-92A5-AB9E436C1D59}"/>
              </a:ext>
            </a:extLst>
          </p:cNvPr>
          <p:cNvSpPr>
            <a:spLocks noGrp="1"/>
          </p:cNvSpPr>
          <p:nvPr>
            <p:ph sz="quarter" idx="11"/>
          </p:nvPr>
        </p:nvSpPr>
        <p:spPr/>
        <p:txBody>
          <a:bodyPr/>
          <a:lstStyle/>
          <a:p>
            <a:r>
              <a:rPr lang="en-US" dirty="0"/>
              <a:t>The wrongful appropriation, close imitation, or purloining and publication of another author’s language, thoughts, ideas, or expressions and their representation as one’s own work.</a:t>
            </a:r>
          </a:p>
          <a:p>
            <a:r>
              <a:rPr lang="en-US" dirty="0"/>
              <a:t>The act of passing off someone else's work as your own, whether intentionally or unintentionally.</a:t>
            </a:r>
          </a:p>
          <a:p>
            <a:r>
              <a:rPr lang="en-US" dirty="0"/>
              <a:t>The most common form of scientific misconduct.</a:t>
            </a:r>
          </a:p>
        </p:txBody>
      </p:sp>
      <p:sp>
        <p:nvSpPr>
          <p:cNvPr id="2" name="Title 1">
            <a:extLst>
              <a:ext uri="{FF2B5EF4-FFF2-40B4-BE49-F238E27FC236}">
                <a16:creationId xmlns:a16="http://schemas.microsoft.com/office/drawing/2014/main" id="{0B03C173-F771-4004-997E-9C32CE367C2C}"/>
              </a:ext>
            </a:extLst>
          </p:cNvPr>
          <p:cNvSpPr>
            <a:spLocks noGrp="1"/>
          </p:cNvSpPr>
          <p:nvPr>
            <p:ph type="title"/>
          </p:nvPr>
        </p:nvSpPr>
        <p:spPr/>
        <p:txBody>
          <a:bodyPr/>
          <a:lstStyle/>
          <a:p>
            <a:r>
              <a:rPr lang="de-DE" dirty="0"/>
              <a:t>Plagiarism</a:t>
            </a:r>
          </a:p>
        </p:txBody>
      </p:sp>
    </p:spTree>
    <p:extLst>
      <p:ext uri="{BB962C8B-B14F-4D97-AF65-F5344CB8AC3E}">
        <p14:creationId xmlns:p14="http://schemas.microsoft.com/office/powerpoint/2010/main" val="122989078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330DB66-3A12-4704-956B-795C66BF801B}"/>
              </a:ext>
            </a:extLst>
          </p:cNvPr>
          <p:cNvSpPr>
            <a:spLocks noGrp="1"/>
          </p:cNvSpPr>
          <p:nvPr>
            <p:ph sz="quarter" idx="11"/>
          </p:nvPr>
        </p:nvSpPr>
        <p:spPr/>
        <p:txBody>
          <a:bodyPr>
            <a:normAutofit fontScale="92500" lnSpcReduction="10000"/>
          </a:bodyPr>
          <a:lstStyle/>
          <a:p>
            <a:r>
              <a:rPr lang="de-DE" sz="2400" b="1" dirty="0"/>
              <a:t>Intentional </a:t>
            </a:r>
            <a:r>
              <a:rPr lang="de-DE" sz="2400" b="1" dirty="0" err="1"/>
              <a:t>plagiarism</a:t>
            </a:r>
            <a:endParaRPr lang="de-DE" sz="2400" b="1" dirty="0"/>
          </a:p>
          <a:p>
            <a:pPr lvl="1"/>
            <a:r>
              <a:rPr lang="en-US" sz="2133" dirty="0"/>
              <a:t>a writer knowingly lifts text directly from other authors’ work without giving appropriate credit.</a:t>
            </a:r>
          </a:p>
          <a:p>
            <a:r>
              <a:rPr lang="en-US" sz="2400" b="1" dirty="0"/>
              <a:t>Duplicate publication</a:t>
            </a:r>
          </a:p>
          <a:p>
            <a:pPr lvl="1"/>
            <a:r>
              <a:rPr lang="en-US" sz="2133" dirty="0"/>
              <a:t>an author submits for publication a previously published work as if it were </a:t>
            </a:r>
            <a:r>
              <a:rPr lang="de-DE" sz="2133" dirty="0"/>
              <a:t>original.</a:t>
            </a:r>
          </a:p>
          <a:p>
            <a:r>
              <a:rPr lang="en-US" sz="2400" b="1" dirty="0"/>
              <a:t>Self-plagiarism</a:t>
            </a:r>
          </a:p>
          <a:p>
            <a:pPr lvl="1"/>
            <a:r>
              <a:rPr lang="en-US" sz="2133" dirty="0"/>
              <a:t>a writer copies large parts of an earlier manuscript word for word into a new manuscript.</a:t>
            </a:r>
          </a:p>
          <a:p>
            <a:pPr lvl="1"/>
            <a:r>
              <a:rPr lang="en-US" sz="2133" dirty="0"/>
              <a:t>can occur when individuals pursue large programs of research over many years on the same topic, so they are constantly building on their own work and in their own language. </a:t>
            </a:r>
          </a:p>
          <a:p>
            <a:pPr lvl="1"/>
            <a:endParaRPr lang="de-DE" sz="2133" dirty="0"/>
          </a:p>
        </p:txBody>
      </p:sp>
      <p:sp>
        <p:nvSpPr>
          <p:cNvPr id="2" name="Title 1">
            <a:extLst>
              <a:ext uri="{FF2B5EF4-FFF2-40B4-BE49-F238E27FC236}">
                <a16:creationId xmlns:a16="http://schemas.microsoft.com/office/drawing/2014/main" id="{138AD772-E001-4909-AC58-1CEB7AF62954}"/>
              </a:ext>
            </a:extLst>
          </p:cNvPr>
          <p:cNvSpPr>
            <a:spLocks noGrp="1"/>
          </p:cNvSpPr>
          <p:nvPr>
            <p:ph type="title"/>
          </p:nvPr>
        </p:nvSpPr>
        <p:spPr/>
        <p:txBody>
          <a:bodyPr/>
          <a:lstStyle/>
          <a:p>
            <a:r>
              <a:rPr lang="de-DE" dirty="0"/>
              <a:t>Forms of </a:t>
            </a:r>
            <a:r>
              <a:rPr lang="de-DE" dirty="0" err="1"/>
              <a:t>plagiarism</a:t>
            </a:r>
            <a:endParaRPr lang="de-DE" dirty="0"/>
          </a:p>
        </p:txBody>
      </p:sp>
    </p:spTree>
    <p:extLst>
      <p:ext uri="{BB962C8B-B14F-4D97-AF65-F5344CB8AC3E}">
        <p14:creationId xmlns:p14="http://schemas.microsoft.com/office/powerpoint/2010/main" val="324700708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D54896B-3E48-41C4-8F9A-A3652EFE72A7}"/>
              </a:ext>
            </a:extLst>
          </p:cNvPr>
          <p:cNvSpPr>
            <a:spLocks noGrp="1"/>
          </p:cNvSpPr>
          <p:nvPr>
            <p:ph sz="quarter" idx="11"/>
          </p:nvPr>
        </p:nvSpPr>
        <p:spPr/>
        <p:txBody>
          <a:bodyPr>
            <a:normAutofit lnSpcReduction="10000"/>
          </a:bodyPr>
          <a:lstStyle/>
          <a:p>
            <a:pPr marL="609585" indent="-609585">
              <a:buFont typeface="+mj-lt"/>
              <a:buAutoNum type="arabicPeriod"/>
            </a:pPr>
            <a:r>
              <a:rPr lang="en-US" sz="2133" dirty="0"/>
              <a:t>Always acknowledge the sources of and contributions to your ideas.</a:t>
            </a:r>
          </a:p>
          <a:p>
            <a:pPr marL="609585" indent="-609585">
              <a:buFont typeface="+mj-lt"/>
              <a:buAutoNum type="arabicPeriod"/>
            </a:pPr>
            <a:r>
              <a:rPr lang="en-US" sz="2133" dirty="0"/>
              <a:t>Enclose in quotation marks any passage of text that is directly taken from another author’s work and acknowledge that author in an in-text citation.</a:t>
            </a:r>
          </a:p>
          <a:p>
            <a:pPr marL="609585" indent="-609585">
              <a:buFont typeface="+mj-lt"/>
              <a:buAutoNum type="arabicPeriod"/>
            </a:pPr>
            <a:r>
              <a:rPr lang="en-US" sz="2133" dirty="0"/>
              <a:t>Acknowledge every source you use in writing, whether you paraphrase it, </a:t>
            </a:r>
            <a:r>
              <a:rPr lang="en-US" sz="2133" dirty="0" err="1"/>
              <a:t>summarise</a:t>
            </a:r>
            <a:r>
              <a:rPr lang="en-US" sz="2133" dirty="0"/>
              <a:t> it, or quote it directly.</a:t>
            </a:r>
          </a:p>
          <a:p>
            <a:pPr marL="609585" indent="-609585">
              <a:buFont typeface="+mj-lt"/>
              <a:buAutoNum type="arabicPeriod"/>
            </a:pPr>
            <a:r>
              <a:rPr lang="en-US" sz="2133" dirty="0"/>
              <a:t>When paraphrasing or </a:t>
            </a:r>
            <a:r>
              <a:rPr lang="en-US" sz="2133" dirty="0" err="1"/>
              <a:t>summarising</a:t>
            </a:r>
            <a:r>
              <a:rPr lang="en-US" sz="2133" dirty="0"/>
              <a:t> other authors’ work, reproduce the meaning of the original author’s ideas or facts as closely as possible using your own words and sentence composition.</a:t>
            </a:r>
          </a:p>
          <a:p>
            <a:pPr marL="609585" indent="-609585">
              <a:buFont typeface="+mj-lt"/>
              <a:buAutoNum type="arabicPeriod"/>
            </a:pPr>
            <a:r>
              <a:rPr lang="en-US" sz="2133" dirty="0"/>
              <a:t>Do not copy sections of your previously published work into a new manuscript without citing the publication and using quotation marks.</a:t>
            </a:r>
            <a:endParaRPr lang="de-DE" sz="2133" dirty="0"/>
          </a:p>
        </p:txBody>
      </p:sp>
      <p:sp>
        <p:nvSpPr>
          <p:cNvPr id="2" name="Title 1">
            <a:extLst>
              <a:ext uri="{FF2B5EF4-FFF2-40B4-BE49-F238E27FC236}">
                <a16:creationId xmlns:a16="http://schemas.microsoft.com/office/drawing/2014/main" id="{718AFCF3-782F-4A74-A6CA-385421E0DD7A}"/>
              </a:ext>
            </a:extLst>
          </p:cNvPr>
          <p:cNvSpPr>
            <a:spLocks noGrp="1"/>
          </p:cNvSpPr>
          <p:nvPr>
            <p:ph type="title"/>
          </p:nvPr>
        </p:nvSpPr>
        <p:spPr/>
        <p:txBody>
          <a:bodyPr/>
          <a:lstStyle/>
          <a:p>
            <a:r>
              <a:rPr lang="de-DE" dirty="0" err="1"/>
              <a:t>Protecting</a:t>
            </a:r>
            <a:r>
              <a:rPr lang="de-DE" dirty="0"/>
              <a:t> </a:t>
            </a:r>
            <a:r>
              <a:rPr lang="de-DE" dirty="0" err="1"/>
              <a:t>against</a:t>
            </a:r>
            <a:r>
              <a:rPr lang="de-DE" dirty="0"/>
              <a:t> </a:t>
            </a:r>
            <a:r>
              <a:rPr lang="de-DE" dirty="0" err="1"/>
              <a:t>plagiarism</a:t>
            </a:r>
            <a:endParaRPr lang="de-DE" dirty="0"/>
          </a:p>
        </p:txBody>
      </p:sp>
    </p:spTree>
    <p:extLst>
      <p:ext uri="{BB962C8B-B14F-4D97-AF65-F5344CB8AC3E}">
        <p14:creationId xmlns:p14="http://schemas.microsoft.com/office/powerpoint/2010/main" val="56210160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5687BF8-BE98-4098-9B5F-BB45EA1B7BC4}"/>
              </a:ext>
            </a:extLst>
          </p:cNvPr>
          <p:cNvSpPr>
            <a:spLocks noGrp="1"/>
          </p:cNvSpPr>
          <p:nvPr>
            <p:ph sz="quarter" idx="11"/>
          </p:nvPr>
        </p:nvSpPr>
        <p:spPr>
          <a:xfrm>
            <a:off x="325618" y="1676400"/>
            <a:ext cx="8665981" cy="4337097"/>
          </a:xfrm>
        </p:spPr>
        <p:txBody>
          <a:bodyPr>
            <a:noAutofit/>
          </a:bodyPr>
          <a:lstStyle/>
          <a:p>
            <a:r>
              <a:rPr lang="en-US" sz="1900" dirty="0"/>
              <a:t>Concerns the </a:t>
            </a:r>
            <a:r>
              <a:rPr lang="en-US" sz="1900" b="1" dirty="0"/>
              <a:t>appropriate acknowledgement </a:t>
            </a:r>
            <a:r>
              <a:rPr lang="en-US" sz="1900" dirty="0"/>
              <a:t>(not too much or too little) of collaborators’ substantial contributions to a piece of scholarly work. </a:t>
            </a:r>
          </a:p>
          <a:p>
            <a:r>
              <a:rPr lang="en-US" sz="1900" dirty="0"/>
              <a:t>An ethical issue that appears frequently in scientific work because collaboration is the norm, not the exception.</a:t>
            </a:r>
          </a:p>
          <a:p>
            <a:pPr lvl="1"/>
            <a:r>
              <a:rPr lang="en-US" sz="1900" dirty="0"/>
              <a:t>Working alone means less productivity</a:t>
            </a:r>
          </a:p>
          <a:p>
            <a:pPr lvl="1"/>
            <a:r>
              <a:rPr lang="en-US" sz="1900" dirty="0"/>
              <a:t>Working alone means having to do every thing well</a:t>
            </a:r>
          </a:p>
          <a:p>
            <a:pPr lvl="1"/>
            <a:r>
              <a:rPr lang="en-US" sz="1900" dirty="0"/>
              <a:t>Collaboration means sharing workload, complementing skills, broadening the domain of interest</a:t>
            </a:r>
          </a:p>
          <a:p>
            <a:r>
              <a:rPr lang="en-US" sz="1900" dirty="0"/>
              <a:t>Recognizing co-author contributions appropriately be difficult to deal with because the correct attribution of credit sounds easy but is hard to identify in practice.</a:t>
            </a:r>
          </a:p>
          <a:p>
            <a:r>
              <a:rPr lang="en-US" sz="1900" dirty="0"/>
              <a:t>Making co-authorship decisions is important because on the one hand co-authorship confers credit to individuals for their contribution to academic tasks, which can have academic, social, and financial implications; but on the other hand, co-authorship also implies responsibility and accountability for published works</a:t>
            </a:r>
            <a:r>
              <a:rPr lang="en-US" sz="1800" dirty="0"/>
              <a:t>.</a:t>
            </a:r>
            <a:endParaRPr lang="de-DE" sz="1800" dirty="0"/>
          </a:p>
        </p:txBody>
      </p:sp>
      <p:sp>
        <p:nvSpPr>
          <p:cNvPr id="2" name="Title 1">
            <a:extLst>
              <a:ext uri="{FF2B5EF4-FFF2-40B4-BE49-F238E27FC236}">
                <a16:creationId xmlns:a16="http://schemas.microsoft.com/office/drawing/2014/main" id="{78519257-4BF6-4359-96D9-F3D34071274B}"/>
              </a:ext>
            </a:extLst>
          </p:cNvPr>
          <p:cNvSpPr>
            <a:spLocks noGrp="1"/>
          </p:cNvSpPr>
          <p:nvPr>
            <p:ph type="title"/>
          </p:nvPr>
        </p:nvSpPr>
        <p:spPr/>
        <p:txBody>
          <a:bodyPr>
            <a:normAutofit fontScale="90000"/>
          </a:bodyPr>
          <a:lstStyle/>
          <a:p>
            <a:r>
              <a:rPr lang="de-DE" dirty="0"/>
              <a:t>Recognition of co-author contributions</a:t>
            </a:r>
          </a:p>
        </p:txBody>
      </p:sp>
    </p:spTree>
    <p:extLst>
      <p:ext uri="{BB962C8B-B14F-4D97-AF65-F5344CB8AC3E}">
        <p14:creationId xmlns:p14="http://schemas.microsoft.com/office/powerpoint/2010/main" val="218622677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937D6A0-E4FF-44B5-97F8-503A3D1EF6F9}"/>
              </a:ext>
            </a:extLst>
          </p:cNvPr>
          <p:cNvSpPr>
            <a:spLocks noGrp="1"/>
          </p:cNvSpPr>
          <p:nvPr>
            <p:ph sz="quarter" idx="11"/>
          </p:nvPr>
        </p:nvSpPr>
        <p:spPr/>
        <p:txBody>
          <a:bodyPr/>
          <a:lstStyle/>
          <a:p>
            <a:pPr marL="0" indent="0">
              <a:buNone/>
            </a:pPr>
            <a:r>
              <a:rPr lang="de-DE" sz="2400" b="1" dirty="0">
                <a:solidFill>
                  <a:srgbClr val="0000FF"/>
                </a:solidFill>
              </a:rPr>
              <a:t>1. Coercion authorship</a:t>
            </a:r>
          </a:p>
          <a:p>
            <a:pPr lvl="1"/>
            <a:r>
              <a:rPr lang="en-US" sz="2133" dirty="0"/>
              <a:t>Occurs when intimidation is used to gain authorship credit, such as when a senior person pressures a more junior person to include the senior person’s name on a paper to which he or she has not contributed enough to qualify </a:t>
            </a:r>
            <a:r>
              <a:rPr lang="de-DE" sz="2133" dirty="0" err="1"/>
              <a:t>for</a:t>
            </a:r>
            <a:r>
              <a:rPr lang="de-DE" sz="2133" dirty="0"/>
              <a:t> </a:t>
            </a:r>
            <a:r>
              <a:rPr lang="de-DE" sz="2133" dirty="0" err="1"/>
              <a:t>authorship</a:t>
            </a:r>
            <a:r>
              <a:rPr lang="de-DE" sz="2133" dirty="0"/>
              <a:t>.</a:t>
            </a:r>
          </a:p>
          <a:p>
            <a:pPr marL="0" indent="0">
              <a:buNone/>
            </a:pPr>
            <a:r>
              <a:rPr lang="de-DE" sz="2400" b="1" dirty="0">
                <a:solidFill>
                  <a:srgbClr val="0000FF"/>
                </a:solidFill>
              </a:rPr>
              <a:t>2. Gift authorship</a:t>
            </a:r>
          </a:p>
          <a:p>
            <a:pPr lvl="1"/>
            <a:r>
              <a:rPr lang="de-DE" sz="2133" dirty="0" err="1"/>
              <a:t>Occurs</a:t>
            </a:r>
            <a:r>
              <a:rPr lang="de-DE" sz="2133" dirty="0"/>
              <a:t> </a:t>
            </a:r>
            <a:r>
              <a:rPr lang="de-DE" sz="2133" dirty="0" err="1"/>
              <a:t>when</a:t>
            </a:r>
            <a:r>
              <a:rPr lang="de-DE" sz="2133" dirty="0"/>
              <a:t> </a:t>
            </a:r>
            <a:r>
              <a:rPr lang="en-US" sz="2133" dirty="0"/>
              <a:t>individuals are given recognition as co-authors without having made substantial contributions, often for reasons like acknowledging friendship, gaining </a:t>
            </a:r>
            <a:r>
              <a:rPr lang="en-US" sz="2133" dirty="0" err="1"/>
              <a:t>favour</a:t>
            </a:r>
            <a:r>
              <a:rPr lang="en-US" sz="2133" dirty="0"/>
              <a:t>, or giving the paper more legitimacy by adding well-known senior researchers to the list of authors.</a:t>
            </a:r>
            <a:endParaRPr lang="de-DE" sz="2400" dirty="0"/>
          </a:p>
        </p:txBody>
      </p:sp>
      <p:sp>
        <p:nvSpPr>
          <p:cNvPr id="2" name="Title 1">
            <a:extLst>
              <a:ext uri="{FF2B5EF4-FFF2-40B4-BE49-F238E27FC236}">
                <a16:creationId xmlns:a16="http://schemas.microsoft.com/office/drawing/2014/main" id="{558C0E43-7090-4789-90BE-DCE5BF929678}"/>
              </a:ext>
            </a:extLst>
          </p:cNvPr>
          <p:cNvSpPr>
            <a:spLocks noGrp="1"/>
          </p:cNvSpPr>
          <p:nvPr>
            <p:ph type="title"/>
          </p:nvPr>
        </p:nvSpPr>
        <p:spPr/>
        <p:txBody>
          <a:bodyPr>
            <a:normAutofit fontScale="90000"/>
          </a:bodyPr>
          <a:lstStyle/>
          <a:p>
            <a:r>
              <a:rPr lang="en-AU" dirty="0"/>
              <a:t>Four </a:t>
            </a:r>
            <a:r>
              <a:rPr lang="de-DE" dirty="0"/>
              <a:t>e</a:t>
            </a:r>
            <a:r>
              <a:rPr lang="en-AU" dirty="0" err="1"/>
              <a:t>thical</a:t>
            </a:r>
            <a:r>
              <a:rPr lang="en-AU" dirty="0"/>
              <a:t> issues relating to co-authorship</a:t>
            </a:r>
            <a:endParaRPr lang="de-DE" dirty="0"/>
          </a:p>
        </p:txBody>
      </p:sp>
    </p:spTree>
    <p:extLst>
      <p:ext uri="{BB962C8B-B14F-4D97-AF65-F5344CB8AC3E}">
        <p14:creationId xmlns:p14="http://schemas.microsoft.com/office/powerpoint/2010/main" val="227631157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937D6A0-E4FF-44B5-97F8-503A3D1EF6F9}"/>
              </a:ext>
            </a:extLst>
          </p:cNvPr>
          <p:cNvSpPr>
            <a:spLocks noGrp="1"/>
          </p:cNvSpPr>
          <p:nvPr>
            <p:ph sz="quarter" idx="11"/>
          </p:nvPr>
        </p:nvSpPr>
        <p:spPr/>
        <p:txBody>
          <a:bodyPr>
            <a:normAutofit lnSpcReduction="10000"/>
          </a:bodyPr>
          <a:lstStyle/>
          <a:p>
            <a:pPr marL="0" indent="0">
              <a:buNone/>
            </a:pPr>
            <a:r>
              <a:rPr lang="en-US" sz="2400" b="1" dirty="0">
                <a:solidFill>
                  <a:srgbClr val="0000FF"/>
                </a:solidFill>
              </a:rPr>
              <a:t>3. Mutual support authorship</a:t>
            </a:r>
          </a:p>
          <a:p>
            <a:pPr lvl="1"/>
            <a:r>
              <a:rPr lang="en-US" sz="2133" dirty="0"/>
              <a:t>Occurs when two or more authors (or author groups) agree to place their names on each other’s papers to enhance their perceived productivity. The “authors” can count both publications towards their own list of papers, receive citations for both papers, and so forth.</a:t>
            </a:r>
          </a:p>
          <a:p>
            <a:pPr marL="0" indent="0">
              <a:buNone/>
            </a:pPr>
            <a:r>
              <a:rPr lang="de-DE" sz="2400" b="1" dirty="0">
                <a:solidFill>
                  <a:srgbClr val="0000FF"/>
                </a:solidFill>
              </a:rPr>
              <a:t>4. Ghost authorship</a:t>
            </a:r>
          </a:p>
          <a:p>
            <a:pPr lvl="1"/>
            <a:r>
              <a:rPr lang="en-US" sz="2133" dirty="0"/>
              <a:t>Occurs when papers are written by people who are not included as authors or are not acknowledged. A typical form of ghost authorship involves using or hiring professional scientific writers, perhaps because the researchers feel they cannot write “well” or “scientifically.”</a:t>
            </a:r>
            <a:endParaRPr lang="de-DE" sz="2133" dirty="0"/>
          </a:p>
        </p:txBody>
      </p:sp>
      <p:sp>
        <p:nvSpPr>
          <p:cNvPr id="2" name="Title 1">
            <a:extLst>
              <a:ext uri="{FF2B5EF4-FFF2-40B4-BE49-F238E27FC236}">
                <a16:creationId xmlns:a16="http://schemas.microsoft.com/office/drawing/2014/main" id="{558C0E43-7090-4789-90BE-DCE5BF929678}"/>
              </a:ext>
            </a:extLst>
          </p:cNvPr>
          <p:cNvSpPr>
            <a:spLocks noGrp="1"/>
          </p:cNvSpPr>
          <p:nvPr>
            <p:ph type="title"/>
          </p:nvPr>
        </p:nvSpPr>
        <p:spPr/>
        <p:txBody>
          <a:bodyPr>
            <a:normAutofit fontScale="90000"/>
          </a:bodyPr>
          <a:lstStyle/>
          <a:p>
            <a:r>
              <a:rPr lang="en-AU" dirty="0"/>
              <a:t>Four</a:t>
            </a:r>
            <a:r>
              <a:rPr lang="de-DE" dirty="0"/>
              <a:t> e</a:t>
            </a:r>
            <a:r>
              <a:rPr lang="en-AU" dirty="0" err="1"/>
              <a:t>thical</a:t>
            </a:r>
            <a:r>
              <a:rPr lang="en-AU" dirty="0"/>
              <a:t> issues relating to co-authorship</a:t>
            </a:r>
            <a:endParaRPr lang="de-DE" dirty="0"/>
          </a:p>
        </p:txBody>
      </p:sp>
    </p:spTree>
    <p:extLst>
      <p:ext uri="{BB962C8B-B14F-4D97-AF65-F5344CB8AC3E}">
        <p14:creationId xmlns:p14="http://schemas.microsoft.com/office/powerpoint/2010/main" val="404845940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Content Placeholder 1"/>
          <p:cNvSpPr>
            <a:spLocks noGrp="1"/>
          </p:cNvSpPr>
          <p:nvPr>
            <p:ph sz="quarter" idx="11"/>
          </p:nvPr>
        </p:nvSpPr>
        <p:spPr>
          <a:xfrm>
            <a:off x="304800" y="1828800"/>
            <a:ext cx="8492762" cy="4337097"/>
          </a:xfrm>
        </p:spPr>
        <p:txBody>
          <a:bodyPr>
            <a:normAutofit fontScale="92500" lnSpcReduction="20000"/>
          </a:bodyPr>
          <a:lstStyle/>
          <a:p>
            <a:r>
              <a:rPr lang="en-AU" b="1" dirty="0">
                <a:solidFill>
                  <a:srgbClr val="0000FF"/>
                </a:solidFill>
              </a:rPr>
              <a:t>Golden rule of publishing: </a:t>
            </a:r>
            <a:r>
              <a:rPr lang="en-AU" dirty="0"/>
              <a:t>Good papers built on good research.</a:t>
            </a:r>
          </a:p>
          <a:p>
            <a:pPr lvl="1"/>
            <a:r>
              <a:rPr lang="en-AU" dirty="0"/>
              <a:t>You can contribute in either or both areas.</a:t>
            </a:r>
            <a:endParaRPr lang="en-US" dirty="0"/>
          </a:p>
          <a:p>
            <a:r>
              <a:rPr lang="en-US" dirty="0"/>
              <a:t>Most important involved in the research process warrant co-author recognition when done by someone else but not all of them!</a:t>
            </a:r>
          </a:p>
          <a:p>
            <a:pPr lvl="1"/>
            <a:r>
              <a:rPr lang="de-DE" dirty="0" err="1">
                <a:solidFill>
                  <a:srgbClr val="00B050"/>
                </a:solidFill>
              </a:rPr>
              <a:t>Developing</a:t>
            </a:r>
            <a:r>
              <a:rPr lang="de-DE" dirty="0">
                <a:solidFill>
                  <a:srgbClr val="00B050"/>
                </a:solidFill>
              </a:rPr>
              <a:t> an original </a:t>
            </a:r>
            <a:r>
              <a:rPr lang="de-DE" dirty="0" err="1">
                <a:solidFill>
                  <a:srgbClr val="00B050"/>
                </a:solidFill>
              </a:rPr>
              <a:t>idea</a:t>
            </a:r>
            <a:endParaRPr lang="de-DE" dirty="0">
              <a:solidFill>
                <a:srgbClr val="00B050"/>
              </a:solidFill>
            </a:endParaRPr>
          </a:p>
          <a:p>
            <a:pPr lvl="1"/>
            <a:r>
              <a:rPr lang="de-DE" dirty="0" err="1">
                <a:solidFill>
                  <a:srgbClr val="00B050"/>
                </a:solidFill>
              </a:rPr>
              <a:t>Designing</a:t>
            </a:r>
            <a:r>
              <a:rPr lang="de-DE" dirty="0">
                <a:solidFill>
                  <a:srgbClr val="00B050"/>
                </a:solidFill>
              </a:rPr>
              <a:t> a </a:t>
            </a:r>
            <a:r>
              <a:rPr lang="de-DE" dirty="0" err="1">
                <a:solidFill>
                  <a:srgbClr val="00B050"/>
                </a:solidFill>
              </a:rPr>
              <a:t>study</a:t>
            </a:r>
            <a:endParaRPr lang="de-DE" dirty="0">
              <a:solidFill>
                <a:srgbClr val="00B050"/>
              </a:solidFill>
            </a:endParaRPr>
          </a:p>
          <a:p>
            <a:pPr lvl="1"/>
            <a:r>
              <a:rPr lang="de-DE" dirty="0" err="1">
                <a:solidFill>
                  <a:srgbClr val="00B050"/>
                </a:solidFill>
              </a:rPr>
              <a:t>Organizing</a:t>
            </a:r>
            <a:r>
              <a:rPr lang="de-DE" dirty="0">
                <a:solidFill>
                  <a:srgbClr val="00B050"/>
                </a:solidFill>
              </a:rPr>
              <a:t> </a:t>
            </a:r>
            <a:r>
              <a:rPr lang="de-DE" dirty="0" err="1">
                <a:solidFill>
                  <a:srgbClr val="00B050"/>
                </a:solidFill>
              </a:rPr>
              <a:t>data</a:t>
            </a:r>
            <a:r>
              <a:rPr lang="de-DE" dirty="0">
                <a:solidFill>
                  <a:srgbClr val="00B050"/>
                </a:solidFill>
              </a:rPr>
              <a:t> </a:t>
            </a:r>
            <a:r>
              <a:rPr lang="de-DE" dirty="0" err="1">
                <a:solidFill>
                  <a:srgbClr val="00B050"/>
                </a:solidFill>
              </a:rPr>
              <a:t>collection</a:t>
            </a:r>
            <a:endParaRPr lang="de-DE" dirty="0">
              <a:solidFill>
                <a:srgbClr val="00B050"/>
              </a:solidFill>
            </a:endParaRPr>
          </a:p>
          <a:p>
            <a:pPr lvl="1"/>
            <a:r>
              <a:rPr lang="de-DE" dirty="0" err="1">
                <a:solidFill>
                  <a:srgbClr val="00B050"/>
                </a:solidFill>
              </a:rPr>
              <a:t>Collecting</a:t>
            </a:r>
            <a:r>
              <a:rPr lang="de-DE" dirty="0">
                <a:solidFill>
                  <a:srgbClr val="00B050"/>
                </a:solidFill>
              </a:rPr>
              <a:t> </a:t>
            </a:r>
            <a:r>
              <a:rPr lang="de-DE" dirty="0" err="1">
                <a:solidFill>
                  <a:srgbClr val="00B050"/>
                </a:solidFill>
              </a:rPr>
              <a:t>data</a:t>
            </a:r>
            <a:endParaRPr lang="de-DE" dirty="0">
              <a:solidFill>
                <a:srgbClr val="00B050"/>
              </a:solidFill>
            </a:endParaRPr>
          </a:p>
          <a:p>
            <a:pPr lvl="1"/>
            <a:r>
              <a:rPr lang="de-DE" dirty="0" err="1">
                <a:solidFill>
                  <a:srgbClr val="00B050"/>
                </a:solidFill>
              </a:rPr>
              <a:t>Analyzing</a:t>
            </a:r>
            <a:r>
              <a:rPr lang="de-DE" dirty="0">
                <a:solidFill>
                  <a:srgbClr val="00B050"/>
                </a:solidFill>
              </a:rPr>
              <a:t> </a:t>
            </a:r>
            <a:r>
              <a:rPr lang="de-DE" dirty="0" err="1">
                <a:solidFill>
                  <a:srgbClr val="00B050"/>
                </a:solidFill>
              </a:rPr>
              <a:t>data</a:t>
            </a:r>
            <a:endParaRPr lang="de-DE" dirty="0">
              <a:solidFill>
                <a:srgbClr val="00B050"/>
              </a:solidFill>
            </a:endParaRPr>
          </a:p>
          <a:p>
            <a:pPr lvl="1"/>
            <a:r>
              <a:rPr lang="en-US" dirty="0">
                <a:solidFill>
                  <a:srgbClr val="00B050"/>
                </a:solidFill>
              </a:rPr>
              <a:t>Writing and revising a paper</a:t>
            </a:r>
          </a:p>
          <a:p>
            <a:pPr lvl="1"/>
            <a:r>
              <a:rPr lang="en-US" dirty="0">
                <a:solidFill>
                  <a:srgbClr val="FF0000"/>
                </a:solidFill>
              </a:rPr>
              <a:t>Sponsoring/funding the project</a:t>
            </a:r>
          </a:p>
          <a:p>
            <a:pPr lvl="1"/>
            <a:r>
              <a:rPr lang="en-US" dirty="0">
                <a:solidFill>
                  <a:srgbClr val="FF0000"/>
                </a:solidFill>
              </a:rPr>
              <a:t>Managing the project</a:t>
            </a:r>
          </a:p>
          <a:p>
            <a:endParaRPr lang="en-US" dirty="0"/>
          </a:p>
          <a:p>
            <a:endParaRPr lang="en-US" dirty="0"/>
          </a:p>
        </p:txBody>
      </p:sp>
      <p:sp>
        <p:nvSpPr>
          <p:cNvPr id="140290" name="Title 2"/>
          <p:cNvSpPr>
            <a:spLocks noGrp="1"/>
          </p:cNvSpPr>
          <p:nvPr>
            <p:ph type="title"/>
          </p:nvPr>
        </p:nvSpPr>
        <p:spPr/>
        <p:txBody>
          <a:bodyPr/>
          <a:lstStyle/>
          <a:p>
            <a:r>
              <a:rPr lang="en-US" dirty="0"/>
              <a:t>Managing co-authorship</a:t>
            </a:r>
          </a:p>
        </p:txBody>
      </p:sp>
    </p:spTree>
    <p:extLst>
      <p:ext uri="{BB962C8B-B14F-4D97-AF65-F5344CB8AC3E}">
        <p14:creationId xmlns:p14="http://schemas.microsoft.com/office/powerpoint/2010/main" val="2387367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028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28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0289">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28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89">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0289">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0289">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0289">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0289">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0289">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028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89"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F89D01F-0EF6-49F3-868F-A7AD3E59EE5D}"/>
              </a:ext>
            </a:extLst>
          </p:cNvPr>
          <p:cNvSpPr>
            <a:spLocks noGrp="1"/>
          </p:cNvSpPr>
          <p:nvPr>
            <p:ph sz="quarter" idx="11"/>
          </p:nvPr>
        </p:nvSpPr>
        <p:spPr>
          <a:xfrm>
            <a:off x="381000" y="1682703"/>
            <a:ext cx="8492762" cy="4337097"/>
          </a:xfrm>
        </p:spPr>
        <p:txBody>
          <a:bodyPr>
            <a:noAutofit/>
          </a:bodyPr>
          <a:lstStyle/>
          <a:p>
            <a:r>
              <a:rPr lang="en-US" sz="1800" b="1" dirty="0">
                <a:solidFill>
                  <a:srgbClr val="0000FF"/>
                </a:solidFill>
              </a:rPr>
              <a:t>A co-author has…</a:t>
            </a:r>
          </a:p>
          <a:p>
            <a:pPr marL="1025385" lvl="1" indent="-609585">
              <a:buFont typeface="+mj-lt"/>
              <a:buAutoNum type="arabicPeriod"/>
            </a:pPr>
            <a:r>
              <a:rPr lang="en-US" sz="1600" dirty="0"/>
              <a:t>made substantial contributions to the </a:t>
            </a:r>
            <a:r>
              <a:rPr lang="en-US" sz="1600" dirty="0">
                <a:solidFill>
                  <a:srgbClr val="FF0000"/>
                </a:solidFill>
              </a:rPr>
              <a:t>conception or design </a:t>
            </a:r>
            <a:r>
              <a:rPr lang="en-US" sz="1600" dirty="0"/>
              <a:t>of the research or the </a:t>
            </a:r>
            <a:r>
              <a:rPr lang="en-US" sz="1600" dirty="0">
                <a:solidFill>
                  <a:srgbClr val="FF0000"/>
                </a:solidFill>
              </a:rPr>
              <a:t>acquisition, analysis</a:t>
            </a:r>
            <a:r>
              <a:rPr lang="en-US" sz="1600" dirty="0"/>
              <a:t>, or </a:t>
            </a:r>
            <a:r>
              <a:rPr lang="en-US" sz="1600" dirty="0">
                <a:solidFill>
                  <a:srgbClr val="FF0000"/>
                </a:solidFill>
              </a:rPr>
              <a:t>interpretation of data </a:t>
            </a:r>
            <a:r>
              <a:rPr lang="en-US" sz="1600" dirty="0"/>
              <a:t>for the research; and</a:t>
            </a:r>
          </a:p>
          <a:p>
            <a:pPr marL="1025385" lvl="1" indent="-609585">
              <a:buFont typeface="+mj-lt"/>
              <a:buAutoNum type="arabicPeriod"/>
            </a:pPr>
            <a:r>
              <a:rPr lang="en-US" sz="1600" dirty="0"/>
              <a:t>made substantial contributions to </a:t>
            </a:r>
            <a:r>
              <a:rPr lang="en-US" sz="1600" dirty="0">
                <a:solidFill>
                  <a:srgbClr val="FF0000"/>
                </a:solidFill>
              </a:rPr>
              <a:t>drafting </a:t>
            </a:r>
            <a:r>
              <a:rPr lang="en-US" sz="1600" dirty="0"/>
              <a:t>the publication or </a:t>
            </a:r>
            <a:r>
              <a:rPr lang="en-US" sz="1600" dirty="0">
                <a:solidFill>
                  <a:srgbClr val="FF0000"/>
                </a:solidFill>
              </a:rPr>
              <a:t>revising it critically </a:t>
            </a:r>
            <a:r>
              <a:rPr lang="en-US" sz="1600" dirty="0"/>
              <a:t>for important intellectual content; and</a:t>
            </a:r>
          </a:p>
          <a:p>
            <a:pPr marL="1025385" lvl="1" indent="-609585">
              <a:buFont typeface="+mj-lt"/>
              <a:buAutoNum type="arabicPeriod"/>
            </a:pPr>
            <a:r>
              <a:rPr lang="en-US" sz="1600" dirty="0"/>
              <a:t>given final approval of the version to be published; and</a:t>
            </a:r>
          </a:p>
          <a:p>
            <a:pPr marL="1025385" lvl="1" indent="-609585">
              <a:spcAft>
                <a:spcPts val="0"/>
              </a:spcAft>
              <a:buFont typeface="+mj-lt"/>
              <a:buAutoNum type="arabicPeriod"/>
            </a:pPr>
            <a:r>
              <a:rPr lang="en-US" sz="1600" dirty="0"/>
              <a:t>agreed to be accountable for all aspects of the work, including being accountable for the parts of the work he or she has done, being able to identify which co-authors are responsible for other parts of the work, and having integrity about the contributions of other co-authors.</a:t>
            </a:r>
          </a:p>
          <a:p>
            <a:pPr>
              <a:spcBef>
                <a:spcPts val="300"/>
              </a:spcBef>
              <a:spcAft>
                <a:spcPts val="0"/>
              </a:spcAft>
            </a:pPr>
            <a:r>
              <a:rPr lang="en-AU" sz="1800" b="1" dirty="0"/>
              <a:t>Authorship of a research output should </a:t>
            </a:r>
            <a:r>
              <a:rPr lang="en-AU" sz="1800" b="1" u="sng" dirty="0">
                <a:solidFill>
                  <a:srgbClr val="0000FF"/>
                </a:solidFill>
              </a:rPr>
              <a:t>not be claimed </a:t>
            </a:r>
            <a:r>
              <a:rPr lang="en-AU" sz="1800" b="1" dirty="0"/>
              <a:t>when</a:t>
            </a:r>
          </a:p>
          <a:p>
            <a:pPr marL="872989" lvl="1" indent="-457189">
              <a:buFont typeface="+mj-lt"/>
              <a:buAutoNum type="arabicPeriod"/>
            </a:pPr>
            <a:r>
              <a:rPr lang="en-AU" sz="1600" dirty="0"/>
              <a:t>participation rests solely in the acquisition of funding or the collection of data.</a:t>
            </a:r>
          </a:p>
          <a:p>
            <a:pPr marL="872989" lvl="1" indent="-457189">
              <a:buFont typeface="+mj-lt"/>
              <a:buAutoNum type="arabicPeriod"/>
            </a:pPr>
            <a:r>
              <a:rPr lang="en-AU" sz="1600" dirty="0"/>
              <a:t>General supervision of the research group does not justify authorship.</a:t>
            </a:r>
          </a:p>
          <a:p>
            <a:pPr>
              <a:spcBef>
                <a:spcPts val="300"/>
              </a:spcBef>
              <a:spcAft>
                <a:spcPts val="0"/>
              </a:spcAft>
            </a:pPr>
            <a:r>
              <a:rPr lang="en-US" sz="1800" b="1" dirty="0">
                <a:solidFill>
                  <a:srgbClr val="FF0000"/>
                </a:solidFill>
              </a:rPr>
              <a:t>These are my criteria; they may or may not be yours</a:t>
            </a:r>
            <a:r>
              <a:rPr lang="en-US" sz="1800" dirty="0"/>
              <a:t>. Rules change by country, institution, and sometimes persons.</a:t>
            </a:r>
          </a:p>
          <a:p>
            <a:r>
              <a:rPr lang="en-US" sz="1800" dirty="0"/>
              <a:t>E.g., the DFG (“Deutsche </a:t>
            </a:r>
            <a:r>
              <a:rPr lang="en-US" sz="1800" dirty="0" err="1"/>
              <a:t>Forschungsgemeinschaft</a:t>
            </a:r>
            <a:r>
              <a:rPr lang="en-US" sz="1800" dirty="0"/>
              <a:t>”) demands “participation in” rather then “contribution to” the points above.</a:t>
            </a:r>
            <a:endParaRPr lang="de-DE" sz="1800" dirty="0"/>
          </a:p>
        </p:txBody>
      </p:sp>
      <p:sp>
        <p:nvSpPr>
          <p:cNvPr id="2" name="Title 1">
            <a:extLst>
              <a:ext uri="{FF2B5EF4-FFF2-40B4-BE49-F238E27FC236}">
                <a16:creationId xmlns:a16="http://schemas.microsoft.com/office/drawing/2014/main" id="{1A872D31-0118-4D40-9C47-735917CCB9DF}"/>
              </a:ext>
            </a:extLst>
          </p:cNvPr>
          <p:cNvSpPr>
            <a:spLocks noGrp="1"/>
          </p:cNvSpPr>
          <p:nvPr>
            <p:ph type="title"/>
          </p:nvPr>
        </p:nvSpPr>
        <p:spPr/>
        <p:txBody>
          <a:bodyPr/>
          <a:lstStyle/>
          <a:p>
            <a:r>
              <a:rPr lang="de-DE" dirty="0" err="1"/>
              <a:t>My</a:t>
            </a:r>
            <a:r>
              <a:rPr lang="de-DE" dirty="0"/>
              <a:t> </a:t>
            </a:r>
            <a:r>
              <a:rPr lang="de-DE" dirty="0" err="1"/>
              <a:t>decision</a:t>
            </a:r>
            <a:r>
              <a:rPr lang="de-DE" dirty="0"/>
              <a:t> </a:t>
            </a:r>
            <a:r>
              <a:rPr lang="de-DE" dirty="0" err="1"/>
              <a:t>rules</a:t>
            </a:r>
            <a:endParaRPr lang="de-DE" dirty="0"/>
          </a:p>
        </p:txBody>
      </p:sp>
    </p:spTree>
    <p:extLst>
      <p:ext uri="{BB962C8B-B14F-4D97-AF65-F5344CB8AC3E}">
        <p14:creationId xmlns:p14="http://schemas.microsoft.com/office/powerpoint/2010/main" val="69448641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1"/>
          </p:nvPr>
        </p:nvSpPr>
        <p:spPr>
          <a:xfrm>
            <a:off x="438621" y="1761928"/>
            <a:ext cx="8492762" cy="4337097"/>
          </a:xfrm>
        </p:spPr>
        <p:txBody>
          <a:bodyPr/>
          <a:lstStyle/>
          <a:p>
            <a:r>
              <a:rPr lang="en-US" sz="1800" dirty="0"/>
              <a:t>Professor Smith, the head of the lab, is publishing a paper on the structure of chitin.</a:t>
            </a:r>
          </a:p>
          <a:p>
            <a:r>
              <a:rPr lang="en-US" sz="1800" dirty="0"/>
              <a:t>Professor Smith’s lab collaborated with a high profile lab group in Sweden that had already engineered and published the correct gene construct to express chitin in vitro, and who sent some of their materials to help Professor Smith’s team.</a:t>
            </a:r>
          </a:p>
          <a:p>
            <a:r>
              <a:rPr lang="en-US" sz="1800" dirty="0"/>
              <a:t>Professor Smith’s post‐doc, Mary, did the majority of the lab work, staying late and working long hours to get the necessary data. A final year PhD student, Jiang, and a technician, Oliver, both helped Mary do some of the technical work.</a:t>
            </a:r>
          </a:p>
          <a:p>
            <a:r>
              <a:rPr lang="en-US" sz="1800" dirty="0"/>
              <a:t>Professor Smith did not write any of the paper, but reviewed and edited Mary’s drafts that she sent to him. He is writing the cover letter and submitting the paper to Nature.</a:t>
            </a:r>
          </a:p>
          <a:p>
            <a:r>
              <a:rPr lang="en-US" sz="1800" dirty="0"/>
              <a:t>Mary wrote the bulk of the paper but for the Introduction she used paragraphs of text directly from Jiang’s </a:t>
            </a:r>
            <a:r>
              <a:rPr lang="en-US" sz="1800" dirty="0" err="1"/>
              <a:t>unsubmitted</a:t>
            </a:r>
            <a:r>
              <a:rPr lang="en-US" sz="1800" dirty="0"/>
              <a:t>, draft thesis.</a:t>
            </a:r>
          </a:p>
        </p:txBody>
      </p:sp>
      <p:sp>
        <p:nvSpPr>
          <p:cNvPr id="3" name="Title 2"/>
          <p:cNvSpPr>
            <a:spLocks noGrp="1"/>
          </p:cNvSpPr>
          <p:nvPr>
            <p:ph type="title"/>
          </p:nvPr>
        </p:nvSpPr>
        <p:spPr/>
        <p:txBody>
          <a:bodyPr/>
          <a:lstStyle/>
          <a:p>
            <a:r>
              <a:rPr lang="en-US" dirty="0"/>
              <a:t>Exercise: Recognizing co-authorship</a:t>
            </a:r>
          </a:p>
        </p:txBody>
      </p:sp>
      <p:sp>
        <p:nvSpPr>
          <p:cNvPr id="7" name="Rectangle 6"/>
          <p:cNvSpPr/>
          <p:nvPr/>
        </p:nvSpPr>
        <p:spPr>
          <a:xfrm>
            <a:off x="2163258" y="5909443"/>
            <a:ext cx="5043488" cy="369332"/>
          </a:xfrm>
          <a:prstGeom prst="rect">
            <a:avLst/>
          </a:prstGeom>
        </p:spPr>
        <p:txBody>
          <a:bodyPr wrap="square">
            <a:spAutoFit/>
          </a:bodyPr>
          <a:lstStyle/>
          <a:p>
            <a:pPr algn="ctr"/>
            <a:r>
              <a:rPr lang="en-US" b="1" dirty="0"/>
              <a:t>Who should be listed as a co-author?</a:t>
            </a:r>
            <a:endParaRPr lang="en-AU" dirty="0"/>
          </a:p>
        </p:txBody>
      </p:sp>
    </p:spTree>
    <p:extLst>
      <p:ext uri="{BB962C8B-B14F-4D97-AF65-F5344CB8AC3E}">
        <p14:creationId xmlns:p14="http://schemas.microsoft.com/office/powerpoint/2010/main" val="975920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1"/>
          </p:nvPr>
        </p:nvSpPr>
        <p:spPr/>
        <p:txBody>
          <a:bodyPr>
            <a:normAutofit fontScale="85000" lnSpcReduction="10000"/>
          </a:bodyPr>
          <a:lstStyle/>
          <a:p>
            <a:r>
              <a:rPr lang="en-US" dirty="0"/>
              <a:t>The order of authors is entirely up to the authors.</a:t>
            </a:r>
          </a:p>
          <a:p>
            <a:r>
              <a:rPr lang="en-US" dirty="0"/>
              <a:t>Typical practices when it comes to putting the authors’ names on the paper…</a:t>
            </a:r>
          </a:p>
          <a:p>
            <a:pPr lvl="1"/>
            <a:r>
              <a:rPr lang="en-US" sz="2400" dirty="0"/>
              <a:t>Most often, the first authors are the ones who did most of the work, with the authors listed in descending order of contributions</a:t>
            </a:r>
          </a:p>
          <a:p>
            <a:pPr lvl="1"/>
            <a:r>
              <a:rPr lang="en-US" sz="2400" dirty="0"/>
              <a:t>Some put principal investigators at the end of the list</a:t>
            </a:r>
          </a:p>
          <a:p>
            <a:pPr lvl="1"/>
            <a:r>
              <a:rPr lang="en-US" sz="2400" dirty="0"/>
              <a:t>Some groups do it alphabetically</a:t>
            </a:r>
          </a:p>
          <a:p>
            <a:pPr lvl="1">
              <a:lnSpc>
                <a:spcPct val="90000"/>
              </a:lnSpc>
            </a:pPr>
            <a:r>
              <a:rPr lang="en-US" sz="2400" dirty="0"/>
              <a:t>In some scientific fields the most highly credited author is the one whose name appears [first/last].</a:t>
            </a:r>
          </a:p>
          <a:p>
            <a:pPr lvl="1">
              <a:lnSpc>
                <a:spcPct val="90000"/>
              </a:lnSpc>
            </a:pPr>
            <a:r>
              <a:rPr lang="en-US" sz="2400" dirty="0"/>
              <a:t>Social scientists tend to place the authors’ names in alphabetical order regardless of the amount of effort that was contributed.</a:t>
            </a:r>
          </a:p>
          <a:p>
            <a:pPr lvl="1"/>
            <a:r>
              <a:rPr lang="en-US" sz="2400" dirty="0"/>
              <a:t>Some journals allow annotations identifying one or two authors who did the majority of the work (this can be important for PhD thesis defenses or for job applications)</a:t>
            </a:r>
            <a:endParaRPr lang="en-AU" sz="2400" dirty="0"/>
          </a:p>
        </p:txBody>
      </p:sp>
      <p:sp>
        <p:nvSpPr>
          <p:cNvPr id="142338" name="Title 2"/>
          <p:cNvSpPr>
            <a:spLocks noGrp="1"/>
          </p:cNvSpPr>
          <p:nvPr>
            <p:ph type="title"/>
          </p:nvPr>
        </p:nvSpPr>
        <p:spPr/>
        <p:txBody>
          <a:bodyPr>
            <a:normAutofit fontScale="90000"/>
          </a:bodyPr>
          <a:lstStyle/>
          <a:p>
            <a:r>
              <a:rPr lang="en-US" dirty="0"/>
              <a:t>Authorship credit: what is the order of authors?</a:t>
            </a:r>
          </a:p>
        </p:txBody>
      </p:sp>
    </p:spTree>
    <p:extLst>
      <p:ext uri="{BB962C8B-B14F-4D97-AF65-F5344CB8AC3E}">
        <p14:creationId xmlns:p14="http://schemas.microsoft.com/office/powerpoint/2010/main" val="170149511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3475717-D0F4-4E2C-95F6-7827205D44D0}"/>
              </a:ext>
            </a:extLst>
          </p:cNvPr>
          <p:cNvSpPr>
            <a:spLocks noGrp="1"/>
          </p:cNvSpPr>
          <p:nvPr>
            <p:ph sz="quarter" idx="11"/>
          </p:nvPr>
        </p:nvSpPr>
        <p:spPr/>
        <p:txBody>
          <a:bodyPr>
            <a:normAutofit lnSpcReduction="10000"/>
          </a:bodyPr>
          <a:lstStyle/>
          <a:p>
            <a:r>
              <a:rPr lang="en-US" sz="2133" dirty="0"/>
              <a:t>Credit (Contributor Roles Taxonomy) </a:t>
            </a:r>
          </a:p>
          <a:p>
            <a:r>
              <a:rPr lang="en-US" sz="2133" dirty="0"/>
              <a:t>A system introduced with the intention of recognizing individual author contributions, reducing authorship disputes and facilitating collaboration.</a:t>
            </a:r>
          </a:p>
          <a:p>
            <a:r>
              <a:rPr lang="en-US" sz="2133" dirty="0"/>
              <a:t>Defines a set of roles that individuals can occupy in a research process</a:t>
            </a:r>
          </a:p>
          <a:p>
            <a:r>
              <a:rPr lang="en-US" sz="2133" dirty="0"/>
              <a:t>Credit statements can be included in submissions or in final papers</a:t>
            </a:r>
          </a:p>
          <a:p>
            <a:r>
              <a:rPr lang="en-US" sz="2133" dirty="0"/>
              <a:t>Example Credit statement</a:t>
            </a:r>
          </a:p>
          <a:p>
            <a:pPr lvl="1"/>
            <a:r>
              <a:rPr lang="de-DE" sz="1867" dirty="0"/>
              <a:t>Zhang San: </a:t>
            </a:r>
            <a:r>
              <a:rPr lang="de-DE" sz="1867" dirty="0" err="1"/>
              <a:t>Conceptualization</a:t>
            </a:r>
            <a:r>
              <a:rPr lang="de-DE" sz="1867" dirty="0"/>
              <a:t>, </a:t>
            </a:r>
            <a:r>
              <a:rPr lang="de-DE" sz="1867" dirty="0" err="1"/>
              <a:t>Methodology</a:t>
            </a:r>
            <a:r>
              <a:rPr lang="de-DE" sz="1867" dirty="0"/>
              <a:t>, Software </a:t>
            </a:r>
            <a:r>
              <a:rPr lang="de-DE" sz="1867" dirty="0" err="1"/>
              <a:t>Priya</a:t>
            </a:r>
            <a:r>
              <a:rPr lang="de-DE" sz="1867" dirty="0"/>
              <a:t> Singh.: Data </a:t>
            </a:r>
            <a:r>
              <a:rPr lang="de-DE" sz="1867" dirty="0" err="1"/>
              <a:t>curation</a:t>
            </a:r>
            <a:r>
              <a:rPr lang="de-DE" sz="1867" dirty="0"/>
              <a:t>, Writing- Original draft </a:t>
            </a:r>
            <a:r>
              <a:rPr lang="de-DE" sz="1867" dirty="0" err="1"/>
              <a:t>preparation</a:t>
            </a:r>
            <a:r>
              <a:rPr lang="de-DE" sz="1867" dirty="0"/>
              <a:t>. Wang Wu: </a:t>
            </a:r>
            <a:r>
              <a:rPr lang="de-DE" sz="1867" dirty="0" err="1"/>
              <a:t>Visualization</a:t>
            </a:r>
            <a:r>
              <a:rPr lang="de-DE" sz="1867" dirty="0"/>
              <a:t>, Investigation. Jan Jansen: Supervision.: </a:t>
            </a:r>
            <a:r>
              <a:rPr lang="de-DE" sz="1867" dirty="0" err="1"/>
              <a:t>Ajay</a:t>
            </a:r>
            <a:r>
              <a:rPr lang="de-DE" sz="1867" dirty="0"/>
              <a:t> Kumar: Software, Validation.: Sun Qi: Writing- </a:t>
            </a:r>
            <a:r>
              <a:rPr lang="de-DE" sz="1867" dirty="0" err="1"/>
              <a:t>Reviewing</a:t>
            </a:r>
            <a:r>
              <a:rPr lang="de-DE" sz="1867" dirty="0"/>
              <a:t> and </a:t>
            </a:r>
            <a:r>
              <a:rPr lang="de-DE" sz="1867" dirty="0" err="1"/>
              <a:t>Editing</a:t>
            </a:r>
            <a:r>
              <a:rPr lang="de-DE" sz="1867" dirty="0"/>
              <a:t>.</a:t>
            </a:r>
          </a:p>
        </p:txBody>
      </p:sp>
      <p:sp>
        <p:nvSpPr>
          <p:cNvPr id="2" name="Title 1">
            <a:extLst>
              <a:ext uri="{FF2B5EF4-FFF2-40B4-BE49-F238E27FC236}">
                <a16:creationId xmlns:a16="http://schemas.microsoft.com/office/drawing/2014/main" id="{06659F65-FAAC-4F4A-B5E2-0B7D07029B69}"/>
              </a:ext>
            </a:extLst>
          </p:cNvPr>
          <p:cNvSpPr>
            <a:spLocks noGrp="1"/>
          </p:cNvSpPr>
          <p:nvPr>
            <p:ph type="title"/>
          </p:nvPr>
        </p:nvSpPr>
        <p:spPr/>
        <p:txBody>
          <a:bodyPr>
            <a:normAutofit fontScale="90000"/>
          </a:bodyPr>
          <a:lstStyle/>
          <a:p>
            <a:r>
              <a:rPr lang="de-DE" dirty="0"/>
              <a:t>A formal way of handling co-author recognition: Credit</a:t>
            </a:r>
          </a:p>
        </p:txBody>
      </p:sp>
    </p:spTree>
    <p:extLst>
      <p:ext uri="{BB962C8B-B14F-4D97-AF65-F5344CB8AC3E}">
        <p14:creationId xmlns:p14="http://schemas.microsoft.com/office/powerpoint/2010/main" val="305603681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E9EEAEE6-FBB7-41E9-A2B6-152FA632C33B}"/>
              </a:ext>
            </a:extLst>
          </p:cNvPr>
          <p:cNvSpPr>
            <a:spLocks noGrp="1"/>
          </p:cNvSpPr>
          <p:nvPr>
            <p:ph sz="quarter" idx="11"/>
          </p:nvPr>
        </p:nvSpPr>
        <p:spPr/>
        <p:txBody>
          <a:bodyPr/>
          <a:lstStyle/>
          <a:p>
            <a:endParaRPr lang="de-DE"/>
          </a:p>
        </p:txBody>
      </p:sp>
      <p:sp>
        <p:nvSpPr>
          <p:cNvPr id="2" name="Title 1">
            <a:extLst>
              <a:ext uri="{FF2B5EF4-FFF2-40B4-BE49-F238E27FC236}">
                <a16:creationId xmlns:a16="http://schemas.microsoft.com/office/drawing/2014/main" id="{06659F65-FAAC-4F4A-B5E2-0B7D07029B69}"/>
              </a:ext>
            </a:extLst>
          </p:cNvPr>
          <p:cNvSpPr>
            <a:spLocks noGrp="1"/>
          </p:cNvSpPr>
          <p:nvPr>
            <p:ph type="title"/>
          </p:nvPr>
        </p:nvSpPr>
        <p:spPr/>
        <p:txBody>
          <a:bodyPr/>
          <a:lstStyle/>
          <a:p>
            <a:r>
              <a:rPr lang="de-DE" dirty="0"/>
              <a:t>Credit Roles</a:t>
            </a:r>
          </a:p>
        </p:txBody>
      </p:sp>
      <p:graphicFrame>
        <p:nvGraphicFramePr>
          <p:cNvPr id="9" name="Table 9">
            <a:extLst>
              <a:ext uri="{FF2B5EF4-FFF2-40B4-BE49-F238E27FC236}">
                <a16:creationId xmlns:a16="http://schemas.microsoft.com/office/drawing/2014/main" id="{3CD4552A-2BB8-4044-B863-51435DA5DF21}"/>
              </a:ext>
            </a:extLst>
          </p:cNvPr>
          <p:cNvGraphicFramePr>
            <a:graphicFrameLocks noGrp="1"/>
          </p:cNvGraphicFramePr>
          <p:nvPr>
            <p:extLst>
              <p:ext uri="{D42A27DB-BD31-4B8C-83A1-F6EECF244321}">
                <p14:modId xmlns:p14="http://schemas.microsoft.com/office/powerpoint/2010/main" val="2239406885"/>
              </p:ext>
            </p:extLst>
          </p:nvPr>
        </p:nvGraphicFramePr>
        <p:xfrm>
          <a:off x="152400" y="1188720"/>
          <a:ext cx="8893736" cy="5516880"/>
        </p:xfrm>
        <a:graphic>
          <a:graphicData uri="http://schemas.openxmlformats.org/drawingml/2006/table">
            <a:tbl>
              <a:tblPr firstRow="1" bandRow="1">
                <a:tableStyleId>{5C22544A-7EE6-4342-B048-85BDC9FD1C3A}</a:tableStyleId>
              </a:tblPr>
              <a:tblGrid>
                <a:gridCol w="1600514">
                  <a:extLst>
                    <a:ext uri="{9D8B030D-6E8A-4147-A177-3AD203B41FA5}">
                      <a16:colId xmlns:a16="http://schemas.microsoft.com/office/drawing/2014/main" val="2137473385"/>
                    </a:ext>
                  </a:extLst>
                </a:gridCol>
                <a:gridCol w="7293222">
                  <a:extLst>
                    <a:ext uri="{9D8B030D-6E8A-4147-A177-3AD203B41FA5}">
                      <a16:colId xmlns:a16="http://schemas.microsoft.com/office/drawing/2014/main" val="1642263021"/>
                    </a:ext>
                  </a:extLst>
                </a:gridCol>
              </a:tblGrid>
              <a:tr h="284480">
                <a:tc>
                  <a:txBody>
                    <a:bodyPr/>
                    <a:lstStyle/>
                    <a:p>
                      <a:r>
                        <a:rPr lang="de-DE" sz="1100" dirty="0"/>
                        <a:t>Term</a:t>
                      </a:r>
                    </a:p>
                  </a:txBody>
                  <a:tcPr marT="60960" marB="60960" anchor="ctr"/>
                </a:tc>
                <a:tc>
                  <a:txBody>
                    <a:bodyPr/>
                    <a:lstStyle/>
                    <a:p>
                      <a:r>
                        <a:rPr lang="de-DE" sz="1100"/>
                        <a:t>Definition</a:t>
                      </a:r>
                    </a:p>
                  </a:txBody>
                  <a:tcPr marT="60960" marB="60960" anchor="ctr"/>
                </a:tc>
                <a:extLst>
                  <a:ext uri="{0D108BD9-81ED-4DB2-BD59-A6C34878D82A}">
                    <a16:rowId xmlns:a16="http://schemas.microsoft.com/office/drawing/2014/main" val="3551030952"/>
                  </a:ext>
                </a:extLst>
              </a:tr>
              <a:tr h="284480">
                <a:tc>
                  <a:txBody>
                    <a:bodyPr/>
                    <a:lstStyle/>
                    <a:p>
                      <a:r>
                        <a:rPr lang="de-DE" sz="1100"/>
                        <a:t>Conceptualization </a:t>
                      </a:r>
                    </a:p>
                  </a:txBody>
                  <a:tcPr marT="60960" marB="60960" anchor="ctr"/>
                </a:tc>
                <a:tc>
                  <a:txBody>
                    <a:bodyPr/>
                    <a:lstStyle/>
                    <a:p>
                      <a:r>
                        <a:rPr lang="en-US" sz="1100"/>
                        <a:t>Ideas; formulation or evolution of overarching research goals and aims </a:t>
                      </a:r>
                    </a:p>
                  </a:txBody>
                  <a:tcPr marT="60960" marB="60960" anchor="ctr"/>
                </a:tc>
                <a:extLst>
                  <a:ext uri="{0D108BD9-81ED-4DB2-BD59-A6C34878D82A}">
                    <a16:rowId xmlns:a16="http://schemas.microsoft.com/office/drawing/2014/main" val="801427992"/>
                  </a:ext>
                </a:extLst>
              </a:tr>
              <a:tr h="284480">
                <a:tc>
                  <a:txBody>
                    <a:bodyPr/>
                    <a:lstStyle/>
                    <a:p>
                      <a:r>
                        <a:rPr lang="de-DE" sz="1100"/>
                        <a:t>Methodology </a:t>
                      </a:r>
                    </a:p>
                  </a:txBody>
                  <a:tcPr marT="60960" marB="60960" anchor="ctr"/>
                </a:tc>
                <a:tc>
                  <a:txBody>
                    <a:bodyPr/>
                    <a:lstStyle/>
                    <a:p>
                      <a:r>
                        <a:rPr lang="en-US" sz="1100"/>
                        <a:t>Development or design of methodology; creation of models </a:t>
                      </a:r>
                    </a:p>
                  </a:txBody>
                  <a:tcPr marT="60960" marB="60960" anchor="ctr"/>
                </a:tc>
                <a:extLst>
                  <a:ext uri="{0D108BD9-81ED-4DB2-BD59-A6C34878D82A}">
                    <a16:rowId xmlns:a16="http://schemas.microsoft.com/office/drawing/2014/main" val="2165979490"/>
                  </a:ext>
                </a:extLst>
              </a:tr>
              <a:tr h="338372">
                <a:tc>
                  <a:txBody>
                    <a:bodyPr/>
                    <a:lstStyle/>
                    <a:p>
                      <a:r>
                        <a:rPr lang="de-DE" sz="1100"/>
                        <a:t>Software </a:t>
                      </a:r>
                    </a:p>
                  </a:txBody>
                  <a:tcPr marT="60960" marB="60960" anchor="ctr"/>
                </a:tc>
                <a:tc>
                  <a:txBody>
                    <a:bodyPr/>
                    <a:lstStyle/>
                    <a:p>
                      <a:r>
                        <a:rPr lang="en-US" sz="1100" dirty="0"/>
                        <a:t>Programming, software development; designing computer programs; implementation of the computer code and supporting algorithms; testing of existing code</a:t>
                      </a:r>
                    </a:p>
                  </a:txBody>
                  <a:tcPr marT="60960" marB="60960" anchor="ctr"/>
                </a:tc>
                <a:extLst>
                  <a:ext uri="{0D108BD9-81ED-4DB2-BD59-A6C34878D82A}">
                    <a16:rowId xmlns:a16="http://schemas.microsoft.com/office/drawing/2014/main" val="1845366003"/>
                  </a:ext>
                </a:extLst>
              </a:tr>
              <a:tr h="284480">
                <a:tc>
                  <a:txBody>
                    <a:bodyPr/>
                    <a:lstStyle/>
                    <a:p>
                      <a:r>
                        <a:rPr lang="de-DE" sz="1100"/>
                        <a:t>Validation </a:t>
                      </a:r>
                    </a:p>
                  </a:txBody>
                  <a:tcPr marT="60960" marB="60960" anchor="ctr"/>
                </a:tc>
                <a:tc>
                  <a:txBody>
                    <a:bodyPr/>
                    <a:lstStyle/>
                    <a:p>
                      <a:r>
                        <a:rPr lang="en-US" sz="1100"/>
                        <a:t>Verification, whether as a part of the activity or separate, of the overall replication/ reproducibility of results/experiments and other research outputs </a:t>
                      </a:r>
                    </a:p>
                  </a:txBody>
                  <a:tcPr marT="60960" marB="60960" anchor="ctr"/>
                </a:tc>
                <a:extLst>
                  <a:ext uri="{0D108BD9-81ED-4DB2-BD59-A6C34878D82A}">
                    <a16:rowId xmlns:a16="http://schemas.microsoft.com/office/drawing/2014/main" val="1166813117"/>
                  </a:ext>
                </a:extLst>
              </a:tr>
              <a:tr h="284480">
                <a:tc>
                  <a:txBody>
                    <a:bodyPr/>
                    <a:lstStyle/>
                    <a:p>
                      <a:r>
                        <a:rPr lang="de-DE" sz="1100"/>
                        <a:t>Formal analysis </a:t>
                      </a:r>
                    </a:p>
                  </a:txBody>
                  <a:tcPr marT="60960" marB="60960" anchor="ctr"/>
                </a:tc>
                <a:tc>
                  <a:txBody>
                    <a:bodyPr/>
                    <a:lstStyle/>
                    <a:p>
                      <a:r>
                        <a:rPr lang="en-US" sz="1100"/>
                        <a:t>Application of statistical, mathematical, computational, or other formal techniques to analyze or synthesize study data </a:t>
                      </a:r>
                    </a:p>
                  </a:txBody>
                  <a:tcPr marT="60960" marB="60960" anchor="ctr"/>
                </a:tc>
                <a:extLst>
                  <a:ext uri="{0D108BD9-81ED-4DB2-BD59-A6C34878D82A}">
                    <a16:rowId xmlns:a16="http://schemas.microsoft.com/office/drawing/2014/main" val="3231210184"/>
                  </a:ext>
                </a:extLst>
              </a:tr>
              <a:tr h="284480">
                <a:tc>
                  <a:txBody>
                    <a:bodyPr/>
                    <a:lstStyle/>
                    <a:p>
                      <a:r>
                        <a:rPr lang="de-DE" sz="1100"/>
                        <a:t>Investigation </a:t>
                      </a:r>
                    </a:p>
                  </a:txBody>
                  <a:tcPr marT="60960" marB="60960" anchor="ctr"/>
                </a:tc>
                <a:tc>
                  <a:txBody>
                    <a:bodyPr/>
                    <a:lstStyle/>
                    <a:p>
                      <a:r>
                        <a:rPr lang="en-US" sz="1100"/>
                        <a:t>Conducting a research and investigation process, specifically performing the experiments, or data/evidence collection </a:t>
                      </a:r>
                    </a:p>
                  </a:txBody>
                  <a:tcPr marT="60960" marB="60960" anchor="ctr"/>
                </a:tc>
                <a:extLst>
                  <a:ext uri="{0D108BD9-81ED-4DB2-BD59-A6C34878D82A}">
                    <a16:rowId xmlns:a16="http://schemas.microsoft.com/office/drawing/2014/main" val="4259120881"/>
                  </a:ext>
                </a:extLst>
              </a:tr>
              <a:tr h="284480">
                <a:tc>
                  <a:txBody>
                    <a:bodyPr/>
                    <a:lstStyle/>
                    <a:p>
                      <a:r>
                        <a:rPr lang="de-DE" sz="1100"/>
                        <a:t>Resources </a:t>
                      </a:r>
                    </a:p>
                  </a:txBody>
                  <a:tcPr marT="60960" marB="60960" anchor="ctr"/>
                </a:tc>
                <a:tc>
                  <a:txBody>
                    <a:bodyPr/>
                    <a:lstStyle/>
                    <a:p>
                      <a:r>
                        <a:rPr lang="en-US" sz="1100" dirty="0"/>
                        <a:t>Provision of study materials, reagents, materials, patients, laboratory samples, animals, instrumentation, computing resources, or other analysis tools </a:t>
                      </a:r>
                    </a:p>
                  </a:txBody>
                  <a:tcPr marT="60960" marB="60960" anchor="ctr"/>
                </a:tc>
                <a:extLst>
                  <a:ext uri="{0D108BD9-81ED-4DB2-BD59-A6C34878D82A}">
                    <a16:rowId xmlns:a16="http://schemas.microsoft.com/office/drawing/2014/main" val="3134988198"/>
                  </a:ext>
                </a:extLst>
              </a:tr>
              <a:tr h="447040">
                <a:tc>
                  <a:txBody>
                    <a:bodyPr/>
                    <a:lstStyle/>
                    <a:p>
                      <a:r>
                        <a:rPr lang="de-DE" sz="1100"/>
                        <a:t>Data Curation </a:t>
                      </a:r>
                    </a:p>
                  </a:txBody>
                  <a:tcPr marT="60960" marB="60960" anchor="ctr"/>
                </a:tc>
                <a:tc>
                  <a:txBody>
                    <a:bodyPr/>
                    <a:lstStyle/>
                    <a:p>
                      <a:r>
                        <a:rPr lang="en-US" sz="1100"/>
                        <a:t>Management activities to annotate (produce metadata), scrub data and maintain research data (including software code, where it is necessary for interpreting the data itself) for initial use and later reuse </a:t>
                      </a:r>
                    </a:p>
                  </a:txBody>
                  <a:tcPr marT="60960" marB="60960" anchor="ctr"/>
                </a:tc>
                <a:extLst>
                  <a:ext uri="{0D108BD9-81ED-4DB2-BD59-A6C34878D82A}">
                    <a16:rowId xmlns:a16="http://schemas.microsoft.com/office/drawing/2014/main" val="432131500"/>
                  </a:ext>
                </a:extLst>
              </a:tr>
              <a:tr h="284480">
                <a:tc>
                  <a:txBody>
                    <a:bodyPr/>
                    <a:lstStyle/>
                    <a:p>
                      <a:r>
                        <a:rPr lang="de-DE" sz="1100"/>
                        <a:t>Writing - Original Draft </a:t>
                      </a:r>
                    </a:p>
                  </a:txBody>
                  <a:tcPr marT="60960" marB="60960" anchor="ctr"/>
                </a:tc>
                <a:tc>
                  <a:txBody>
                    <a:bodyPr/>
                    <a:lstStyle/>
                    <a:p>
                      <a:r>
                        <a:rPr lang="en-US" sz="1100"/>
                        <a:t>Preparation, creation and/or presentation of the published work, specifically writing the initial draft (including substantive translation) </a:t>
                      </a:r>
                    </a:p>
                  </a:txBody>
                  <a:tcPr marT="60960" marB="60960" anchor="ctr"/>
                </a:tc>
                <a:extLst>
                  <a:ext uri="{0D108BD9-81ED-4DB2-BD59-A6C34878D82A}">
                    <a16:rowId xmlns:a16="http://schemas.microsoft.com/office/drawing/2014/main" val="1635270593"/>
                  </a:ext>
                </a:extLst>
              </a:tr>
              <a:tr h="447040">
                <a:tc>
                  <a:txBody>
                    <a:bodyPr/>
                    <a:lstStyle/>
                    <a:p>
                      <a:r>
                        <a:rPr lang="de-DE" sz="1100"/>
                        <a:t>Writing - Review &amp; Editing </a:t>
                      </a:r>
                    </a:p>
                  </a:txBody>
                  <a:tcPr marT="60960" marB="60960" anchor="ctr"/>
                </a:tc>
                <a:tc>
                  <a:txBody>
                    <a:bodyPr/>
                    <a:lstStyle/>
                    <a:p>
                      <a:r>
                        <a:rPr lang="en-US" sz="1100"/>
                        <a:t>Preparation, creation and/or presentation of the published work by those from the original research group, specifically critical review, commentary or revision – including pre-or postpublication stages </a:t>
                      </a:r>
                    </a:p>
                  </a:txBody>
                  <a:tcPr marT="60960" marB="60960" anchor="ctr"/>
                </a:tc>
                <a:extLst>
                  <a:ext uri="{0D108BD9-81ED-4DB2-BD59-A6C34878D82A}">
                    <a16:rowId xmlns:a16="http://schemas.microsoft.com/office/drawing/2014/main" val="312741296"/>
                  </a:ext>
                </a:extLst>
              </a:tr>
              <a:tr h="284480">
                <a:tc>
                  <a:txBody>
                    <a:bodyPr/>
                    <a:lstStyle/>
                    <a:p>
                      <a:r>
                        <a:rPr lang="de-DE" sz="1100"/>
                        <a:t>Visualization </a:t>
                      </a:r>
                    </a:p>
                  </a:txBody>
                  <a:tcPr marT="60960" marB="60960" anchor="ctr"/>
                </a:tc>
                <a:tc>
                  <a:txBody>
                    <a:bodyPr/>
                    <a:lstStyle/>
                    <a:p>
                      <a:r>
                        <a:rPr lang="en-US" sz="1100"/>
                        <a:t>Preparation, creation and/or presentation of the published work, specifically visualization/ data presentation </a:t>
                      </a:r>
                    </a:p>
                  </a:txBody>
                  <a:tcPr marT="60960" marB="60960" anchor="ctr"/>
                </a:tc>
                <a:extLst>
                  <a:ext uri="{0D108BD9-81ED-4DB2-BD59-A6C34878D82A}">
                    <a16:rowId xmlns:a16="http://schemas.microsoft.com/office/drawing/2014/main" val="3152788896"/>
                  </a:ext>
                </a:extLst>
              </a:tr>
              <a:tr h="284480">
                <a:tc>
                  <a:txBody>
                    <a:bodyPr/>
                    <a:lstStyle/>
                    <a:p>
                      <a:r>
                        <a:rPr lang="de-DE" sz="1100" dirty="0"/>
                        <a:t>Supervision </a:t>
                      </a:r>
                    </a:p>
                  </a:txBody>
                  <a:tcPr marT="60960" marB="60960" anchor="ctr"/>
                </a:tc>
                <a:tc>
                  <a:txBody>
                    <a:bodyPr/>
                    <a:lstStyle/>
                    <a:p>
                      <a:r>
                        <a:rPr lang="en-US" sz="1100"/>
                        <a:t>Oversight and leadership responsibility for the research activity planning and execution, including mentorship external to the core team </a:t>
                      </a:r>
                    </a:p>
                  </a:txBody>
                  <a:tcPr marT="60960" marB="60960" anchor="ctr"/>
                </a:tc>
                <a:extLst>
                  <a:ext uri="{0D108BD9-81ED-4DB2-BD59-A6C34878D82A}">
                    <a16:rowId xmlns:a16="http://schemas.microsoft.com/office/drawing/2014/main" val="3245750080"/>
                  </a:ext>
                </a:extLst>
              </a:tr>
              <a:tr h="284480">
                <a:tc>
                  <a:txBody>
                    <a:bodyPr/>
                    <a:lstStyle/>
                    <a:p>
                      <a:r>
                        <a:rPr lang="de-DE" sz="1100"/>
                        <a:t>Project administration </a:t>
                      </a:r>
                    </a:p>
                  </a:txBody>
                  <a:tcPr marT="60960" marB="60960" anchor="ctr"/>
                </a:tc>
                <a:tc>
                  <a:txBody>
                    <a:bodyPr/>
                    <a:lstStyle/>
                    <a:p>
                      <a:r>
                        <a:rPr lang="en-US" sz="1100" dirty="0"/>
                        <a:t>Management and coordination responsibility for the research activity planning and execution </a:t>
                      </a:r>
                    </a:p>
                  </a:txBody>
                  <a:tcPr marT="60960" marB="60960" anchor="ctr"/>
                </a:tc>
                <a:extLst>
                  <a:ext uri="{0D108BD9-81ED-4DB2-BD59-A6C34878D82A}">
                    <a16:rowId xmlns:a16="http://schemas.microsoft.com/office/drawing/2014/main" val="1946805804"/>
                  </a:ext>
                </a:extLst>
              </a:tr>
              <a:tr h="284480">
                <a:tc>
                  <a:txBody>
                    <a:bodyPr/>
                    <a:lstStyle/>
                    <a:p>
                      <a:r>
                        <a:rPr lang="de-DE" sz="1100"/>
                        <a:t>Funding acquisition </a:t>
                      </a:r>
                    </a:p>
                  </a:txBody>
                  <a:tcPr marT="60960" marB="60960" anchor="ctr"/>
                </a:tc>
                <a:tc>
                  <a:txBody>
                    <a:bodyPr/>
                    <a:lstStyle/>
                    <a:p>
                      <a:r>
                        <a:rPr lang="en-US" sz="1100" dirty="0"/>
                        <a:t>Acquisition of the financial support for the project leading to this publication </a:t>
                      </a:r>
                    </a:p>
                  </a:txBody>
                  <a:tcPr marT="60960" marB="60960" anchor="ctr"/>
                </a:tc>
                <a:extLst>
                  <a:ext uri="{0D108BD9-81ED-4DB2-BD59-A6C34878D82A}">
                    <a16:rowId xmlns:a16="http://schemas.microsoft.com/office/drawing/2014/main" val="2014168920"/>
                  </a:ext>
                </a:extLst>
              </a:tr>
            </a:tbl>
          </a:graphicData>
        </a:graphic>
      </p:graphicFrame>
    </p:spTree>
    <p:extLst>
      <p:ext uri="{BB962C8B-B14F-4D97-AF65-F5344CB8AC3E}">
        <p14:creationId xmlns:p14="http://schemas.microsoft.com/office/powerpoint/2010/main" val="65315133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1"/>
          </p:nvPr>
        </p:nvSpPr>
        <p:spPr/>
        <p:txBody>
          <a:bodyPr>
            <a:noAutofit/>
          </a:bodyPr>
          <a:lstStyle/>
          <a:p>
            <a:r>
              <a:rPr lang="en-US" sz="1800" dirty="0"/>
              <a:t>Open lines of communication throughout the research process are vital.</a:t>
            </a:r>
          </a:p>
          <a:p>
            <a:pPr lvl="1"/>
            <a:r>
              <a:rPr lang="en-US" sz="1600" dirty="0"/>
              <a:t>You should talk openly and frankly.</a:t>
            </a:r>
          </a:p>
          <a:p>
            <a:pPr lvl="1"/>
            <a:r>
              <a:rPr lang="en-US" sz="1600" dirty="0"/>
              <a:t>It’s the team’s responsibility to create a communication environment without fear of reprisal, demotion, or other punishment.</a:t>
            </a:r>
          </a:p>
          <a:p>
            <a:pPr lvl="1"/>
            <a:endParaRPr lang="en-US" sz="1600" dirty="0"/>
          </a:p>
          <a:p>
            <a:r>
              <a:rPr lang="en-US" sz="1800" dirty="0"/>
              <a:t>Most important part of this process:</a:t>
            </a:r>
          </a:p>
          <a:p>
            <a:pPr lvl="1"/>
            <a:r>
              <a:rPr lang="en-US" sz="1600" dirty="0"/>
              <a:t>Voicing one’s investment,</a:t>
            </a:r>
          </a:p>
          <a:p>
            <a:pPr lvl="1"/>
            <a:r>
              <a:rPr lang="en-US" sz="1600" dirty="0"/>
              <a:t>Creating transparency about publication strategies,</a:t>
            </a:r>
          </a:p>
          <a:p>
            <a:pPr lvl="1"/>
            <a:r>
              <a:rPr lang="en-US" sz="1600" dirty="0"/>
              <a:t>Mutually recognizing each other’s goals,</a:t>
            </a:r>
          </a:p>
          <a:p>
            <a:pPr lvl="1"/>
            <a:r>
              <a:rPr lang="en-US" sz="1600" dirty="0"/>
              <a:t>Building flexibility into the process, and</a:t>
            </a:r>
          </a:p>
          <a:p>
            <a:pPr lvl="1"/>
            <a:r>
              <a:rPr lang="en-US" sz="1600" dirty="0"/>
              <a:t>Establishing commonly accepted criteria for making these basic decisions.</a:t>
            </a:r>
          </a:p>
        </p:txBody>
      </p:sp>
      <p:sp>
        <p:nvSpPr>
          <p:cNvPr id="3" name="Title 2"/>
          <p:cNvSpPr>
            <a:spLocks noGrp="1"/>
          </p:cNvSpPr>
          <p:nvPr>
            <p:ph type="title"/>
          </p:nvPr>
        </p:nvSpPr>
        <p:spPr/>
        <p:txBody>
          <a:bodyPr>
            <a:normAutofit fontScale="90000"/>
          </a:bodyPr>
          <a:lstStyle/>
          <a:p>
            <a:r>
              <a:rPr lang="en-US" dirty="0"/>
              <a:t>Managing co-authorship: Communicate early and openly</a:t>
            </a:r>
          </a:p>
        </p:txBody>
      </p:sp>
      <p:pic>
        <p:nvPicPr>
          <p:cNvPr id="2050" name="Picture 2"/>
          <p:cNvPicPr>
            <a:picLocks noChangeAspect="1" noChangeArrowheads="1"/>
          </p:cNvPicPr>
          <p:nvPr/>
        </p:nvPicPr>
        <p:blipFill>
          <a:blip r:embed="rId2" cstate="print"/>
          <a:srcRect/>
          <a:stretch>
            <a:fillRect/>
          </a:stretch>
        </p:blipFill>
        <p:spPr bwMode="auto">
          <a:xfrm>
            <a:off x="6544099" y="4293097"/>
            <a:ext cx="2469578" cy="2444883"/>
          </a:xfrm>
          <a:prstGeom prst="rect">
            <a:avLst/>
          </a:prstGeom>
          <a:noFill/>
          <a:ln w="9525">
            <a:noFill/>
            <a:miter lim="800000"/>
            <a:headEnd/>
            <a:tailEnd/>
          </a:ln>
        </p:spPr>
      </p:pic>
    </p:spTree>
    <p:extLst>
      <p:ext uri="{BB962C8B-B14F-4D97-AF65-F5344CB8AC3E}">
        <p14:creationId xmlns:p14="http://schemas.microsoft.com/office/powerpoint/2010/main" val="3917850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937D6A0-E4FF-44B5-97F8-503A3D1EF6F9}"/>
              </a:ext>
            </a:extLst>
          </p:cNvPr>
          <p:cNvSpPr>
            <a:spLocks noGrp="1"/>
          </p:cNvSpPr>
          <p:nvPr>
            <p:ph sz="quarter" idx="11"/>
          </p:nvPr>
        </p:nvSpPr>
        <p:spPr/>
        <p:txBody>
          <a:bodyPr/>
          <a:lstStyle/>
          <a:p>
            <a:pPr algn="l"/>
            <a:r>
              <a:rPr lang="de-DE" sz="2133" dirty="0"/>
              <a:t>An </a:t>
            </a:r>
            <a:r>
              <a:rPr lang="en-US" sz="2133" dirty="0"/>
              <a:t>ethical standard that demands that research publications comply with expectations for transparency, openness, and reproducibility.</a:t>
            </a:r>
          </a:p>
          <a:p>
            <a:pPr algn="l"/>
            <a:r>
              <a:rPr lang="en-US" sz="2133" dirty="0"/>
              <a:t>Typical ethical issues</a:t>
            </a:r>
          </a:p>
          <a:p>
            <a:pPr lvl="1"/>
            <a:r>
              <a:rPr lang="en-US" sz="1867" dirty="0"/>
              <a:t>Publication bias</a:t>
            </a:r>
          </a:p>
          <a:p>
            <a:pPr lvl="2"/>
            <a:r>
              <a:rPr lang="en-US" sz="1867" dirty="0"/>
              <a:t>systematic suppression of a certain type of research results in published papers, such as negative hypothesis tests or replications, or</a:t>
            </a:r>
          </a:p>
          <a:p>
            <a:pPr lvl="2"/>
            <a:r>
              <a:rPr lang="en-US" sz="1867" dirty="0"/>
              <a:t>systematic preference given to innovative and novel findings rather than confirmations of known findings</a:t>
            </a:r>
          </a:p>
          <a:p>
            <a:pPr lvl="1"/>
            <a:r>
              <a:rPr lang="en-US" sz="1867" dirty="0" err="1"/>
              <a:t>HARKing</a:t>
            </a:r>
            <a:r>
              <a:rPr lang="en-US" sz="1867" dirty="0"/>
              <a:t> (hypothesizing after the results are known)</a:t>
            </a:r>
          </a:p>
          <a:p>
            <a:pPr lvl="1"/>
            <a:r>
              <a:rPr lang="en-US" sz="1867" i="1" dirty="0"/>
              <a:t>p</a:t>
            </a:r>
            <a:r>
              <a:rPr lang="en-US" sz="1867" dirty="0"/>
              <a:t>-Hacking (the misuse of data analysis to find patterns in data that can be presented as statistically significant)</a:t>
            </a:r>
          </a:p>
          <a:p>
            <a:pPr algn="l"/>
            <a:endParaRPr lang="de-DE" sz="1867" dirty="0"/>
          </a:p>
        </p:txBody>
      </p:sp>
      <p:sp>
        <p:nvSpPr>
          <p:cNvPr id="2" name="Title 1">
            <a:extLst>
              <a:ext uri="{FF2B5EF4-FFF2-40B4-BE49-F238E27FC236}">
                <a16:creationId xmlns:a16="http://schemas.microsoft.com/office/drawing/2014/main" id="{558C0E43-7090-4789-90BE-DCE5BF929678}"/>
              </a:ext>
            </a:extLst>
          </p:cNvPr>
          <p:cNvSpPr>
            <a:spLocks noGrp="1"/>
          </p:cNvSpPr>
          <p:nvPr>
            <p:ph type="title"/>
          </p:nvPr>
        </p:nvSpPr>
        <p:spPr/>
        <p:txBody>
          <a:bodyPr/>
          <a:lstStyle/>
          <a:p>
            <a:r>
              <a:rPr lang="de-DE" dirty="0"/>
              <a:t>Honest reporting</a:t>
            </a:r>
          </a:p>
        </p:txBody>
      </p:sp>
    </p:spTree>
    <p:extLst>
      <p:ext uri="{BB962C8B-B14F-4D97-AF65-F5344CB8AC3E}">
        <p14:creationId xmlns:p14="http://schemas.microsoft.com/office/powerpoint/2010/main" val="82621925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17D2368-85DC-4BAE-A540-E8DD3E02A519}"/>
              </a:ext>
            </a:extLst>
          </p:cNvPr>
          <p:cNvSpPr>
            <a:spLocks noGrp="1"/>
          </p:cNvSpPr>
          <p:nvPr>
            <p:ph sz="quarter" idx="11"/>
          </p:nvPr>
        </p:nvSpPr>
        <p:spPr/>
        <p:txBody>
          <a:bodyPr/>
          <a:lstStyle/>
          <a:p>
            <a:r>
              <a:rPr lang="en-US" dirty="0"/>
              <a:t>occurs when the outcome of an experiment or research study influences the decision whether to publish or otherwise distribute it.</a:t>
            </a:r>
          </a:p>
          <a:p>
            <a:r>
              <a:rPr lang="en-US" dirty="0"/>
              <a:t>Known as the file-drawer problem: often investigators decline to submit results when they are found not to support initial hypotheses</a:t>
            </a:r>
          </a:p>
          <a:p>
            <a:r>
              <a:rPr lang="en-US" dirty="0"/>
              <a:t>Consequence: the publication of “negative” or “insignificant” results is impeded</a:t>
            </a:r>
          </a:p>
          <a:p>
            <a:r>
              <a:rPr lang="en-US" dirty="0"/>
              <a:t>Then, published studies are no longer a representative sample of the available evidence.</a:t>
            </a:r>
            <a:endParaRPr lang="de-DE" dirty="0"/>
          </a:p>
        </p:txBody>
      </p:sp>
      <p:sp>
        <p:nvSpPr>
          <p:cNvPr id="2" name="Title 1">
            <a:extLst>
              <a:ext uri="{FF2B5EF4-FFF2-40B4-BE49-F238E27FC236}">
                <a16:creationId xmlns:a16="http://schemas.microsoft.com/office/drawing/2014/main" id="{FBCD9798-927D-42D7-9960-F89228FE7BA4}"/>
              </a:ext>
            </a:extLst>
          </p:cNvPr>
          <p:cNvSpPr>
            <a:spLocks noGrp="1"/>
          </p:cNvSpPr>
          <p:nvPr>
            <p:ph type="title"/>
          </p:nvPr>
        </p:nvSpPr>
        <p:spPr/>
        <p:txBody>
          <a:bodyPr/>
          <a:lstStyle/>
          <a:p>
            <a:r>
              <a:rPr lang="de-DE" dirty="0" err="1"/>
              <a:t>Publication</a:t>
            </a:r>
            <a:r>
              <a:rPr lang="de-DE" dirty="0"/>
              <a:t> </a:t>
            </a:r>
            <a:r>
              <a:rPr lang="de-DE" dirty="0" err="1"/>
              <a:t>bias</a:t>
            </a:r>
            <a:endParaRPr lang="de-DE" dirty="0"/>
          </a:p>
        </p:txBody>
      </p:sp>
    </p:spTree>
    <p:extLst>
      <p:ext uri="{BB962C8B-B14F-4D97-AF65-F5344CB8AC3E}">
        <p14:creationId xmlns:p14="http://schemas.microsoft.com/office/powerpoint/2010/main" val="213196334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17D2368-85DC-4BAE-A540-E8DD3E02A519}"/>
              </a:ext>
            </a:extLst>
          </p:cNvPr>
          <p:cNvSpPr>
            <a:spLocks noGrp="1"/>
          </p:cNvSpPr>
          <p:nvPr>
            <p:ph sz="quarter" idx="11"/>
          </p:nvPr>
        </p:nvSpPr>
        <p:spPr/>
        <p:txBody>
          <a:bodyPr>
            <a:normAutofit fontScale="92500" lnSpcReduction="10000"/>
          </a:bodyPr>
          <a:lstStyle/>
          <a:p>
            <a:r>
              <a:rPr lang="en-US" sz="2400" dirty="0"/>
              <a:t>The false portrayal of a post hoc hypothesis as if it were an a priori hypothesis.</a:t>
            </a:r>
          </a:p>
          <a:p>
            <a:pPr lvl="1"/>
            <a:r>
              <a:rPr lang="en-US" sz="2133" dirty="0"/>
              <a:t>Can invalidates the idea of a priori hypothesis generation and subsequent testing.</a:t>
            </a:r>
          </a:p>
          <a:p>
            <a:pPr lvl="1"/>
            <a:r>
              <a:rPr lang="en-US" sz="2133" dirty="0"/>
              <a:t>Can lead to scholars not communicating valuable information about what did not work</a:t>
            </a:r>
          </a:p>
          <a:p>
            <a:pPr lvl="1"/>
            <a:r>
              <a:rPr lang="en-US" sz="2133" dirty="0"/>
              <a:t>Can lead to distorted publications limited to ideas and findings without a faithful representation of the scientific process through which these ideas were born.</a:t>
            </a:r>
          </a:p>
          <a:p>
            <a:pPr lvl="1"/>
            <a:r>
              <a:rPr lang="en-US" sz="2133" dirty="0"/>
              <a:t>Risks increasing levels of Type 1 errors: if one attempts (too) many post hoc analyses on the same data, some tests will generate false positives simply by chance</a:t>
            </a:r>
          </a:p>
          <a:p>
            <a:pPr lvl="1"/>
            <a:r>
              <a:rPr lang="en-US" sz="2133" dirty="0"/>
              <a:t>Risks favoring weaker theories that post hoc accommodate results rather than correctly predict them.</a:t>
            </a:r>
            <a:endParaRPr lang="de-DE" sz="2133" dirty="0"/>
          </a:p>
        </p:txBody>
      </p:sp>
      <p:sp>
        <p:nvSpPr>
          <p:cNvPr id="2" name="Title 1">
            <a:extLst>
              <a:ext uri="{FF2B5EF4-FFF2-40B4-BE49-F238E27FC236}">
                <a16:creationId xmlns:a16="http://schemas.microsoft.com/office/drawing/2014/main" id="{FBCD9798-927D-42D7-9960-F89228FE7BA4}"/>
              </a:ext>
            </a:extLst>
          </p:cNvPr>
          <p:cNvSpPr>
            <a:spLocks noGrp="1"/>
          </p:cNvSpPr>
          <p:nvPr>
            <p:ph type="title"/>
          </p:nvPr>
        </p:nvSpPr>
        <p:spPr/>
        <p:txBody>
          <a:bodyPr/>
          <a:lstStyle/>
          <a:p>
            <a:r>
              <a:rPr lang="de-DE" dirty="0"/>
              <a:t>Hacking</a:t>
            </a:r>
          </a:p>
        </p:txBody>
      </p:sp>
    </p:spTree>
    <p:extLst>
      <p:ext uri="{BB962C8B-B14F-4D97-AF65-F5344CB8AC3E}">
        <p14:creationId xmlns:p14="http://schemas.microsoft.com/office/powerpoint/2010/main" val="215429646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Chart&#10;&#10;Description automatically generated">
            <a:extLst>
              <a:ext uri="{FF2B5EF4-FFF2-40B4-BE49-F238E27FC236}">
                <a16:creationId xmlns:a16="http://schemas.microsoft.com/office/drawing/2014/main" id="{6F89F9C7-2BCF-4B1C-9F17-ADD2589E9CF1}"/>
              </a:ext>
            </a:extLst>
          </p:cNvPr>
          <p:cNvPicPr>
            <a:picLocks noChangeAspect="1"/>
          </p:cNvPicPr>
          <p:nvPr/>
        </p:nvPicPr>
        <p:blipFill>
          <a:blip r:embed="rId2"/>
          <a:stretch>
            <a:fillRect/>
          </a:stretch>
        </p:blipFill>
        <p:spPr>
          <a:xfrm>
            <a:off x="3242665" y="4348406"/>
            <a:ext cx="5720360" cy="2258769"/>
          </a:xfrm>
          <a:prstGeom prst="rect">
            <a:avLst/>
          </a:prstGeom>
        </p:spPr>
      </p:pic>
      <p:sp>
        <p:nvSpPr>
          <p:cNvPr id="3" name="Text Placeholder 2">
            <a:extLst>
              <a:ext uri="{FF2B5EF4-FFF2-40B4-BE49-F238E27FC236}">
                <a16:creationId xmlns:a16="http://schemas.microsoft.com/office/drawing/2014/main" id="{717D2368-85DC-4BAE-A540-E8DD3E02A519}"/>
              </a:ext>
            </a:extLst>
          </p:cNvPr>
          <p:cNvSpPr>
            <a:spLocks noGrp="1"/>
          </p:cNvSpPr>
          <p:nvPr>
            <p:ph sz="quarter" idx="11"/>
          </p:nvPr>
        </p:nvSpPr>
        <p:spPr/>
        <p:txBody>
          <a:bodyPr>
            <a:normAutofit/>
          </a:bodyPr>
          <a:lstStyle/>
          <a:p>
            <a:r>
              <a:rPr lang="en-US" sz="1800" dirty="0"/>
              <a:t>Occurs when researchers collect or select data or statistical analyses until nonsignificant results become significant.</a:t>
            </a:r>
          </a:p>
          <a:p>
            <a:r>
              <a:rPr lang="en-US" sz="1800" dirty="0"/>
              <a:t>Significant results increase the chance of being published but when published data are biased, data synthesis might lead to flawed conclusions.</a:t>
            </a:r>
          </a:p>
          <a:p>
            <a:r>
              <a:rPr lang="en-US" sz="1800" dirty="0"/>
              <a:t>Means that we do not know if the strength of the relationship found is purely an artifact of the sample, the</a:t>
            </a:r>
            <a:br>
              <a:rPr lang="en-US" sz="1800" dirty="0"/>
            </a:br>
            <a:r>
              <a:rPr lang="en-US" sz="1800" dirty="0"/>
              <a:t>analytical method used, or legitimate judgment</a:t>
            </a:r>
            <a:br>
              <a:rPr lang="en-US" sz="1800" dirty="0"/>
            </a:br>
            <a:r>
              <a:rPr lang="en-US" sz="1800" dirty="0"/>
              <a:t>calls made by  the researcher.</a:t>
            </a:r>
          </a:p>
        </p:txBody>
      </p:sp>
      <p:sp>
        <p:nvSpPr>
          <p:cNvPr id="2" name="Title 1">
            <a:extLst>
              <a:ext uri="{FF2B5EF4-FFF2-40B4-BE49-F238E27FC236}">
                <a16:creationId xmlns:a16="http://schemas.microsoft.com/office/drawing/2014/main" id="{FBCD9798-927D-42D7-9960-F89228FE7BA4}"/>
              </a:ext>
            </a:extLst>
          </p:cNvPr>
          <p:cNvSpPr>
            <a:spLocks noGrp="1"/>
          </p:cNvSpPr>
          <p:nvPr>
            <p:ph type="title"/>
          </p:nvPr>
        </p:nvSpPr>
        <p:spPr/>
        <p:txBody>
          <a:bodyPr/>
          <a:lstStyle/>
          <a:p>
            <a:r>
              <a:rPr lang="de-DE" i="1" dirty="0"/>
              <a:t>p</a:t>
            </a:r>
            <a:r>
              <a:rPr lang="de-DE" dirty="0"/>
              <a:t>-Hacking</a:t>
            </a:r>
          </a:p>
        </p:txBody>
      </p:sp>
    </p:spTree>
    <p:extLst>
      <p:ext uri="{BB962C8B-B14F-4D97-AF65-F5344CB8AC3E}">
        <p14:creationId xmlns:p14="http://schemas.microsoft.com/office/powerpoint/2010/main" val="394153561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73040BE-DFA3-4808-AC1D-74489EADEDD8}"/>
              </a:ext>
            </a:extLst>
          </p:cNvPr>
          <p:cNvSpPr>
            <a:spLocks noGrp="1"/>
          </p:cNvSpPr>
          <p:nvPr>
            <p:ph sz="quarter" idx="11"/>
          </p:nvPr>
        </p:nvSpPr>
        <p:spPr/>
        <p:txBody>
          <a:bodyPr/>
          <a:lstStyle/>
          <a:p>
            <a:r>
              <a:rPr lang="de-DE" b="1" dirty="0" err="1"/>
              <a:t>Pre</a:t>
            </a:r>
            <a:r>
              <a:rPr lang="de-DE" b="1" dirty="0"/>
              <a:t>-registration</a:t>
            </a:r>
            <a:r>
              <a:rPr lang="de-DE" dirty="0"/>
              <a:t>: </a:t>
            </a:r>
            <a:r>
              <a:rPr lang="de-DE" dirty="0" err="1"/>
              <a:t>make</a:t>
            </a:r>
            <a:r>
              <a:rPr lang="de-DE" dirty="0"/>
              <a:t> </a:t>
            </a:r>
            <a:r>
              <a:rPr lang="de-DE" dirty="0" err="1"/>
              <a:t>hypotheses</a:t>
            </a:r>
            <a:r>
              <a:rPr lang="de-DE" dirty="0"/>
              <a:t> </a:t>
            </a:r>
            <a:r>
              <a:rPr lang="de-DE" dirty="0" err="1"/>
              <a:t>public</a:t>
            </a:r>
            <a:r>
              <a:rPr lang="de-DE" dirty="0"/>
              <a:t> </a:t>
            </a:r>
            <a:r>
              <a:rPr lang="de-DE" dirty="0" err="1"/>
              <a:t>prior</a:t>
            </a:r>
            <a:r>
              <a:rPr lang="de-DE" dirty="0"/>
              <a:t> </a:t>
            </a:r>
            <a:r>
              <a:rPr lang="de-DE" dirty="0" err="1"/>
              <a:t>to</a:t>
            </a:r>
            <a:r>
              <a:rPr lang="de-DE" dirty="0"/>
              <a:t> </a:t>
            </a:r>
            <a:r>
              <a:rPr lang="de-DE" dirty="0" err="1"/>
              <a:t>data</a:t>
            </a:r>
            <a:r>
              <a:rPr lang="de-DE" dirty="0"/>
              <a:t> </a:t>
            </a:r>
            <a:r>
              <a:rPr lang="de-DE" dirty="0" err="1"/>
              <a:t>colletion</a:t>
            </a:r>
            <a:r>
              <a:rPr lang="de-DE" dirty="0"/>
              <a:t> and </a:t>
            </a:r>
            <a:r>
              <a:rPr lang="de-DE" dirty="0" err="1"/>
              <a:t>analysis</a:t>
            </a:r>
            <a:endParaRPr lang="de-DE" dirty="0"/>
          </a:p>
          <a:p>
            <a:r>
              <a:rPr lang="de-DE" b="1" dirty="0"/>
              <a:t>Open </a:t>
            </a:r>
            <a:r>
              <a:rPr lang="de-DE" b="1" dirty="0" err="1"/>
              <a:t>science</a:t>
            </a:r>
            <a:r>
              <a:rPr lang="de-DE" dirty="0"/>
              <a:t>: </a:t>
            </a:r>
            <a:r>
              <a:rPr lang="de-DE" dirty="0" err="1"/>
              <a:t>publicly</a:t>
            </a:r>
            <a:r>
              <a:rPr lang="de-DE" dirty="0"/>
              <a:t> </a:t>
            </a:r>
            <a:r>
              <a:rPr lang="de-DE" dirty="0" err="1"/>
              <a:t>share</a:t>
            </a:r>
            <a:r>
              <a:rPr lang="de-DE" dirty="0"/>
              <a:t> </a:t>
            </a:r>
            <a:r>
              <a:rPr lang="de-DE" dirty="0" err="1"/>
              <a:t>raw</a:t>
            </a:r>
            <a:r>
              <a:rPr lang="de-DE" dirty="0"/>
              <a:t> </a:t>
            </a:r>
            <a:r>
              <a:rPr lang="de-DE" dirty="0" err="1"/>
              <a:t>data</a:t>
            </a:r>
            <a:r>
              <a:rPr lang="de-DE" dirty="0"/>
              <a:t> </a:t>
            </a:r>
            <a:r>
              <a:rPr lang="de-DE" dirty="0" err="1"/>
              <a:t>used</a:t>
            </a:r>
            <a:r>
              <a:rPr lang="de-DE" dirty="0"/>
              <a:t> in </a:t>
            </a:r>
            <a:r>
              <a:rPr lang="de-DE" dirty="0" err="1"/>
              <a:t>analysis</a:t>
            </a:r>
            <a:endParaRPr lang="de-DE" dirty="0"/>
          </a:p>
          <a:p>
            <a:r>
              <a:rPr lang="de-DE" b="1" dirty="0"/>
              <a:t>Register </a:t>
            </a:r>
            <a:r>
              <a:rPr lang="de-DE" b="1" dirty="0" err="1"/>
              <a:t>procedures</a:t>
            </a:r>
            <a:r>
              <a:rPr lang="de-DE" dirty="0"/>
              <a:t>: </a:t>
            </a:r>
            <a:r>
              <a:rPr lang="de-DE" dirty="0" err="1"/>
              <a:t>Make</a:t>
            </a:r>
            <a:r>
              <a:rPr lang="de-DE" dirty="0"/>
              <a:t> </a:t>
            </a:r>
            <a:r>
              <a:rPr lang="de-DE" dirty="0" err="1"/>
              <a:t>analyses</a:t>
            </a:r>
            <a:r>
              <a:rPr lang="de-DE" dirty="0"/>
              <a:t> (e.g., </a:t>
            </a:r>
            <a:r>
              <a:rPr lang="de-DE" dirty="0" err="1"/>
              <a:t>codes</a:t>
            </a:r>
            <a:r>
              <a:rPr lang="de-DE" dirty="0"/>
              <a:t>, </a:t>
            </a:r>
            <a:r>
              <a:rPr lang="de-DE" dirty="0" err="1"/>
              <a:t>programs</a:t>
            </a:r>
            <a:r>
              <a:rPr lang="de-DE" dirty="0"/>
              <a:t>) </a:t>
            </a:r>
            <a:r>
              <a:rPr lang="de-DE" dirty="0" err="1"/>
              <a:t>available</a:t>
            </a:r>
            <a:r>
              <a:rPr lang="de-DE" dirty="0"/>
              <a:t> </a:t>
            </a:r>
            <a:r>
              <a:rPr lang="de-DE" dirty="0" err="1"/>
              <a:t>to</a:t>
            </a:r>
            <a:r>
              <a:rPr lang="de-DE" dirty="0"/>
              <a:t> </a:t>
            </a:r>
            <a:r>
              <a:rPr lang="de-DE" dirty="0" err="1"/>
              <a:t>others</a:t>
            </a:r>
            <a:endParaRPr lang="de-DE" dirty="0"/>
          </a:p>
          <a:p>
            <a:r>
              <a:rPr lang="de-DE" b="1" dirty="0"/>
              <a:t>Conduct </a:t>
            </a:r>
            <a:r>
              <a:rPr lang="de-DE" b="1" dirty="0" err="1"/>
              <a:t>replications</a:t>
            </a:r>
            <a:r>
              <a:rPr lang="de-DE" dirty="0"/>
              <a:t>: </a:t>
            </a:r>
            <a:r>
              <a:rPr lang="de-DE" dirty="0" err="1"/>
              <a:t>repeat</a:t>
            </a:r>
            <a:r>
              <a:rPr lang="de-DE" dirty="0"/>
              <a:t> </a:t>
            </a:r>
            <a:r>
              <a:rPr lang="de-DE" dirty="0" err="1"/>
              <a:t>studies</a:t>
            </a:r>
            <a:r>
              <a:rPr lang="de-DE" dirty="0"/>
              <a:t> </a:t>
            </a:r>
            <a:r>
              <a:rPr lang="de-DE" dirty="0" err="1"/>
              <a:t>to</a:t>
            </a:r>
            <a:r>
              <a:rPr lang="de-DE" dirty="0"/>
              <a:t> </a:t>
            </a:r>
            <a:r>
              <a:rPr lang="de-DE" dirty="0" err="1"/>
              <a:t>see</a:t>
            </a:r>
            <a:r>
              <a:rPr lang="de-DE" dirty="0"/>
              <a:t> </a:t>
            </a:r>
            <a:r>
              <a:rPr lang="de-DE" dirty="0" err="1"/>
              <a:t>if</a:t>
            </a:r>
            <a:r>
              <a:rPr lang="de-DE" dirty="0"/>
              <a:t> </a:t>
            </a:r>
            <a:r>
              <a:rPr lang="de-DE" dirty="0" err="1"/>
              <a:t>results</a:t>
            </a:r>
            <a:r>
              <a:rPr lang="de-DE" dirty="0"/>
              <a:t> </a:t>
            </a:r>
            <a:r>
              <a:rPr lang="de-DE" dirty="0" err="1"/>
              <a:t>remain</a:t>
            </a:r>
            <a:r>
              <a:rPr lang="de-DE" dirty="0"/>
              <a:t> robust</a:t>
            </a:r>
          </a:p>
        </p:txBody>
      </p:sp>
      <p:sp>
        <p:nvSpPr>
          <p:cNvPr id="2" name="Title 1">
            <a:extLst>
              <a:ext uri="{FF2B5EF4-FFF2-40B4-BE49-F238E27FC236}">
                <a16:creationId xmlns:a16="http://schemas.microsoft.com/office/drawing/2014/main" id="{0B771253-F952-487D-8E08-F59B067CE405}"/>
              </a:ext>
            </a:extLst>
          </p:cNvPr>
          <p:cNvSpPr>
            <a:spLocks noGrp="1"/>
          </p:cNvSpPr>
          <p:nvPr>
            <p:ph type="title"/>
          </p:nvPr>
        </p:nvSpPr>
        <p:spPr/>
        <p:txBody>
          <a:bodyPr>
            <a:normAutofit fontScale="90000"/>
          </a:bodyPr>
          <a:lstStyle/>
          <a:p>
            <a:r>
              <a:rPr lang="de-DE" dirty="0" err="1"/>
              <a:t>Recommendations</a:t>
            </a:r>
            <a:r>
              <a:rPr lang="de-DE" dirty="0"/>
              <a:t> </a:t>
            </a:r>
            <a:r>
              <a:rPr lang="de-DE" dirty="0" err="1"/>
              <a:t>for</a:t>
            </a:r>
            <a:r>
              <a:rPr lang="de-DE" dirty="0"/>
              <a:t> honest </a:t>
            </a:r>
            <a:r>
              <a:rPr lang="de-DE" dirty="0" err="1"/>
              <a:t>reporting</a:t>
            </a:r>
            <a:endParaRPr lang="de-DE" dirty="0"/>
          </a:p>
        </p:txBody>
      </p:sp>
    </p:spTree>
    <p:extLst>
      <p:ext uri="{BB962C8B-B14F-4D97-AF65-F5344CB8AC3E}">
        <p14:creationId xmlns:p14="http://schemas.microsoft.com/office/powerpoint/2010/main" val="148401661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937D6A0-E4FF-44B5-97F8-503A3D1EF6F9}"/>
              </a:ext>
            </a:extLst>
          </p:cNvPr>
          <p:cNvSpPr>
            <a:spLocks noGrp="1"/>
          </p:cNvSpPr>
          <p:nvPr>
            <p:ph sz="quarter" idx="11"/>
          </p:nvPr>
        </p:nvSpPr>
        <p:spPr/>
        <p:txBody>
          <a:bodyPr>
            <a:normAutofit lnSpcReduction="10000"/>
          </a:bodyPr>
          <a:lstStyle/>
          <a:p>
            <a:pPr algn="l"/>
            <a:r>
              <a:rPr lang="en-US" sz="1867" dirty="0"/>
              <a:t>Refers to the wording of scientific reports so they are not biased in terms of gender, race, orientation, culture, or any other characteristics.</a:t>
            </a:r>
          </a:p>
          <a:p>
            <a:r>
              <a:rPr lang="en-US" sz="1867" dirty="0"/>
              <a:t>Stipulates using gender-responsible, ethnicity-responsible, and inclusive language wherever possible.</a:t>
            </a:r>
          </a:p>
          <a:p>
            <a:pPr algn="l"/>
            <a:r>
              <a:rPr lang="en-US" sz="1867" dirty="0"/>
              <a:t>Guidelines:</a:t>
            </a:r>
          </a:p>
          <a:p>
            <a:pPr lvl="1"/>
            <a:r>
              <a:rPr lang="en-US" sz="1600" b="1" dirty="0"/>
              <a:t>Specificity</a:t>
            </a:r>
          </a:p>
          <a:p>
            <a:pPr lvl="2"/>
            <a:r>
              <a:rPr lang="en-US" sz="1600" dirty="0"/>
              <a:t>describe specific </a:t>
            </a:r>
            <a:r>
              <a:rPr lang="en-US" sz="1600" dirty="0" err="1"/>
              <a:t>behaviours</a:t>
            </a:r>
            <a:r>
              <a:rPr lang="en-US" sz="1600" dirty="0"/>
              <a:t> rather than stereotypes: e.g., calling a behavior “dominant and opinionated” instead of “typically male”.</a:t>
            </a:r>
          </a:p>
          <a:p>
            <a:pPr lvl="1"/>
            <a:r>
              <a:rPr lang="en-US" sz="1600" b="1" dirty="0"/>
              <a:t>Labelling</a:t>
            </a:r>
          </a:p>
          <a:p>
            <a:pPr lvl="2"/>
            <a:r>
              <a:rPr lang="en-US" sz="1467" dirty="0"/>
              <a:t>Refer to concrete labels rather than abstract class tags, e.g., referring to countries’ populations—Mexicans or Chinese—instead of classes like “Hispanics” or “Asians”</a:t>
            </a:r>
            <a:endParaRPr lang="en-US" sz="1600" dirty="0"/>
          </a:p>
          <a:p>
            <a:pPr lvl="1"/>
            <a:r>
              <a:rPr lang="en-US" sz="1600" b="1" dirty="0"/>
              <a:t>Professional acknowledgments</a:t>
            </a:r>
          </a:p>
          <a:p>
            <a:pPr lvl="2"/>
            <a:r>
              <a:rPr lang="en-US" sz="1467" dirty="0"/>
              <a:t>Use professional classifications, not personal labels, like “medical practitioner” or “doctor” instead of “female doctor.”</a:t>
            </a:r>
            <a:endParaRPr lang="en-US" sz="1600" dirty="0"/>
          </a:p>
          <a:p>
            <a:pPr algn="l"/>
            <a:endParaRPr lang="de-DE" sz="1600" dirty="0"/>
          </a:p>
        </p:txBody>
      </p:sp>
      <p:sp>
        <p:nvSpPr>
          <p:cNvPr id="2" name="Title 1">
            <a:extLst>
              <a:ext uri="{FF2B5EF4-FFF2-40B4-BE49-F238E27FC236}">
                <a16:creationId xmlns:a16="http://schemas.microsoft.com/office/drawing/2014/main" id="{558C0E43-7090-4789-90BE-DCE5BF929678}"/>
              </a:ext>
            </a:extLst>
          </p:cNvPr>
          <p:cNvSpPr>
            <a:spLocks noGrp="1"/>
          </p:cNvSpPr>
          <p:nvPr>
            <p:ph type="title"/>
          </p:nvPr>
        </p:nvSpPr>
        <p:spPr/>
        <p:txBody>
          <a:bodyPr/>
          <a:lstStyle/>
          <a:p>
            <a:r>
              <a:rPr lang="de-DE" dirty="0"/>
              <a:t>Appropriate use of language</a:t>
            </a:r>
          </a:p>
        </p:txBody>
      </p:sp>
    </p:spTree>
    <p:extLst>
      <p:ext uri="{BB962C8B-B14F-4D97-AF65-F5344CB8AC3E}">
        <p14:creationId xmlns:p14="http://schemas.microsoft.com/office/powerpoint/2010/main" val="257519004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Responding to Allegations of Possible Misconduct</a:t>
            </a:r>
            <a:endParaRPr lang="en-IN" dirty="0"/>
          </a:p>
        </p:txBody>
      </p:sp>
      <p:sp>
        <p:nvSpPr>
          <p:cNvPr id="3" name="Content Placeholder 2"/>
          <p:cNvSpPr>
            <a:spLocks noGrp="1"/>
          </p:cNvSpPr>
          <p:nvPr>
            <p:ph idx="1"/>
          </p:nvPr>
        </p:nvSpPr>
        <p:spPr>
          <a:xfrm>
            <a:off x="457200" y="1600200"/>
            <a:ext cx="8229600" cy="4983162"/>
          </a:xfrm>
        </p:spPr>
        <p:txBody>
          <a:bodyPr>
            <a:normAutofit fontScale="62500" lnSpcReduction="20000"/>
          </a:bodyPr>
          <a:lstStyle/>
          <a:p>
            <a:r>
              <a:rPr lang="en-IN" dirty="0"/>
              <a:t>Journals should have a clear policy on handling concerns or allegations about misconduct, which can arise regarding authors, reviewers, editors, and others. </a:t>
            </a:r>
          </a:p>
          <a:p>
            <a:r>
              <a:rPr lang="en-IN" dirty="0"/>
              <a:t>Journals do not have the resources or authority to conduct a formal judicial inquiry or arrive at a formal conclusion regarding misconduct. </a:t>
            </a:r>
          </a:p>
          <a:p>
            <a:r>
              <a:rPr lang="en-IN" dirty="0"/>
              <a:t>That process is the role of the individual's employer, university, granting agency, or regulatory body. </a:t>
            </a:r>
          </a:p>
          <a:p>
            <a:r>
              <a:rPr lang="en-IN" dirty="0"/>
              <a:t>However, journals do have a responsibility to help protect the integrity of the public scientific record by sharing reasonable concerns with authorities who can conduct such an investigation.</a:t>
            </a:r>
          </a:p>
          <a:p>
            <a:r>
              <a:rPr lang="en-IN" dirty="0"/>
              <a:t>Deception may be deliberate, by reckless disregard of possible consequences, or by ignorance. </a:t>
            </a:r>
          </a:p>
          <a:p>
            <a:r>
              <a:rPr lang="en-IN" dirty="0"/>
              <a:t>Since the underlying goal of misconduct is to deliberately deceive others as to the truth, the journal's preliminary investigation of potential misconduct must take into account not only the particular act or omission, but also the apparent intention (as best it can be determined) of the person involved. </a:t>
            </a:r>
          </a:p>
          <a:p>
            <a:r>
              <a:rPr lang="en-IN" dirty="0"/>
              <a:t>Misconduct does not include unintentional error. </a:t>
            </a:r>
          </a:p>
        </p:txBody>
      </p:sp>
    </p:spTree>
    <p:extLst>
      <p:ext uri="{BB962C8B-B14F-4D97-AF65-F5344CB8AC3E}">
        <p14:creationId xmlns:p14="http://schemas.microsoft.com/office/powerpoint/2010/main" val="151085370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Responding to Allegations of Possible Misconduct</a:t>
            </a:r>
            <a:endParaRPr lang="en-IN" dirty="0"/>
          </a:p>
        </p:txBody>
      </p:sp>
      <p:sp>
        <p:nvSpPr>
          <p:cNvPr id="3" name="Content Placeholder 2"/>
          <p:cNvSpPr>
            <a:spLocks noGrp="1"/>
          </p:cNvSpPr>
          <p:nvPr>
            <p:ph idx="1"/>
          </p:nvPr>
        </p:nvSpPr>
        <p:spPr/>
        <p:txBody>
          <a:bodyPr>
            <a:normAutofit fontScale="62500" lnSpcReduction="20000"/>
          </a:bodyPr>
          <a:lstStyle/>
          <a:p>
            <a:r>
              <a:rPr lang="en-IN" dirty="0"/>
              <a:t>The most common forms of scientific misconduct include (the following are taken with minor modification from the ORI publication Analysis of Institutional Policies for Responding to Allegations of Scientific Misconduct [</a:t>
            </a:r>
            <a:r>
              <a:rPr lang="en-IN" dirty="0">
                <a:hlinkClick r:id="rId2"/>
              </a:rPr>
              <a:t>http://ori.dhhs.gov/html/polanal2.htm</a:t>
            </a:r>
            <a:r>
              <a:rPr lang="en-IN" dirty="0"/>
              <a:t>, full report in </a:t>
            </a:r>
            <a:r>
              <a:rPr lang="en-IN" dirty="0">
                <a:hlinkClick r:id="rId3"/>
              </a:rPr>
              <a:t>PDF format</a:t>
            </a:r>
            <a:r>
              <a:rPr lang="en-IN" dirty="0"/>
              <a:t>, accessed 3/13/04]):</a:t>
            </a:r>
          </a:p>
          <a:p>
            <a:r>
              <a:rPr lang="en-IN" b="1" dirty="0"/>
              <a:t>Falsification of data:</a:t>
            </a:r>
            <a:r>
              <a:rPr lang="en-IN" dirty="0"/>
              <a:t> ranges from fabrication to deceptive selective reporting of findings and omission of conflicting data, or </a:t>
            </a:r>
            <a:r>
              <a:rPr lang="en-IN" dirty="0" err="1"/>
              <a:t>willful</a:t>
            </a:r>
            <a:r>
              <a:rPr lang="en-IN" dirty="0"/>
              <a:t> suppression and/or distortion of data.</a:t>
            </a:r>
          </a:p>
          <a:p>
            <a:r>
              <a:rPr lang="en-IN" b="1" dirty="0"/>
              <a:t>Plagiarism:</a:t>
            </a:r>
            <a:r>
              <a:rPr lang="en-IN" dirty="0"/>
              <a:t> The appropriation of the language, ideas, or thoughts of another without crediting their true source, and representation of them as one's own original work.</a:t>
            </a:r>
          </a:p>
          <a:p>
            <a:r>
              <a:rPr lang="en-IN" b="1" dirty="0"/>
              <a:t>Improprieties of authorship:</a:t>
            </a:r>
            <a:r>
              <a:rPr lang="en-IN" dirty="0"/>
              <a:t> Improper assignment of credit, such as excluding others, misrepresentation of the same material as original in more than one publication, inclusion of individuals as authors who have not made a definite contribution to the work published; or submission of multi-authored publications without the concurrence of all authors.</a:t>
            </a:r>
          </a:p>
        </p:txBody>
      </p:sp>
    </p:spTree>
    <p:extLst>
      <p:ext uri="{BB962C8B-B14F-4D97-AF65-F5344CB8AC3E}">
        <p14:creationId xmlns:p14="http://schemas.microsoft.com/office/powerpoint/2010/main" val="46582400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Responding to Allegations of Possible Misconduct</a:t>
            </a:r>
            <a:endParaRPr lang="en-IN" dirty="0"/>
          </a:p>
        </p:txBody>
      </p:sp>
      <p:sp>
        <p:nvSpPr>
          <p:cNvPr id="3" name="Content Placeholder 2"/>
          <p:cNvSpPr>
            <a:spLocks noGrp="1"/>
          </p:cNvSpPr>
          <p:nvPr>
            <p:ph idx="1"/>
          </p:nvPr>
        </p:nvSpPr>
        <p:spPr>
          <a:xfrm>
            <a:off x="304800" y="1570037"/>
            <a:ext cx="8610600" cy="5135563"/>
          </a:xfrm>
        </p:spPr>
        <p:txBody>
          <a:bodyPr>
            <a:noAutofit/>
          </a:bodyPr>
          <a:lstStyle/>
          <a:p>
            <a:r>
              <a:rPr lang="en-IN" sz="1600" b="1" dirty="0"/>
              <a:t>Misappropriation of the ideas of others:</a:t>
            </a:r>
            <a:r>
              <a:rPr lang="en-IN" sz="1600" dirty="0"/>
              <a:t> an important aspect of scholarly activity is the exchange of ideas among colleagues. Scholars can acquire novel ideas from others during the process of reviewing grant applications and manuscripts. However, improper use of such information can constitute fraud. Wholesale appropriation of such material constitutes misconduct.</a:t>
            </a:r>
          </a:p>
          <a:p>
            <a:r>
              <a:rPr lang="en-IN" sz="1600" b="1" dirty="0"/>
              <a:t>Violation of generally accepted research practices:</a:t>
            </a:r>
            <a:r>
              <a:rPr lang="en-IN" sz="1600" dirty="0"/>
              <a:t> Serious deviation from accepted practices in proposing or carrying out research, improper manipulation of experiments to obtain biased results, deceptive statistical or analytical manipulations, or improper reporting of results.</a:t>
            </a:r>
          </a:p>
          <a:p>
            <a:r>
              <a:rPr lang="en-IN" sz="1600" b="1" dirty="0"/>
              <a:t>Material failure to comply with legislative and regulatory requirements affecting research:</a:t>
            </a:r>
            <a:r>
              <a:rPr lang="en-IN" sz="1600" dirty="0"/>
              <a:t> Including but not limited to serious or substantial, repeated, </a:t>
            </a:r>
            <a:r>
              <a:rPr lang="en-IN" sz="1600" dirty="0" err="1"/>
              <a:t>willful</a:t>
            </a:r>
            <a:r>
              <a:rPr lang="en-IN" sz="1600" dirty="0"/>
              <a:t> violations of applicable local regulations and law involving the use of funds, care of animals, human subjects, investigational drugs, recombinant products, new devices, or radioactive, biologic, or chemical materials.</a:t>
            </a:r>
          </a:p>
          <a:p>
            <a:r>
              <a:rPr lang="en-IN" sz="1600" b="1" dirty="0"/>
              <a:t>Inappropriate </a:t>
            </a:r>
            <a:r>
              <a:rPr lang="en-IN" sz="1600" b="1" dirty="0" err="1"/>
              <a:t>behavior</a:t>
            </a:r>
            <a:r>
              <a:rPr lang="en-IN" sz="1600" b="1" dirty="0"/>
              <a:t> in relation to misconduct:</a:t>
            </a:r>
            <a:r>
              <a:rPr lang="en-IN" sz="1600" dirty="0"/>
              <a:t> this includes unfounded or knowingly false accusations of misconduct, failure to report known or suspected misconduct, withholding or destruction of information relevant to a claim of misconduct and retaliation against persons involved in the allegation or investigation.</a:t>
            </a:r>
          </a:p>
          <a:p>
            <a:r>
              <a:rPr lang="en-IN" sz="1600" dirty="0"/>
              <a:t>Deliberate misrepresentation of qualifications, experience, or research accomplishments to advance the research program, to obtain external funding, or for other professional advancement.</a:t>
            </a:r>
          </a:p>
          <a:p>
            <a:endParaRPr lang="en-IN" sz="1600" dirty="0"/>
          </a:p>
        </p:txBody>
      </p:sp>
    </p:spTree>
    <p:extLst>
      <p:ext uri="{BB962C8B-B14F-4D97-AF65-F5344CB8AC3E}">
        <p14:creationId xmlns:p14="http://schemas.microsoft.com/office/powerpoint/2010/main" val="62718910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0480"/>
            <a:ext cx="8229600" cy="1143000"/>
          </a:xfrm>
        </p:spPr>
        <p:txBody>
          <a:bodyPr>
            <a:normAutofit/>
          </a:bodyPr>
          <a:lstStyle/>
          <a:p>
            <a:r>
              <a:rPr lang="en-IN" b="1" i="1" dirty="0"/>
              <a:t>Responses to possible misconduct</a:t>
            </a:r>
            <a:endParaRPr lang="en-IN" dirty="0"/>
          </a:p>
        </p:txBody>
      </p:sp>
      <p:sp>
        <p:nvSpPr>
          <p:cNvPr id="3" name="Content Placeholder 2"/>
          <p:cNvSpPr>
            <a:spLocks noGrp="1"/>
          </p:cNvSpPr>
          <p:nvPr>
            <p:ph idx="1"/>
          </p:nvPr>
        </p:nvSpPr>
        <p:spPr>
          <a:xfrm>
            <a:off x="457200" y="1066800"/>
            <a:ext cx="8229600" cy="4525963"/>
          </a:xfrm>
        </p:spPr>
        <p:txBody>
          <a:bodyPr>
            <a:noAutofit/>
          </a:bodyPr>
          <a:lstStyle/>
          <a:p>
            <a:r>
              <a:rPr lang="en-IN" sz="1600" dirty="0"/>
              <a:t>Journals should have an explicit policy describing the process by which they will respond to allegations of misconduct. The process described in the following 2 paragraphs is an example of a policy for an individual journal:</a:t>
            </a:r>
          </a:p>
          <a:p>
            <a:r>
              <a:rPr lang="en-IN" sz="1600" dirty="0"/>
              <a:t> </a:t>
            </a:r>
            <a:r>
              <a:rPr lang="en-IN" sz="1600" i="1" dirty="0"/>
              <a:t>All allegations of misconduct will be referred to the Editor-In-Chief, who will review the circumstances in consultation with the deputy editors. Initial fact-finding will usually include a request to all the involved parties to state their case, and explain the circumstances, in writing. In questions of research misconduct </a:t>
            </a:r>
            <a:r>
              <a:rPr lang="en-IN" sz="1600" i="1" dirty="0" err="1"/>
              <a:t>centering</a:t>
            </a:r>
            <a:r>
              <a:rPr lang="en-IN" sz="1600" i="1" dirty="0"/>
              <a:t> on methods or technical issues, the Editor-In-Chief may confidentially consult experts who are blinded to the identity of the individuals, or if the allegation is against an editor, an outside editor expert. The Editor-In-Chief and deputy editors will arrive at a conclusion as to whether there is enough evidence to lead a reasonable person to believe there is a possibility of misconduct. Their goal is not to determine if actual misconduct occurred, or the precise details of that misconduct.</a:t>
            </a:r>
            <a:endParaRPr lang="en-IN" sz="1600" dirty="0"/>
          </a:p>
          <a:p>
            <a:r>
              <a:rPr lang="en-IN" sz="1600" dirty="0"/>
              <a:t> </a:t>
            </a:r>
            <a:r>
              <a:rPr lang="en-IN" sz="1600" i="1" dirty="0"/>
              <a:t>When allegations concern authors, the peer review and publication process for the manuscript in question will be halted while the process above is carried out. The investigation described above will be completed even if the authors withdraw their paper, and the responses below will still be considered. In the case of allegations against reviewers or editors, they will be replaced in the review process while the matter is investigated.</a:t>
            </a:r>
            <a:endParaRPr lang="en-IN" sz="1600" dirty="0"/>
          </a:p>
          <a:p>
            <a:r>
              <a:rPr lang="en-IN" sz="1600" dirty="0"/>
              <a:t> All such allegations should be kept confidential; the number of inquiries and those involved should be kept to the minimum necessary to achieve this end. Whenever possible, references to the case in writing should be kept anonymous. </a:t>
            </a:r>
          </a:p>
        </p:txBody>
      </p:sp>
    </p:spTree>
    <p:extLst>
      <p:ext uri="{BB962C8B-B14F-4D97-AF65-F5344CB8AC3E}">
        <p14:creationId xmlns:p14="http://schemas.microsoft.com/office/powerpoint/2010/main" val="44711798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
            <a:ext cx="8229600" cy="1143000"/>
          </a:xfrm>
        </p:spPr>
        <p:txBody>
          <a:bodyPr>
            <a:normAutofit/>
          </a:bodyPr>
          <a:lstStyle/>
          <a:p>
            <a:r>
              <a:rPr lang="en-IN" b="1" i="1" dirty="0"/>
              <a:t>Responses to possible misconduct</a:t>
            </a:r>
            <a:endParaRPr lang="en-IN" dirty="0"/>
          </a:p>
        </p:txBody>
      </p:sp>
      <p:sp>
        <p:nvSpPr>
          <p:cNvPr id="3" name="Content Placeholder 2"/>
          <p:cNvSpPr>
            <a:spLocks noGrp="1"/>
          </p:cNvSpPr>
          <p:nvPr>
            <p:ph idx="1"/>
          </p:nvPr>
        </p:nvSpPr>
        <p:spPr>
          <a:xfrm>
            <a:off x="381000" y="1066800"/>
            <a:ext cx="8229600" cy="5791200"/>
          </a:xfrm>
        </p:spPr>
        <p:txBody>
          <a:bodyPr>
            <a:noAutofit/>
          </a:bodyPr>
          <a:lstStyle/>
          <a:p>
            <a:r>
              <a:rPr lang="en-IN" sz="1400" dirty="0"/>
              <a:t>Journals have an obligation to readers and patients to ensure that their published research is both accurate and adheres to the highest ethical standard. Therefore, if the inquiry concludes there is a reasonable possibility of misconduct, responses should be undertaken, chosen in accordance with the apparent magnitude of the misconduct. Responses may be applied separately or combined, and their implementation should depend on the circumstances of the case as well as the responses of the participating parties and institutions. </a:t>
            </a:r>
          </a:p>
          <a:p>
            <a:pPr marL="0" indent="0">
              <a:buNone/>
            </a:pPr>
            <a:r>
              <a:rPr lang="en-IN" sz="1600" b="1" dirty="0">
                <a:solidFill>
                  <a:srgbClr val="0000FF"/>
                </a:solidFill>
              </a:rPr>
              <a:t>The following options are ranked in approximate order of severity:</a:t>
            </a:r>
          </a:p>
          <a:p>
            <a:r>
              <a:rPr lang="en-IN" sz="1400" dirty="0"/>
              <a:t>A letter of explanation (and education) sent only to the person against whom the complaint is made, where there appears to be a genuine and innocent misunderstanding of principles or procedure.</a:t>
            </a:r>
          </a:p>
          <a:p>
            <a:r>
              <a:rPr lang="en-IN" sz="1400" dirty="0"/>
              <a:t>A letter of reprimand to the same party, warning of the consequences of future such instances, where the misunderstanding appears to be not entirely innocent.</a:t>
            </a:r>
          </a:p>
          <a:p>
            <a:r>
              <a:rPr lang="en-IN" sz="1400" dirty="0"/>
              <a:t>A formal letter as above, including a written request to the supervising institution that a investigation be carried out and the findings of that inquiry reported in writing to the journal.</a:t>
            </a:r>
          </a:p>
          <a:p>
            <a:r>
              <a:rPr lang="en-IN" sz="1400" dirty="0"/>
              <a:t>Publication of a notice of redundant or duplicate publication or plagiarism, if appropriate (and unequivocally documented). Such publication will not require approval of authors, and should be reported to their institution.</a:t>
            </a:r>
          </a:p>
          <a:p>
            <a:r>
              <a:rPr lang="en-IN" sz="1400" dirty="0"/>
              <a:t>Formal withdrawal or retraction of the paper from the scientific literature, published in the journal, informing readers and the indexing authorities (National Library of Medicine, </a:t>
            </a:r>
            <a:r>
              <a:rPr lang="en-IN" sz="1400" dirty="0" err="1"/>
              <a:t>etc</a:t>
            </a:r>
            <a:r>
              <a:rPr lang="en-IN" sz="1400" dirty="0"/>
              <a:t>), if there is a formal finding of misconduct by an institution. Such publication will not require approval of authors, should be reported to their institution, and should be readily visible and identifiable in the journal. It should also meet other requirements established by the </a:t>
            </a:r>
            <a:r>
              <a:rPr lang="en-IN" sz="1400" dirty="0">
                <a:hlinkClick r:id="rId2"/>
              </a:rPr>
              <a:t>International Committee of Journal Editors</a:t>
            </a:r>
            <a:r>
              <a:rPr lang="en-IN" sz="1400" dirty="0"/>
              <a:t> (accessed 12/2/03). It is recommended that editors inform readers and authors of their reservation of the right to publish a retraction if it meets these conditions, thereby helping decrease arguments with authors.</a:t>
            </a:r>
          </a:p>
          <a:p>
            <a:r>
              <a:rPr lang="en-IN" sz="1400" dirty="0"/>
              <a:t>Editors or reviewers who are found to have engaged in scientific misconduct should be removed from further association with the journal, and this fact reported to their institution. </a:t>
            </a:r>
          </a:p>
        </p:txBody>
      </p:sp>
    </p:spTree>
    <p:extLst>
      <p:ext uri="{BB962C8B-B14F-4D97-AF65-F5344CB8AC3E}">
        <p14:creationId xmlns:p14="http://schemas.microsoft.com/office/powerpoint/2010/main" val="22652473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Principles of Transparency and Best Practice in Scholarly Publishing</a:t>
            </a:r>
            <a:endParaRPr lang="en-IN" dirty="0"/>
          </a:p>
        </p:txBody>
      </p:sp>
      <p:sp>
        <p:nvSpPr>
          <p:cNvPr id="3" name="Content Placeholder 2"/>
          <p:cNvSpPr>
            <a:spLocks noGrp="1"/>
          </p:cNvSpPr>
          <p:nvPr>
            <p:ph idx="1"/>
          </p:nvPr>
        </p:nvSpPr>
        <p:spPr/>
        <p:txBody>
          <a:bodyPr>
            <a:normAutofit fontScale="55000" lnSpcReduction="20000"/>
          </a:bodyPr>
          <a:lstStyle/>
          <a:p>
            <a:pPr marL="0" indent="0">
              <a:buNone/>
            </a:pPr>
            <a:r>
              <a:rPr lang="en-IN" sz="3400" b="1" dirty="0">
                <a:solidFill>
                  <a:srgbClr val="C00000"/>
                </a:solidFill>
              </a:rPr>
              <a:t>Introduction</a:t>
            </a:r>
            <a:endParaRPr lang="en-IN" sz="3400" dirty="0">
              <a:solidFill>
                <a:srgbClr val="C00000"/>
              </a:solidFill>
            </a:endParaRPr>
          </a:p>
          <a:p>
            <a:r>
              <a:rPr lang="en-IN" dirty="0"/>
              <a:t>The </a:t>
            </a:r>
            <a:r>
              <a:rPr lang="en-IN" dirty="0">
                <a:hlinkClick r:id="rId2"/>
              </a:rPr>
              <a:t>Committee on Publication Ethics</a:t>
            </a:r>
            <a:r>
              <a:rPr lang="en-IN" dirty="0"/>
              <a:t> (COPE), the </a:t>
            </a:r>
            <a:r>
              <a:rPr lang="en-IN" dirty="0">
                <a:hlinkClick r:id="rId3"/>
              </a:rPr>
              <a:t>Directory of Open Access Journals</a:t>
            </a:r>
            <a:r>
              <a:rPr lang="en-IN" dirty="0"/>
              <a:t> (DOAJ), the </a:t>
            </a:r>
            <a:r>
              <a:rPr lang="en-IN" dirty="0">
                <a:hlinkClick r:id="rId4"/>
              </a:rPr>
              <a:t>Open Access Scholarly Publishing Association</a:t>
            </a:r>
            <a:r>
              <a:rPr lang="en-IN" dirty="0"/>
              <a:t> (OASPA), and the </a:t>
            </a:r>
            <a:r>
              <a:rPr lang="en-IN" dirty="0">
                <a:hlinkClick r:id="rId5"/>
              </a:rPr>
              <a:t>World Association of Medical Editors</a:t>
            </a:r>
            <a:r>
              <a:rPr lang="en-IN" dirty="0"/>
              <a:t> (WAME) are scholarly organizations that have collaborated to identify principles of transparency and best practice for scholarly publications. </a:t>
            </a:r>
          </a:p>
          <a:p>
            <a:r>
              <a:rPr lang="en-IN" dirty="0"/>
              <a:t>Editorial decisions should be based on scholarly merit. They should not be affected by the origins of the manuscript, including the nationality, ethnicity, political beliefs, race, or religion of the authors. Journals should ensure no policies create an exclusionary environment for anyone wanting to engage with the journal and should regularly assess their policies for inclusivity.</a:t>
            </a:r>
          </a:p>
          <a:p>
            <a:r>
              <a:rPr lang="en-IN" dirty="0">
                <a:hlinkClick r:id="rId6"/>
              </a:rPr>
              <a:t>Journal content</a:t>
            </a:r>
            <a:r>
              <a:rPr lang="en-IN" dirty="0"/>
              <a:t> (Name of journal, Website, Publishing schedule, Archiving, Copyright, Licensing)</a:t>
            </a:r>
          </a:p>
          <a:p>
            <a:r>
              <a:rPr lang="en-IN" dirty="0">
                <a:hlinkClick r:id="rId7"/>
              </a:rPr>
              <a:t>Journal practices</a:t>
            </a:r>
            <a:r>
              <a:rPr lang="en-IN" dirty="0"/>
              <a:t> (Publication ethics, Peer review, Access)</a:t>
            </a:r>
          </a:p>
          <a:p>
            <a:r>
              <a:rPr lang="en-IN" dirty="0">
                <a:hlinkClick r:id="rId8"/>
              </a:rPr>
              <a:t>Organization</a:t>
            </a:r>
            <a:r>
              <a:rPr lang="en-IN" dirty="0"/>
              <a:t> (Ownership and management, Advisory body, Editorial team/contact information)</a:t>
            </a:r>
          </a:p>
          <a:p>
            <a:r>
              <a:rPr lang="en-IN" dirty="0">
                <a:hlinkClick r:id="rId9"/>
              </a:rPr>
              <a:t>Business practices</a:t>
            </a:r>
            <a:r>
              <a:rPr lang="en-IN" dirty="0"/>
              <a:t> (Author fees, Other revenue, Advertising, Direct marketing)</a:t>
            </a:r>
          </a:p>
          <a:p>
            <a:r>
              <a:rPr lang="en-IN" b="1" dirty="0">
                <a:hlinkClick r:id="rId10"/>
              </a:rPr>
              <a:t>Translations</a:t>
            </a:r>
            <a:r>
              <a:rPr lang="en-IN" dirty="0">
                <a:hlinkClick r:id="rId10"/>
              </a:rPr>
              <a:t> </a:t>
            </a:r>
            <a:r>
              <a:rPr lang="en-IN" dirty="0"/>
              <a:t>(</a:t>
            </a:r>
            <a:r>
              <a:rPr lang="en-IN" dirty="0" err="1"/>
              <a:t>Português</a:t>
            </a:r>
            <a:r>
              <a:rPr lang="en-IN" dirty="0"/>
              <a:t>, Bengali, </a:t>
            </a:r>
            <a:r>
              <a:rPr lang="en-IN" dirty="0" err="1"/>
              <a:t>Prevod</a:t>
            </a:r>
            <a:r>
              <a:rPr lang="en-IN" dirty="0"/>
              <a:t>, Latin American Spanish [version 3.0])</a:t>
            </a:r>
          </a:p>
          <a:p>
            <a:endParaRPr lang="en-IN" b="1" dirty="0"/>
          </a:p>
        </p:txBody>
      </p:sp>
    </p:spTree>
    <p:extLst>
      <p:ext uri="{BB962C8B-B14F-4D97-AF65-F5344CB8AC3E}">
        <p14:creationId xmlns:p14="http://schemas.microsoft.com/office/powerpoint/2010/main" val="53233347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Principles of Transparency and Best Practice in Scholarly Publishing</a:t>
            </a:r>
            <a:endParaRPr lang="en-IN" dirty="0"/>
          </a:p>
        </p:txBody>
      </p:sp>
      <p:sp>
        <p:nvSpPr>
          <p:cNvPr id="3" name="Content Placeholder 2"/>
          <p:cNvSpPr>
            <a:spLocks noGrp="1"/>
          </p:cNvSpPr>
          <p:nvPr>
            <p:ph idx="1"/>
          </p:nvPr>
        </p:nvSpPr>
        <p:spPr>
          <a:xfrm>
            <a:off x="457200" y="1798637"/>
            <a:ext cx="4191000" cy="4525963"/>
          </a:xfrm>
        </p:spPr>
        <p:txBody>
          <a:bodyPr>
            <a:noAutofit/>
          </a:bodyPr>
          <a:lstStyle/>
          <a:p>
            <a:pPr marL="0" indent="0">
              <a:buNone/>
            </a:pPr>
            <a:r>
              <a:rPr lang="en-IN" sz="2000" b="1" dirty="0"/>
              <a:t>Journal content</a:t>
            </a:r>
            <a:endParaRPr lang="en-IN" sz="2000" dirty="0"/>
          </a:p>
          <a:p>
            <a:pPr marL="0" indent="0">
              <a:buNone/>
            </a:pPr>
            <a:r>
              <a:rPr lang="en-IN" sz="2000" dirty="0">
                <a:solidFill>
                  <a:srgbClr val="C00000"/>
                </a:solidFill>
              </a:rPr>
              <a:t>1. Name of journal</a:t>
            </a:r>
          </a:p>
          <a:p>
            <a:pPr marL="0" indent="0">
              <a:buNone/>
            </a:pPr>
            <a:r>
              <a:rPr lang="en-IN" sz="2000" dirty="0">
                <a:solidFill>
                  <a:srgbClr val="C00000"/>
                </a:solidFill>
              </a:rPr>
              <a:t>2. Website</a:t>
            </a:r>
          </a:p>
          <a:p>
            <a:pPr marL="0" indent="0">
              <a:buNone/>
            </a:pPr>
            <a:r>
              <a:rPr lang="en-IN" sz="2000" dirty="0">
                <a:solidFill>
                  <a:srgbClr val="C00000"/>
                </a:solidFill>
              </a:rPr>
              <a:t>3. Publishing schedule</a:t>
            </a:r>
          </a:p>
          <a:p>
            <a:pPr marL="0" indent="0">
              <a:buNone/>
            </a:pPr>
            <a:r>
              <a:rPr lang="en-IN" sz="2000" dirty="0">
                <a:solidFill>
                  <a:srgbClr val="C00000"/>
                </a:solidFill>
              </a:rPr>
              <a:t>4. Archiving</a:t>
            </a:r>
          </a:p>
          <a:p>
            <a:pPr marL="0" indent="0">
              <a:buNone/>
            </a:pPr>
            <a:r>
              <a:rPr lang="en-IN" sz="2000" dirty="0">
                <a:solidFill>
                  <a:srgbClr val="C00000"/>
                </a:solidFill>
              </a:rPr>
              <a:t>5. Copyright </a:t>
            </a:r>
          </a:p>
          <a:p>
            <a:pPr marL="0" indent="0">
              <a:buNone/>
            </a:pPr>
            <a:r>
              <a:rPr lang="en-IN" sz="2000" dirty="0">
                <a:solidFill>
                  <a:srgbClr val="C00000"/>
                </a:solidFill>
              </a:rPr>
              <a:t>6. Licensing</a:t>
            </a:r>
          </a:p>
          <a:p>
            <a:pPr marL="0" indent="0">
              <a:buNone/>
            </a:pPr>
            <a:endParaRPr lang="en-IN" sz="2000" dirty="0"/>
          </a:p>
          <a:p>
            <a:pPr marL="0" indent="0">
              <a:buNone/>
            </a:pPr>
            <a:r>
              <a:rPr lang="en-IN" sz="2000" b="1" dirty="0"/>
              <a:t>Journal practices</a:t>
            </a:r>
            <a:endParaRPr lang="en-IN" sz="2000" dirty="0"/>
          </a:p>
          <a:p>
            <a:pPr marL="0" indent="0">
              <a:buNone/>
            </a:pPr>
            <a:r>
              <a:rPr lang="en-IN" sz="2000" dirty="0">
                <a:solidFill>
                  <a:srgbClr val="C00000"/>
                </a:solidFill>
              </a:rPr>
              <a:t>7. Publication ethics and related editorial policies</a:t>
            </a:r>
          </a:p>
          <a:p>
            <a:pPr marL="0" indent="0">
              <a:buNone/>
            </a:pPr>
            <a:r>
              <a:rPr lang="en-IN" sz="2000" dirty="0">
                <a:solidFill>
                  <a:srgbClr val="C00000"/>
                </a:solidFill>
              </a:rPr>
              <a:t>8. Peer review </a:t>
            </a:r>
          </a:p>
          <a:p>
            <a:pPr marL="0" indent="0">
              <a:buNone/>
            </a:pPr>
            <a:r>
              <a:rPr lang="en-IN" sz="2000" dirty="0">
                <a:solidFill>
                  <a:srgbClr val="C00000"/>
                </a:solidFill>
              </a:rPr>
              <a:t>9. Access</a:t>
            </a:r>
          </a:p>
          <a:p>
            <a:pPr marL="0" indent="0">
              <a:buNone/>
            </a:pPr>
            <a:endParaRPr lang="en-IN" sz="2000" dirty="0"/>
          </a:p>
          <a:p>
            <a:pPr marL="0" indent="0">
              <a:buNone/>
            </a:pPr>
            <a:endParaRPr lang="en-IN" sz="2000" dirty="0"/>
          </a:p>
        </p:txBody>
      </p:sp>
      <p:sp>
        <p:nvSpPr>
          <p:cNvPr id="4" name="Content Placeholder 2"/>
          <p:cNvSpPr txBox="1">
            <a:spLocks/>
          </p:cNvSpPr>
          <p:nvPr/>
        </p:nvSpPr>
        <p:spPr>
          <a:xfrm>
            <a:off x="4724400" y="1798637"/>
            <a:ext cx="4191000" cy="452596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IN" sz="2000" b="1" dirty="0"/>
              <a:t>Organization</a:t>
            </a:r>
            <a:endParaRPr lang="en-IN" sz="2000" dirty="0"/>
          </a:p>
          <a:p>
            <a:pPr marL="0" indent="0">
              <a:buFont typeface="Arial" pitchFamily="34" charset="0"/>
              <a:buNone/>
            </a:pPr>
            <a:r>
              <a:rPr lang="en-IN" sz="2000" dirty="0">
                <a:solidFill>
                  <a:srgbClr val="C00000"/>
                </a:solidFill>
              </a:rPr>
              <a:t>10. Ownership and management</a:t>
            </a:r>
          </a:p>
          <a:p>
            <a:pPr marL="0" indent="0">
              <a:buFont typeface="Arial" pitchFamily="34" charset="0"/>
              <a:buNone/>
            </a:pPr>
            <a:r>
              <a:rPr lang="en-IN" sz="2000" dirty="0">
                <a:solidFill>
                  <a:srgbClr val="C00000"/>
                </a:solidFill>
              </a:rPr>
              <a:t>11. Advisory body</a:t>
            </a:r>
          </a:p>
          <a:p>
            <a:pPr marL="0" indent="0">
              <a:buFont typeface="Arial" pitchFamily="34" charset="0"/>
              <a:buNone/>
            </a:pPr>
            <a:r>
              <a:rPr lang="en-IN" sz="2000" dirty="0">
                <a:solidFill>
                  <a:srgbClr val="C00000"/>
                </a:solidFill>
              </a:rPr>
              <a:t>12. Editorial team/contact information</a:t>
            </a:r>
          </a:p>
          <a:p>
            <a:pPr marL="0" indent="0">
              <a:buFont typeface="Arial" pitchFamily="34" charset="0"/>
              <a:buNone/>
            </a:pPr>
            <a:endParaRPr lang="en-IN" sz="2000" dirty="0"/>
          </a:p>
          <a:p>
            <a:pPr marL="0" indent="0">
              <a:buFont typeface="Arial" pitchFamily="34" charset="0"/>
              <a:buNone/>
            </a:pPr>
            <a:r>
              <a:rPr lang="en-IN" sz="2000" b="1" dirty="0"/>
              <a:t>Business practices</a:t>
            </a:r>
            <a:endParaRPr lang="en-IN" sz="2000" dirty="0"/>
          </a:p>
          <a:p>
            <a:pPr marL="0" indent="0">
              <a:buFont typeface="Arial" pitchFamily="34" charset="0"/>
              <a:buNone/>
            </a:pPr>
            <a:r>
              <a:rPr lang="en-IN" sz="2000" dirty="0">
                <a:solidFill>
                  <a:srgbClr val="C00000"/>
                </a:solidFill>
              </a:rPr>
              <a:t>13. Author fees</a:t>
            </a:r>
          </a:p>
          <a:p>
            <a:pPr marL="0" indent="0">
              <a:buFont typeface="Arial" pitchFamily="34" charset="0"/>
              <a:buNone/>
            </a:pPr>
            <a:r>
              <a:rPr lang="en-IN" sz="2000" dirty="0">
                <a:solidFill>
                  <a:srgbClr val="C00000"/>
                </a:solidFill>
              </a:rPr>
              <a:t>14. Other revenue</a:t>
            </a:r>
          </a:p>
          <a:p>
            <a:pPr marL="0" indent="0">
              <a:buFont typeface="Arial" pitchFamily="34" charset="0"/>
              <a:buNone/>
            </a:pPr>
            <a:r>
              <a:rPr lang="en-IN" sz="2000" dirty="0">
                <a:solidFill>
                  <a:srgbClr val="C00000"/>
                </a:solidFill>
              </a:rPr>
              <a:t>15. Advertising</a:t>
            </a:r>
          </a:p>
          <a:p>
            <a:pPr marL="0" indent="0">
              <a:buFont typeface="Arial" pitchFamily="34" charset="0"/>
              <a:buNone/>
            </a:pPr>
            <a:r>
              <a:rPr lang="en-IN" sz="2000" dirty="0">
                <a:solidFill>
                  <a:srgbClr val="C00000"/>
                </a:solidFill>
              </a:rPr>
              <a:t>16. Direct marketing</a:t>
            </a:r>
          </a:p>
        </p:txBody>
      </p:sp>
    </p:spTree>
    <p:extLst>
      <p:ext uri="{BB962C8B-B14F-4D97-AF65-F5344CB8AC3E}">
        <p14:creationId xmlns:p14="http://schemas.microsoft.com/office/powerpoint/2010/main" val="2665991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7054</TotalTime>
  <Words>9633</Words>
  <Application>Microsoft Office PowerPoint</Application>
  <PresentationFormat>On-screen Show (4:3)</PresentationFormat>
  <Paragraphs>753</Paragraphs>
  <Slides>89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89</vt:i4>
      </vt:variant>
    </vt:vector>
  </HeadingPairs>
  <TitlesOfParts>
    <vt:vector size="96" baseType="lpstr">
      <vt:lpstr>Arial</vt:lpstr>
      <vt:lpstr>Berlin Sans FB Demi</vt:lpstr>
      <vt:lpstr>Calibri</vt:lpstr>
      <vt:lpstr>Courier New</vt:lpstr>
      <vt:lpstr>Garamond</vt:lpstr>
      <vt:lpstr>Wingdings</vt:lpstr>
      <vt:lpstr>Office Theme</vt:lpstr>
      <vt:lpstr>21IPC501J  PUBLICATION ETHICS AND MISCONDUCTS</vt:lpstr>
      <vt:lpstr>PowerPoint Presentation</vt:lpstr>
      <vt:lpstr>Ethics</vt:lpstr>
      <vt:lpstr>PowerPoint Presentation</vt:lpstr>
      <vt:lpstr>Ethics Defined</vt:lpstr>
      <vt:lpstr>Type of Ethics - Defined </vt:lpstr>
      <vt:lpstr>Ethics Evolution</vt:lpstr>
      <vt:lpstr>Ethics Evolution</vt:lpstr>
      <vt:lpstr>What is Research Ethics?</vt:lpstr>
      <vt:lpstr>PowerPoint Presentation</vt:lpstr>
      <vt:lpstr>Research Ethics</vt:lpstr>
      <vt:lpstr>Research Ethics</vt:lpstr>
      <vt:lpstr>Research Ethics</vt:lpstr>
      <vt:lpstr>Research Ethics</vt:lpstr>
      <vt:lpstr>Research Ethics</vt:lpstr>
      <vt:lpstr>Research Ethics</vt:lpstr>
      <vt:lpstr>Research Ethics</vt:lpstr>
      <vt:lpstr>Research Ethics</vt:lpstr>
      <vt:lpstr>Research Ethics</vt:lpstr>
      <vt:lpstr>PowerPoint Presentation</vt:lpstr>
      <vt:lpstr> Research Ethics are: </vt:lpstr>
      <vt:lpstr>Ethical Considerations in the Research Process</vt:lpstr>
      <vt:lpstr>Objectives of Research Ethics</vt:lpstr>
      <vt:lpstr>Principles of Research Ethics</vt:lpstr>
      <vt:lpstr>Principles of Research Ethics</vt:lpstr>
      <vt:lpstr>Principles of Research Ethics</vt:lpstr>
      <vt:lpstr>Principles of Research Ethics</vt:lpstr>
      <vt:lpstr>Principles of Research Ethics</vt:lpstr>
      <vt:lpstr>Broad Categorization of Research Ethics</vt:lpstr>
      <vt:lpstr>PowerPoint Presentation</vt:lpstr>
      <vt:lpstr>Broad Categorization of Research Ethics</vt:lpstr>
      <vt:lpstr>Broad Categorization of Research Ethics</vt:lpstr>
      <vt:lpstr>Broad Categorization of Research Ethics</vt:lpstr>
      <vt:lpstr>Advantages of Research Ethics</vt:lpstr>
      <vt:lpstr>Limitations of Research Ethics</vt:lpstr>
      <vt:lpstr>Ensure Ethics at Different Steps of Research</vt:lpstr>
      <vt:lpstr>FUNDAMENTALLY Research Ethics are:</vt:lpstr>
      <vt:lpstr>PowerPoint Presentation</vt:lpstr>
      <vt:lpstr>Concerned with Research Ethics: Reasons</vt:lpstr>
      <vt:lpstr>Six Fundamental Ethical Principles for Scientific Research</vt:lpstr>
      <vt:lpstr>Six Fundamental Ethical Principles for Scientific Research</vt:lpstr>
      <vt:lpstr>Ethical considerations for scientific conduct</vt:lpstr>
      <vt:lpstr>Ethical considerations for scientific conduct</vt:lpstr>
      <vt:lpstr>Ethical clearance considerations</vt:lpstr>
      <vt:lpstr>Another way of looking at research ethics is by looking at unethical research conduct</vt:lpstr>
      <vt:lpstr>Another way of looking at research ethics is by looking at unethical research conduct</vt:lpstr>
      <vt:lpstr>Publication Ethics:  Ethical considerations for scientific writing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Plagiarism</vt:lpstr>
      <vt:lpstr>Forms of plagiarism</vt:lpstr>
      <vt:lpstr>Protecting against plagiarism</vt:lpstr>
      <vt:lpstr>Recognition of co-author contributions</vt:lpstr>
      <vt:lpstr>Four ethical issues relating to co-authorship</vt:lpstr>
      <vt:lpstr>Four ethical issues relating to co-authorship</vt:lpstr>
      <vt:lpstr>Managing co-authorship</vt:lpstr>
      <vt:lpstr>My decision rules</vt:lpstr>
      <vt:lpstr>Exercise: Recognizing co-authorship</vt:lpstr>
      <vt:lpstr>Authorship credit: what is the order of authors?</vt:lpstr>
      <vt:lpstr>A formal way of handling co-author recognition: Credit</vt:lpstr>
      <vt:lpstr>Credit Roles</vt:lpstr>
      <vt:lpstr>Managing co-authorship: Communicate early and openly</vt:lpstr>
      <vt:lpstr>Honest reporting</vt:lpstr>
      <vt:lpstr>Publication bias</vt:lpstr>
      <vt:lpstr>Hacking</vt:lpstr>
      <vt:lpstr>p-Hacking</vt:lpstr>
      <vt:lpstr>Recommendations for honest reporting</vt:lpstr>
      <vt:lpstr>Appropriate use of language</vt:lpstr>
      <vt:lpstr>Responding to Allegations of Possible Misconduct</vt:lpstr>
      <vt:lpstr>Responding to Allegations of Possible Misconduct</vt:lpstr>
      <vt:lpstr>Responding to Allegations of Possible Misconduct</vt:lpstr>
      <vt:lpstr>Responses to possible misconduct</vt:lpstr>
      <vt:lpstr>Responses to possible misconduct</vt:lpstr>
      <vt:lpstr>Principles of Transparency and Best Practice in Scholarly Publishing</vt:lpstr>
      <vt:lpstr>Principles of Transparency and Best Practice in Scholarly Publishing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Philosophy: Definition, Nature and Scope, Concept, Branches - Ethics: Definition, Moral Philosophy, Nature of Moral Judgements and Reactions</dc:title>
  <dc:creator>user</dc:creator>
  <cp:lastModifiedBy>Subash R 101616</cp:lastModifiedBy>
  <cp:revision>188</cp:revision>
  <dcterms:created xsi:type="dcterms:W3CDTF">2006-08-16T00:00:00Z</dcterms:created>
  <dcterms:modified xsi:type="dcterms:W3CDTF">2025-10-11T00:10:29Z</dcterms:modified>
</cp:coreProperties>
</file>