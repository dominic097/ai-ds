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89"/>
  </p:notesMasterIdLst>
  <p:handoutMasterIdLst>
    <p:handoutMasterId r:id="rId90"/>
  </p:handoutMasterIdLst>
  <p:sldIdLst>
    <p:sldId id="659" r:id="rId2"/>
    <p:sldId id="660" r:id="rId3"/>
    <p:sldId id="661" r:id="rId4"/>
    <p:sldId id="672" r:id="rId5"/>
    <p:sldId id="673" r:id="rId6"/>
    <p:sldId id="674" r:id="rId7"/>
    <p:sldId id="662" r:id="rId8"/>
    <p:sldId id="675" r:id="rId9"/>
    <p:sldId id="676" r:id="rId10"/>
    <p:sldId id="677" r:id="rId11"/>
    <p:sldId id="663" r:id="rId12"/>
    <p:sldId id="664" r:id="rId13"/>
    <p:sldId id="665" r:id="rId14"/>
    <p:sldId id="666" r:id="rId15"/>
    <p:sldId id="667" r:id="rId16"/>
    <p:sldId id="668" r:id="rId17"/>
    <p:sldId id="669" r:id="rId18"/>
    <p:sldId id="670" r:id="rId19"/>
    <p:sldId id="671" r:id="rId20"/>
    <p:sldId id="678" r:id="rId21"/>
    <p:sldId id="679" r:id="rId22"/>
    <p:sldId id="680" r:id="rId23"/>
    <p:sldId id="681" r:id="rId24"/>
    <p:sldId id="682" r:id="rId25"/>
    <p:sldId id="683" r:id="rId26"/>
    <p:sldId id="684" r:id="rId27"/>
    <p:sldId id="685" r:id="rId28"/>
    <p:sldId id="686" r:id="rId29"/>
    <p:sldId id="687" r:id="rId30"/>
    <p:sldId id="688" r:id="rId31"/>
    <p:sldId id="689" r:id="rId32"/>
    <p:sldId id="690" r:id="rId33"/>
    <p:sldId id="691" r:id="rId34"/>
    <p:sldId id="692" r:id="rId35"/>
    <p:sldId id="693" r:id="rId36"/>
    <p:sldId id="694" r:id="rId37"/>
    <p:sldId id="695" r:id="rId38"/>
    <p:sldId id="696" r:id="rId39"/>
    <p:sldId id="697" r:id="rId40"/>
    <p:sldId id="701" r:id="rId41"/>
    <p:sldId id="698" r:id="rId42"/>
    <p:sldId id="702" r:id="rId43"/>
    <p:sldId id="699" r:id="rId44"/>
    <p:sldId id="700" r:id="rId45"/>
    <p:sldId id="703" r:id="rId46"/>
    <p:sldId id="704" r:id="rId47"/>
    <p:sldId id="705" r:id="rId48"/>
    <p:sldId id="706" r:id="rId49"/>
    <p:sldId id="707" r:id="rId50"/>
    <p:sldId id="708" r:id="rId51"/>
    <p:sldId id="709" r:id="rId52"/>
    <p:sldId id="710" r:id="rId53"/>
    <p:sldId id="712" r:id="rId54"/>
    <p:sldId id="711" r:id="rId55"/>
    <p:sldId id="713" r:id="rId56"/>
    <p:sldId id="714" r:id="rId57"/>
    <p:sldId id="715" r:id="rId58"/>
    <p:sldId id="716" r:id="rId59"/>
    <p:sldId id="717" r:id="rId60"/>
    <p:sldId id="718" r:id="rId61"/>
    <p:sldId id="719" r:id="rId62"/>
    <p:sldId id="720" r:id="rId63"/>
    <p:sldId id="721" r:id="rId64"/>
    <p:sldId id="722" r:id="rId65"/>
    <p:sldId id="723" r:id="rId66"/>
    <p:sldId id="724" r:id="rId67"/>
    <p:sldId id="725" r:id="rId68"/>
    <p:sldId id="726" r:id="rId69"/>
    <p:sldId id="727" r:id="rId70"/>
    <p:sldId id="728" r:id="rId71"/>
    <p:sldId id="729" r:id="rId72"/>
    <p:sldId id="730" r:id="rId73"/>
    <p:sldId id="731" r:id="rId74"/>
    <p:sldId id="732" r:id="rId75"/>
    <p:sldId id="733" r:id="rId76"/>
    <p:sldId id="734" r:id="rId77"/>
    <p:sldId id="324" r:id="rId78"/>
    <p:sldId id="354" r:id="rId79"/>
    <p:sldId id="326" r:id="rId80"/>
    <p:sldId id="735" r:id="rId81"/>
    <p:sldId id="736" r:id="rId82"/>
    <p:sldId id="737" r:id="rId83"/>
    <p:sldId id="738" r:id="rId84"/>
    <p:sldId id="739" r:id="rId85"/>
    <p:sldId id="740" r:id="rId86"/>
    <p:sldId id="741" r:id="rId87"/>
    <p:sldId id="742" r:id="rId88"/>
  </p:sldIdLst>
  <p:sldSz cx="9144000" cy="6858000" type="screen4x3"/>
  <p:notesSz cx="6797675" cy="9874250"/>
  <p:custDataLst>
    <p:tags r:id="rId91"/>
  </p:custDataLst>
  <p:defaultTextStyle>
    <a:defPPr>
      <a:defRPr lang="ko-KR"/>
    </a:defPPr>
    <a:lvl1pPr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1pPr>
    <a:lvl2pPr marL="457200"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2pPr>
    <a:lvl3pPr marL="914400"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3pPr>
    <a:lvl4pPr marL="1371600"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4pPr>
    <a:lvl5pPr marL="1828800"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5pPr>
    <a:lvl6pPr marL="2286000" algn="l" defTabSz="914400" rtl="0" eaLnBrk="1" latinLnBrk="1" hangingPunct="1">
      <a:defRPr kumimoji="1" sz="1400" kern="1200">
        <a:solidFill>
          <a:srgbClr val="2B3749"/>
        </a:solidFill>
        <a:latin typeface="맑은 고딕" panose="020B0503020000020004" pitchFamily="50" charset="-127"/>
        <a:ea typeface="맑은 고딕" panose="020B0503020000020004" pitchFamily="50" charset="-127"/>
        <a:cs typeface="+mn-cs"/>
      </a:defRPr>
    </a:lvl6pPr>
    <a:lvl7pPr marL="2743200" algn="l" defTabSz="914400" rtl="0" eaLnBrk="1" latinLnBrk="1" hangingPunct="1">
      <a:defRPr kumimoji="1" sz="1400" kern="1200">
        <a:solidFill>
          <a:srgbClr val="2B3749"/>
        </a:solidFill>
        <a:latin typeface="맑은 고딕" panose="020B0503020000020004" pitchFamily="50" charset="-127"/>
        <a:ea typeface="맑은 고딕" panose="020B0503020000020004" pitchFamily="50" charset="-127"/>
        <a:cs typeface="+mn-cs"/>
      </a:defRPr>
    </a:lvl7pPr>
    <a:lvl8pPr marL="3200400" algn="l" defTabSz="914400" rtl="0" eaLnBrk="1" latinLnBrk="1" hangingPunct="1">
      <a:defRPr kumimoji="1" sz="1400" kern="1200">
        <a:solidFill>
          <a:srgbClr val="2B3749"/>
        </a:solidFill>
        <a:latin typeface="맑은 고딕" panose="020B0503020000020004" pitchFamily="50" charset="-127"/>
        <a:ea typeface="맑은 고딕" panose="020B0503020000020004" pitchFamily="50" charset="-127"/>
        <a:cs typeface="+mn-cs"/>
      </a:defRPr>
    </a:lvl8pPr>
    <a:lvl9pPr marL="3657600" algn="l" defTabSz="914400" rtl="0" eaLnBrk="1" latinLnBrk="1" hangingPunct="1">
      <a:defRPr kumimoji="1" sz="1400" kern="1200">
        <a:solidFill>
          <a:srgbClr val="2B3749"/>
        </a:solidFill>
        <a:latin typeface="맑은 고딕" panose="020B0503020000020004" pitchFamily="50" charset="-127"/>
        <a:ea typeface="맑은 고딕" panose="020B0503020000020004" pitchFamily="50" charset="-127"/>
        <a:cs typeface="+mn-cs"/>
      </a:defRPr>
    </a:lvl9pPr>
  </p:defaultTextStyle>
  <p:extLst>
    <p:ext uri="{EFAFB233-063F-42B5-8137-9DF3F51BA10A}">
      <p15:sldGuideLst xmlns:p15="http://schemas.microsoft.com/office/powerpoint/2012/main" xmlns="">
        <p15:guide id="1" orient="horz" pos="4088" userDrawn="1">
          <p15:clr>
            <a:srgbClr val="A4A3A4"/>
          </p15:clr>
        </p15:guide>
        <p15:guide id="2" orient="horz" pos="142" userDrawn="1">
          <p15:clr>
            <a:srgbClr val="A4A3A4"/>
          </p15:clr>
        </p15:guide>
        <p15:guide id="3" pos="159" userDrawn="1">
          <p15:clr>
            <a:srgbClr val="A4A3A4"/>
          </p15:clr>
        </p15:guide>
        <p15:guide id="4" pos="5601" userDrawn="1">
          <p15:clr>
            <a:srgbClr val="A4A3A4"/>
          </p15:clr>
        </p15:guide>
      </p15:sldGuideLst>
    </p:ext>
    <p:ext uri="{2D200454-40CA-4A62-9FC3-DE9A4176ACB9}">
      <p15:notesGuideLst xmlns:p15="http://schemas.microsoft.com/office/powerpoint/2012/main" xmlns="">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FFED9F"/>
    <a:srgbClr val="FFD700"/>
    <a:srgbClr val="00008B"/>
    <a:srgbClr val="FF6600"/>
    <a:srgbClr val="F462C7"/>
    <a:srgbClr val="000000"/>
    <a:srgbClr val="99FDEC"/>
    <a:srgbClr val="F89EDC"/>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30" autoAdjust="0"/>
    <p:restoredTop sz="95535" autoAdjust="0"/>
  </p:normalViewPr>
  <p:slideViewPr>
    <p:cSldViewPr snapToObjects="1">
      <p:cViewPr>
        <p:scale>
          <a:sx n="96" d="100"/>
          <a:sy n="96" d="100"/>
        </p:scale>
        <p:origin x="-1219" y="-14"/>
      </p:cViewPr>
      <p:guideLst>
        <p:guide orient="horz" pos="4088"/>
        <p:guide orient="horz" pos="142"/>
        <p:guide pos="159"/>
        <p:guide pos="5601"/>
      </p:guideLst>
    </p:cSldViewPr>
  </p:slideViewPr>
  <p:notesTextViewPr>
    <p:cViewPr>
      <p:scale>
        <a:sx n="3" d="2"/>
        <a:sy n="3" d="2"/>
      </p:scale>
      <p:origin x="0" y="0"/>
    </p:cViewPr>
  </p:notesTextViewPr>
  <p:sorterViewPr>
    <p:cViewPr>
      <p:scale>
        <a:sx n="47" d="100"/>
        <a:sy n="47" d="100"/>
      </p:scale>
      <p:origin x="0" y="-1648"/>
    </p:cViewPr>
  </p:sorterViewPr>
  <p:notesViewPr>
    <p:cSldViewPr snapToObjects="1">
      <p:cViewPr varScale="1">
        <p:scale>
          <a:sx n="86" d="100"/>
          <a:sy n="86" d="100"/>
        </p:scale>
        <p:origin x="3192" y="84"/>
      </p:cViewPr>
      <p:guideLst>
        <p:guide orient="horz" pos="3110"/>
        <p:guide pos="2141"/>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handoutMaster" Target="handoutMasters/handoutMaster1.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5300"/>
          </a:xfrm>
          <a:prstGeom prst="rect">
            <a:avLst/>
          </a:prstGeom>
        </p:spPr>
        <p:txBody>
          <a:bodyPr vert="horz" lIns="91440" tIns="45720" rIns="91440" bIns="45720" rtlCol="0"/>
          <a:lstStyle>
            <a:lvl1pPr algn="l">
              <a:defRPr sz="1200"/>
            </a:lvl1pPr>
          </a:lstStyle>
          <a:p>
            <a:pPr>
              <a:defRPr/>
            </a:pPr>
            <a:endParaRPr lang="ko-KR" altLang="en-US"/>
          </a:p>
        </p:txBody>
      </p:sp>
      <p:sp>
        <p:nvSpPr>
          <p:cNvPr id="3" name="날짜 개체 틀 2"/>
          <p:cNvSpPr>
            <a:spLocks noGrp="1"/>
          </p:cNvSpPr>
          <p:nvPr>
            <p:ph type="dt" sz="quarter" idx="1"/>
          </p:nvPr>
        </p:nvSpPr>
        <p:spPr>
          <a:xfrm>
            <a:off x="3849688" y="0"/>
            <a:ext cx="2946400" cy="495300"/>
          </a:xfrm>
          <a:prstGeom prst="rect">
            <a:avLst/>
          </a:prstGeom>
        </p:spPr>
        <p:txBody>
          <a:bodyPr vert="horz" lIns="91440" tIns="45720" rIns="91440" bIns="45720" rtlCol="0"/>
          <a:lstStyle>
            <a:lvl1pPr algn="r">
              <a:defRPr sz="1200"/>
            </a:lvl1pPr>
          </a:lstStyle>
          <a:p>
            <a:pPr>
              <a:defRPr/>
            </a:pPr>
            <a:fld id="{EABE511C-0FA6-4D51-A8B3-7C04F07918F8}" type="datetimeFigureOut">
              <a:rPr lang="ko-KR" altLang="en-US"/>
              <a:pPr>
                <a:defRPr/>
              </a:pPr>
              <a:t>2025-09-21</a:t>
            </a:fld>
            <a:endParaRPr lang="ko-KR" altLang="en-US"/>
          </a:p>
        </p:txBody>
      </p:sp>
      <p:sp>
        <p:nvSpPr>
          <p:cNvPr id="4" name="바닥글 개체 틀 3"/>
          <p:cNvSpPr>
            <a:spLocks noGrp="1"/>
          </p:cNvSpPr>
          <p:nvPr>
            <p:ph type="ftr" sz="quarter" idx="2"/>
          </p:nvPr>
        </p:nvSpPr>
        <p:spPr>
          <a:xfrm>
            <a:off x="0" y="9378950"/>
            <a:ext cx="2946400" cy="495300"/>
          </a:xfrm>
          <a:prstGeom prst="rect">
            <a:avLst/>
          </a:prstGeom>
        </p:spPr>
        <p:txBody>
          <a:bodyPr vert="horz" lIns="91440" tIns="45720" rIns="91440" bIns="45720" rtlCol="0" anchor="b"/>
          <a:lstStyle>
            <a:lvl1pPr algn="l">
              <a:defRPr sz="1200"/>
            </a:lvl1pPr>
          </a:lstStyle>
          <a:p>
            <a:pPr>
              <a:defRPr/>
            </a:pPr>
            <a:endParaRPr lang="ko-KR" altLang="en-US"/>
          </a:p>
        </p:txBody>
      </p:sp>
      <p:sp>
        <p:nvSpPr>
          <p:cNvPr id="5" name="슬라이드 번호 개체 틀 4"/>
          <p:cNvSpPr>
            <a:spLocks noGrp="1"/>
          </p:cNvSpPr>
          <p:nvPr>
            <p:ph type="sldNum" sz="quarter" idx="3"/>
          </p:nvPr>
        </p:nvSpPr>
        <p:spPr>
          <a:xfrm>
            <a:off x="3849688" y="9378950"/>
            <a:ext cx="2946400" cy="495300"/>
          </a:xfrm>
          <a:prstGeom prst="rect">
            <a:avLst/>
          </a:prstGeom>
        </p:spPr>
        <p:txBody>
          <a:bodyPr vert="horz" lIns="91440" tIns="45720" rIns="91440" bIns="45720" rtlCol="0" anchor="b"/>
          <a:lstStyle>
            <a:lvl1pPr algn="r">
              <a:defRPr sz="1200"/>
            </a:lvl1pPr>
          </a:lstStyle>
          <a:p>
            <a:pPr>
              <a:defRPr/>
            </a:pPr>
            <a:fld id="{959E5A63-28D4-4E7E-9E7C-08904FEF9EB0}" type="slidenum">
              <a:rPr lang="ko-KR" altLang="en-US"/>
              <a:pPr>
                <a:defRPr/>
              </a:pPr>
              <a:t>‹#›</a:t>
            </a:fld>
            <a:endParaRPr lang="ko-KR" altLang="en-US"/>
          </a:p>
        </p:txBody>
      </p:sp>
    </p:spTree>
    <p:extLst>
      <p:ext uri="{BB962C8B-B14F-4D97-AF65-F5344CB8AC3E}">
        <p14:creationId xmlns:p14="http://schemas.microsoft.com/office/powerpoint/2010/main" val="4079182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2620" tIns="46310" rIns="92620" bIns="46310" numCol="1" anchor="t" anchorCtr="0" compatLnSpc="1">
            <a:prstTxWarp prst="textNoShape">
              <a:avLst/>
            </a:prstTxWarp>
          </a:bodyPr>
          <a:lstStyle>
            <a:lvl1pPr algn="l" defTabSz="925513" eaLnBrk="1" latinLnBrk="1" hangingPunct="1">
              <a:defRPr sz="1200">
                <a:solidFill>
                  <a:schemeClr val="tx1"/>
                </a:solidFill>
                <a:latin typeface="굴림" pitchFamily="50" charset="-127"/>
                <a:ea typeface="굴림" pitchFamily="50" charset="-127"/>
              </a:defRPr>
            </a:lvl1pPr>
          </a:lstStyle>
          <a:p>
            <a:pPr>
              <a:defRPr/>
            </a:pPr>
            <a:endParaRPr lang="en-US" altLang="ko-KR"/>
          </a:p>
        </p:txBody>
      </p:sp>
      <p:sp>
        <p:nvSpPr>
          <p:cNvPr id="8195" name="Rectangle 3"/>
          <p:cNvSpPr>
            <a:spLocks noGrp="1" noChangeArrowheads="1"/>
          </p:cNvSpPr>
          <p:nvPr>
            <p:ph type="dt" idx="1"/>
          </p:nvPr>
        </p:nvSpPr>
        <p:spPr bwMode="auto">
          <a:xfrm>
            <a:off x="3849688" y="0"/>
            <a:ext cx="2946400" cy="493713"/>
          </a:xfrm>
          <a:prstGeom prst="rect">
            <a:avLst/>
          </a:prstGeom>
          <a:noFill/>
          <a:ln w="9525">
            <a:noFill/>
            <a:miter lim="800000"/>
            <a:headEnd/>
            <a:tailEnd/>
          </a:ln>
          <a:effectLst/>
        </p:spPr>
        <p:txBody>
          <a:bodyPr vert="horz" wrap="square" lIns="92620" tIns="46310" rIns="92620" bIns="46310" numCol="1" anchor="t" anchorCtr="0" compatLnSpc="1">
            <a:prstTxWarp prst="textNoShape">
              <a:avLst/>
            </a:prstTxWarp>
          </a:bodyPr>
          <a:lstStyle>
            <a:lvl1pPr algn="r" defTabSz="925513" eaLnBrk="1" latinLnBrk="1" hangingPunct="1">
              <a:defRPr sz="1200">
                <a:solidFill>
                  <a:schemeClr val="tx1"/>
                </a:solidFill>
                <a:latin typeface="굴림" pitchFamily="50" charset="-127"/>
                <a:ea typeface="굴림" pitchFamily="50" charset="-127"/>
              </a:defRPr>
            </a:lvl1pPr>
          </a:lstStyle>
          <a:p>
            <a:pPr>
              <a:defRPr/>
            </a:pPr>
            <a:endParaRPr lang="en-US" altLang="ko-KR"/>
          </a:p>
        </p:txBody>
      </p:sp>
      <p:sp>
        <p:nvSpPr>
          <p:cNvPr id="3076" name="Rectangle 4"/>
          <p:cNvSpPr>
            <a:spLocks noGrp="1" noRot="1" noChangeAspect="1" noChangeArrowheads="1" noTextEdit="1"/>
          </p:cNvSpPr>
          <p:nvPr>
            <p:ph type="sldImg" idx="2"/>
          </p:nvPr>
        </p:nvSpPr>
        <p:spPr bwMode="auto">
          <a:xfrm>
            <a:off x="935038" y="742950"/>
            <a:ext cx="4933950" cy="37004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79450" y="4691063"/>
            <a:ext cx="5438775" cy="4441825"/>
          </a:xfrm>
          <a:prstGeom prst="rect">
            <a:avLst/>
          </a:prstGeom>
          <a:noFill/>
          <a:ln w="9525">
            <a:noFill/>
            <a:miter lim="800000"/>
            <a:headEnd/>
            <a:tailEnd/>
          </a:ln>
          <a:effectLst/>
        </p:spPr>
        <p:txBody>
          <a:bodyPr vert="horz" wrap="square" lIns="92620" tIns="46310" rIns="92620" bIns="4631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8198" name="Rectangle 6"/>
          <p:cNvSpPr>
            <a:spLocks noGrp="1" noChangeArrowheads="1"/>
          </p:cNvSpPr>
          <p:nvPr>
            <p:ph type="ftr" sz="quarter" idx="4"/>
          </p:nvPr>
        </p:nvSpPr>
        <p:spPr bwMode="auto">
          <a:xfrm>
            <a:off x="0" y="9378950"/>
            <a:ext cx="2946400" cy="493713"/>
          </a:xfrm>
          <a:prstGeom prst="rect">
            <a:avLst/>
          </a:prstGeom>
          <a:noFill/>
          <a:ln w="9525">
            <a:noFill/>
            <a:miter lim="800000"/>
            <a:headEnd/>
            <a:tailEnd/>
          </a:ln>
          <a:effectLst/>
        </p:spPr>
        <p:txBody>
          <a:bodyPr vert="horz" wrap="square" lIns="92620" tIns="46310" rIns="92620" bIns="46310" numCol="1" anchor="b" anchorCtr="0" compatLnSpc="1">
            <a:prstTxWarp prst="textNoShape">
              <a:avLst/>
            </a:prstTxWarp>
          </a:bodyPr>
          <a:lstStyle>
            <a:lvl1pPr algn="l" defTabSz="925513" eaLnBrk="1" latinLnBrk="1" hangingPunct="1">
              <a:defRPr sz="1200">
                <a:solidFill>
                  <a:schemeClr val="tx1"/>
                </a:solidFill>
                <a:latin typeface="굴림" pitchFamily="50" charset="-127"/>
                <a:ea typeface="굴림" pitchFamily="50" charset="-127"/>
              </a:defRPr>
            </a:lvl1pPr>
          </a:lstStyle>
          <a:p>
            <a:pPr>
              <a:defRPr/>
            </a:pPr>
            <a:endParaRPr lang="en-US" altLang="ko-KR"/>
          </a:p>
        </p:txBody>
      </p:sp>
      <p:sp>
        <p:nvSpPr>
          <p:cNvPr id="8199" name="Rectangle 7"/>
          <p:cNvSpPr>
            <a:spLocks noGrp="1" noChangeArrowheads="1"/>
          </p:cNvSpPr>
          <p:nvPr>
            <p:ph type="sldNum" sz="quarter" idx="5"/>
          </p:nvPr>
        </p:nvSpPr>
        <p:spPr bwMode="auto">
          <a:xfrm>
            <a:off x="3849688" y="9378950"/>
            <a:ext cx="2946400" cy="493713"/>
          </a:xfrm>
          <a:prstGeom prst="rect">
            <a:avLst/>
          </a:prstGeom>
          <a:noFill/>
          <a:ln w="9525">
            <a:noFill/>
            <a:miter lim="800000"/>
            <a:headEnd/>
            <a:tailEnd/>
          </a:ln>
          <a:effectLst/>
        </p:spPr>
        <p:txBody>
          <a:bodyPr vert="horz" wrap="square" lIns="92620" tIns="46310" rIns="92620" bIns="46310" numCol="1" anchor="b" anchorCtr="0" compatLnSpc="1">
            <a:prstTxWarp prst="textNoShape">
              <a:avLst/>
            </a:prstTxWarp>
          </a:bodyPr>
          <a:lstStyle>
            <a:lvl1pPr algn="r" defTabSz="925513" eaLnBrk="1" latinLnBrk="1" hangingPunct="1">
              <a:defRPr sz="1200">
                <a:solidFill>
                  <a:schemeClr val="tx1"/>
                </a:solidFill>
                <a:latin typeface="굴림" panose="020B0600000101010101" pitchFamily="50" charset="-127"/>
                <a:ea typeface="굴림" panose="020B0600000101010101" pitchFamily="50" charset="-127"/>
              </a:defRPr>
            </a:lvl1pPr>
          </a:lstStyle>
          <a:p>
            <a:pPr>
              <a:defRPr/>
            </a:pPr>
            <a:fld id="{524695D2-9D53-4741-8B14-4E817D3A42AD}" type="slidenum">
              <a:rPr lang="en-US" altLang="ko-KR"/>
              <a:pPr>
                <a:defRPr/>
              </a:pPr>
              <a:t>‹#›</a:t>
            </a:fld>
            <a:endParaRPr lang="en-US" altLang="ko-KR"/>
          </a:p>
        </p:txBody>
      </p:sp>
    </p:spTree>
    <p:extLst>
      <p:ext uri="{BB962C8B-B14F-4D97-AF65-F5344CB8AC3E}">
        <p14:creationId xmlns:p14="http://schemas.microsoft.com/office/powerpoint/2010/main" val="1005518556"/>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a:t>
            </a:fld>
            <a:endParaRPr lang="en-US" altLang="ko-KR"/>
          </a:p>
        </p:txBody>
      </p:sp>
    </p:spTree>
    <p:extLst>
      <p:ext uri="{BB962C8B-B14F-4D97-AF65-F5344CB8AC3E}">
        <p14:creationId xmlns:p14="http://schemas.microsoft.com/office/powerpoint/2010/main" val="105135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7"/>
            <a:ext cx="7772400" cy="1470025"/>
          </a:xfrm>
          <a:prstGeom prst="rect">
            <a:avLst/>
          </a:prstGeo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2"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ko-KR" altLang="en-US"/>
              <a:t>마스터 부제목 스타일 편집</a:t>
            </a:r>
          </a:p>
        </p:txBody>
      </p:sp>
    </p:spTree>
    <p:extLst>
      <p:ext uri="{BB962C8B-B14F-4D97-AF65-F5344CB8AC3E}">
        <p14:creationId xmlns:p14="http://schemas.microsoft.com/office/powerpoint/2010/main" val="2307443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
        <p:nvSpPr>
          <p:cNvPr id="3" name="내용 개체 틀 2"/>
          <p:cNvSpPr>
            <a:spLocks noGrp="1"/>
          </p:cNvSpPr>
          <p:nvPr>
            <p:ph idx="1"/>
          </p:nvPr>
        </p:nvSpPr>
        <p:spPr>
          <a:xfrm>
            <a:off x="457200" y="1600202"/>
            <a:ext cx="8229600" cy="4525963"/>
          </a:xfrm>
          <a:prstGeom prst="rect">
            <a:avLst/>
          </a:prstGeo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639915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435" y="4406902"/>
            <a:ext cx="7772400" cy="1362075"/>
          </a:xfrm>
          <a:prstGeom prst="rect">
            <a:avLst/>
          </a:prstGeom>
        </p:spPr>
        <p:txBody>
          <a:bodyPr anchor="t"/>
          <a:lstStyle>
            <a:lvl1pPr algn="l">
              <a:defRPr sz="3692" b="1" cap="all"/>
            </a:lvl1pPr>
          </a:lstStyle>
          <a:p>
            <a:r>
              <a:rPr lang="ko-KR" altLang="en-US"/>
              <a:t>마스터 제목 스타일 편집</a:t>
            </a:r>
          </a:p>
        </p:txBody>
      </p:sp>
      <p:sp>
        <p:nvSpPr>
          <p:cNvPr id="3" name="텍스트 개체 틀 2"/>
          <p:cNvSpPr>
            <a:spLocks noGrp="1"/>
          </p:cNvSpPr>
          <p:nvPr>
            <p:ph type="body" idx="1"/>
          </p:nvPr>
        </p:nvSpPr>
        <p:spPr>
          <a:xfrm>
            <a:off x="722435" y="2906713"/>
            <a:ext cx="7772400" cy="1500187"/>
          </a:xfrm>
          <a:prstGeom prst="rect">
            <a:avLst/>
          </a:prstGeom>
        </p:spPr>
        <p:txBody>
          <a:bodyPr anchor="b"/>
          <a:lstStyle>
            <a:lvl1pPr marL="0" indent="0">
              <a:buNone/>
              <a:defRPr sz="1847"/>
            </a:lvl1pPr>
            <a:lvl2pPr marL="422042" indent="0">
              <a:buNone/>
              <a:defRPr sz="1661"/>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ko-KR" altLang="en-US"/>
              <a:t>마스터 텍스트 스타일을 편집합니다</a:t>
            </a:r>
          </a:p>
        </p:txBody>
      </p:sp>
    </p:spTree>
    <p:extLst>
      <p:ext uri="{BB962C8B-B14F-4D97-AF65-F5344CB8AC3E}">
        <p14:creationId xmlns:p14="http://schemas.microsoft.com/office/powerpoint/2010/main" val="146242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
        <p:nvSpPr>
          <p:cNvPr id="3" name="내용 개체 틀 2"/>
          <p:cNvSpPr>
            <a:spLocks noGrp="1"/>
          </p:cNvSpPr>
          <p:nvPr>
            <p:ph sz="half" idx="1"/>
          </p:nvPr>
        </p:nvSpPr>
        <p:spPr>
          <a:xfrm>
            <a:off x="457201" y="1600202"/>
            <a:ext cx="4044461" cy="4525963"/>
          </a:xfrm>
          <a:prstGeom prst="rect">
            <a:avLst/>
          </a:prstGeom>
        </p:spPr>
        <p:txBody>
          <a:bodyPr/>
          <a:lstStyle>
            <a:lvl1pPr>
              <a:defRPr sz="2585"/>
            </a:lvl1pPr>
            <a:lvl2pPr>
              <a:defRPr sz="2216"/>
            </a:lvl2pPr>
            <a:lvl3pPr>
              <a:defRPr sz="1847"/>
            </a:lvl3pPr>
            <a:lvl4pPr>
              <a:defRPr sz="1661"/>
            </a:lvl4pPr>
            <a:lvl5pPr>
              <a:defRPr sz="1661"/>
            </a:lvl5pPr>
            <a:lvl6pPr>
              <a:defRPr sz="1661"/>
            </a:lvl6pPr>
            <a:lvl7pPr>
              <a:defRPr sz="1661"/>
            </a:lvl7pPr>
            <a:lvl8pPr>
              <a:defRPr sz="1661"/>
            </a:lvl8pPr>
            <a:lvl9pPr>
              <a:defRPr sz="166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2339" y="1600202"/>
            <a:ext cx="4044461" cy="4525963"/>
          </a:xfrm>
          <a:prstGeom prst="rect">
            <a:avLst/>
          </a:prstGeom>
        </p:spPr>
        <p:txBody>
          <a:bodyPr/>
          <a:lstStyle>
            <a:lvl1pPr>
              <a:defRPr sz="2585"/>
            </a:lvl1pPr>
            <a:lvl2pPr>
              <a:defRPr sz="2216"/>
            </a:lvl2pPr>
            <a:lvl3pPr>
              <a:defRPr sz="1847"/>
            </a:lvl3pPr>
            <a:lvl4pPr>
              <a:defRPr sz="1661"/>
            </a:lvl4pPr>
            <a:lvl5pPr>
              <a:defRPr sz="1661"/>
            </a:lvl5pPr>
            <a:lvl6pPr>
              <a:defRPr sz="1661"/>
            </a:lvl6pPr>
            <a:lvl7pPr>
              <a:defRPr sz="1661"/>
            </a:lvl7pPr>
            <a:lvl8pPr>
              <a:defRPr sz="1661"/>
            </a:lvl8pPr>
            <a:lvl9pPr>
              <a:defRPr sz="166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827563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066" cy="639762"/>
          </a:xfrm>
          <a:prstGeom prst="rect">
            <a:avLst/>
          </a:prstGeom>
        </p:spPr>
        <p:txBody>
          <a:bodyPr anchor="b"/>
          <a:lstStyle>
            <a:lvl1pPr marL="0" indent="0">
              <a:buNone/>
              <a:defRPr sz="2216" b="1"/>
            </a:lvl1pPr>
            <a:lvl2pPr marL="422042" indent="0">
              <a:buNone/>
              <a:defRPr sz="1847" b="1"/>
            </a:lvl2pPr>
            <a:lvl3pPr marL="844083" indent="0">
              <a:buNone/>
              <a:defRPr sz="1661"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066" cy="3951288"/>
          </a:xfrm>
          <a:prstGeom prst="rect">
            <a:avLst/>
          </a:prstGeom>
        </p:spPr>
        <p:txBody>
          <a:bodyPr/>
          <a:lstStyle>
            <a:lvl1pPr>
              <a:defRPr sz="2216"/>
            </a:lvl1pPr>
            <a:lvl2pPr>
              <a:defRPr sz="1847"/>
            </a:lvl2pPr>
            <a:lvl3pPr>
              <a:defRPr sz="1661"/>
            </a:lvl3pPr>
            <a:lvl4pPr>
              <a:defRPr sz="1477"/>
            </a:lvl4pPr>
            <a:lvl5pPr>
              <a:defRPr sz="1477"/>
            </a:lvl5pPr>
            <a:lvl6pPr>
              <a:defRPr sz="1477"/>
            </a:lvl6pPr>
            <a:lvl7pPr>
              <a:defRPr sz="1477"/>
            </a:lvl7pPr>
            <a:lvl8pPr>
              <a:defRPr sz="1477"/>
            </a:lvl8pPr>
            <a:lvl9pPr>
              <a:defRPr sz="147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270" y="1535113"/>
            <a:ext cx="4041531" cy="639762"/>
          </a:xfrm>
          <a:prstGeom prst="rect">
            <a:avLst/>
          </a:prstGeom>
        </p:spPr>
        <p:txBody>
          <a:bodyPr anchor="b"/>
          <a:lstStyle>
            <a:lvl1pPr marL="0" indent="0">
              <a:buNone/>
              <a:defRPr sz="2216" b="1"/>
            </a:lvl1pPr>
            <a:lvl2pPr marL="422042" indent="0">
              <a:buNone/>
              <a:defRPr sz="1847" b="1"/>
            </a:lvl2pPr>
            <a:lvl3pPr marL="844083" indent="0">
              <a:buNone/>
              <a:defRPr sz="1661"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ko-KR" altLang="en-US"/>
              <a:t>마스터 텍스트 스타일을 편집합니다</a:t>
            </a:r>
          </a:p>
        </p:txBody>
      </p:sp>
      <p:sp>
        <p:nvSpPr>
          <p:cNvPr id="6" name="내용 개체 틀 5"/>
          <p:cNvSpPr>
            <a:spLocks noGrp="1"/>
          </p:cNvSpPr>
          <p:nvPr>
            <p:ph sz="quarter" idx="4"/>
          </p:nvPr>
        </p:nvSpPr>
        <p:spPr>
          <a:xfrm>
            <a:off x="4645270" y="2174875"/>
            <a:ext cx="4041531" cy="3951288"/>
          </a:xfrm>
          <a:prstGeom prst="rect">
            <a:avLst/>
          </a:prstGeom>
        </p:spPr>
        <p:txBody>
          <a:bodyPr/>
          <a:lstStyle>
            <a:lvl1pPr>
              <a:defRPr sz="2216"/>
            </a:lvl1pPr>
            <a:lvl2pPr>
              <a:defRPr sz="1847"/>
            </a:lvl2pPr>
            <a:lvl3pPr>
              <a:defRPr sz="1661"/>
            </a:lvl3pPr>
            <a:lvl4pPr>
              <a:defRPr sz="1477"/>
            </a:lvl4pPr>
            <a:lvl5pPr>
              <a:defRPr sz="1477"/>
            </a:lvl5pPr>
            <a:lvl6pPr>
              <a:defRPr sz="1477"/>
            </a:lvl6pPr>
            <a:lvl7pPr>
              <a:defRPr sz="1477"/>
            </a:lvl7pPr>
            <a:lvl8pPr>
              <a:defRPr sz="1477"/>
            </a:lvl8pPr>
            <a:lvl9pPr>
              <a:defRPr sz="147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2288426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Tree>
    <p:extLst>
      <p:ext uri="{BB962C8B-B14F-4D97-AF65-F5344CB8AC3E}">
        <p14:creationId xmlns:p14="http://schemas.microsoft.com/office/powerpoint/2010/main" val="963345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771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1" y="273050"/>
            <a:ext cx="3008435" cy="1162050"/>
          </a:xfrm>
          <a:prstGeom prst="rect">
            <a:avLst/>
          </a:prstGeom>
        </p:spPr>
        <p:txBody>
          <a:bodyPr anchor="b"/>
          <a:lstStyle>
            <a:lvl1pPr algn="l">
              <a:defRPr sz="1847" b="1"/>
            </a:lvl1pPr>
          </a:lstStyle>
          <a:p>
            <a:r>
              <a:rPr lang="ko-KR" altLang="en-US"/>
              <a:t>마스터 제목 스타일 편집</a:t>
            </a:r>
          </a:p>
        </p:txBody>
      </p:sp>
      <p:sp>
        <p:nvSpPr>
          <p:cNvPr id="3" name="내용 개체 틀 2"/>
          <p:cNvSpPr>
            <a:spLocks noGrp="1"/>
          </p:cNvSpPr>
          <p:nvPr>
            <p:ph idx="1"/>
          </p:nvPr>
        </p:nvSpPr>
        <p:spPr>
          <a:xfrm>
            <a:off x="3575539" y="273052"/>
            <a:ext cx="5111261" cy="5853113"/>
          </a:xfrm>
          <a:prstGeom prst="rect">
            <a:avLst/>
          </a:prstGeom>
        </p:spPr>
        <p:txBody>
          <a:bodyPr/>
          <a:lstStyle>
            <a:lvl1pPr>
              <a:defRPr sz="2954"/>
            </a:lvl1pPr>
            <a:lvl2pPr>
              <a:defRPr sz="2585"/>
            </a:lvl2pPr>
            <a:lvl3pPr>
              <a:defRPr sz="2216"/>
            </a:lvl3pPr>
            <a:lvl4pPr>
              <a:defRPr sz="1847"/>
            </a:lvl4pPr>
            <a:lvl5pPr>
              <a:defRPr sz="1847"/>
            </a:lvl5pPr>
            <a:lvl6pPr>
              <a:defRPr sz="1847"/>
            </a:lvl6pPr>
            <a:lvl7pPr>
              <a:defRPr sz="1847"/>
            </a:lvl7pPr>
            <a:lvl8pPr>
              <a:defRPr sz="1847"/>
            </a:lvl8pPr>
            <a:lvl9pPr>
              <a:defRPr sz="184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1" y="1435102"/>
            <a:ext cx="3008435" cy="4691063"/>
          </a:xfrm>
          <a:prstGeom prst="rect">
            <a:avLst/>
          </a:prstGeom>
        </p:spPr>
        <p:txBody>
          <a:bodyPr/>
          <a:lstStyle>
            <a:lvl1pPr marL="0" indent="0">
              <a:buNone/>
              <a:defRPr sz="1292"/>
            </a:lvl1pPr>
            <a:lvl2pPr marL="422042"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ko-KR" altLang="en-US"/>
              <a:t>마스터 텍스트 스타일을 편집합니다</a:t>
            </a:r>
          </a:p>
        </p:txBody>
      </p:sp>
    </p:spTree>
    <p:extLst>
      <p:ext uri="{BB962C8B-B14F-4D97-AF65-F5344CB8AC3E}">
        <p14:creationId xmlns:p14="http://schemas.microsoft.com/office/powerpoint/2010/main" val="2330966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166" y="4800600"/>
            <a:ext cx="5486400" cy="566738"/>
          </a:xfrm>
          <a:prstGeom prst="rect">
            <a:avLst/>
          </a:prstGeom>
        </p:spPr>
        <p:txBody>
          <a:bodyPr anchor="b"/>
          <a:lstStyle>
            <a:lvl1pPr algn="l">
              <a:defRPr sz="1847" b="1"/>
            </a:lvl1pPr>
          </a:lstStyle>
          <a:p>
            <a:r>
              <a:rPr lang="ko-KR" altLang="en-US"/>
              <a:t>마스터 제목 스타일 편집</a:t>
            </a:r>
          </a:p>
        </p:txBody>
      </p:sp>
      <p:sp>
        <p:nvSpPr>
          <p:cNvPr id="3" name="그림 개체 틀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2" indent="0">
              <a:buNone/>
              <a:defRPr sz="2585"/>
            </a:lvl2pPr>
            <a:lvl3pPr marL="844083" indent="0">
              <a:buNone/>
              <a:defRPr sz="2216"/>
            </a:lvl3pPr>
            <a:lvl4pPr marL="1266124" indent="0">
              <a:buNone/>
              <a:defRPr sz="1847"/>
            </a:lvl4pPr>
            <a:lvl5pPr marL="1688165" indent="0">
              <a:buNone/>
              <a:defRPr sz="1847"/>
            </a:lvl5pPr>
            <a:lvl6pPr marL="2110207" indent="0">
              <a:buNone/>
              <a:defRPr sz="1847"/>
            </a:lvl6pPr>
            <a:lvl7pPr marL="2532248" indent="0">
              <a:buNone/>
              <a:defRPr sz="1847"/>
            </a:lvl7pPr>
            <a:lvl8pPr marL="2954289" indent="0">
              <a:buNone/>
              <a:defRPr sz="1847"/>
            </a:lvl8pPr>
            <a:lvl9pPr marL="3376331" indent="0">
              <a:buNone/>
              <a:defRPr sz="1847"/>
            </a:lvl9pPr>
          </a:lstStyle>
          <a:p>
            <a:pPr lvl="0"/>
            <a:endParaRPr lang="ko-KR" altLang="en-US" noProof="0"/>
          </a:p>
        </p:txBody>
      </p:sp>
      <p:sp>
        <p:nvSpPr>
          <p:cNvPr id="4" name="텍스트 개체 틀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2"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ko-KR" altLang="en-US"/>
              <a:t>마스터 텍스트 스타일을 편집합니다</a:t>
            </a:r>
          </a:p>
        </p:txBody>
      </p:sp>
    </p:spTree>
    <p:extLst>
      <p:ext uri="{BB962C8B-B14F-4D97-AF65-F5344CB8AC3E}">
        <p14:creationId xmlns:p14="http://schemas.microsoft.com/office/powerpoint/2010/main" val="92480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
        <p:nvSpPr>
          <p:cNvPr id="3" name="세로 텍스트 개체 틀 2"/>
          <p:cNvSpPr>
            <a:spLocks noGrp="1"/>
          </p:cNvSpPr>
          <p:nvPr>
            <p:ph type="body" orient="vert" idx="1"/>
          </p:nvPr>
        </p:nvSpPr>
        <p:spPr>
          <a:xfrm>
            <a:off x="457200" y="1600202"/>
            <a:ext cx="8229600" cy="4525963"/>
          </a:xfrm>
          <a:prstGeom prst="rect">
            <a:avLst/>
          </a:prstGeo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588136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40"/>
            <a:ext cx="2057400" cy="5851525"/>
          </a:xfrm>
          <a:prstGeom prst="rect">
            <a:avLst/>
          </a:prstGeo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1" y="274640"/>
            <a:ext cx="6031523" cy="5851525"/>
          </a:xfrm>
          <a:prstGeom prst="rect">
            <a:avLst/>
          </a:prstGeo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404760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1" name="Rectangle 24"/>
          <p:cNvSpPr>
            <a:spLocks noChangeArrowheads="1"/>
          </p:cNvSpPr>
          <p:nvPr/>
        </p:nvSpPr>
        <p:spPr bwMode="auto">
          <a:xfrm>
            <a:off x="4488080" y="3174836"/>
            <a:ext cx="167841" cy="286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83077" tIns="43200" rIns="83077" bIns="43200" anchor="ctr">
            <a:spAutoFit/>
          </a:bodyPr>
          <a:lstStyle>
            <a:lvl1pPr eaLnBrk="0" hangingPunct="0">
              <a:defRPr kumimoji="1" sz="1400">
                <a:solidFill>
                  <a:srgbClr val="2B3749"/>
                </a:solidFill>
                <a:latin typeface="맑은 고딕" pitchFamily="50" charset="-127"/>
                <a:ea typeface="맑은 고딕" pitchFamily="50" charset="-127"/>
              </a:defRPr>
            </a:lvl1pPr>
            <a:lvl2pPr marL="742950" indent="-285750" eaLnBrk="0" hangingPunct="0">
              <a:defRPr kumimoji="1" sz="1400">
                <a:solidFill>
                  <a:srgbClr val="2B3749"/>
                </a:solidFill>
                <a:latin typeface="맑은 고딕" pitchFamily="50" charset="-127"/>
                <a:ea typeface="맑은 고딕" pitchFamily="50" charset="-127"/>
              </a:defRPr>
            </a:lvl2pPr>
            <a:lvl3pPr marL="1143000" indent="-228600" eaLnBrk="0" hangingPunct="0">
              <a:defRPr kumimoji="1" sz="1400">
                <a:solidFill>
                  <a:srgbClr val="2B3749"/>
                </a:solidFill>
                <a:latin typeface="맑은 고딕" pitchFamily="50" charset="-127"/>
                <a:ea typeface="맑은 고딕" pitchFamily="50" charset="-127"/>
              </a:defRPr>
            </a:lvl3pPr>
            <a:lvl4pPr marL="1600200" indent="-228600" eaLnBrk="0" hangingPunct="0">
              <a:defRPr kumimoji="1" sz="1400">
                <a:solidFill>
                  <a:srgbClr val="2B3749"/>
                </a:solidFill>
                <a:latin typeface="맑은 고딕" pitchFamily="50" charset="-127"/>
                <a:ea typeface="맑은 고딕" pitchFamily="50" charset="-127"/>
              </a:defRPr>
            </a:lvl4pPr>
            <a:lvl5pPr marL="2057400" indent="-228600" eaLnBrk="0" hangingPunct="0">
              <a:defRPr kumimoji="1" sz="1400">
                <a:solidFill>
                  <a:srgbClr val="2B3749"/>
                </a:solidFill>
                <a:latin typeface="맑은 고딕" pitchFamily="50" charset="-127"/>
                <a:ea typeface="맑은 고딕" pitchFamily="50" charset="-127"/>
              </a:defRPr>
            </a:lvl5pPr>
            <a:lvl6pPr marL="2514600" indent="-228600" algn="ctr" eaLnBrk="0" fontAlgn="base" hangingPunct="0">
              <a:spcBef>
                <a:spcPct val="0"/>
              </a:spcBef>
              <a:spcAft>
                <a:spcPct val="0"/>
              </a:spcAft>
              <a:defRPr kumimoji="1" sz="1400">
                <a:solidFill>
                  <a:srgbClr val="2B3749"/>
                </a:solidFill>
                <a:latin typeface="맑은 고딕" pitchFamily="50" charset="-127"/>
                <a:ea typeface="맑은 고딕" pitchFamily="50" charset="-127"/>
              </a:defRPr>
            </a:lvl6pPr>
            <a:lvl7pPr marL="2971800" indent="-228600" algn="ctr" eaLnBrk="0" fontAlgn="base" hangingPunct="0">
              <a:spcBef>
                <a:spcPct val="0"/>
              </a:spcBef>
              <a:spcAft>
                <a:spcPct val="0"/>
              </a:spcAft>
              <a:defRPr kumimoji="1" sz="1400">
                <a:solidFill>
                  <a:srgbClr val="2B3749"/>
                </a:solidFill>
                <a:latin typeface="맑은 고딕" pitchFamily="50" charset="-127"/>
                <a:ea typeface="맑은 고딕" pitchFamily="50" charset="-127"/>
              </a:defRPr>
            </a:lvl7pPr>
            <a:lvl8pPr marL="3429000" indent="-228600" algn="ctr" eaLnBrk="0" fontAlgn="base" hangingPunct="0">
              <a:spcBef>
                <a:spcPct val="0"/>
              </a:spcBef>
              <a:spcAft>
                <a:spcPct val="0"/>
              </a:spcAft>
              <a:defRPr kumimoji="1" sz="1400">
                <a:solidFill>
                  <a:srgbClr val="2B3749"/>
                </a:solidFill>
                <a:latin typeface="맑은 고딕" pitchFamily="50" charset="-127"/>
                <a:ea typeface="맑은 고딕" pitchFamily="50" charset="-127"/>
              </a:defRPr>
            </a:lvl8pPr>
            <a:lvl9pPr marL="3886200" indent="-228600" algn="ctr" eaLnBrk="0" fontAlgn="base" hangingPunct="0">
              <a:spcBef>
                <a:spcPct val="0"/>
              </a:spcBef>
              <a:spcAft>
                <a:spcPct val="0"/>
              </a:spcAft>
              <a:defRPr kumimoji="1" sz="1400">
                <a:solidFill>
                  <a:srgbClr val="2B3749"/>
                </a:solidFill>
                <a:latin typeface="맑은 고딕" pitchFamily="50" charset="-127"/>
                <a:ea typeface="맑은 고딕" pitchFamily="50" charset="-127"/>
              </a:defRPr>
            </a:lvl9pPr>
          </a:lstStyle>
          <a:p>
            <a:pPr algn="ctr" eaLnBrk="1" hangingPunct="1">
              <a:spcBef>
                <a:spcPct val="50000"/>
              </a:spcBef>
              <a:defRPr/>
            </a:pPr>
            <a:endParaRPr kumimoji="0" lang="ko-KR" altLang="en-US" sz="1292" b="1">
              <a:solidFill>
                <a:schemeClr val="tx1"/>
              </a:solidFill>
              <a:latin typeface="Arial" charset="0"/>
              <a:ea typeface="가는각진제목체" pitchFamily="18" charset="-127"/>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rtl="0" eaLnBrk="0" fontAlgn="base" latinLnBrk="1" hangingPunct="0">
        <a:spcBef>
          <a:spcPct val="0"/>
        </a:spcBef>
        <a:spcAft>
          <a:spcPct val="0"/>
        </a:spcAft>
        <a:defRPr kumimoji="1" sz="1477">
          <a:solidFill>
            <a:schemeClr val="tx1"/>
          </a:solidFill>
          <a:latin typeface="+mj-lt"/>
          <a:ea typeface="+mj-ea"/>
          <a:cs typeface="+mj-cs"/>
        </a:defRPr>
      </a:lvl1pPr>
      <a:lvl2pPr algn="l" rtl="0" eaLnBrk="0" fontAlgn="base" latinLnBrk="1" hangingPunct="0">
        <a:spcBef>
          <a:spcPct val="0"/>
        </a:spcBef>
        <a:spcAft>
          <a:spcPct val="0"/>
        </a:spcAft>
        <a:defRPr kumimoji="1" sz="1477">
          <a:solidFill>
            <a:schemeClr val="tx1"/>
          </a:solidFill>
          <a:latin typeface="굴림" pitchFamily="50" charset="-127"/>
          <a:ea typeface="굴림" pitchFamily="50" charset="-127"/>
        </a:defRPr>
      </a:lvl2pPr>
      <a:lvl3pPr algn="l" rtl="0" eaLnBrk="0" fontAlgn="base" latinLnBrk="1" hangingPunct="0">
        <a:spcBef>
          <a:spcPct val="0"/>
        </a:spcBef>
        <a:spcAft>
          <a:spcPct val="0"/>
        </a:spcAft>
        <a:defRPr kumimoji="1" sz="1477">
          <a:solidFill>
            <a:schemeClr val="tx1"/>
          </a:solidFill>
          <a:latin typeface="굴림" pitchFamily="50" charset="-127"/>
          <a:ea typeface="굴림" pitchFamily="50" charset="-127"/>
        </a:defRPr>
      </a:lvl3pPr>
      <a:lvl4pPr algn="l" rtl="0" eaLnBrk="0" fontAlgn="base" latinLnBrk="1" hangingPunct="0">
        <a:spcBef>
          <a:spcPct val="0"/>
        </a:spcBef>
        <a:spcAft>
          <a:spcPct val="0"/>
        </a:spcAft>
        <a:defRPr kumimoji="1" sz="1477">
          <a:solidFill>
            <a:schemeClr val="tx1"/>
          </a:solidFill>
          <a:latin typeface="굴림" pitchFamily="50" charset="-127"/>
          <a:ea typeface="굴림" pitchFamily="50" charset="-127"/>
        </a:defRPr>
      </a:lvl4pPr>
      <a:lvl5pPr algn="l" rtl="0" eaLnBrk="0" fontAlgn="base" latinLnBrk="1" hangingPunct="0">
        <a:spcBef>
          <a:spcPct val="0"/>
        </a:spcBef>
        <a:spcAft>
          <a:spcPct val="0"/>
        </a:spcAft>
        <a:defRPr kumimoji="1" sz="1477">
          <a:solidFill>
            <a:schemeClr val="tx1"/>
          </a:solidFill>
          <a:latin typeface="굴림" pitchFamily="50" charset="-127"/>
          <a:ea typeface="굴림" pitchFamily="50" charset="-127"/>
        </a:defRPr>
      </a:lvl5pPr>
      <a:lvl6pPr marL="422042" algn="l" rtl="0" fontAlgn="base" latinLnBrk="1">
        <a:spcBef>
          <a:spcPct val="0"/>
        </a:spcBef>
        <a:spcAft>
          <a:spcPct val="0"/>
        </a:spcAft>
        <a:defRPr kumimoji="1" sz="1477">
          <a:solidFill>
            <a:schemeClr val="tx1"/>
          </a:solidFill>
          <a:latin typeface="굴림" pitchFamily="50" charset="-127"/>
          <a:ea typeface="굴림" pitchFamily="50" charset="-127"/>
        </a:defRPr>
      </a:lvl6pPr>
      <a:lvl7pPr marL="844083" algn="l" rtl="0" fontAlgn="base" latinLnBrk="1">
        <a:spcBef>
          <a:spcPct val="0"/>
        </a:spcBef>
        <a:spcAft>
          <a:spcPct val="0"/>
        </a:spcAft>
        <a:defRPr kumimoji="1" sz="1477">
          <a:solidFill>
            <a:schemeClr val="tx1"/>
          </a:solidFill>
          <a:latin typeface="굴림" pitchFamily="50" charset="-127"/>
          <a:ea typeface="굴림" pitchFamily="50" charset="-127"/>
        </a:defRPr>
      </a:lvl7pPr>
      <a:lvl8pPr marL="1266124" algn="l" rtl="0" fontAlgn="base" latinLnBrk="1">
        <a:spcBef>
          <a:spcPct val="0"/>
        </a:spcBef>
        <a:spcAft>
          <a:spcPct val="0"/>
        </a:spcAft>
        <a:defRPr kumimoji="1" sz="1477">
          <a:solidFill>
            <a:schemeClr val="tx1"/>
          </a:solidFill>
          <a:latin typeface="굴림" pitchFamily="50" charset="-127"/>
          <a:ea typeface="굴림" pitchFamily="50" charset="-127"/>
        </a:defRPr>
      </a:lvl8pPr>
      <a:lvl9pPr marL="1688165" algn="l" rtl="0" fontAlgn="base" latinLnBrk="1">
        <a:spcBef>
          <a:spcPct val="0"/>
        </a:spcBef>
        <a:spcAft>
          <a:spcPct val="0"/>
        </a:spcAft>
        <a:defRPr kumimoji="1" sz="1477">
          <a:solidFill>
            <a:schemeClr val="tx1"/>
          </a:solidFill>
          <a:latin typeface="굴림" pitchFamily="50" charset="-127"/>
          <a:ea typeface="굴림" pitchFamily="50" charset="-127"/>
        </a:defRPr>
      </a:lvl9pPr>
    </p:titleStyle>
    <p:bodyStyle>
      <a:lvl1pPr marL="316531" indent="-316531" algn="l" defTabSz="830894" rtl="0" eaLnBrk="0" fontAlgn="base" latinLnBrk="1" hangingPunct="0">
        <a:spcBef>
          <a:spcPts val="1385"/>
        </a:spcBef>
        <a:spcAft>
          <a:spcPct val="0"/>
        </a:spcAft>
        <a:buClr>
          <a:schemeClr val="tx1"/>
        </a:buClr>
        <a:buFont typeface="Wingdings" panose="05000000000000000000" pitchFamily="2" charset="2"/>
        <a:buChar char="•"/>
        <a:defRPr kumimoji="1" sz="1292">
          <a:solidFill>
            <a:schemeClr val="tx1"/>
          </a:solidFill>
          <a:latin typeface="+mn-lt"/>
          <a:ea typeface="+mn-ea"/>
          <a:cs typeface="+mn-cs"/>
        </a:defRPr>
      </a:lvl1pPr>
      <a:lvl2pPr marL="262311" indent="-260845" algn="l" defTabSz="830894" rtl="0" eaLnBrk="0" fontAlgn="base" latinLnBrk="1" hangingPunct="0">
        <a:spcBef>
          <a:spcPts val="923"/>
        </a:spcBef>
        <a:spcAft>
          <a:spcPct val="0"/>
        </a:spcAft>
        <a:buClr>
          <a:schemeClr val="tx1"/>
        </a:buClr>
        <a:buFont typeface="Wingdings" panose="05000000000000000000" pitchFamily="2" charset="2"/>
        <a:buChar char="n"/>
        <a:defRPr kumimoji="1" sz="1292">
          <a:solidFill>
            <a:schemeClr val="tx1"/>
          </a:solidFill>
          <a:latin typeface="+mn-lt"/>
          <a:ea typeface="+mn-ea"/>
        </a:defRPr>
      </a:lvl2pPr>
      <a:lvl3pPr marL="501174" indent="-237398" algn="l" defTabSz="830894" rtl="0" eaLnBrk="0" fontAlgn="base" latinLnBrk="1" hangingPunct="0">
        <a:spcBef>
          <a:spcPts val="461"/>
        </a:spcBef>
        <a:spcAft>
          <a:spcPct val="0"/>
        </a:spcAft>
        <a:buClr>
          <a:schemeClr val="tx1"/>
        </a:buClr>
        <a:buFont typeface="맑은 고딕" panose="020B0503020000020004" pitchFamily="50" charset="-127"/>
        <a:buChar char="–"/>
        <a:defRPr kumimoji="1" sz="1292">
          <a:solidFill>
            <a:schemeClr val="tx1"/>
          </a:solidFill>
          <a:latin typeface="+mn-lt"/>
          <a:ea typeface="+mn-ea"/>
        </a:defRPr>
      </a:lvl3pPr>
      <a:lvl4pPr marL="751762" indent="-249122" algn="l" defTabSz="830894" rtl="0" eaLnBrk="0" fontAlgn="base" latinLnBrk="1" hangingPunct="0">
        <a:spcBef>
          <a:spcPts val="461"/>
        </a:spcBef>
        <a:spcAft>
          <a:spcPct val="0"/>
        </a:spcAft>
        <a:buClr>
          <a:schemeClr val="tx1"/>
        </a:buClr>
        <a:buFont typeface="맑은 고딕" panose="020B0503020000020004" pitchFamily="50" charset="-127"/>
        <a:buChar char="–"/>
        <a:defRPr kumimoji="1" sz="1292">
          <a:solidFill>
            <a:schemeClr val="tx1"/>
          </a:solidFill>
          <a:latin typeface="+mn-lt"/>
          <a:ea typeface="+mn-ea"/>
        </a:defRPr>
      </a:lvl4pPr>
      <a:lvl5pPr marL="1019933" indent="-266707" algn="l" defTabSz="830894" rtl="0" eaLnBrk="0" fontAlgn="base" latinLnBrk="1" hangingPunct="0">
        <a:spcBef>
          <a:spcPts val="461"/>
        </a:spcBef>
        <a:spcAft>
          <a:spcPct val="0"/>
        </a:spcAft>
        <a:buClr>
          <a:schemeClr val="tx1"/>
        </a:buClr>
        <a:buFont typeface="맑은 고딕" panose="020B0503020000020004" pitchFamily="50" charset="-127"/>
        <a:buChar char="»"/>
        <a:defRPr kumimoji="1" sz="1292">
          <a:solidFill>
            <a:schemeClr val="tx1"/>
          </a:solidFill>
          <a:latin typeface="+mn-lt"/>
          <a:ea typeface="+mn-ea"/>
        </a:defRPr>
      </a:lvl5pPr>
      <a:lvl6pPr marL="1441975" indent="-266707" algn="l" defTabSz="830894" rtl="0" fontAlgn="base" latinLnBrk="1">
        <a:spcBef>
          <a:spcPts val="461"/>
        </a:spcBef>
        <a:spcAft>
          <a:spcPct val="0"/>
        </a:spcAft>
        <a:buClr>
          <a:schemeClr val="tx1"/>
        </a:buClr>
        <a:buFont typeface="맑은 고딕" pitchFamily="50" charset="-127"/>
        <a:buChar char="»"/>
        <a:defRPr kumimoji="1" sz="1292">
          <a:solidFill>
            <a:schemeClr val="tx1"/>
          </a:solidFill>
          <a:latin typeface="+mn-lt"/>
          <a:ea typeface="+mn-ea"/>
        </a:defRPr>
      </a:lvl6pPr>
      <a:lvl7pPr marL="1864016" indent="-266707" algn="l" defTabSz="830894" rtl="0" fontAlgn="base" latinLnBrk="1">
        <a:spcBef>
          <a:spcPts val="461"/>
        </a:spcBef>
        <a:spcAft>
          <a:spcPct val="0"/>
        </a:spcAft>
        <a:buClr>
          <a:schemeClr val="tx1"/>
        </a:buClr>
        <a:buFont typeface="맑은 고딕" pitchFamily="50" charset="-127"/>
        <a:buChar char="»"/>
        <a:defRPr kumimoji="1" sz="1292">
          <a:solidFill>
            <a:schemeClr val="tx1"/>
          </a:solidFill>
          <a:latin typeface="+mn-lt"/>
          <a:ea typeface="+mn-ea"/>
        </a:defRPr>
      </a:lvl7pPr>
      <a:lvl8pPr marL="2286057" indent="-266707" algn="l" defTabSz="830894" rtl="0" fontAlgn="base" latinLnBrk="1">
        <a:spcBef>
          <a:spcPts val="461"/>
        </a:spcBef>
        <a:spcAft>
          <a:spcPct val="0"/>
        </a:spcAft>
        <a:buClr>
          <a:schemeClr val="tx1"/>
        </a:buClr>
        <a:buFont typeface="맑은 고딕" pitchFamily="50" charset="-127"/>
        <a:buChar char="»"/>
        <a:defRPr kumimoji="1" sz="1292">
          <a:solidFill>
            <a:schemeClr val="tx1"/>
          </a:solidFill>
          <a:latin typeface="+mn-lt"/>
          <a:ea typeface="+mn-ea"/>
        </a:defRPr>
      </a:lvl8pPr>
      <a:lvl9pPr marL="2708099" indent="-266707" algn="l" defTabSz="830894" rtl="0" fontAlgn="base" latinLnBrk="1">
        <a:spcBef>
          <a:spcPts val="461"/>
        </a:spcBef>
        <a:spcAft>
          <a:spcPct val="0"/>
        </a:spcAft>
        <a:buClr>
          <a:schemeClr val="tx1"/>
        </a:buClr>
        <a:buFont typeface="맑은 고딕" pitchFamily="50" charset="-127"/>
        <a:buChar char="»"/>
        <a:defRPr kumimoji="1" sz="1292">
          <a:solidFill>
            <a:schemeClr val="tx1"/>
          </a:solidFill>
          <a:latin typeface="+mn-lt"/>
          <a:ea typeface="+mn-ea"/>
        </a:defRPr>
      </a:lvl9pPr>
    </p:bodyStyle>
    <p:otherStyle>
      <a:defPPr>
        <a:defRPr lang="ko-KR"/>
      </a:defPPr>
      <a:lvl1pPr marL="0" algn="l" defTabSz="844083" rtl="0" eaLnBrk="1" latinLnBrk="1" hangingPunct="1">
        <a:defRPr sz="1661" kern="1200">
          <a:solidFill>
            <a:schemeClr val="tx1"/>
          </a:solidFill>
          <a:latin typeface="+mn-lt"/>
          <a:ea typeface="+mn-ea"/>
          <a:cs typeface="+mn-cs"/>
        </a:defRPr>
      </a:lvl1pPr>
      <a:lvl2pPr marL="422042" algn="l" defTabSz="844083" rtl="0" eaLnBrk="1" latinLnBrk="1" hangingPunct="1">
        <a:defRPr sz="1661" kern="1200">
          <a:solidFill>
            <a:schemeClr val="tx1"/>
          </a:solidFill>
          <a:latin typeface="+mn-lt"/>
          <a:ea typeface="+mn-ea"/>
          <a:cs typeface="+mn-cs"/>
        </a:defRPr>
      </a:lvl2pPr>
      <a:lvl3pPr marL="844083" algn="l" defTabSz="844083" rtl="0" eaLnBrk="1" latinLnBrk="1" hangingPunct="1">
        <a:defRPr sz="1661" kern="1200">
          <a:solidFill>
            <a:schemeClr val="tx1"/>
          </a:solidFill>
          <a:latin typeface="+mn-lt"/>
          <a:ea typeface="+mn-ea"/>
          <a:cs typeface="+mn-cs"/>
        </a:defRPr>
      </a:lvl3pPr>
      <a:lvl4pPr marL="1266124" algn="l" defTabSz="844083" rtl="0" eaLnBrk="1" latinLnBrk="1" hangingPunct="1">
        <a:defRPr sz="1661" kern="1200">
          <a:solidFill>
            <a:schemeClr val="tx1"/>
          </a:solidFill>
          <a:latin typeface="+mn-lt"/>
          <a:ea typeface="+mn-ea"/>
          <a:cs typeface="+mn-cs"/>
        </a:defRPr>
      </a:lvl4pPr>
      <a:lvl5pPr marL="1688165" algn="l" defTabSz="844083" rtl="0" eaLnBrk="1" latinLnBrk="1" hangingPunct="1">
        <a:defRPr sz="1661" kern="1200">
          <a:solidFill>
            <a:schemeClr val="tx1"/>
          </a:solidFill>
          <a:latin typeface="+mn-lt"/>
          <a:ea typeface="+mn-ea"/>
          <a:cs typeface="+mn-cs"/>
        </a:defRPr>
      </a:lvl5pPr>
      <a:lvl6pPr marL="2110207" algn="l" defTabSz="844083" rtl="0" eaLnBrk="1" latinLnBrk="1" hangingPunct="1">
        <a:defRPr sz="1661" kern="1200">
          <a:solidFill>
            <a:schemeClr val="tx1"/>
          </a:solidFill>
          <a:latin typeface="+mn-lt"/>
          <a:ea typeface="+mn-ea"/>
          <a:cs typeface="+mn-cs"/>
        </a:defRPr>
      </a:lvl6pPr>
      <a:lvl7pPr marL="2532248" algn="l" defTabSz="844083" rtl="0" eaLnBrk="1" latinLnBrk="1" hangingPunct="1">
        <a:defRPr sz="1661" kern="1200">
          <a:solidFill>
            <a:schemeClr val="tx1"/>
          </a:solidFill>
          <a:latin typeface="+mn-lt"/>
          <a:ea typeface="+mn-ea"/>
          <a:cs typeface="+mn-cs"/>
        </a:defRPr>
      </a:lvl7pPr>
      <a:lvl8pPr marL="2954289" algn="l" defTabSz="844083" rtl="0" eaLnBrk="1" latinLnBrk="1" hangingPunct="1">
        <a:defRPr sz="1661" kern="1200">
          <a:solidFill>
            <a:schemeClr val="tx1"/>
          </a:solidFill>
          <a:latin typeface="+mn-lt"/>
          <a:ea typeface="+mn-ea"/>
          <a:cs typeface="+mn-cs"/>
        </a:defRPr>
      </a:lvl8pPr>
      <a:lvl9pPr marL="3376331" algn="l" defTabSz="844083" rtl="0" eaLnBrk="1" latinLnBrk="1" hangingPunct="1">
        <a:defRPr sz="16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geogebra.org/calculator" TargetMode="Externa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52D27990-20CC-3F1A-5AAA-95E3605F72B1}"/>
              </a:ext>
            </a:extLst>
          </p:cNvPr>
          <p:cNvSpPr txBox="1"/>
          <p:nvPr/>
        </p:nvSpPr>
        <p:spPr>
          <a:xfrm>
            <a:off x="914400" y="609600"/>
            <a:ext cx="7086600" cy="1200329"/>
          </a:xfrm>
          <a:prstGeom prst="rect">
            <a:avLst/>
          </a:prstGeom>
          <a:noFill/>
        </p:spPr>
        <p:txBody>
          <a:bodyPr wrap="square">
            <a:spAutoFit/>
          </a:bodyPr>
          <a:lstStyle/>
          <a:p>
            <a:pPr algn="ctr"/>
            <a:r>
              <a:rPr lang="en-GB" sz="3600" b="1" dirty="0">
                <a:solidFill>
                  <a:srgbClr val="C00000"/>
                </a:solidFill>
                <a:effectLst/>
              </a:rPr>
              <a:t>Module-5</a:t>
            </a:r>
          </a:p>
          <a:p>
            <a:pPr algn="ctr"/>
            <a:r>
              <a:rPr lang="en-US" sz="3600" b="1" dirty="0">
                <a:solidFill>
                  <a:srgbClr val="C00000"/>
                </a:solidFill>
                <a:effectLst/>
              </a:rPr>
              <a:t>DATA ANALYSIS</a:t>
            </a:r>
            <a:endParaRPr lang="en-US" sz="3600" b="1" dirty="0"/>
          </a:p>
        </p:txBody>
      </p:sp>
      <p:sp>
        <p:nvSpPr>
          <p:cNvPr id="5" name="TextBox 4">
            <a:extLst>
              <a:ext uri="{FF2B5EF4-FFF2-40B4-BE49-F238E27FC236}">
                <a16:creationId xmlns:a16="http://schemas.microsoft.com/office/drawing/2014/main" xmlns="" id="{8FA7BCEB-0CD5-7B32-4576-74E1D3587420}"/>
              </a:ext>
            </a:extLst>
          </p:cNvPr>
          <p:cNvSpPr txBox="1"/>
          <p:nvPr/>
        </p:nvSpPr>
        <p:spPr>
          <a:xfrm>
            <a:off x="762000" y="4185084"/>
            <a:ext cx="7848600" cy="2031325"/>
          </a:xfrm>
          <a:prstGeom prst="rect">
            <a:avLst/>
          </a:prstGeom>
          <a:noFill/>
        </p:spPr>
        <p:txBody>
          <a:bodyPr wrap="square">
            <a:spAutoFit/>
          </a:bodyPr>
          <a:lstStyle/>
          <a:p>
            <a:pPr algn="just"/>
            <a:r>
              <a:rPr lang="en-GB" sz="1800" dirty="0">
                <a:effectLst/>
                <a:latin typeface="Garamond" panose="02020404030301010803" pitchFamily="18" charset="0"/>
                <a:ea typeface="Calibri" panose="020F0502020204030204" pitchFamily="34" charset="0"/>
                <a:cs typeface="Times New Roman" panose="02020603050405020304" pitchFamily="18" charset="0"/>
              </a:rPr>
              <a:t>Basic probability distributions – Normal distribution – Binominal and Poisson distributions – Weibull and exponential distributions; Sampling: types - size,  Sampling tests: T-test – F-test – χ2 test; Modelling – validation and verification; Simulation – techniques; ANOVA; Correlation analyses: Pearson and Spearman Correlations; Regression, classification and cluster analyses; Factor analysis; Discriminant analysis; </a:t>
            </a:r>
            <a:r>
              <a:rPr lang="en-US" sz="1800" dirty="0">
                <a:effectLst/>
                <a:latin typeface="Garamond" panose="02020404030301010803" pitchFamily="18" charset="0"/>
                <a:ea typeface="Calibri" panose="020F0502020204030204" pitchFamily="34" charset="0"/>
                <a:cs typeface="Times New Roman" panose="02020603050405020304" pitchFamily="18" charset="0"/>
              </a:rPr>
              <a:t>Uncertainty and error analyses; </a:t>
            </a:r>
            <a:r>
              <a:rPr lang="en-GB" sz="1800" dirty="0">
                <a:effectLst/>
                <a:latin typeface="Garamond" panose="02020404030301010803" pitchFamily="18" charset="0"/>
                <a:ea typeface="Calibri" panose="020F0502020204030204" pitchFamily="34" charset="0"/>
                <a:cs typeface="Times New Roman" panose="02020603050405020304" pitchFamily="18" charset="0"/>
              </a:rPr>
              <a:t>Machine learning: supervised and unsupervised – examples and case studies.</a:t>
            </a:r>
            <a:endParaRPr lang="en-US" sz="1800" dirty="0">
              <a:effectLst/>
              <a:latin typeface="Garamond" panose="020204040303010108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327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409792A7-2722-C49B-B7F2-19135224ACBF}"/>
              </a:ext>
            </a:extLst>
          </p:cNvPr>
          <p:cNvSpPr>
            <a:spLocks noChangeArrowheads="1"/>
          </p:cNvSpPr>
          <p:nvPr/>
        </p:nvSpPr>
        <p:spPr bwMode="auto">
          <a:xfrm>
            <a:off x="647564" y="1310504"/>
            <a:ext cx="8136904" cy="2118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Probability distributions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Probability distributions describe the likelihood of different outcomes in random events. Below are some of the most commonly used basic probability distributions, divided into two types: discrete and continuous.</a:t>
            </a:r>
            <a:endParaRPr kumimoji="0" lang="en-US" altLang="en-US" sz="11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xmlns="" id="{0B512250-C326-A60A-0D33-1FFDE886FA76}"/>
              </a:ext>
            </a:extLst>
          </p:cNvPr>
          <p:cNvSpPr>
            <a:spLocks noChangeArrowheads="1"/>
          </p:cNvSpPr>
          <p:nvPr/>
        </p:nvSpPr>
        <p:spPr bwMode="auto">
          <a:xfrm>
            <a:off x="0" y="457200"/>
            <a:ext cx="8028384" cy="164206"/>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977471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xmlns="" id="{9A2ECE1C-3382-EF7A-46AF-84578F922F17}"/>
                  </a:ext>
                </a:extLst>
              </p:cNvPr>
              <p:cNvSpPr>
                <a:spLocks noChangeArrowheads="1"/>
              </p:cNvSpPr>
              <p:nvPr/>
            </p:nvSpPr>
            <p:spPr bwMode="auto">
              <a:xfrm>
                <a:off x="744926" y="866205"/>
                <a:ext cx="8028384" cy="482362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1. Discrete Probability Distributions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These distributions deal with discrete random variables, where outcomes are countable and usually finite.</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a. Binomial Distribution</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Describes the number of successes in a fixed number of independent Bernoulli trials (binary events), each with a success probability </a:t>
                </a:r>
                <a:r>
                  <a:rPr kumimoji="0" lang="en-US" altLang="en-US" sz="18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p</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(number of trials) and </a:t>
                </a:r>
                <a:r>
                  <a:rPr kumimoji="0" lang="en-US" altLang="en-US" sz="18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p</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(probability of success in each trial).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Probability Mass Function (</a:t>
                </a:r>
                <a:r>
                  <a:rPr kumimoji="0" lang="en-US" altLang="en-US" sz="18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PMF</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14:m>
                  <m:oMathPara xmlns:m="http://schemas.openxmlformats.org/officeDocument/2006/math">
                    <m:oMathParaPr>
                      <m:jc m:val="centerGroup"/>
                    </m:oMathParaPr>
                    <m:oMath xmlns:m="http://schemas.openxmlformats.org/officeDocument/2006/math">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𝑷</m:t>
                      </m:r>
                      <m:d>
                        <m:dPr>
                          <m:ctrlPr>
                            <a:rPr kumimoji="0" lang="en-IN" altLang="en-US" sz="1800" b="1" i="1" u="none" strike="noStrike" cap="none" normalizeH="0" baseline="0" smtClean="0">
                              <a:ln>
                                <a:noFill/>
                              </a:ln>
                              <a:solidFill>
                                <a:schemeClr val="tx1"/>
                              </a:solidFill>
                              <a:effectLst/>
                              <a:latin typeface="Cambria Math"/>
                              <a:ea typeface="Calibri" panose="020F0502020204030204" pitchFamily="34" charset="0"/>
                              <a:cs typeface="Arial" panose="020B0604020202020204" pitchFamily="34" charset="0"/>
                            </a:rPr>
                          </m:ctrlPr>
                        </m:dPr>
                        <m:e>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𝑿</m:t>
                          </m:r>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𝒌</m:t>
                          </m:r>
                        </m:e>
                      </m:d>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m>
                        <m:mPr>
                          <m:mcs>
                            <m:mc>
                              <m:mcPr>
                                <m:count m:val="1"/>
                                <m:mcJc m:val="center"/>
                              </m:mcPr>
                            </m:mc>
                          </m:mcs>
                          <m:ctrlPr>
                            <a:rPr kumimoji="0" lang="en-IN" altLang="en-US" sz="1800" b="1" i="1" u="none" strike="noStrike" cap="none" normalizeH="0" baseline="0" smtClean="0">
                              <a:ln>
                                <a:noFill/>
                              </a:ln>
                              <a:solidFill>
                                <a:schemeClr val="tx1"/>
                              </a:solidFill>
                              <a:effectLst/>
                              <a:latin typeface="Cambria Math"/>
                              <a:ea typeface="Calibri" panose="020F0502020204030204" pitchFamily="34" charset="0"/>
                              <a:cs typeface="Arial" panose="020B0604020202020204" pitchFamily="34" charset="0"/>
                            </a:rPr>
                          </m:ctrlPr>
                        </m:mPr>
                        <m:mr>
                          <m:e>
                            <m:r>
                              <m:rPr>
                                <m:brk m:alnAt="7"/>
                              </m:rP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𝒏</m:t>
                            </m:r>
                          </m:e>
                        </m:mr>
                        <m:mr>
                          <m:e>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𝒌</m:t>
                            </m:r>
                          </m:e>
                        </m:mr>
                      </m:m>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sSup>
                        <m:sSupPr>
                          <m:ctrlPr>
                            <a:rPr kumimoji="0" lang="en-IN" altLang="en-US" sz="1800" b="1" i="1" u="none" strike="noStrike" cap="none" normalizeH="0" baseline="0" smtClean="0">
                              <a:ln>
                                <a:noFill/>
                              </a:ln>
                              <a:solidFill>
                                <a:schemeClr val="tx1"/>
                              </a:solidFill>
                              <a:effectLst/>
                              <a:latin typeface="Cambria Math"/>
                              <a:ea typeface="Calibri" panose="020F0502020204030204" pitchFamily="34" charset="0"/>
                              <a:cs typeface="Arial" panose="020B0604020202020204" pitchFamily="34" charset="0"/>
                            </a:rPr>
                          </m:ctrlPr>
                        </m:sSupPr>
                        <m:e>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𝒑</m:t>
                          </m:r>
                        </m:e>
                        <m:sup>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𝒌</m:t>
                          </m:r>
                        </m:sup>
                      </m:sSup>
                      <m:sSup>
                        <m:sSupPr>
                          <m:ctrlPr>
                            <a:rPr kumimoji="0" lang="en-IN" altLang="en-US" sz="1800" b="1" i="1" u="none" strike="noStrike" cap="none" normalizeH="0" baseline="0" smtClean="0">
                              <a:ln>
                                <a:noFill/>
                              </a:ln>
                              <a:solidFill>
                                <a:schemeClr val="tx1"/>
                              </a:solidFill>
                              <a:effectLst/>
                              <a:latin typeface="Cambria Math"/>
                              <a:ea typeface="Calibri" panose="020F0502020204030204" pitchFamily="34" charset="0"/>
                              <a:cs typeface="Arial" panose="020B0604020202020204" pitchFamily="34" charset="0"/>
                            </a:rPr>
                          </m:ctrlPr>
                        </m:sSupPr>
                        <m:e>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𝟏</m:t>
                          </m:r>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𝒑</m:t>
                          </m:r>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e>
                        <m:sup>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𝒏</m:t>
                          </m:r>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r>
                            <a:rPr kumimoji="0" lang="en-IN" altLang="en-US" sz="180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𝒌</m:t>
                          </m:r>
                        </m:sup>
                      </m:sSup>
                    </m:oMath>
                  </m:oMathPara>
                </a14:m>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Applications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Used for modeling scenarios with fixed trials, such as flipping a coin multiple times or testing defective items in batches.</a:t>
                </a:r>
                <a:endParaRPr kumimoji="0" lang="en-US" altLang="en-US" sz="1000" b="0" i="0" u="none" strike="noStrike" cap="none" normalizeH="0" baseline="0" dirty="0">
                  <a:ln>
                    <a:noFill/>
                  </a:ln>
                  <a:solidFill>
                    <a:schemeClr val="tx1"/>
                  </a:solidFill>
                  <a:effectLst/>
                </a:endParaRPr>
              </a:p>
            </p:txBody>
          </p:sp>
        </mc:Choice>
        <mc:Fallback xmlns="">
          <p:sp>
            <p:nvSpPr>
              <p:cNvPr id="4" name="Rectangle 3">
                <a:extLst>
                  <a:ext uri="{FF2B5EF4-FFF2-40B4-BE49-F238E27FC236}">
                    <a16:creationId xmlns:a16="http://schemas.microsoft.com/office/drawing/2014/main" id="{9A2ECE1C-3382-EF7A-46AF-84578F922F17}"/>
                  </a:ext>
                </a:extLst>
              </p:cNvPr>
              <p:cNvSpPr>
                <a:spLocks noRot="1" noChangeAspect="1" noMove="1" noResize="1" noEditPoints="1" noAdjustHandles="1" noChangeArrowheads="1" noChangeShapeType="1" noTextEdit="1"/>
              </p:cNvSpPr>
              <p:nvPr/>
            </p:nvSpPr>
            <p:spPr bwMode="auto">
              <a:xfrm>
                <a:off x="744926" y="866205"/>
                <a:ext cx="8028384" cy="4823628"/>
              </a:xfrm>
              <a:prstGeom prst="rect">
                <a:avLst/>
              </a:prstGeom>
              <a:blipFill>
                <a:blip r:embed="rId2"/>
                <a:stretch>
                  <a:fillRect l="-1139" r="-911" b="-101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020784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BE2540D-B15E-8860-5FFB-4A362751F512}"/>
              </a:ext>
            </a:extLst>
          </p:cNvPr>
          <p:cNvSpPr txBox="1"/>
          <p:nvPr/>
        </p:nvSpPr>
        <p:spPr>
          <a:xfrm>
            <a:off x="539552" y="548680"/>
            <a:ext cx="8172908" cy="5663345"/>
          </a:xfrm>
          <a:prstGeom prst="rect">
            <a:avLst/>
          </a:prstGeom>
          <a:noFill/>
        </p:spPr>
        <p:txBody>
          <a:bodyPr wrap="square">
            <a:spAutoFit/>
          </a:bodyPr>
          <a:lstStyle/>
          <a:p>
            <a:pPr>
              <a:lnSpc>
                <a:spcPct val="107000"/>
              </a:lnSpc>
              <a:spcAft>
                <a:spcPts val="800"/>
              </a:spcAft>
            </a:pPr>
            <a:r>
              <a:rPr lang="en-US" sz="1700" b="1" dirty="0">
                <a:effectLst/>
                <a:latin typeface="Calibri" panose="020F0502020204030204" pitchFamily="34" charset="0"/>
                <a:ea typeface="Calibri" panose="020F0502020204030204" pitchFamily="34" charset="0"/>
                <a:cs typeface="Arial" panose="020B0604020202020204" pitchFamily="34" charset="0"/>
              </a:rPr>
              <a:t>Example: Quality Control in Manufacturing</a:t>
            </a:r>
            <a:endParaRPr lang="en-US" sz="17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700" dirty="0">
                <a:effectLst/>
                <a:latin typeface="Calibri" panose="020F0502020204030204" pitchFamily="34" charset="0"/>
                <a:ea typeface="Calibri" panose="020F0502020204030204" pitchFamily="34" charset="0"/>
                <a:cs typeface="Arial" panose="020B0604020202020204" pitchFamily="34" charset="0"/>
              </a:rPr>
              <a:t>Suppose a manufacturing company produces electronic components, and each component has a probability </a:t>
            </a:r>
            <a:r>
              <a:rPr lang="en-US" sz="1700" i="1" dirty="0">
                <a:effectLst/>
                <a:latin typeface="Calibri" panose="020F0502020204030204" pitchFamily="34" charset="0"/>
                <a:ea typeface="Calibri" panose="020F0502020204030204" pitchFamily="34" charset="0"/>
                <a:cs typeface="Arial" panose="020B0604020202020204" pitchFamily="34" charset="0"/>
              </a:rPr>
              <a:t>p</a:t>
            </a:r>
            <a:r>
              <a:rPr lang="en-US" sz="1700" dirty="0">
                <a:effectLst/>
                <a:latin typeface="Calibri" panose="020F0502020204030204" pitchFamily="34" charset="0"/>
                <a:ea typeface="Calibri" panose="020F0502020204030204" pitchFamily="34" charset="0"/>
                <a:cs typeface="Arial" panose="020B0604020202020204" pitchFamily="34" charset="0"/>
              </a:rPr>
              <a:t> of being defective. Let's say quality engineers are interested in testing a batch of 100 components to determine if they meet quality standards, where the probability of a component being defective is </a:t>
            </a:r>
            <a:r>
              <a:rPr lang="en-US" sz="1700" i="1" dirty="0">
                <a:effectLst/>
                <a:latin typeface="Calibri" panose="020F0502020204030204" pitchFamily="34" charset="0"/>
                <a:ea typeface="Calibri" panose="020F0502020204030204" pitchFamily="34" charset="0"/>
                <a:cs typeface="Arial" panose="020B0604020202020204" pitchFamily="34" charset="0"/>
              </a:rPr>
              <a:t>p</a:t>
            </a:r>
            <a:r>
              <a:rPr lang="en-US" sz="1700" dirty="0">
                <a:effectLst/>
                <a:latin typeface="Calibri" panose="020F0502020204030204" pitchFamily="34" charset="0"/>
                <a:ea typeface="Calibri" panose="020F0502020204030204" pitchFamily="34" charset="0"/>
                <a:cs typeface="Arial" panose="020B0604020202020204" pitchFamily="34" charset="0"/>
              </a:rPr>
              <a:t>=0.02 (or 2%).</a:t>
            </a:r>
          </a:p>
          <a:p>
            <a:pPr>
              <a:lnSpc>
                <a:spcPct val="107000"/>
              </a:lnSpc>
              <a:spcAft>
                <a:spcPts val="800"/>
              </a:spcAft>
            </a:pPr>
            <a:r>
              <a:rPr lang="en-US" sz="1700" b="1" dirty="0">
                <a:effectLst/>
                <a:latin typeface="Calibri" panose="020F0502020204030204" pitchFamily="34" charset="0"/>
                <a:ea typeface="Calibri" panose="020F0502020204030204" pitchFamily="34" charset="0"/>
                <a:cs typeface="Arial" panose="020B0604020202020204" pitchFamily="34" charset="0"/>
              </a:rPr>
              <a:t>How the Binomial Distribution Applies</a:t>
            </a:r>
            <a:endParaRPr lang="en-US" sz="17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mj-lt"/>
              <a:buAutoNum type="arabicPeriod"/>
              <a:tabLst>
                <a:tab pos="457200" algn="l"/>
              </a:tabLst>
            </a:pPr>
            <a:r>
              <a:rPr lang="en-US" sz="1700" b="1" dirty="0">
                <a:effectLst/>
                <a:latin typeface="Calibri" panose="020F0502020204030204" pitchFamily="34" charset="0"/>
                <a:ea typeface="Calibri" panose="020F0502020204030204" pitchFamily="34" charset="0"/>
                <a:cs typeface="Arial" panose="020B0604020202020204" pitchFamily="34" charset="0"/>
              </a:rPr>
              <a:t>Defining Success and Failure</a:t>
            </a:r>
            <a:r>
              <a:rPr lang="en-US" sz="17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700" dirty="0">
                <a:effectLst/>
                <a:latin typeface="Calibri" panose="020F0502020204030204" pitchFamily="34" charset="0"/>
                <a:ea typeface="Calibri" panose="020F0502020204030204" pitchFamily="34" charset="0"/>
                <a:cs typeface="Times New Roman" panose="02020603050405020304" pitchFamily="18" charset="0"/>
              </a:rPr>
              <a:t>"Success" could be defined as finding a defective component.</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700" dirty="0">
                <a:effectLst/>
                <a:latin typeface="Calibri" panose="020F0502020204030204" pitchFamily="34" charset="0"/>
                <a:ea typeface="Calibri" panose="020F0502020204030204" pitchFamily="34" charset="0"/>
                <a:cs typeface="Times New Roman" panose="02020603050405020304" pitchFamily="18" charset="0"/>
              </a:rPr>
              <a:t>"Failure" is finding a non-defective component.</a:t>
            </a:r>
          </a:p>
          <a:p>
            <a:pPr marL="342900" lvl="0" indent="-342900">
              <a:lnSpc>
                <a:spcPct val="107000"/>
              </a:lnSpc>
              <a:spcAft>
                <a:spcPts val="800"/>
              </a:spcAft>
              <a:buFont typeface="+mj-lt"/>
              <a:buAutoNum type="arabicPeriod"/>
              <a:tabLst>
                <a:tab pos="457200" algn="l"/>
              </a:tabLst>
            </a:pPr>
            <a:r>
              <a:rPr lang="en-US" sz="1700" b="1" dirty="0">
                <a:effectLst/>
                <a:latin typeface="Calibri" panose="020F0502020204030204" pitchFamily="34" charset="0"/>
                <a:ea typeface="Calibri" panose="020F0502020204030204" pitchFamily="34" charset="0"/>
                <a:cs typeface="Arial" panose="020B0604020202020204" pitchFamily="34" charset="0"/>
              </a:rPr>
              <a:t>Parameters</a:t>
            </a:r>
            <a:r>
              <a:rPr lang="en-US" sz="17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700" dirty="0">
                <a:effectLst/>
                <a:latin typeface="Calibri" panose="020F0502020204030204" pitchFamily="34" charset="0"/>
                <a:ea typeface="Calibri" panose="020F0502020204030204" pitchFamily="34" charset="0"/>
                <a:cs typeface="Times New Roman" panose="02020603050405020304" pitchFamily="18" charset="0"/>
              </a:rPr>
              <a:t>The number of trials, </a:t>
            </a:r>
            <a:r>
              <a:rPr lang="en-US" sz="1700" i="1" dirty="0">
                <a:effectLst/>
                <a:latin typeface="Calibri" panose="020F0502020204030204" pitchFamily="34" charset="0"/>
                <a:ea typeface="Calibri" panose="020F0502020204030204" pitchFamily="34" charset="0"/>
                <a:cs typeface="Times New Roman" panose="02020603050405020304" pitchFamily="18" charset="0"/>
              </a:rPr>
              <a:t>n</a:t>
            </a:r>
            <a:r>
              <a:rPr lang="en-US" sz="1700" dirty="0">
                <a:effectLst/>
                <a:latin typeface="Calibri" panose="020F0502020204030204" pitchFamily="34" charset="0"/>
                <a:ea typeface="Calibri" panose="020F0502020204030204" pitchFamily="34" charset="0"/>
                <a:cs typeface="Times New Roman" panose="02020603050405020304" pitchFamily="18" charset="0"/>
              </a:rPr>
              <a:t>, is the sample size of 100 components.</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700" dirty="0">
                <a:effectLst/>
                <a:latin typeface="Calibri" panose="020F0502020204030204" pitchFamily="34" charset="0"/>
                <a:ea typeface="Calibri" panose="020F0502020204030204" pitchFamily="34" charset="0"/>
                <a:cs typeface="Times New Roman" panose="02020603050405020304" pitchFamily="18" charset="0"/>
              </a:rPr>
              <a:t>The probability of finding a defective component, </a:t>
            </a:r>
            <a:r>
              <a:rPr lang="en-US" sz="1700" i="1" dirty="0">
                <a:effectLst/>
                <a:latin typeface="Calibri" panose="020F0502020204030204" pitchFamily="34" charset="0"/>
                <a:ea typeface="Calibri" panose="020F0502020204030204" pitchFamily="34" charset="0"/>
                <a:cs typeface="Times New Roman" panose="02020603050405020304" pitchFamily="18" charset="0"/>
              </a:rPr>
              <a:t>p</a:t>
            </a:r>
            <a:r>
              <a:rPr lang="en-US" sz="1700" dirty="0">
                <a:effectLst/>
                <a:latin typeface="Calibri" panose="020F0502020204030204" pitchFamily="34" charset="0"/>
                <a:ea typeface="Calibri" panose="020F0502020204030204" pitchFamily="34" charset="0"/>
                <a:cs typeface="Times New Roman" panose="02020603050405020304" pitchFamily="18" charset="0"/>
              </a:rPr>
              <a:t>, is 0.02.</a:t>
            </a:r>
          </a:p>
          <a:p>
            <a:pPr marL="342900" lvl="0" indent="-342900">
              <a:lnSpc>
                <a:spcPct val="107000"/>
              </a:lnSpc>
              <a:spcAft>
                <a:spcPts val="800"/>
              </a:spcAft>
              <a:buFont typeface="+mj-lt"/>
              <a:buAutoNum type="arabicPeriod"/>
              <a:tabLst>
                <a:tab pos="457200" algn="l"/>
              </a:tabLst>
            </a:pPr>
            <a:r>
              <a:rPr lang="en-US" sz="1700" b="1" dirty="0">
                <a:effectLst/>
                <a:latin typeface="Calibri" panose="020F0502020204030204" pitchFamily="34" charset="0"/>
                <a:ea typeface="Calibri" panose="020F0502020204030204" pitchFamily="34" charset="0"/>
                <a:cs typeface="Arial" panose="020B0604020202020204" pitchFamily="34" charset="0"/>
              </a:rPr>
              <a:t>Binomial Distribution</a:t>
            </a:r>
            <a:r>
              <a:rPr lang="en-US" sz="17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700" dirty="0">
                <a:effectLst/>
                <a:latin typeface="Calibri" panose="020F0502020204030204" pitchFamily="34" charset="0"/>
                <a:ea typeface="Calibri" panose="020F0502020204030204" pitchFamily="34" charset="0"/>
                <a:cs typeface="Times New Roman" panose="02020603050405020304" pitchFamily="18" charset="0"/>
              </a:rPr>
              <a:t>This setup follows a binomial distribution Binomial (</a:t>
            </a:r>
            <a:r>
              <a:rPr lang="en-US" sz="1700" i="1" dirty="0">
                <a:effectLst/>
                <a:latin typeface="Calibri" panose="020F0502020204030204" pitchFamily="34" charset="0"/>
                <a:ea typeface="Calibri" panose="020F0502020204030204" pitchFamily="34" charset="0"/>
                <a:cs typeface="Times New Roman" panose="02020603050405020304" pitchFamily="18" charset="0"/>
              </a:rPr>
              <a:t>n</a:t>
            </a:r>
            <a:r>
              <a:rPr lang="en-US" sz="1700" dirty="0">
                <a:effectLst/>
                <a:latin typeface="Calibri" panose="020F0502020204030204" pitchFamily="34" charset="0"/>
                <a:ea typeface="Calibri" panose="020F0502020204030204" pitchFamily="34" charset="0"/>
                <a:cs typeface="Times New Roman" panose="02020603050405020304" pitchFamily="18" charset="0"/>
              </a:rPr>
              <a:t>=100,</a:t>
            </a:r>
            <a:r>
              <a:rPr lang="en-US" sz="1700" i="1" dirty="0">
                <a:effectLst/>
                <a:latin typeface="Calibri" panose="020F0502020204030204" pitchFamily="34" charset="0"/>
                <a:ea typeface="Calibri" panose="020F0502020204030204" pitchFamily="34" charset="0"/>
                <a:cs typeface="Times New Roman" panose="02020603050405020304" pitchFamily="18" charset="0"/>
              </a:rPr>
              <a:t>p</a:t>
            </a:r>
            <a:r>
              <a:rPr lang="en-US" sz="1700" dirty="0">
                <a:effectLst/>
                <a:latin typeface="Calibri" panose="020F0502020204030204" pitchFamily="34" charset="0"/>
                <a:ea typeface="Calibri" panose="020F0502020204030204" pitchFamily="34" charset="0"/>
                <a:cs typeface="Times New Roman" panose="02020603050405020304" pitchFamily="18" charset="0"/>
              </a:rPr>
              <a:t>=0.02)</a:t>
            </a:r>
          </a:p>
          <a:p>
            <a:r>
              <a:rPr lang="en-US" sz="1700" dirty="0">
                <a:effectLst/>
                <a:latin typeface="Calibri" panose="020F0502020204030204" pitchFamily="34" charset="0"/>
                <a:ea typeface="Calibri" panose="020F0502020204030204" pitchFamily="34" charset="0"/>
                <a:cs typeface="Arial" panose="020B0604020202020204" pitchFamily="34" charset="0"/>
              </a:rPr>
              <a:t>Engineers can use the distribution to calculate the probability of finding a certain number of defective components in the sample.</a:t>
            </a:r>
            <a:endParaRPr lang="en-US" sz="1700" dirty="0"/>
          </a:p>
        </p:txBody>
      </p:sp>
    </p:spTree>
    <p:extLst>
      <p:ext uri="{BB962C8B-B14F-4D97-AF65-F5344CB8AC3E}">
        <p14:creationId xmlns:p14="http://schemas.microsoft.com/office/powerpoint/2010/main" val="4223347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8FE8961-9E60-3E58-7EE6-B8C174DFA6CB}"/>
              </a:ext>
            </a:extLst>
          </p:cNvPr>
          <p:cNvSpPr txBox="1"/>
          <p:nvPr/>
        </p:nvSpPr>
        <p:spPr>
          <a:xfrm>
            <a:off x="791580" y="759294"/>
            <a:ext cx="7776864" cy="5472524"/>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Example Calculations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Probability of finding exactly 5 defective components</a:t>
            </a:r>
            <a:r>
              <a:rPr lang="en-US" sz="1800" dirty="0" smtClean="0">
                <a:effectLst/>
                <a:latin typeface="Calibri" panose="020F0502020204030204" pitchFamily="34" charset="0"/>
                <a:ea typeface="Calibri" panose="020F0502020204030204" pitchFamily="34" charset="0"/>
                <a:cs typeface="Arial" panose="020B0604020202020204" pitchFamily="34" charset="0"/>
              </a:rPr>
              <a:t>:</a:t>
            </a:r>
          </a:p>
          <a:p>
            <a:pPr lvl="0">
              <a:lnSpc>
                <a:spcPct val="107000"/>
              </a:lnSpc>
              <a:spcAft>
                <a:spcPts val="800"/>
              </a:spcAft>
              <a:buSzPts val="1000"/>
              <a:tabLst>
                <a:tab pos="457200" algn="l"/>
              </a:tabLst>
            </a:pPr>
            <a:endParaRPr lang="en-US" sz="1800" dirty="0" smtClean="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endParaRPr lang="en-US" sz="1800" dirty="0">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endParaRPr lang="en-US" sz="1800" b="1" dirty="0" smtClean="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Probability of finding at least 1 defective component</a:t>
            </a:r>
            <a:r>
              <a:rPr lang="en-US" sz="1800" dirty="0">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where </a:t>
            </a:r>
            <a:r>
              <a:rPr lang="en-US" sz="1800" i="1" dirty="0">
                <a:effectLst/>
                <a:latin typeface="Calibri" panose="020F0502020204030204" pitchFamily="34" charset="0"/>
                <a:ea typeface="Calibri" panose="020F0502020204030204" pitchFamily="34" charset="0"/>
                <a:cs typeface="Arial" panose="020B0604020202020204" pitchFamily="34" charset="0"/>
              </a:rPr>
              <a:t>P</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i="1" dirty="0">
                <a:effectLst/>
                <a:latin typeface="Calibri" panose="020F0502020204030204" pitchFamily="34" charset="0"/>
                <a:ea typeface="Calibri" panose="020F0502020204030204" pitchFamily="34" charset="0"/>
                <a:cs typeface="Arial" panose="020B0604020202020204" pitchFamily="34" charset="0"/>
              </a:rPr>
              <a:t>X</a:t>
            </a:r>
            <a:r>
              <a:rPr lang="en-US" sz="1800" dirty="0">
                <a:effectLst/>
                <a:latin typeface="Calibri" panose="020F0502020204030204" pitchFamily="34" charset="0"/>
                <a:ea typeface="Calibri" panose="020F0502020204030204" pitchFamily="34" charset="0"/>
                <a:cs typeface="Arial" panose="020B0604020202020204" pitchFamily="34" charset="0"/>
              </a:rPr>
              <a:t>=0)=(0.98)</a:t>
            </a:r>
            <a:r>
              <a:rPr lang="en-US" sz="1800" baseline="30000" dirty="0">
                <a:effectLst/>
                <a:latin typeface="Calibri" panose="020F0502020204030204" pitchFamily="34" charset="0"/>
                <a:ea typeface="Calibri" panose="020F0502020204030204" pitchFamily="34" charset="0"/>
                <a:cs typeface="Arial" panose="020B0604020202020204" pitchFamily="34" charset="0"/>
              </a:rPr>
              <a:t>100</a:t>
            </a:r>
            <a:r>
              <a:rPr lang="en-US" sz="1800" dirty="0">
                <a:effectLst/>
                <a:latin typeface="Calibri" panose="020F0502020204030204" pitchFamily="34" charset="0"/>
                <a:ea typeface="Calibri" panose="020F0502020204030204" pitchFamily="34" charset="0"/>
                <a:cs typeface="Arial" panose="020B0604020202020204" pitchFamily="34" charset="0"/>
              </a:rPr>
              <a:t>, since </a:t>
            </a:r>
            <a:r>
              <a:rPr lang="en-US" sz="1800" i="1" dirty="0">
                <a:effectLst/>
                <a:latin typeface="Calibri" panose="020F0502020204030204" pitchFamily="34" charset="0"/>
                <a:ea typeface="Calibri" panose="020F0502020204030204" pitchFamily="34" charset="0"/>
                <a:cs typeface="Arial" panose="020B0604020202020204" pitchFamily="34" charset="0"/>
              </a:rPr>
              <a:t>P</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i="1" dirty="0">
                <a:effectLst/>
                <a:latin typeface="Calibri" panose="020F0502020204030204" pitchFamily="34" charset="0"/>
                <a:ea typeface="Calibri" panose="020F0502020204030204" pitchFamily="34" charset="0"/>
                <a:cs typeface="Arial" panose="020B0604020202020204" pitchFamily="34" charset="0"/>
              </a:rPr>
              <a:t>X</a:t>
            </a:r>
            <a:r>
              <a:rPr lang="en-US" sz="1800" dirty="0">
                <a:effectLst/>
                <a:latin typeface="Calibri" panose="020F0502020204030204" pitchFamily="34" charset="0"/>
                <a:ea typeface="Calibri" panose="020F0502020204030204" pitchFamily="34" charset="0"/>
                <a:cs typeface="Arial" panose="020B0604020202020204" pitchFamily="34" charset="0"/>
              </a:rPr>
              <a:t>=0) represents the probability that all components are non-defective</a:t>
            </a:r>
            <a:r>
              <a:rPr lang="en-US" sz="1800" dirty="0" smtClean="0">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pPr>
            <a:endParaRPr lang="en-US" sz="18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hlinkClick r:id="rId2"/>
              </a:rPr>
              <a:t>3D Calculator - </a:t>
            </a:r>
            <a:r>
              <a:rPr lang="en-US" sz="1800" dirty="0" err="1">
                <a:hlinkClick r:id="rId2"/>
              </a:rPr>
              <a:t>GeoGebra</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xmlns="" id="{931BC8AF-6979-3E62-A477-E94ECC81CCF1}"/>
              </a:ext>
            </a:extLst>
          </p:cNvPr>
          <p:cNvPicPr>
            <a:picLocks noChangeAspect="1"/>
          </p:cNvPicPr>
          <p:nvPr/>
        </p:nvPicPr>
        <p:blipFill>
          <a:blip r:embed="rId3"/>
          <a:stretch>
            <a:fillRect/>
          </a:stretch>
        </p:blipFill>
        <p:spPr>
          <a:xfrm>
            <a:off x="3212063" y="2282152"/>
            <a:ext cx="3505689" cy="733527"/>
          </a:xfrm>
          <a:prstGeom prst="rect">
            <a:avLst/>
          </a:prstGeom>
        </p:spPr>
      </p:pic>
      <p:pic>
        <p:nvPicPr>
          <p:cNvPr id="7" name="Picture 6">
            <a:extLst>
              <a:ext uri="{FF2B5EF4-FFF2-40B4-BE49-F238E27FC236}">
                <a16:creationId xmlns:a16="http://schemas.microsoft.com/office/drawing/2014/main" xmlns="" id="{767FD05D-51B3-689C-17DA-601E9B75432F}"/>
              </a:ext>
            </a:extLst>
          </p:cNvPr>
          <p:cNvPicPr>
            <a:picLocks noChangeAspect="1"/>
          </p:cNvPicPr>
          <p:nvPr/>
        </p:nvPicPr>
        <p:blipFill>
          <a:blip r:embed="rId4"/>
          <a:stretch>
            <a:fillRect/>
          </a:stretch>
        </p:blipFill>
        <p:spPr>
          <a:xfrm>
            <a:off x="3168073" y="3144784"/>
            <a:ext cx="2781688" cy="352474"/>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8073" y="1520788"/>
            <a:ext cx="3438525"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2558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ABB634F-DA3D-5085-5055-49C30ABA1345}"/>
              </a:ext>
            </a:extLst>
          </p:cNvPr>
          <p:cNvSpPr txBox="1"/>
          <p:nvPr/>
        </p:nvSpPr>
        <p:spPr>
          <a:xfrm>
            <a:off x="629562" y="584684"/>
            <a:ext cx="7884876" cy="3943324"/>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Interpretation and Usage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If the probability of finding a high number of defective components is significant, it may indicate a quality issue with the production process, prompting further investigation.</a:t>
            </a: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Engineers can use this probability to set quality control thresholds. For example, if finding more than a certain number of defective items in a sample is unlikely (e.g., less than a 5% chance), they may flag the batch for inspection if that threshold is exceeded.</a:t>
            </a: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The binomial distribution in this case provides a quantitative approach to assess the quality level and consistency of the manufacturing process, allowing engineers to make informed decisions on batch acceptance or rejection based on statistically sound probabilities.</a:t>
            </a:r>
          </a:p>
        </p:txBody>
      </p:sp>
    </p:spTree>
    <p:extLst>
      <p:ext uri="{BB962C8B-B14F-4D97-AF65-F5344CB8AC3E}">
        <p14:creationId xmlns:p14="http://schemas.microsoft.com/office/powerpoint/2010/main" val="100708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717D499C-A06F-8F84-2E1D-F95A0986BCE3}"/>
                  </a:ext>
                </a:extLst>
              </p:cNvPr>
              <p:cNvSpPr txBox="1"/>
              <p:nvPr/>
            </p:nvSpPr>
            <p:spPr>
              <a:xfrm>
                <a:off x="539552" y="764704"/>
                <a:ext cx="8028892" cy="3714863"/>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b. Poisson Distribution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Models the number of events occurring within a fixed interval of time or space, assuming events happen independently at a constant rate.</a:t>
                </a: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λ (average number of events per interval).</a:t>
                </a:r>
              </a:p>
              <a:p>
                <a:pPr lvl="0">
                  <a:lnSpc>
                    <a:spcPct val="107000"/>
                  </a:lnSpc>
                  <a:spcAft>
                    <a:spcPts val="800"/>
                  </a:spcAft>
                  <a:buSzPts val="1000"/>
                  <a:tabLst>
                    <a:tab pos="457200" algn="l"/>
                  </a:tabLst>
                </a:pPr>
                <a:r>
                  <a:rPr lang="en-US" sz="1800" b="1" dirty="0" err="1">
                    <a:effectLst/>
                    <a:latin typeface="Calibri" panose="020F0502020204030204" pitchFamily="34" charset="0"/>
                    <a:ea typeface="Calibri" panose="020F0502020204030204" pitchFamily="34" charset="0"/>
                    <a:cs typeface="Arial" panose="020B0604020202020204" pitchFamily="34" charset="0"/>
                  </a:rPr>
                  <a:t>PMF</a:t>
                </a: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lvl="0">
                  <a:lnSpc>
                    <a:spcPct val="107000"/>
                  </a:lnSpc>
                  <a:spcAft>
                    <a:spcPts val="800"/>
                  </a:spcAft>
                  <a:buSzPts val="1000"/>
                  <a:tabLst>
                    <a:tab pos="457200" algn="l"/>
                  </a:tabLst>
                </a:pPr>
                <a14:m>
                  <m:oMathPara xmlns:m="http://schemas.openxmlformats.org/officeDocument/2006/math">
                    <m:oMathParaPr>
                      <m:jc m:val="centerGroup"/>
                    </m:oMathParaPr>
                    <m:oMath xmlns:m="http://schemas.openxmlformats.org/officeDocument/2006/math">
                      <m:r>
                        <a:rPr lang="en-IN" sz="1800" b="1" i="1" smtClean="0">
                          <a:effectLst/>
                          <a:latin typeface="Cambria Math" panose="02040503050406030204" pitchFamily="18" charset="0"/>
                          <a:ea typeface="Calibri" panose="020F0502020204030204" pitchFamily="34" charset="0"/>
                          <a:cs typeface="Arial" panose="020B0604020202020204" pitchFamily="34" charset="0"/>
                        </a:rPr>
                        <m:t>𝑷</m:t>
                      </m:r>
                      <m:d>
                        <m:dPr>
                          <m:ctrlPr>
                            <a:rPr lang="en-IN" sz="1800" b="1" i="1" smtClean="0">
                              <a:effectLst/>
                              <a:latin typeface="Cambria Math"/>
                              <a:ea typeface="Calibri" panose="020F0502020204030204" pitchFamily="34" charset="0"/>
                              <a:cs typeface="Arial" panose="020B0604020202020204" pitchFamily="34" charset="0"/>
                            </a:rPr>
                          </m:ctrlPr>
                        </m:dPr>
                        <m:e>
                          <m:r>
                            <a:rPr lang="en-IN" sz="1800" b="1" i="1" smtClean="0">
                              <a:effectLst/>
                              <a:latin typeface="Cambria Math" panose="02040503050406030204" pitchFamily="18" charset="0"/>
                              <a:ea typeface="Calibri" panose="020F0502020204030204" pitchFamily="34" charset="0"/>
                              <a:cs typeface="Arial" panose="020B0604020202020204" pitchFamily="34" charset="0"/>
                            </a:rPr>
                            <m:t>𝑿</m:t>
                          </m:r>
                          <m:r>
                            <a:rPr lang="en-IN" sz="1800" b="1" i="1" smtClean="0">
                              <a:effectLst/>
                              <a:latin typeface="Cambria Math" panose="02040503050406030204" pitchFamily="18" charset="0"/>
                              <a:ea typeface="Calibri" panose="020F0502020204030204" pitchFamily="34" charset="0"/>
                              <a:cs typeface="Arial" panose="020B0604020202020204" pitchFamily="34" charset="0"/>
                            </a:rPr>
                            <m:t>=</m:t>
                          </m:r>
                          <m:r>
                            <a:rPr lang="en-IN" sz="1800" b="1" i="1" smtClean="0">
                              <a:effectLst/>
                              <a:latin typeface="Cambria Math" panose="02040503050406030204" pitchFamily="18" charset="0"/>
                              <a:ea typeface="Calibri" panose="020F0502020204030204" pitchFamily="34" charset="0"/>
                              <a:cs typeface="Arial" panose="020B0604020202020204" pitchFamily="34" charset="0"/>
                            </a:rPr>
                            <m:t>𝒌</m:t>
                          </m:r>
                        </m:e>
                      </m:d>
                      <m:r>
                        <a:rPr lang="en-IN" sz="1800" b="1" i="1" smtClean="0">
                          <a:effectLst/>
                          <a:latin typeface="Cambria Math" panose="02040503050406030204" pitchFamily="18" charset="0"/>
                          <a:ea typeface="Calibri" panose="020F0502020204030204" pitchFamily="34" charset="0"/>
                          <a:cs typeface="Arial" panose="020B0604020202020204" pitchFamily="34" charset="0"/>
                        </a:rPr>
                        <m:t>=</m:t>
                      </m:r>
                      <m:f>
                        <m:fPr>
                          <m:ctrlPr>
                            <a:rPr lang="en-IN" sz="1800" b="1" i="1" smtClean="0">
                              <a:effectLst/>
                              <a:latin typeface="Cambria Math"/>
                              <a:ea typeface="Calibri" panose="020F0502020204030204" pitchFamily="34" charset="0"/>
                              <a:cs typeface="Arial" panose="020B0604020202020204" pitchFamily="34" charset="0"/>
                            </a:rPr>
                          </m:ctrlPr>
                        </m:fPr>
                        <m:num>
                          <m:sSup>
                            <m:sSupPr>
                              <m:ctrlPr>
                                <a:rPr lang="en-IN" sz="1800" b="1" i="1" smtClean="0">
                                  <a:effectLst/>
                                  <a:latin typeface="Cambria Math"/>
                                  <a:ea typeface="Calibri" panose="020F0502020204030204" pitchFamily="34" charset="0"/>
                                  <a:cs typeface="Arial" panose="020B0604020202020204" pitchFamily="34" charset="0"/>
                                </a:rPr>
                              </m:ctrlPr>
                            </m:sSupPr>
                            <m:e>
                              <m:r>
                                <m:rPr>
                                  <m:nor/>
                                </m:rPr>
                                <a:rPr lang="en-US" sz="1800" dirty="0">
                                  <a:latin typeface="Calibri" panose="020F0502020204030204" pitchFamily="34" charset="0"/>
                                  <a:ea typeface="Calibri" panose="020F0502020204030204" pitchFamily="34" charset="0"/>
                                  <a:cs typeface="Arial" panose="020B0604020202020204" pitchFamily="34" charset="0"/>
                                </a:rPr>
                                <m:t>λ</m:t>
                              </m:r>
                            </m:e>
                            <m:sup>
                              <m:r>
                                <a:rPr lang="en-IN" sz="1800" b="1" i="1" smtClean="0">
                                  <a:effectLst/>
                                  <a:latin typeface="Cambria Math" panose="02040503050406030204" pitchFamily="18" charset="0"/>
                                  <a:ea typeface="Calibri" panose="020F0502020204030204" pitchFamily="34" charset="0"/>
                                  <a:cs typeface="Arial" panose="020B0604020202020204" pitchFamily="34" charset="0"/>
                                </a:rPr>
                                <m:t>𝒌</m:t>
                              </m:r>
                            </m:sup>
                          </m:sSup>
                          <m:sSup>
                            <m:sSupPr>
                              <m:ctrlPr>
                                <a:rPr lang="en-IN" sz="1800" b="1" i="1" smtClean="0">
                                  <a:effectLst/>
                                  <a:latin typeface="Cambria Math"/>
                                  <a:ea typeface="Calibri" panose="020F0502020204030204" pitchFamily="34" charset="0"/>
                                  <a:cs typeface="Arial" panose="020B0604020202020204" pitchFamily="34" charset="0"/>
                                </a:rPr>
                              </m:ctrlPr>
                            </m:sSupPr>
                            <m:e>
                              <m:r>
                                <a:rPr lang="en-IN" sz="1800" b="1" i="1" smtClean="0">
                                  <a:effectLst/>
                                  <a:latin typeface="Cambria Math" panose="02040503050406030204" pitchFamily="18" charset="0"/>
                                  <a:ea typeface="Calibri" panose="020F0502020204030204" pitchFamily="34" charset="0"/>
                                  <a:cs typeface="Arial" panose="020B0604020202020204" pitchFamily="34" charset="0"/>
                                </a:rPr>
                                <m:t>𝒆</m:t>
                              </m:r>
                            </m:e>
                            <m:sup>
                              <m:r>
                                <a:rPr lang="en-IN" sz="1800" b="1" i="1" smtClean="0">
                                  <a:effectLst/>
                                  <a:latin typeface="Cambria Math" panose="02040503050406030204" pitchFamily="18" charset="0"/>
                                  <a:ea typeface="Calibri" panose="020F0502020204030204" pitchFamily="34" charset="0"/>
                                  <a:cs typeface="Arial" panose="020B0604020202020204" pitchFamily="34" charset="0"/>
                                </a:rPr>
                                <m:t>−</m:t>
                              </m:r>
                              <m:r>
                                <m:rPr>
                                  <m:nor/>
                                </m:rPr>
                                <a:rPr lang="en-US" sz="1800" dirty="0">
                                  <a:latin typeface="Calibri" panose="020F0502020204030204" pitchFamily="34" charset="0"/>
                                  <a:ea typeface="Calibri" panose="020F0502020204030204" pitchFamily="34" charset="0"/>
                                  <a:cs typeface="Arial" panose="020B0604020202020204" pitchFamily="34" charset="0"/>
                                </a:rPr>
                                <m:t>λ</m:t>
                              </m:r>
                            </m:sup>
                          </m:sSup>
                        </m:num>
                        <m:den>
                          <m:r>
                            <a:rPr lang="en-IN" sz="1800" b="1" i="1" smtClean="0">
                              <a:effectLst/>
                              <a:latin typeface="Cambria Math" panose="02040503050406030204" pitchFamily="18" charset="0"/>
                              <a:ea typeface="Calibri" panose="020F0502020204030204" pitchFamily="34" charset="0"/>
                              <a:cs typeface="Arial" panose="020B0604020202020204" pitchFamily="34" charset="0"/>
                            </a:rPr>
                            <m:t>𝒌</m:t>
                          </m:r>
                          <m:r>
                            <a:rPr lang="en-IN" sz="1800" b="1" i="1" smtClean="0">
                              <a:effectLst/>
                              <a:latin typeface="Cambria Math" panose="02040503050406030204" pitchFamily="18" charset="0"/>
                              <a:ea typeface="Calibri" panose="020F0502020204030204" pitchFamily="34" charset="0"/>
                              <a:cs typeface="Arial" panose="020B0604020202020204" pitchFamily="34" charset="0"/>
                            </a:rPr>
                            <m:t>!</m:t>
                          </m:r>
                        </m:den>
                      </m:f>
                    </m:oMath>
                  </m:oMathPara>
                </a14:m>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Applications</a:t>
                </a:r>
                <a:r>
                  <a:rPr lang="en-US" sz="1800" dirty="0">
                    <a:effectLst/>
                    <a:latin typeface="Calibri" panose="020F0502020204030204" pitchFamily="34" charset="0"/>
                    <a:ea typeface="Calibri" panose="020F0502020204030204" pitchFamily="34" charset="0"/>
                    <a:cs typeface="Arial" panose="020B0604020202020204" pitchFamily="34" charset="0"/>
                  </a:rPr>
                  <a:t>: Used for rare events over time, like the number of car accidents per day or phone calls to a call center.</a:t>
                </a:r>
              </a:p>
            </p:txBody>
          </p:sp>
        </mc:Choice>
        <mc:Fallback xmlns="">
          <p:sp>
            <p:nvSpPr>
              <p:cNvPr id="3" name="TextBox 2">
                <a:extLst>
                  <a:ext uri="{FF2B5EF4-FFF2-40B4-BE49-F238E27FC236}">
                    <a16:creationId xmlns:a16="http://schemas.microsoft.com/office/drawing/2014/main" id="{717D499C-A06F-8F84-2E1D-F95A0986BCE3}"/>
                  </a:ext>
                </a:extLst>
              </p:cNvPr>
              <p:cNvSpPr txBox="1">
                <a:spLocks noRot="1" noChangeAspect="1" noMove="1" noResize="1" noEditPoints="1" noAdjustHandles="1" noChangeArrowheads="1" noChangeShapeType="1" noTextEdit="1"/>
              </p:cNvSpPr>
              <p:nvPr/>
            </p:nvSpPr>
            <p:spPr>
              <a:xfrm>
                <a:off x="539552" y="764704"/>
                <a:ext cx="8028892" cy="3714863"/>
              </a:xfrm>
              <a:prstGeom prst="rect">
                <a:avLst/>
              </a:prstGeom>
              <a:blipFill>
                <a:blip r:embed="rId2"/>
                <a:stretch>
                  <a:fillRect l="-683" t="-656" b="-1639"/>
                </a:stretch>
              </a:blipFill>
            </p:spPr>
            <p:txBody>
              <a:bodyPr/>
              <a:lstStyle/>
              <a:p>
                <a:r>
                  <a:rPr lang="en-US">
                    <a:noFill/>
                  </a:rPr>
                  <a:t> </a:t>
                </a:r>
              </a:p>
            </p:txBody>
          </p:sp>
        </mc:Fallback>
      </mc:AlternateContent>
    </p:spTree>
    <p:extLst>
      <p:ext uri="{BB962C8B-B14F-4D97-AF65-F5344CB8AC3E}">
        <p14:creationId xmlns:p14="http://schemas.microsoft.com/office/powerpoint/2010/main" val="1443130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23F5F5F-33F6-84EB-793D-2F809224E8B4}"/>
              </a:ext>
            </a:extLst>
          </p:cNvPr>
          <p:cNvSpPr txBox="1"/>
          <p:nvPr/>
        </p:nvSpPr>
        <p:spPr>
          <a:xfrm>
            <a:off x="899592" y="476672"/>
            <a:ext cx="7776864" cy="5560753"/>
          </a:xfrm>
          <a:prstGeom prst="rect">
            <a:avLst/>
          </a:prstGeom>
          <a:noFill/>
        </p:spPr>
        <p:txBody>
          <a:bodyPr wrap="square">
            <a:spAutoFit/>
          </a:bodyPr>
          <a:lstStyle/>
          <a:p>
            <a:pPr>
              <a:lnSpc>
                <a:spcPct val="107000"/>
              </a:lnSpc>
              <a:spcAft>
                <a:spcPts val="800"/>
              </a:spcAft>
            </a:pPr>
            <a:r>
              <a:rPr lang="en-US" sz="1700" b="1" dirty="0">
                <a:effectLst/>
                <a:latin typeface="Calibri" panose="020F0502020204030204" pitchFamily="34" charset="0"/>
                <a:ea typeface="Calibri" panose="020F0502020204030204" pitchFamily="34" charset="0"/>
                <a:cs typeface="Arial" panose="020B0604020202020204" pitchFamily="34" charset="0"/>
              </a:rPr>
              <a:t>Example: Modeling Equipment Failures in a Factory</a:t>
            </a:r>
            <a:endParaRPr lang="en-US" sz="17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700" dirty="0">
                <a:effectLst/>
                <a:latin typeface="Calibri" panose="020F0502020204030204" pitchFamily="34" charset="0"/>
                <a:ea typeface="Calibri" panose="020F0502020204030204" pitchFamily="34" charset="0"/>
                <a:cs typeface="Arial" panose="020B0604020202020204" pitchFamily="34" charset="0"/>
              </a:rPr>
              <a:t>Suppose a factory operates a large number of machines, and historically, breakdowns occur at an average rate of 3 failures per day across all machines. The engineering team wants to model the probability of observing a certain number of machine failures in a day to plan maintenance resources effectively.</a:t>
            </a:r>
          </a:p>
          <a:p>
            <a:pPr>
              <a:lnSpc>
                <a:spcPct val="107000"/>
              </a:lnSpc>
              <a:spcAft>
                <a:spcPts val="800"/>
              </a:spcAft>
            </a:pPr>
            <a:r>
              <a:rPr lang="en-US" sz="1700" b="1" dirty="0">
                <a:effectLst/>
                <a:latin typeface="Calibri" panose="020F0502020204030204" pitchFamily="34" charset="0"/>
                <a:ea typeface="Calibri" panose="020F0502020204030204" pitchFamily="34" charset="0"/>
                <a:cs typeface="Arial" panose="020B0604020202020204" pitchFamily="34" charset="0"/>
              </a:rPr>
              <a:t>How the Poisson Distribution Applies</a:t>
            </a:r>
            <a:endParaRPr lang="en-US" sz="17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tabLst>
                <a:tab pos="457200" algn="l"/>
              </a:tabLst>
            </a:pPr>
            <a:r>
              <a:rPr lang="en-US" sz="1700" b="1" dirty="0">
                <a:effectLst/>
                <a:latin typeface="Calibri" panose="020F0502020204030204" pitchFamily="34" charset="0"/>
                <a:ea typeface="Calibri" panose="020F0502020204030204" pitchFamily="34" charset="0"/>
                <a:cs typeface="Arial" panose="020B0604020202020204" pitchFamily="34" charset="0"/>
              </a:rPr>
              <a:t>Defining the Event</a:t>
            </a:r>
            <a:r>
              <a:rPr lang="en-US" sz="17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700" dirty="0">
                <a:effectLst/>
                <a:latin typeface="Calibri" panose="020F0502020204030204" pitchFamily="34" charset="0"/>
                <a:ea typeface="Calibri" panose="020F0502020204030204" pitchFamily="34" charset="0"/>
                <a:cs typeface="Times New Roman" panose="02020603050405020304" pitchFamily="18" charset="0"/>
              </a:rPr>
              <a:t>The "event" of interest is a machine failure.</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700" dirty="0">
                <a:effectLst/>
                <a:latin typeface="Calibri" panose="020F0502020204030204" pitchFamily="34" charset="0"/>
                <a:ea typeface="Calibri" panose="020F0502020204030204" pitchFamily="34" charset="0"/>
                <a:cs typeface="Times New Roman" panose="02020603050405020304" pitchFamily="18" charset="0"/>
              </a:rPr>
              <a:t>Each machine failure is rare and independent of the others, and they happen randomly over time.</a:t>
            </a:r>
          </a:p>
          <a:p>
            <a:pPr lvl="0">
              <a:lnSpc>
                <a:spcPct val="107000"/>
              </a:lnSpc>
              <a:spcAft>
                <a:spcPts val="800"/>
              </a:spcAft>
              <a:tabLst>
                <a:tab pos="457200" algn="l"/>
              </a:tabLst>
            </a:pPr>
            <a:r>
              <a:rPr lang="en-US" sz="1700" b="1" dirty="0">
                <a:effectLst/>
                <a:latin typeface="Calibri" panose="020F0502020204030204" pitchFamily="34" charset="0"/>
                <a:ea typeface="Calibri" panose="020F0502020204030204" pitchFamily="34" charset="0"/>
                <a:cs typeface="Arial" panose="020B0604020202020204" pitchFamily="34" charset="0"/>
              </a:rPr>
              <a:t>Parameter</a:t>
            </a:r>
            <a:r>
              <a:rPr lang="en-US" sz="17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700" dirty="0">
                <a:effectLst/>
                <a:latin typeface="Calibri" panose="020F0502020204030204" pitchFamily="34" charset="0"/>
                <a:ea typeface="Calibri" panose="020F0502020204030204" pitchFamily="34" charset="0"/>
                <a:cs typeface="Times New Roman" panose="02020603050405020304" pitchFamily="18" charset="0"/>
              </a:rPr>
              <a:t>The average rate of failure λ is 3 failures per day.</a:t>
            </a:r>
          </a:p>
          <a:p>
            <a:pPr lvl="0">
              <a:lnSpc>
                <a:spcPct val="107000"/>
              </a:lnSpc>
              <a:spcAft>
                <a:spcPts val="800"/>
              </a:spcAft>
              <a:tabLst>
                <a:tab pos="457200" algn="l"/>
              </a:tabLst>
            </a:pPr>
            <a:r>
              <a:rPr lang="en-US" sz="1700" b="1" dirty="0">
                <a:effectLst/>
                <a:latin typeface="Calibri" panose="020F0502020204030204" pitchFamily="34" charset="0"/>
                <a:ea typeface="Calibri" panose="020F0502020204030204" pitchFamily="34" charset="0"/>
                <a:cs typeface="Arial" panose="020B0604020202020204" pitchFamily="34" charset="0"/>
              </a:rPr>
              <a:t>Poisson Distribution</a:t>
            </a:r>
            <a:r>
              <a:rPr lang="en-US" sz="17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700" dirty="0">
                <a:effectLst/>
                <a:latin typeface="Calibri" panose="020F0502020204030204" pitchFamily="34" charset="0"/>
                <a:ea typeface="Calibri" panose="020F0502020204030204" pitchFamily="34" charset="0"/>
                <a:cs typeface="Times New Roman" panose="02020603050405020304" pitchFamily="18" charset="0"/>
              </a:rPr>
              <a:t>This scenario follows a Poisson distribution with λ=3.</a:t>
            </a:r>
          </a:p>
          <a:p>
            <a:r>
              <a:rPr lang="en-US" sz="1700" dirty="0">
                <a:effectLst/>
                <a:latin typeface="Calibri" panose="020F0502020204030204" pitchFamily="34" charset="0"/>
                <a:ea typeface="Calibri" panose="020F0502020204030204" pitchFamily="34" charset="0"/>
                <a:cs typeface="Arial" panose="020B0604020202020204" pitchFamily="34" charset="0"/>
              </a:rPr>
              <a:t>It is possible can calculate the probability of observing a specific number of failures (e.g., 0, 1, 2, etc.) in a given day.</a:t>
            </a:r>
            <a:endParaRPr lang="en-US" sz="1700" dirty="0"/>
          </a:p>
        </p:txBody>
      </p:sp>
    </p:spTree>
    <p:extLst>
      <p:ext uri="{BB962C8B-B14F-4D97-AF65-F5344CB8AC3E}">
        <p14:creationId xmlns:p14="http://schemas.microsoft.com/office/powerpoint/2010/main" val="208401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76AC605-5159-7A38-D0A4-A3508C152F37}"/>
              </a:ext>
            </a:extLst>
          </p:cNvPr>
          <p:cNvSpPr txBox="1"/>
          <p:nvPr/>
        </p:nvSpPr>
        <p:spPr>
          <a:xfrm>
            <a:off x="899592" y="759295"/>
            <a:ext cx="7740860" cy="3464603"/>
          </a:xfrm>
          <a:prstGeom prst="rect">
            <a:avLst/>
          </a:prstGeom>
          <a:noFill/>
        </p:spPr>
        <p:txBody>
          <a:bodyPr wrap="square">
            <a:spAutoFit/>
          </a:bodyPr>
          <a:lstStyle/>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Probability of observing exactly 5 machine failures in a day</a:t>
            </a:r>
            <a:r>
              <a:rPr lang="en-US" sz="1800" dirty="0">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endParaRPr lang="en-US" sz="18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This tells us that there’s about a 10% chance of seeing exactly 5 failures in a day.</a:t>
            </a: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Probability of observing no failures in a day</a:t>
            </a:r>
            <a:r>
              <a:rPr lang="en-US" sz="1800" dirty="0">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endParaRPr lang="en-US" sz="18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This indicates about a 5% chance of no failures, which could inform the engineers on how often to expect uninterrupted operation.</a:t>
            </a:r>
          </a:p>
        </p:txBody>
      </p:sp>
      <p:pic>
        <p:nvPicPr>
          <p:cNvPr id="5" name="Picture 4">
            <a:extLst>
              <a:ext uri="{FF2B5EF4-FFF2-40B4-BE49-F238E27FC236}">
                <a16:creationId xmlns:a16="http://schemas.microsoft.com/office/drawing/2014/main" xmlns="" id="{59EE7DA4-6903-B64F-E7DA-F110D1928EBA}"/>
              </a:ext>
            </a:extLst>
          </p:cNvPr>
          <p:cNvPicPr>
            <a:picLocks noChangeAspect="1"/>
          </p:cNvPicPr>
          <p:nvPr/>
        </p:nvPicPr>
        <p:blipFill>
          <a:blip r:embed="rId2"/>
          <a:stretch>
            <a:fillRect/>
          </a:stretch>
        </p:blipFill>
        <p:spPr>
          <a:xfrm>
            <a:off x="2807804" y="1124744"/>
            <a:ext cx="3762900" cy="733527"/>
          </a:xfrm>
          <a:prstGeom prst="rect">
            <a:avLst/>
          </a:prstGeom>
        </p:spPr>
      </p:pic>
      <p:pic>
        <p:nvPicPr>
          <p:cNvPr id="7" name="Picture 6">
            <a:extLst>
              <a:ext uri="{FF2B5EF4-FFF2-40B4-BE49-F238E27FC236}">
                <a16:creationId xmlns:a16="http://schemas.microsoft.com/office/drawing/2014/main" xmlns="" id="{C8DAE248-B1A3-80D3-9505-36BF57D82FF9}"/>
              </a:ext>
            </a:extLst>
          </p:cNvPr>
          <p:cNvPicPr>
            <a:picLocks noChangeAspect="1"/>
          </p:cNvPicPr>
          <p:nvPr/>
        </p:nvPicPr>
        <p:blipFill>
          <a:blip r:embed="rId3"/>
          <a:stretch>
            <a:fillRect/>
          </a:stretch>
        </p:blipFill>
        <p:spPr>
          <a:xfrm>
            <a:off x="2857260" y="2742300"/>
            <a:ext cx="3429479" cy="695422"/>
          </a:xfrm>
          <a:prstGeom prst="rect">
            <a:avLst/>
          </a:prstGeom>
        </p:spPr>
      </p:pic>
    </p:spTree>
    <p:extLst>
      <p:ext uri="{BB962C8B-B14F-4D97-AF65-F5344CB8AC3E}">
        <p14:creationId xmlns:p14="http://schemas.microsoft.com/office/powerpoint/2010/main" val="1095271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BECD9E0-9E9E-B640-7AC2-A52BA56C9027}"/>
              </a:ext>
            </a:extLst>
          </p:cNvPr>
          <p:cNvSpPr txBox="1"/>
          <p:nvPr/>
        </p:nvSpPr>
        <p:spPr>
          <a:xfrm>
            <a:off x="755576" y="733967"/>
            <a:ext cx="7596844" cy="3054234"/>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Interpretation and Usage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If the probability of a high number of failures (e.g., 7 or more) is relatively low, engineers may decide that minimal backup equipment or staff will suffice for most days.</a:t>
            </a: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On days with a high predicted probability of multiple failures (such as 3 or more), additional resources could be scheduled in advance.</a:t>
            </a: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Using the Poisson distribution allows the factory’s engineering team to anticipate typical failure rates and manage resources efficiently for maintenance, minimizing downtime and keeping operations running smoothly.</a:t>
            </a:r>
          </a:p>
        </p:txBody>
      </p:sp>
    </p:spTree>
    <p:extLst>
      <p:ext uri="{BB962C8B-B14F-4D97-AF65-F5344CB8AC3E}">
        <p14:creationId xmlns:p14="http://schemas.microsoft.com/office/powerpoint/2010/main" val="1664332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1D690D6E-6DFE-87FE-320E-5636C513A8A9}"/>
                  </a:ext>
                </a:extLst>
              </p:cNvPr>
              <p:cNvSpPr txBox="1"/>
              <p:nvPr/>
            </p:nvSpPr>
            <p:spPr>
              <a:xfrm>
                <a:off x="455272" y="296652"/>
                <a:ext cx="8460940" cy="6665927"/>
              </a:xfrm>
              <a:prstGeom prst="rect">
                <a:avLst/>
              </a:prstGeom>
              <a:noFill/>
            </p:spPr>
            <p:txBody>
              <a:bodyPr wrap="square">
                <a:spAutoFit/>
              </a:bodyPr>
              <a:lstStyle/>
              <a:p>
                <a:pPr>
                  <a:lnSpc>
                    <a:spcPct val="107000"/>
                  </a:lnSpc>
                  <a:spcAft>
                    <a:spcPts val="800"/>
                  </a:spcAft>
                </a:pPr>
                <a:r>
                  <a:rPr lang="en-US" sz="1750" b="1" dirty="0">
                    <a:effectLst/>
                    <a:latin typeface="Calibri" panose="020F0502020204030204" pitchFamily="34" charset="0"/>
                    <a:ea typeface="Calibri" panose="020F0502020204030204" pitchFamily="34" charset="0"/>
                    <a:cs typeface="Arial" panose="020B0604020202020204" pitchFamily="34" charset="0"/>
                  </a:rPr>
                  <a:t>c. Geometric Distribution</a:t>
                </a:r>
                <a:endParaRPr lang="en-US" sz="175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750" dirty="0">
                    <a:effectLst/>
                    <a:latin typeface="Calibri" panose="020F0502020204030204" pitchFamily="34" charset="0"/>
                    <a:ea typeface="Calibri" panose="020F0502020204030204" pitchFamily="34" charset="0"/>
                    <a:cs typeface="Arial" panose="020B0604020202020204" pitchFamily="34" charset="0"/>
                  </a:rPr>
                  <a:t>Represents the number of trials until the first success in a sequence of independent and identical Bernoulli trials.</a:t>
                </a:r>
              </a:p>
              <a:p>
                <a:pPr lvl="0">
                  <a:lnSpc>
                    <a:spcPct val="107000"/>
                  </a:lnSpc>
                  <a:spcAft>
                    <a:spcPts val="800"/>
                  </a:spcAft>
                  <a:buSzPts val="1000"/>
                  <a:tabLst>
                    <a:tab pos="457200" algn="l"/>
                  </a:tabLst>
                </a:pPr>
                <a:r>
                  <a:rPr lang="en-US" sz="1750" i="1" dirty="0">
                    <a:latin typeface="Calibri" panose="020F0502020204030204" pitchFamily="34" charset="0"/>
                    <a:ea typeface="Calibri" panose="020F0502020204030204" pitchFamily="34" charset="0"/>
                    <a:cs typeface="Arial" panose="020B0604020202020204" pitchFamily="34" charset="0"/>
                  </a:rPr>
                  <a:t>p </a:t>
                </a:r>
                <a:r>
                  <a:rPr lang="en-US" sz="1750" dirty="0">
                    <a:effectLst/>
                    <a:latin typeface="Calibri" panose="020F0502020204030204" pitchFamily="34" charset="0"/>
                    <a:ea typeface="Calibri" panose="020F0502020204030204" pitchFamily="34" charset="0"/>
                    <a:cs typeface="Arial" panose="020B0604020202020204" pitchFamily="34" charset="0"/>
                  </a:rPr>
                  <a:t>(probability of success).</a:t>
                </a:r>
              </a:p>
              <a:p>
                <a:pPr lvl="0">
                  <a:lnSpc>
                    <a:spcPct val="107000"/>
                  </a:lnSpc>
                  <a:spcAft>
                    <a:spcPts val="800"/>
                  </a:spcAft>
                  <a:buSzPts val="1000"/>
                  <a:tabLst>
                    <a:tab pos="457200" algn="l"/>
                  </a:tabLst>
                </a:pPr>
                <a:r>
                  <a:rPr lang="en-US" sz="1750" b="1" dirty="0" err="1">
                    <a:effectLst/>
                    <a:latin typeface="Calibri" panose="020F0502020204030204" pitchFamily="34" charset="0"/>
                    <a:ea typeface="Calibri" panose="020F0502020204030204" pitchFamily="34" charset="0"/>
                    <a:cs typeface="Arial" panose="020B0604020202020204" pitchFamily="34" charset="0"/>
                  </a:rPr>
                  <a:t>PMF</a:t>
                </a:r>
                <a:r>
                  <a:rPr lang="en-US" sz="1750" dirty="0">
                    <a:effectLst/>
                    <a:latin typeface="Calibri" panose="020F0502020204030204" pitchFamily="34" charset="0"/>
                    <a:ea typeface="Calibri" panose="020F0502020204030204" pitchFamily="34" charset="0"/>
                    <a:cs typeface="Arial" panose="020B0604020202020204" pitchFamily="34" charset="0"/>
                  </a:rPr>
                  <a:t>: </a:t>
                </a:r>
              </a:p>
              <a:p>
                <a:pPr lvl="0">
                  <a:lnSpc>
                    <a:spcPct val="107000"/>
                  </a:lnSpc>
                  <a:spcAft>
                    <a:spcPts val="800"/>
                  </a:spcAft>
                  <a:buSzPts val="1000"/>
                  <a:tabLst>
                    <a:tab pos="457200" algn="l"/>
                  </a:tabLst>
                </a:pPr>
                <a14:m>
                  <m:oMathPara xmlns:m="http://schemas.openxmlformats.org/officeDocument/2006/math">
                    <m:oMathParaPr>
                      <m:jc m:val="centerGroup"/>
                    </m:oMathParaPr>
                    <m:oMath xmlns:m="http://schemas.openxmlformats.org/officeDocument/2006/math">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𝑷</m:t>
                      </m:r>
                      <m:d>
                        <m:dPr>
                          <m:ctrlPr>
                            <a:rPr kumimoji="0" lang="en-IN" altLang="en-US" sz="1750" b="1" i="1" u="none" strike="noStrike" cap="none" normalizeH="0" baseline="0" smtClean="0">
                              <a:ln>
                                <a:noFill/>
                              </a:ln>
                              <a:solidFill>
                                <a:schemeClr val="tx1"/>
                              </a:solidFill>
                              <a:effectLst/>
                              <a:latin typeface="Cambria Math"/>
                              <a:ea typeface="Calibri" panose="020F0502020204030204" pitchFamily="34" charset="0"/>
                              <a:cs typeface="Arial" panose="020B0604020202020204" pitchFamily="34" charset="0"/>
                            </a:rPr>
                          </m:ctrlPr>
                        </m:dPr>
                        <m:e>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𝑿</m:t>
                          </m:r>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𝒌</m:t>
                          </m:r>
                        </m:e>
                      </m:d>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𝟏</m:t>
                      </m:r>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sSup>
                        <m:sSupPr>
                          <m:ctrlPr>
                            <a:rPr kumimoji="0" lang="en-IN" altLang="en-US" sz="1750" b="1" i="1" u="none" strike="noStrike" cap="none" normalizeH="0" baseline="0" smtClean="0">
                              <a:ln>
                                <a:noFill/>
                              </a:ln>
                              <a:solidFill>
                                <a:schemeClr val="tx1"/>
                              </a:solidFill>
                              <a:effectLst/>
                              <a:latin typeface="Cambria Math"/>
                              <a:ea typeface="Calibri" panose="020F0502020204030204" pitchFamily="34" charset="0"/>
                              <a:cs typeface="Arial" panose="020B0604020202020204" pitchFamily="34" charset="0"/>
                            </a:rPr>
                          </m:ctrlPr>
                        </m:sSupPr>
                        <m:e>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𝒑</m:t>
                          </m:r>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e>
                        <m:sup>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𝒌</m:t>
                          </m:r>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𝟏</m:t>
                          </m:r>
                        </m:sup>
                      </m:sSup>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𝒑</m:t>
                      </m:r>
                    </m:oMath>
                  </m:oMathPara>
                </a14:m>
                <a:endParaRPr lang="en-US" sz="175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750" b="1" dirty="0">
                    <a:effectLst/>
                    <a:latin typeface="Calibri" panose="020F0502020204030204" pitchFamily="34" charset="0"/>
                    <a:ea typeface="Calibri" panose="020F0502020204030204" pitchFamily="34" charset="0"/>
                    <a:cs typeface="Arial" panose="020B0604020202020204" pitchFamily="34" charset="0"/>
                  </a:rPr>
                  <a:t>Applications</a:t>
                </a:r>
                <a:r>
                  <a:rPr lang="en-US" sz="1750" dirty="0">
                    <a:effectLst/>
                    <a:latin typeface="Calibri" panose="020F0502020204030204" pitchFamily="34" charset="0"/>
                    <a:ea typeface="Calibri" panose="020F0502020204030204" pitchFamily="34" charset="0"/>
                    <a:cs typeface="Arial" panose="020B0604020202020204" pitchFamily="34" charset="0"/>
                  </a:rPr>
                  <a:t>: Modeling the number of attempts before the first success, like the number of times you flip a coin until it lands heads.</a:t>
                </a:r>
              </a:p>
              <a:p>
                <a:pPr>
                  <a:lnSpc>
                    <a:spcPct val="107000"/>
                  </a:lnSpc>
                  <a:spcAft>
                    <a:spcPts val="800"/>
                  </a:spcAft>
                </a:pPr>
                <a:r>
                  <a:rPr lang="en-US" sz="1750" b="1" dirty="0">
                    <a:effectLst/>
                    <a:latin typeface="Calibri" panose="020F0502020204030204" pitchFamily="34" charset="0"/>
                    <a:ea typeface="Calibri" panose="020F0502020204030204" pitchFamily="34" charset="0"/>
                    <a:cs typeface="Arial" panose="020B0604020202020204" pitchFamily="34" charset="0"/>
                  </a:rPr>
                  <a:t>d. Hypergeometric Distribution</a:t>
                </a:r>
                <a:endParaRPr lang="en-US" sz="175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750" dirty="0">
                    <a:effectLst/>
                    <a:latin typeface="Calibri" panose="020F0502020204030204" pitchFamily="34" charset="0"/>
                    <a:ea typeface="Calibri" panose="020F0502020204030204" pitchFamily="34" charset="0"/>
                    <a:cs typeface="Arial" panose="020B0604020202020204" pitchFamily="34" charset="0"/>
                  </a:rPr>
                  <a:t>Describes the number of successes in a sample drawn without replacement from a finite population.</a:t>
                </a:r>
              </a:p>
              <a:p>
                <a:pPr lvl="0">
                  <a:lnSpc>
                    <a:spcPct val="107000"/>
                  </a:lnSpc>
                  <a:spcAft>
                    <a:spcPts val="800"/>
                  </a:spcAft>
                  <a:buSzPts val="1000"/>
                  <a:tabLst>
                    <a:tab pos="457200" algn="l"/>
                  </a:tabLst>
                </a:pPr>
                <a:r>
                  <a:rPr lang="en-US" sz="1750" dirty="0">
                    <a:effectLst/>
                    <a:latin typeface="Calibri" panose="020F0502020204030204" pitchFamily="34" charset="0"/>
                    <a:ea typeface="Calibri" panose="020F0502020204030204" pitchFamily="34" charset="0"/>
                    <a:cs typeface="Arial" panose="020B0604020202020204" pitchFamily="34" charset="0"/>
                  </a:rPr>
                  <a:t>Population size </a:t>
                </a:r>
                <a:r>
                  <a:rPr lang="en-US" sz="1750" i="1" dirty="0">
                    <a:effectLst/>
                    <a:latin typeface="Calibri" panose="020F0502020204030204" pitchFamily="34" charset="0"/>
                    <a:ea typeface="Calibri" panose="020F0502020204030204" pitchFamily="34" charset="0"/>
                    <a:cs typeface="Arial" panose="020B0604020202020204" pitchFamily="34" charset="0"/>
                  </a:rPr>
                  <a:t>N</a:t>
                </a:r>
                <a:r>
                  <a:rPr lang="en-US" sz="1750" dirty="0">
                    <a:effectLst/>
                    <a:latin typeface="Calibri" panose="020F0502020204030204" pitchFamily="34" charset="0"/>
                    <a:ea typeface="Calibri" panose="020F0502020204030204" pitchFamily="34" charset="0"/>
                    <a:cs typeface="Arial" panose="020B0604020202020204" pitchFamily="34" charset="0"/>
                  </a:rPr>
                  <a:t>, number of successes in the population </a:t>
                </a:r>
                <a:r>
                  <a:rPr lang="en-US" sz="1750" i="1" dirty="0">
                    <a:effectLst/>
                    <a:latin typeface="Calibri" panose="020F0502020204030204" pitchFamily="34" charset="0"/>
                    <a:ea typeface="Calibri" panose="020F0502020204030204" pitchFamily="34" charset="0"/>
                    <a:cs typeface="Arial" panose="020B0604020202020204" pitchFamily="34" charset="0"/>
                  </a:rPr>
                  <a:t>K</a:t>
                </a:r>
                <a:r>
                  <a:rPr lang="en-US" sz="1750" dirty="0">
                    <a:effectLst/>
                    <a:latin typeface="Calibri" panose="020F0502020204030204" pitchFamily="34" charset="0"/>
                    <a:ea typeface="Calibri" panose="020F0502020204030204" pitchFamily="34" charset="0"/>
                    <a:cs typeface="Arial" panose="020B0604020202020204" pitchFamily="34" charset="0"/>
                  </a:rPr>
                  <a:t>, and sample size </a:t>
                </a:r>
                <a:r>
                  <a:rPr lang="en-US" sz="1750" i="1" dirty="0">
                    <a:effectLst/>
                    <a:latin typeface="Calibri" panose="020F0502020204030204" pitchFamily="34" charset="0"/>
                    <a:ea typeface="Calibri" panose="020F0502020204030204" pitchFamily="34" charset="0"/>
                    <a:cs typeface="Arial" panose="020B0604020202020204" pitchFamily="34" charset="0"/>
                  </a:rPr>
                  <a:t>n</a:t>
                </a:r>
                <a:r>
                  <a:rPr lang="en-US" sz="1750" dirty="0">
                    <a:effectLst/>
                    <a:latin typeface="Calibri" panose="020F0502020204030204" pitchFamily="34" charset="0"/>
                    <a:ea typeface="Calibri" panose="020F0502020204030204" pitchFamily="34" charset="0"/>
                    <a:cs typeface="Arial" panose="020B0604020202020204" pitchFamily="34" charset="0"/>
                  </a:rPr>
                  <a:t>.</a:t>
                </a:r>
              </a:p>
              <a:p>
                <a:pPr lvl="0">
                  <a:lnSpc>
                    <a:spcPct val="107000"/>
                  </a:lnSpc>
                  <a:spcAft>
                    <a:spcPts val="800"/>
                  </a:spcAft>
                  <a:buSzPts val="1000"/>
                  <a:tabLst>
                    <a:tab pos="457200" algn="l"/>
                  </a:tabLst>
                </a:pPr>
                <a:r>
                  <a:rPr lang="en-US" sz="1750" b="1" dirty="0" err="1">
                    <a:effectLst/>
                    <a:latin typeface="Calibri" panose="020F0502020204030204" pitchFamily="34" charset="0"/>
                    <a:ea typeface="Calibri" panose="020F0502020204030204" pitchFamily="34" charset="0"/>
                    <a:cs typeface="Arial" panose="020B0604020202020204" pitchFamily="34" charset="0"/>
                  </a:rPr>
                  <a:t>PMF</a:t>
                </a:r>
                <a:r>
                  <a:rPr lang="en-US" sz="1750" dirty="0">
                    <a:effectLst/>
                    <a:latin typeface="Calibri" panose="020F0502020204030204" pitchFamily="34" charset="0"/>
                    <a:ea typeface="Calibri" panose="020F0502020204030204" pitchFamily="34" charset="0"/>
                    <a:cs typeface="Arial" panose="020B0604020202020204" pitchFamily="34" charset="0"/>
                  </a:rPr>
                  <a:t>: </a:t>
                </a:r>
                <a:endParaRPr kumimoji="0" lang="en-IN" altLang="en-US" sz="1750" b="1" i="1" u="none" strike="noStrike" cap="none" normalizeH="0" baseline="0" dirty="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14:m>
                  <m:oMathPara xmlns:m="http://schemas.openxmlformats.org/officeDocument/2006/math">
                    <m:oMathParaPr>
                      <m:jc m:val="centerGroup"/>
                    </m:oMathParaPr>
                    <m:oMath xmlns:m="http://schemas.openxmlformats.org/officeDocument/2006/math">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𝑷</m:t>
                      </m:r>
                      <m:d>
                        <m:dPr>
                          <m:ctrlPr>
                            <a:rPr kumimoji="0" lang="en-IN" altLang="en-US" sz="1750" b="1" i="1" u="none" strike="noStrike" cap="none" normalizeH="0" baseline="0" smtClean="0">
                              <a:ln>
                                <a:noFill/>
                              </a:ln>
                              <a:solidFill>
                                <a:schemeClr val="tx1"/>
                              </a:solidFill>
                              <a:effectLst/>
                              <a:latin typeface="Cambria Math"/>
                              <a:ea typeface="Calibri" panose="020F0502020204030204" pitchFamily="34" charset="0"/>
                              <a:cs typeface="Arial" panose="020B0604020202020204" pitchFamily="34" charset="0"/>
                            </a:rPr>
                          </m:ctrlPr>
                        </m:dPr>
                        <m:e>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𝑿</m:t>
                          </m:r>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𝒌</m:t>
                          </m:r>
                        </m:e>
                      </m:d>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f>
                        <m:fPr>
                          <m:ctrlPr>
                            <a:rPr kumimoji="0" lang="en-IN" altLang="en-US" sz="1750" b="1" i="1" u="none" strike="noStrike" cap="none" normalizeH="0" baseline="0" smtClean="0">
                              <a:ln>
                                <a:noFill/>
                              </a:ln>
                              <a:solidFill>
                                <a:schemeClr val="tx1"/>
                              </a:solidFill>
                              <a:effectLst/>
                              <a:latin typeface="Cambria Math"/>
                              <a:ea typeface="Calibri" panose="020F0502020204030204" pitchFamily="34" charset="0"/>
                              <a:cs typeface="Arial" panose="020B0604020202020204" pitchFamily="34" charset="0"/>
                            </a:rPr>
                          </m:ctrlPr>
                        </m:fPr>
                        <m:num>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m>
                            <m:mPr>
                              <m:mcs>
                                <m:mc>
                                  <m:mcPr>
                                    <m:count m:val="1"/>
                                    <m:mcJc m:val="center"/>
                                  </m:mcPr>
                                </m:mc>
                              </m:mcs>
                              <m:ctrlPr>
                                <a:rPr kumimoji="0" lang="en-IN" altLang="en-US" sz="1750" b="1" i="1" u="none" strike="noStrike" cap="none" normalizeH="0" baseline="0" smtClean="0">
                                  <a:ln>
                                    <a:noFill/>
                                  </a:ln>
                                  <a:solidFill>
                                    <a:schemeClr val="tx1"/>
                                  </a:solidFill>
                                  <a:effectLst/>
                                  <a:latin typeface="Cambria Math"/>
                                  <a:ea typeface="Calibri" panose="020F0502020204030204" pitchFamily="34" charset="0"/>
                                  <a:cs typeface="Arial" panose="020B0604020202020204" pitchFamily="34" charset="0"/>
                                </a:rPr>
                              </m:ctrlPr>
                            </m:mPr>
                            <m:mr>
                              <m:e>
                                <m:r>
                                  <m:rPr>
                                    <m:brk m:alnAt="7"/>
                                  </m:rP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𝑲</m:t>
                                </m:r>
                              </m:e>
                            </m:mr>
                            <m:mr>
                              <m:e>
                                <m:r>
                                  <a:rPr kumimoji="0" lang="en-IN" altLang="en-US" sz="1750" b="1"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Arial" panose="020B0604020202020204" pitchFamily="34" charset="0"/>
                                  </a:rPr>
                                  <m:t>𝒌</m:t>
                                </m:r>
                              </m:e>
                            </m:mr>
                          </m:m>
                          <m:r>
                            <a:rPr kumimoji="0" lang="en-IN" altLang="en-US" sz="1750" b="1" i="1">
                              <a:solidFill>
                                <a:schemeClr val="tx1"/>
                              </a:solidFill>
                              <a:latin typeface="Cambria Math" panose="02040503050406030204" pitchFamily="18" charset="0"/>
                              <a:ea typeface="Calibri" panose="020F0502020204030204" pitchFamily="34" charset="0"/>
                              <a:cs typeface="Arial" panose="020B0604020202020204" pitchFamily="34" charset="0"/>
                            </a:rPr>
                            <m:t>)(</m:t>
                          </m:r>
                          <m:m>
                            <m:mPr>
                              <m:mcs>
                                <m:mc>
                                  <m:mcPr>
                                    <m:count m:val="1"/>
                                    <m:mcJc m:val="center"/>
                                  </m:mcPr>
                                </m:mc>
                              </m:mcs>
                              <m:ctrlPr>
                                <a:rPr kumimoji="0" lang="en-IN" altLang="en-US" sz="1750" b="1" i="1">
                                  <a:solidFill>
                                    <a:schemeClr val="tx1"/>
                                  </a:solidFill>
                                  <a:latin typeface="Cambria Math"/>
                                  <a:ea typeface="Calibri" panose="020F0502020204030204" pitchFamily="34" charset="0"/>
                                  <a:cs typeface="Arial" panose="020B0604020202020204" pitchFamily="34" charset="0"/>
                                </a:rPr>
                              </m:ctrlPr>
                            </m:mPr>
                            <m:mr>
                              <m:e>
                                <m:r>
                                  <m:rPr>
                                    <m:brk m:alnAt="7"/>
                                  </m:rPr>
                                  <a:rPr kumimoji="0" lang="en-IN" altLang="en-US" sz="1750" b="1" i="1" smtClean="0">
                                    <a:solidFill>
                                      <a:schemeClr val="tx1"/>
                                    </a:solidFill>
                                    <a:latin typeface="Cambria Math" panose="02040503050406030204" pitchFamily="18" charset="0"/>
                                    <a:ea typeface="Calibri" panose="020F0502020204030204" pitchFamily="34" charset="0"/>
                                    <a:cs typeface="Arial" panose="020B0604020202020204" pitchFamily="34" charset="0"/>
                                  </a:rPr>
                                  <m:t>𝑵</m:t>
                                </m:r>
                                <m:r>
                                  <a:rPr kumimoji="0" lang="en-IN" altLang="en-US" sz="1750" b="1" i="1" smtClean="0">
                                    <a:solidFill>
                                      <a:schemeClr val="tx1"/>
                                    </a:solidFill>
                                    <a:latin typeface="Cambria Math" panose="02040503050406030204" pitchFamily="18" charset="0"/>
                                    <a:ea typeface="Calibri" panose="020F0502020204030204" pitchFamily="34" charset="0"/>
                                    <a:cs typeface="Arial" panose="020B0604020202020204" pitchFamily="34" charset="0"/>
                                  </a:rPr>
                                  <m:t>−</m:t>
                                </m:r>
                                <m:r>
                                  <a:rPr kumimoji="0" lang="en-IN" altLang="en-US" sz="1750" b="1" i="1">
                                    <a:solidFill>
                                      <a:schemeClr val="tx1"/>
                                    </a:solidFill>
                                    <a:latin typeface="Cambria Math" panose="02040503050406030204" pitchFamily="18" charset="0"/>
                                    <a:ea typeface="Calibri" panose="020F0502020204030204" pitchFamily="34" charset="0"/>
                                    <a:cs typeface="Arial" panose="020B0604020202020204" pitchFamily="34" charset="0"/>
                                  </a:rPr>
                                  <m:t>𝑲</m:t>
                                </m:r>
                              </m:e>
                            </m:mr>
                            <m:mr>
                              <m:e>
                                <m:r>
                                  <a:rPr kumimoji="0" lang="en-IN" altLang="en-US" sz="1750" b="1" i="1" smtClean="0">
                                    <a:solidFill>
                                      <a:schemeClr val="tx1"/>
                                    </a:solidFill>
                                    <a:latin typeface="Cambria Math" panose="02040503050406030204" pitchFamily="18" charset="0"/>
                                    <a:ea typeface="Calibri" panose="020F0502020204030204" pitchFamily="34" charset="0"/>
                                    <a:cs typeface="Arial" panose="020B0604020202020204" pitchFamily="34" charset="0"/>
                                  </a:rPr>
                                  <m:t>𝒏</m:t>
                                </m:r>
                                <m:r>
                                  <a:rPr kumimoji="0" lang="en-IN" altLang="en-US" sz="1750" b="1" i="1" smtClean="0">
                                    <a:solidFill>
                                      <a:schemeClr val="tx1"/>
                                    </a:solidFill>
                                    <a:latin typeface="Cambria Math" panose="02040503050406030204" pitchFamily="18" charset="0"/>
                                    <a:ea typeface="Calibri" panose="020F0502020204030204" pitchFamily="34" charset="0"/>
                                    <a:cs typeface="Arial" panose="020B0604020202020204" pitchFamily="34" charset="0"/>
                                  </a:rPr>
                                  <m:t>−</m:t>
                                </m:r>
                                <m:r>
                                  <a:rPr kumimoji="0" lang="en-IN" altLang="en-US" sz="1750" b="1" i="1">
                                    <a:solidFill>
                                      <a:schemeClr val="tx1"/>
                                    </a:solidFill>
                                    <a:latin typeface="Cambria Math" panose="02040503050406030204" pitchFamily="18" charset="0"/>
                                    <a:ea typeface="Calibri" panose="020F0502020204030204" pitchFamily="34" charset="0"/>
                                    <a:cs typeface="Arial" panose="020B0604020202020204" pitchFamily="34" charset="0"/>
                                  </a:rPr>
                                  <m:t>𝒌</m:t>
                                </m:r>
                              </m:e>
                            </m:mr>
                          </m:m>
                          <m:r>
                            <a:rPr kumimoji="0" lang="en-IN" altLang="en-US" sz="1750" b="1" i="1">
                              <a:solidFill>
                                <a:schemeClr val="tx1"/>
                              </a:solidFill>
                              <a:latin typeface="Cambria Math" panose="02040503050406030204" pitchFamily="18" charset="0"/>
                              <a:ea typeface="Calibri" panose="020F0502020204030204" pitchFamily="34" charset="0"/>
                              <a:cs typeface="Arial" panose="020B0604020202020204" pitchFamily="34" charset="0"/>
                            </a:rPr>
                            <m:t>)</m:t>
                          </m:r>
                        </m:num>
                        <m:den>
                          <m:r>
                            <a:rPr kumimoji="0" lang="en-IN" altLang="en-US" sz="1750" b="1" i="1">
                              <a:solidFill>
                                <a:schemeClr val="tx1"/>
                              </a:solidFill>
                              <a:latin typeface="Cambria Math" panose="02040503050406030204" pitchFamily="18" charset="0"/>
                              <a:ea typeface="Calibri" panose="020F0502020204030204" pitchFamily="34" charset="0"/>
                              <a:cs typeface="Arial" panose="020B0604020202020204" pitchFamily="34" charset="0"/>
                            </a:rPr>
                            <m:t>(</m:t>
                          </m:r>
                          <m:m>
                            <m:mPr>
                              <m:mcs>
                                <m:mc>
                                  <m:mcPr>
                                    <m:count m:val="1"/>
                                    <m:mcJc m:val="center"/>
                                  </m:mcPr>
                                </m:mc>
                              </m:mcs>
                              <m:ctrlPr>
                                <a:rPr kumimoji="0" lang="en-IN" altLang="en-US" sz="1750" b="1" i="1">
                                  <a:solidFill>
                                    <a:schemeClr val="tx1"/>
                                  </a:solidFill>
                                  <a:latin typeface="Cambria Math"/>
                                  <a:ea typeface="Calibri" panose="020F0502020204030204" pitchFamily="34" charset="0"/>
                                  <a:cs typeface="Arial" panose="020B0604020202020204" pitchFamily="34" charset="0"/>
                                </a:rPr>
                              </m:ctrlPr>
                            </m:mPr>
                            <m:mr>
                              <m:e>
                                <m:r>
                                  <a:rPr kumimoji="0" lang="en-IN" altLang="en-US" sz="1750" b="1" i="1" smtClean="0">
                                    <a:solidFill>
                                      <a:schemeClr val="tx1"/>
                                    </a:solidFill>
                                    <a:latin typeface="Cambria Math" panose="02040503050406030204" pitchFamily="18" charset="0"/>
                                    <a:ea typeface="Calibri" panose="020F0502020204030204" pitchFamily="34" charset="0"/>
                                    <a:cs typeface="Arial" panose="020B0604020202020204" pitchFamily="34" charset="0"/>
                                  </a:rPr>
                                  <m:t>𝑵</m:t>
                                </m:r>
                              </m:e>
                            </m:mr>
                            <m:mr>
                              <m:e>
                                <m:r>
                                  <a:rPr kumimoji="0" lang="en-IN" altLang="en-US" sz="1750" b="1" i="1" smtClean="0">
                                    <a:solidFill>
                                      <a:schemeClr val="tx1"/>
                                    </a:solidFill>
                                    <a:latin typeface="Cambria Math" panose="02040503050406030204" pitchFamily="18" charset="0"/>
                                    <a:ea typeface="Calibri" panose="020F0502020204030204" pitchFamily="34" charset="0"/>
                                    <a:cs typeface="Arial" panose="020B0604020202020204" pitchFamily="34" charset="0"/>
                                  </a:rPr>
                                  <m:t>𝒏</m:t>
                                </m:r>
                              </m:e>
                            </m:mr>
                          </m:m>
                          <m:r>
                            <a:rPr kumimoji="0" lang="en-IN" altLang="en-US" sz="1750" b="1" i="1">
                              <a:solidFill>
                                <a:schemeClr val="tx1"/>
                              </a:solidFill>
                              <a:latin typeface="Cambria Math" panose="02040503050406030204" pitchFamily="18" charset="0"/>
                              <a:ea typeface="Calibri" panose="020F0502020204030204" pitchFamily="34" charset="0"/>
                              <a:cs typeface="Arial" panose="020B0604020202020204" pitchFamily="34" charset="0"/>
                            </a:rPr>
                            <m:t>)</m:t>
                          </m:r>
                        </m:den>
                      </m:f>
                    </m:oMath>
                  </m:oMathPara>
                </a14:m>
                <a:endParaRPr lang="en-US" sz="1750" dirty="0">
                  <a:effectLst/>
                  <a:latin typeface="Calibri" panose="020F0502020204030204" pitchFamily="34" charset="0"/>
                  <a:ea typeface="Calibri" panose="020F0502020204030204" pitchFamily="34" charset="0"/>
                  <a:cs typeface="Arial" panose="020B0604020202020204" pitchFamily="34" charset="0"/>
                </a:endParaRPr>
              </a:p>
              <a:p>
                <a:r>
                  <a:rPr lang="en-US" sz="1750" b="1" dirty="0">
                    <a:effectLst/>
                    <a:latin typeface="Calibri" panose="020F0502020204030204" pitchFamily="34" charset="0"/>
                    <a:ea typeface="Calibri" panose="020F0502020204030204" pitchFamily="34" charset="0"/>
                    <a:cs typeface="Arial" panose="020B0604020202020204" pitchFamily="34" charset="0"/>
                  </a:rPr>
                  <a:t>Applications</a:t>
                </a:r>
                <a:r>
                  <a:rPr lang="en-US" sz="1750" dirty="0">
                    <a:effectLst/>
                    <a:latin typeface="Calibri" panose="020F0502020204030204" pitchFamily="34" charset="0"/>
                    <a:ea typeface="Calibri" panose="020F0502020204030204" pitchFamily="34" charset="0"/>
                    <a:cs typeface="Arial" panose="020B0604020202020204" pitchFamily="34" charset="0"/>
                  </a:rPr>
                  <a:t>: Used in situations where sampling without replacement matters, like drawing cards from a deck or selecting items from a batch.</a:t>
                </a:r>
                <a:endParaRPr lang="en-US" sz="1750" dirty="0"/>
              </a:p>
            </p:txBody>
          </p:sp>
        </mc:Choice>
        <mc:Fallback xmlns="">
          <p:sp>
            <p:nvSpPr>
              <p:cNvPr id="3" name="TextBox 2">
                <a:extLst>
                  <a:ext uri="{FF2B5EF4-FFF2-40B4-BE49-F238E27FC236}">
                    <a16:creationId xmlns:a16="http://schemas.microsoft.com/office/drawing/2014/main" id="{1D690D6E-6DFE-87FE-320E-5636C513A8A9}"/>
                  </a:ext>
                </a:extLst>
              </p:cNvPr>
              <p:cNvSpPr txBox="1">
                <a:spLocks noRot="1" noChangeAspect="1" noMove="1" noResize="1" noEditPoints="1" noAdjustHandles="1" noChangeArrowheads="1" noChangeShapeType="1" noTextEdit="1"/>
              </p:cNvSpPr>
              <p:nvPr/>
            </p:nvSpPr>
            <p:spPr>
              <a:xfrm>
                <a:off x="455272" y="296652"/>
                <a:ext cx="8460940" cy="6665927"/>
              </a:xfrm>
              <a:prstGeom prst="rect">
                <a:avLst/>
              </a:prstGeom>
              <a:blipFill>
                <a:blip r:embed="rId2"/>
                <a:stretch>
                  <a:fillRect l="-504" t="-183" r="-720"/>
                </a:stretch>
              </a:blipFill>
            </p:spPr>
            <p:txBody>
              <a:bodyPr/>
              <a:lstStyle/>
              <a:p>
                <a:r>
                  <a:rPr lang="en-US">
                    <a:noFill/>
                  </a:rPr>
                  <a:t> </a:t>
                </a:r>
              </a:p>
            </p:txBody>
          </p:sp>
        </mc:Fallback>
      </mc:AlternateContent>
    </p:spTree>
    <p:extLst>
      <p:ext uri="{BB962C8B-B14F-4D97-AF65-F5344CB8AC3E}">
        <p14:creationId xmlns:p14="http://schemas.microsoft.com/office/powerpoint/2010/main" val="615767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A9A5DF67-A1ED-B6E0-D61A-3B28F1BB1B1A}"/>
                  </a:ext>
                </a:extLst>
              </p:cNvPr>
              <p:cNvSpPr txBox="1"/>
              <p:nvPr/>
            </p:nvSpPr>
            <p:spPr>
              <a:xfrm>
                <a:off x="463893" y="584684"/>
                <a:ext cx="7992888" cy="4807855"/>
              </a:xfrm>
              <a:prstGeom prst="rect">
                <a:avLst/>
              </a:prstGeom>
              <a:noFill/>
            </p:spPr>
            <p:txBody>
              <a:bodyPr wrap="square">
                <a:spAutoFit/>
              </a:bodyPr>
              <a:lstStyle/>
              <a:p>
                <a:pPr>
                  <a:lnSpc>
                    <a:spcPct val="107000"/>
                  </a:lnSpc>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2. Continuous Probability Distributions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These distributions are used when the random variable can take on any value within a range or interval.</a:t>
                </a:r>
              </a:p>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a. Normal Distribution (Gaussian Distribution)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A symmetric, bell-shaped distribution characterized by its mean </a:t>
                </a:r>
                <a:r>
                  <a:rPr lang="en-US" sz="1800" i="1" dirty="0">
                    <a:effectLst/>
                    <a:latin typeface="Calibri" panose="020F0502020204030204" pitchFamily="34" charset="0"/>
                    <a:ea typeface="Calibri" panose="020F0502020204030204" pitchFamily="34" charset="0"/>
                    <a:cs typeface="Arial" panose="020B0604020202020204" pitchFamily="34" charset="0"/>
                  </a:rPr>
                  <a:t>μ</a:t>
                </a:r>
                <a:r>
                  <a:rPr lang="en-US" sz="1800" dirty="0">
                    <a:effectLst/>
                    <a:latin typeface="Calibri" panose="020F0502020204030204" pitchFamily="34" charset="0"/>
                    <a:ea typeface="Calibri" panose="020F0502020204030204" pitchFamily="34" charset="0"/>
                    <a:cs typeface="Arial" panose="020B0604020202020204" pitchFamily="34" charset="0"/>
                  </a:rPr>
                  <a:t> and standard deviation </a:t>
                </a:r>
                <a:r>
                  <a:rPr lang="en-US" sz="1800" i="1" dirty="0">
                    <a:effectLst/>
                    <a:latin typeface="Calibri" panose="020F0502020204030204" pitchFamily="34" charset="0"/>
                    <a:ea typeface="Calibri" panose="020F0502020204030204" pitchFamily="34" charset="0"/>
                    <a:cs typeface="Arial" panose="020B0604020202020204" pitchFamily="34" charset="0"/>
                  </a:rPr>
                  <a:t>σ</a:t>
                </a:r>
                <a:r>
                  <a:rPr lang="en-US" sz="1800" dirty="0">
                    <a:effectLst/>
                    <a:latin typeface="Calibri" panose="020F0502020204030204" pitchFamily="34" charset="0"/>
                    <a:ea typeface="Calibri" panose="020F0502020204030204" pitchFamily="34" charset="0"/>
                    <a:cs typeface="Arial" panose="020B0604020202020204" pitchFamily="34" charset="0"/>
                  </a:rPr>
                  <a:t>.</a:t>
                </a:r>
                <a:endParaRPr lang="en-US" sz="1800" dirty="0">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Mean </a:t>
                </a:r>
                <a:r>
                  <a:rPr lang="en-US" sz="1800" i="1" dirty="0">
                    <a:effectLst/>
                    <a:latin typeface="Calibri" panose="020F0502020204030204" pitchFamily="34" charset="0"/>
                    <a:ea typeface="Calibri" panose="020F0502020204030204" pitchFamily="34" charset="0"/>
                    <a:cs typeface="Arial" panose="020B0604020202020204" pitchFamily="34" charset="0"/>
                  </a:rPr>
                  <a:t>μ</a:t>
                </a:r>
                <a:r>
                  <a:rPr lang="en-US" sz="1800" dirty="0">
                    <a:effectLst/>
                    <a:latin typeface="Calibri" panose="020F0502020204030204" pitchFamily="34" charset="0"/>
                    <a:ea typeface="Calibri" panose="020F0502020204030204" pitchFamily="34" charset="0"/>
                    <a:cs typeface="Arial" panose="020B0604020202020204" pitchFamily="34" charset="0"/>
                  </a:rPr>
                  <a:t> and standard deviation </a:t>
                </a:r>
                <a:r>
                  <a:rPr lang="en-US" sz="1800" i="1" dirty="0">
                    <a:effectLst/>
                    <a:latin typeface="Calibri" panose="020F0502020204030204" pitchFamily="34" charset="0"/>
                    <a:ea typeface="Calibri" panose="020F0502020204030204" pitchFamily="34" charset="0"/>
                    <a:cs typeface="Arial" panose="020B0604020202020204" pitchFamily="34" charset="0"/>
                  </a:rPr>
                  <a:t>σ</a:t>
                </a:r>
                <a:r>
                  <a:rPr lang="en-US" sz="1800" dirty="0">
                    <a:effectLst/>
                    <a:latin typeface="Calibri" panose="020F0502020204030204" pitchFamily="34" charset="0"/>
                    <a:ea typeface="Calibri" panose="020F0502020204030204" pitchFamily="34" charset="0"/>
                    <a:cs typeface="Arial" panose="020B0604020202020204" pitchFamily="34" charset="0"/>
                  </a:rPr>
                  <a:t>.</a:t>
                </a: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Probability Density Function (PDF)</a:t>
                </a:r>
                <a:r>
                  <a:rPr lang="en-US" sz="1800" dirty="0">
                    <a:effectLst/>
                    <a:latin typeface="Calibri" panose="020F0502020204030204" pitchFamily="34" charset="0"/>
                    <a:ea typeface="Calibri" panose="020F0502020204030204" pitchFamily="34" charset="0"/>
                    <a:cs typeface="Arial" panose="020B0604020202020204" pitchFamily="34" charset="0"/>
                  </a:rPr>
                  <a:t>: </a:t>
                </a:r>
                <a:endParaRPr lang="en-IN" sz="1800" b="0" i="1" dirty="0">
                  <a:effectLst/>
                  <a:latin typeface="Cambria Math" panose="02040503050406030204" pitchFamily="18"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14:m>
                  <m:oMathPara xmlns:m="http://schemas.openxmlformats.org/officeDocument/2006/math">
                    <m:oMathParaPr>
                      <m:jc m:val="centerGroup"/>
                    </m:oMathParaPr>
                    <m:oMath xmlns:m="http://schemas.openxmlformats.org/officeDocument/2006/math">
                      <m:r>
                        <a:rPr lang="en-IN" sz="1800" b="0" i="1" smtClean="0">
                          <a:effectLst/>
                          <a:latin typeface="Cambria Math" panose="02040503050406030204" pitchFamily="18" charset="0"/>
                          <a:ea typeface="Calibri" panose="020F0502020204030204" pitchFamily="34" charset="0"/>
                          <a:cs typeface="Arial" panose="020B0604020202020204" pitchFamily="34" charset="0"/>
                        </a:rPr>
                        <m:t>𝑓</m:t>
                      </m:r>
                      <m:d>
                        <m:dPr>
                          <m:ctrlPr>
                            <a:rPr lang="en-IN" sz="1800" b="0" i="1" smtClean="0">
                              <a:effectLst/>
                              <a:latin typeface="Cambria Math"/>
                              <a:ea typeface="Calibri" panose="020F0502020204030204" pitchFamily="34" charset="0"/>
                              <a:cs typeface="Arial" panose="020B0604020202020204" pitchFamily="34" charset="0"/>
                            </a:rPr>
                          </m:ctrlPr>
                        </m:dPr>
                        <m:e>
                          <m:r>
                            <a:rPr lang="en-IN" sz="1800" b="0" i="1" smtClean="0">
                              <a:effectLst/>
                              <a:latin typeface="Cambria Math" panose="02040503050406030204" pitchFamily="18" charset="0"/>
                              <a:ea typeface="Calibri" panose="020F0502020204030204" pitchFamily="34" charset="0"/>
                              <a:cs typeface="Arial" panose="020B0604020202020204" pitchFamily="34" charset="0"/>
                            </a:rPr>
                            <m:t>𝑥</m:t>
                          </m:r>
                        </m:e>
                      </m:d>
                      <m:r>
                        <a:rPr lang="en-IN" sz="1800" b="0" i="1" smtClean="0">
                          <a:effectLst/>
                          <a:latin typeface="Cambria Math" panose="02040503050406030204" pitchFamily="18" charset="0"/>
                          <a:ea typeface="Calibri" panose="020F0502020204030204" pitchFamily="34" charset="0"/>
                          <a:cs typeface="Arial" panose="020B0604020202020204" pitchFamily="34" charset="0"/>
                        </a:rPr>
                        <m:t>=</m:t>
                      </m:r>
                      <m:f>
                        <m:fPr>
                          <m:ctrlPr>
                            <a:rPr lang="en-IN" sz="1800" b="0" i="1" smtClean="0">
                              <a:effectLst/>
                              <a:latin typeface="Cambria Math"/>
                              <a:ea typeface="Calibri" panose="020F0502020204030204" pitchFamily="34" charset="0"/>
                              <a:cs typeface="Arial" panose="020B0604020202020204" pitchFamily="34" charset="0"/>
                            </a:rPr>
                          </m:ctrlPr>
                        </m:fPr>
                        <m:num>
                          <m:r>
                            <a:rPr lang="en-IN" sz="1800" b="0" i="1" smtClean="0">
                              <a:effectLst/>
                              <a:latin typeface="Cambria Math" panose="02040503050406030204" pitchFamily="18" charset="0"/>
                              <a:ea typeface="Calibri" panose="020F0502020204030204" pitchFamily="34" charset="0"/>
                              <a:cs typeface="Arial" panose="020B0604020202020204" pitchFamily="34" charset="0"/>
                            </a:rPr>
                            <m:t>1</m:t>
                          </m:r>
                        </m:num>
                        <m:den>
                          <m:r>
                            <m:rPr>
                              <m:nor/>
                            </m:rPr>
                            <a:rPr lang="en-US" sz="1800" dirty="0">
                              <a:latin typeface="Calibri" panose="020F0502020204030204" pitchFamily="34" charset="0"/>
                              <a:ea typeface="Calibri" panose="020F0502020204030204" pitchFamily="34" charset="0"/>
                              <a:cs typeface="Arial" panose="020B0604020202020204" pitchFamily="34" charset="0"/>
                            </a:rPr>
                            <m:t>σ</m:t>
                          </m:r>
                          <m:r>
                            <a:rPr lang="en-US" sz="1800" i="1" dirty="0" smtClean="0">
                              <a:latin typeface="Cambria Math" panose="02040503050406030204" pitchFamily="18" charset="0"/>
                              <a:ea typeface="Cambria Math" panose="02040503050406030204" pitchFamily="18" charset="0"/>
                              <a:cs typeface="Arial" panose="020B0604020202020204" pitchFamily="34" charset="0"/>
                            </a:rPr>
                            <m:t>√</m:t>
                          </m:r>
                          <m:r>
                            <a:rPr lang="en-IN" sz="1800" b="0" i="1" dirty="0" smtClean="0">
                              <a:latin typeface="Cambria Math" panose="02040503050406030204" pitchFamily="18" charset="0"/>
                              <a:ea typeface="Cambria Math" panose="02040503050406030204" pitchFamily="18" charset="0"/>
                              <a:cs typeface="Arial" panose="020B0604020202020204" pitchFamily="34" charset="0"/>
                            </a:rPr>
                            <m:t>2</m:t>
                          </m:r>
                          <m:r>
                            <a:rPr lang="en-IN" sz="1800" b="0" i="1" dirty="0" smtClean="0">
                              <a:latin typeface="Cambria Math" panose="02040503050406030204" pitchFamily="18" charset="0"/>
                              <a:ea typeface="Cambria Math" panose="02040503050406030204" pitchFamily="18" charset="0"/>
                              <a:cs typeface="Arial" panose="020B0604020202020204" pitchFamily="34" charset="0"/>
                            </a:rPr>
                            <m:t>𝜋</m:t>
                          </m:r>
                        </m:den>
                      </m:f>
                      <m:sSup>
                        <m:sSupPr>
                          <m:ctrlPr>
                            <a:rPr lang="en-IN" sz="1800" b="0" i="1" smtClean="0">
                              <a:effectLst/>
                              <a:latin typeface="Cambria Math"/>
                              <a:ea typeface="Calibri" panose="020F0502020204030204" pitchFamily="34" charset="0"/>
                              <a:cs typeface="Arial" panose="020B0604020202020204" pitchFamily="34" charset="0"/>
                            </a:rPr>
                          </m:ctrlPr>
                        </m:sSupPr>
                        <m:e>
                          <m:r>
                            <a:rPr lang="en-IN" sz="1800" b="0" i="1" smtClean="0">
                              <a:effectLst/>
                              <a:latin typeface="Cambria Math" panose="02040503050406030204" pitchFamily="18" charset="0"/>
                              <a:ea typeface="Calibri" panose="020F0502020204030204" pitchFamily="34" charset="0"/>
                              <a:cs typeface="Arial" panose="020B0604020202020204" pitchFamily="34" charset="0"/>
                            </a:rPr>
                            <m:t>𝑒</m:t>
                          </m:r>
                        </m:e>
                        <m:sup>
                          <m:r>
                            <a:rPr lang="en-IN" sz="1800" b="0" i="1" smtClean="0">
                              <a:effectLst/>
                              <a:latin typeface="Cambria Math" panose="02040503050406030204" pitchFamily="18" charset="0"/>
                              <a:ea typeface="Calibri" panose="020F0502020204030204" pitchFamily="34" charset="0"/>
                              <a:cs typeface="Arial" panose="020B0604020202020204" pitchFamily="34" charset="0"/>
                            </a:rPr>
                            <m:t>−</m:t>
                          </m:r>
                          <m:f>
                            <m:fPr>
                              <m:ctrlPr>
                                <a:rPr lang="en-IN" sz="1800" b="0" i="1" smtClean="0">
                                  <a:effectLst/>
                                  <a:latin typeface="Cambria Math"/>
                                  <a:ea typeface="Calibri" panose="020F0502020204030204" pitchFamily="34" charset="0"/>
                                  <a:cs typeface="Arial" panose="020B0604020202020204" pitchFamily="34" charset="0"/>
                                </a:rPr>
                              </m:ctrlPr>
                            </m:fPr>
                            <m:num>
                              <m:sSup>
                                <m:sSupPr>
                                  <m:ctrlPr>
                                    <a:rPr lang="en-IN" sz="1800" b="0" i="1" smtClean="0">
                                      <a:effectLst/>
                                      <a:latin typeface="Cambria Math"/>
                                      <a:ea typeface="Calibri" panose="020F0502020204030204" pitchFamily="34" charset="0"/>
                                      <a:cs typeface="Arial" panose="020B0604020202020204" pitchFamily="34" charset="0"/>
                                    </a:rPr>
                                  </m:ctrlPr>
                                </m:sSupPr>
                                <m:e>
                                  <m:r>
                                    <a:rPr lang="en-IN" sz="1800" b="0" i="1" smtClean="0">
                                      <a:effectLst/>
                                      <a:latin typeface="Cambria Math" panose="02040503050406030204" pitchFamily="18" charset="0"/>
                                      <a:ea typeface="Calibri" panose="020F0502020204030204" pitchFamily="34" charset="0"/>
                                      <a:cs typeface="Arial" panose="020B0604020202020204" pitchFamily="34" charset="0"/>
                                    </a:rPr>
                                    <m:t>(</m:t>
                                  </m:r>
                                  <m:r>
                                    <a:rPr lang="en-IN" sz="1800" b="0" i="1" smtClean="0">
                                      <a:effectLst/>
                                      <a:latin typeface="Cambria Math" panose="02040503050406030204" pitchFamily="18" charset="0"/>
                                      <a:ea typeface="Calibri" panose="020F0502020204030204" pitchFamily="34" charset="0"/>
                                      <a:cs typeface="Arial" panose="020B0604020202020204" pitchFamily="34" charset="0"/>
                                    </a:rPr>
                                    <m:t>𝑥</m:t>
                                  </m:r>
                                  <m:r>
                                    <a:rPr lang="en-IN" sz="1800" b="0" i="1" smtClean="0">
                                      <a:effectLst/>
                                      <a:latin typeface="Cambria Math" panose="02040503050406030204" pitchFamily="18" charset="0"/>
                                      <a:ea typeface="Calibri" panose="020F0502020204030204" pitchFamily="34" charset="0"/>
                                      <a:cs typeface="Arial" panose="020B0604020202020204" pitchFamily="34" charset="0"/>
                                    </a:rPr>
                                    <m:t>−</m:t>
                                  </m:r>
                                  <m:r>
                                    <m:rPr>
                                      <m:nor/>
                                    </m:rPr>
                                    <a:rPr lang="en-US" sz="1800" dirty="0">
                                      <a:latin typeface="Calibri" panose="020F0502020204030204" pitchFamily="34" charset="0"/>
                                      <a:ea typeface="Calibri" panose="020F0502020204030204" pitchFamily="34" charset="0"/>
                                      <a:cs typeface="Arial" panose="020B0604020202020204" pitchFamily="34" charset="0"/>
                                    </a:rPr>
                                    <m:t>μ</m:t>
                                  </m:r>
                                  <m:r>
                                    <a:rPr lang="en-IN" sz="1800" b="0" i="1" dirty="0" smtClean="0">
                                      <a:latin typeface="Cambria Math" panose="02040503050406030204" pitchFamily="18" charset="0"/>
                                      <a:ea typeface="Calibri" panose="020F0502020204030204" pitchFamily="34" charset="0"/>
                                      <a:cs typeface="Arial" panose="020B0604020202020204" pitchFamily="34" charset="0"/>
                                    </a:rPr>
                                    <m:t>)</m:t>
                                  </m:r>
                                </m:e>
                                <m:sup>
                                  <m:r>
                                    <a:rPr lang="en-IN" sz="1800" b="0" i="1" smtClean="0">
                                      <a:effectLst/>
                                      <a:latin typeface="Cambria Math" panose="02040503050406030204" pitchFamily="18" charset="0"/>
                                      <a:ea typeface="Calibri" panose="020F0502020204030204" pitchFamily="34" charset="0"/>
                                      <a:cs typeface="Arial" panose="020B0604020202020204" pitchFamily="34" charset="0"/>
                                    </a:rPr>
                                    <m:t>2</m:t>
                                  </m:r>
                                </m:sup>
                              </m:sSup>
                            </m:num>
                            <m:den>
                              <m:sSup>
                                <m:sSupPr>
                                  <m:ctrlPr>
                                    <a:rPr lang="en-IN" sz="1800" b="0" i="1" smtClean="0">
                                      <a:effectLst/>
                                      <a:latin typeface="Cambria Math"/>
                                      <a:ea typeface="Calibri" panose="020F0502020204030204" pitchFamily="34" charset="0"/>
                                      <a:cs typeface="Arial" panose="020B0604020202020204" pitchFamily="34" charset="0"/>
                                    </a:rPr>
                                  </m:ctrlPr>
                                </m:sSupPr>
                                <m:e>
                                  <m:r>
                                    <a:rPr lang="en-IN" sz="1800" b="0" i="1" smtClean="0">
                                      <a:effectLst/>
                                      <a:latin typeface="Cambria Math" panose="02040503050406030204" pitchFamily="18" charset="0"/>
                                      <a:ea typeface="Calibri" panose="020F0502020204030204" pitchFamily="34" charset="0"/>
                                      <a:cs typeface="Arial" panose="020B0604020202020204" pitchFamily="34" charset="0"/>
                                    </a:rPr>
                                    <m:t>2</m:t>
                                  </m:r>
                                  <m:r>
                                    <m:rPr>
                                      <m:nor/>
                                    </m:rPr>
                                    <a:rPr lang="en-US" sz="1800" dirty="0">
                                      <a:latin typeface="Calibri" panose="020F0502020204030204" pitchFamily="34" charset="0"/>
                                      <a:ea typeface="Calibri" panose="020F0502020204030204" pitchFamily="34" charset="0"/>
                                      <a:cs typeface="Arial" panose="020B0604020202020204" pitchFamily="34" charset="0"/>
                                    </a:rPr>
                                    <m:t>σ</m:t>
                                  </m:r>
                                </m:e>
                                <m:sup>
                                  <m:r>
                                    <a:rPr lang="en-IN" sz="1800" b="0" i="1" smtClean="0">
                                      <a:effectLst/>
                                      <a:latin typeface="Cambria Math" panose="02040503050406030204" pitchFamily="18" charset="0"/>
                                      <a:ea typeface="Calibri" panose="020F0502020204030204" pitchFamily="34" charset="0"/>
                                      <a:cs typeface="Arial" panose="020B0604020202020204" pitchFamily="34" charset="0"/>
                                    </a:rPr>
                                    <m:t>2</m:t>
                                  </m:r>
                                </m:sup>
                              </m:sSup>
                            </m:den>
                          </m:f>
                        </m:sup>
                      </m:sSup>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Applications</a:t>
                </a:r>
                <a:r>
                  <a:rPr lang="en-US" sz="1800" dirty="0">
                    <a:effectLst/>
                    <a:latin typeface="Calibri" panose="020F0502020204030204" pitchFamily="34" charset="0"/>
                    <a:ea typeface="Calibri" panose="020F0502020204030204" pitchFamily="34" charset="0"/>
                    <a:cs typeface="Arial" panose="020B0604020202020204" pitchFamily="34" charset="0"/>
                  </a:rPr>
                  <a:t>: Common in natural and social sciences, as many variables (e.g., heights, test scores) tend to be normally distributed due to the Central Limit Theorem.</a:t>
                </a:r>
              </a:p>
            </p:txBody>
          </p:sp>
        </mc:Choice>
        <mc:Fallback xmlns="">
          <p:sp>
            <p:nvSpPr>
              <p:cNvPr id="3" name="TextBox 2">
                <a:extLst>
                  <a:ext uri="{FF2B5EF4-FFF2-40B4-BE49-F238E27FC236}">
                    <a16:creationId xmlns:a16="http://schemas.microsoft.com/office/drawing/2014/main" id="{A9A5DF67-A1ED-B6E0-D61A-3B28F1BB1B1A}"/>
                  </a:ext>
                </a:extLst>
              </p:cNvPr>
              <p:cNvSpPr txBox="1">
                <a:spLocks noRot="1" noChangeAspect="1" noMove="1" noResize="1" noEditPoints="1" noAdjustHandles="1" noChangeArrowheads="1" noChangeShapeType="1" noTextEdit="1"/>
              </p:cNvSpPr>
              <p:nvPr/>
            </p:nvSpPr>
            <p:spPr>
              <a:xfrm>
                <a:off x="463893" y="584684"/>
                <a:ext cx="7992888" cy="4807855"/>
              </a:xfrm>
              <a:prstGeom prst="rect">
                <a:avLst/>
              </a:prstGeom>
              <a:blipFill>
                <a:blip r:embed="rId2"/>
                <a:stretch>
                  <a:fillRect l="-1144" t="-887" b="-1014"/>
                </a:stretch>
              </a:blipFill>
            </p:spPr>
            <p:txBody>
              <a:bodyPr/>
              <a:lstStyle/>
              <a:p>
                <a:r>
                  <a:rPr lang="en-US">
                    <a:noFill/>
                  </a:rPr>
                  <a:t> </a:t>
                </a:r>
              </a:p>
            </p:txBody>
          </p:sp>
        </mc:Fallback>
      </mc:AlternateContent>
    </p:spTree>
    <p:extLst>
      <p:ext uri="{BB962C8B-B14F-4D97-AF65-F5344CB8AC3E}">
        <p14:creationId xmlns:p14="http://schemas.microsoft.com/office/powerpoint/2010/main" val="1079664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BC4F691F-BB95-E34A-183E-1D959D70D4AE}"/>
                  </a:ext>
                </a:extLst>
              </p:cNvPr>
              <p:cNvSpPr txBox="1"/>
              <p:nvPr/>
            </p:nvSpPr>
            <p:spPr>
              <a:xfrm>
                <a:off x="413538" y="260648"/>
                <a:ext cx="8316924" cy="5809411"/>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b. Uniform Distribution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Represents a distribution where all outcomes in a certain interval are equally likely.</a:t>
                </a: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Lower bound </a:t>
                </a:r>
                <a:r>
                  <a:rPr lang="en-US" sz="1800" i="1" dirty="0">
                    <a:effectLst/>
                    <a:latin typeface="Calibri" panose="020F0502020204030204" pitchFamily="34" charset="0"/>
                    <a:ea typeface="Calibri" panose="020F0502020204030204" pitchFamily="34" charset="0"/>
                    <a:cs typeface="Arial" panose="020B0604020202020204" pitchFamily="34" charset="0"/>
                  </a:rPr>
                  <a:t>a</a:t>
                </a:r>
                <a:r>
                  <a:rPr lang="en-US" sz="1800" dirty="0">
                    <a:effectLst/>
                    <a:latin typeface="Calibri" panose="020F0502020204030204" pitchFamily="34" charset="0"/>
                    <a:ea typeface="Calibri" panose="020F0502020204030204" pitchFamily="34" charset="0"/>
                    <a:cs typeface="Arial" panose="020B0604020202020204" pitchFamily="34" charset="0"/>
                  </a:rPr>
                  <a:t> and upper bound </a:t>
                </a:r>
                <a:r>
                  <a:rPr lang="en-US" sz="1800" i="1" dirty="0">
                    <a:effectLst/>
                    <a:latin typeface="Calibri" panose="020F0502020204030204" pitchFamily="34" charset="0"/>
                    <a:ea typeface="Calibri" panose="020F0502020204030204" pitchFamily="34" charset="0"/>
                    <a:cs typeface="Arial" panose="020B0604020202020204" pitchFamily="34" charset="0"/>
                  </a:rPr>
                  <a:t>b</a:t>
                </a:r>
                <a:r>
                  <a:rPr lang="en-US" sz="1800" dirty="0">
                    <a:effectLst/>
                    <a:latin typeface="Calibri" panose="020F0502020204030204" pitchFamily="34" charset="0"/>
                    <a:ea typeface="Calibri" panose="020F0502020204030204" pitchFamily="34" charset="0"/>
                    <a:cs typeface="Arial" panose="020B0604020202020204" pitchFamily="34" charset="0"/>
                  </a:rPr>
                  <a:t>.</a:t>
                </a: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PDF</a:t>
                </a:r>
                <a:r>
                  <a:rPr lang="en-US" sz="1800" dirty="0">
                    <a:effectLst/>
                    <a:latin typeface="Calibri" panose="020F0502020204030204" pitchFamily="34" charset="0"/>
                    <a:ea typeface="Calibri" panose="020F0502020204030204" pitchFamily="34" charset="0"/>
                    <a:cs typeface="Arial" panose="020B0604020202020204" pitchFamily="34" charset="0"/>
                  </a:rPr>
                  <a:t>:</a:t>
                </a:r>
              </a:p>
              <a:p>
                <a:pPr lvl="0">
                  <a:lnSpc>
                    <a:spcPct val="107000"/>
                  </a:lnSpc>
                  <a:spcAft>
                    <a:spcPts val="800"/>
                  </a:spcAft>
                  <a:buSzPts val="1000"/>
                  <a:tabLst>
                    <a:tab pos="457200" algn="l"/>
                  </a:tabLst>
                </a:pPr>
                <a14:m>
                  <m:oMathPara xmlns:m="http://schemas.openxmlformats.org/officeDocument/2006/math">
                    <m:oMathParaPr>
                      <m:jc m:val="centerGroup"/>
                    </m:oMathParaPr>
                    <m:oMath xmlns:m="http://schemas.openxmlformats.org/officeDocument/2006/math">
                      <m:r>
                        <a:rPr lang="en-IN" sz="1800" b="0" i="1" smtClean="0">
                          <a:effectLst/>
                          <a:latin typeface="Cambria Math" panose="02040503050406030204" pitchFamily="18" charset="0"/>
                          <a:ea typeface="Calibri" panose="020F0502020204030204" pitchFamily="34" charset="0"/>
                          <a:cs typeface="Arial" panose="020B0604020202020204" pitchFamily="34" charset="0"/>
                        </a:rPr>
                        <m:t>𝑓</m:t>
                      </m:r>
                      <m:d>
                        <m:dPr>
                          <m:ctrlPr>
                            <a:rPr lang="en-IN" sz="1800" b="0" i="1" smtClean="0">
                              <a:effectLst/>
                              <a:latin typeface="Cambria Math"/>
                              <a:ea typeface="Calibri" panose="020F0502020204030204" pitchFamily="34" charset="0"/>
                              <a:cs typeface="Arial" panose="020B0604020202020204" pitchFamily="34" charset="0"/>
                            </a:rPr>
                          </m:ctrlPr>
                        </m:dPr>
                        <m:e>
                          <m:r>
                            <a:rPr lang="en-IN" sz="1800" b="0" i="1" smtClean="0">
                              <a:effectLst/>
                              <a:latin typeface="Cambria Math" panose="02040503050406030204" pitchFamily="18" charset="0"/>
                              <a:ea typeface="Calibri" panose="020F0502020204030204" pitchFamily="34" charset="0"/>
                              <a:cs typeface="Arial" panose="020B0604020202020204" pitchFamily="34" charset="0"/>
                            </a:rPr>
                            <m:t>𝑥</m:t>
                          </m:r>
                        </m:e>
                      </m:d>
                      <m:r>
                        <a:rPr lang="en-IN" sz="1800" b="0" i="1" smtClean="0">
                          <a:effectLst/>
                          <a:latin typeface="Cambria Math" panose="02040503050406030204" pitchFamily="18" charset="0"/>
                          <a:ea typeface="Calibri" panose="020F0502020204030204" pitchFamily="34" charset="0"/>
                          <a:cs typeface="Arial" panose="020B0604020202020204" pitchFamily="34" charset="0"/>
                        </a:rPr>
                        <m:t>=1−</m:t>
                      </m:r>
                      <m:r>
                        <a:rPr lang="en-IN" sz="1800" b="0" i="1" smtClean="0">
                          <a:effectLst/>
                          <a:latin typeface="Cambria Math" panose="02040503050406030204" pitchFamily="18" charset="0"/>
                          <a:ea typeface="Calibri" panose="020F0502020204030204" pitchFamily="34" charset="0"/>
                          <a:cs typeface="Arial" panose="020B0604020202020204" pitchFamily="34" charset="0"/>
                        </a:rPr>
                        <m:t>𝑏</m:t>
                      </m:r>
                      <m:r>
                        <a:rPr lang="en-IN" sz="1800" b="0" i="1" smtClean="0">
                          <a:effectLst/>
                          <a:latin typeface="Cambria Math" panose="02040503050406030204" pitchFamily="18" charset="0"/>
                          <a:ea typeface="Calibri" panose="020F0502020204030204" pitchFamily="34" charset="0"/>
                          <a:cs typeface="Arial" panose="020B0604020202020204" pitchFamily="34" charset="0"/>
                        </a:rPr>
                        <m:t> </m:t>
                      </m:r>
                      <m:r>
                        <m:rPr>
                          <m:sty m:val="p"/>
                        </m:rPr>
                        <a:rPr lang="en-IN" sz="1800" b="0" i="0" smtClean="0">
                          <a:effectLst/>
                          <a:latin typeface="Cambria Math" panose="02040503050406030204" pitchFamily="18" charset="0"/>
                          <a:ea typeface="Calibri" panose="020F0502020204030204" pitchFamily="34" charset="0"/>
                          <a:cs typeface="Arial" panose="020B0604020202020204" pitchFamily="34" charset="0"/>
                        </a:rPr>
                        <m:t>for</m:t>
                      </m:r>
                      <m:r>
                        <a:rPr lang="en-IN" sz="1800" b="0" i="1" smtClean="0">
                          <a:effectLst/>
                          <a:latin typeface="Cambria Math" panose="02040503050406030204" pitchFamily="18" charset="0"/>
                          <a:ea typeface="Calibri" panose="020F0502020204030204" pitchFamily="34" charset="0"/>
                          <a:cs typeface="Arial" panose="020B0604020202020204" pitchFamily="34" charset="0"/>
                        </a:rPr>
                        <m:t> </m:t>
                      </m:r>
                      <m:r>
                        <a:rPr lang="en-IN" sz="1800" b="0" i="1" smtClean="0">
                          <a:effectLst/>
                          <a:latin typeface="Cambria Math" panose="02040503050406030204" pitchFamily="18" charset="0"/>
                          <a:ea typeface="Calibri" panose="020F0502020204030204" pitchFamily="34" charset="0"/>
                          <a:cs typeface="Arial" panose="020B0604020202020204" pitchFamily="34" charset="0"/>
                        </a:rPr>
                        <m:t>𝑎</m:t>
                      </m:r>
                      <m:r>
                        <a:rPr lang="en-IN" sz="1800" b="0" i="1" smtClean="0">
                          <a:effectLst/>
                          <a:latin typeface="Cambria Math" panose="02040503050406030204" pitchFamily="18" charset="0"/>
                          <a:ea typeface="Cambria Math" panose="02040503050406030204" pitchFamily="18" charset="0"/>
                          <a:cs typeface="Arial" panose="020B0604020202020204" pitchFamily="34" charset="0"/>
                        </a:rPr>
                        <m:t>≤</m:t>
                      </m:r>
                      <m:r>
                        <a:rPr lang="en-IN" sz="1800" b="0" i="1" smtClean="0">
                          <a:effectLst/>
                          <a:latin typeface="Cambria Math" panose="02040503050406030204" pitchFamily="18" charset="0"/>
                          <a:ea typeface="Cambria Math" panose="02040503050406030204" pitchFamily="18" charset="0"/>
                          <a:cs typeface="Arial" panose="020B0604020202020204" pitchFamily="34" charset="0"/>
                        </a:rPr>
                        <m:t>𝑥</m:t>
                      </m:r>
                      <m:r>
                        <a:rPr lang="en-IN" sz="1800" b="0" i="1" smtClean="0">
                          <a:effectLst/>
                          <a:latin typeface="Cambria Math" panose="02040503050406030204" pitchFamily="18" charset="0"/>
                          <a:ea typeface="Cambria Math" panose="02040503050406030204" pitchFamily="18" charset="0"/>
                          <a:cs typeface="Arial" panose="020B0604020202020204" pitchFamily="34" charset="0"/>
                        </a:rPr>
                        <m:t>≤</m:t>
                      </m:r>
                      <m:r>
                        <a:rPr lang="en-IN" sz="1800" b="0" i="1" smtClean="0">
                          <a:effectLst/>
                          <a:latin typeface="Cambria Math" panose="02040503050406030204" pitchFamily="18" charset="0"/>
                          <a:ea typeface="Cambria Math" panose="02040503050406030204" pitchFamily="18" charset="0"/>
                          <a:cs typeface="Arial" panose="020B0604020202020204" pitchFamily="34" charset="0"/>
                        </a:rPr>
                        <m:t>𝑏</m:t>
                      </m:r>
                    </m:oMath>
                  </m:oMathPara>
                </a14:m>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Applications</a:t>
                </a:r>
                <a:r>
                  <a:rPr lang="en-US" sz="1800" dirty="0">
                    <a:effectLst/>
                    <a:latin typeface="Calibri" panose="020F0502020204030204" pitchFamily="34" charset="0"/>
                    <a:ea typeface="Calibri" panose="020F0502020204030204" pitchFamily="34" charset="0"/>
                    <a:cs typeface="Arial" panose="020B0604020202020204" pitchFamily="34" charset="0"/>
                  </a:rPr>
                  <a:t>: Used in random sampling and simulations, especially where each outcome is equally probable (like rolling a fair die).</a:t>
                </a:r>
              </a:p>
              <a:p>
                <a:pPr lvl="0">
                  <a:lnSpc>
                    <a:spcPct val="107000"/>
                  </a:lnSpc>
                  <a:spcAft>
                    <a:spcPts val="800"/>
                  </a:spcAft>
                  <a:buSzPts val="1000"/>
                  <a:tabLst>
                    <a:tab pos="457200" algn="l"/>
                  </a:tabLs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c. Exponential Distribution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Models the time between independent events occurring at a constant rate.</a:t>
                </a:r>
              </a:p>
              <a:p>
                <a:pPr lvl="0">
                  <a:lnSpc>
                    <a:spcPct val="107000"/>
                  </a:lnSpc>
                  <a:spcAft>
                    <a:spcPts val="800"/>
                  </a:spcAft>
                  <a:buSzPts val="1000"/>
                  <a:tabLst>
                    <a:tab pos="457200" algn="l"/>
                  </a:tabLst>
                </a:pPr>
                <a:r>
                  <a:rPr lang="en-US" sz="1800" i="1" dirty="0">
                    <a:effectLst/>
                    <a:latin typeface="Calibri" panose="020F0502020204030204" pitchFamily="34" charset="0"/>
                    <a:ea typeface="Calibri" panose="020F0502020204030204" pitchFamily="34" charset="0"/>
                    <a:cs typeface="Arial" panose="020B0604020202020204" pitchFamily="34" charset="0"/>
                  </a:rPr>
                  <a:t>λ</a:t>
                </a:r>
                <a:r>
                  <a:rPr lang="en-US" sz="1800" dirty="0">
                    <a:effectLst/>
                    <a:latin typeface="Calibri" panose="020F0502020204030204" pitchFamily="34" charset="0"/>
                    <a:ea typeface="Calibri" panose="020F0502020204030204" pitchFamily="34" charset="0"/>
                    <a:cs typeface="Arial" panose="020B0604020202020204" pitchFamily="34" charset="0"/>
                  </a:rPr>
                  <a:t> (rate of occurrence)</a:t>
                </a: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PDF</a:t>
                </a:r>
                <a:r>
                  <a:rPr lang="en-US" sz="1800" dirty="0">
                    <a:effectLst/>
                    <a:latin typeface="Calibri" panose="020F0502020204030204" pitchFamily="34" charset="0"/>
                    <a:ea typeface="Calibri" panose="020F0502020204030204" pitchFamily="34" charset="0"/>
                    <a:cs typeface="Arial" panose="020B0604020202020204" pitchFamily="34" charset="0"/>
                  </a:rPr>
                  <a:t>: </a:t>
                </a:r>
                <a:endParaRPr lang="en-IN" sz="1800" b="0" i="1" dirty="0">
                  <a:effectLst/>
                  <a:latin typeface="Cambria Math" panose="02040503050406030204" pitchFamily="18"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14:m>
                  <m:oMathPara xmlns:m="http://schemas.openxmlformats.org/officeDocument/2006/math">
                    <m:oMathParaPr>
                      <m:jc m:val="centerGroup"/>
                    </m:oMathParaPr>
                    <m:oMath xmlns:m="http://schemas.openxmlformats.org/officeDocument/2006/math">
                      <m:r>
                        <a:rPr lang="en-IN" sz="1800" b="0" i="1" smtClean="0">
                          <a:effectLst/>
                          <a:latin typeface="Cambria Math" panose="02040503050406030204" pitchFamily="18" charset="0"/>
                          <a:ea typeface="Calibri" panose="020F0502020204030204" pitchFamily="34" charset="0"/>
                          <a:cs typeface="Arial" panose="020B0604020202020204" pitchFamily="34" charset="0"/>
                        </a:rPr>
                        <m:t>𝑓</m:t>
                      </m:r>
                      <m:d>
                        <m:dPr>
                          <m:ctrlPr>
                            <a:rPr lang="en-IN" sz="1800" b="0" i="1" smtClean="0">
                              <a:effectLst/>
                              <a:latin typeface="Cambria Math"/>
                              <a:ea typeface="Calibri" panose="020F0502020204030204" pitchFamily="34" charset="0"/>
                              <a:cs typeface="Arial" panose="020B0604020202020204" pitchFamily="34" charset="0"/>
                            </a:rPr>
                          </m:ctrlPr>
                        </m:dPr>
                        <m:e>
                          <m:r>
                            <a:rPr lang="en-IN" sz="1800" b="0" i="1" smtClean="0">
                              <a:effectLst/>
                              <a:latin typeface="Cambria Math" panose="02040503050406030204" pitchFamily="18" charset="0"/>
                              <a:ea typeface="Calibri" panose="020F0502020204030204" pitchFamily="34" charset="0"/>
                              <a:cs typeface="Arial" panose="020B0604020202020204" pitchFamily="34" charset="0"/>
                            </a:rPr>
                            <m:t>𝑥</m:t>
                          </m:r>
                        </m:e>
                      </m:d>
                      <m:r>
                        <a:rPr lang="en-IN" sz="1800" b="0" i="1" smtClean="0">
                          <a:effectLst/>
                          <a:latin typeface="Cambria Math" panose="02040503050406030204" pitchFamily="18" charset="0"/>
                          <a:ea typeface="Calibri" panose="020F0502020204030204" pitchFamily="34" charset="0"/>
                          <a:cs typeface="Arial" panose="020B0604020202020204" pitchFamily="34" charset="0"/>
                        </a:rPr>
                        <m:t>=</m:t>
                      </m:r>
                      <m:r>
                        <m:rPr>
                          <m:nor/>
                        </m:rPr>
                        <a:rPr lang="en-US" sz="1800" dirty="0">
                          <a:latin typeface="Calibri" panose="020F0502020204030204" pitchFamily="34" charset="0"/>
                          <a:ea typeface="Calibri" panose="020F0502020204030204" pitchFamily="34" charset="0"/>
                          <a:cs typeface="Arial" panose="020B0604020202020204" pitchFamily="34" charset="0"/>
                        </a:rPr>
                        <m:t>λ</m:t>
                      </m:r>
                      <m:sSup>
                        <m:sSupPr>
                          <m:ctrlPr>
                            <a:rPr lang="en-US" sz="1800" i="1" dirty="0" smtClean="0">
                              <a:latin typeface="Cambria Math"/>
                              <a:ea typeface="Calibri" panose="020F0502020204030204" pitchFamily="34" charset="0"/>
                              <a:cs typeface="Arial" panose="020B0604020202020204" pitchFamily="34" charset="0"/>
                            </a:rPr>
                          </m:ctrlPr>
                        </m:sSupPr>
                        <m:e>
                          <m:r>
                            <a:rPr lang="en-IN" sz="1800" b="0" i="1" dirty="0" smtClean="0">
                              <a:latin typeface="Cambria Math" panose="02040503050406030204" pitchFamily="18" charset="0"/>
                              <a:ea typeface="Calibri" panose="020F0502020204030204" pitchFamily="34" charset="0"/>
                              <a:cs typeface="Arial" panose="020B0604020202020204" pitchFamily="34" charset="0"/>
                            </a:rPr>
                            <m:t>𝑒</m:t>
                          </m:r>
                        </m:e>
                        <m:sup>
                          <m:r>
                            <a:rPr lang="en-IN" sz="1800" b="0" i="1" dirty="0" smtClean="0">
                              <a:latin typeface="Cambria Math" panose="02040503050406030204" pitchFamily="18" charset="0"/>
                              <a:ea typeface="Calibri" panose="020F0502020204030204" pitchFamily="34" charset="0"/>
                              <a:cs typeface="Arial" panose="020B0604020202020204" pitchFamily="34" charset="0"/>
                            </a:rPr>
                            <m:t>−</m:t>
                          </m:r>
                          <m:r>
                            <m:rPr>
                              <m:nor/>
                            </m:rPr>
                            <a:rPr lang="en-US" sz="1800" dirty="0">
                              <a:latin typeface="Calibri" panose="020F0502020204030204" pitchFamily="34" charset="0"/>
                              <a:ea typeface="Calibri" panose="020F0502020204030204" pitchFamily="34" charset="0"/>
                              <a:cs typeface="Arial" panose="020B0604020202020204" pitchFamily="34" charset="0"/>
                            </a:rPr>
                            <m:t>λ</m:t>
                          </m:r>
                          <m:r>
                            <a:rPr lang="en-IN" sz="1800" b="0" i="1" dirty="0" smtClean="0">
                              <a:latin typeface="Cambria Math" panose="02040503050406030204" pitchFamily="18" charset="0"/>
                              <a:ea typeface="Calibri" panose="020F0502020204030204" pitchFamily="34" charset="0"/>
                              <a:cs typeface="Arial" panose="020B0604020202020204" pitchFamily="34" charset="0"/>
                            </a:rPr>
                            <m:t>𝑥</m:t>
                          </m:r>
                        </m:sup>
                      </m:sSup>
                      <m:r>
                        <a:rPr lang="en-IN" sz="1800" b="0" i="0" dirty="0" smtClean="0">
                          <a:latin typeface="Cambria Math" panose="02040503050406030204" pitchFamily="18" charset="0"/>
                          <a:ea typeface="Calibri" panose="020F0502020204030204" pitchFamily="34" charset="0"/>
                          <a:cs typeface="Arial" panose="020B0604020202020204" pitchFamily="34" charset="0"/>
                        </a:rPr>
                        <m:t> </m:t>
                      </m:r>
                      <m:r>
                        <m:rPr>
                          <m:sty m:val="p"/>
                        </m:rPr>
                        <a:rPr lang="en-IN" sz="1800" b="0" i="0" dirty="0" smtClean="0">
                          <a:latin typeface="Cambria Math" panose="02040503050406030204" pitchFamily="18" charset="0"/>
                          <a:ea typeface="Calibri" panose="020F0502020204030204" pitchFamily="34" charset="0"/>
                          <a:cs typeface="Arial" panose="020B0604020202020204" pitchFamily="34" charset="0"/>
                        </a:rPr>
                        <m:t>for</m:t>
                      </m:r>
                      <m:r>
                        <a:rPr lang="en-IN" sz="1800" b="0" i="0" dirty="0" smtClean="0">
                          <a:latin typeface="Cambria Math" panose="02040503050406030204" pitchFamily="18" charset="0"/>
                          <a:ea typeface="Calibri" panose="020F0502020204030204" pitchFamily="34" charset="0"/>
                          <a:cs typeface="Arial" panose="020B0604020202020204" pitchFamily="34" charset="0"/>
                        </a:rPr>
                        <m:t> </m:t>
                      </m:r>
                      <m:r>
                        <m:rPr>
                          <m:sty m:val="p"/>
                        </m:rPr>
                        <a:rPr lang="en-IN" sz="1800" b="0" i="0" dirty="0" smtClean="0">
                          <a:latin typeface="Cambria Math" panose="02040503050406030204" pitchFamily="18" charset="0"/>
                          <a:ea typeface="Calibri" panose="020F0502020204030204" pitchFamily="34" charset="0"/>
                          <a:cs typeface="Arial" panose="020B0604020202020204" pitchFamily="34" charset="0"/>
                        </a:rPr>
                        <m:t>x</m:t>
                      </m:r>
                      <m:r>
                        <a:rPr lang="en-IN" sz="1800" b="0" i="1" dirty="0" smtClean="0">
                          <a:latin typeface="Cambria Math" panose="02040503050406030204" pitchFamily="18" charset="0"/>
                          <a:ea typeface="Cambria Math" panose="02040503050406030204" pitchFamily="18" charset="0"/>
                          <a:cs typeface="Arial" panose="020B0604020202020204" pitchFamily="34" charset="0"/>
                        </a:rPr>
                        <m:t>≥0</m:t>
                      </m:r>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Applications</a:t>
                </a:r>
                <a:r>
                  <a:rPr lang="en-US" sz="1800" dirty="0">
                    <a:effectLst/>
                    <a:latin typeface="Calibri" panose="020F0502020204030204" pitchFamily="34" charset="0"/>
                    <a:ea typeface="Calibri" panose="020F0502020204030204" pitchFamily="34" charset="0"/>
                    <a:cs typeface="Arial" panose="020B0604020202020204" pitchFamily="34" charset="0"/>
                  </a:rPr>
                  <a:t>: Often used in queuing theory, reliability engineering, and survival analysis.</a:t>
                </a:r>
              </a:p>
            </p:txBody>
          </p:sp>
        </mc:Choice>
        <mc:Fallback xmlns="">
          <p:sp>
            <p:nvSpPr>
              <p:cNvPr id="3" name="TextBox 2">
                <a:extLst>
                  <a:ext uri="{FF2B5EF4-FFF2-40B4-BE49-F238E27FC236}">
                    <a16:creationId xmlns:a16="http://schemas.microsoft.com/office/drawing/2014/main" id="{BC4F691F-BB95-E34A-183E-1D959D70D4AE}"/>
                  </a:ext>
                </a:extLst>
              </p:cNvPr>
              <p:cNvSpPr txBox="1">
                <a:spLocks noRot="1" noChangeAspect="1" noMove="1" noResize="1" noEditPoints="1" noAdjustHandles="1" noChangeArrowheads="1" noChangeShapeType="1" noTextEdit="1"/>
              </p:cNvSpPr>
              <p:nvPr/>
            </p:nvSpPr>
            <p:spPr>
              <a:xfrm>
                <a:off x="413538" y="260648"/>
                <a:ext cx="8316924" cy="5809411"/>
              </a:xfrm>
              <a:prstGeom prst="rect">
                <a:avLst/>
              </a:prstGeom>
              <a:blipFill>
                <a:blip r:embed="rId2"/>
                <a:stretch>
                  <a:fillRect l="-660" t="-525" b="-735"/>
                </a:stretch>
              </a:blipFill>
            </p:spPr>
            <p:txBody>
              <a:bodyPr/>
              <a:lstStyle/>
              <a:p>
                <a:r>
                  <a:rPr lang="en-US">
                    <a:noFill/>
                  </a:rPr>
                  <a:t> </a:t>
                </a:r>
              </a:p>
            </p:txBody>
          </p:sp>
        </mc:Fallback>
      </mc:AlternateContent>
    </p:spTree>
    <p:extLst>
      <p:ext uri="{BB962C8B-B14F-4D97-AF65-F5344CB8AC3E}">
        <p14:creationId xmlns:p14="http://schemas.microsoft.com/office/powerpoint/2010/main" val="1863403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F1C0EDF7-ECA8-A8F0-1D33-474C4E5637DF}"/>
                  </a:ext>
                </a:extLst>
              </p:cNvPr>
              <p:cNvSpPr txBox="1"/>
              <p:nvPr/>
            </p:nvSpPr>
            <p:spPr>
              <a:xfrm>
                <a:off x="503548" y="292885"/>
                <a:ext cx="8172908" cy="6625468"/>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d. Gamma Distribution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Generalizes the exponential distribution, modeling the time until </a:t>
                </a:r>
                <a:r>
                  <a:rPr lang="en-US" sz="1800" i="1" dirty="0">
                    <a:effectLst/>
                    <a:latin typeface="Calibri" panose="020F0502020204030204" pitchFamily="34" charset="0"/>
                    <a:ea typeface="Calibri" panose="020F0502020204030204" pitchFamily="34" charset="0"/>
                    <a:cs typeface="Arial" panose="020B0604020202020204" pitchFamily="34" charset="0"/>
                  </a:rPr>
                  <a:t>k</a:t>
                </a:r>
                <a:r>
                  <a:rPr lang="en-US" sz="1800" dirty="0">
                    <a:effectLst/>
                    <a:latin typeface="Calibri" panose="020F0502020204030204" pitchFamily="34" charset="0"/>
                    <a:ea typeface="Calibri" panose="020F0502020204030204" pitchFamily="34" charset="0"/>
                    <a:cs typeface="Arial" panose="020B0604020202020204" pitchFamily="34" charset="0"/>
                  </a:rPr>
                  <a:t> events occur in a Poisson process.</a:t>
                </a: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Shape parameter </a:t>
                </a:r>
                <a:r>
                  <a:rPr lang="en-US" sz="1800" i="1" dirty="0">
                    <a:effectLst/>
                    <a:latin typeface="Calibri" panose="020F0502020204030204" pitchFamily="34" charset="0"/>
                    <a:ea typeface="Calibri" panose="020F0502020204030204" pitchFamily="34" charset="0"/>
                    <a:cs typeface="Arial" panose="020B0604020202020204" pitchFamily="34" charset="0"/>
                  </a:rPr>
                  <a:t>k</a:t>
                </a:r>
                <a:r>
                  <a:rPr lang="en-US" sz="1800" dirty="0">
                    <a:effectLst/>
                    <a:latin typeface="Calibri" panose="020F0502020204030204" pitchFamily="34" charset="0"/>
                    <a:ea typeface="Calibri" panose="020F0502020204030204" pitchFamily="34" charset="0"/>
                    <a:cs typeface="Arial" panose="020B0604020202020204" pitchFamily="34" charset="0"/>
                  </a:rPr>
                  <a:t> and rate parameter θ</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PDF</a:t>
                </a: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lvl="0">
                  <a:lnSpc>
                    <a:spcPct val="107000"/>
                  </a:lnSpc>
                  <a:spcAft>
                    <a:spcPts val="800"/>
                  </a:spcAft>
                  <a:buSzPts val="1000"/>
                  <a:tabLst>
                    <a:tab pos="457200" algn="l"/>
                  </a:tabLst>
                </a:pPr>
                <a14:m>
                  <m:oMathPara xmlns:m="http://schemas.openxmlformats.org/officeDocument/2006/math">
                    <m:oMathParaPr>
                      <m:jc m:val="centerGroup"/>
                    </m:oMathParaPr>
                    <m:oMath xmlns:m="http://schemas.openxmlformats.org/officeDocument/2006/math">
                      <m:r>
                        <a:rPr lang="en-IN" sz="1800" b="0" i="1" smtClean="0">
                          <a:effectLst/>
                          <a:latin typeface="Cambria Math" panose="02040503050406030204" pitchFamily="18" charset="0"/>
                          <a:ea typeface="Calibri" panose="020F0502020204030204" pitchFamily="34" charset="0"/>
                          <a:cs typeface="Arial" panose="020B0604020202020204" pitchFamily="34" charset="0"/>
                        </a:rPr>
                        <m:t>𝑓</m:t>
                      </m:r>
                      <m:d>
                        <m:dPr>
                          <m:ctrlPr>
                            <a:rPr lang="en-IN" sz="1800" b="0" i="1" smtClean="0">
                              <a:effectLst/>
                              <a:latin typeface="Cambria Math"/>
                              <a:ea typeface="Calibri" panose="020F0502020204030204" pitchFamily="34" charset="0"/>
                              <a:cs typeface="Arial" panose="020B0604020202020204" pitchFamily="34" charset="0"/>
                            </a:rPr>
                          </m:ctrlPr>
                        </m:dPr>
                        <m:e>
                          <m:r>
                            <a:rPr lang="en-IN" sz="1800" b="0" i="1" smtClean="0">
                              <a:effectLst/>
                              <a:latin typeface="Cambria Math" panose="02040503050406030204" pitchFamily="18" charset="0"/>
                              <a:ea typeface="Calibri" panose="020F0502020204030204" pitchFamily="34" charset="0"/>
                              <a:cs typeface="Arial" panose="020B0604020202020204" pitchFamily="34" charset="0"/>
                            </a:rPr>
                            <m:t>𝑥</m:t>
                          </m:r>
                        </m:e>
                      </m:d>
                      <m:r>
                        <a:rPr lang="en-IN" sz="1800" b="0" i="1" smtClean="0">
                          <a:effectLst/>
                          <a:latin typeface="Cambria Math" panose="02040503050406030204" pitchFamily="18" charset="0"/>
                          <a:ea typeface="Calibri" panose="020F0502020204030204" pitchFamily="34" charset="0"/>
                          <a:cs typeface="Arial" panose="020B0604020202020204" pitchFamily="34" charset="0"/>
                        </a:rPr>
                        <m:t>=</m:t>
                      </m:r>
                      <m:f>
                        <m:fPr>
                          <m:ctrlPr>
                            <a:rPr lang="en-IN" sz="1800" i="1">
                              <a:latin typeface="Cambria Math"/>
                              <a:ea typeface="Calibri" panose="020F0502020204030204" pitchFamily="34" charset="0"/>
                              <a:cs typeface="Arial" panose="020B0604020202020204" pitchFamily="34" charset="0"/>
                            </a:rPr>
                          </m:ctrlPr>
                        </m:fPr>
                        <m:num>
                          <m:sSup>
                            <m:sSupPr>
                              <m:ctrlPr>
                                <a:rPr lang="en-IN" sz="1800" i="1">
                                  <a:latin typeface="Cambria Math"/>
                                  <a:ea typeface="Calibri" panose="020F0502020204030204" pitchFamily="34" charset="0"/>
                                  <a:cs typeface="Arial" panose="020B0604020202020204" pitchFamily="34" charset="0"/>
                                </a:rPr>
                              </m:ctrlPr>
                            </m:sSupPr>
                            <m:e>
                              <m:r>
                                <a:rPr lang="en-IN" sz="1800" i="1">
                                  <a:latin typeface="Cambria Math" panose="02040503050406030204" pitchFamily="18" charset="0"/>
                                  <a:ea typeface="Calibri" panose="020F0502020204030204" pitchFamily="34" charset="0"/>
                                  <a:cs typeface="Arial" panose="020B0604020202020204" pitchFamily="34" charset="0"/>
                                </a:rPr>
                                <m:t>𝑥</m:t>
                              </m:r>
                            </m:e>
                            <m:sup>
                              <m:r>
                                <a:rPr lang="en-IN" sz="1800" i="1">
                                  <a:latin typeface="Cambria Math" panose="02040503050406030204" pitchFamily="18" charset="0"/>
                                  <a:ea typeface="Calibri" panose="020F0502020204030204" pitchFamily="34" charset="0"/>
                                  <a:cs typeface="Arial" panose="020B0604020202020204" pitchFamily="34" charset="0"/>
                                </a:rPr>
                                <m:t>𝑘</m:t>
                              </m:r>
                              <m:r>
                                <a:rPr lang="en-IN" sz="1800" i="1">
                                  <a:latin typeface="Cambria Math" panose="02040503050406030204" pitchFamily="18" charset="0"/>
                                  <a:ea typeface="Calibri" panose="020F0502020204030204" pitchFamily="34" charset="0"/>
                                  <a:cs typeface="Arial" panose="020B0604020202020204" pitchFamily="34" charset="0"/>
                                </a:rPr>
                                <m:t>−1</m:t>
                              </m:r>
                            </m:sup>
                          </m:sSup>
                          <m:sSup>
                            <m:sSupPr>
                              <m:ctrlPr>
                                <a:rPr lang="en-IN" sz="1800" i="1">
                                  <a:latin typeface="Cambria Math"/>
                                  <a:ea typeface="Calibri" panose="020F0502020204030204" pitchFamily="34" charset="0"/>
                                  <a:cs typeface="Arial" panose="020B0604020202020204" pitchFamily="34" charset="0"/>
                                </a:rPr>
                              </m:ctrlPr>
                            </m:sSupPr>
                            <m:e>
                              <m:r>
                                <a:rPr lang="en-IN" sz="1800" i="1">
                                  <a:latin typeface="Cambria Math" panose="02040503050406030204" pitchFamily="18" charset="0"/>
                                  <a:ea typeface="Calibri" panose="020F0502020204030204" pitchFamily="34" charset="0"/>
                                  <a:cs typeface="Arial" panose="020B0604020202020204" pitchFamily="34" charset="0"/>
                                </a:rPr>
                                <m:t>𝑒</m:t>
                              </m:r>
                            </m:e>
                            <m:sup>
                              <m:r>
                                <a:rPr lang="en-IN" sz="1800" i="1">
                                  <a:latin typeface="Cambria Math" panose="02040503050406030204" pitchFamily="18" charset="0"/>
                                  <a:ea typeface="Calibri" panose="020F0502020204030204" pitchFamily="34" charset="0"/>
                                  <a:cs typeface="Arial" panose="020B0604020202020204" pitchFamily="34" charset="0"/>
                                </a:rPr>
                                <m:t>−</m:t>
                              </m:r>
                              <m:f>
                                <m:fPr>
                                  <m:ctrlPr>
                                    <a:rPr lang="en-IN" sz="1800" i="1">
                                      <a:latin typeface="Cambria Math"/>
                                      <a:ea typeface="Calibri" panose="020F0502020204030204" pitchFamily="34" charset="0"/>
                                      <a:cs typeface="Arial" panose="020B0604020202020204" pitchFamily="34" charset="0"/>
                                    </a:rPr>
                                  </m:ctrlPr>
                                </m:fPr>
                                <m:num>
                                  <m:r>
                                    <a:rPr lang="en-IN" sz="1800" i="1">
                                      <a:latin typeface="Cambria Math" panose="02040503050406030204" pitchFamily="18" charset="0"/>
                                      <a:ea typeface="Calibri" panose="020F0502020204030204" pitchFamily="34" charset="0"/>
                                      <a:cs typeface="Arial" panose="020B0604020202020204" pitchFamily="34" charset="0"/>
                                    </a:rPr>
                                    <m:t>𝑥</m:t>
                                  </m:r>
                                </m:num>
                                <m:den>
                                  <m:r>
                                    <m:rPr>
                                      <m:nor/>
                                    </m:rPr>
                                    <a:rPr lang="en-US" sz="1800" dirty="0">
                                      <a:latin typeface="Calibri" panose="020F0502020204030204" pitchFamily="34" charset="0"/>
                                      <a:ea typeface="Calibri" panose="020F0502020204030204" pitchFamily="34" charset="0"/>
                                      <a:cs typeface="Arial" panose="020B0604020202020204" pitchFamily="34" charset="0"/>
                                    </a:rPr>
                                    <m:t>θ</m:t>
                                  </m:r>
                                </m:den>
                              </m:f>
                            </m:sup>
                          </m:sSup>
                        </m:num>
                        <m:den>
                          <m:sSup>
                            <m:sSupPr>
                              <m:ctrlPr>
                                <a:rPr lang="en-US" sz="1800" i="1" dirty="0">
                                  <a:latin typeface="Cambria Math"/>
                                  <a:ea typeface="Calibri" panose="020F0502020204030204" pitchFamily="34" charset="0"/>
                                  <a:cs typeface="Arial" panose="020B0604020202020204" pitchFamily="34" charset="0"/>
                                </a:rPr>
                              </m:ctrlPr>
                            </m:sSupPr>
                            <m:e>
                              <m:r>
                                <m:rPr>
                                  <m:nor/>
                                </m:rPr>
                                <a:rPr lang="en-US" sz="1800" dirty="0">
                                  <a:latin typeface="Calibri" panose="020F0502020204030204" pitchFamily="34" charset="0"/>
                                  <a:ea typeface="Calibri" panose="020F0502020204030204" pitchFamily="34" charset="0"/>
                                  <a:cs typeface="Arial" panose="020B0604020202020204" pitchFamily="34" charset="0"/>
                                </a:rPr>
                                <m:t>θ</m:t>
                              </m:r>
                            </m:e>
                            <m:sup>
                              <m:r>
                                <a:rPr lang="en-IN" sz="1800" i="1" dirty="0">
                                  <a:latin typeface="Cambria Math" panose="02040503050406030204" pitchFamily="18" charset="0"/>
                                  <a:ea typeface="Calibri" panose="020F0502020204030204" pitchFamily="34" charset="0"/>
                                  <a:cs typeface="Arial" panose="020B0604020202020204" pitchFamily="34" charset="0"/>
                                </a:rPr>
                                <m:t>𝑘</m:t>
                              </m:r>
                            </m:sup>
                          </m:sSup>
                          <m:r>
                            <a:rPr lang="en-US" sz="1800" i="1" dirty="0">
                              <a:latin typeface="Cambria Math" panose="02040503050406030204" pitchFamily="18" charset="0"/>
                              <a:ea typeface="Calibri" panose="020F0502020204030204" pitchFamily="34" charset="0"/>
                              <a:cs typeface="Arial" panose="020B0604020202020204" pitchFamily="34" charset="0"/>
                              <a:sym typeface="Symbol" panose="05050102010706020507" pitchFamily="18" charset="2"/>
                            </a:rPr>
                            <m:t></m:t>
                          </m:r>
                          <m:r>
                            <a:rPr lang="en-IN" sz="1800" i="1" dirty="0">
                              <a:latin typeface="Cambria Math" panose="02040503050406030204" pitchFamily="18" charset="0"/>
                              <a:ea typeface="Calibri" panose="020F0502020204030204" pitchFamily="34" charset="0"/>
                              <a:cs typeface="Arial" panose="020B0604020202020204" pitchFamily="34" charset="0"/>
                              <a:sym typeface="Symbol" panose="05050102010706020507" pitchFamily="18" charset="2"/>
                            </a:rPr>
                            <m:t>(</m:t>
                          </m:r>
                          <m:r>
                            <a:rPr lang="en-IN" sz="1800" i="1" dirty="0">
                              <a:latin typeface="Cambria Math" panose="02040503050406030204" pitchFamily="18" charset="0"/>
                              <a:ea typeface="Calibri" panose="020F0502020204030204" pitchFamily="34" charset="0"/>
                              <a:cs typeface="Arial" panose="020B0604020202020204" pitchFamily="34" charset="0"/>
                              <a:sym typeface="Symbol" panose="05050102010706020507" pitchFamily="18" charset="2"/>
                            </a:rPr>
                            <m:t>𝑘</m:t>
                          </m:r>
                          <m:r>
                            <a:rPr lang="en-IN" sz="1800" i="1" dirty="0">
                              <a:latin typeface="Cambria Math" panose="02040503050406030204" pitchFamily="18" charset="0"/>
                              <a:ea typeface="Calibri" panose="020F0502020204030204" pitchFamily="34" charset="0"/>
                              <a:cs typeface="Arial" panose="020B0604020202020204" pitchFamily="34" charset="0"/>
                              <a:sym typeface="Symbol" panose="05050102010706020507" pitchFamily="18" charset="2"/>
                            </a:rPr>
                            <m:t>)</m:t>
                          </m:r>
                        </m:den>
                      </m:f>
                      <m:r>
                        <a:rPr lang="en-IN" sz="1800" b="0" i="0" dirty="0" smtClean="0">
                          <a:latin typeface="Cambria Math" panose="02040503050406030204" pitchFamily="18" charset="0"/>
                          <a:ea typeface="Calibri" panose="020F0502020204030204" pitchFamily="34" charset="0"/>
                          <a:cs typeface="Arial" panose="020B0604020202020204" pitchFamily="34" charset="0"/>
                          <a:sym typeface="Symbol" panose="05050102010706020507" pitchFamily="18" charset="2"/>
                        </a:rPr>
                        <m:t> </m:t>
                      </m:r>
                      <m:r>
                        <m:rPr>
                          <m:sty m:val="p"/>
                        </m:rPr>
                        <a:rPr lang="en-IN" sz="1800" b="0" i="0" dirty="0" smtClean="0">
                          <a:latin typeface="Cambria Math" panose="02040503050406030204" pitchFamily="18" charset="0"/>
                          <a:ea typeface="Calibri" panose="020F0502020204030204" pitchFamily="34" charset="0"/>
                          <a:cs typeface="Arial" panose="020B0604020202020204" pitchFamily="34" charset="0"/>
                          <a:sym typeface="Symbol" panose="05050102010706020507" pitchFamily="18" charset="2"/>
                        </a:rPr>
                        <m:t>for</m:t>
                      </m:r>
                      <m:r>
                        <a:rPr lang="en-IN" sz="1800" b="0" i="0" dirty="0" smtClean="0">
                          <a:latin typeface="Cambria Math" panose="02040503050406030204" pitchFamily="18" charset="0"/>
                          <a:ea typeface="Calibri" panose="020F0502020204030204" pitchFamily="34" charset="0"/>
                          <a:cs typeface="Arial" panose="020B0604020202020204" pitchFamily="34" charset="0"/>
                          <a:sym typeface="Symbol" panose="05050102010706020507" pitchFamily="18" charset="2"/>
                        </a:rPr>
                        <m:t> </m:t>
                      </m:r>
                      <m:r>
                        <m:rPr>
                          <m:sty m:val="p"/>
                        </m:rPr>
                        <a:rPr lang="en-IN" sz="1800" b="0" i="0" dirty="0" smtClean="0">
                          <a:latin typeface="Cambria Math" panose="02040503050406030204" pitchFamily="18" charset="0"/>
                          <a:ea typeface="Calibri" panose="020F0502020204030204" pitchFamily="34" charset="0"/>
                          <a:cs typeface="Arial" panose="020B0604020202020204" pitchFamily="34" charset="0"/>
                          <a:sym typeface="Symbol" panose="05050102010706020507" pitchFamily="18" charset="2"/>
                        </a:rPr>
                        <m:t>x</m:t>
                      </m:r>
                      <m:r>
                        <a:rPr lang="en-IN" sz="1800" b="0" i="1" dirty="0" smtClean="0">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≥0</m:t>
                      </m:r>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Applications</a:t>
                </a:r>
                <a:r>
                  <a:rPr lang="en-US" sz="1800" dirty="0">
                    <a:effectLst/>
                    <a:latin typeface="Calibri" panose="020F0502020204030204" pitchFamily="34" charset="0"/>
                    <a:ea typeface="Calibri" panose="020F0502020204030204" pitchFamily="34" charset="0"/>
                    <a:cs typeface="Arial" panose="020B0604020202020204" pitchFamily="34" charset="0"/>
                  </a:rPr>
                  <a:t>: Used in finance, insurance, and environmental studies for variables that represent time until multiple events occur.</a:t>
                </a:r>
              </a:p>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e. Beta Distribution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Definition</a:t>
                </a:r>
                <a:r>
                  <a:rPr lang="en-US" sz="1800" dirty="0">
                    <a:effectLst/>
                    <a:latin typeface="Calibri" panose="020F0502020204030204" pitchFamily="34" charset="0"/>
                    <a:ea typeface="Calibri" panose="020F0502020204030204" pitchFamily="34" charset="0"/>
                    <a:cs typeface="Arial" panose="020B0604020202020204" pitchFamily="34" charset="0"/>
                  </a:rPr>
                  <a:t>: Models probabilities (between 0 and 1) and is defined on a finite interval [0,1][0,1][0,1].</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Parameters</a:t>
                </a:r>
                <a:r>
                  <a:rPr lang="en-US" sz="1800" dirty="0">
                    <a:effectLst/>
                    <a:latin typeface="Calibri" panose="020F0502020204030204" pitchFamily="34" charset="0"/>
                    <a:ea typeface="Calibri" panose="020F0502020204030204" pitchFamily="34" charset="0"/>
                    <a:cs typeface="Arial" panose="020B0604020202020204" pitchFamily="34" charset="0"/>
                  </a:rPr>
                  <a:t>: Shape parameters α\alphaα and β\betaβ.</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PDF</a:t>
                </a:r>
                <a:r>
                  <a:rPr lang="en-US" sz="1800" dirty="0">
                    <a:effectLst/>
                    <a:latin typeface="Calibri" panose="020F0502020204030204" pitchFamily="34" charset="0"/>
                    <a:ea typeface="Calibri" panose="020F0502020204030204" pitchFamily="34" charset="0"/>
                    <a:cs typeface="Arial" panose="020B0604020202020204" pitchFamily="34" charset="0"/>
                  </a:rPr>
                  <a:t>: f(x)=xα−1(1−x)β−1B(α,β)for 0≤x≤1f(x) = \frac{x^{\alpha - 1} (1 - x)^{\beta - 1}}{B(\alpha, \beta)} \quad \text{for } 0 \</a:t>
                </a:r>
                <a:r>
                  <a:rPr lang="en-US" sz="1800" dirty="0" err="1">
                    <a:effectLst/>
                    <a:latin typeface="Calibri" panose="020F0502020204030204" pitchFamily="34" charset="0"/>
                    <a:ea typeface="Calibri" panose="020F0502020204030204" pitchFamily="34" charset="0"/>
                    <a:cs typeface="Arial" panose="020B0604020202020204" pitchFamily="34" charset="0"/>
                  </a:rPr>
                  <a:t>leq</a:t>
                </a:r>
                <a:r>
                  <a:rPr lang="en-US" sz="1800" dirty="0">
                    <a:effectLst/>
                    <a:latin typeface="Calibri" panose="020F0502020204030204" pitchFamily="34" charset="0"/>
                    <a:ea typeface="Calibri" panose="020F0502020204030204" pitchFamily="34" charset="0"/>
                    <a:cs typeface="Arial" panose="020B0604020202020204" pitchFamily="34" charset="0"/>
                  </a:rPr>
                  <a:t> x \</a:t>
                </a:r>
                <a:r>
                  <a:rPr lang="en-US" sz="1800" dirty="0" err="1">
                    <a:effectLst/>
                    <a:latin typeface="Calibri" panose="020F0502020204030204" pitchFamily="34" charset="0"/>
                    <a:ea typeface="Calibri" panose="020F0502020204030204" pitchFamily="34" charset="0"/>
                    <a:cs typeface="Arial" panose="020B0604020202020204" pitchFamily="34" charset="0"/>
                  </a:rPr>
                  <a:t>leq</a:t>
                </a:r>
                <a:r>
                  <a:rPr lang="en-US" sz="1800" dirty="0">
                    <a:effectLst/>
                    <a:latin typeface="Calibri" panose="020F0502020204030204" pitchFamily="34" charset="0"/>
                    <a:ea typeface="Calibri" panose="020F0502020204030204" pitchFamily="34" charset="0"/>
                    <a:cs typeface="Arial" panose="020B0604020202020204" pitchFamily="34" charset="0"/>
                  </a:rPr>
                  <a:t> 1f(x)=B(α,β)xα−1(1−x)β−1​for 0≤x≤1</a:t>
                </a:r>
              </a:p>
              <a:p>
                <a:r>
                  <a:rPr lang="en-US" sz="1800" b="1" dirty="0">
                    <a:effectLst/>
                    <a:latin typeface="Calibri" panose="020F0502020204030204" pitchFamily="34" charset="0"/>
                    <a:ea typeface="Calibri" panose="020F0502020204030204" pitchFamily="34" charset="0"/>
                    <a:cs typeface="Arial" panose="020B0604020202020204" pitchFamily="34" charset="0"/>
                  </a:rPr>
                  <a:t>Applications</a:t>
                </a:r>
                <a:r>
                  <a:rPr lang="en-US" sz="1800" dirty="0">
                    <a:effectLst/>
                    <a:latin typeface="Calibri" panose="020F0502020204030204" pitchFamily="34" charset="0"/>
                    <a:ea typeface="Calibri" panose="020F0502020204030204" pitchFamily="34" charset="0"/>
                    <a:cs typeface="Arial" panose="020B0604020202020204" pitchFamily="34" charset="0"/>
                  </a:rPr>
                  <a:t>: Used in Bayesian statistics, machine learning, and various applications for modeling proportions, probabilities, and rates.</a:t>
                </a:r>
                <a:endParaRPr lang="en-US" sz="1800" dirty="0"/>
              </a:p>
            </p:txBody>
          </p:sp>
        </mc:Choice>
        <mc:Fallback xmlns="">
          <p:sp>
            <p:nvSpPr>
              <p:cNvPr id="3" name="TextBox 2">
                <a:extLst>
                  <a:ext uri="{FF2B5EF4-FFF2-40B4-BE49-F238E27FC236}">
                    <a16:creationId xmlns:a16="http://schemas.microsoft.com/office/drawing/2014/main" id="{F1C0EDF7-ECA8-A8F0-1D33-474C4E5637DF}"/>
                  </a:ext>
                </a:extLst>
              </p:cNvPr>
              <p:cNvSpPr txBox="1">
                <a:spLocks noRot="1" noChangeAspect="1" noMove="1" noResize="1" noEditPoints="1" noAdjustHandles="1" noChangeArrowheads="1" noChangeShapeType="1" noTextEdit="1"/>
              </p:cNvSpPr>
              <p:nvPr/>
            </p:nvSpPr>
            <p:spPr>
              <a:xfrm>
                <a:off x="503548" y="292885"/>
                <a:ext cx="8172908" cy="6625468"/>
              </a:xfrm>
              <a:prstGeom prst="rect">
                <a:avLst/>
              </a:prstGeom>
              <a:blipFill>
                <a:blip r:embed="rId2"/>
                <a:stretch>
                  <a:fillRect l="-672" t="-368" b="-552"/>
                </a:stretch>
              </a:blipFill>
            </p:spPr>
            <p:txBody>
              <a:bodyPr/>
              <a:lstStyle/>
              <a:p>
                <a:r>
                  <a:rPr lang="en-US">
                    <a:noFill/>
                  </a:rPr>
                  <a:t> </a:t>
                </a:r>
              </a:p>
            </p:txBody>
          </p:sp>
        </mc:Fallback>
      </mc:AlternateContent>
    </p:spTree>
    <p:extLst>
      <p:ext uri="{BB962C8B-B14F-4D97-AF65-F5344CB8AC3E}">
        <p14:creationId xmlns:p14="http://schemas.microsoft.com/office/powerpoint/2010/main" val="1580121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651DBFF-E494-BBCD-A29B-9E0CE8292CF1}"/>
              </a:ext>
            </a:extLst>
          </p:cNvPr>
          <p:cNvSpPr txBox="1"/>
          <p:nvPr/>
        </p:nvSpPr>
        <p:spPr>
          <a:xfrm>
            <a:off x="719572" y="692696"/>
            <a:ext cx="7704856" cy="5337808"/>
          </a:xfrm>
          <a:prstGeom prst="rect">
            <a:avLst/>
          </a:prstGeom>
          <a:noFill/>
        </p:spPr>
        <p:txBody>
          <a:bodyPr wrap="square">
            <a:spAutoFit/>
          </a:bodyPr>
          <a:lstStyle/>
          <a:p>
            <a:pPr>
              <a:lnSpc>
                <a:spcPct val="107000"/>
              </a:lnSpc>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Weibull distribution</a:t>
            </a:r>
          </a:p>
          <a:p>
            <a:pPr>
              <a:lnSpc>
                <a:spcPct val="107000"/>
              </a:lnSpc>
              <a:spcAft>
                <a:spcPts val="800"/>
              </a:spcAft>
            </a:pPr>
            <a:endParaRPr lang="en-US" sz="2400" b="1"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The Weibull distribution is a versatile continuous probability distribution used widely in reliability analysis, survival analysis, and modeling lifetimes of products or time-to-failure data. Its flexibility allows it to model various types of failure rates, which makes it valuable in fields like engineering, medicine, and risk management.</a:t>
            </a:r>
          </a:p>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Definition and Parameters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The Weibull distribution has two primary parameters:</a:t>
            </a: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Shape parameter (</a:t>
            </a:r>
            <a:r>
              <a:rPr lang="en-US" sz="1800" b="1" i="1" dirty="0">
                <a:effectLst/>
                <a:latin typeface="Calibri" panose="020F0502020204030204" pitchFamily="34" charset="0"/>
                <a:ea typeface="Calibri" panose="020F0502020204030204" pitchFamily="34" charset="0"/>
                <a:cs typeface="Arial" panose="020B0604020202020204" pitchFamily="34" charset="0"/>
              </a:rPr>
              <a:t>k</a:t>
            </a:r>
            <a:r>
              <a:rPr lang="en-US" sz="1800" b="1" dirty="0">
                <a:effectLst/>
                <a:latin typeface="Calibri" panose="020F0502020204030204" pitchFamily="34" charset="0"/>
                <a:ea typeface="Calibri" panose="020F0502020204030204" pitchFamily="34" charset="0"/>
                <a:cs typeface="Arial" panose="020B0604020202020204" pitchFamily="34" charset="0"/>
              </a:rPr>
              <a:t>)</a:t>
            </a:r>
            <a:r>
              <a:rPr lang="en-US" sz="1800" dirty="0">
                <a:effectLst/>
                <a:latin typeface="Calibri" panose="020F0502020204030204" pitchFamily="34" charset="0"/>
                <a:ea typeface="Calibri" panose="020F0502020204030204" pitchFamily="34" charset="0"/>
                <a:cs typeface="Arial" panose="020B0604020202020204" pitchFamily="34" charset="0"/>
              </a:rPr>
              <a:t>: Determines the shape of the distribution. It is often referred to as the Weibull slope. Different values of </a:t>
            </a:r>
            <a:r>
              <a:rPr lang="en-US" sz="1800" i="1" dirty="0">
                <a:effectLst/>
                <a:latin typeface="Calibri" panose="020F0502020204030204" pitchFamily="34" charset="0"/>
                <a:ea typeface="Calibri" panose="020F0502020204030204" pitchFamily="34" charset="0"/>
                <a:cs typeface="Arial" panose="020B0604020202020204" pitchFamily="34" charset="0"/>
              </a:rPr>
              <a:t>k</a:t>
            </a:r>
            <a:r>
              <a:rPr lang="en-US" sz="1800" dirty="0">
                <a:effectLst/>
                <a:latin typeface="Calibri" panose="020F0502020204030204" pitchFamily="34" charset="0"/>
                <a:ea typeface="Calibri" panose="020F0502020204030204" pitchFamily="34" charset="0"/>
                <a:cs typeface="Arial" panose="020B0604020202020204" pitchFamily="34" charset="0"/>
              </a:rPr>
              <a:t> result in different behaviors of the distribution.</a:t>
            </a: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Scale parameter (</a:t>
            </a:r>
            <a:r>
              <a:rPr lang="en-US" sz="1800" b="1" i="1" dirty="0">
                <a:effectLst/>
                <a:latin typeface="Calibri" panose="020F0502020204030204" pitchFamily="34" charset="0"/>
                <a:ea typeface="Calibri" panose="020F0502020204030204" pitchFamily="34" charset="0"/>
                <a:cs typeface="Arial" panose="020B0604020202020204" pitchFamily="34" charset="0"/>
              </a:rPr>
              <a:t>λ</a:t>
            </a:r>
            <a:r>
              <a:rPr lang="en-US" sz="1800" b="1" dirty="0">
                <a:effectLst/>
                <a:latin typeface="Calibri" panose="020F0502020204030204" pitchFamily="34" charset="0"/>
                <a:ea typeface="Calibri" panose="020F0502020204030204" pitchFamily="34" charset="0"/>
                <a:cs typeface="Arial" panose="020B0604020202020204" pitchFamily="34" charset="0"/>
              </a:rPr>
              <a:t>)</a:t>
            </a:r>
            <a:r>
              <a:rPr lang="en-US" sz="1800" dirty="0">
                <a:effectLst/>
                <a:latin typeface="Calibri" panose="020F0502020204030204" pitchFamily="34" charset="0"/>
                <a:ea typeface="Calibri" panose="020F0502020204030204" pitchFamily="34" charset="0"/>
                <a:cs typeface="Arial" panose="020B0604020202020204" pitchFamily="34" charset="0"/>
              </a:rPr>
              <a:t>: Determines the scale or spread of the distribution. This is a measure of the distribution’s scale and is analogous to the mean or median in some cases.</a:t>
            </a:r>
          </a:p>
        </p:txBody>
      </p:sp>
    </p:spTree>
    <p:extLst>
      <p:ext uri="{BB962C8B-B14F-4D97-AF65-F5344CB8AC3E}">
        <p14:creationId xmlns:p14="http://schemas.microsoft.com/office/powerpoint/2010/main" val="3567613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3F43701-2633-F64A-389A-F359574A699C}"/>
              </a:ext>
            </a:extLst>
          </p:cNvPr>
          <p:cNvSpPr txBox="1"/>
          <p:nvPr/>
        </p:nvSpPr>
        <p:spPr>
          <a:xfrm>
            <a:off x="503548" y="512676"/>
            <a:ext cx="8208912" cy="4262514"/>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Probability Density Function (PDF)</a:t>
            </a:r>
            <a:r>
              <a:rPr lang="en-US" sz="1800" dirty="0">
                <a:effectLst/>
                <a:latin typeface="Calibri" panose="020F0502020204030204" pitchFamily="34" charset="0"/>
                <a:ea typeface="Calibri" panose="020F0502020204030204" pitchFamily="34" charset="0"/>
                <a:cs typeface="Arial" panose="020B0604020202020204" pitchFamily="34" charset="0"/>
              </a:rPr>
              <a:t> for a variable </a:t>
            </a:r>
            <a:r>
              <a:rPr lang="en-US" sz="1800" i="1" dirty="0">
                <a:effectLst/>
                <a:latin typeface="Calibri" panose="020F0502020204030204" pitchFamily="34" charset="0"/>
                <a:ea typeface="Calibri" panose="020F0502020204030204" pitchFamily="34" charset="0"/>
                <a:cs typeface="Arial" panose="020B0604020202020204" pitchFamily="34" charset="0"/>
              </a:rPr>
              <a:t>X </a:t>
            </a:r>
            <a:r>
              <a:rPr lang="en-US" sz="1800" dirty="0">
                <a:effectLst/>
                <a:latin typeface="Calibri" panose="020F0502020204030204" pitchFamily="34" charset="0"/>
                <a:ea typeface="Calibri" panose="020F0502020204030204" pitchFamily="34" charset="0"/>
                <a:cs typeface="Arial" panose="020B0604020202020204" pitchFamily="34" charset="0"/>
              </a:rPr>
              <a:t>with shape </a:t>
            </a:r>
            <a:r>
              <a:rPr lang="en-US" sz="1800" i="1" dirty="0">
                <a:effectLst/>
                <a:latin typeface="Calibri" panose="020F0502020204030204" pitchFamily="34" charset="0"/>
                <a:ea typeface="Calibri" panose="020F0502020204030204" pitchFamily="34" charset="0"/>
                <a:cs typeface="Arial" panose="020B0604020202020204" pitchFamily="34" charset="0"/>
              </a:rPr>
              <a:t>k</a:t>
            </a:r>
            <a:r>
              <a:rPr lang="en-US" sz="1800" dirty="0">
                <a:effectLst/>
                <a:latin typeface="Calibri" panose="020F0502020204030204" pitchFamily="34" charset="0"/>
                <a:ea typeface="Calibri" panose="020F0502020204030204" pitchFamily="34" charset="0"/>
                <a:cs typeface="Arial" panose="020B0604020202020204" pitchFamily="34" charset="0"/>
              </a:rPr>
              <a:t> and scale </a:t>
            </a:r>
            <a:r>
              <a:rPr lang="en-US" sz="1800" i="1" dirty="0">
                <a:effectLst/>
                <a:latin typeface="Calibri" panose="020F0502020204030204" pitchFamily="34" charset="0"/>
                <a:ea typeface="Calibri" panose="020F0502020204030204" pitchFamily="34" charset="0"/>
                <a:cs typeface="Arial" panose="020B0604020202020204" pitchFamily="34" charset="0"/>
              </a:rPr>
              <a:t>λ</a:t>
            </a:r>
            <a:r>
              <a:rPr lang="en-US" sz="1800" dirty="0">
                <a:effectLst/>
                <a:latin typeface="Calibri" panose="020F0502020204030204" pitchFamily="34" charset="0"/>
                <a:ea typeface="Calibri" panose="020F0502020204030204" pitchFamily="34" charset="0"/>
                <a:cs typeface="Arial" panose="020B0604020202020204" pitchFamily="34" charset="0"/>
              </a:rPr>
              <a:t> is defined as:</a:t>
            </a:r>
          </a:p>
          <a:p>
            <a:pPr>
              <a:lnSpc>
                <a:spcPct val="107000"/>
              </a:lnSpc>
              <a:spcAft>
                <a:spcPts val="800"/>
              </a:spcAft>
            </a:pP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endParaRPr lang="en-US" sz="1800" b="1"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Key Properties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Mean</a:t>
            </a:r>
            <a:r>
              <a:rPr lang="en-US" sz="1800" dirty="0">
                <a:effectLst/>
                <a:latin typeface="Calibri" panose="020F0502020204030204" pitchFamily="34" charset="0"/>
                <a:ea typeface="Calibri" panose="020F0502020204030204" pitchFamily="34" charset="0"/>
                <a:cs typeface="Arial" panose="020B0604020202020204" pitchFamily="34" charset="0"/>
              </a:rPr>
              <a:t>: The mean </a:t>
            </a:r>
            <a:r>
              <a:rPr lang="en-US" sz="1800" dirty="0">
                <a:effectLst/>
                <a:latin typeface="Calibri" panose="020F0502020204030204" pitchFamily="34" charset="0"/>
                <a:ea typeface="Calibri" panose="020F0502020204030204" pitchFamily="34" charset="0"/>
                <a:cs typeface="Arial" panose="020B0604020202020204" pitchFamily="34" charset="0"/>
                <a:sym typeface="Symbol" panose="05050102010706020507" pitchFamily="18" charset="2"/>
              </a:rPr>
              <a:t>E</a:t>
            </a:r>
            <a:r>
              <a:rPr lang="en-US" sz="1800" dirty="0">
                <a:effectLst/>
                <a:latin typeface="Calibri" panose="020F0502020204030204" pitchFamily="34" charset="0"/>
                <a:ea typeface="Calibri" panose="020F0502020204030204" pitchFamily="34" charset="0"/>
                <a:cs typeface="Arial" panose="020B0604020202020204" pitchFamily="34" charset="0"/>
              </a:rPr>
              <a:t>(X) of a Weibull-distributed variable is given by:</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where </a:t>
            </a:r>
            <a:r>
              <a:rPr lang="en-US" sz="1800" dirty="0">
                <a:effectLst/>
                <a:latin typeface="Calibri" panose="020F0502020204030204" pitchFamily="34" charset="0"/>
                <a:ea typeface="Calibri" panose="020F0502020204030204" pitchFamily="34" charset="0"/>
                <a:cs typeface="Arial" panose="020B0604020202020204" pitchFamily="34" charset="0"/>
                <a:sym typeface="Symbol" panose="05050102010706020507" pitchFamily="18" charset="2"/>
              </a:rPr>
              <a:t></a:t>
            </a:r>
            <a:r>
              <a:rPr lang="en-US" sz="1800" dirty="0">
                <a:effectLst/>
                <a:latin typeface="Calibri" panose="020F0502020204030204" pitchFamily="34" charset="0"/>
                <a:ea typeface="Calibri" panose="020F0502020204030204" pitchFamily="34" charset="0"/>
                <a:cs typeface="Arial" panose="020B0604020202020204" pitchFamily="34" charset="0"/>
              </a:rPr>
              <a:t> is the gamma function.</a:t>
            </a: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Variance</a:t>
            </a:r>
            <a:r>
              <a:rPr lang="en-US" sz="1800" dirty="0">
                <a:effectLst/>
                <a:latin typeface="Calibri" panose="020F0502020204030204" pitchFamily="34" charset="0"/>
                <a:ea typeface="Calibri" panose="020F0502020204030204" pitchFamily="34" charset="0"/>
                <a:cs typeface="Arial" panose="020B0604020202020204" pitchFamily="34" charset="0"/>
              </a:rPr>
              <a:t>: The variance Var(X) is:</a:t>
            </a:r>
          </a:p>
          <a:p>
            <a:pPr lvl="0">
              <a:lnSpc>
                <a:spcPct val="107000"/>
              </a:lnSpc>
              <a:spcAft>
                <a:spcPts val="800"/>
              </a:spcAft>
              <a:buSzPts val="1000"/>
              <a:tabLst>
                <a:tab pos="457200" algn="l"/>
              </a:tabLst>
            </a:pP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xmlns="" id="{27E16310-7E73-5516-1270-7CA4545955B1}"/>
              </a:ext>
            </a:extLst>
          </p:cNvPr>
          <p:cNvPicPr>
            <a:picLocks noChangeAspect="1"/>
          </p:cNvPicPr>
          <p:nvPr/>
        </p:nvPicPr>
        <p:blipFill>
          <a:blip r:embed="rId2"/>
          <a:stretch>
            <a:fillRect/>
          </a:stretch>
        </p:blipFill>
        <p:spPr>
          <a:xfrm>
            <a:off x="2231740" y="944724"/>
            <a:ext cx="4029637" cy="885949"/>
          </a:xfrm>
          <a:prstGeom prst="rect">
            <a:avLst/>
          </a:prstGeom>
        </p:spPr>
      </p:pic>
      <p:pic>
        <p:nvPicPr>
          <p:cNvPr id="7" name="Picture 6">
            <a:extLst>
              <a:ext uri="{FF2B5EF4-FFF2-40B4-BE49-F238E27FC236}">
                <a16:creationId xmlns:a16="http://schemas.microsoft.com/office/drawing/2014/main" xmlns="" id="{229B417A-707E-A1DF-9A36-4F45806E88C5}"/>
              </a:ext>
            </a:extLst>
          </p:cNvPr>
          <p:cNvPicPr>
            <a:picLocks noChangeAspect="1"/>
          </p:cNvPicPr>
          <p:nvPr/>
        </p:nvPicPr>
        <p:blipFill>
          <a:blip r:embed="rId3"/>
          <a:stretch>
            <a:fillRect/>
          </a:stretch>
        </p:blipFill>
        <p:spPr>
          <a:xfrm>
            <a:off x="3239852" y="2708920"/>
            <a:ext cx="2448267" cy="571580"/>
          </a:xfrm>
          <a:prstGeom prst="rect">
            <a:avLst/>
          </a:prstGeom>
        </p:spPr>
      </p:pic>
      <p:pic>
        <p:nvPicPr>
          <p:cNvPr id="9" name="Picture 8">
            <a:extLst>
              <a:ext uri="{FF2B5EF4-FFF2-40B4-BE49-F238E27FC236}">
                <a16:creationId xmlns:a16="http://schemas.microsoft.com/office/drawing/2014/main" xmlns="" id="{C241F84F-97DE-3339-ED9D-EB246E3D77EC}"/>
              </a:ext>
            </a:extLst>
          </p:cNvPr>
          <p:cNvPicPr>
            <a:picLocks noChangeAspect="1"/>
          </p:cNvPicPr>
          <p:nvPr/>
        </p:nvPicPr>
        <p:blipFill>
          <a:blip r:embed="rId4"/>
          <a:stretch>
            <a:fillRect/>
          </a:stretch>
        </p:blipFill>
        <p:spPr>
          <a:xfrm>
            <a:off x="2255000" y="4025770"/>
            <a:ext cx="4706007" cy="800212"/>
          </a:xfrm>
          <a:prstGeom prst="rect">
            <a:avLst/>
          </a:prstGeom>
        </p:spPr>
      </p:pic>
    </p:spTree>
    <p:extLst>
      <p:ext uri="{BB962C8B-B14F-4D97-AF65-F5344CB8AC3E}">
        <p14:creationId xmlns:p14="http://schemas.microsoft.com/office/powerpoint/2010/main" val="3614741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BF2AB3B-BFDD-BC20-D41E-365381C12FD7}"/>
              </a:ext>
            </a:extLst>
          </p:cNvPr>
          <p:cNvSpPr txBox="1"/>
          <p:nvPr/>
        </p:nvSpPr>
        <p:spPr>
          <a:xfrm>
            <a:off x="827584" y="1569164"/>
            <a:ext cx="7380820" cy="3749553"/>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Interpreting the Shape Parameter </a:t>
            </a:r>
            <a:r>
              <a:rPr lang="en-US" sz="1800" b="1" i="1" dirty="0">
                <a:effectLst/>
                <a:latin typeface="Calibri" panose="020F0502020204030204" pitchFamily="34" charset="0"/>
                <a:ea typeface="Calibri" panose="020F0502020204030204" pitchFamily="34" charset="0"/>
                <a:cs typeface="Arial" panose="020B0604020202020204" pitchFamily="34" charset="0"/>
              </a:rPr>
              <a:t>k</a:t>
            </a:r>
            <a:endParaRPr lang="en-US" sz="1800" i="1"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The shape parameter </a:t>
            </a:r>
            <a:r>
              <a:rPr lang="en-US" sz="1800" i="1" dirty="0">
                <a:effectLst/>
                <a:latin typeface="Calibri" panose="020F0502020204030204" pitchFamily="34" charset="0"/>
                <a:ea typeface="Calibri" panose="020F0502020204030204" pitchFamily="34" charset="0"/>
                <a:cs typeface="Arial" panose="020B0604020202020204" pitchFamily="34" charset="0"/>
              </a:rPr>
              <a:t>k</a:t>
            </a:r>
            <a:r>
              <a:rPr lang="en-US" sz="1800" dirty="0">
                <a:effectLst/>
                <a:latin typeface="Calibri" panose="020F0502020204030204" pitchFamily="34" charset="0"/>
                <a:ea typeface="Calibri" panose="020F0502020204030204" pitchFamily="34" charset="0"/>
                <a:cs typeface="Arial" panose="020B0604020202020204" pitchFamily="34" charset="0"/>
              </a:rPr>
              <a:t> significantly impacts the form of the Weibull distribution:</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i="1" dirty="0">
                <a:effectLst/>
                <a:latin typeface="Calibri" panose="020F0502020204030204" pitchFamily="34" charset="0"/>
                <a:ea typeface="Calibri" panose="020F0502020204030204" pitchFamily="34" charset="0"/>
                <a:cs typeface="Arial" panose="020B0604020202020204" pitchFamily="34" charset="0"/>
              </a:rPr>
              <a:t>k</a:t>
            </a:r>
            <a:r>
              <a:rPr lang="en-US" sz="1800" b="1" dirty="0">
                <a:effectLst/>
                <a:latin typeface="Calibri" panose="020F0502020204030204" pitchFamily="34" charset="0"/>
                <a:ea typeface="Calibri" panose="020F0502020204030204" pitchFamily="34" charset="0"/>
                <a:cs typeface="Arial" panose="020B0604020202020204" pitchFamily="34" charset="0"/>
              </a:rPr>
              <a:t>&lt;1</a:t>
            </a:r>
            <a:r>
              <a:rPr lang="en-US" sz="1800" dirty="0">
                <a:effectLst/>
                <a:latin typeface="Calibri" panose="020F0502020204030204" pitchFamily="34" charset="0"/>
                <a:ea typeface="Calibri" panose="020F0502020204030204" pitchFamily="34" charset="0"/>
                <a:cs typeface="Arial" panose="020B0604020202020204" pitchFamily="34" charset="0"/>
              </a:rPr>
              <a:t>: Indicates a decreasing failure rate. This scenario is typical in infant mortality cases or products with an initial high failure rate that decreases over time as defective units fail early.</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i="1" dirty="0">
                <a:effectLst/>
                <a:latin typeface="Calibri" panose="020F0502020204030204" pitchFamily="34" charset="0"/>
                <a:ea typeface="Calibri" panose="020F0502020204030204" pitchFamily="34" charset="0"/>
                <a:cs typeface="Arial" panose="020B0604020202020204" pitchFamily="34" charset="0"/>
              </a:rPr>
              <a:t>k</a:t>
            </a:r>
            <a:r>
              <a:rPr lang="en-US" sz="1800" b="1" dirty="0">
                <a:effectLst/>
                <a:latin typeface="Calibri" panose="020F0502020204030204" pitchFamily="34" charset="0"/>
                <a:ea typeface="Calibri" panose="020F0502020204030204" pitchFamily="34" charset="0"/>
                <a:cs typeface="Arial" panose="020B0604020202020204" pitchFamily="34" charset="0"/>
              </a:rPr>
              <a:t>=1</a:t>
            </a:r>
            <a:r>
              <a:rPr lang="en-US" sz="1800" dirty="0">
                <a:effectLst/>
                <a:latin typeface="Calibri" panose="020F0502020204030204" pitchFamily="34" charset="0"/>
                <a:ea typeface="Calibri" panose="020F0502020204030204" pitchFamily="34" charset="0"/>
                <a:cs typeface="Arial" panose="020B0604020202020204" pitchFamily="34" charset="0"/>
              </a:rPr>
              <a:t>: Reduces the Weibull distribution to an exponential distribution, implying a constant failure rate. This is common in memoryless processes, where the failure rate remains constant over time.</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i="1" dirty="0">
                <a:effectLst/>
                <a:latin typeface="Calibri" panose="020F0502020204030204" pitchFamily="34" charset="0"/>
                <a:ea typeface="Calibri" panose="020F0502020204030204" pitchFamily="34" charset="0"/>
                <a:cs typeface="Arial" panose="020B0604020202020204" pitchFamily="34" charset="0"/>
              </a:rPr>
              <a:t>k</a:t>
            </a:r>
            <a:r>
              <a:rPr lang="en-US" sz="1800" b="1" dirty="0">
                <a:effectLst/>
                <a:latin typeface="Calibri" panose="020F0502020204030204" pitchFamily="34" charset="0"/>
                <a:ea typeface="Calibri" panose="020F0502020204030204" pitchFamily="34" charset="0"/>
                <a:cs typeface="Arial" panose="020B0604020202020204" pitchFamily="34" charset="0"/>
              </a:rPr>
              <a:t>&gt;1</a:t>
            </a:r>
            <a:r>
              <a:rPr lang="en-US" sz="1800" dirty="0">
                <a:effectLst/>
                <a:latin typeface="Calibri" panose="020F0502020204030204" pitchFamily="34" charset="0"/>
                <a:ea typeface="Calibri" panose="020F0502020204030204" pitchFamily="34" charset="0"/>
                <a:cs typeface="Arial" panose="020B0604020202020204" pitchFamily="34" charset="0"/>
              </a:rPr>
              <a:t>: Implies an increasing failure rate, which is typical in aging products where the likelihood of failure increases with time.</a:t>
            </a:r>
          </a:p>
        </p:txBody>
      </p:sp>
    </p:spTree>
    <p:extLst>
      <p:ext uri="{BB962C8B-B14F-4D97-AF65-F5344CB8AC3E}">
        <p14:creationId xmlns:p14="http://schemas.microsoft.com/office/powerpoint/2010/main" val="4238956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7F6A7C6-67E5-167B-ED99-93C5A5F18F42}"/>
              </a:ext>
            </a:extLst>
          </p:cNvPr>
          <p:cNvSpPr txBox="1"/>
          <p:nvPr/>
        </p:nvSpPr>
        <p:spPr>
          <a:xfrm>
            <a:off x="953598" y="611914"/>
            <a:ext cx="7614846" cy="5337808"/>
          </a:xfrm>
          <a:prstGeom prst="rect">
            <a:avLst/>
          </a:prstGeom>
          <a:noFill/>
        </p:spPr>
        <p:txBody>
          <a:bodyPr wrap="square">
            <a:spAutoFit/>
          </a:bodyPr>
          <a:lstStyle/>
          <a:p>
            <a:pPr>
              <a:lnSpc>
                <a:spcPct val="107000"/>
              </a:lnSpc>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Applications of the Weibull Distribution</a:t>
            </a:r>
          </a:p>
          <a:p>
            <a:pPr>
              <a:lnSpc>
                <a:spcPct val="107000"/>
              </a:lnSpc>
              <a:spcAft>
                <a:spcPts val="800"/>
              </a:spcAft>
            </a:pP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The Weibull distribution's flexibility makes it useful across various domains, especially in the analysis of time-to-failure data. Some notable applications include:</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Reliability Engineering and Failure Analysis</a:t>
            </a:r>
            <a:r>
              <a:rPr lang="en-US" sz="1800" dirty="0">
                <a:effectLst/>
                <a:latin typeface="Calibri" panose="020F0502020204030204" pitchFamily="34" charset="0"/>
                <a:ea typeface="Calibri" panose="020F0502020204030204" pitchFamily="34" charset="0"/>
                <a:cs typeface="Arial" panose="020B0604020202020204" pitchFamily="34" charset="0"/>
              </a:rPr>
              <a:t>: Used to model the lifespan of mechanical and electronic components. Engineers use it to predict product failure times and design maintenance schedules.</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Survival Analysis</a:t>
            </a:r>
            <a:r>
              <a:rPr lang="en-US" sz="1800" dirty="0">
                <a:effectLst/>
                <a:latin typeface="Calibri" panose="020F0502020204030204" pitchFamily="34" charset="0"/>
                <a:ea typeface="Calibri" panose="020F0502020204030204" pitchFamily="34" charset="0"/>
                <a:cs typeface="Arial" panose="020B0604020202020204" pitchFamily="34" charset="0"/>
              </a:rPr>
              <a:t>: In medical research, the Weibull distribution models time until an event, such as death or relapse, allowing researchers to understand disease progression.</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Wind Speed Modeling</a:t>
            </a:r>
            <a:r>
              <a:rPr lang="en-US" sz="1800" dirty="0">
                <a:effectLst/>
                <a:latin typeface="Calibri" panose="020F0502020204030204" pitchFamily="34" charset="0"/>
                <a:ea typeface="Calibri" panose="020F0502020204030204" pitchFamily="34" charset="0"/>
                <a:cs typeface="Arial" panose="020B0604020202020204" pitchFamily="34" charset="0"/>
              </a:rPr>
              <a:t>: The Weibull distribution models wind speeds and helps predict power generation from wind turbines.</a:t>
            </a: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Risk and Insurance</a:t>
            </a:r>
            <a:r>
              <a:rPr lang="en-US" sz="1800" dirty="0">
                <a:effectLst/>
                <a:latin typeface="Calibri" panose="020F0502020204030204" pitchFamily="34" charset="0"/>
                <a:ea typeface="Calibri" panose="020F0502020204030204" pitchFamily="34" charset="0"/>
                <a:cs typeface="Arial" panose="020B0604020202020204" pitchFamily="34" charset="0"/>
              </a:rPr>
              <a:t>: Insurers use the Weibull distribution to assess the risk of large claims based on the likelihood and timing of extreme losses.</a:t>
            </a:r>
          </a:p>
        </p:txBody>
      </p:sp>
    </p:spTree>
    <p:extLst>
      <p:ext uri="{BB962C8B-B14F-4D97-AF65-F5344CB8AC3E}">
        <p14:creationId xmlns:p14="http://schemas.microsoft.com/office/powerpoint/2010/main" val="3432881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457B5FF-3ADE-BD60-DFAD-689BE102A1D5}"/>
              </a:ext>
            </a:extLst>
          </p:cNvPr>
          <p:cNvSpPr txBox="1"/>
          <p:nvPr/>
        </p:nvSpPr>
        <p:spPr>
          <a:xfrm>
            <a:off x="827584" y="474345"/>
            <a:ext cx="7992888" cy="5632311"/>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Example: Predicting Time to Failure for Machine Components</a:t>
            </a:r>
          </a:p>
          <a:p>
            <a:endParaRPr lang="en-US" sz="1800" b="1"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Suppose an engineering team at a manufacturing plant wants to predict the failure times of a particular type of machine component (such as a bearing). Historical data shows that the time-to-failure distribution of these components follows a Weibull distribution, which allows them to understand and anticipate the different stages of the component's lifecycle.</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How the Weibull Distribution Applies</a:t>
            </a:r>
          </a:p>
          <a:p>
            <a:r>
              <a:rPr lang="en-US" sz="1800" b="1" dirty="0">
                <a:latin typeface="Calibri" panose="020F0502020204030204" pitchFamily="34" charset="0"/>
                <a:ea typeface="Calibri" panose="020F0502020204030204" pitchFamily="34" charset="0"/>
                <a:cs typeface="Calibri" panose="020F0502020204030204" pitchFamily="34" charset="0"/>
              </a:rPr>
              <a:t>Defining the Application</a:t>
            </a:r>
            <a:r>
              <a:rPr lang="en-US" sz="18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The time until a component fails is the variable of interest.</a:t>
            </a:r>
          </a:p>
          <a:p>
            <a:pPr marL="742950" lvl="1" indent="-28575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The engineering team wants to determine the probability of failure within a certain time to optimize maintenance schedules and minimize unexpected downtimes.</a:t>
            </a:r>
          </a:p>
          <a:p>
            <a:r>
              <a:rPr lang="en-US" sz="1800" b="1" dirty="0">
                <a:latin typeface="Calibri" panose="020F0502020204030204" pitchFamily="34" charset="0"/>
                <a:ea typeface="Calibri" panose="020F0502020204030204" pitchFamily="34" charset="0"/>
                <a:cs typeface="Calibri" panose="020F0502020204030204" pitchFamily="34" charset="0"/>
              </a:rPr>
              <a:t>Parameters</a:t>
            </a:r>
            <a:r>
              <a:rPr lang="en-US" sz="18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Based on historical data, the components have a </a:t>
            </a:r>
            <a:r>
              <a:rPr lang="en-US" sz="1800" b="1" dirty="0">
                <a:latin typeface="Calibri" panose="020F0502020204030204" pitchFamily="34" charset="0"/>
                <a:ea typeface="Calibri" panose="020F0502020204030204" pitchFamily="34" charset="0"/>
                <a:cs typeface="Calibri" panose="020F0502020204030204" pitchFamily="34" charset="0"/>
              </a:rPr>
              <a:t>shape parameter </a:t>
            </a:r>
            <a:r>
              <a:rPr lang="en-US" sz="1800" b="1" i="1" dirty="0">
                <a:latin typeface="Calibri" panose="020F0502020204030204" pitchFamily="34" charset="0"/>
                <a:ea typeface="Calibri" panose="020F0502020204030204" pitchFamily="34" charset="0"/>
                <a:cs typeface="Calibri" panose="020F0502020204030204" pitchFamily="34" charset="0"/>
              </a:rPr>
              <a:t>k</a:t>
            </a:r>
            <a:r>
              <a:rPr lang="en-US" sz="1800" b="1" dirty="0">
                <a:latin typeface="Calibri" panose="020F0502020204030204" pitchFamily="34" charset="0"/>
                <a:ea typeface="Calibri" panose="020F0502020204030204" pitchFamily="34" charset="0"/>
                <a:cs typeface="Calibri" panose="020F0502020204030204" pitchFamily="34" charset="0"/>
              </a:rPr>
              <a:t>=1.5</a:t>
            </a:r>
            <a:r>
              <a:rPr lang="en-US" sz="1800" dirty="0">
                <a:latin typeface="Calibri" panose="020F0502020204030204" pitchFamily="34" charset="0"/>
                <a:ea typeface="Calibri" panose="020F0502020204030204" pitchFamily="34" charset="0"/>
                <a:cs typeface="Calibri" panose="020F0502020204030204" pitchFamily="34" charset="0"/>
              </a:rPr>
              <a:t>, which indicates an increasing failure rate over time (common for parts that wear out).</a:t>
            </a:r>
          </a:p>
          <a:p>
            <a:pPr marL="742950" lvl="1" indent="-28575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The </a:t>
            </a:r>
            <a:r>
              <a:rPr lang="en-US" sz="1800" b="1" dirty="0">
                <a:latin typeface="Calibri" panose="020F0502020204030204" pitchFamily="34" charset="0"/>
                <a:ea typeface="Calibri" panose="020F0502020204030204" pitchFamily="34" charset="0"/>
                <a:cs typeface="Calibri" panose="020F0502020204030204" pitchFamily="34" charset="0"/>
              </a:rPr>
              <a:t>scale parameter λ=1000 hours</a:t>
            </a:r>
            <a:r>
              <a:rPr lang="en-US" sz="1800" dirty="0">
                <a:latin typeface="Calibri" panose="020F0502020204030204" pitchFamily="34" charset="0"/>
                <a:ea typeface="Calibri" panose="020F0502020204030204" pitchFamily="34" charset="0"/>
                <a:cs typeface="Calibri" panose="020F0502020204030204" pitchFamily="34" charset="0"/>
              </a:rPr>
              <a:t>, meaning components typically last around 1000 hours.</a:t>
            </a:r>
          </a:p>
        </p:txBody>
      </p:sp>
    </p:spTree>
    <p:extLst>
      <p:ext uri="{BB962C8B-B14F-4D97-AF65-F5344CB8AC3E}">
        <p14:creationId xmlns:p14="http://schemas.microsoft.com/office/powerpoint/2010/main" val="335230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60E7AC6-FE23-0CFE-4C90-D3491E10E283}"/>
              </a:ext>
            </a:extLst>
          </p:cNvPr>
          <p:cNvSpPr txBox="1"/>
          <p:nvPr/>
        </p:nvSpPr>
        <p:spPr>
          <a:xfrm>
            <a:off x="485546" y="548680"/>
            <a:ext cx="8172908" cy="5846922"/>
          </a:xfrm>
          <a:prstGeom prst="rect">
            <a:avLst/>
          </a:prstGeom>
          <a:noFill/>
        </p:spPr>
        <p:txBody>
          <a:bodyPr wrap="square">
            <a:spAutoFit/>
          </a:bodyPr>
          <a:lstStyle/>
          <a:p>
            <a:pPr lvl="0">
              <a:lnSpc>
                <a:spcPct val="107000"/>
              </a:lnSpc>
              <a:spcAft>
                <a:spcPts val="800"/>
              </a:spcAft>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Using the Weibull Distribution</a:t>
            </a:r>
            <a:r>
              <a:rPr lang="en-US" sz="18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With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k</a:t>
            </a:r>
            <a:r>
              <a:rPr lang="en-US" sz="1800" dirty="0">
                <a:effectLst/>
                <a:latin typeface="Calibri" panose="020F0502020204030204" pitchFamily="34" charset="0"/>
                <a:ea typeface="Calibri" panose="020F0502020204030204" pitchFamily="34" charset="0"/>
                <a:cs typeface="Times New Roman" panose="02020603050405020304" pitchFamily="18" charset="0"/>
              </a:rPr>
              <a:t>=1.5 and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λ</a:t>
            </a:r>
            <a:r>
              <a:rPr lang="en-US" sz="1800" dirty="0">
                <a:effectLst/>
                <a:latin typeface="Calibri" panose="020F0502020204030204" pitchFamily="34" charset="0"/>
                <a:ea typeface="Calibri" panose="020F0502020204030204" pitchFamily="34" charset="0"/>
                <a:cs typeface="Times New Roman" panose="02020603050405020304" pitchFamily="18" charset="0"/>
              </a:rPr>
              <a:t>=1000, the Weibull distribution describes the failure probability over time.</a:t>
            </a:r>
          </a:p>
          <a:p>
            <a:pPr marL="742950" lvl="1" indent="-285750">
              <a:lnSpc>
                <a:spcPct val="107000"/>
              </a:lnSpc>
              <a:spcAft>
                <a:spcPts val="800"/>
              </a:spcAft>
              <a:buSzPts val="1000"/>
              <a:buFont typeface="Courier New" panose="02070309020205020404" pitchFamily="49" charset="0"/>
              <a:buChar char="o"/>
              <a:tabLst>
                <a:tab pos="9144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Engineers can calculate the probability that a component will fail by a certain time, or conversely, the likelihood it will survive past that time.</a:t>
            </a:r>
          </a:p>
          <a:p>
            <a:pPr>
              <a:lnSpc>
                <a:spcPct val="107000"/>
              </a:lnSpc>
              <a:spcAft>
                <a:spcPts val="800"/>
              </a:spcAft>
            </a:pPr>
            <a:r>
              <a:rPr lang="en-US" sz="1800" b="1" dirty="0">
                <a:effectLst/>
                <a:latin typeface="Calibri" panose="020F0502020204030204" pitchFamily="34" charset="0"/>
                <a:ea typeface="Calibri" panose="020F0502020204030204" pitchFamily="34" charset="0"/>
                <a:cs typeface="Arial" panose="020B0604020202020204" pitchFamily="34" charset="0"/>
              </a:rPr>
              <a:t>Calculations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Probability of a component failing within the first 800 hours</a:t>
            </a:r>
            <a:r>
              <a:rPr lang="en-US" sz="1800" dirty="0">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This calculation shows about a 32.9% chance that a component will fail within 800 hours of operation.</a:t>
            </a: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Expected Time by which 90% of components will have failed</a:t>
            </a: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lvl="0">
              <a:lnSpc>
                <a:spcPct val="107000"/>
              </a:lnSpc>
              <a:spcAft>
                <a:spcPts val="800"/>
              </a:spcAft>
              <a:buSzPts val="1000"/>
              <a:tabLst>
                <a:tab pos="457200" algn="l"/>
              </a:tabLst>
            </a:pPr>
            <a:r>
              <a:rPr lang="en-US" sz="1800" dirty="0">
                <a:effectLst/>
                <a:latin typeface="Calibri" panose="020F0502020204030204" pitchFamily="34" charset="0"/>
                <a:ea typeface="Calibri" panose="020F0502020204030204" pitchFamily="34" charset="0"/>
                <a:cs typeface="Arial" panose="020B0604020202020204" pitchFamily="34" charset="0"/>
              </a:rPr>
              <a:t>For time </a:t>
            </a:r>
            <a:r>
              <a:rPr lang="en-US" sz="1800" i="1" dirty="0">
                <a:effectLst/>
                <a:latin typeface="Calibri" panose="020F0502020204030204" pitchFamily="34" charset="0"/>
                <a:ea typeface="Calibri" panose="020F0502020204030204" pitchFamily="34" charset="0"/>
                <a:cs typeface="Arial" panose="020B0604020202020204" pitchFamily="34" charset="0"/>
              </a:rPr>
              <a:t>t</a:t>
            </a:r>
            <a:r>
              <a:rPr lang="en-US" sz="1800" dirty="0">
                <a:effectLst/>
                <a:latin typeface="Calibri" panose="020F0502020204030204" pitchFamily="34" charset="0"/>
                <a:ea typeface="Calibri" panose="020F0502020204030204" pitchFamily="34" charset="0"/>
                <a:cs typeface="Arial" panose="020B0604020202020204" pitchFamily="34" charset="0"/>
              </a:rPr>
              <a:t> when F(</a:t>
            </a:r>
            <a:r>
              <a:rPr lang="en-US" sz="1800" i="1" dirty="0">
                <a:effectLst/>
                <a:latin typeface="Calibri" panose="020F0502020204030204" pitchFamily="34" charset="0"/>
                <a:ea typeface="Calibri" panose="020F0502020204030204" pitchFamily="34" charset="0"/>
                <a:cs typeface="Arial" panose="020B0604020202020204" pitchFamily="34" charset="0"/>
              </a:rPr>
              <a:t>t</a:t>
            </a:r>
            <a:r>
              <a:rPr lang="en-US" sz="1800" dirty="0">
                <a:effectLst/>
                <a:latin typeface="Calibri" panose="020F0502020204030204" pitchFamily="34" charset="0"/>
                <a:ea typeface="Calibri" panose="020F0502020204030204" pitchFamily="34" charset="0"/>
                <a:cs typeface="Arial" panose="020B0604020202020204" pitchFamily="34" charset="0"/>
              </a:rPr>
              <a:t>)=0.9 to find the time by which 90% of components are expected to fail:</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Solving this equation gives t≈1631 hours, meaning that 90% of components are expected to fail by around 1631 hours.</a:t>
            </a:r>
          </a:p>
        </p:txBody>
      </p:sp>
      <p:pic>
        <p:nvPicPr>
          <p:cNvPr id="4" name="Picture 3">
            <a:extLst>
              <a:ext uri="{FF2B5EF4-FFF2-40B4-BE49-F238E27FC236}">
                <a16:creationId xmlns:a16="http://schemas.microsoft.com/office/drawing/2014/main" xmlns="" id="{B1F398EA-10AF-4A96-7D73-B27AF5CC766A}"/>
              </a:ext>
            </a:extLst>
          </p:cNvPr>
          <p:cNvPicPr>
            <a:picLocks noChangeAspect="1"/>
          </p:cNvPicPr>
          <p:nvPr/>
        </p:nvPicPr>
        <p:blipFill>
          <a:blip r:embed="rId2"/>
          <a:stretch>
            <a:fillRect/>
          </a:stretch>
        </p:blipFill>
        <p:spPr>
          <a:xfrm>
            <a:off x="2857260" y="3032956"/>
            <a:ext cx="3429479" cy="523948"/>
          </a:xfrm>
          <a:prstGeom prst="rect">
            <a:avLst/>
          </a:prstGeom>
        </p:spPr>
      </p:pic>
      <p:pic>
        <p:nvPicPr>
          <p:cNvPr id="6" name="Picture 5">
            <a:extLst>
              <a:ext uri="{FF2B5EF4-FFF2-40B4-BE49-F238E27FC236}">
                <a16:creationId xmlns:a16="http://schemas.microsoft.com/office/drawing/2014/main" xmlns="" id="{4903C8D6-3D8E-5506-7B07-78E23691C6AC}"/>
              </a:ext>
            </a:extLst>
          </p:cNvPr>
          <p:cNvPicPr>
            <a:picLocks noChangeAspect="1"/>
          </p:cNvPicPr>
          <p:nvPr/>
        </p:nvPicPr>
        <p:blipFill>
          <a:blip r:embed="rId3"/>
          <a:stretch>
            <a:fillRect/>
          </a:stretch>
        </p:blipFill>
        <p:spPr>
          <a:xfrm>
            <a:off x="3383868" y="5157192"/>
            <a:ext cx="2057687" cy="447737"/>
          </a:xfrm>
          <a:prstGeom prst="rect">
            <a:avLst/>
          </a:prstGeom>
        </p:spPr>
      </p:pic>
    </p:spTree>
    <p:extLst>
      <p:ext uri="{BB962C8B-B14F-4D97-AF65-F5344CB8AC3E}">
        <p14:creationId xmlns:p14="http://schemas.microsoft.com/office/powerpoint/2010/main" val="1838715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F83252A-1C2D-E487-F840-3A464133F763}"/>
              </a:ext>
            </a:extLst>
          </p:cNvPr>
          <p:cNvSpPr txBox="1"/>
          <p:nvPr/>
        </p:nvSpPr>
        <p:spPr>
          <a:xfrm>
            <a:off x="949288" y="1268760"/>
            <a:ext cx="7488832" cy="3255635"/>
          </a:xfrm>
          <a:prstGeom prst="rect">
            <a:avLst/>
          </a:prstGeom>
          <a:noFill/>
        </p:spPr>
        <p:txBody>
          <a:bodyPr wrap="square">
            <a:spAutoFit/>
          </a:bodyPr>
          <a:lstStyle/>
          <a:p>
            <a:pPr>
              <a:lnSpc>
                <a:spcPct val="107000"/>
              </a:lnSpc>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Interpretation and Usage</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Preventive Maintenance Planning</a:t>
            </a:r>
            <a:r>
              <a:rPr lang="en-US" sz="1800" dirty="0">
                <a:effectLst/>
                <a:latin typeface="Calibri" panose="020F0502020204030204" pitchFamily="34" charset="0"/>
                <a:ea typeface="Calibri" panose="020F0502020204030204" pitchFamily="34" charset="0"/>
                <a:cs typeface="Arial" panose="020B0604020202020204" pitchFamily="34" charset="0"/>
              </a:rPr>
              <a:t>: If the goal is to perform preventive maintenance before a high probability of failure, the engineering team might plan to replace components around the 1000-hour mark or even sooner, reducing the chance of unexpected failures.</a:t>
            </a:r>
          </a:p>
          <a:p>
            <a:pPr lvl="0">
              <a:lnSpc>
                <a:spcPct val="107000"/>
              </a:lnSpc>
              <a:spcAft>
                <a:spcPts val="800"/>
              </a:spcAft>
              <a:buSzPts val="1000"/>
              <a:tabLst>
                <a:tab pos="457200" algn="l"/>
              </a:tabLst>
            </a:pP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Arial" panose="020B0604020202020204" pitchFamily="34" charset="0"/>
              </a:rPr>
              <a:t>Resource Allocation</a:t>
            </a:r>
            <a:r>
              <a:rPr lang="en-US" sz="1800" dirty="0">
                <a:effectLst/>
                <a:latin typeface="Calibri" panose="020F0502020204030204" pitchFamily="34" charset="0"/>
                <a:ea typeface="Calibri" panose="020F0502020204030204" pitchFamily="34" charset="0"/>
                <a:cs typeface="Arial" panose="020B0604020202020204" pitchFamily="34" charset="0"/>
              </a:rPr>
              <a:t>: Understanding the expected time to failure can help in stocking replacement parts and scheduling maintenance personnel effectively.</a:t>
            </a:r>
          </a:p>
        </p:txBody>
      </p:sp>
    </p:spTree>
    <p:extLst>
      <p:ext uri="{BB962C8B-B14F-4D97-AF65-F5344CB8AC3E}">
        <p14:creationId xmlns:p14="http://schemas.microsoft.com/office/powerpoint/2010/main" val="375291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5A44839-1DAB-0748-0543-0E4569DD6D18}"/>
              </a:ext>
            </a:extLst>
          </p:cNvPr>
          <p:cNvSpPr txBox="1"/>
          <p:nvPr/>
        </p:nvSpPr>
        <p:spPr>
          <a:xfrm>
            <a:off x="1043608" y="1376772"/>
            <a:ext cx="7344816" cy="2215991"/>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Exponential distribution</a:t>
            </a:r>
          </a:p>
          <a:p>
            <a:endParaRPr lang="en-US" sz="2400" b="1"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The exponential distribution is a continuous probability distribution often used to model the time between independent events that occur at a constant average rate. It is especially useful in reliability engineering, queuing theory, and other areas where one needs to understand the timing of events.</a:t>
            </a:r>
          </a:p>
        </p:txBody>
      </p:sp>
    </p:spTree>
    <p:extLst>
      <p:ext uri="{BB962C8B-B14F-4D97-AF65-F5344CB8AC3E}">
        <p14:creationId xmlns:p14="http://schemas.microsoft.com/office/powerpoint/2010/main" val="1370956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42653E5-FA68-4196-D32C-D859577E5F8F}"/>
              </a:ext>
            </a:extLst>
          </p:cNvPr>
          <p:cNvSpPr txBox="1"/>
          <p:nvPr/>
        </p:nvSpPr>
        <p:spPr>
          <a:xfrm>
            <a:off x="683568" y="474345"/>
            <a:ext cx="7632848" cy="5816977"/>
          </a:xfrm>
          <a:prstGeom prst="rect">
            <a:avLst/>
          </a:prstGeom>
          <a:noFill/>
        </p:spPr>
        <p:txBody>
          <a:bodyPr wrap="square">
            <a:spAutoFit/>
          </a:bodyPr>
          <a:lstStyle/>
          <a:p>
            <a:r>
              <a:rPr lang="en-US" sz="2400" b="1" dirty="0"/>
              <a:t>Key Characteristics of the Exponential Distribution</a:t>
            </a:r>
          </a:p>
          <a:p>
            <a:endParaRPr lang="en-US" sz="2400" b="1" dirty="0"/>
          </a:p>
          <a:p>
            <a:pPr>
              <a:buFont typeface="+mj-lt"/>
              <a:buAutoNum type="arabicPeriod"/>
            </a:pPr>
            <a:r>
              <a:rPr lang="en-US" sz="1800" b="1" dirty="0"/>
              <a:t>Memoryless Property</a:t>
            </a:r>
            <a:r>
              <a:rPr lang="en-US" sz="1800" dirty="0"/>
              <a:t>:</a:t>
            </a:r>
          </a:p>
          <a:p>
            <a:r>
              <a:rPr lang="en-US" sz="1800" dirty="0"/>
              <a:t>The exponential distribution has a unique property called </a:t>
            </a:r>
            <a:r>
              <a:rPr lang="en-US" sz="1800" b="1" dirty="0" err="1"/>
              <a:t>memorylessness</a:t>
            </a:r>
            <a:r>
              <a:rPr lang="en-US" sz="1800" dirty="0"/>
              <a:t>. This means that the probability of an event occurring in the future is independent of how much time has already passed. Mathematically, for any </a:t>
            </a:r>
            <a:r>
              <a:rPr lang="en-US" sz="1800" i="1" dirty="0"/>
              <a:t>s</a:t>
            </a:r>
            <a:r>
              <a:rPr lang="en-US" sz="1800" dirty="0"/>
              <a:t> and </a:t>
            </a:r>
            <a:r>
              <a:rPr lang="en-US" sz="1800" i="1" dirty="0"/>
              <a:t>t</a:t>
            </a:r>
            <a:r>
              <a:rPr lang="en-US" sz="1800" dirty="0"/>
              <a:t>≥0, </a:t>
            </a:r>
          </a:p>
          <a:p>
            <a:endParaRPr lang="en-US" sz="1800" dirty="0"/>
          </a:p>
          <a:p>
            <a:endParaRPr lang="en-US" sz="1800" dirty="0"/>
          </a:p>
          <a:p>
            <a:r>
              <a:rPr lang="en-US" sz="1800" dirty="0"/>
              <a:t>This property is why the exponential distribution is often used to model processes like equipment failures, where the likelihood of failure does not depend on the equipment's age.</a:t>
            </a:r>
          </a:p>
          <a:p>
            <a:endParaRPr lang="en-US" sz="1800" dirty="0"/>
          </a:p>
          <a:p>
            <a:r>
              <a:rPr lang="en-US" sz="1800" b="1" dirty="0"/>
              <a:t>2. Parameter </a:t>
            </a:r>
            <a:r>
              <a:rPr lang="en-US" sz="1800" b="1" i="1" dirty="0"/>
              <a:t>λ</a:t>
            </a:r>
            <a:r>
              <a:rPr lang="en-US" sz="1800" dirty="0"/>
              <a:t>:</a:t>
            </a:r>
          </a:p>
          <a:p>
            <a:r>
              <a:rPr lang="en-US" sz="1800" dirty="0"/>
              <a:t>The exponential distribution is defined by a </a:t>
            </a:r>
            <a:r>
              <a:rPr lang="en-US" sz="1800" b="1" dirty="0"/>
              <a:t>rate parameter</a:t>
            </a:r>
            <a:r>
              <a:rPr lang="en-US" sz="1800" dirty="0"/>
              <a:t> λ&gt;0, which represents the average rate at which events occur. The mean (average time between events) is the reciprocal of λ​.</a:t>
            </a:r>
          </a:p>
          <a:p>
            <a:endParaRPr lang="en-US" sz="1800" dirty="0"/>
          </a:p>
          <a:p>
            <a:r>
              <a:rPr lang="en-US" sz="1800" dirty="0"/>
              <a:t>If events occur on average every 10 minutes, for example, λ=1/10=0.1 events per minute.</a:t>
            </a:r>
          </a:p>
        </p:txBody>
      </p:sp>
      <p:pic>
        <p:nvPicPr>
          <p:cNvPr id="5" name="Picture 4">
            <a:extLst>
              <a:ext uri="{FF2B5EF4-FFF2-40B4-BE49-F238E27FC236}">
                <a16:creationId xmlns:a16="http://schemas.microsoft.com/office/drawing/2014/main" xmlns="" id="{9172816E-53E0-6EA0-1C54-CC22AFE63D9A}"/>
              </a:ext>
            </a:extLst>
          </p:cNvPr>
          <p:cNvPicPr>
            <a:picLocks noChangeAspect="1"/>
          </p:cNvPicPr>
          <p:nvPr/>
        </p:nvPicPr>
        <p:blipFill>
          <a:blip r:embed="rId2"/>
          <a:stretch>
            <a:fillRect/>
          </a:stretch>
        </p:blipFill>
        <p:spPr>
          <a:xfrm>
            <a:off x="2604252" y="2312876"/>
            <a:ext cx="3791479" cy="514422"/>
          </a:xfrm>
          <a:prstGeom prst="rect">
            <a:avLst/>
          </a:prstGeom>
        </p:spPr>
      </p:pic>
    </p:spTree>
    <p:extLst>
      <p:ext uri="{BB962C8B-B14F-4D97-AF65-F5344CB8AC3E}">
        <p14:creationId xmlns:p14="http://schemas.microsoft.com/office/powerpoint/2010/main" val="3153065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8B2A7E0F-6AA9-9CAC-61EE-2EDE4A4DEE9C}"/>
              </a:ext>
            </a:extLst>
          </p:cNvPr>
          <p:cNvSpPr>
            <a:spLocks noChangeArrowheads="1"/>
          </p:cNvSpPr>
          <p:nvPr/>
        </p:nvSpPr>
        <p:spPr bwMode="auto">
          <a:xfrm>
            <a:off x="719572" y="374178"/>
            <a:ext cx="752432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3. Probability Density Function (PDF)</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The PDF of the exponential distribution for a random variable </a:t>
            </a:r>
            <a:r>
              <a:rPr kumimoji="0" lang="en-US" altLang="en-US" sz="1800" b="0" i="1" u="none" strike="noStrike" cap="none" normalizeH="0" baseline="0" dirty="0">
                <a:ln>
                  <a:noFill/>
                </a:ln>
                <a:solidFill>
                  <a:schemeClr val="tx1"/>
                </a:solidFill>
                <a:effectLst/>
                <a:latin typeface="Arial" panose="020B0604020202020204" pitchFamily="34" charset="0"/>
              </a:rPr>
              <a:t>X</a:t>
            </a:r>
            <a:r>
              <a:rPr kumimoji="0" lang="en-US" altLang="en-US" sz="1800" b="0" i="0" u="none" strike="noStrike" cap="none" normalizeH="0" baseline="0" dirty="0">
                <a:ln>
                  <a:noFill/>
                </a:ln>
                <a:solidFill>
                  <a:schemeClr val="tx1"/>
                </a:solidFill>
                <a:effectLst/>
                <a:latin typeface="Arial" panose="020B0604020202020204" pitchFamily="34" charset="0"/>
              </a:rPr>
              <a:t> is given by: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This describes the likelihood of the time between events being exactly </a:t>
            </a:r>
            <a:r>
              <a:rPr kumimoji="0" lang="en-US" altLang="en-US" sz="1800" b="0" i="1" u="none" strike="noStrike" cap="none" normalizeH="0" baseline="0" dirty="0">
                <a:ln>
                  <a:noFill/>
                </a:ln>
                <a:solidFill>
                  <a:schemeClr val="tx1"/>
                </a:solidFill>
                <a:effectLst/>
                <a:latin typeface="Arial" panose="020B0604020202020204" pitchFamily="34" charset="0"/>
              </a:rPr>
              <a:t>x</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4. Cumulative Distribution Function (CDF)</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The CDF, representing the probability that the time between events is less than or equal to </a:t>
            </a:r>
            <a:r>
              <a:rPr kumimoji="0" lang="en-US" altLang="en-US" sz="1800" b="0" i="1" u="none" strike="noStrike" cap="none" normalizeH="0" baseline="0" dirty="0">
                <a:ln>
                  <a:noFill/>
                </a:ln>
                <a:solidFill>
                  <a:schemeClr val="tx1"/>
                </a:solidFill>
                <a:effectLst/>
                <a:latin typeface="Arial" panose="020B0604020202020204" pitchFamily="34" charset="0"/>
              </a:rPr>
              <a:t>x</a:t>
            </a:r>
            <a:r>
              <a:rPr kumimoji="0" lang="en-US" altLang="en-US" sz="1800" b="0" i="0" u="none" strike="noStrike" cap="none" normalizeH="0" baseline="0" dirty="0">
                <a:ln>
                  <a:noFill/>
                </a:ln>
                <a:solidFill>
                  <a:schemeClr val="tx1"/>
                </a:solidFill>
                <a:effectLst/>
                <a:latin typeface="Arial" panose="020B0604020202020204" pitchFamily="34" charset="0"/>
              </a:rPr>
              <a:t>, is: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5. Mean and Variance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Mean</a:t>
            </a:r>
            <a:r>
              <a:rPr kumimoji="0" lang="en-US" altLang="en-US" sz="1800" b="0" i="0" u="none" strike="noStrike" cap="none" normalizeH="0" baseline="0" dirty="0">
                <a:ln>
                  <a:noFill/>
                </a:ln>
                <a:solidFill>
                  <a:schemeClr val="tx1"/>
                </a:solidFill>
                <a:effectLst/>
                <a:latin typeface="Arial" panose="020B0604020202020204" pitchFamily="34" charset="0"/>
              </a:rPr>
              <a:t>: The mean of the exponential distribution is 1/λ​, which is the expected time between events.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Variance</a:t>
            </a:r>
            <a:r>
              <a:rPr kumimoji="0" lang="en-US" altLang="en-US" sz="1800" b="0" i="0" u="none" strike="noStrike" cap="none" normalizeH="0" baseline="0" dirty="0">
                <a:ln>
                  <a:noFill/>
                </a:ln>
                <a:solidFill>
                  <a:schemeClr val="tx1"/>
                </a:solidFill>
                <a:effectLst/>
                <a:latin typeface="Arial" panose="020B0604020202020204" pitchFamily="34" charset="0"/>
              </a:rPr>
              <a:t>: The variance is 1/λ</a:t>
            </a:r>
            <a:r>
              <a:rPr kumimoji="0" lang="en-US" altLang="en-US" sz="1800" b="0" i="0" u="none" strike="noStrike" cap="none" normalizeH="0" baseline="30000" dirty="0">
                <a:ln>
                  <a:noFill/>
                </a:ln>
                <a:solidFill>
                  <a:schemeClr val="tx1"/>
                </a:solidFill>
                <a:effectLst/>
                <a:latin typeface="Arial" panose="020B0604020202020204" pitchFamily="34" charset="0"/>
              </a:rPr>
              <a:t>2</a:t>
            </a:r>
            <a:r>
              <a:rPr kumimoji="0" lang="en-US" altLang="en-US" sz="1800" dirty="0">
                <a:solidFill>
                  <a:schemeClr val="tx1"/>
                </a:solidFill>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xmlns="" id="{2D5B7EAD-FDCE-CC1A-615E-2546D23F75CD}"/>
              </a:ext>
            </a:extLst>
          </p:cNvPr>
          <p:cNvPicPr>
            <a:picLocks noChangeAspect="1"/>
          </p:cNvPicPr>
          <p:nvPr/>
        </p:nvPicPr>
        <p:blipFill>
          <a:blip r:embed="rId2"/>
          <a:stretch>
            <a:fillRect/>
          </a:stretch>
        </p:blipFill>
        <p:spPr>
          <a:xfrm>
            <a:off x="2843808" y="1160748"/>
            <a:ext cx="2638793" cy="447737"/>
          </a:xfrm>
          <a:prstGeom prst="rect">
            <a:avLst/>
          </a:prstGeom>
        </p:spPr>
      </p:pic>
      <p:pic>
        <p:nvPicPr>
          <p:cNvPr id="6" name="Picture 5">
            <a:extLst>
              <a:ext uri="{FF2B5EF4-FFF2-40B4-BE49-F238E27FC236}">
                <a16:creationId xmlns:a16="http://schemas.microsoft.com/office/drawing/2014/main" xmlns="" id="{8A890E6A-36FD-C819-C0BC-F8BF43F9A1F8}"/>
              </a:ext>
            </a:extLst>
          </p:cNvPr>
          <p:cNvPicPr>
            <a:picLocks noChangeAspect="1"/>
          </p:cNvPicPr>
          <p:nvPr/>
        </p:nvPicPr>
        <p:blipFill>
          <a:blip r:embed="rId3"/>
          <a:stretch>
            <a:fillRect/>
          </a:stretch>
        </p:blipFill>
        <p:spPr>
          <a:xfrm>
            <a:off x="2480970" y="2888940"/>
            <a:ext cx="4182059" cy="704948"/>
          </a:xfrm>
          <a:prstGeom prst="rect">
            <a:avLst/>
          </a:prstGeom>
        </p:spPr>
      </p:pic>
    </p:spTree>
    <p:extLst>
      <p:ext uri="{BB962C8B-B14F-4D97-AF65-F5344CB8AC3E}">
        <p14:creationId xmlns:p14="http://schemas.microsoft.com/office/powerpoint/2010/main" val="3534131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09ECD1E-DBAE-F1CB-2C09-3831D868789D}"/>
              </a:ext>
            </a:extLst>
          </p:cNvPr>
          <p:cNvSpPr txBox="1"/>
          <p:nvPr/>
        </p:nvSpPr>
        <p:spPr>
          <a:xfrm>
            <a:off x="719572" y="561259"/>
            <a:ext cx="7704856" cy="4985980"/>
          </a:xfrm>
          <a:prstGeom prst="rect">
            <a:avLst/>
          </a:prstGeom>
          <a:noFill/>
        </p:spPr>
        <p:txBody>
          <a:bodyPr wrap="square">
            <a:spAutoFit/>
          </a:bodyPr>
          <a:lstStyle/>
          <a:p>
            <a:r>
              <a:rPr lang="en-US" sz="2400" b="1" dirty="0"/>
              <a:t>Applications of the Exponential Distribution</a:t>
            </a:r>
          </a:p>
          <a:p>
            <a:endParaRPr lang="en-US" sz="2400" b="1" dirty="0"/>
          </a:p>
          <a:p>
            <a:pPr>
              <a:buFont typeface="+mj-lt"/>
              <a:buAutoNum type="arabicPeriod"/>
            </a:pPr>
            <a:r>
              <a:rPr lang="en-US" sz="1800" b="1" dirty="0"/>
              <a:t> Reliability Engineering</a:t>
            </a:r>
            <a:r>
              <a:rPr lang="en-US" sz="1800" dirty="0"/>
              <a:t>:</a:t>
            </a:r>
          </a:p>
          <a:p>
            <a:r>
              <a:rPr lang="en-US" sz="1800" dirty="0"/>
              <a:t>The exponential distribution models the time until failure of equipment that has a constant failure rate, meaning the likelihood of failure does not increase over time. For example, light bulbs or electronic components with random failures often fit this model well.</a:t>
            </a:r>
          </a:p>
          <a:p>
            <a:endParaRPr lang="en-US" sz="1800" dirty="0"/>
          </a:p>
          <a:p>
            <a:r>
              <a:rPr lang="en-US" sz="1800" b="1" dirty="0"/>
              <a:t>2. Queuing Theory</a:t>
            </a:r>
            <a:r>
              <a:rPr lang="en-US" sz="1800" dirty="0"/>
              <a:t>:</a:t>
            </a:r>
          </a:p>
          <a:p>
            <a:r>
              <a:rPr lang="en-US" sz="1800" dirty="0"/>
              <a:t>In queue systems (such as customer service or telecommunications), the exponential distribution models the time between arrivals of customers or calls, assuming a constant arrival rate.</a:t>
            </a:r>
          </a:p>
          <a:p>
            <a:endParaRPr lang="en-US" sz="1800" dirty="0"/>
          </a:p>
          <a:p>
            <a:r>
              <a:rPr lang="en-US" sz="1800" b="1" dirty="0"/>
              <a:t>3. Survival Analysis</a:t>
            </a:r>
            <a:r>
              <a:rPr lang="en-US" sz="1800" dirty="0"/>
              <a:t>:</a:t>
            </a:r>
          </a:p>
          <a:p>
            <a:r>
              <a:rPr lang="en-US" sz="1800" dirty="0"/>
              <a:t>In biostatistics, the exponential distribution is used to model survival times, especially when the event rate (e.g., mortality rate) is constant over time.</a:t>
            </a:r>
          </a:p>
        </p:txBody>
      </p:sp>
    </p:spTree>
    <p:extLst>
      <p:ext uri="{BB962C8B-B14F-4D97-AF65-F5344CB8AC3E}">
        <p14:creationId xmlns:p14="http://schemas.microsoft.com/office/powerpoint/2010/main" val="3031794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9335B26-32F7-B6CF-D636-C614DF16C217}"/>
              </a:ext>
            </a:extLst>
          </p:cNvPr>
          <p:cNvSpPr txBox="1"/>
          <p:nvPr/>
        </p:nvSpPr>
        <p:spPr>
          <a:xfrm>
            <a:off x="611560" y="872716"/>
            <a:ext cx="8100900" cy="4001095"/>
          </a:xfrm>
          <a:prstGeom prst="rect">
            <a:avLst/>
          </a:prstGeom>
          <a:noFill/>
        </p:spPr>
        <p:txBody>
          <a:bodyPr wrap="square">
            <a:spAutoFit/>
          </a:bodyPr>
          <a:lstStyle/>
          <a:p>
            <a:r>
              <a:rPr lang="en-US" sz="2000" b="1" dirty="0"/>
              <a:t>Example Calculation</a:t>
            </a:r>
          </a:p>
          <a:p>
            <a:endParaRPr lang="en-US" sz="1800" dirty="0"/>
          </a:p>
          <a:p>
            <a:r>
              <a:rPr lang="en-US" sz="1800" dirty="0"/>
              <a:t>Suppose we have a system where failures occur on average every 5 hours. Here, λ=1/5=0.2 failures per hour.</a:t>
            </a:r>
          </a:p>
          <a:p>
            <a:endParaRPr lang="en-US" sz="1800" b="1" dirty="0"/>
          </a:p>
          <a:p>
            <a:r>
              <a:rPr lang="en-US" sz="1800" b="1" dirty="0"/>
              <a:t>Probability that the next failure occurs in less than 3 hours</a:t>
            </a:r>
            <a:r>
              <a:rPr lang="en-US" sz="1800" dirty="0"/>
              <a:t>:</a:t>
            </a:r>
          </a:p>
          <a:p>
            <a:endParaRPr lang="en-US" sz="1800" dirty="0"/>
          </a:p>
          <a:p>
            <a:endParaRPr lang="en-US" sz="1800" dirty="0"/>
          </a:p>
          <a:p>
            <a:r>
              <a:rPr lang="en-US" sz="1800" dirty="0"/>
              <a:t>So, there is about a 45.1% chance that the next failure will occur within 3 hours.</a:t>
            </a:r>
          </a:p>
          <a:p>
            <a:endParaRPr lang="en-US" sz="1800" dirty="0"/>
          </a:p>
          <a:p>
            <a:r>
              <a:rPr lang="en-US" sz="1800" dirty="0"/>
              <a:t>The exponential distribution provides a straightforward way to model and analyze the timing of events that occur randomly and independently over time.</a:t>
            </a:r>
          </a:p>
        </p:txBody>
      </p:sp>
      <p:pic>
        <p:nvPicPr>
          <p:cNvPr id="5" name="Picture 4">
            <a:extLst>
              <a:ext uri="{FF2B5EF4-FFF2-40B4-BE49-F238E27FC236}">
                <a16:creationId xmlns:a16="http://schemas.microsoft.com/office/drawing/2014/main" xmlns="" id="{1AC4E8D5-6AF7-B8BD-32B9-92264C59501C}"/>
              </a:ext>
            </a:extLst>
          </p:cNvPr>
          <p:cNvPicPr>
            <a:picLocks noChangeAspect="1"/>
          </p:cNvPicPr>
          <p:nvPr/>
        </p:nvPicPr>
        <p:blipFill>
          <a:blip r:embed="rId2"/>
          <a:stretch>
            <a:fillRect/>
          </a:stretch>
        </p:blipFill>
        <p:spPr>
          <a:xfrm>
            <a:off x="2159732" y="2682736"/>
            <a:ext cx="4372585" cy="381053"/>
          </a:xfrm>
          <a:prstGeom prst="rect">
            <a:avLst/>
          </a:prstGeom>
        </p:spPr>
      </p:pic>
    </p:spTree>
    <p:extLst>
      <p:ext uri="{BB962C8B-B14F-4D97-AF65-F5344CB8AC3E}">
        <p14:creationId xmlns:p14="http://schemas.microsoft.com/office/powerpoint/2010/main" val="3748362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4C5604D-287B-6248-289F-2FE75A27CD7F}"/>
              </a:ext>
            </a:extLst>
          </p:cNvPr>
          <p:cNvSpPr txBox="1"/>
          <p:nvPr/>
        </p:nvSpPr>
        <p:spPr>
          <a:xfrm>
            <a:off x="1017391" y="1592796"/>
            <a:ext cx="7092788" cy="2618602"/>
          </a:xfrm>
          <a:prstGeom prst="rect">
            <a:avLst/>
          </a:prstGeom>
          <a:noFill/>
        </p:spPr>
        <p:txBody>
          <a:bodyPr wrap="square">
            <a:spAutoFit/>
          </a:bodyPr>
          <a:lstStyle/>
          <a:p>
            <a:pPr>
              <a:lnSpc>
                <a:spcPct val="107000"/>
              </a:lnSpc>
              <a:spcAft>
                <a:spcPts val="800"/>
              </a:spcAft>
            </a:pPr>
            <a:r>
              <a:rPr lang="en-US" sz="2000" b="1" dirty="0">
                <a:effectLst/>
                <a:latin typeface="Calibri" panose="020F0502020204030204" pitchFamily="34" charset="0"/>
                <a:ea typeface="Calibri" panose="020F0502020204030204" pitchFamily="34" charset="0"/>
                <a:cs typeface="Arial" panose="020B0604020202020204" pitchFamily="34" charset="0"/>
              </a:rPr>
              <a:t>Example: Predicting Time Between Failures for Light Bulbs in a Factory</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Suppose a factory uses hundreds of identical light bulbs to illuminate production areas. These bulbs are known to have a constant failure rate (i.e., they don’t degrade over time but rather fail randomly and independently). Engineers want to model the time between bulb failures to plan replacements efficiently and ensure that production areas are always well-lit.</a:t>
            </a:r>
          </a:p>
        </p:txBody>
      </p:sp>
    </p:spTree>
    <p:extLst>
      <p:ext uri="{BB962C8B-B14F-4D97-AF65-F5344CB8AC3E}">
        <p14:creationId xmlns:p14="http://schemas.microsoft.com/office/powerpoint/2010/main" val="2174282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8BF4508-FC93-6764-7EB1-7F2549AE24B3}"/>
              </a:ext>
            </a:extLst>
          </p:cNvPr>
          <p:cNvSpPr txBox="1"/>
          <p:nvPr/>
        </p:nvSpPr>
        <p:spPr>
          <a:xfrm>
            <a:off x="719572" y="584684"/>
            <a:ext cx="7776864" cy="4650056"/>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How the Exponential Distribution Applies</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n-US" sz="1800" b="1" dirty="0">
                <a:effectLst/>
                <a:latin typeface="Calibri" panose="020F0502020204030204" pitchFamily="34" charset="0"/>
                <a:ea typeface="Calibri" panose="020F0502020204030204" pitchFamily="34" charset="0"/>
                <a:cs typeface="Calibri" panose="020F0502020204030204" pitchFamily="34" charset="0"/>
              </a:rPr>
              <a:t>Defining the Scenario</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lvl="1">
              <a:lnSpc>
                <a:spcPct val="107000"/>
              </a:lnSpc>
              <a:spcAft>
                <a:spcPts val="800"/>
              </a:spcAft>
              <a:buSzPts val="1000"/>
              <a:tabLst>
                <a:tab pos="9144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The event of interest is a light bulb failure.</a:t>
            </a:r>
          </a:p>
          <a:p>
            <a:pPr lvl="1">
              <a:lnSpc>
                <a:spcPct val="107000"/>
              </a:lnSpc>
              <a:spcAft>
                <a:spcPts val="800"/>
              </a:spcAft>
              <a:buSzPts val="1000"/>
              <a:tabLst>
                <a:tab pos="9144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Failures happen randomly at a constant rate, regardless of how long a bulb has been in use, which is a characteristic scenario for an exponential distribution.</a:t>
            </a:r>
          </a:p>
          <a:p>
            <a:pPr marL="342900" lvl="0" indent="-342900">
              <a:lnSpc>
                <a:spcPct val="107000"/>
              </a:lnSpc>
              <a:spcAft>
                <a:spcPts val="800"/>
              </a:spcAft>
              <a:buFont typeface="+mj-lt"/>
              <a:buAutoNum type="arabicPeriod"/>
              <a:tabLst>
                <a:tab pos="457200" algn="l"/>
              </a:tabLst>
            </a:pPr>
            <a:r>
              <a:rPr lang="en-US" sz="1800" b="1" dirty="0">
                <a:effectLst/>
                <a:latin typeface="Calibri" panose="020F0502020204030204" pitchFamily="34" charset="0"/>
                <a:ea typeface="Calibri" panose="020F0502020204030204" pitchFamily="34" charset="0"/>
                <a:cs typeface="Calibri" panose="020F0502020204030204" pitchFamily="34" charset="0"/>
              </a:rPr>
              <a:t>Parameter</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lvl="1">
              <a:lnSpc>
                <a:spcPct val="107000"/>
              </a:lnSpc>
              <a:spcAft>
                <a:spcPts val="800"/>
              </a:spcAft>
              <a:buSzPts val="1000"/>
              <a:tabLst>
                <a:tab pos="9144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Based on historical data, the average time until a bulb fails is 5000 hours. The exponential distribution’s </a:t>
            </a:r>
            <a:r>
              <a:rPr lang="en-US" sz="1800" b="1" dirty="0">
                <a:effectLst/>
                <a:latin typeface="Calibri" panose="020F0502020204030204" pitchFamily="34" charset="0"/>
                <a:ea typeface="Calibri" panose="020F0502020204030204" pitchFamily="34" charset="0"/>
                <a:cs typeface="Calibri" panose="020F0502020204030204" pitchFamily="34" charset="0"/>
              </a:rPr>
              <a:t>rate parameter λ</a:t>
            </a:r>
            <a:r>
              <a:rPr lang="en-US" sz="1800" dirty="0">
                <a:effectLst/>
                <a:latin typeface="Calibri" panose="020F0502020204030204" pitchFamily="34" charset="0"/>
                <a:ea typeface="Calibri" panose="020F0502020204030204" pitchFamily="34" charset="0"/>
                <a:cs typeface="Calibri" panose="020F0502020204030204" pitchFamily="34" charset="0"/>
              </a:rPr>
              <a:t> is the reciprocal of the mean time to failure: λ=1/5000=0.0002 failures per hour</a:t>
            </a:r>
          </a:p>
          <a:p>
            <a:pPr marL="342900" lvl="0" indent="-342900">
              <a:lnSpc>
                <a:spcPct val="107000"/>
              </a:lnSpc>
              <a:spcAft>
                <a:spcPts val="800"/>
              </a:spcAft>
              <a:buFont typeface="+mj-lt"/>
              <a:buAutoNum type="arabicPeriod"/>
              <a:tabLst>
                <a:tab pos="457200" algn="l"/>
              </a:tabLst>
            </a:pPr>
            <a:r>
              <a:rPr lang="en-US" sz="1800" b="1" dirty="0">
                <a:effectLst/>
                <a:latin typeface="Calibri" panose="020F0502020204030204" pitchFamily="34" charset="0"/>
                <a:ea typeface="Calibri" panose="020F0502020204030204" pitchFamily="34" charset="0"/>
                <a:cs typeface="Calibri" panose="020F0502020204030204" pitchFamily="34" charset="0"/>
              </a:rPr>
              <a:t>Using the Exponential Distribution</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lvl="1">
              <a:lnSpc>
                <a:spcPct val="107000"/>
              </a:lnSpc>
              <a:spcAft>
                <a:spcPts val="800"/>
              </a:spcAft>
              <a:buSzPts val="1000"/>
              <a:tabLst>
                <a:tab pos="9144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This distribution,                                                            can be used to calculate probabilities related to the time between bulb failures.</a:t>
            </a:r>
          </a:p>
        </p:txBody>
      </p:sp>
      <p:pic>
        <p:nvPicPr>
          <p:cNvPr id="5" name="Picture 4">
            <a:extLst>
              <a:ext uri="{FF2B5EF4-FFF2-40B4-BE49-F238E27FC236}">
                <a16:creationId xmlns:a16="http://schemas.microsoft.com/office/drawing/2014/main" xmlns="" id="{87A68669-6780-7F01-0223-776E0A4A3A5C}"/>
              </a:ext>
            </a:extLst>
          </p:cNvPr>
          <p:cNvPicPr>
            <a:picLocks noChangeAspect="1"/>
          </p:cNvPicPr>
          <p:nvPr/>
        </p:nvPicPr>
        <p:blipFill>
          <a:blip r:embed="rId2"/>
          <a:stretch>
            <a:fillRect/>
          </a:stretch>
        </p:blipFill>
        <p:spPr>
          <a:xfrm>
            <a:off x="2858007" y="4570871"/>
            <a:ext cx="3038899" cy="304843"/>
          </a:xfrm>
          <a:prstGeom prst="rect">
            <a:avLst/>
          </a:prstGeom>
        </p:spPr>
      </p:pic>
    </p:spTree>
    <p:extLst>
      <p:ext uri="{BB962C8B-B14F-4D97-AF65-F5344CB8AC3E}">
        <p14:creationId xmlns:p14="http://schemas.microsoft.com/office/powerpoint/2010/main" val="1119047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13BFC92-2C84-074F-0BD0-AE83395F44D3}"/>
              </a:ext>
            </a:extLst>
          </p:cNvPr>
          <p:cNvSpPr txBox="1"/>
          <p:nvPr/>
        </p:nvSpPr>
        <p:spPr>
          <a:xfrm>
            <a:off x="539552" y="620688"/>
            <a:ext cx="7560840" cy="4353692"/>
          </a:xfrm>
          <a:prstGeom prst="rect">
            <a:avLst/>
          </a:prstGeom>
          <a:noFill/>
        </p:spPr>
        <p:txBody>
          <a:bodyPr wrap="square">
            <a:spAutoFit/>
          </a:bodyPr>
          <a:lstStyle/>
          <a:p>
            <a:pPr>
              <a:lnSpc>
                <a:spcPct val="107000"/>
              </a:lnSpc>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Calculations</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Calibri" panose="020F0502020204030204" pitchFamily="34" charset="0"/>
              </a:rPr>
              <a:t>Probability that a bulb will last at least 6000 hours</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This shows there’s about a 30.1% chance that a light bulb will last 6000 hours or longer.</a:t>
            </a:r>
          </a:p>
          <a:p>
            <a:pPr lvl="0">
              <a:lnSpc>
                <a:spcPct val="107000"/>
              </a:lnSpc>
              <a:spcAft>
                <a:spcPts val="800"/>
              </a:spcAft>
              <a:buSzPts val="1000"/>
              <a:tabLst>
                <a:tab pos="457200" algn="l"/>
              </a:tabLst>
            </a:pPr>
            <a:endParaRPr lang="en-US" sz="1800" b="1" dirty="0">
              <a:effectLst/>
              <a:latin typeface="Calibri" panose="020F0502020204030204" pitchFamily="34" charset="0"/>
              <a:ea typeface="Calibri" panose="020F0502020204030204" pitchFamily="34" charset="0"/>
              <a:cs typeface="Calibri" panose="020F0502020204030204" pitchFamily="34" charset="0"/>
            </a:endParaRPr>
          </a:p>
          <a:p>
            <a:pPr lvl="0">
              <a:lnSpc>
                <a:spcPct val="107000"/>
              </a:lnSpc>
              <a:spcAft>
                <a:spcPts val="800"/>
              </a:spcAft>
              <a:buSzPts val="1000"/>
              <a:tabLst>
                <a:tab pos="457200" algn="l"/>
              </a:tabLst>
            </a:pPr>
            <a:r>
              <a:rPr lang="en-US" sz="1800" b="1" dirty="0">
                <a:effectLst/>
                <a:latin typeface="Calibri" panose="020F0502020204030204" pitchFamily="34" charset="0"/>
                <a:ea typeface="Calibri" panose="020F0502020204030204" pitchFamily="34" charset="0"/>
                <a:cs typeface="Calibri" panose="020F0502020204030204" pitchFamily="34" charset="0"/>
              </a:rPr>
              <a:t>Expected Number of Failures in a Month</a:t>
            </a:r>
            <a:r>
              <a:rPr lang="en-US" sz="1800" dirty="0">
                <a:effectLst/>
                <a:latin typeface="Calibri" panose="020F0502020204030204" pitchFamily="34" charset="0"/>
                <a:ea typeface="Calibri" panose="020F0502020204030204" pitchFamily="34" charset="0"/>
                <a:cs typeface="Calibri" panose="020F0502020204030204" pitchFamily="34" charset="0"/>
              </a:rPr>
              <a:t>: Assuming continuous operation (24 hours a day), the number of expected failures in 30 days (or 720 hours) can be calculated as:</a:t>
            </a:r>
          </a:p>
          <a:p>
            <a:pPr>
              <a:lnSpc>
                <a:spcPct val="107000"/>
              </a:lnSpc>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Expected failures=λ×720=0.0002×720=0.144</a:t>
            </a:r>
          </a:p>
          <a:p>
            <a:pPr>
              <a:lnSpc>
                <a:spcPct val="107000"/>
              </a:lnSpc>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This indicates that, on average, about 0.144 bulbs will fail in a month, which could inform the team how frequently to expect failures over longer periods.</a:t>
            </a:r>
          </a:p>
        </p:txBody>
      </p:sp>
      <p:pic>
        <p:nvPicPr>
          <p:cNvPr id="5" name="Picture 4">
            <a:extLst>
              <a:ext uri="{FF2B5EF4-FFF2-40B4-BE49-F238E27FC236}">
                <a16:creationId xmlns:a16="http://schemas.microsoft.com/office/drawing/2014/main" xmlns="" id="{840BC938-4E4A-7D04-1F64-995659501D2B}"/>
              </a:ext>
            </a:extLst>
          </p:cNvPr>
          <p:cNvPicPr>
            <a:picLocks noChangeAspect="1"/>
          </p:cNvPicPr>
          <p:nvPr/>
        </p:nvPicPr>
        <p:blipFill>
          <a:blip r:embed="rId2"/>
          <a:stretch>
            <a:fillRect/>
          </a:stretch>
        </p:blipFill>
        <p:spPr>
          <a:xfrm>
            <a:off x="1835696" y="1412776"/>
            <a:ext cx="4610743" cy="409632"/>
          </a:xfrm>
          <a:prstGeom prst="rect">
            <a:avLst/>
          </a:prstGeom>
        </p:spPr>
      </p:pic>
    </p:spTree>
    <p:extLst>
      <p:ext uri="{BB962C8B-B14F-4D97-AF65-F5344CB8AC3E}">
        <p14:creationId xmlns:p14="http://schemas.microsoft.com/office/powerpoint/2010/main" val="1133587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F1185CB-DBD2-8EA3-A5C1-3280EDB8655B}"/>
              </a:ext>
            </a:extLst>
          </p:cNvPr>
          <p:cNvSpPr txBox="1"/>
          <p:nvPr/>
        </p:nvSpPr>
        <p:spPr>
          <a:xfrm>
            <a:off x="1115616" y="1813173"/>
            <a:ext cx="7236804" cy="1846659"/>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Sampling</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Sampling is a crucial technique in statistics that involves selecting a subset of data from a larger population to make inferences about the whole. Different sampling methods and considerations of sample size can impact the accuracy and reliability of these inferences.</a:t>
            </a:r>
          </a:p>
        </p:txBody>
      </p:sp>
    </p:spTree>
    <p:extLst>
      <p:ext uri="{BB962C8B-B14F-4D97-AF65-F5344CB8AC3E}">
        <p14:creationId xmlns:p14="http://schemas.microsoft.com/office/powerpoint/2010/main" val="628922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B943915-718D-E67F-862B-4E4FE7EB6232}"/>
              </a:ext>
            </a:extLst>
          </p:cNvPr>
          <p:cNvSpPr txBox="1"/>
          <p:nvPr/>
        </p:nvSpPr>
        <p:spPr>
          <a:xfrm>
            <a:off x="629562" y="345328"/>
            <a:ext cx="7884876" cy="5816977"/>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Types of Sampling</a:t>
            </a:r>
          </a:p>
          <a:p>
            <a:endParaRPr lang="en-US" sz="2400" b="1"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A. Probability Sampling</a:t>
            </a:r>
            <a:r>
              <a:rPr lang="en-US" sz="1800" dirty="0">
                <a:latin typeface="Calibri" panose="020F0502020204030204" pitchFamily="34" charset="0"/>
                <a:ea typeface="Calibri" panose="020F0502020204030204" pitchFamily="34" charset="0"/>
                <a:cs typeface="Calibri" panose="020F0502020204030204" pitchFamily="34" charset="0"/>
              </a:rPr>
              <a:t>: Every member of the population has a known, non-zero probability of being selected. This type helps reduce selection bias and allows for generalization to the entire population.</a:t>
            </a:r>
          </a:p>
          <a:p>
            <a:pPr marL="742950" lvl="1" indent="-28575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Simple Random Sampling</a:t>
            </a:r>
            <a:r>
              <a:rPr lang="en-US" sz="1800" dirty="0">
                <a:latin typeface="Calibri" panose="020F0502020204030204" pitchFamily="34" charset="0"/>
                <a:ea typeface="Calibri" panose="020F0502020204030204" pitchFamily="34" charset="0"/>
                <a:cs typeface="Calibri" panose="020F0502020204030204" pitchFamily="34" charset="0"/>
              </a:rPr>
              <a:t>: Each member has an equal chance of being chosen. For example, drawing names from a hat.</a:t>
            </a:r>
          </a:p>
          <a:p>
            <a:pPr marL="742950" lvl="1" indent="-28575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Stratified Sampling</a:t>
            </a:r>
            <a:r>
              <a:rPr lang="en-US" sz="1800" dirty="0">
                <a:latin typeface="Calibri" panose="020F0502020204030204" pitchFamily="34" charset="0"/>
                <a:ea typeface="Calibri" panose="020F0502020204030204" pitchFamily="34" charset="0"/>
                <a:cs typeface="Calibri" panose="020F0502020204030204" pitchFamily="34" charset="0"/>
              </a:rPr>
              <a:t>: The population is divided into subgroups (strata) based on shared characteristics, and random samples are drawn from each stratum proportionally.</a:t>
            </a:r>
          </a:p>
          <a:p>
            <a:pPr marL="742950" lvl="1" indent="-28575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Systematic Sampling</a:t>
            </a:r>
            <a:r>
              <a:rPr lang="en-US" sz="1800" dirty="0">
                <a:latin typeface="Calibri" panose="020F0502020204030204" pitchFamily="34" charset="0"/>
                <a:ea typeface="Calibri" panose="020F0502020204030204" pitchFamily="34" charset="0"/>
                <a:cs typeface="Calibri" panose="020F0502020204030204" pitchFamily="34" charset="0"/>
              </a:rPr>
              <a:t>: Every </a:t>
            </a:r>
            <a:r>
              <a:rPr lang="en-US" sz="1800" dirty="0" err="1">
                <a:latin typeface="Calibri" panose="020F0502020204030204" pitchFamily="34" charset="0"/>
                <a:ea typeface="Calibri" panose="020F0502020204030204" pitchFamily="34" charset="0"/>
                <a:cs typeface="Calibri" panose="020F0502020204030204" pitchFamily="34" charset="0"/>
              </a:rPr>
              <a:t>kthk</a:t>
            </a:r>
            <a:r>
              <a:rPr lang="en-US" sz="1800" dirty="0">
                <a:latin typeface="Calibri" panose="020F0502020204030204" pitchFamily="34" charset="0"/>
                <a:ea typeface="Calibri" panose="020F0502020204030204" pitchFamily="34" charset="0"/>
                <a:cs typeface="Calibri" panose="020F0502020204030204" pitchFamily="34" charset="0"/>
              </a:rPr>
              <a:t>^{</a:t>
            </a:r>
            <a:r>
              <a:rPr lang="en-US" sz="1800" dirty="0" err="1">
                <a:latin typeface="Calibri" panose="020F0502020204030204" pitchFamily="34" charset="0"/>
                <a:ea typeface="Calibri" panose="020F0502020204030204" pitchFamily="34" charset="0"/>
                <a:cs typeface="Calibri" panose="020F0502020204030204" pitchFamily="34" charset="0"/>
              </a:rPr>
              <a:t>th</a:t>
            </a:r>
            <a:r>
              <a:rPr lang="en-US" sz="1800" dirty="0">
                <a:latin typeface="Calibri" panose="020F0502020204030204" pitchFamily="34" charset="0"/>
                <a:ea typeface="Calibri" panose="020F0502020204030204" pitchFamily="34" charset="0"/>
                <a:cs typeface="Calibri" panose="020F0502020204030204" pitchFamily="34" charset="0"/>
              </a:rPr>
              <a:t>}kth member of the population is chosen after selecting a random starting point. This is simpler than simple random sampling and effective when the list of the population is organized.</a:t>
            </a:r>
          </a:p>
          <a:p>
            <a:pPr marL="742950" lvl="1" indent="-28575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Cluster Sampling</a:t>
            </a:r>
            <a:r>
              <a:rPr lang="en-US" sz="1800" dirty="0">
                <a:latin typeface="Calibri" panose="020F0502020204030204" pitchFamily="34" charset="0"/>
                <a:ea typeface="Calibri" panose="020F0502020204030204" pitchFamily="34" charset="0"/>
                <a:cs typeface="Calibri" panose="020F0502020204030204" pitchFamily="34" charset="0"/>
              </a:rPr>
              <a:t>: The population is divided into clusters (often geographically), and entire clusters are randomly selected. Useful for large, spread-out populations, though variability within clusters should be low for accuracy.</a:t>
            </a:r>
          </a:p>
          <a:p>
            <a:pPr marL="742950" lvl="1" indent="-28575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Multi-Stage Sampling</a:t>
            </a:r>
            <a:r>
              <a:rPr lang="en-US" sz="1800" dirty="0">
                <a:latin typeface="Calibri" panose="020F0502020204030204" pitchFamily="34" charset="0"/>
                <a:ea typeface="Calibri" panose="020F0502020204030204" pitchFamily="34" charset="0"/>
                <a:cs typeface="Calibri" panose="020F0502020204030204" pitchFamily="34" charset="0"/>
              </a:rPr>
              <a:t>: Combines several probability sampling methods in stages, often used in complex or large populations.</a:t>
            </a:r>
          </a:p>
        </p:txBody>
      </p:sp>
    </p:spTree>
    <p:extLst>
      <p:ext uri="{BB962C8B-B14F-4D97-AF65-F5344CB8AC3E}">
        <p14:creationId xmlns:p14="http://schemas.microsoft.com/office/powerpoint/2010/main" val="2183278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389C43F-B2C9-7FD2-DB47-D4CC731824F2}"/>
              </a:ext>
            </a:extLst>
          </p:cNvPr>
          <p:cNvSpPr txBox="1"/>
          <p:nvPr/>
        </p:nvSpPr>
        <p:spPr>
          <a:xfrm>
            <a:off x="683568" y="908720"/>
            <a:ext cx="7776864" cy="3970318"/>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B. Non-Probability Sampling</a:t>
            </a:r>
            <a:r>
              <a:rPr lang="en-US" sz="1800" dirty="0">
                <a:latin typeface="Calibri" panose="020F0502020204030204" pitchFamily="34" charset="0"/>
                <a:ea typeface="Calibri" panose="020F0502020204030204" pitchFamily="34" charset="0"/>
                <a:cs typeface="Calibri" panose="020F0502020204030204" pitchFamily="34" charset="0"/>
              </a:rPr>
              <a:t>: Members are selected in ways that do not give each individual in the population a known or equal chance of being chosen. While more convenient, non-probability sampling may introduce bias and limit generalization.</a:t>
            </a:r>
          </a:p>
          <a:p>
            <a:r>
              <a:rPr lang="en-US" sz="1800" b="1" dirty="0">
                <a:latin typeface="Calibri" panose="020F0502020204030204" pitchFamily="34" charset="0"/>
                <a:ea typeface="Calibri" panose="020F0502020204030204" pitchFamily="34" charset="0"/>
                <a:cs typeface="Calibri" panose="020F0502020204030204" pitchFamily="34" charset="0"/>
              </a:rPr>
              <a:t>1. Convenience Sampling</a:t>
            </a:r>
            <a:r>
              <a:rPr lang="en-US" sz="1800" dirty="0">
                <a:latin typeface="Calibri" panose="020F0502020204030204" pitchFamily="34" charset="0"/>
                <a:ea typeface="Calibri" panose="020F0502020204030204" pitchFamily="34" charset="0"/>
                <a:cs typeface="Calibri" panose="020F0502020204030204" pitchFamily="34" charset="0"/>
              </a:rPr>
              <a:t>: Selection based on ease of access. For example, surveying people nearby. Quick and cost-effective but not necessarily representative.</a:t>
            </a:r>
          </a:p>
          <a:p>
            <a:r>
              <a:rPr lang="en-US" sz="1800" b="1" dirty="0">
                <a:latin typeface="Calibri" panose="020F0502020204030204" pitchFamily="34" charset="0"/>
                <a:ea typeface="Calibri" panose="020F0502020204030204" pitchFamily="34" charset="0"/>
                <a:cs typeface="Calibri" panose="020F0502020204030204" pitchFamily="34" charset="0"/>
              </a:rPr>
              <a:t>2. Judgmental or Purposive Sampling</a:t>
            </a:r>
            <a:r>
              <a:rPr lang="en-US" sz="1800" dirty="0">
                <a:latin typeface="Calibri" panose="020F0502020204030204" pitchFamily="34" charset="0"/>
                <a:ea typeface="Calibri" panose="020F0502020204030204" pitchFamily="34" charset="0"/>
                <a:cs typeface="Calibri" panose="020F0502020204030204" pitchFamily="34" charset="0"/>
              </a:rPr>
              <a:t>: The researcher uses their judgment to select the sample based on specific criteria. Useful in exploratory studies or when a specific subset of the population is of interest.</a:t>
            </a:r>
          </a:p>
          <a:p>
            <a:r>
              <a:rPr lang="en-US" sz="1800" b="1" dirty="0">
                <a:latin typeface="Calibri" panose="020F0502020204030204" pitchFamily="34" charset="0"/>
                <a:ea typeface="Calibri" panose="020F0502020204030204" pitchFamily="34" charset="0"/>
                <a:cs typeface="Calibri" panose="020F0502020204030204" pitchFamily="34" charset="0"/>
              </a:rPr>
              <a:t>3. Quota Sampling</a:t>
            </a:r>
            <a:r>
              <a:rPr lang="en-US" sz="1800" dirty="0">
                <a:latin typeface="Calibri" panose="020F0502020204030204" pitchFamily="34" charset="0"/>
                <a:ea typeface="Calibri" panose="020F0502020204030204" pitchFamily="34" charset="0"/>
                <a:cs typeface="Calibri" panose="020F0502020204030204" pitchFamily="34" charset="0"/>
              </a:rPr>
              <a:t>: Similar to stratified sampling but without random selection. Researchers gather data from predetermined quotas within specific subgroups.</a:t>
            </a:r>
          </a:p>
          <a:p>
            <a:r>
              <a:rPr lang="en-US" sz="1800" b="1" dirty="0">
                <a:latin typeface="Calibri" panose="020F0502020204030204" pitchFamily="34" charset="0"/>
                <a:ea typeface="Calibri" panose="020F0502020204030204" pitchFamily="34" charset="0"/>
                <a:cs typeface="Calibri" panose="020F0502020204030204" pitchFamily="34" charset="0"/>
              </a:rPr>
              <a:t>4. Snowball Sampling</a:t>
            </a:r>
            <a:r>
              <a:rPr lang="en-US" sz="1800" dirty="0">
                <a:latin typeface="Calibri" panose="020F0502020204030204" pitchFamily="34" charset="0"/>
                <a:ea typeface="Calibri" panose="020F0502020204030204" pitchFamily="34" charset="0"/>
                <a:cs typeface="Calibri" panose="020F0502020204030204" pitchFamily="34" charset="0"/>
              </a:rPr>
              <a:t>: Initial subjects are selected, and they refer others, building the sample. Common in hard-to-reach populations, like specific social groups.</a:t>
            </a:r>
          </a:p>
        </p:txBody>
      </p:sp>
    </p:spTree>
    <p:extLst>
      <p:ext uri="{BB962C8B-B14F-4D97-AF65-F5344CB8AC3E}">
        <p14:creationId xmlns:p14="http://schemas.microsoft.com/office/powerpoint/2010/main" val="24811509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A1DF3D1-1531-8472-B8EC-D9AC4C78078D}"/>
              </a:ext>
            </a:extLst>
          </p:cNvPr>
          <p:cNvSpPr txBox="1"/>
          <p:nvPr/>
        </p:nvSpPr>
        <p:spPr>
          <a:xfrm>
            <a:off x="386535" y="289679"/>
            <a:ext cx="8370930" cy="6278642"/>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Sample Size</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Choosing an appropriate sample size is essential to ensure accurate and reliable results. Factors influencing sample size include:</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Population Size</a:t>
            </a:r>
            <a:r>
              <a:rPr lang="en-US" sz="1800" dirty="0">
                <a:latin typeface="Calibri" panose="020F0502020204030204" pitchFamily="34" charset="0"/>
                <a:ea typeface="Calibri" panose="020F0502020204030204" pitchFamily="34" charset="0"/>
                <a:cs typeface="Calibri" panose="020F0502020204030204" pitchFamily="34" charset="0"/>
              </a:rPr>
              <a:t>: The total number of subjects or units in the population. A smaller population might allow for a smaller sample, whereas a large population often requires a larger sample.</a:t>
            </a:r>
          </a:p>
          <a:p>
            <a:pPr>
              <a:buFont typeface="+mj-lt"/>
              <a:buAutoNum type="arabicPeriod"/>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Margin of Error (</a:t>
            </a:r>
            <a:r>
              <a:rPr lang="en-US" sz="1800" b="1" dirty="0" err="1">
                <a:latin typeface="Calibri" panose="020F0502020204030204" pitchFamily="34" charset="0"/>
                <a:ea typeface="Calibri" panose="020F0502020204030204" pitchFamily="34" charset="0"/>
                <a:cs typeface="Calibri" panose="020F0502020204030204" pitchFamily="34" charset="0"/>
              </a:rPr>
              <a:t>MoE</a:t>
            </a:r>
            <a:r>
              <a:rPr lang="en-US" sz="1800" b="1" dirty="0">
                <a:latin typeface="Calibri" panose="020F0502020204030204" pitchFamily="34" charset="0"/>
                <a:ea typeface="Calibri" panose="020F0502020204030204" pitchFamily="34" charset="0"/>
                <a:cs typeface="Calibri" panose="020F0502020204030204" pitchFamily="34" charset="0"/>
              </a:rPr>
              <a:t>)</a:t>
            </a:r>
            <a:r>
              <a:rPr lang="en-US" sz="1800" dirty="0">
                <a:latin typeface="Calibri" panose="020F0502020204030204" pitchFamily="34" charset="0"/>
                <a:ea typeface="Calibri" panose="020F0502020204030204" pitchFamily="34" charset="0"/>
                <a:cs typeface="Calibri" panose="020F0502020204030204" pitchFamily="34" charset="0"/>
              </a:rPr>
              <a:t>: The desired precision of the estimate, usually expressed as a percentage. A smaller </a:t>
            </a:r>
            <a:r>
              <a:rPr lang="en-US" sz="1800" dirty="0" err="1">
                <a:latin typeface="Calibri" panose="020F0502020204030204" pitchFamily="34" charset="0"/>
                <a:ea typeface="Calibri" panose="020F0502020204030204" pitchFamily="34" charset="0"/>
                <a:cs typeface="Calibri" panose="020F0502020204030204" pitchFamily="34" charset="0"/>
              </a:rPr>
              <a:t>MoE</a:t>
            </a:r>
            <a:r>
              <a:rPr lang="en-US" sz="1800" dirty="0">
                <a:latin typeface="Calibri" panose="020F0502020204030204" pitchFamily="34" charset="0"/>
                <a:ea typeface="Calibri" panose="020F0502020204030204" pitchFamily="34" charset="0"/>
                <a:cs typeface="Calibri" panose="020F0502020204030204" pitchFamily="34" charset="0"/>
              </a:rPr>
              <a:t> requires a larger sample size to improve accuracy.</a:t>
            </a:r>
          </a:p>
          <a:p>
            <a:pPr>
              <a:buFont typeface="+mj-lt"/>
              <a:buAutoNum type="arabicPeriod"/>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Confidence Level</a:t>
            </a:r>
            <a:r>
              <a:rPr lang="en-US" sz="1800" dirty="0">
                <a:latin typeface="Calibri" panose="020F0502020204030204" pitchFamily="34" charset="0"/>
                <a:ea typeface="Calibri" panose="020F0502020204030204" pitchFamily="34" charset="0"/>
                <a:cs typeface="Calibri" panose="020F0502020204030204" pitchFamily="34" charset="0"/>
              </a:rPr>
              <a:t>: The degree of certainty that the true population parameter lies within the margin of error around the sample estimate. Common confidence levels are 90%, 95%, and 99%. Higher confidence levels require larger sample sizes.</a:t>
            </a:r>
          </a:p>
          <a:p>
            <a:pPr>
              <a:buFont typeface="+mj-lt"/>
              <a:buAutoNum type="arabicPeriod"/>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Population Variability</a:t>
            </a:r>
            <a:r>
              <a:rPr lang="en-US" sz="1800" dirty="0">
                <a:latin typeface="Calibri" panose="020F0502020204030204" pitchFamily="34" charset="0"/>
                <a:ea typeface="Calibri" panose="020F0502020204030204" pitchFamily="34" charset="0"/>
                <a:cs typeface="Calibri" panose="020F0502020204030204" pitchFamily="34" charset="0"/>
              </a:rPr>
              <a:t>: The degree to which subjects in the population differ from each other. Higher variability necessitates a larger sample size to capture the diversity accurately.</a:t>
            </a:r>
          </a:p>
          <a:p>
            <a:pPr>
              <a:buFont typeface="+mj-lt"/>
              <a:buAutoNum type="arabicPeriod"/>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Study Design and Goals</a:t>
            </a:r>
            <a:r>
              <a:rPr lang="en-US" sz="1800" dirty="0">
                <a:latin typeface="Calibri" panose="020F0502020204030204" pitchFamily="34" charset="0"/>
                <a:ea typeface="Calibri" panose="020F0502020204030204" pitchFamily="34" charset="0"/>
                <a:cs typeface="Calibri" panose="020F0502020204030204" pitchFamily="34" charset="0"/>
              </a:rPr>
              <a:t>: Complex designs or comparisons between groups typically require larger samples.</a:t>
            </a:r>
          </a:p>
        </p:txBody>
      </p:sp>
    </p:spTree>
    <p:extLst>
      <p:ext uri="{BB962C8B-B14F-4D97-AF65-F5344CB8AC3E}">
        <p14:creationId xmlns:p14="http://schemas.microsoft.com/office/powerpoint/2010/main" val="3841333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C714B98-8E76-6A3B-602C-FFE367A73C86}"/>
              </a:ext>
            </a:extLst>
          </p:cNvPr>
          <p:cNvSpPr txBox="1"/>
          <p:nvPr/>
        </p:nvSpPr>
        <p:spPr>
          <a:xfrm>
            <a:off x="1151620" y="843677"/>
            <a:ext cx="7632848" cy="4031873"/>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Sample Size Calculation</a:t>
            </a:r>
          </a:p>
          <a:p>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For simple random sampling with a proportion estimate, the required sample size </a:t>
            </a:r>
            <a:r>
              <a:rPr lang="en-US" sz="1800" i="1" dirty="0">
                <a:latin typeface="Calibri" panose="020F0502020204030204" pitchFamily="34" charset="0"/>
                <a:ea typeface="Calibri" panose="020F0502020204030204" pitchFamily="34" charset="0"/>
                <a:cs typeface="Calibri" panose="020F0502020204030204" pitchFamily="34" charset="0"/>
              </a:rPr>
              <a:t>n</a:t>
            </a:r>
            <a:r>
              <a:rPr lang="en-US" sz="1800" dirty="0">
                <a:latin typeface="Calibri" panose="020F0502020204030204" pitchFamily="34" charset="0"/>
                <a:ea typeface="Calibri" panose="020F0502020204030204" pitchFamily="34" charset="0"/>
                <a:cs typeface="Calibri" panose="020F0502020204030204" pitchFamily="34" charset="0"/>
              </a:rPr>
              <a:t> can be calculated using:</a:t>
            </a: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​where:</a:t>
            </a:r>
          </a:p>
          <a:p>
            <a:pPr>
              <a:buFont typeface="Arial" panose="020B0604020202020204" pitchFamily="34" charset="0"/>
              <a:buChar char="•"/>
            </a:pPr>
            <a:r>
              <a:rPr lang="en-US" sz="1800" i="1" dirty="0">
                <a:latin typeface="Calibri" panose="020F0502020204030204" pitchFamily="34" charset="0"/>
                <a:ea typeface="Calibri" panose="020F0502020204030204" pitchFamily="34" charset="0"/>
                <a:cs typeface="Calibri" panose="020F0502020204030204" pitchFamily="34" charset="0"/>
              </a:rPr>
              <a:t>Z</a:t>
            </a:r>
            <a:r>
              <a:rPr lang="en-US" sz="1800" dirty="0">
                <a:latin typeface="Calibri" panose="020F0502020204030204" pitchFamily="34" charset="0"/>
                <a:ea typeface="Calibri" panose="020F0502020204030204" pitchFamily="34" charset="0"/>
                <a:cs typeface="Calibri" panose="020F0502020204030204" pitchFamily="34" charset="0"/>
              </a:rPr>
              <a:t> is the Z-score corresponding to the desired confidence level,</a:t>
            </a:r>
          </a:p>
          <a:p>
            <a:pPr>
              <a:buFont typeface="Arial" panose="020B0604020202020204" pitchFamily="34" charset="0"/>
              <a:buChar char="•"/>
            </a:pPr>
            <a:r>
              <a:rPr lang="en-US" sz="1800" i="1" dirty="0">
                <a:latin typeface="Calibri" panose="020F0502020204030204" pitchFamily="34" charset="0"/>
                <a:ea typeface="Calibri" panose="020F0502020204030204" pitchFamily="34" charset="0"/>
                <a:cs typeface="Calibri" panose="020F0502020204030204" pitchFamily="34" charset="0"/>
              </a:rPr>
              <a:t>p</a:t>
            </a:r>
            <a:r>
              <a:rPr lang="en-US" sz="1800" dirty="0">
                <a:latin typeface="Calibri" panose="020F0502020204030204" pitchFamily="34" charset="0"/>
                <a:ea typeface="Calibri" panose="020F0502020204030204" pitchFamily="34" charset="0"/>
                <a:cs typeface="Calibri" panose="020F0502020204030204" pitchFamily="34" charset="0"/>
              </a:rPr>
              <a:t> is the estimated proportion (often set at 0.5 when unknown for maximum variability),</a:t>
            </a:r>
          </a:p>
          <a:p>
            <a:pPr>
              <a:buFont typeface="Arial" panose="020B0604020202020204" pitchFamily="34" charset="0"/>
              <a:buChar char="•"/>
            </a:pPr>
            <a:r>
              <a:rPr lang="en-US" sz="1800" i="1" dirty="0">
                <a:latin typeface="Calibri" panose="020F0502020204030204" pitchFamily="34" charset="0"/>
                <a:ea typeface="Calibri" panose="020F0502020204030204" pitchFamily="34" charset="0"/>
                <a:cs typeface="Calibri" panose="020F0502020204030204" pitchFamily="34" charset="0"/>
              </a:rPr>
              <a:t>E</a:t>
            </a:r>
            <a:r>
              <a:rPr lang="en-US" sz="1800" dirty="0">
                <a:latin typeface="Calibri" panose="020F0502020204030204" pitchFamily="34" charset="0"/>
                <a:ea typeface="Calibri" panose="020F0502020204030204" pitchFamily="34" charset="0"/>
                <a:cs typeface="Calibri" panose="020F0502020204030204" pitchFamily="34" charset="0"/>
              </a:rPr>
              <a:t> is the margin of error.</a:t>
            </a:r>
          </a:p>
        </p:txBody>
      </p:sp>
      <p:pic>
        <p:nvPicPr>
          <p:cNvPr id="5" name="Picture 4">
            <a:extLst>
              <a:ext uri="{FF2B5EF4-FFF2-40B4-BE49-F238E27FC236}">
                <a16:creationId xmlns:a16="http://schemas.microsoft.com/office/drawing/2014/main" xmlns="" id="{190BD8AD-8AE1-C012-D008-AB25F541FE02}"/>
              </a:ext>
            </a:extLst>
          </p:cNvPr>
          <p:cNvPicPr>
            <a:picLocks noChangeAspect="1"/>
          </p:cNvPicPr>
          <p:nvPr/>
        </p:nvPicPr>
        <p:blipFill>
          <a:blip r:embed="rId2"/>
          <a:stretch>
            <a:fillRect/>
          </a:stretch>
        </p:blipFill>
        <p:spPr>
          <a:xfrm>
            <a:off x="3311860" y="2222516"/>
            <a:ext cx="2229161" cy="819264"/>
          </a:xfrm>
          <a:prstGeom prst="rect">
            <a:avLst/>
          </a:prstGeom>
        </p:spPr>
      </p:pic>
    </p:spTree>
    <p:extLst>
      <p:ext uri="{BB962C8B-B14F-4D97-AF65-F5344CB8AC3E}">
        <p14:creationId xmlns:p14="http://schemas.microsoft.com/office/powerpoint/2010/main" val="630639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6C4EB83-EE91-ABAF-CD31-50AE42B5E70B}"/>
              </a:ext>
            </a:extLst>
          </p:cNvPr>
          <p:cNvSpPr txBox="1"/>
          <p:nvPr/>
        </p:nvSpPr>
        <p:spPr>
          <a:xfrm>
            <a:off x="863588" y="944724"/>
            <a:ext cx="7200800" cy="1508105"/>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Example: </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Suppose a researcher wants a 95% confidence level (</a:t>
            </a:r>
            <a:r>
              <a:rPr lang="en-US" sz="1800" i="1" dirty="0">
                <a:latin typeface="Calibri" panose="020F0502020204030204" pitchFamily="34" charset="0"/>
                <a:ea typeface="Calibri" panose="020F0502020204030204" pitchFamily="34" charset="0"/>
                <a:cs typeface="Calibri" panose="020F0502020204030204" pitchFamily="34" charset="0"/>
              </a:rPr>
              <a:t>Z</a:t>
            </a:r>
            <a:r>
              <a:rPr lang="en-US" sz="1800" dirty="0">
                <a:latin typeface="Calibri" panose="020F0502020204030204" pitchFamily="34" charset="0"/>
                <a:ea typeface="Calibri" panose="020F0502020204030204" pitchFamily="34" charset="0"/>
                <a:cs typeface="Calibri" panose="020F0502020204030204" pitchFamily="34" charset="0"/>
              </a:rPr>
              <a:t> = 1.96) with a 5% margin of error for a survey where they expect the population proportion to be approximately 0.4.</a:t>
            </a:r>
          </a:p>
        </p:txBody>
      </p:sp>
      <p:pic>
        <p:nvPicPr>
          <p:cNvPr id="5" name="Picture 4">
            <a:extLst>
              <a:ext uri="{FF2B5EF4-FFF2-40B4-BE49-F238E27FC236}">
                <a16:creationId xmlns:a16="http://schemas.microsoft.com/office/drawing/2014/main" xmlns="" id="{DBE937D4-659F-4D6A-C340-45BB7309277C}"/>
              </a:ext>
            </a:extLst>
          </p:cNvPr>
          <p:cNvPicPr>
            <a:picLocks noChangeAspect="1"/>
          </p:cNvPicPr>
          <p:nvPr/>
        </p:nvPicPr>
        <p:blipFill>
          <a:blip r:embed="rId2"/>
          <a:stretch>
            <a:fillRect/>
          </a:stretch>
        </p:blipFill>
        <p:spPr>
          <a:xfrm>
            <a:off x="2483768" y="2557306"/>
            <a:ext cx="3448531" cy="838317"/>
          </a:xfrm>
          <a:prstGeom prst="rect">
            <a:avLst/>
          </a:prstGeom>
        </p:spPr>
      </p:pic>
      <p:sp>
        <p:nvSpPr>
          <p:cNvPr id="7" name="TextBox 6">
            <a:extLst>
              <a:ext uri="{FF2B5EF4-FFF2-40B4-BE49-F238E27FC236}">
                <a16:creationId xmlns:a16="http://schemas.microsoft.com/office/drawing/2014/main" xmlns="" id="{F406EC7F-1175-ACDA-3DBE-997FAC9A7FCC}"/>
              </a:ext>
            </a:extLst>
          </p:cNvPr>
          <p:cNvSpPr txBox="1"/>
          <p:nvPr/>
        </p:nvSpPr>
        <p:spPr>
          <a:xfrm>
            <a:off x="935596" y="3476727"/>
            <a:ext cx="7128792" cy="646331"/>
          </a:xfrm>
          <a:prstGeom prst="rect">
            <a:avLst/>
          </a:prstGeom>
          <a:noFill/>
        </p:spPr>
        <p:txBody>
          <a:bodyPr wrap="square">
            <a:sp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Thus, a sample size of approximately 369 would be needed to meet the criteria.</a:t>
            </a:r>
          </a:p>
        </p:txBody>
      </p:sp>
    </p:spTree>
    <p:extLst>
      <p:ext uri="{BB962C8B-B14F-4D97-AF65-F5344CB8AC3E}">
        <p14:creationId xmlns:p14="http://schemas.microsoft.com/office/powerpoint/2010/main" val="20576992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C69B639-ECDF-B094-FC34-AFC2FCA61F64}"/>
              </a:ext>
            </a:extLst>
          </p:cNvPr>
          <p:cNvSpPr txBox="1"/>
          <p:nvPr/>
        </p:nvSpPr>
        <p:spPr>
          <a:xfrm>
            <a:off x="904561" y="1700808"/>
            <a:ext cx="7272808" cy="2123658"/>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Sample tests</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Sample tests, also known as hypothesis tests, are statistical methods used to make inferences about a population based on a sample. These tests help determine if observed data significantly differ from expected outcomes or population parameters. Sample tests are crucial in research, quality control, and decision-making processes.</a:t>
            </a:r>
          </a:p>
        </p:txBody>
      </p:sp>
    </p:spTree>
    <p:extLst>
      <p:ext uri="{BB962C8B-B14F-4D97-AF65-F5344CB8AC3E}">
        <p14:creationId xmlns:p14="http://schemas.microsoft.com/office/powerpoint/2010/main" val="24932953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9A2C8C0-D462-6DC7-205C-01362717A231}"/>
              </a:ext>
            </a:extLst>
          </p:cNvPr>
          <p:cNvSpPr txBox="1"/>
          <p:nvPr/>
        </p:nvSpPr>
        <p:spPr>
          <a:xfrm>
            <a:off x="611560" y="692696"/>
            <a:ext cx="8208912" cy="4320480"/>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Types of Sample Tests</a:t>
            </a:r>
          </a:p>
          <a:p>
            <a:endParaRPr lang="en-US" sz="2400" b="1"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Z-Test</a:t>
            </a:r>
          </a:p>
          <a:p>
            <a:pPr>
              <a:buFont typeface="+mj-lt"/>
              <a:buAutoNum type="arabicPeriod"/>
            </a:pPr>
            <a:endParaRPr lang="en-US" sz="1800" b="1"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Used when the population variance is known, or the sample size is large (typically n&gt;30).</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Assumes a normally distributed population.</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Common types:</a:t>
            </a:r>
          </a:p>
          <a:p>
            <a:pPr marL="1143000" lvl="2" indent="-2286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One-Sample Z-Test</a:t>
            </a:r>
            <a:r>
              <a:rPr lang="en-US" sz="1800" dirty="0">
                <a:latin typeface="Calibri" panose="020F0502020204030204" pitchFamily="34" charset="0"/>
                <a:ea typeface="Calibri" panose="020F0502020204030204" pitchFamily="34" charset="0"/>
                <a:cs typeface="Calibri" panose="020F0502020204030204" pitchFamily="34" charset="0"/>
              </a:rPr>
              <a:t>: Tests if a sample mean differs from a known population mean.</a:t>
            </a:r>
          </a:p>
          <a:p>
            <a:pPr marL="1143000" lvl="2" indent="-2286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Two-Sample Z-Test</a:t>
            </a:r>
            <a:r>
              <a:rPr lang="en-US" sz="1800" dirty="0">
                <a:latin typeface="Calibri" panose="020F0502020204030204" pitchFamily="34" charset="0"/>
                <a:ea typeface="Calibri" panose="020F0502020204030204" pitchFamily="34" charset="0"/>
                <a:cs typeface="Calibri" panose="020F0502020204030204" pitchFamily="34" charset="0"/>
              </a:rPr>
              <a:t>: Compares the means of two independent samples to see if they differ significantly.</a:t>
            </a:r>
          </a:p>
        </p:txBody>
      </p:sp>
    </p:spTree>
    <p:extLst>
      <p:ext uri="{BB962C8B-B14F-4D97-AF65-F5344CB8AC3E}">
        <p14:creationId xmlns:p14="http://schemas.microsoft.com/office/powerpoint/2010/main" val="40562018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764C23C-5E5D-FB1C-B537-A919BF5E1AEE}"/>
              </a:ext>
            </a:extLst>
          </p:cNvPr>
          <p:cNvSpPr txBox="1"/>
          <p:nvPr/>
        </p:nvSpPr>
        <p:spPr>
          <a:xfrm>
            <a:off x="971600" y="1088740"/>
            <a:ext cx="7452828" cy="3970318"/>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T-Test</a:t>
            </a:r>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Used when the population variance is unknown, and the sample size is small (n≤30).</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Assumes normally distributed data, though it's robust to small deviations.</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Types:</a:t>
            </a:r>
          </a:p>
          <a:p>
            <a:pPr marL="742950" lvl="1"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One-Sample T-Test</a:t>
            </a:r>
            <a:r>
              <a:rPr lang="en-US" sz="1800" dirty="0">
                <a:latin typeface="Calibri" panose="020F0502020204030204" pitchFamily="34" charset="0"/>
                <a:ea typeface="Calibri" panose="020F0502020204030204" pitchFamily="34" charset="0"/>
                <a:cs typeface="Calibri" panose="020F0502020204030204" pitchFamily="34" charset="0"/>
              </a:rPr>
              <a:t>: Tests if the sample mean differs from a known population mean.</a:t>
            </a:r>
          </a:p>
          <a:p>
            <a:pPr marL="742950" lvl="1"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Independent (Two-Sample) T-Test</a:t>
            </a:r>
            <a:r>
              <a:rPr lang="en-US" sz="1800" dirty="0">
                <a:latin typeface="Calibri" panose="020F0502020204030204" pitchFamily="34" charset="0"/>
                <a:ea typeface="Calibri" panose="020F0502020204030204" pitchFamily="34" charset="0"/>
                <a:cs typeface="Calibri" panose="020F0502020204030204" pitchFamily="34" charset="0"/>
              </a:rPr>
              <a:t>: Compares the means of two independent groups to check for significant differences.</a:t>
            </a:r>
          </a:p>
          <a:p>
            <a:pPr marL="742950" lvl="1"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Paired T-Test</a:t>
            </a:r>
            <a:r>
              <a:rPr lang="en-US" sz="1800" dirty="0">
                <a:latin typeface="Calibri" panose="020F0502020204030204" pitchFamily="34" charset="0"/>
                <a:ea typeface="Calibri" panose="020F0502020204030204" pitchFamily="34" charset="0"/>
                <a:cs typeface="Calibri" panose="020F0502020204030204" pitchFamily="34" charset="0"/>
              </a:rPr>
              <a:t>: Compares means from two related groups, such as before-and-after measurements on the same subjects.</a:t>
            </a:r>
          </a:p>
        </p:txBody>
      </p:sp>
    </p:spTree>
    <p:extLst>
      <p:ext uri="{BB962C8B-B14F-4D97-AF65-F5344CB8AC3E}">
        <p14:creationId xmlns:p14="http://schemas.microsoft.com/office/powerpoint/2010/main" val="21356870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FEB5D1D-C66C-5349-915E-E2D6B2C0D7AB}"/>
              </a:ext>
            </a:extLst>
          </p:cNvPr>
          <p:cNvSpPr txBox="1"/>
          <p:nvPr/>
        </p:nvSpPr>
        <p:spPr>
          <a:xfrm>
            <a:off x="611561" y="1016732"/>
            <a:ext cx="7776864" cy="3785652"/>
          </a:xfrm>
          <a:prstGeom prst="rect">
            <a:avLst/>
          </a:prstGeom>
          <a:noFill/>
        </p:spPr>
        <p:txBody>
          <a:bodyPr wrap="square">
            <a:spAutoFit/>
          </a:bodyPr>
          <a:lstStyle/>
          <a:p>
            <a:r>
              <a:rPr lang="en-US" sz="2400" b="1" dirty="0"/>
              <a:t>One-Sample T-Test</a:t>
            </a:r>
            <a:endParaRPr lang="en-US" sz="2400" dirty="0"/>
          </a:p>
          <a:p>
            <a:endParaRPr lang="en-US" sz="1800" b="1" dirty="0"/>
          </a:p>
          <a:p>
            <a:r>
              <a:rPr lang="en-US" sz="1800" b="1" dirty="0"/>
              <a:t>Purpose</a:t>
            </a:r>
            <a:r>
              <a:rPr lang="en-US" sz="1800" dirty="0"/>
              <a:t>: Tests whether the mean of a single sample differs from a known or hypothesized population mean.</a:t>
            </a:r>
          </a:p>
          <a:p>
            <a:endParaRPr lang="en-US" sz="1800" b="1" dirty="0"/>
          </a:p>
          <a:p>
            <a:r>
              <a:rPr lang="en-US" sz="1800" b="1" dirty="0"/>
              <a:t>Example</a:t>
            </a:r>
            <a:r>
              <a:rPr lang="en-US" sz="1800" dirty="0"/>
              <a:t>: Determining if the average weight of a sample of apples differs from a hypothesized average weight of 150 grams.</a:t>
            </a:r>
          </a:p>
          <a:p>
            <a:endParaRPr lang="en-US" sz="1800" b="1" dirty="0"/>
          </a:p>
          <a:p>
            <a:r>
              <a:rPr lang="en-US" sz="1800" b="1" dirty="0"/>
              <a:t>Hypotheses</a:t>
            </a:r>
            <a:r>
              <a:rPr lang="en-US" sz="1800" dirty="0"/>
              <a:t>:</a:t>
            </a:r>
          </a:p>
          <a:p>
            <a:pPr marL="742950" lvl="1" indent="-285750">
              <a:buFont typeface="Arial" panose="020B0604020202020204" pitchFamily="34" charset="0"/>
              <a:buChar char="•"/>
            </a:pPr>
            <a:r>
              <a:rPr lang="en-US" sz="1800" b="1" dirty="0"/>
              <a:t>Null Hypothesis (</a:t>
            </a:r>
            <a:r>
              <a:rPr lang="en-US" sz="1800" b="1" i="1" dirty="0"/>
              <a:t>H</a:t>
            </a:r>
            <a:r>
              <a:rPr lang="en-US" sz="1800" b="1" i="1" baseline="-25000" dirty="0"/>
              <a:t>0</a:t>
            </a:r>
            <a:r>
              <a:rPr lang="en-US" sz="1800" b="1" dirty="0"/>
              <a:t>​)</a:t>
            </a:r>
            <a:r>
              <a:rPr lang="en-US" sz="1800" dirty="0"/>
              <a:t>: The sample mean is equal to the population mean.</a:t>
            </a:r>
          </a:p>
          <a:p>
            <a:pPr marL="742950" lvl="1" indent="-285750">
              <a:buFont typeface="Arial" panose="020B0604020202020204" pitchFamily="34" charset="0"/>
              <a:buChar char="•"/>
            </a:pPr>
            <a:r>
              <a:rPr lang="en-US" sz="1800" b="1" dirty="0"/>
              <a:t>Alternative Hypothesis (</a:t>
            </a:r>
            <a:r>
              <a:rPr lang="en-US" sz="1800" b="1" i="1" dirty="0"/>
              <a:t>H</a:t>
            </a:r>
            <a:r>
              <a:rPr lang="en-US" sz="1800" b="1" i="1" baseline="-25000" dirty="0"/>
              <a:t>a</a:t>
            </a:r>
            <a:r>
              <a:rPr lang="en-US" sz="1800" b="1" dirty="0"/>
              <a:t>​)</a:t>
            </a:r>
            <a:r>
              <a:rPr lang="en-US" sz="1800" dirty="0"/>
              <a:t>: The sample mean is different from the population mean.</a:t>
            </a:r>
          </a:p>
        </p:txBody>
      </p:sp>
    </p:spTree>
    <p:extLst>
      <p:ext uri="{BB962C8B-B14F-4D97-AF65-F5344CB8AC3E}">
        <p14:creationId xmlns:p14="http://schemas.microsoft.com/office/powerpoint/2010/main" val="4118577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C10DDBEF-46A4-D308-5E59-752E406322A8}"/>
                  </a:ext>
                </a:extLst>
              </p:cNvPr>
              <p:cNvSpPr txBox="1"/>
              <p:nvPr/>
            </p:nvSpPr>
            <p:spPr>
              <a:xfrm>
                <a:off x="1415693" y="1196752"/>
                <a:ext cx="6768752" cy="2893100"/>
              </a:xfrm>
              <a:prstGeom prst="rect">
                <a:avLst/>
              </a:prstGeom>
              <a:noFill/>
            </p:spPr>
            <p:txBody>
              <a:bodyPr wrap="square">
                <a:spAutoFit/>
              </a:bodyPr>
              <a:lstStyle/>
              <a:p>
                <a:r>
                  <a:rPr lang="en-US" sz="2000" b="1" dirty="0"/>
                  <a:t>Formula</a:t>
                </a:r>
                <a:r>
                  <a:rPr lang="en-US" sz="2000" dirty="0"/>
                  <a:t>:</a:t>
                </a:r>
              </a:p>
              <a:p>
                <a:endParaRPr lang="en-US" sz="1800" dirty="0"/>
              </a:p>
              <a:p>
                <a:endParaRPr lang="en-US" sz="1800" dirty="0"/>
              </a:p>
              <a:p>
                <a:endParaRPr lang="en-US" sz="1800" dirty="0"/>
              </a:p>
              <a:p>
                <a:endParaRPr lang="en-IN" sz="1800" dirty="0"/>
              </a:p>
              <a:p>
                <a:r>
                  <a:rPr lang="en-US" sz="1800" dirty="0"/>
                  <a:t>where:</a:t>
                </a:r>
              </a:p>
              <a:p>
                <a:pPr>
                  <a:buFont typeface="Arial" panose="020B0604020202020204" pitchFamily="34" charset="0"/>
                  <a:buChar char="•"/>
                </a:pPr>
                <a:r>
                  <a:rPr lang="en-US" sz="1800" dirty="0"/>
                  <a:t> </a:t>
                </a:r>
                <a14:m>
                  <m:oMath xmlns:m="http://schemas.openxmlformats.org/officeDocument/2006/math">
                    <m:acc>
                      <m:accPr>
                        <m:chr m:val="̅"/>
                        <m:ctrlPr>
                          <a:rPr lang="en-US" sz="1800" i="1" smtClean="0">
                            <a:latin typeface="Cambria Math"/>
                          </a:rPr>
                        </m:ctrlPr>
                      </m:accPr>
                      <m:e>
                        <m:r>
                          <a:rPr lang="en-IN" sz="1800" b="0" i="1" smtClean="0">
                            <a:latin typeface="Cambria Math" panose="02040503050406030204" pitchFamily="18" charset="0"/>
                          </a:rPr>
                          <m:t>𝑋</m:t>
                        </m:r>
                      </m:e>
                    </m:acc>
                  </m:oMath>
                </a14:m>
                <a:r>
                  <a:rPr lang="en-US" sz="1800" dirty="0"/>
                  <a:t>is the sample mean,</a:t>
                </a:r>
              </a:p>
              <a:p>
                <a:pPr>
                  <a:buFont typeface="Arial" panose="020B0604020202020204" pitchFamily="34" charset="0"/>
                  <a:buChar char="•"/>
                </a:pPr>
                <a:r>
                  <a:rPr lang="en-IN" sz="1800" dirty="0"/>
                  <a:t> </a:t>
                </a:r>
                <a:r>
                  <a:rPr lang="el-GR" sz="1800" dirty="0"/>
                  <a:t>μ </a:t>
                </a:r>
                <a:r>
                  <a:rPr lang="en-US" sz="1800" dirty="0"/>
                  <a:t>is the population mean,</a:t>
                </a:r>
              </a:p>
              <a:p>
                <a:pPr>
                  <a:buFont typeface="Arial" panose="020B0604020202020204" pitchFamily="34" charset="0"/>
                  <a:buChar char="•"/>
                </a:pPr>
                <a:r>
                  <a:rPr lang="en-US" sz="1800" dirty="0"/>
                  <a:t> </a:t>
                </a:r>
                <a:r>
                  <a:rPr lang="en-US" sz="1800" i="1" dirty="0"/>
                  <a:t>s</a:t>
                </a:r>
                <a:r>
                  <a:rPr lang="en-US" sz="1800" dirty="0"/>
                  <a:t> is the sample standard deviation,</a:t>
                </a:r>
              </a:p>
              <a:p>
                <a:pPr>
                  <a:buFont typeface="Arial" panose="020B0604020202020204" pitchFamily="34" charset="0"/>
                  <a:buChar char="•"/>
                </a:pPr>
                <a:r>
                  <a:rPr lang="en-US" sz="1800" dirty="0"/>
                  <a:t> </a:t>
                </a:r>
                <a:r>
                  <a:rPr lang="en-US" sz="1800" i="1" dirty="0"/>
                  <a:t>n</a:t>
                </a:r>
                <a:r>
                  <a:rPr lang="en-US" sz="1800" dirty="0"/>
                  <a:t> is the sample size.</a:t>
                </a:r>
              </a:p>
            </p:txBody>
          </p:sp>
        </mc:Choice>
        <mc:Fallback xmlns="">
          <p:sp>
            <p:nvSpPr>
              <p:cNvPr id="3" name="TextBox 2">
                <a:extLst>
                  <a:ext uri="{FF2B5EF4-FFF2-40B4-BE49-F238E27FC236}">
                    <a16:creationId xmlns:a16="http://schemas.microsoft.com/office/drawing/2014/main" id="{C10DDBEF-46A4-D308-5E59-752E406322A8}"/>
                  </a:ext>
                </a:extLst>
              </p:cNvPr>
              <p:cNvSpPr txBox="1">
                <a:spLocks noRot="1" noChangeAspect="1" noMove="1" noResize="1" noEditPoints="1" noAdjustHandles="1" noChangeArrowheads="1" noChangeShapeType="1" noTextEdit="1"/>
              </p:cNvSpPr>
              <p:nvPr/>
            </p:nvSpPr>
            <p:spPr>
              <a:xfrm>
                <a:off x="1415693" y="1196752"/>
                <a:ext cx="6768752" cy="2893100"/>
              </a:xfrm>
              <a:prstGeom prst="rect">
                <a:avLst/>
              </a:prstGeom>
              <a:blipFill>
                <a:blip r:embed="rId2"/>
                <a:stretch>
                  <a:fillRect l="-900" t="-1053" b="-231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xmlns="" id="{DD602E85-EE7C-976A-9B86-283722392FDA}"/>
              </a:ext>
            </a:extLst>
          </p:cNvPr>
          <p:cNvPicPr>
            <a:picLocks noChangeAspect="1"/>
          </p:cNvPicPr>
          <p:nvPr/>
        </p:nvPicPr>
        <p:blipFill>
          <a:blip r:embed="rId3"/>
          <a:stretch>
            <a:fillRect/>
          </a:stretch>
        </p:blipFill>
        <p:spPr>
          <a:xfrm>
            <a:off x="3491880" y="1484784"/>
            <a:ext cx="1524213" cy="981212"/>
          </a:xfrm>
          <a:prstGeom prst="rect">
            <a:avLst/>
          </a:prstGeom>
        </p:spPr>
      </p:pic>
    </p:spTree>
    <p:extLst>
      <p:ext uri="{BB962C8B-B14F-4D97-AF65-F5344CB8AC3E}">
        <p14:creationId xmlns:p14="http://schemas.microsoft.com/office/powerpoint/2010/main" val="1144169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4405AD3-A5D4-697E-7E71-6EF1D87DBA59}"/>
              </a:ext>
            </a:extLst>
          </p:cNvPr>
          <p:cNvSpPr txBox="1"/>
          <p:nvPr/>
        </p:nvSpPr>
        <p:spPr>
          <a:xfrm>
            <a:off x="791580" y="728700"/>
            <a:ext cx="7740860" cy="5170646"/>
          </a:xfrm>
          <a:prstGeom prst="rect">
            <a:avLst/>
          </a:prstGeom>
          <a:noFill/>
        </p:spPr>
        <p:txBody>
          <a:bodyPr wrap="square">
            <a:spAutoFit/>
          </a:bodyPr>
          <a:lstStyle/>
          <a:p>
            <a:r>
              <a:rPr lang="en-US" sz="2400" b="1" dirty="0"/>
              <a:t>Independent (Two-Sample) T-Test</a:t>
            </a:r>
            <a:endParaRPr lang="en-US" sz="2400" dirty="0"/>
          </a:p>
          <a:p>
            <a:endParaRPr lang="en-US" sz="1800" b="1" dirty="0"/>
          </a:p>
          <a:p>
            <a:r>
              <a:rPr lang="en-US" sz="1800" b="1" dirty="0"/>
              <a:t>Purpose</a:t>
            </a:r>
            <a:r>
              <a:rPr lang="en-US" sz="1800" dirty="0"/>
              <a:t>: Tests whether the means of two independent groups differ significantly.</a:t>
            </a:r>
          </a:p>
          <a:p>
            <a:endParaRPr lang="en-US" sz="1800" b="1" dirty="0"/>
          </a:p>
          <a:p>
            <a:r>
              <a:rPr lang="en-US" sz="1800" b="1" dirty="0"/>
              <a:t>Example</a:t>
            </a:r>
            <a:r>
              <a:rPr lang="en-US" sz="1800" dirty="0"/>
              <a:t>: Comparing the average test scores of two different teaching methods.</a:t>
            </a:r>
          </a:p>
          <a:p>
            <a:endParaRPr lang="en-US" sz="1800" b="1" dirty="0"/>
          </a:p>
          <a:p>
            <a:r>
              <a:rPr lang="en-US" sz="1800" b="1" dirty="0"/>
              <a:t>Hypotheses</a:t>
            </a:r>
            <a:r>
              <a:rPr lang="en-US" sz="1800" dirty="0"/>
              <a:t>:</a:t>
            </a:r>
          </a:p>
          <a:p>
            <a:pPr marL="742950" lvl="1" indent="-285750">
              <a:buFont typeface="Arial" panose="020B0604020202020204" pitchFamily="34" charset="0"/>
              <a:buChar char="•"/>
            </a:pPr>
            <a:r>
              <a:rPr lang="en-US" sz="1800" b="1" dirty="0"/>
              <a:t>Null Hypothesis (</a:t>
            </a:r>
            <a:r>
              <a:rPr lang="en-US" sz="1800" b="1" i="1" dirty="0"/>
              <a:t>H</a:t>
            </a:r>
            <a:r>
              <a:rPr lang="en-US" sz="1800" b="1" i="1" baseline="-25000" dirty="0"/>
              <a:t>0</a:t>
            </a:r>
            <a:r>
              <a:rPr lang="en-US" sz="1800" b="1" dirty="0"/>
              <a:t>​)</a:t>
            </a:r>
            <a:r>
              <a:rPr lang="en-US" sz="1800" dirty="0"/>
              <a:t>: The means of the two groups are equal.</a:t>
            </a:r>
          </a:p>
          <a:p>
            <a:pPr marL="742950" lvl="1" indent="-285750">
              <a:buFont typeface="Arial" panose="020B0604020202020204" pitchFamily="34" charset="0"/>
              <a:buChar char="•"/>
            </a:pPr>
            <a:r>
              <a:rPr lang="en-US" sz="1800" b="1" dirty="0"/>
              <a:t>Alternative Hypothesis (</a:t>
            </a:r>
            <a:r>
              <a:rPr lang="en-US" sz="1800" b="1" i="1" dirty="0"/>
              <a:t>H</a:t>
            </a:r>
            <a:r>
              <a:rPr lang="en-US" sz="1800" b="1" i="1" baseline="-25000" dirty="0"/>
              <a:t>a</a:t>
            </a:r>
            <a:r>
              <a:rPr lang="en-US" sz="1800" b="1" dirty="0"/>
              <a:t>​)</a:t>
            </a:r>
            <a:r>
              <a:rPr lang="en-US" sz="1800" dirty="0"/>
              <a:t>: The means of the two groups are different.</a:t>
            </a:r>
          </a:p>
          <a:p>
            <a:endParaRPr lang="en-US" sz="1800" b="1" dirty="0"/>
          </a:p>
          <a:p>
            <a:r>
              <a:rPr lang="en-US" sz="1800" b="1" dirty="0"/>
              <a:t>Assumptions</a:t>
            </a:r>
            <a:r>
              <a:rPr lang="en-US" sz="1800" dirty="0"/>
              <a:t>:</a:t>
            </a:r>
          </a:p>
          <a:p>
            <a:pPr marL="742950" lvl="1" indent="-285750">
              <a:buFont typeface="Arial" panose="020B0604020202020204" pitchFamily="34" charset="0"/>
              <a:buChar char="•"/>
            </a:pPr>
            <a:r>
              <a:rPr lang="en-US" sz="1800" dirty="0"/>
              <a:t>Samples are independent of each other.</a:t>
            </a:r>
          </a:p>
          <a:p>
            <a:pPr marL="742950" lvl="1" indent="-285750">
              <a:buFont typeface="Arial" panose="020B0604020202020204" pitchFamily="34" charset="0"/>
              <a:buChar char="•"/>
            </a:pPr>
            <a:r>
              <a:rPr lang="en-US" sz="1800" dirty="0"/>
              <a:t>Data should ideally be normally distributed.</a:t>
            </a:r>
          </a:p>
          <a:p>
            <a:pPr marL="742950" lvl="1" indent="-285750">
              <a:buFont typeface="Arial" panose="020B0604020202020204" pitchFamily="34" charset="0"/>
              <a:buChar char="•"/>
            </a:pPr>
            <a:r>
              <a:rPr lang="en-US" sz="1800" dirty="0"/>
              <a:t>Variances in the two groups are assumed to be equal (if not, a version known as Welch’s T-test is used).</a:t>
            </a:r>
          </a:p>
        </p:txBody>
      </p:sp>
    </p:spTree>
    <p:extLst>
      <p:ext uri="{BB962C8B-B14F-4D97-AF65-F5344CB8AC3E}">
        <p14:creationId xmlns:p14="http://schemas.microsoft.com/office/powerpoint/2010/main" val="6600534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FA11BEDE-F23A-F145-EDEB-B4D3D21537B2}"/>
                  </a:ext>
                </a:extLst>
              </p:cNvPr>
              <p:cNvSpPr txBox="1"/>
              <p:nvPr/>
            </p:nvSpPr>
            <p:spPr>
              <a:xfrm>
                <a:off x="1277634" y="1016732"/>
                <a:ext cx="6588732" cy="2682914"/>
              </a:xfrm>
              <a:prstGeom prst="rect">
                <a:avLst/>
              </a:prstGeom>
              <a:noFill/>
            </p:spPr>
            <p:txBody>
              <a:bodyPr wrap="square">
                <a:spAutoFit/>
              </a:bodyPr>
              <a:lstStyle/>
              <a:p>
                <a:r>
                  <a:rPr lang="en-US" sz="2000" b="1" dirty="0"/>
                  <a:t>Formula</a:t>
                </a:r>
                <a:r>
                  <a:rPr lang="en-US" sz="2000" dirty="0"/>
                  <a:t>:</a:t>
                </a:r>
              </a:p>
              <a:p>
                <a:endParaRPr lang="en-US" sz="1800" dirty="0"/>
              </a:p>
              <a:p>
                <a:endParaRPr lang="en-US" sz="1800" dirty="0"/>
              </a:p>
              <a:p>
                <a:endParaRPr lang="en-US" sz="1800" dirty="0"/>
              </a:p>
              <a:p>
                <a:endParaRPr lang="en-US" sz="1800" dirty="0"/>
              </a:p>
              <a:p>
                <a:r>
                  <a:rPr lang="en-US" sz="1800" dirty="0"/>
                  <a:t>​​where:</a:t>
                </a:r>
              </a:p>
              <a:p>
                <a:pPr>
                  <a:buFont typeface="Arial" panose="020B0604020202020204" pitchFamily="34" charset="0"/>
                  <a:buChar char="•"/>
                </a:pPr>
                <a:r>
                  <a:rPr lang="en-US" sz="1800" dirty="0"/>
                  <a:t> </a:t>
                </a:r>
                <a14:m>
                  <m:oMath xmlns:m="http://schemas.openxmlformats.org/officeDocument/2006/math">
                    <m:acc>
                      <m:accPr>
                        <m:chr m:val="̅"/>
                        <m:ctrlPr>
                          <a:rPr lang="en-US" sz="1800" i="1" smtClean="0">
                            <a:latin typeface="Cambria Math"/>
                          </a:rPr>
                        </m:ctrlPr>
                      </m:accPr>
                      <m:e>
                        <m:sSub>
                          <m:sSubPr>
                            <m:ctrlPr>
                              <a:rPr lang="en-US" sz="1800" i="1" smtClean="0">
                                <a:latin typeface="Cambria Math"/>
                              </a:rPr>
                            </m:ctrlPr>
                          </m:sSubPr>
                          <m:e>
                            <m:r>
                              <a:rPr lang="en-IN" sz="1800" b="0" i="1" smtClean="0">
                                <a:latin typeface="Cambria Math" panose="02040503050406030204" pitchFamily="18" charset="0"/>
                              </a:rPr>
                              <m:t>𝑋</m:t>
                            </m:r>
                          </m:e>
                          <m:sub>
                            <m:r>
                              <a:rPr lang="en-IN" sz="1800" b="0" i="1" smtClean="0">
                                <a:latin typeface="Cambria Math" panose="02040503050406030204" pitchFamily="18" charset="0"/>
                              </a:rPr>
                              <m:t>1</m:t>
                            </m:r>
                          </m:sub>
                        </m:sSub>
                      </m:e>
                    </m:acc>
                  </m:oMath>
                </a14:m>
                <a:r>
                  <a:rPr lang="en-US" sz="1800" dirty="0"/>
                  <a:t> and </a:t>
                </a:r>
                <a14:m>
                  <m:oMath xmlns:m="http://schemas.openxmlformats.org/officeDocument/2006/math">
                    <m:acc>
                      <m:accPr>
                        <m:chr m:val="̅"/>
                        <m:ctrlPr>
                          <a:rPr lang="en-US" sz="1800" i="1">
                            <a:latin typeface="Cambria Math"/>
                          </a:rPr>
                        </m:ctrlPr>
                      </m:accPr>
                      <m:e>
                        <m:sSub>
                          <m:sSubPr>
                            <m:ctrlPr>
                              <a:rPr lang="en-US" sz="1800" i="1">
                                <a:latin typeface="Cambria Math"/>
                              </a:rPr>
                            </m:ctrlPr>
                          </m:sSubPr>
                          <m:e>
                            <m:r>
                              <a:rPr lang="en-IN" sz="1800" i="1">
                                <a:latin typeface="Cambria Math" panose="02040503050406030204" pitchFamily="18" charset="0"/>
                              </a:rPr>
                              <m:t>𝑋</m:t>
                            </m:r>
                          </m:e>
                          <m:sub>
                            <m:r>
                              <a:rPr lang="en-IN" sz="1800" b="0" i="1" smtClean="0">
                                <a:latin typeface="Cambria Math" panose="02040503050406030204" pitchFamily="18" charset="0"/>
                              </a:rPr>
                              <m:t>2</m:t>
                            </m:r>
                          </m:sub>
                        </m:sSub>
                      </m:e>
                    </m:acc>
                    <m:r>
                      <a:rPr lang="en-IN" sz="1800" i="1">
                        <a:latin typeface="Cambria Math" panose="02040503050406030204" pitchFamily="18" charset="0"/>
                      </a:rPr>
                      <m:t> </m:t>
                    </m:r>
                  </m:oMath>
                </a14:m>
                <a:r>
                  <a:rPr lang="en-US" sz="1800" dirty="0"/>
                  <a:t> are the sample means,</a:t>
                </a:r>
              </a:p>
              <a:p>
                <a:pPr>
                  <a:buFont typeface="Arial" panose="020B0604020202020204" pitchFamily="34" charset="0"/>
                  <a:buChar char="•"/>
                </a:pPr>
                <a:r>
                  <a:rPr lang="en-US" sz="1800" dirty="0"/>
                  <a:t> </a:t>
                </a:r>
                <a14:m>
                  <m:oMath xmlns:m="http://schemas.openxmlformats.org/officeDocument/2006/math">
                    <m:sSubSup>
                      <m:sSubSupPr>
                        <m:ctrlPr>
                          <a:rPr lang="en-US" sz="1800" i="1" smtClean="0">
                            <a:latin typeface="Cambria Math"/>
                          </a:rPr>
                        </m:ctrlPr>
                      </m:sSubSupPr>
                      <m:e>
                        <m:r>
                          <a:rPr lang="en-IN" sz="1800" b="0" i="1" smtClean="0">
                            <a:latin typeface="Cambria Math" panose="02040503050406030204" pitchFamily="18" charset="0"/>
                          </a:rPr>
                          <m:t>𝑠</m:t>
                        </m:r>
                      </m:e>
                      <m:sub>
                        <m:r>
                          <a:rPr lang="en-IN" sz="1800" b="0" i="1" smtClean="0">
                            <a:latin typeface="Cambria Math" panose="02040503050406030204" pitchFamily="18" charset="0"/>
                          </a:rPr>
                          <m:t>1</m:t>
                        </m:r>
                      </m:sub>
                      <m:sup>
                        <m:r>
                          <a:rPr lang="en-IN" sz="1800" b="0" i="1" smtClean="0">
                            <a:latin typeface="Cambria Math" panose="02040503050406030204" pitchFamily="18" charset="0"/>
                          </a:rPr>
                          <m:t>2</m:t>
                        </m:r>
                      </m:sup>
                    </m:sSubSup>
                  </m:oMath>
                </a14:m>
                <a:r>
                  <a:rPr lang="en-US" sz="1800" dirty="0"/>
                  <a:t>​ and </a:t>
                </a:r>
                <a14:m>
                  <m:oMath xmlns:m="http://schemas.openxmlformats.org/officeDocument/2006/math">
                    <m:sSubSup>
                      <m:sSubSupPr>
                        <m:ctrlPr>
                          <a:rPr lang="en-US" sz="1800" i="1">
                            <a:latin typeface="Cambria Math"/>
                          </a:rPr>
                        </m:ctrlPr>
                      </m:sSubSupPr>
                      <m:e>
                        <m:r>
                          <a:rPr lang="en-IN" sz="1800" i="1">
                            <a:latin typeface="Cambria Math" panose="02040503050406030204" pitchFamily="18" charset="0"/>
                          </a:rPr>
                          <m:t>𝑠</m:t>
                        </m:r>
                      </m:e>
                      <m:sub>
                        <m:r>
                          <a:rPr lang="en-IN" sz="1800" b="0" i="1" smtClean="0">
                            <a:latin typeface="Cambria Math" panose="02040503050406030204" pitchFamily="18" charset="0"/>
                          </a:rPr>
                          <m:t>2</m:t>
                        </m:r>
                      </m:sub>
                      <m:sup>
                        <m:r>
                          <a:rPr lang="en-IN" sz="1800" i="1">
                            <a:latin typeface="Cambria Math" panose="02040503050406030204" pitchFamily="18" charset="0"/>
                          </a:rPr>
                          <m:t>2</m:t>
                        </m:r>
                      </m:sup>
                    </m:sSubSup>
                  </m:oMath>
                </a14:m>
                <a:r>
                  <a:rPr lang="en-US" sz="1800" dirty="0"/>
                  <a:t>​ are the sample variances,</a:t>
                </a:r>
              </a:p>
              <a:p>
                <a:pPr>
                  <a:buFont typeface="Arial" panose="020B0604020202020204" pitchFamily="34" charset="0"/>
                  <a:buChar char="•"/>
                </a:pPr>
                <a:r>
                  <a:rPr lang="en-US" sz="1800" i="1" dirty="0"/>
                  <a:t>n</a:t>
                </a:r>
                <a:r>
                  <a:rPr lang="en-US" sz="1800" i="1" baseline="-25000" dirty="0"/>
                  <a:t>1</a:t>
                </a:r>
                <a:r>
                  <a:rPr lang="en-US" sz="1800" dirty="0"/>
                  <a:t>​ and </a:t>
                </a:r>
                <a:r>
                  <a:rPr lang="en-US" sz="1800" i="1" dirty="0"/>
                  <a:t>n</a:t>
                </a:r>
                <a:r>
                  <a:rPr lang="en-US" sz="1800" i="1" baseline="-25000" dirty="0"/>
                  <a:t>2</a:t>
                </a:r>
                <a:r>
                  <a:rPr lang="en-US" sz="1800" dirty="0"/>
                  <a:t>​ are the sample sizes.</a:t>
                </a:r>
              </a:p>
            </p:txBody>
          </p:sp>
        </mc:Choice>
        <mc:Fallback xmlns="">
          <p:sp>
            <p:nvSpPr>
              <p:cNvPr id="3" name="TextBox 2">
                <a:extLst>
                  <a:ext uri="{FF2B5EF4-FFF2-40B4-BE49-F238E27FC236}">
                    <a16:creationId xmlns:a16="http://schemas.microsoft.com/office/drawing/2014/main" id="{FA11BEDE-F23A-F145-EDEB-B4D3D21537B2}"/>
                  </a:ext>
                </a:extLst>
              </p:cNvPr>
              <p:cNvSpPr txBox="1">
                <a:spLocks noRot="1" noChangeAspect="1" noMove="1" noResize="1" noEditPoints="1" noAdjustHandles="1" noChangeArrowheads="1" noChangeShapeType="1" noTextEdit="1"/>
              </p:cNvSpPr>
              <p:nvPr/>
            </p:nvSpPr>
            <p:spPr>
              <a:xfrm>
                <a:off x="1277634" y="1016732"/>
                <a:ext cx="6588732" cy="2682914"/>
              </a:xfrm>
              <a:prstGeom prst="rect">
                <a:avLst/>
              </a:prstGeom>
              <a:blipFill>
                <a:blip r:embed="rId2"/>
                <a:stretch>
                  <a:fillRect l="-1019" t="-1364" b="-22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xmlns="" id="{223ABE61-04BC-AFD7-9780-821106DDA555}"/>
              </a:ext>
            </a:extLst>
          </p:cNvPr>
          <p:cNvPicPr>
            <a:picLocks noChangeAspect="1"/>
          </p:cNvPicPr>
          <p:nvPr/>
        </p:nvPicPr>
        <p:blipFill>
          <a:blip r:embed="rId3"/>
          <a:stretch>
            <a:fillRect/>
          </a:stretch>
        </p:blipFill>
        <p:spPr>
          <a:xfrm>
            <a:off x="3275856" y="1261436"/>
            <a:ext cx="1781424" cy="1086002"/>
          </a:xfrm>
          <a:prstGeom prst="rect">
            <a:avLst/>
          </a:prstGeom>
        </p:spPr>
      </p:pic>
    </p:spTree>
    <p:extLst>
      <p:ext uri="{BB962C8B-B14F-4D97-AF65-F5344CB8AC3E}">
        <p14:creationId xmlns:p14="http://schemas.microsoft.com/office/powerpoint/2010/main" val="12892437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0A00C67-19B7-F5A0-39F1-4F6BCA8B3175}"/>
              </a:ext>
            </a:extLst>
          </p:cNvPr>
          <p:cNvSpPr txBox="1"/>
          <p:nvPr/>
        </p:nvSpPr>
        <p:spPr>
          <a:xfrm>
            <a:off x="935596" y="548680"/>
            <a:ext cx="7416824" cy="5170646"/>
          </a:xfrm>
          <a:prstGeom prst="rect">
            <a:avLst/>
          </a:prstGeom>
          <a:noFill/>
        </p:spPr>
        <p:txBody>
          <a:bodyPr wrap="square">
            <a:spAutoFit/>
          </a:bodyPr>
          <a:lstStyle/>
          <a:p>
            <a:r>
              <a:rPr lang="en-US" sz="2400" b="1" dirty="0"/>
              <a:t>Paired (Dependent) T-Test</a:t>
            </a:r>
            <a:endParaRPr lang="en-US" sz="2400" dirty="0"/>
          </a:p>
          <a:p>
            <a:endParaRPr lang="en-US" sz="1800" b="1" dirty="0"/>
          </a:p>
          <a:p>
            <a:r>
              <a:rPr lang="en-US" sz="1800" b="1" dirty="0"/>
              <a:t>Purpose</a:t>
            </a:r>
            <a:r>
              <a:rPr lang="en-US" sz="1800" dirty="0"/>
              <a:t>: Tests whether the means of two related groups differ significantly.</a:t>
            </a:r>
          </a:p>
          <a:p>
            <a:endParaRPr lang="en-US" sz="1800" b="1" dirty="0"/>
          </a:p>
          <a:p>
            <a:r>
              <a:rPr lang="en-US" sz="1800" b="1" dirty="0"/>
              <a:t>Example</a:t>
            </a:r>
            <a:r>
              <a:rPr lang="en-US" sz="1800" dirty="0"/>
              <a:t>: Comparing pre-test and post-test scores of the same participants to assess the impact of an intervention.</a:t>
            </a:r>
          </a:p>
          <a:p>
            <a:endParaRPr lang="en-US" sz="1800" b="1" dirty="0"/>
          </a:p>
          <a:p>
            <a:r>
              <a:rPr lang="en-US" sz="1800" b="1" dirty="0"/>
              <a:t>Hypotheses</a:t>
            </a:r>
            <a:r>
              <a:rPr lang="en-US" sz="1800" dirty="0"/>
              <a:t>:</a:t>
            </a:r>
          </a:p>
          <a:p>
            <a:pPr marL="742950" lvl="1" indent="-285750">
              <a:buFont typeface="Arial" panose="020B0604020202020204" pitchFamily="34" charset="0"/>
              <a:buChar char="•"/>
            </a:pPr>
            <a:r>
              <a:rPr lang="en-US" sz="1800" b="1" dirty="0"/>
              <a:t>Null Hypothesis (</a:t>
            </a:r>
            <a:r>
              <a:rPr lang="en-US" sz="1800" b="1" i="1" dirty="0"/>
              <a:t>H</a:t>
            </a:r>
            <a:r>
              <a:rPr lang="en-US" sz="1800" b="1" i="1" baseline="-25000" dirty="0"/>
              <a:t>0</a:t>
            </a:r>
            <a:r>
              <a:rPr lang="en-US" sz="1800" b="1" dirty="0"/>
              <a:t>​)</a:t>
            </a:r>
            <a:r>
              <a:rPr lang="en-US" sz="1800" dirty="0"/>
              <a:t>: The mean difference between paired observations is zero.</a:t>
            </a:r>
          </a:p>
          <a:p>
            <a:pPr marL="742950" lvl="1" indent="-285750">
              <a:buFont typeface="Arial" panose="020B0604020202020204" pitchFamily="34" charset="0"/>
              <a:buChar char="•"/>
            </a:pPr>
            <a:r>
              <a:rPr lang="en-US" sz="1800" b="1" dirty="0"/>
              <a:t>Alternative Hypothesis (</a:t>
            </a:r>
            <a:r>
              <a:rPr lang="en-US" sz="1800" b="1" i="1" dirty="0"/>
              <a:t>H</a:t>
            </a:r>
            <a:r>
              <a:rPr lang="en-US" sz="1800" b="1" i="1" baseline="-25000" dirty="0"/>
              <a:t>a</a:t>
            </a:r>
            <a:r>
              <a:rPr lang="en-US" sz="1800" b="1" dirty="0"/>
              <a:t>​)</a:t>
            </a:r>
            <a:r>
              <a:rPr lang="en-US" sz="1800" dirty="0"/>
              <a:t>: The mean difference between paired observations is not zero.</a:t>
            </a:r>
          </a:p>
          <a:p>
            <a:endParaRPr lang="en-US" sz="1800" b="1" dirty="0"/>
          </a:p>
          <a:p>
            <a:r>
              <a:rPr lang="en-US" sz="1800" b="1" dirty="0"/>
              <a:t>Assumptions</a:t>
            </a:r>
            <a:r>
              <a:rPr lang="en-US" sz="1800" dirty="0"/>
              <a:t>:</a:t>
            </a:r>
          </a:p>
          <a:p>
            <a:pPr marL="742950" lvl="1" indent="-285750">
              <a:buFont typeface="Arial" panose="020B0604020202020204" pitchFamily="34" charset="0"/>
              <a:buChar char="•"/>
            </a:pPr>
            <a:r>
              <a:rPr lang="en-US" sz="1800" dirty="0"/>
              <a:t>Data pairs are independent of other pairs.</a:t>
            </a:r>
          </a:p>
          <a:p>
            <a:pPr marL="742950" lvl="1" indent="-285750">
              <a:buFont typeface="Arial" panose="020B0604020202020204" pitchFamily="34" charset="0"/>
              <a:buChar char="•"/>
            </a:pPr>
            <a:r>
              <a:rPr lang="en-US" sz="1800" dirty="0"/>
              <a:t>The differences between pairs should be approximately normally distributed.</a:t>
            </a:r>
          </a:p>
        </p:txBody>
      </p:sp>
    </p:spTree>
    <p:extLst>
      <p:ext uri="{BB962C8B-B14F-4D97-AF65-F5344CB8AC3E}">
        <p14:creationId xmlns:p14="http://schemas.microsoft.com/office/powerpoint/2010/main" val="3883066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87A4F34F-0F79-D5B5-3051-0D7478646160}"/>
                  </a:ext>
                </a:extLst>
              </p:cNvPr>
              <p:cNvSpPr txBox="1"/>
              <p:nvPr/>
            </p:nvSpPr>
            <p:spPr>
              <a:xfrm>
                <a:off x="1187624" y="1376070"/>
                <a:ext cx="6768752" cy="2616101"/>
              </a:xfrm>
              <a:prstGeom prst="rect">
                <a:avLst/>
              </a:prstGeom>
              <a:noFill/>
            </p:spPr>
            <p:txBody>
              <a:bodyPr wrap="square">
                <a:spAutoFit/>
              </a:bodyPr>
              <a:lstStyle/>
              <a:p>
                <a:r>
                  <a:rPr lang="en-US" sz="2000" b="1" dirty="0"/>
                  <a:t>Formula</a:t>
                </a:r>
                <a:r>
                  <a:rPr lang="en-US" sz="2000" dirty="0"/>
                  <a:t>:</a:t>
                </a:r>
              </a:p>
              <a:p>
                <a:endParaRPr lang="en-US" sz="1800" dirty="0"/>
              </a:p>
              <a:p>
                <a:endParaRPr lang="en-US" sz="1800" dirty="0"/>
              </a:p>
              <a:p>
                <a:endParaRPr lang="en-US" sz="1800" dirty="0"/>
              </a:p>
              <a:p>
                <a:endParaRPr lang="en-US" sz="1800" dirty="0"/>
              </a:p>
              <a:p>
                <a:r>
                  <a:rPr lang="en-US" sz="1800" dirty="0"/>
                  <a:t>where:</a:t>
                </a:r>
              </a:p>
              <a:p>
                <a:pPr>
                  <a:buFont typeface="Arial" panose="020B0604020202020204" pitchFamily="34" charset="0"/>
                  <a:buChar char="•"/>
                </a:pPr>
                <a:r>
                  <a:rPr lang="en-US" sz="1800" dirty="0"/>
                  <a:t> </a:t>
                </a:r>
                <a14:m>
                  <m:oMath xmlns:m="http://schemas.openxmlformats.org/officeDocument/2006/math">
                    <m:acc>
                      <m:accPr>
                        <m:chr m:val="̅"/>
                        <m:ctrlPr>
                          <a:rPr lang="en-US" sz="1800" i="1" smtClean="0">
                            <a:latin typeface="Cambria Math"/>
                          </a:rPr>
                        </m:ctrlPr>
                      </m:accPr>
                      <m:e>
                        <m:r>
                          <a:rPr lang="en-IN" sz="1800" b="0" i="1" smtClean="0">
                            <a:latin typeface="Cambria Math" panose="02040503050406030204" pitchFamily="18" charset="0"/>
                          </a:rPr>
                          <m:t>𝐷</m:t>
                        </m:r>
                      </m:e>
                    </m:acc>
                    <m:r>
                      <a:rPr lang="en-IN" sz="1800" b="0" i="1" smtClean="0">
                        <a:latin typeface="Cambria Math" panose="02040503050406030204" pitchFamily="18" charset="0"/>
                      </a:rPr>
                      <m:t> </m:t>
                    </m:r>
                  </m:oMath>
                </a14:m>
                <a:r>
                  <a:rPr lang="en-US" sz="1800" dirty="0"/>
                  <a:t>is the mean difference between paired observations,</a:t>
                </a:r>
              </a:p>
              <a:p>
                <a:pPr>
                  <a:buFont typeface="Arial" panose="020B0604020202020204" pitchFamily="34" charset="0"/>
                  <a:buChar char="•"/>
                </a:pPr>
                <a:r>
                  <a:rPr lang="en-US" sz="1800" i="1" dirty="0"/>
                  <a:t> </a:t>
                </a:r>
                <a:r>
                  <a:rPr lang="en-US" sz="1800" i="1" dirty="0" err="1"/>
                  <a:t>s</a:t>
                </a:r>
                <a:r>
                  <a:rPr lang="en-US" sz="1800" i="1" baseline="-25000" dirty="0" err="1"/>
                  <a:t>D</a:t>
                </a:r>
                <a:r>
                  <a:rPr lang="en-US" sz="1800" dirty="0"/>
                  <a:t>​ is the standard deviation of the differences,</a:t>
                </a:r>
              </a:p>
              <a:p>
                <a:pPr>
                  <a:buFont typeface="Arial" panose="020B0604020202020204" pitchFamily="34" charset="0"/>
                  <a:buChar char="•"/>
                </a:pPr>
                <a:r>
                  <a:rPr lang="en-US" sz="1800" i="1" dirty="0"/>
                  <a:t> n</a:t>
                </a:r>
                <a:r>
                  <a:rPr lang="en-US" sz="1800" dirty="0"/>
                  <a:t> is the number of pairs.</a:t>
                </a:r>
              </a:p>
            </p:txBody>
          </p:sp>
        </mc:Choice>
        <mc:Fallback xmlns="">
          <p:sp>
            <p:nvSpPr>
              <p:cNvPr id="3" name="TextBox 2">
                <a:extLst>
                  <a:ext uri="{FF2B5EF4-FFF2-40B4-BE49-F238E27FC236}">
                    <a16:creationId xmlns:a16="http://schemas.microsoft.com/office/drawing/2014/main" id="{87A4F34F-0F79-D5B5-3051-0D7478646160}"/>
                  </a:ext>
                </a:extLst>
              </p:cNvPr>
              <p:cNvSpPr txBox="1">
                <a:spLocks noRot="1" noChangeAspect="1" noMove="1" noResize="1" noEditPoints="1" noAdjustHandles="1" noChangeArrowheads="1" noChangeShapeType="1" noTextEdit="1"/>
              </p:cNvSpPr>
              <p:nvPr/>
            </p:nvSpPr>
            <p:spPr>
              <a:xfrm>
                <a:off x="1187624" y="1376070"/>
                <a:ext cx="6768752" cy="2616101"/>
              </a:xfrm>
              <a:prstGeom prst="rect">
                <a:avLst/>
              </a:prstGeom>
              <a:blipFill>
                <a:blip r:embed="rId2"/>
                <a:stretch>
                  <a:fillRect l="-991" t="-1399" b="-279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xmlns="" id="{1CAE2C1D-8F11-279B-55AC-FA98016B0988}"/>
              </a:ext>
            </a:extLst>
          </p:cNvPr>
          <p:cNvPicPr>
            <a:picLocks noChangeAspect="1"/>
          </p:cNvPicPr>
          <p:nvPr/>
        </p:nvPicPr>
        <p:blipFill>
          <a:blip r:embed="rId3"/>
          <a:stretch>
            <a:fillRect/>
          </a:stretch>
        </p:blipFill>
        <p:spPr>
          <a:xfrm>
            <a:off x="3419872" y="1664804"/>
            <a:ext cx="1408928" cy="1044116"/>
          </a:xfrm>
          <a:prstGeom prst="rect">
            <a:avLst/>
          </a:prstGeom>
        </p:spPr>
      </p:pic>
    </p:spTree>
    <p:extLst>
      <p:ext uri="{BB962C8B-B14F-4D97-AF65-F5344CB8AC3E}">
        <p14:creationId xmlns:p14="http://schemas.microsoft.com/office/powerpoint/2010/main" val="24820757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A7837F9-3F02-CB04-8AF2-ED4FA6A4C251}"/>
              </a:ext>
            </a:extLst>
          </p:cNvPr>
          <p:cNvSpPr txBox="1"/>
          <p:nvPr/>
        </p:nvSpPr>
        <p:spPr>
          <a:xfrm>
            <a:off x="665566" y="289679"/>
            <a:ext cx="7812868" cy="6278642"/>
          </a:xfrm>
          <a:prstGeom prst="rect">
            <a:avLst/>
          </a:prstGeom>
          <a:noFill/>
        </p:spPr>
        <p:txBody>
          <a:bodyPr wrap="square">
            <a:spAutoFit/>
          </a:bodyPr>
          <a:lstStyle/>
          <a:p>
            <a:r>
              <a:rPr lang="en-US" sz="2400" b="1" dirty="0"/>
              <a:t>Steps in Conducting a T-Test</a:t>
            </a:r>
          </a:p>
          <a:p>
            <a:endParaRPr lang="en-US" sz="1800" b="1" dirty="0"/>
          </a:p>
          <a:p>
            <a:pPr>
              <a:buFont typeface="+mj-lt"/>
              <a:buAutoNum type="arabicPeriod"/>
            </a:pPr>
            <a:r>
              <a:rPr lang="en-US" sz="1800" b="1" dirty="0"/>
              <a:t> State the Hypotheses</a:t>
            </a:r>
            <a:r>
              <a:rPr lang="en-US" sz="1800" dirty="0"/>
              <a:t>:</a:t>
            </a:r>
          </a:p>
          <a:p>
            <a:pPr lvl="1"/>
            <a:r>
              <a:rPr lang="en-US" sz="1800" dirty="0"/>
              <a:t>Define the null (</a:t>
            </a:r>
            <a:r>
              <a:rPr lang="en-US" sz="1800" i="1" dirty="0"/>
              <a:t>H</a:t>
            </a:r>
            <a:r>
              <a:rPr lang="en-US" sz="1800" i="1" baseline="-25000" dirty="0"/>
              <a:t>0</a:t>
            </a:r>
            <a:r>
              <a:rPr lang="en-US" sz="1800" dirty="0"/>
              <a:t>​) and alternative (</a:t>
            </a:r>
            <a:r>
              <a:rPr lang="en-US" sz="1800" i="1" dirty="0"/>
              <a:t>H</a:t>
            </a:r>
            <a:r>
              <a:rPr lang="en-US" sz="1800" i="1" baseline="-25000" dirty="0"/>
              <a:t>a</a:t>
            </a:r>
            <a:r>
              <a:rPr lang="en-US" sz="1800" dirty="0"/>
              <a:t>​) hypotheses.</a:t>
            </a:r>
          </a:p>
          <a:p>
            <a:pPr lvl="1"/>
            <a:endParaRPr lang="en-US" sz="1800" dirty="0"/>
          </a:p>
          <a:p>
            <a:pPr>
              <a:buFont typeface="+mj-lt"/>
              <a:buAutoNum type="arabicPeriod"/>
            </a:pPr>
            <a:r>
              <a:rPr lang="en-US" sz="1800" b="1" dirty="0"/>
              <a:t> Choose the Significance Level (</a:t>
            </a:r>
            <a:r>
              <a:rPr lang="en-US" sz="1800" b="1" i="1" dirty="0"/>
              <a:t>α</a:t>
            </a:r>
            <a:r>
              <a:rPr lang="en-US" sz="1800" b="1" dirty="0"/>
              <a:t>)</a:t>
            </a:r>
            <a:r>
              <a:rPr lang="en-US" sz="1800" dirty="0"/>
              <a:t>:</a:t>
            </a:r>
          </a:p>
          <a:p>
            <a:pPr lvl="1"/>
            <a:r>
              <a:rPr lang="en-US" sz="1800" dirty="0"/>
              <a:t>Typically set to 0.05 or 0.01.</a:t>
            </a:r>
          </a:p>
          <a:p>
            <a:pPr lvl="1"/>
            <a:endParaRPr lang="en-US" sz="1800" dirty="0"/>
          </a:p>
          <a:p>
            <a:pPr>
              <a:buFont typeface="+mj-lt"/>
              <a:buAutoNum type="arabicPeriod"/>
            </a:pPr>
            <a:r>
              <a:rPr lang="en-US" sz="1800" b="1" dirty="0"/>
              <a:t> Calculate the T-Statistic</a:t>
            </a:r>
            <a:r>
              <a:rPr lang="en-US" sz="1800" dirty="0"/>
              <a:t>:</a:t>
            </a:r>
          </a:p>
          <a:p>
            <a:pPr lvl="1"/>
            <a:r>
              <a:rPr lang="en-US" sz="1800" dirty="0"/>
              <a:t>Use the appropriate formula for the type of T-test being conducted.</a:t>
            </a:r>
          </a:p>
          <a:p>
            <a:pPr lvl="1"/>
            <a:endParaRPr lang="en-US" sz="1800" dirty="0"/>
          </a:p>
          <a:p>
            <a:pPr>
              <a:buFont typeface="+mj-lt"/>
              <a:buAutoNum type="arabicPeriod"/>
            </a:pPr>
            <a:r>
              <a:rPr lang="en-US" sz="1800" b="1" dirty="0"/>
              <a:t> Determine the Critical Value or p-Value</a:t>
            </a:r>
            <a:r>
              <a:rPr lang="en-US" sz="1800" dirty="0"/>
              <a:t>:</a:t>
            </a:r>
          </a:p>
          <a:p>
            <a:pPr lvl="1"/>
            <a:r>
              <a:rPr lang="en-US" sz="1800" dirty="0"/>
              <a:t>Compare the calculated t-statistic to the critical t-value from the t-distribution table based on degrees of freedom.</a:t>
            </a:r>
          </a:p>
          <a:p>
            <a:pPr lvl="1"/>
            <a:r>
              <a:rPr lang="en-US" sz="1800" dirty="0"/>
              <a:t>Alternatively, calculate the p-value.</a:t>
            </a:r>
          </a:p>
          <a:p>
            <a:pPr marL="742950" lvl="1" indent="-285750">
              <a:buFont typeface="+mj-lt"/>
              <a:buAutoNum type="arabicPeriod"/>
            </a:pPr>
            <a:endParaRPr lang="en-US" sz="1800" dirty="0"/>
          </a:p>
          <a:p>
            <a:pPr>
              <a:buFont typeface="+mj-lt"/>
              <a:buAutoNum type="arabicPeriod"/>
            </a:pPr>
            <a:r>
              <a:rPr lang="en-US" sz="1800" b="1" dirty="0"/>
              <a:t> Make a Decision</a:t>
            </a:r>
            <a:r>
              <a:rPr lang="en-US" sz="1800" dirty="0"/>
              <a:t>:</a:t>
            </a:r>
          </a:p>
          <a:p>
            <a:pPr lvl="1"/>
            <a:r>
              <a:rPr lang="en-US" sz="1800" dirty="0"/>
              <a:t>If the t-statistic exceeds the critical value (or the p-value is less than α), reject </a:t>
            </a:r>
            <a:r>
              <a:rPr lang="en-US" sz="1800" i="1" dirty="0"/>
              <a:t>H</a:t>
            </a:r>
            <a:r>
              <a:rPr lang="en-US" sz="1800" i="1" baseline="-25000" dirty="0"/>
              <a:t>0</a:t>
            </a:r>
            <a:r>
              <a:rPr lang="en-US" sz="1800" dirty="0"/>
              <a:t>​; otherwise, do not reject </a:t>
            </a:r>
            <a:r>
              <a:rPr lang="en-US" sz="1800" i="1" dirty="0"/>
              <a:t>H</a:t>
            </a:r>
            <a:r>
              <a:rPr lang="en-US" sz="1800" i="1" baseline="-25000" dirty="0"/>
              <a:t>0</a:t>
            </a:r>
            <a:r>
              <a:rPr lang="en-US" sz="1800" dirty="0"/>
              <a:t>​.</a:t>
            </a:r>
          </a:p>
          <a:p>
            <a:pPr lvl="1"/>
            <a:endParaRPr lang="en-US" sz="1800" dirty="0"/>
          </a:p>
          <a:p>
            <a:pPr>
              <a:buFont typeface="+mj-lt"/>
              <a:buAutoNum type="arabicPeriod"/>
            </a:pPr>
            <a:r>
              <a:rPr lang="en-US" sz="1800" b="1" dirty="0"/>
              <a:t> Interpret the Result</a:t>
            </a:r>
            <a:r>
              <a:rPr lang="en-US" sz="1800" dirty="0"/>
              <a:t>:</a:t>
            </a:r>
          </a:p>
          <a:p>
            <a:pPr lvl="1"/>
            <a:r>
              <a:rPr lang="en-US" sz="1800" dirty="0"/>
              <a:t>Explain the findings in the context of the research question.</a:t>
            </a:r>
          </a:p>
        </p:txBody>
      </p:sp>
    </p:spTree>
    <p:extLst>
      <p:ext uri="{BB962C8B-B14F-4D97-AF65-F5344CB8AC3E}">
        <p14:creationId xmlns:p14="http://schemas.microsoft.com/office/powerpoint/2010/main" val="21424314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56409D0-1C1B-DF26-A4F4-6246C8D84AEB}"/>
              </a:ext>
            </a:extLst>
          </p:cNvPr>
          <p:cNvSpPr txBox="1"/>
          <p:nvPr/>
        </p:nvSpPr>
        <p:spPr>
          <a:xfrm>
            <a:off x="503548" y="368660"/>
            <a:ext cx="7920880" cy="5940088"/>
          </a:xfrm>
          <a:prstGeom prst="rect">
            <a:avLst/>
          </a:prstGeom>
          <a:noFill/>
        </p:spPr>
        <p:txBody>
          <a:bodyPr wrap="square">
            <a:spAutoFit/>
          </a:bodyPr>
          <a:lstStyle/>
          <a:p>
            <a:r>
              <a:rPr lang="en-US" sz="2000" b="1" dirty="0"/>
              <a:t>Example of an Independent T-Test</a:t>
            </a:r>
          </a:p>
          <a:p>
            <a:endParaRPr lang="en-US" sz="1800" dirty="0"/>
          </a:p>
          <a:p>
            <a:r>
              <a:rPr lang="en-US" sz="1800" dirty="0"/>
              <a:t>Suppose a researcher wants to test if two different diets lead to different average weight losses. Group A (Diet A) and Group B (Diet B) have weight loss data for 30 people each.</a:t>
            </a:r>
          </a:p>
          <a:p>
            <a:endParaRPr lang="en-US" sz="1800" b="1" dirty="0"/>
          </a:p>
          <a:p>
            <a:r>
              <a:rPr lang="en-US" sz="1800" b="1" dirty="0"/>
              <a:t>Hypotheses</a:t>
            </a:r>
            <a:r>
              <a:rPr lang="en-US" sz="1800" dirty="0"/>
              <a:t>:</a:t>
            </a:r>
          </a:p>
          <a:p>
            <a:endParaRPr lang="en-US" sz="1800" dirty="0"/>
          </a:p>
          <a:p>
            <a:pPr lvl="1"/>
            <a:r>
              <a:rPr lang="en-US" sz="1800" dirty="0"/>
              <a:t>               (no difference in average weight loss).</a:t>
            </a:r>
          </a:p>
          <a:p>
            <a:pPr lvl="1"/>
            <a:r>
              <a:rPr lang="en-US" sz="1800" dirty="0"/>
              <a:t>               (a difference in average weight loss).</a:t>
            </a:r>
          </a:p>
          <a:p>
            <a:endParaRPr lang="en-US" sz="1800" b="1" dirty="0"/>
          </a:p>
          <a:p>
            <a:r>
              <a:rPr lang="en-US" sz="1800" b="1" dirty="0"/>
              <a:t>Calculation</a:t>
            </a:r>
            <a:r>
              <a:rPr lang="en-US" sz="1800" dirty="0"/>
              <a:t>:</a:t>
            </a:r>
          </a:p>
          <a:p>
            <a:r>
              <a:rPr lang="en-US" sz="1800" dirty="0"/>
              <a:t>Calculate the mean and standard deviation for each group, compute the T-statistic, and compare it to the critical value or determine the p-value.</a:t>
            </a:r>
          </a:p>
          <a:p>
            <a:endParaRPr lang="en-US" sz="1800" dirty="0"/>
          </a:p>
          <a:p>
            <a:r>
              <a:rPr lang="en-US" sz="1800" dirty="0"/>
              <a:t>A significant result would suggest a difference in effectiveness between the two diets.</a:t>
            </a:r>
          </a:p>
          <a:p>
            <a:endParaRPr lang="en-US" sz="1800" dirty="0"/>
          </a:p>
          <a:p>
            <a:r>
              <a:rPr lang="en-US" sz="1800" dirty="0"/>
              <a:t>The T-test is a valuable tool for comparing group means, and its simplicity makes it widely applicable in various fields, from biology to business and beyond.</a:t>
            </a:r>
          </a:p>
        </p:txBody>
      </p:sp>
      <p:pic>
        <p:nvPicPr>
          <p:cNvPr id="5" name="Picture 4">
            <a:extLst>
              <a:ext uri="{FF2B5EF4-FFF2-40B4-BE49-F238E27FC236}">
                <a16:creationId xmlns:a16="http://schemas.microsoft.com/office/drawing/2014/main" xmlns="" id="{86DE5F87-EF1E-0618-3D88-B6AFDB9C594C}"/>
              </a:ext>
            </a:extLst>
          </p:cNvPr>
          <p:cNvPicPr>
            <a:picLocks noChangeAspect="1"/>
          </p:cNvPicPr>
          <p:nvPr/>
        </p:nvPicPr>
        <p:blipFill>
          <a:blip r:embed="rId2"/>
          <a:stretch>
            <a:fillRect/>
          </a:stretch>
        </p:blipFill>
        <p:spPr>
          <a:xfrm>
            <a:off x="917594" y="2599292"/>
            <a:ext cx="1332148" cy="605522"/>
          </a:xfrm>
          <a:prstGeom prst="rect">
            <a:avLst/>
          </a:prstGeom>
        </p:spPr>
      </p:pic>
    </p:spTree>
    <p:extLst>
      <p:ext uri="{BB962C8B-B14F-4D97-AF65-F5344CB8AC3E}">
        <p14:creationId xmlns:p14="http://schemas.microsoft.com/office/powerpoint/2010/main" val="17475879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2EFDE74-13FB-B856-5A4D-B7F820338510}"/>
              </a:ext>
            </a:extLst>
          </p:cNvPr>
          <p:cNvSpPr txBox="1"/>
          <p:nvPr/>
        </p:nvSpPr>
        <p:spPr>
          <a:xfrm>
            <a:off x="755576" y="872716"/>
            <a:ext cx="7092788" cy="2954655"/>
          </a:xfrm>
          <a:prstGeom prst="rect">
            <a:avLst/>
          </a:prstGeom>
          <a:noFill/>
        </p:spPr>
        <p:txBody>
          <a:bodyPr wrap="square">
            <a:spAutoFit/>
          </a:bodyPr>
          <a:lstStyle/>
          <a:p>
            <a:r>
              <a:rPr lang="en-US" sz="2400" b="1" dirty="0"/>
              <a:t>Chi-Square (</a:t>
            </a:r>
            <a:r>
              <a:rPr lang="en-US" sz="2400" b="1" dirty="0">
                <a:sym typeface="Symbol" panose="05050102010706020507" pitchFamily="18" charset="2"/>
              </a:rPr>
              <a:t>2</a:t>
            </a:r>
            <a:r>
              <a:rPr lang="en-US" sz="2400" b="1" dirty="0"/>
              <a:t>) Test</a:t>
            </a:r>
            <a:endParaRPr lang="en-US" sz="2400" dirty="0"/>
          </a:p>
          <a:p>
            <a:endParaRPr lang="en-US" sz="1800" dirty="0"/>
          </a:p>
          <a:p>
            <a:r>
              <a:rPr lang="en-US" sz="1800" dirty="0"/>
              <a:t>Used for categorical data to test relationships or goodness-of-fit.</a:t>
            </a:r>
          </a:p>
          <a:p>
            <a:endParaRPr lang="en-US" sz="1800" dirty="0"/>
          </a:p>
          <a:p>
            <a:r>
              <a:rPr lang="en-US" sz="1800" dirty="0"/>
              <a:t>Types:</a:t>
            </a:r>
          </a:p>
          <a:p>
            <a:pPr marL="742950" lvl="1" indent="-285750">
              <a:buFont typeface="Arial" panose="020B0604020202020204" pitchFamily="34" charset="0"/>
              <a:buChar char="•"/>
            </a:pPr>
            <a:r>
              <a:rPr lang="en-US" sz="1800" b="1" dirty="0"/>
              <a:t>Chi-Square Goodness-of-Fit Test</a:t>
            </a:r>
            <a:r>
              <a:rPr lang="en-US" sz="1800" dirty="0"/>
              <a:t>: Tests if observed frequencies match expected frequencies for one categorical variable.</a:t>
            </a:r>
          </a:p>
          <a:p>
            <a:pPr marL="742950" lvl="1" indent="-285750">
              <a:buFont typeface="Arial" panose="020B0604020202020204" pitchFamily="34" charset="0"/>
              <a:buChar char="•"/>
            </a:pPr>
            <a:r>
              <a:rPr lang="en-US" sz="1800" b="1" dirty="0"/>
              <a:t>Chi-Square Test of Independence</a:t>
            </a:r>
            <a:r>
              <a:rPr lang="en-US" sz="1800" dirty="0"/>
              <a:t>: Tests if there is an association between two categorical variables.</a:t>
            </a:r>
          </a:p>
        </p:txBody>
      </p:sp>
    </p:spTree>
    <p:extLst>
      <p:ext uri="{BB962C8B-B14F-4D97-AF65-F5344CB8AC3E}">
        <p14:creationId xmlns:p14="http://schemas.microsoft.com/office/powerpoint/2010/main" val="1995652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32E2E49-44AB-73D4-474E-0B04F34D7EDF}"/>
              </a:ext>
            </a:extLst>
          </p:cNvPr>
          <p:cNvSpPr txBox="1"/>
          <p:nvPr/>
        </p:nvSpPr>
        <p:spPr>
          <a:xfrm>
            <a:off x="539552" y="551289"/>
            <a:ext cx="7704856" cy="3693319"/>
          </a:xfrm>
          <a:prstGeom prst="rect">
            <a:avLst/>
          </a:prstGeom>
          <a:noFill/>
        </p:spPr>
        <p:txBody>
          <a:bodyPr wrap="square">
            <a:spAutoFit/>
          </a:bodyPr>
          <a:lstStyle/>
          <a:p>
            <a:r>
              <a:rPr lang="en-US" sz="1800" b="1" dirty="0"/>
              <a:t>Chi-Square Test of Independence</a:t>
            </a:r>
          </a:p>
          <a:p>
            <a:endParaRPr lang="en-US" sz="1800" dirty="0"/>
          </a:p>
          <a:p>
            <a:r>
              <a:rPr lang="en-US" sz="1800" b="1" dirty="0"/>
              <a:t>Purpose</a:t>
            </a:r>
            <a:r>
              <a:rPr lang="en-US" sz="1800" dirty="0"/>
              <a:t>: To test whether there is an association between two categorical variables.</a:t>
            </a:r>
          </a:p>
          <a:p>
            <a:endParaRPr lang="en-US" sz="1800" b="1" dirty="0"/>
          </a:p>
          <a:p>
            <a:r>
              <a:rPr lang="en-US" sz="1800" b="1" dirty="0"/>
              <a:t>Example</a:t>
            </a:r>
            <a:r>
              <a:rPr lang="en-US" sz="1800" dirty="0"/>
              <a:t>: Determining if there is an association between gender (male/female) and preference for a product (yes/no).</a:t>
            </a:r>
          </a:p>
          <a:p>
            <a:endParaRPr lang="en-US" sz="1800" b="1" dirty="0"/>
          </a:p>
          <a:p>
            <a:r>
              <a:rPr lang="en-US" sz="1800" b="1" dirty="0"/>
              <a:t>Hypotheses</a:t>
            </a:r>
            <a:r>
              <a:rPr lang="en-US" sz="1800" dirty="0"/>
              <a:t>:</a:t>
            </a:r>
          </a:p>
          <a:p>
            <a:pPr marL="742950" lvl="1" indent="-285750">
              <a:buFont typeface="Arial" panose="020B0604020202020204" pitchFamily="34" charset="0"/>
              <a:buChar char="•"/>
            </a:pPr>
            <a:r>
              <a:rPr lang="en-US" sz="1800" b="1" dirty="0"/>
              <a:t>Null Hypothesis (</a:t>
            </a:r>
            <a:r>
              <a:rPr lang="en-US" sz="1800" b="1" i="1" dirty="0"/>
              <a:t>H</a:t>
            </a:r>
            <a:r>
              <a:rPr lang="en-US" sz="1800" b="1" i="1" baseline="-25000" dirty="0"/>
              <a:t>0</a:t>
            </a:r>
            <a:r>
              <a:rPr lang="en-US" sz="1800" b="1" dirty="0"/>
              <a:t>​)</a:t>
            </a:r>
            <a:r>
              <a:rPr lang="en-US" sz="1800" dirty="0"/>
              <a:t>: There is no association between the two variables (they are independent).</a:t>
            </a:r>
          </a:p>
          <a:p>
            <a:pPr marL="742950" lvl="1" indent="-285750">
              <a:buFont typeface="Arial" panose="020B0604020202020204" pitchFamily="34" charset="0"/>
              <a:buChar char="•"/>
            </a:pPr>
            <a:r>
              <a:rPr lang="en-US" sz="1800" b="1" dirty="0"/>
              <a:t>Alternative Hypothesis (</a:t>
            </a:r>
            <a:r>
              <a:rPr lang="en-US" sz="1800" b="1" i="1" dirty="0"/>
              <a:t>H</a:t>
            </a:r>
            <a:r>
              <a:rPr lang="en-US" sz="1800" b="1" i="1" baseline="-25000" dirty="0"/>
              <a:t>a</a:t>
            </a:r>
            <a:r>
              <a:rPr lang="en-US" sz="1800" b="1" dirty="0"/>
              <a:t>​)</a:t>
            </a:r>
            <a:r>
              <a:rPr lang="en-US" sz="1800" dirty="0"/>
              <a:t>: There is an association between the two variables (they are not independent).</a:t>
            </a:r>
          </a:p>
        </p:txBody>
      </p:sp>
    </p:spTree>
    <p:extLst>
      <p:ext uri="{BB962C8B-B14F-4D97-AF65-F5344CB8AC3E}">
        <p14:creationId xmlns:p14="http://schemas.microsoft.com/office/powerpoint/2010/main" val="40477829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35B308E-F39F-1882-2B16-8E68F7FC7F7D}"/>
              </a:ext>
            </a:extLst>
          </p:cNvPr>
          <p:cNvSpPr txBox="1"/>
          <p:nvPr/>
        </p:nvSpPr>
        <p:spPr>
          <a:xfrm>
            <a:off x="791580" y="764704"/>
            <a:ext cx="7164796" cy="3693319"/>
          </a:xfrm>
          <a:prstGeom prst="rect">
            <a:avLst/>
          </a:prstGeom>
          <a:noFill/>
        </p:spPr>
        <p:txBody>
          <a:bodyPr wrap="square">
            <a:spAutoFit/>
          </a:bodyPr>
          <a:lstStyle/>
          <a:p>
            <a:r>
              <a:rPr lang="en-US" sz="1800" b="1" dirty="0"/>
              <a:t>Chi-Square Goodness-of-Fit Test</a:t>
            </a:r>
          </a:p>
          <a:p>
            <a:endParaRPr lang="en-US" sz="1800" dirty="0"/>
          </a:p>
          <a:p>
            <a:r>
              <a:rPr lang="en-US" sz="1800" b="1" dirty="0"/>
              <a:t>Purpose</a:t>
            </a:r>
            <a:r>
              <a:rPr lang="en-US" sz="1800" dirty="0"/>
              <a:t>: To test if the observed frequencies for a single categorical variable match expected frequencies.</a:t>
            </a:r>
          </a:p>
          <a:p>
            <a:endParaRPr lang="en-US" sz="1800" b="1" dirty="0"/>
          </a:p>
          <a:p>
            <a:r>
              <a:rPr lang="en-US" sz="1800" b="1" dirty="0"/>
              <a:t>Example</a:t>
            </a:r>
            <a:r>
              <a:rPr lang="en-US" sz="1800" dirty="0"/>
              <a:t>: Testing if the observed distribution of eye colors in a sample of students fits the expected distribution.</a:t>
            </a:r>
          </a:p>
          <a:p>
            <a:endParaRPr lang="en-US" sz="1800" b="1" dirty="0"/>
          </a:p>
          <a:p>
            <a:r>
              <a:rPr lang="en-US" sz="1800" b="1" dirty="0"/>
              <a:t>Hypotheses</a:t>
            </a:r>
            <a:r>
              <a:rPr lang="en-US" sz="1800" dirty="0"/>
              <a:t>:</a:t>
            </a:r>
          </a:p>
          <a:p>
            <a:pPr marL="742950" lvl="1" indent="-285750">
              <a:buFont typeface="Arial" panose="020B0604020202020204" pitchFamily="34" charset="0"/>
              <a:buChar char="•"/>
            </a:pPr>
            <a:r>
              <a:rPr lang="en-US" sz="1800" b="1" dirty="0"/>
              <a:t>Null Hypothesis (</a:t>
            </a:r>
            <a:r>
              <a:rPr lang="en-US" sz="1800" b="1" i="1" dirty="0"/>
              <a:t>H</a:t>
            </a:r>
            <a:r>
              <a:rPr lang="en-US" sz="1800" b="1" i="1" baseline="-25000" dirty="0"/>
              <a:t>0</a:t>
            </a:r>
            <a:r>
              <a:rPr lang="en-US" sz="1800" b="1" dirty="0"/>
              <a:t>​)</a:t>
            </a:r>
            <a:r>
              <a:rPr lang="en-US" sz="1800" dirty="0"/>
              <a:t>: The observed distribution matches the expected distribution.</a:t>
            </a:r>
          </a:p>
          <a:p>
            <a:pPr marL="742950" lvl="1" indent="-285750">
              <a:buFont typeface="Arial" panose="020B0604020202020204" pitchFamily="34" charset="0"/>
              <a:buChar char="•"/>
            </a:pPr>
            <a:r>
              <a:rPr lang="en-US" sz="1800" b="1" dirty="0"/>
              <a:t>Alternative Hypothesis (</a:t>
            </a:r>
            <a:r>
              <a:rPr lang="en-US" sz="1800" b="1" i="1" dirty="0"/>
              <a:t>H</a:t>
            </a:r>
            <a:r>
              <a:rPr lang="en-US" sz="1800" b="1" i="1" baseline="-25000" dirty="0"/>
              <a:t>a</a:t>
            </a:r>
            <a:r>
              <a:rPr lang="en-US" sz="1800" b="1" dirty="0"/>
              <a:t>​)</a:t>
            </a:r>
            <a:r>
              <a:rPr lang="en-US" sz="1800" dirty="0"/>
              <a:t>: The observed distribution does not match the expected distribution.</a:t>
            </a:r>
          </a:p>
        </p:txBody>
      </p:sp>
    </p:spTree>
    <p:extLst>
      <p:ext uri="{BB962C8B-B14F-4D97-AF65-F5344CB8AC3E}">
        <p14:creationId xmlns:p14="http://schemas.microsoft.com/office/powerpoint/2010/main" val="29378536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271764A-DA21-50F8-4AE9-67603AE7384F}"/>
              </a:ext>
            </a:extLst>
          </p:cNvPr>
          <p:cNvSpPr txBox="1"/>
          <p:nvPr/>
        </p:nvSpPr>
        <p:spPr>
          <a:xfrm>
            <a:off x="496702" y="224644"/>
            <a:ext cx="8150595" cy="6463308"/>
          </a:xfrm>
          <a:prstGeom prst="rect">
            <a:avLst/>
          </a:prstGeom>
          <a:noFill/>
        </p:spPr>
        <p:txBody>
          <a:bodyPr wrap="square">
            <a:spAutoFit/>
          </a:bodyPr>
          <a:lstStyle/>
          <a:p>
            <a:r>
              <a:rPr lang="en-US" sz="1800" b="1" dirty="0"/>
              <a:t>Formulas and Calculations</a:t>
            </a:r>
          </a:p>
          <a:p>
            <a:endParaRPr lang="en-US" sz="1800" b="1" dirty="0"/>
          </a:p>
          <a:p>
            <a:pPr>
              <a:buFont typeface="+mj-lt"/>
              <a:buAutoNum type="arabicPeriod"/>
            </a:pPr>
            <a:r>
              <a:rPr lang="en-US" sz="1800" b="1" dirty="0"/>
              <a:t> Chi-Square Test Statistic</a:t>
            </a:r>
            <a:r>
              <a:rPr lang="en-US" sz="1800" dirty="0"/>
              <a:t>:</a:t>
            </a:r>
          </a:p>
          <a:p>
            <a:endParaRPr lang="en-US" sz="1800" dirty="0"/>
          </a:p>
          <a:p>
            <a:r>
              <a:rPr lang="en-US" sz="1800" dirty="0"/>
              <a:t>For both the Test of Independence and the Goodness-of-Fit Test, the Chi-Square statistic (χ2) is calculated as: </a:t>
            </a:r>
          </a:p>
          <a:p>
            <a:endParaRPr lang="en-US" sz="1800" dirty="0"/>
          </a:p>
          <a:p>
            <a:endParaRPr lang="en-US" sz="1800" dirty="0"/>
          </a:p>
          <a:p>
            <a:r>
              <a:rPr lang="en-US" sz="1800" dirty="0"/>
              <a:t>where:</a:t>
            </a:r>
          </a:p>
          <a:p>
            <a:pPr lvl="2"/>
            <a:r>
              <a:rPr lang="en-US" sz="1800" i="1" dirty="0"/>
              <a:t>O</a:t>
            </a:r>
            <a:r>
              <a:rPr lang="en-US" sz="1800" i="1" baseline="-25000" dirty="0"/>
              <a:t>i</a:t>
            </a:r>
            <a:r>
              <a:rPr lang="en-US" sz="1800" dirty="0"/>
              <a:t>​ is the observed frequency for category </a:t>
            </a:r>
            <a:r>
              <a:rPr lang="en-US" sz="1800" dirty="0" err="1"/>
              <a:t>i</a:t>
            </a:r>
            <a:r>
              <a:rPr lang="en-US" sz="1800" dirty="0"/>
              <a:t>,</a:t>
            </a:r>
          </a:p>
          <a:p>
            <a:pPr lvl="2"/>
            <a:r>
              <a:rPr lang="en-US" sz="1800" i="1" dirty="0"/>
              <a:t>E</a:t>
            </a:r>
            <a:r>
              <a:rPr lang="en-US" sz="1800" i="1" baseline="-25000" dirty="0"/>
              <a:t>i</a:t>
            </a:r>
            <a:r>
              <a:rPr lang="en-US" sz="1800" dirty="0"/>
              <a:t>​ is the expected frequency for category </a:t>
            </a:r>
            <a:r>
              <a:rPr lang="en-US" sz="1800" dirty="0" err="1"/>
              <a:t>i</a:t>
            </a:r>
            <a:r>
              <a:rPr lang="en-US" sz="1800" dirty="0"/>
              <a:t>.</a:t>
            </a:r>
          </a:p>
          <a:p>
            <a:pPr lvl="2"/>
            <a:endParaRPr lang="en-US" sz="1800" dirty="0"/>
          </a:p>
          <a:p>
            <a:r>
              <a:rPr lang="en-US" sz="1800" b="1" dirty="0"/>
              <a:t>2. Degrees of Freedom (</a:t>
            </a:r>
            <a:r>
              <a:rPr lang="en-US" sz="1800" b="1" dirty="0" err="1"/>
              <a:t>df</a:t>
            </a:r>
            <a:r>
              <a:rPr lang="en-US" sz="1800" b="1" dirty="0"/>
              <a:t>)</a:t>
            </a:r>
            <a:r>
              <a:rPr lang="en-US" sz="1800" dirty="0"/>
              <a:t>:</a:t>
            </a:r>
          </a:p>
          <a:p>
            <a:endParaRPr lang="en-US" sz="1800" dirty="0"/>
          </a:p>
          <a:p>
            <a:r>
              <a:rPr lang="en-US" sz="1800" dirty="0"/>
              <a:t>For the </a:t>
            </a:r>
            <a:r>
              <a:rPr lang="en-US" sz="1800" b="1" dirty="0"/>
              <a:t>Test of Independence</a:t>
            </a:r>
            <a:r>
              <a:rPr lang="en-US" sz="1800" dirty="0"/>
              <a:t>: </a:t>
            </a:r>
          </a:p>
          <a:p>
            <a:endParaRPr lang="en-US" sz="1800" dirty="0"/>
          </a:p>
          <a:p>
            <a:endParaRPr lang="en-US" sz="1800" dirty="0"/>
          </a:p>
          <a:p>
            <a:r>
              <a:rPr lang="en-US" sz="1800" dirty="0"/>
              <a:t>where r is the number of rows, and c is the number of columns in a contingency table.</a:t>
            </a:r>
          </a:p>
          <a:p>
            <a:endParaRPr lang="en-US" sz="1800" dirty="0"/>
          </a:p>
          <a:p>
            <a:r>
              <a:rPr lang="en-US" sz="1800" dirty="0"/>
              <a:t>For the </a:t>
            </a:r>
            <a:r>
              <a:rPr lang="en-US" sz="1800" b="1" dirty="0"/>
              <a:t>Goodness-of-Fit Test</a:t>
            </a:r>
            <a:r>
              <a:rPr lang="en-US" sz="1800" dirty="0"/>
              <a:t>:</a:t>
            </a:r>
          </a:p>
          <a:p>
            <a:endParaRPr lang="en-US" sz="1800" dirty="0"/>
          </a:p>
          <a:p>
            <a:r>
              <a:rPr lang="en-US" sz="1800" dirty="0"/>
              <a:t>where k is the number of categories.</a:t>
            </a:r>
          </a:p>
        </p:txBody>
      </p:sp>
      <p:pic>
        <p:nvPicPr>
          <p:cNvPr id="5" name="Picture 4">
            <a:extLst>
              <a:ext uri="{FF2B5EF4-FFF2-40B4-BE49-F238E27FC236}">
                <a16:creationId xmlns:a16="http://schemas.microsoft.com/office/drawing/2014/main" xmlns="" id="{8C6D40AD-8F16-9C52-9C79-F9793B48EC17}"/>
              </a:ext>
            </a:extLst>
          </p:cNvPr>
          <p:cNvPicPr>
            <a:picLocks noChangeAspect="1"/>
          </p:cNvPicPr>
          <p:nvPr/>
        </p:nvPicPr>
        <p:blipFill>
          <a:blip r:embed="rId2"/>
          <a:stretch>
            <a:fillRect/>
          </a:stretch>
        </p:blipFill>
        <p:spPr>
          <a:xfrm>
            <a:off x="3275856" y="1916832"/>
            <a:ext cx="2267266" cy="771633"/>
          </a:xfrm>
          <a:prstGeom prst="rect">
            <a:avLst/>
          </a:prstGeom>
        </p:spPr>
      </p:pic>
      <p:pic>
        <p:nvPicPr>
          <p:cNvPr id="7" name="Picture 6">
            <a:extLst>
              <a:ext uri="{FF2B5EF4-FFF2-40B4-BE49-F238E27FC236}">
                <a16:creationId xmlns:a16="http://schemas.microsoft.com/office/drawing/2014/main" xmlns="" id="{1A77F5FA-18D7-7FA5-FB74-D32DA8550E6E}"/>
              </a:ext>
            </a:extLst>
          </p:cNvPr>
          <p:cNvPicPr>
            <a:picLocks noChangeAspect="1"/>
          </p:cNvPicPr>
          <p:nvPr/>
        </p:nvPicPr>
        <p:blipFill>
          <a:blip r:embed="rId3"/>
          <a:stretch>
            <a:fillRect/>
          </a:stretch>
        </p:blipFill>
        <p:spPr>
          <a:xfrm>
            <a:off x="3743908" y="4390730"/>
            <a:ext cx="2400635" cy="419158"/>
          </a:xfrm>
          <a:prstGeom prst="rect">
            <a:avLst/>
          </a:prstGeom>
        </p:spPr>
      </p:pic>
      <p:pic>
        <p:nvPicPr>
          <p:cNvPr id="9" name="Picture 8">
            <a:extLst>
              <a:ext uri="{FF2B5EF4-FFF2-40B4-BE49-F238E27FC236}">
                <a16:creationId xmlns:a16="http://schemas.microsoft.com/office/drawing/2014/main" xmlns="" id="{F182C43F-381D-1817-7C37-82C7F474B86D}"/>
              </a:ext>
            </a:extLst>
          </p:cNvPr>
          <p:cNvPicPr>
            <a:picLocks noChangeAspect="1"/>
          </p:cNvPicPr>
          <p:nvPr/>
        </p:nvPicPr>
        <p:blipFill>
          <a:blip r:embed="rId4"/>
          <a:stretch>
            <a:fillRect/>
          </a:stretch>
        </p:blipFill>
        <p:spPr>
          <a:xfrm>
            <a:off x="3962796" y="5805264"/>
            <a:ext cx="1247949" cy="295316"/>
          </a:xfrm>
          <a:prstGeom prst="rect">
            <a:avLst/>
          </a:prstGeom>
        </p:spPr>
      </p:pic>
    </p:spTree>
    <p:extLst>
      <p:ext uri="{BB962C8B-B14F-4D97-AF65-F5344CB8AC3E}">
        <p14:creationId xmlns:p14="http://schemas.microsoft.com/office/powerpoint/2010/main" val="4528441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DBECFD8-F087-137D-E53E-90ADE7B234A6}"/>
              </a:ext>
            </a:extLst>
          </p:cNvPr>
          <p:cNvSpPr txBox="1"/>
          <p:nvPr/>
        </p:nvSpPr>
        <p:spPr>
          <a:xfrm>
            <a:off x="611560" y="305068"/>
            <a:ext cx="7920880" cy="5693866"/>
          </a:xfrm>
          <a:prstGeom prst="rect">
            <a:avLst/>
          </a:prstGeom>
          <a:noFill/>
        </p:spPr>
        <p:txBody>
          <a:bodyPr wrap="square">
            <a:spAutoFit/>
          </a:bodyPr>
          <a:lstStyle/>
          <a:p>
            <a:r>
              <a:rPr lang="en-US" sz="2000" b="1" dirty="0"/>
              <a:t>Steps in Conducting a Chi-Square Test</a:t>
            </a:r>
          </a:p>
          <a:p>
            <a:endParaRPr lang="en-US" sz="2000" b="1" dirty="0"/>
          </a:p>
          <a:p>
            <a:pPr>
              <a:buFont typeface="+mj-lt"/>
              <a:buAutoNum type="arabicPeriod"/>
            </a:pPr>
            <a:r>
              <a:rPr lang="en-US" sz="1800" b="1" dirty="0"/>
              <a:t>State the Hypotheses</a:t>
            </a:r>
            <a:r>
              <a:rPr lang="en-US" sz="1800" dirty="0"/>
              <a:t>:</a:t>
            </a:r>
          </a:p>
          <a:p>
            <a:pPr lvl="1"/>
            <a:r>
              <a:rPr lang="en-US" sz="1800" dirty="0"/>
              <a:t>Define the null (</a:t>
            </a:r>
            <a:r>
              <a:rPr lang="en-US" sz="1800" i="1" dirty="0"/>
              <a:t>H</a:t>
            </a:r>
            <a:r>
              <a:rPr lang="en-US" sz="1800" i="1" baseline="-25000" dirty="0"/>
              <a:t>0</a:t>
            </a:r>
            <a:r>
              <a:rPr lang="en-US" sz="1800" dirty="0"/>
              <a:t>​) and alternative (</a:t>
            </a:r>
            <a:r>
              <a:rPr lang="en-US" sz="1800" i="1" dirty="0"/>
              <a:t>H</a:t>
            </a:r>
            <a:r>
              <a:rPr lang="en-US" sz="1800" i="1" baseline="-25000" dirty="0"/>
              <a:t>a</a:t>
            </a:r>
            <a:r>
              <a:rPr lang="en-US" sz="1800" dirty="0"/>
              <a:t>​) hypotheses.</a:t>
            </a:r>
          </a:p>
          <a:p>
            <a:pPr>
              <a:buFont typeface="+mj-lt"/>
              <a:buAutoNum type="arabicPeriod"/>
            </a:pPr>
            <a:r>
              <a:rPr lang="en-US" sz="1800" b="1" dirty="0"/>
              <a:t>Set the Significance Level (α)</a:t>
            </a:r>
            <a:r>
              <a:rPr lang="en-US" sz="1800" dirty="0"/>
              <a:t>:</a:t>
            </a:r>
          </a:p>
          <a:p>
            <a:pPr lvl="1"/>
            <a:r>
              <a:rPr lang="en-US" sz="1800" dirty="0"/>
              <a:t>Typically 0.05 or 0.01.</a:t>
            </a:r>
          </a:p>
          <a:p>
            <a:pPr>
              <a:buFont typeface="+mj-lt"/>
              <a:buAutoNum type="arabicPeriod"/>
            </a:pPr>
            <a:r>
              <a:rPr lang="en-US" sz="1800" b="1" dirty="0"/>
              <a:t>Create a Contingency Table</a:t>
            </a:r>
            <a:r>
              <a:rPr lang="en-US" sz="1800" dirty="0"/>
              <a:t> (for Test of Independence):</a:t>
            </a:r>
          </a:p>
          <a:p>
            <a:pPr lvl="1"/>
            <a:r>
              <a:rPr lang="en-US" sz="1800" dirty="0"/>
              <a:t>For each combination of categories, count the frequencies and calculate the expected counts.</a:t>
            </a:r>
          </a:p>
          <a:p>
            <a:pPr>
              <a:buFont typeface="+mj-lt"/>
              <a:buAutoNum type="arabicPeriod"/>
            </a:pPr>
            <a:r>
              <a:rPr lang="en-US" sz="1800" b="1" dirty="0"/>
              <a:t>Calculate the Chi-Square Statistic</a:t>
            </a:r>
            <a:r>
              <a:rPr lang="en-US" sz="1800" dirty="0"/>
              <a:t>:</a:t>
            </a:r>
          </a:p>
          <a:p>
            <a:pPr lvl="1"/>
            <a:r>
              <a:rPr lang="en-US" sz="1800" dirty="0"/>
              <a:t>Use the formula to find χ2 based on observed and expected counts.</a:t>
            </a:r>
          </a:p>
          <a:p>
            <a:pPr>
              <a:buFont typeface="+mj-lt"/>
              <a:buAutoNum type="arabicPeriod"/>
            </a:pPr>
            <a:r>
              <a:rPr lang="en-US" sz="1800" b="1" dirty="0"/>
              <a:t>Determine the Critical Value or p-Value</a:t>
            </a:r>
            <a:r>
              <a:rPr lang="en-US" sz="1800" dirty="0"/>
              <a:t>:</a:t>
            </a:r>
          </a:p>
          <a:p>
            <a:pPr lvl="1"/>
            <a:r>
              <a:rPr lang="en-US" sz="1800" dirty="0"/>
              <a:t>Compare the calculated χ2-statistic to the critical value from the Chi-Square distribution table for the given degrees of freedom or calculate the p-value.</a:t>
            </a:r>
          </a:p>
          <a:p>
            <a:pPr>
              <a:buFont typeface="+mj-lt"/>
              <a:buAutoNum type="arabicPeriod"/>
            </a:pPr>
            <a:r>
              <a:rPr lang="en-US" sz="1800" b="1" dirty="0"/>
              <a:t>Make a Decision</a:t>
            </a:r>
            <a:r>
              <a:rPr lang="en-US" sz="1800" dirty="0"/>
              <a:t>:</a:t>
            </a:r>
          </a:p>
          <a:p>
            <a:pPr lvl="1"/>
            <a:r>
              <a:rPr lang="en-US" sz="1800" dirty="0"/>
              <a:t>If χ2 is greater than the critical value (or the p-value is less than α), reject </a:t>
            </a:r>
            <a:r>
              <a:rPr lang="en-US" sz="1800" i="1" dirty="0"/>
              <a:t>H</a:t>
            </a:r>
            <a:r>
              <a:rPr lang="en-US" sz="1800" i="1" baseline="-25000" dirty="0"/>
              <a:t>0</a:t>
            </a:r>
            <a:r>
              <a:rPr lang="en-US" sz="1800" dirty="0"/>
              <a:t>​; otherwise, do not reject </a:t>
            </a:r>
            <a:r>
              <a:rPr lang="en-US" sz="1800" i="1" dirty="0"/>
              <a:t>H</a:t>
            </a:r>
            <a:r>
              <a:rPr lang="en-US" sz="1800" i="1" baseline="-25000" dirty="0"/>
              <a:t>0</a:t>
            </a:r>
            <a:r>
              <a:rPr lang="en-US" sz="1800" dirty="0"/>
              <a:t>.</a:t>
            </a:r>
          </a:p>
          <a:p>
            <a:pPr>
              <a:buFont typeface="+mj-lt"/>
              <a:buAutoNum type="arabicPeriod"/>
            </a:pPr>
            <a:r>
              <a:rPr lang="en-US" sz="1800" b="1" dirty="0"/>
              <a:t>Interpret the Result</a:t>
            </a:r>
            <a:r>
              <a:rPr lang="en-US" sz="1800" dirty="0"/>
              <a:t>:</a:t>
            </a:r>
          </a:p>
          <a:p>
            <a:pPr lvl="1"/>
            <a:r>
              <a:rPr lang="en-US" sz="1800" dirty="0"/>
              <a:t>Describe the findings in the context of the research question.</a:t>
            </a:r>
          </a:p>
        </p:txBody>
      </p:sp>
    </p:spTree>
    <p:extLst>
      <p:ext uri="{BB962C8B-B14F-4D97-AF65-F5344CB8AC3E}">
        <p14:creationId xmlns:p14="http://schemas.microsoft.com/office/powerpoint/2010/main" val="3667607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01CBABD-B6B5-811A-5E05-1414BA41A3E4}"/>
              </a:ext>
            </a:extLst>
          </p:cNvPr>
          <p:cNvSpPr txBox="1"/>
          <p:nvPr/>
        </p:nvSpPr>
        <p:spPr>
          <a:xfrm>
            <a:off x="503548" y="273329"/>
            <a:ext cx="7740860" cy="1754326"/>
          </a:xfrm>
          <a:prstGeom prst="rect">
            <a:avLst/>
          </a:prstGeom>
          <a:noFill/>
        </p:spPr>
        <p:txBody>
          <a:bodyPr wrap="square">
            <a:spAutoFit/>
          </a:bodyPr>
          <a:lstStyle/>
          <a:p>
            <a:r>
              <a:rPr lang="en-US" sz="1800" b="1" dirty="0"/>
              <a:t>Example of Chi-Square Test of Independence</a:t>
            </a:r>
          </a:p>
          <a:p>
            <a:endParaRPr lang="en-US" sz="1800" b="1" dirty="0"/>
          </a:p>
          <a:p>
            <a:r>
              <a:rPr lang="en-US" sz="1800" dirty="0"/>
              <a:t>Suppose a researcher wants to know if there is an association between education level (High School, Bachelor’s, Master’s) and preference for a product (Yes, No). The data is collected and arranged in a contingency table:</a:t>
            </a:r>
          </a:p>
        </p:txBody>
      </p:sp>
      <p:pic>
        <p:nvPicPr>
          <p:cNvPr id="5" name="Picture 4">
            <a:extLst>
              <a:ext uri="{FF2B5EF4-FFF2-40B4-BE49-F238E27FC236}">
                <a16:creationId xmlns:a16="http://schemas.microsoft.com/office/drawing/2014/main" xmlns="" id="{FEE33802-5FD2-E933-AFE9-81B11955EC44}"/>
              </a:ext>
            </a:extLst>
          </p:cNvPr>
          <p:cNvPicPr>
            <a:picLocks noChangeAspect="1"/>
          </p:cNvPicPr>
          <p:nvPr/>
        </p:nvPicPr>
        <p:blipFill>
          <a:blip r:embed="rId2"/>
          <a:stretch>
            <a:fillRect/>
          </a:stretch>
        </p:blipFill>
        <p:spPr>
          <a:xfrm>
            <a:off x="1259632" y="1766449"/>
            <a:ext cx="6984776" cy="1381603"/>
          </a:xfrm>
          <a:prstGeom prst="rect">
            <a:avLst/>
          </a:prstGeom>
        </p:spPr>
      </p:pic>
      <p:sp>
        <p:nvSpPr>
          <p:cNvPr id="7" name="TextBox 6">
            <a:extLst>
              <a:ext uri="{FF2B5EF4-FFF2-40B4-BE49-F238E27FC236}">
                <a16:creationId xmlns:a16="http://schemas.microsoft.com/office/drawing/2014/main" xmlns="" id="{B6E5FCBA-221F-AEE5-4AE3-1E1B68349CDB}"/>
              </a:ext>
            </a:extLst>
          </p:cNvPr>
          <p:cNvSpPr txBox="1"/>
          <p:nvPr/>
        </p:nvSpPr>
        <p:spPr>
          <a:xfrm>
            <a:off x="539552" y="3148052"/>
            <a:ext cx="7668852" cy="923330"/>
          </a:xfrm>
          <a:prstGeom prst="rect">
            <a:avLst/>
          </a:prstGeom>
          <a:noFill/>
        </p:spPr>
        <p:txBody>
          <a:bodyPr wrap="square">
            <a:spAutoFit/>
          </a:bodyPr>
          <a:lstStyle/>
          <a:p>
            <a:r>
              <a:rPr lang="en-US" sz="1800" b="1" dirty="0"/>
              <a:t>Calculate Expected Counts</a:t>
            </a:r>
            <a:r>
              <a:rPr lang="en-US" sz="1800" dirty="0"/>
              <a:t> for each cell under the assumption that the variables are independent. For example, the expected count for "Yes" and "High School" would be:</a:t>
            </a:r>
          </a:p>
        </p:txBody>
      </p:sp>
      <p:pic>
        <p:nvPicPr>
          <p:cNvPr id="9" name="Picture 8">
            <a:extLst>
              <a:ext uri="{FF2B5EF4-FFF2-40B4-BE49-F238E27FC236}">
                <a16:creationId xmlns:a16="http://schemas.microsoft.com/office/drawing/2014/main" xmlns="" id="{A2BE176F-8B1B-BF15-C0D5-838F7E97A0AE}"/>
              </a:ext>
            </a:extLst>
          </p:cNvPr>
          <p:cNvPicPr>
            <a:picLocks noChangeAspect="1"/>
          </p:cNvPicPr>
          <p:nvPr/>
        </p:nvPicPr>
        <p:blipFill>
          <a:blip r:embed="rId3"/>
          <a:stretch>
            <a:fillRect/>
          </a:stretch>
        </p:blipFill>
        <p:spPr>
          <a:xfrm>
            <a:off x="2276179" y="4071382"/>
            <a:ext cx="4591641" cy="674996"/>
          </a:xfrm>
          <a:prstGeom prst="rect">
            <a:avLst/>
          </a:prstGeom>
        </p:spPr>
      </p:pic>
      <p:sp>
        <p:nvSpPr>
          <p:cNvPr id="10" name="Rectangle 1">
            <a:extLst>
              <a:ext uri="{FF2B5EF4-FFF2-40B4-BE49-F238E27FC236}">
                <a16:creationId xmlns:a16="http://schemas.microsoft.com/office/drawing/2014/main" xmlns="" id="{0159102E-BD47-3BEE-42AC-E34FA9672376}"/>
              </a:ext>
            </a:extLst>
          </p:cNvPr>
          <p:cNvSpPr>
            <a:spLocks noChangeArrowheads="1"/>
          </p:cNvSpPr>
          <p:nvPr/>
        </p:nvSpPr>
        <p:spPr bwMode="auto">
          <a:xfrm>
            <a:off x="539552" y="4654045"/>
            <a:ext cx="813690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Calculate the Chi-Square Statistic</a:t>
            </a:r>
            <a:r>
              <a:rPr kumimoji="0" lang="en-US" altLang="en-US" sz="1800" b="0" i="0" u="none" strike="noStrike" cap="none" normalizeH="0" baseline="0" dirty="0">
                <a:ln>
                  <a:noFill/>
                </a:ln>
                <a:solidFill>
                  <a:schemeClr val="tx1"/>
                </a:solidFill>
                <a:effectLst/>
                <a:latin typeface="Arial" panose="020B0604020202020204" pitchFamily="34" charset="0"/>
              </a:rPr>
              <a:t> by comparing observed and expected counts for each cell in the table.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Degrees of Freedom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df</a:t>
            </a:r>
            <a:r>
              <a:rPr kumimoji="0" lang="en-US" altLang="en-US" sz="1800" b="0" i="0" u="none" strike="noStrike" cap="none" normalizeH="0" baseline="0" dirty="0">
                <a:ln>
                  <a:noFill/>
                </a:ln>
                <a:solidFill>
                  <a:schemeClr val="tx1"/>
                </a:solidFill>
                <a:effectLst/>
                <a:latin typeface="Arial" panose="020B0604020202020204" pitchFamily="34" charset="0"/>
              </a:rPr>
              <a:t>=(2−1)(3−1)=2</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Compare with Critical Value</a:t>
            </a:r>
            <a:r>
              <a:rPr kumimoji="0" lang="en-US" altLang="en-US" sz="1800" b="0" i="0" u="none" strike="noStrike" cap="none" normalizeH="0" baseline="0" dirty="0">
                <a:ln>
                  <a:noFill/>
                </a:ln>
                <a:solidFill>
                  <a:schemeClr val="tx1"/>
                </a:solidFill>
                <a:effectLst/>
                <a:latin typeface="Arial" panose="020B0604020202020204" pitchFamily="34" charset="0"/>
              </a:rPr>
              <a:t> or calculate the p-value to conclude if there is a significant association.</a:t>
            </a:r>
          </a:p>
        </p:txBody>
      </p:sp>
    </p:spTree>
    <p:extLst>
      <p:ext uri="{BB962C8B-B14F-4D97-AF65-F5344CB8AC3E}">
        <p14:creationId xmlns:p14="http://schemas.microsoft.com/office/powerpoint/2010/main" val="4485504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D977583-E8F5-6895-2BDC-3F08F94A21B5}"/>
              </a:ext>
            </a:extLst>
          </p:cNvPr>
          <p:cNvSpPr txBox="1"/>
          <p:nvPr/>
        </p:nvSpPr>
        <p:spPr>
          <a:xfrm>
            <a:off x="647564" y="476673"/>
            <a:ext cx="7920880" cy="923330"/>
          </a:xfrm>
          <a:prstGeom prst="rect">
            <a:avLst/>
          </a:prstGeom>
          <a:noFill/>
        </p:spPr>
        <p:txBody>
          <a:bodyPr wrap="square">
            <a:spAutoFit/>
          </a:bodyPr>
          <a:lstStyle/>
          <a:p>
            <a:r>
              <a:rPr lang="en-US" sz="1800" b="1" dirty="0"/>
              <a:t>Example of Chi-Square Goodness-of-Fit Test</a:t>
            </a:r>
          </a:p>
          <a:p>
            <a:endParaRPr lang="en-US" sz="1800" b="1" dirty="0"/>
          </a:p>
          <a:p>
            <a:r>
              <a:rPr lang="en-US" sz="1800" dirty="0"/>
              <a:t>Suppose a die is rolled 60 times with the following observed outcomes:</a:t>
            </a:r>
          </a:p>
        </p:txBody>
      </p:sp>
      <p:pic>
        <p:nvPicPr>
          <p:cNvPr id="5" name="Picture 4">
            <a:extLst>
              <a:ext uri="{FF2B5EF4-FFF2-40B4-BE49-F238E27FC236}">
                <a16:creationId xmlns:a16="http://schemas.microsoft.com/office/drawing/2014/main" xmlns="" id="{F0241F27-8703-C2BE-D092-A74D3DAACFD2}"/>
              </a:ext>
            </a:extLst>
          </p:cNvPr>
          <p:cNvPicPr>
            <a:picLocks noChangeAspect="1"/>
          </p:cNvPicPr>
          <p:nvPr/>
        </p:nvPicPr>
        <p:blipFill>
          <a:blip r:embed="rId2"/>
          <a:stretch>
            <a:fillRect/>
          </a:stretch>
        </p:blipFill>
        <p:spPr>
          <a:xfrm>
            <a:off x="715336" y="1355025"/>
            <a:ext cx="7768727" cy="849839"/>
          </a:xfrm>
          <a:prstGeom prst="rect">
            <a:avLst/>
          </a:prstGeom>
        </p:spPr>
      </p:pic>
      <p:sp>
        <p:nvSpPr>
          <p:cNvPr id="7" name="TextBox 6">
            <a:extLst>
              <a:ext uri="{FF2B5EF4-FFF2-40B4-BE49-F238E27FC236}">
                <a16:creationId xmlns:a16="http://schemas.microsoft.com/office/drawing/2014/main" xmlns="" id="{16FBA8A7-C585-31B0-90DA-F42B79845BF9}"/>
              </a:ext>
            </a:extLst>
          </p:cNvPr>
          <p:cNvSpPr txBox="1"/>
          <p:nvPr/>
        </p:nvSpPr>
        <p:spPr>
          <a:xfrm>
            <a:off x="647563" y="2305616"/>
            <a:ext cx="7836499" cy="3139321"/>
          </a:xfrm>
          <a:prstGeom prst="rect">
            <a:avLst/>
          </a:prstGeom>
          <a:noFill/>
        </p:spPr>
        <p:txBody>
          <a:bodyPr wrap="square">
            <a:spAutoFit/>
          </a:bodyPr>
          <a:lstStyle/>
          <a:p>
            <a:r>
              <a:rPr lang="en-US" sz="1800" dirty="0"/>
              <a:t>If the die is fair, each outcome is expected to appear </a:t>
            </a:r>
          </a:p>
          <a:p>
            <a:r>
              <a:rPr lang="en-US" sz="1800" dirty="0"/>
              <a:t>E=60/6=10 times.</a:t>
            </a:r>
          </a:p>
          <a:p>
            <a:endParaRPr lang="en-US" sz="1800" b="1" dirty="0"/>
          </a:p>
          <a:p>
            <a:r>
              <a:rPr lang="en-US" sz="1800" b="1" dirty="0"/>
              <a:t>Calculate Chi-Square Statistic</a:t>
            </a:r>
            <a:r>
              <a:rPr lang="en-US" sz="1800" dirty="0"/>
              <a:t> based on the formula with each observed count versus the expected count of 10.</a:t>
            </a:r>
          </a:p>
          <a:p>
            <a:endParaRPr lang="en-US" sz="1800" b="1" dirty="0"/>
          </a:p>
          <a:p>
            <a:r>
              <a:rPr lang="en-US" sz="1800" b="1" dirty="0"/>
              <a:t>Degrees of Freedom</a:t>
            </a:r>
            <a:r>
              <a:rPr lang="en-US" sz="1800" dirty="0"/>
              <a:t>:</a:t>
            </a:r>
          </a:p>
          <a:p>
            <a:r>
              <a:rPr lang="en-US" sz="1800" dirty="0" err="1"/>
              <a:t>df</a:t>
            </a:r>
            <a:r>
              <a:rPr lang="en-US" sz="1800" dirty="0"/>
              <a:t>=6−1=5</a:t>
            </a:r>
          </a:p>
          <a:p>
            <a:endParaRPr lang="en-US" sz="1800" b="1" dirty="0"/>
          </a:p>
          <a:p>
            <a:r>
              <a:rPr lang="en-US" sz="1800" b="1" dirty="0"/>
              <a:t>Compare with Critical Value</a:t>
            </a:r>
            <a:r>
              <a:rPr lang="en-US" sz="1800" dirty="0"/>
              <a:t> to test if the observed distribution significantly differs from a uniform (equal) distribution.</a:t>
            </a:r>
          </a:p>
        </p:txBody>
      </p:sp>
    </p:spTree>
    <p:extLst>
      <p:ext uri="{BB962C8B-B14F-4D97-AF65-F5344CB8AC3E}">
        <p14:creationId xmlns:p14="http://schemas.microsoft.com/office/powerpoint/2010/main" val="20515996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D0D6508-C620-EB23-994E-6E1B654B52ED}"/>
              </a:ext>
            </a:extLst>
          </p:cNvPr>
          <p:cNvSpPr txBox="1"/>
          <p:nvPr/>
        </p:nvSpPr>
        <p:spPr>
          <a:xfrm>
            <a:off x="575556" y="797510"/>
            <a:ext cx="7992888" cy="5447645"/>
          </a:xfrm>
          <a:prstGeom prst="rect">
            <a:avLst/>
          </a:prstGeom>
          <a:noFill/>
        </p:spPr>
        <p:txBody>
          <a:bodyPr wrap="square">
            <a:spAutoFit/>
          </a:bodyPr>
          <a:lstStyle/>
          <a:p>
            <a:r>
              <a:rPr lang="en-US" sz="2400" b="1" dirty="0"/>
              <a:t>ANOVA (Analysis of Variance)</a:t>
            </a:r>
          </a:p>
          <a:p>
            <a:endParaRPr lang="en-US" sz="1800" dirty="0"/>
          </a:p>
          <a:p>
            <a:r>
              <a:rPr lang="en-US" sz="1800" dirty="0"/>
              <a:t>Analysis of Variance (ANOVA) is a statistical technique used to determine if there are statistically significant differences among the means of three or more groups. It is particularly useful for comparing multiple groups and understanding whether variation in data is due to different treatment effects or simply due to random variation. ANOVA relies on F-tests to compare the variances between groups and within groups.</a:t>
            </a:r>
          </a:p>
          <a:p>
            <a:endParaRPr lang="en-US" sz="1800" dirty="0"/>
          </a:p>
          <a:p>
            <a:r>
              <a:rPr lang="en-US" sz="1800" b="1" dirty="0"/>
              <a:t>Types of ANOVA</a:t>
            </a:r>
          </a:p>
          <a:p>
            <a:endParaRPr lang="en-US" sz="1800" b="1" dirty="0"/>
          </a:p>
          <a:p>
            <a:r>
              <a:rPr lang="en-US" sz="1800" b="1" dirty="0"/>
              <a:t>One-Way ANOVA</a:t>
            </a:r>
          </a:p>
          <a:p>
            <a:r>
              <a:rPr lang="en-US" sz="1800" b="1" dirty="0"/>
              <a:t>Purpose: </a:t>
            </a:r>
            <a:r>
              <a:rPr lang="en-US" sz="1800" dirty="0"/>
              <a:t>Tests if there are significant differences among the means of three or more independent (unrelated) groups.</a:t>
            </a:r>
          </a:p>
          <a:p>
            <a:r>
              <a:rPr lang="en-US" sz="1800" b="1" dirty="0"/>
              <a:t>Example: </a:t>
            </a:r>
            <a:r>
              <a:rPr lang="en-US" sz="1800" dirty="0"/>
              <a:t>Comparing the average test scores among students who studied under three different teaching methods.</a:t>
            </a:r>
          </a:p>
          <a:p>
            <a:r>
              <a:rPr lang="en-US" sz="1800" b="1" dirty="0"/>
              <a:t>Hypotheses:</a:t>
            </a:r>
          </a:p>
          <a:p>
            <a:r>
              <a:rPr lang="en-US" sz="1800" dirty="0"/>
              <a:t>Null Hypothesis (𝐻</a:t>
            </a:r>
            <a:r>
              <a:rPr lang="en-US" sz="1800" baseline="-25000" dirty="0"/>
              <a:t>0</a:t>
            </a:r>
            <a:r>
              <a:rPr lang="en-US" sz="1800" dirty="0"/>
              <a:t>): All group means are equal.</a:t>
            </a:r>
          </a:p>
          <a:p>
            <a:r>
              <a:rPr lang="en-US" sz="1800" dirty="0"/>
              <a:t>Alternative Hypothesis (𝐻</a:t>
            </a:r>
            <a:r>
              <a:rPr lang="en-US" sz="1800" i="1" dirty="0"/>
              <a:t>𝑎</a:t>
            </a:r>
            <a:r>
              <a:rPr lang="en-US" sz="1800" dirty="0"/>
              <a:t>): At least one group mean is different.</a:t>
            </a:r>
          </a:p>
        </p:txBody>
      </p:sp>
    </p:spTree>
    <p:extLst>
      <p:ext uri="{BB962C8B-B14F-4D97-AF65-F5344CB8AC3E}">
        <p14:creationId xmlns:p14="http://schemas.microsoft.com/office/powerpoint/2010/main" val="1045541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5AFB3570-B928-BBAD-9C26-5B19FBEDA314}"/>
              </a:ext>
            </a:extLst>
          </p:cNvPr>
          <p:cNvSpPr>
            <a:spLocks noChangeArrowheads="1"/>
          </p:cNvSpPr>
          <p:nvPr/>
        </p:nvSpPr>
        <p:spPr bwMode="auto">
          <a:xfrm>
            <a:off x="503548" y="197346"/>
            <a:ext cx="7956884"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Two-Way ANOVA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Tests for significant differences in means based on two independent factors, and can also test for an interaction effect between the factors.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Examining the effect of fertilizer type and watering frequency on plant growth.</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Hypotheses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Tests three hypotheses:</a:t>
            </a: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Main effect of Factor A (e.g., fertilizer type).</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Main effect of Factor B (e.g., watering frequency).</a:t>
            </a:r>
          </a:p>
          <a:p>
            <a:pPr marL="914400" marR="0" lvl="2"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Interaction effect between Factors A and 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Repeated Measures ANOVA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Used when the same subjects are measured multiple times under different conditions (i.e., paired or dependent groups).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Testing the effect of a new drug on blood pressure over several time points for the same participants.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85469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6EBF050-2983-4DE1-F204-DB4F81CFD97D}"/>
              </a:ext>
            </a:extLst>
          </p:cNvPr>
          <p:cNvSpPr txBox="1"/>
          <p:nvPr/>
        </p:nvSpPr>
        <p:spPr>
          <a:xfrm>
            <a:off x="1223628" y="1484784"/>
            <a:ext cx="6480720" cy="2400657"/>
          </a:xfrm>
          <a:prstGeom prst="rect">
            <a:avLst/>
          </a:prstGeom>
          <a:noFill/>
        </p:spPr>
        <p:txBody>
          <a:bodyPr wrap="square">
            <a:spAutoFit/>
          </a:bodyPr>
          <a:lstStyle/>
          <a:p>
            <a:r>
              <a:rPr lang="en-US" sz="2400" b="1" dirty="0"/>
              <a:t> F-test </a:t>
            </a:r>
          </a:p>
          <a:p>
            <a:endParaRPr lang="en-US" sz="1800" dirty="0"/>
          </a:p>
          <a:p>
            <a:r>
              <a:rPr lang="en-US" sz="1800" dirty="0"/>
              <a:t>The F-test is a statistical test used to compare the variances of two populations or to test the overall significance in analysis of variance (ANOVA). It is primarily applied in situations where researchers are interested in examining if there are differences in variability between groups or testing if multiple group means are equal in an ANOVA.</a:t>
            </a:r>
          </a:p>
        </p:txBody>
      </p:sp>
    </p:spTree>
    <p:extLst>
      <p:ext uri="{BB962C8B-B14F-4D97-AF65-F5344CB8AC3E}">
        <p14:creationId xmlns:p14="http://schemas.microsoft.com/office/powerpoint/2010/main" val="26182549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5A0F47F0-3CFA-56AA-AF39-F387AF4BBED8}"/>
                  </a:ext>
                </a:extLst>
              </p:cNvPr>
              <p:cNvSpPr txBox="1"/>
              <p:nvPr/>
            </p:nvSpPr>
            <p:spPr>
              <a:xfrm>
                <a:off x="332529" y="296652"/>
                <a:ext cx="8478942" cy="6437788"/>
              </a:xfrm>
              <a:prstGeom prst="rect">
                <a:avLst/>
              </a:prstGeom>
              <a:noFill/>
            </p:spPr>
            <p:txBody>
              <a:bodyPr wrap="square">
                <a:spAutoFit/>
              </a:bodyPr>
              <a:lstStyle/>
              <a:p>
                <a:r>
                  <a:rPr lang="en-US" sz="2400" b="1" dirty="0"/>
                  <a:t>Types of F-Tests</a:t>
                </a:r>
              </a:p>
              <a:p>
                <a:endParaRPr lang="en-US" sz="2400" b="1" dirty="0"/>
              </a:p>
              <a:p>
                <a:pPr>
                  <a:buFont typeface="+mj-lt"/>
                  <a:buAutoNum type="arabicPeriod"/>
                </a:pPr>
                <a:r>
                  <a:rPr lang="en-US" sz="1800" b="1" dirty="0"/>
                  <a:t>F -Test for Variance</a:t>
                </a:r>
                <a:endParaRPr lang="en-US" sz="1800" dirty="0"/>
              </a:p>
              <a:p>
                <a:endParaRPr lang="en-US" sz="1800" b="1" dirty="0"/>
              </a:p>
              <a:p>
                <a:r>
                  <a:rPr lang="en-US" sz="1800" b="1" dirty="0"/>
                  <a:t>Purpose</a:t>
                </a:r>
                <a:r>
                  <a:rPr lang="en-US" sz="1800" dirty="0"/>
                  <a:t>: To determine if there is a significant difference between the variances of two independent populations.</a:t>
                </a:r>
              </a:p>
              <a:p>
                <a:endParaRPr lang="en-US" sz="1800" b="1" dirty="0"/>
              </a:p>
              <a:p>
                <a:r>
                  <a:rPr lang="en-US" sz="1800" b="1" dirty="0"/>
                  <a:t>Example</a:t>
                </a:r>
                <a:r>
                  <a:rPr lang="en-US" sz="1800" dirty="0"/>
                  <a:t>: Comparing the variances in test scores between two different classrooms to see if one classroom is more varied in scores than the other.</a:t>
                </a:r>
              </a:p>
              <a:p>
                <a:endParaRPr lang="en-US" sz="1800" b="1" dirty="0"/>
              </a:p>
              <a:p>
                <a:r>
                  <a:rPr lang="en-US" sz="1800" b="1" dirty="0"/>
                  <a:t>Hypotheses</a:t>
                </a:r>
                <a:r>
                  <a:rPr lang="en-US" sz="1800" dirty="0"/>
                  <a:t>:</a:t>
                </a:r>
              </a:p>
              <a:p>
                <a:endParaRPr lang="en-US" sz="1800" b="1" dirty="0"/>
              </a:p>
              <a:p>
                <a:r>
                  <a:rPr lang="en-US" sz="1800" b="1" dirty="0"/>
                  <a:t>	Null Hypothesis (</a:t>
                </a:r>
                <a:r>
                  <a:rPr lang="en-US" sz="1800" b="1" i="1" dirty="0"/>
                  <a:t>H</a:t>
                </a:r>
                <a:r>
                  <a:rPr lang="en-US" sz="1800" b="1" i="1" baseline="-25000" dirty="0"/>
                  <a:t>0</a:t>
                </a:r>
                <a:r>
                  <a:rPr lang="en-US" sz="1800" b="1" dirty="0"/>
                  <a:t>​)</a:t>
                </a:r>
                <a:r>
                  <a:rPr lang="en-US" sz="1800" dirty="0"/>
                  <a:t>: The variances of the two populations are equal.</a:t>
                </a:r>
              </a:p>
              <a:p>
                <a:r>
                  <a:rPr lang="en-US" sz="1800" b="1" dirty="0"/>
                  <a:t>	Alternative Hypothesis (</a:t>
                </a:r>
                <a:r>
                  <a:rPr lang="en-US" sz="1800" b="1" i="1" dirty="0"/>
                  <a:t>H</a:t>
                </a:r>
                <a:r>
                  <a:rPr lang="en-US" sz="1800" b="1" i="1" baseline="-25000" dirty="0"/>
                  <a:t>a</a:t>
                </a:r>
                <a:r>
                  <a:rPr lang="en-US" sz="1800" b="1" dirty="0"/>
                  <a:t>​)</a:t>
                </a:r>
                <a:r>
                  <a:rPr lang="en-US" sz="1800" dirty="0"/>
                  <a:t>: The variances of the two populations are 	not equal.</a:t>
                </a:r>
              </a:p>
              <a:p>
                <a:endParaRPr lang="en-US" sz="1800" b="1" dirty="0"/>
              </a:p>
              <a:p>
                <a:r>
                  <a:rPr lang="en-US" sz="1800" b="1" dirty="0"/>
                  <a:t>Formula</a:t>
                </a:r>
                <a:r>
                  <a:rPr lang="en-US" sz="1800" dirty="0"/>
                  <a:t>: </a:t>
                </a:r>
              </a:p>
              <a:p>
                <a:endParaRPr lang="en-US" sz="1800" dirty="0"/>
              </a:p>
              <a:p>
                <a:endParaRPr lang="en-US" sz="1800" dirty="0"/>
              </a:p>
              <a:p>
                <a:r>
                  <a:rPr lang="en-US" sz="1800" dirty="0"/>
                  <a:t>​​where </a:t>
                </a:r>
                <a14:m>
                  <m:oMath xmlns:m="http://schemas.openxmlformats.org/officeDocument/2006/math">
                    <m:sSubSup>
                      <m:sSubSupPr>
                        <m:ctrlPr>
                          <a:rPr lang="en-US" sz="1800" i="1" smtClean="0">
                            <a:latin typeface="Cambria Math"/>
                          </a:rPr>
                        </m:ctrlPr>
                      </m:sSubSupPr>
                      <m:e>
                        <m:r>
                          <a:rPr lang="en-IN" sz="1800" b="0" i="1" smtClean="0">
                            <a:latin typeface="Cambria Math" panose="02040503050406030204" pitchFamily="18" charset="0"/>
                          </a:rPr>
                          <m:t>𝑠</m:t>
                        </m:r>
                      </m:e>
                      <m:sub>
                        <m:r>
                          <a:rPr lang="en-IN" sz="1800" b="0" i="1" smtClean="0">
                            <a:latin typeface="Cambria Math" panose="02040503050406030204" pitchFamily="18" charset="0"/>
                          </a:rPr>
                          <m:t>1</m:t>
                        </m:r>
                      </m:sub>
                      <m:sup>
                        <m:r>
                          <a:rPr lang="en-IN" sz="1800" b="0" i="1" smtClean="0">
                            <a:latin typeface="Cambria Math" panose="02040503050406030204" pitchFamily="18" charset="0"/>
                          </a:rPr>
                          <m:t>2</m:t>
                        </m:r>
                      </m:sup>
                    </m:sSubSup>
                  </m:oMath>
                </a14:m>
                <a:r>
                  <a:rPr lang="en-US" sz="1800" dirty="0"/>
                  <a:t>​ and </a:t>
                </a:r>
                <a14:m>
                  <m:oMath xmlns:m="http://schemas.openxmlformats.org/officeDocument/2006/math">
                    <m:sSubSup>
                      <m:sSubSupPr>
                        <m:ctrlPr>
                          <a:rPr lang="en-US" sz="1800" i="1">
                            <a:latin typeface="Cambria Math"/>
                          </a:rPr>
                        </m:ctrlPr>
                      </m:sSubSupPr>
                      <m:e>
                        <m:r>
                          <a:rPr lang="en-IN" sz="1800" i="1">
                            <a:latin typeface="Cambria Math" panose="02040503050406030204" pitchFamily="18" charset="0"/>
                          </a:rPr>
                          <m:t>𝑠</m:t>
                        </m:r>
                      </m:e>
                      <m:sub>
                        <m:r>
                          <a:rPr lang="en-IN" sz="1800" b="0" i="1" smtClean="0">
                            <a:latin typeface="Cambria Math" panose="02040503050406030204" pitchFamily="18" charset="0"/>
                          </a:rPr>
                          <m:t>2</m:t>
                        </m:r>
                      </m:sub>
                      <m:sup>
                        <m:r>
                          <a:rPr lang="en-IN" sz="1800" i="1">
                            <a:latin typeface="Cambria Math" panose="02040503050406030204" pitchFamily="18" charset="0"/>
                          </a:rPr>
                          <m:t>2</m:t>
                        </m:r>
                      </m:sup>
                    </m:sSubSup>
                  </m:oMath>
                </a14:m>
                <a:r>
                  <a:rPr lang="en-US" sz="1800" dirty="0"/>
                  <a:t>​ are the sample variances of the two groups, with </a:t>
                </a:r>
                <a14:m>
                  <m:oMath xmlns:m="http://schemas.openxmlformats.org/officeDocument/2006/math">
                    <m:sSubSup>
                      <m:sSubSupPr>
                        <m:ctrlPr>
                          <a:rPr lang="en-US" sz="1800" i="1">
                            <a:latin typeface="Cambria Math"/>
                          </a:rPr>
                        </m:ctrlPr>
                      </m:sSubSupPr>
                      <m:e>
                        <m:r>
                          <a:rPr lang="en-IN" sz="1800" i="1">
                            <a:latin typeface="Cambria Math" panose="02040503050406030204" pitchFamily="18" charset="0"/>
                          </a:rPr>
                          <m:t>𝑠</m:t>
                        </m:r>
                      </m:e>
                      <m:sub>
                        <m:r>
                          <a:rPr lang="en-IN" sz="1800" i="1">
                            <a:latin typeface="Cambria Math" panose="02040503050406030204" pitchFamily="18" charset="0"/>
                          </a:rPr>
                          <m:t>1</m:t>
                        </m:r>
                      </m:sub>
                      <m:sup>
                        <m:r>
                          <a:rPr lang="en-IN" sz="1800" i="1">
                            <a:latin typeface="Cambria Math" panose="02040503050406030204" pitchFamily="18" charset="0"/>
                          </a:rPr>
                          <m:t>2</m:t>
                        </m:r>
                      </m:sup>
                    </m:sSubSup>
                  </m:oMath>
                </a14:m>
                <a:r>
                  <a:rPr lang="en-US" sz="1800" dirty="0"/>
                  <a:t>​ being the larger variance. This ensures that the F statistic is always greater than or equal to 1.</a:t>
                </a:r>
              </a:p>
            </p:txBody>
          </p:sp>
        </mc:Choice>
        <mc:Fallback xmlns="">
          <p:sp>
            <p:nvSpPr>
              <p:cNvPr id="3" name="TextBox 2">
                <a:extLst>
                  <a:ext uri="{FF2B5EF4-FFF2-40B4-BE49-F238E27FC236}">
                    <a16:creationId xmlns:a16="http://schemas.microsoft.com/office/drawing/2014/main" id="{5A0F47F0-3CFA-56AA-AF39-F387AF4BBED8}"/>
                  </a:ext>
                </a:extLst>
              </p:cNvPr>
              <p:cNvSpPr txBox="1">
                <a:spLocks noRot="1" noChangeAspect="1" noMove="1" noResize="1" noEditPoints="1" noAdjustHandles="1" noChangeArrowheads="1" noChangeShapeType="1" noTextEdit="1"/>
              </p:cNvSpPr>
              <p:nvPr/>
            </p:nvSpPr>
            <p:spPr>
              <a:xfrm>
                <a:off x="332529" y="296652"/>
                <a:ext cx="8478942" cy="6437788"/>
              </a:xfrm>
              <a:prstGeom prst="rect">
                <a:avLst/>
              </a:prstGeom>
              <a:blipFill>
                <a:blip r:embed="rId2"/>
                <a:stretch>
                  <a:fillRect l="-1151" t="-758" r="-151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xmlns="" id="{AA37C578-1DC3-15BD-9F59-89ACA38E2DF7}"/>
              </a:ext>
            </a:extLst>
          </p:cNvPr>
          <p:cNvPicPr>
            <a:picLocks noChangeAspect="1"/>
          </p:cNvPicPr>
          <p:nvPr/>
        </p:nvPicPr>
        <p:blipFill>
          <a:blip r:embed="rId3"/>
          <a:stretch>
            <a:fillRect/>
          </a:stretch>
        </p:blipFill>
        <p:spPr>
          <a:xfrm>
            <a:off x="3128761" y="4869160"/>
            <a:ext cx="962159" cy="771633"/>
          </a:xfrm>
          <a:prstGeom prst="rect">
            <a:avLst/>
          </a:prstGeom>
        </p:spPr>
      </p:pic>
    </p:spTree>
    <p:extLst>
      <p:ext uri="{BB962C8B-B14F-4D97-AF65-F5344CB8AC3E}">
        <p14:creationId xmlns:p14="http://schemas.microsoft.com/office/powerpoint/2010/main" val="20071298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0EB5916-4701-9FB6-FEC8-FE5F7994FCA5}"/>
              </a:ext>
            </a:extLst>
          </p:cNvPr>
          <p:cNvSpPr txBox="1"/>
          <p:nvPr/>
        </p:nvSpPr>
        <p:spPr>
          <a:xfrm>
            <a:off x="566631" y="166569"/>
            <a:ext cx="7920880" cy="3693319"/>
          </a:xfrm>
          <a:prstGeom prst="rect">
            <a:avLst/>
          </a:prstGeom>
          <a:noFill/>
        </p:spPr>
        <p:txBody>
          <a:bodyPr wrap="square">
            <a:spAutoFit/>
          </a:bodyPr>
          <a:lstStyle/>
          <a:p>
            <a:r>
              <a:rPr lang="en-US" sz="1800" b="1" dirty="0"/>
              <a:t>2. F-Test in Analysis of Variance (ANOVA)</a:t>
            </a:r>
            <a:endParaRPr lang="en-US" sz="1800" dirty="0"/>
          </a:p>
          <a:p>
            <a:endParaRPr lang="en-US" sz="1800" b="1" dirty="0"/>
          </a:p>
          <a:p>
            <a:r>
              <a:rPr lang="en-US" sz="1800" b="1" dirty="0"/>
              <a:t>Purpose</a:t>
            </a:r>
            <a:r>
              <a:rPr lang="en-US" sz="1800" dirty="0"/>
              <a:t>: To test if there are significant differences among the means of three or more groups.</a:t>
            </a:r>
          </a:p>
          <a:p>
            <a:endParaRPr lang="en-US" sz="1800" b="1" dirty="0"/>
          </a:p>
          <a:p>
            <a:r>
              <a:rPr lang="en-US" sz="1800" b="1" dirty="0"/>
              <a:t>Example</a:t>
            </a:r>
            <a:r>
              <a:rPr lang="en-US" sz="1800" dirty="0"/>
              <a:t>: Testing if different levels of fertilizer lead to different growth rates among plants.</a:t>
            </a:r>
          </a:p>
          <a:p>
            <a:endParaRPr lang="en-US" sz="1800" b="1" dirty="0"/>
          </a:p>
          <a:p>
            <a:r>
              <a:rPr lang="en-US" sz="1800" b="1" dirty="0"/>
              <a:t>Hypotheses</a:t>
            </a:r>
            <a:r>
              <a:rPr lang="en-US" sz="1800" dirty="0"/>
              <a:t>:</a:t>
            </a:r>
          </a:p>
          <a:p>
            <a:pPr marL="742950" lvl="1" indent="-285750">
              <a:buFont typeface="Arial" panose="020B0604020202020204" pitchFamily="34" charset="0"/>
              <a:buChar char="•"/>
            </a:pPr>
            <a:r>
              <a:rPr lang="en-US" sz="1800" b="1" dirty="0"/>
              <a:t>Null Hypothesis (</a:t>
            </a:r>
            <a:r>
              <a:rPr lang="en-US" sz="1800" b="1" i="1" dirty="0"/>
              <a:t>H</a:t>
            </a:r>
            <a:r>
              <a:rPr lang="en-US" sz="1800" b="1" i="1" baseline="-25000" dirty="0"/>
              <a:t>0</a:t>
            </a:r>
            <a:r>
              <a:rPr lang="en-US" sz="1800" b="1" dirty="0"/>
              <a:t>​)</a:t>
            </a:r>
            <a:r>
              <a:rPr lang="en-US" sz="1800" dirty="0"/>
              <a:t>: All group means are equal.</a:t>
            </a:r>
          </a:p>
          <a:p>
            <a:pPr marL="742950" lvl="1" indent="-285750">
              <a:buFont typeface="Arial" panose="020B0604020202020204" pitchFamily="34" charset="0"/>
              <a:buChar char="•"/>
            </a:pPr>
            <a:r>
              <a:rPr lang="en-US" sz="1800" b="1" dirty="0"/>
              <a:t>Alternative Hypothesis (</a:t>
            </a:r>
            <a:r>
              <a:rPr lang="en-US" sz="1800" b="1" i="1" dirty="0"/>
              <a:t>H</a:t>
            </a:r>
            <a:r>
              <a:rPr lang="en-US" sz="1800" b="1" i="1" baseline="-25000" dirty="0"/>
              <a:t>a</a:t>
            </a:r>
            <a:r>
              <a:rPr lang="en-US" sz="1800" b="1" dirty="0"/>
              <a:t>​)</a:t>
            </a:r>
            <a:r>
              <a:rPr lang="en-US" sz="1800" dirty="0"/>
              <a:t>: At least one group mean is different.</a:t>
            </a:r>
          </a:p>
          <a:p>
            <a:endParaRPr lang="en-US" sz="1800" b="1" dirty="0"/>
          </a:p>
          <a:p>
            <a:r>
              <a:rPr lang="en-US" sz="1800" b="1" dirty="0"/>
              <a:t>Formula</a:t>
            </a:r>
            <a:r>
              <a:rPr lang="en-US" sz="1800" dirty="0"/>
              <a:t>:</a:t>
            </a:r>
          </a:p>
        </p:txBody>
      </p:sp>
      <p:pic>
        <p:nvPicPr>
          <p:cNvPr id="5" name="Picture 4">
            <a:extLst>
              <a:ext uri="{FF2B5EF4-FFF2-40B4-BE49-F238E27FC236}">
                <a16:creationId xmlns:a16="http://schemas.microsoft.com/office/drawing/2014/main" xmlns="" id="{EF74B002-C702-2BD8-8C6D-B4E78163F3F1}"/>
              </a:ext>
            </a:extLst>
          </p:cNvPr>
          <p:cNvPicPr>
            <a:picLocks noChangeAspect="1"/>
          </p:cNvPicPr>
          <p:nvPr/>
        </p:nvPicPr>
        <p:blipFill>
          <a:blip r:embed="rId2"/>
          <a:stretch>
            <a:fillRect/>
          </a:stretch>
        </p:blipFill>
        <p:spPr>
          <a:xfrm>
            <a:off x="2195736" y="3681028"/>
            <a:ext cx="3791479" cy="733527"/>
          </a:xfrm>
          <a:prstGeom prst="rect">
            <a:avLst/>
          </a:prstGeom>
        </p:spPr>
      </p:pic>
      <p:sp>
        <p:nvSpPr>
          <p:cNvPr id="7" name="TextBox 6">
            <a:extLst>
              <a:ext uri="{FF2B5EF4-FFF2-40B4-BE49-F238E27FC236}">
                <a16:creationId xmlns:a16="http://schemas.microsoft.com/office/drawing/2014/main" xmlns="" id="{3B8BC4EC-6F02-6FC3-A7AD-06802B496403}"/>
              </a:ext>
            </a:extLst>
          </p:cNvPr>
          <p:cNvSpPr txBox="1"/>
          <p:nvPr/>
        </p:nvSpPr>
        <p:spPr>
          <a:xfrm>
            <a:off x="647563" y="4545124"/>
            <a:ext cx="7839947" cy="1477328"/>
          </a:xfrm>
          <a:prstGeom prst="rect">
            <a:avLst/>
          </a:prstGeom>
          <a:noFill/>
        </p:spPr>
        <p:txBody>
          <a:bodyPr wrap="square">
            <a:spAutoFit/>
          </a:bodyPr>
          <a:lstStyle/>
          <a:p>
            <a:r>
              <a:rPr lang="en-US" sz="1800" dirty="0"/>
              <a:t>where:</a:t>
            </a:r>
          </a:p>
          <a:p>
            <a:r>
              <a:rPr lang="en-US" sz="1800" b="1" dirty="0"/>
              <a:t>Mean Square Between (</a:t>
            </a:r>
            <a:r>
              <a:rPr lang="en-US" sz="1800" b="1" dirty="0" err="1"/>
              <a:t>MSB</a:t>
            </a:r>
            <a:r>
              <a:rPr lang="en-US" sz="1800" b="1" dirty="0"/>
              <a:t>)</a:t>
            </a:r>
            <a:r>
              <a:rPr lang="en-US" sz="1800" dirty="0"/>
              <a:t> measures the variance between the groups (explained variance).</a:t>
            </a:r>
          </a:p>
          <a:p>
            <a:r>
              <a:rPr lang="en-US" sz="1800" b="1" dirty="0"/>
              <a:t>Mean Square Within (MSW)</a:t>
            </a:r>
            <a:r>
              <a:rPr lang="en-US" sz="1800" dirty="0"/>
              <a:t> measures the variance within each group (unexplained variance).</a:t>
            </a:r>
          </a:p>
        </p:txBody>
      </p:sp>
    </p:spTree>
    <p:extLst>
      <p:ext uri="{BB962C8B-B14F-4D97-AF65-F5344CB8AC3E}">
        <p14:creationId xmlns:p14="http://schemas.microsoft.com/office/powerpoint/2010/main" val="25815141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6197101-03C8-1D49-09A6-49B44A4CD0C6}"/>
              </a:ext>
            </a:extLst>
          </p:cNvPr>
          <p:cNvSpPr txBox="1"/>
          <p:nvPr/>
        </p:nvSpPr>
        <p:spPr>
          <a:xfrm>
            <a:off x="539552" y="689789"/>
            <a:ext cx="8028892" cy="5355312"/>
          </a:xfrm>
          <a:prstGeom prst="rect">
            <a:avLst/>
          </a:prstGeom>
          <a:noFill/>
        </p:spPr>
        <p:txBody>
          <a:bodyPr wrap="square">
            <a:spAutoFit/>
          </a:bodyPr>
          <a:lstStyle/>
          <a:p>
            <a:r>
              <a:rPr lang="en-US" sz="1800" b="1" dirty="0"/>
              <a:t>Key Components of the F-Test</a:t>
            </a:r>
          </a:p>
          <a:p>
            <a:endParaRPr lang="en-US" sz="1800" b="1" dirty="0"/>
          </a:p>
          <a:p>
            <a:pPr>
              <a:buFont typeface="+mj-lt"/>
              <a:buAutoNum type="arabicPeriod"/>
            </a:pPr>
            <a:r>
              <a:rPr lang="en-US" sz="1800" b="1" dirty="0"/>
              <a:t> Degrees of Freedom</a:t>
            </a:r>
            <a:r>
              <a:rPr lang="en-US" sz="1800" dirty="0"/>
              <a:t>:</a:t>
            </a:r>
          </a:p>
          <a:p>
            <a:pPr lvl="1"/>
            <a:endParaRPr lang="en-US" sz="1800" dirty="0"/>
          </a:p>
          <a:p>
            <a:pPr lvl="1"/>
            <a:r>
              <a:rPr lang="en-US" sz="1800" dirty="0"/>
              <a:t>For the </a:t>
            </a:r>
            <a:r>
              <a:rPr lang="en-US" sz="1800" b="1" dirty="0"/>
              <a:t>F-Test for Variance</a:t>
            </a:r>
            <a:r>
              <a:rPr lang="en-US" sz="1800" dirty="0"/>
              <a:t>:</a:t>
            </a:r>
          </a:p>
          <a:p>
            <a:pPr marL="1143000" lvl="2" indent="-228600">
              <a:buFont typeface="+mj-lt"/>
              <a:buAutoNum type="arabicPeriod"/>
            </a:pPr>
            <a:r>
              <a:rPr lang="en-US" sz="1800" dirty="0"/>
              <a:t>df</a:t>
            </a:r>
            <a:r>
              <a:rPr lang="en-US" sz="1800" baseline="-25000" dirty="0"/>
              <a:t>1</a:t>
            </a:r>
            <a:r>
              <a:rPr lang="en-US" sz="1800" dirty="0"/>
              <a:t>=n</a:t>
            </a:r>
            <a:r>
              <a:rPr lang="en-US" sz="1800" baseline="-25000" dirty="0"/>
              <a:t>1</a:t>
            </a:r>
            <a:r>
              <a:rPr lang="en-US" sz="1800" dirty="0"/>
              <a:t>−1, where n</a:t>
            </a:r>
            <a:r>
              <a:rPr lang="en-US" sz="1800" baseline="-25000" dirty="0"/>
              <a:t>1</a:t>
            </a:r>
            <a:r>
              <a:rPr lang="en-US" sz="1800" dirty="0"/>
              <a:t>​ is the sample size of the first group.</a:t>
            </a:r>
          </a:p>
          <a:p>
            <a:pPr marL="1143000" lvl="2" indent="-228600">
              <a:buFont typeface="+mj-lt"/>
              <a:buAutoNum type="arabicPeriod"/>
            </a:pPr>
            <a:r>
              <a:rPr lang="en-US" sz="1800" dirty="0"/>
              <a:t>df</a:t>
            </a:r>
            <a:r>
              <a:rPr lang="en-US" sz="1800" baseline="-25000" dirty="0"/>
              <a:t>2</a:t>
            </a:r>
            <a:r>
              <a:rPr lang="en-US" sz="1800" dirty="0"/>
              <a:t>=n</a:t>
            </a:r>
            <a:r>
              <a:rPr lang="en-US" sz="1800" baseline="-25000" dirty="0"/>
              <a:t>2</a:t>
            </a:r>
            <a:r>
              <a:rPr lang="en-US" sz="1800" dirty="0"/>
              <a:t>−1, where n</a:t>
            </a:r>
            <a:r>
              <a:rPr lang="en-US" sz="1800" baseline="-25000" dirty="0"/>
              <a:t>2</a:t>
            </a:r>
            <a:r>
              <a:rPr lang="en-US" sz="1800" dirty="0"/>
              <a:t>​ is the sample size of the second group.</a:t>
            </a:r>
          </a:p>
          <a:p>
            <a:pPr lvl="1"/>
            <a:endParaRPr lang="en-US" sz="1800" dirty="0"/>
          </a:p>
          <a:p>
            <a:pPr lvl="1"/>
            <a:r>
              <a:rPr lang="en-US" sz="1800" dirty="0"/>
              <a:t>For </a:t>
            </a:r>
            <a:r>
              <a:rPr lang="en-US" sz="1800" b="1" dirty="0"/>
              <a:t>ANOVA</a:t>
            </a:r>
            <a:r>
              <a:rPr lang="en-US" sz="1800" dirty="0"/>
              <a:t>:</a:t>
            </a:r>
          </a:p>
          <a:p>
            <a:pPr marL="1143000" lvl="2" indent="-228600">
              <a:buFont typeface="+mj-lt"/>
              <a:buAutoNum type="arabicPeriod"/>
            </a:pPr>
            <a:r>
              <a:rPr lang="en-US" sz="1800" b="1" dirty="0"/>
              <a:t>Between Groups</a:t>
            </a:r>
            <a:r>
              <a:rPr lang="en-US" sz="1800" dirty="0"/>
              <a:t>: </a:t>
            </a:r>
            <a:r>
              <a:rPr lang="en-US" sz="1800" dirty="0" err="1"/>
              <a:t>df</a:t>
            </a:r>
            <a:r>
              <a:rPr lang="en-US" sz="1800" baseline="-25000" dirty="0" err="1"/>
              <a:t>b</a:t>
            </a:r>
            <a:r>
              <a:rPr lang="en-US" sz="1800" dirty="0"/>
              <a:t>=k−1, where k is the number of groups.</a:t>
            </a:r>
          </a:p>
          <a:p>
            <a:pPr marL="1143000" lvl="2" indent="-228600">
              <a:buFont typeface="+mj-lt"/>
              <a:buAutoNum type="arabicPeriod"/>
            </a:pPr>
            <a:r>
              <a:rPr lang="en-US" sz="1800" b="1" dirty="0"/>
              <a:t>Within Groups</a:t>
            </a:r>
            <a:r>
              <a:rPr lang="en-US" sz="1800" dirty="0"/>
              <a:t>: </a:t>
            </a:r>
            <a:r>
              <a:rPr lang="en-US" sz="1800" dirty="0" err="1"/>
              <a:t>df</a:t>
            </a:r>
            <a:r>
              <a:rPr lang="en-US" sz="1800" baseline="-25000" dirty="0" err="1"/>
              <a:t>w</a:t>
            </a:r>
            <a:r>
              <a:rPr lang="en-US" sz="1800" dirty="0"/>
              <a:t>=N−k, where N is the total number of observations across all groups.</a:t>
            </a:r>
          </a:p>
          <a:p>
            <a:pPr lvl="2"/>
            <a:endParaRPr lang="en-US" sz="1800" dirty="0"/>
          </a:p>
          <a:p>
            <a:pPr>
              <a:buFont typeface="+mj-lt"/>
              <a:buAutoNum type="arabicPeriod"/>
            </a:pPr>
            <a:r>
              <a:rPr lang="en-US" sz="1800" b="1" dirty="0"/>
              <a:t> F-Distribution</a:t>
            </a:r>
            <a:r>
              <a:rPr lang="en-US" sz="1800" dirty="0"/>
              <a:t>:</a:t>
            </a:r>
          </a:p>
          <a:p>
            <a:pPr lvl="1"/>
            <a:r>
              <a:rPr lang="en-US" sz="1800" dirty="0"/>
              <a:t>The F-distribution is right-skewed and depends on two degrees of freedom: one for the numerator and one for the denominator.</a:t>
            </a:r>
          </a:p>
          <a:p>
            <a:pPr lvl="1"/>
            <a:endParaRPr lang="en-US" sz="1800" dirty="0"/>
          </a:p>
          <a:p>
            <a:pPr lvl="1"/>
            <a:r>
              <a:rPr lang="en-US" sz="1800" dirty="0"/>
              <a:t>An F-test is a one-tailed test since we only test if one variance is significantly larger than the other.</a:t>
            </a:r>
          </a:p>
        </p:txBody>
      </p:sp>
    </p:spTree>
    <p:extLst>
      <p:ext uri="{BB962C8B-B14F-4D97-AF65-F5344CB8AC3E}">
        <p14:creationId xmlns:p14="http://schemas.microsoft.com/office/powerpoint/2010/main" val="26411188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75FCB957-297C-F6C7-F4DC-4E78047735EC}"/>
                  </a:ext>
                </a:extLst>
              </p:cNvPr>
              <p:cNvSpPr txBox="1"/>
              <p:nvPr/>
            </p:nvSpPr>
            <p:spPr>
              <a:xfrm>
                <a:off x="719572" y="515009"/>
                <a:ext cx="7704856" cy="5642955"/>
              </a:xfrm>
              <a:prstGeom prst="rect">
                <a:avLst/>
              </a:prstGeom>
              <a:noFill/>
            </p:spPr>
            <p:txBody>
              <a:bodyPr wrap="square">
                <a:spAutoFit/>
              </a:bodyPr>
              <a:lstStyle/>
              <a:p>
                <a:r>
                  <a:rPr lang="en-US" sz="1800" b="1" dirty="0"/>
                  <a:t>Steps in Conducting an F-Test for Variances</a:t>
                </a:r>
              </a:p>
              <a:p>
                <a:endParaRPr lang="en-US" sz="1800" b="1" dirty="0"/>
              </a:p>
              <a:p>
                <a:pPr>
                  <a:buFont typeface="+mj-lt"/>
                  <a:buAutoNum type="arabicPeriod"/>
                </a:pPr>
                <a:r>
                  <a:rPr lang="en-US" sz="1800" b="1" dirty="0"/>
                  <a:t>State the Hypotheses</a:t>
                </a:r>
                <a:r>
                  <a:rPr lang="en-US" sz="1800" dirty="0"/>
                  <a:t>:</a:t>
                </a:r>
              </a:p>
              <a:p>
                <a:pPr lvl="1"/>
                <a:r>
                  <a:rPr lang="en-US" sz="1800" dirty="0"/>
                  <a:t>Null: H</a:t>
                </a:r>
                <a:r>
                  <a:rPr lang="en-US" sz="1800" baseline="-25000" dirty="0"/>
                  <a:t>0</a:t>
                </a:r>
                <a:r>
                  <a:rPr lang="en-US" sz="1800" dirty="0"/>
                  <a:t>: </a:t>
                </a:r>
                <a14:m>
                  <m:oMath xmlns:m="http://schemas.openxmlformats.org/officeDocument/2006/math">
                    <m:sSubSup>
                      <m:sSubSupPr>
                        <m:ctrlPr>
                          <a:rPr lang="en-US" sz="1800" i="1" dirty="0" smtClean="0">
                            <a:latin typeface="Cambria Math"/>
                          </a:rPr>
                        </m:ctrlPr>
                      </m:sSubSupPr>
                      <m:e>
                        <m:r>
                          <a:rPr lang="en-US" sz="1800" i="1" dirty="0" smtClean="0">
                            <a:latin typeface="Cambria Math" panose="02040503050406030204" pitchFamily="18" charset="0"/>
                            <a:ea typeface="Cambria Math" panose="02040503050406030204" pitchFamily="18" charset="0"/>
                          </a:rPr>
                          <m:t>𝜎</m:t>
                        </m:r>
                      </m:e>
                      <m:sub>
                        <m:r>
                          <a:rPr lang="en-IN" sz="1800" b="0" i="1" dirty="0" smtClean="0">
                            <a:latin typeface="Cambria Math" panose="02040503050406030204" pitchFamily="18" charset="0"/>
                          </a:rPr>
                          <m:t>1</m:t>
                        </m:r>
                      </m:sub>
                      <m:sup>
                        <m:r>
                          <a:rPr lang="en-IN" sz="1800" b="0" i="1" dirty="0" smtClean="0">
                            <a:latin typeface="Cambria Math" panose="02040503050406030204" pitchFamily="18" charset="0"/>
                          </a:rPr>
                          <m:t>2</m:t>
                        </m:r>
                      </m:sup>
                    </m:sSubSup>
                    <m:r>
                      <a:rPr lang="en-IN" sz="1800" b="0" i="1" dirty="0" smtClean="0">
                        <a:latin typeface="Cambria Math" panose="02040503050406030204" pitchFamily="18" charset="0"/>
                      </a:rPr>
                      <m:t>=</m:t>
                    </m:r>
                    <m:sSubSup>
                      <m:sSubSupPr>
                        <m:ctrlPr>
                          <a:rPr lang="en-US" sz="1800" i="1" dirty="0">
                            <a:latin typeface="Cambria Math"/>
                          </a:rPr>
                        </m:ctrlPr>
                      </m:sSubSupPr>
                      <m:e>
                        <m:r>
                          <a:rPr lang="en-US" sz="1800" i="1" dirty="0">
                            <a:latin typeface="Cambria Math" panose="02040503050406030204" pitchFamily="18" charset="0"/>
                            <a:ea typeface="Cambria Math" panose="02040503050406030204" pitchFamily="18" charset="0"/>
                          </a:rPr>
                          <m:t>𝜎</m:t>
                        </m:r>
                      </m:e>
                      <m:sub>
                        <m:r>
                          <a:rPr lang="en-IN" sz="1800" b="0" i="1" dirty="0" smtClean="0">
                            <a:latin typeface="Cambria Math" panose="02040503050406030204" pitchFamily="18" charset="0"/>
                            <a:ea typeface="Cambria Math" panose="02040503050406030204" pitchFamily="18" charset="0"/>
                          </a:rPr>
                          <m:t>2</m:t>
                        </m:r>
                      </m:sub>
                      <m:sup>
                        <m:r>
                          <a:rPr lang="en-IN" sz="1800" i="1" dirty="0">
                            <a:latin typeface="Cambria Math" panose="02040503050406030204" pitchFamily="18" charset="0"/>
                          </a:rPr>
                          <m:t>2</m:t>
                        </m:r>
                      </m:sup>
                    </m:sSubSup>
                  </m:oMath>
                </a14:m>
                <a:endParaRPr lang="en-US" sz="1800" dirty="0"/>
              </a:p>
              <a:p>
                <a:pPr lvl="1"/>
                <a:r>
                  <a:rPr lang="en-US" sz="1800" dirty="0"/>
                  <a:t>Alternative: H</a:t>
                </a:r>
                <a:r>
                  <a:rPr lang="en-US" sz="1800" baseline="-25000" dirty="0"/>
                  <a:t>a</a:t>
                </a:r>
                <a:r>
                  <a:rPr lang="en-US" sz="1800" dirty="0"/>
                  <a:t>: </a:t>
                </a:r>
                <a14:m>
                  <m:oMath xmlns:m="http://schemas.openxmlformats.org/officeDocument/2006/math">
                    <m:sSubSup>
                      <m:sSubSupPr>
                        <m:ctrlPr>
                          <a:rPr lang="en-US" sz="1800" i="1" dirty="0" smtClean="0">
                            <a:latin typeface="Cambria Math"/>
                          </a:rPr>
                        </m:ctrlPr>
                      </m:sSubSupPr>
                      <m:e>
                        <m:r>
                          <a:rPr lang="en-US" sz="1800" i="1" dirty="0" smtClean="0">
                            <a:latin typeface="Cambria Math" panose="02040503050406030204" pitchFamily="18" charset="0"/>
                            <a:ea typeface="Cambria Math" panose="02040503050406030204" pitchFamily="18" charset="0"/>
                          </a:rPr>
                          <m:t>𝜎</m:t>
                        </m:r>
                      </m:e>
                      <m:sub>
                        <m:r>
                          <a:rPr lang="en-IN" sz="1800" b="0" i="1" dirty="0" smtClean="0">
                            <a:latin typeface="Cambria Math" panose="02040503050406030204" pitchFamily="18" charset="0"/>
                          </a:rPr>
                          <m:t>1</m:t>
                        </m:r>
                      </m:sub>
                      <m:sup>
                        <m:r>
                          <a:rPr lang="en-IN" sz="1800" b="0" i="1" dirty="0" smtClean="0">
                            <a:latin typeface="Cambria Math" panose="02040503050406030204" pitchFamily="18" charset="0"/>
                          </a:rPr>
                          <m:t>2</m:t>
                        </m:r>
                      </m:sup>
                    </m:sSubSup>
                    <m:r>
                      <a:rPr lang="en-IN" sz="1800" b="0" i="1" dirty="0" smtClean="0">
                        <a:latin typeface="Cambria Math" panose="02040503050406030204" pitchFamily="18" charset="0"/>
                        <a:ea typeface="Cambria Math" panose="02040503050406030204" pitchFamily="18" charset="0"/>
                      </a:rPr>
                      <m:t>≠</m:t>
                    </m:r>
                    <m:sSubSup>
                      <m:sSubSupPr>
                        <m:ctrlPr>
                          <a:rPr lang="en-US" sz="1800" i="1" dirty="0">
                            <a:latin typeface="Cambria Math"/>
                          </a:rPr>
                        </m:ctrlPr>
                      </m:sSubSupPr>
                      <m:e>
                        <m:r>
                          <a:rPr lang="en-US" sz="1800" i="1" dirty="0">
                            <a:latin typeface="Cambria Math" panose="02040503050406030204" pitchFamily="18" charset="0"/>
                            <a:ea typeface="Cambria Math" panose="02040503050406030204" pitchFamily="18" charset="0"/>
                          </a:rPr>
                          <m:t>𝜎</m:t>
                        </m:r>
                      </m:e>
                      <m:sub>
                        <m:r>
                          <a:rPr lang="en-IN" sz="1800" b="0" i="1" dirty="0" smtClean="0">
                            <a:latin typeface="Cambria Math" panose="02040503050406030204" pitchFamily="18" charset="0"/>
                            <a:ea typeface="Cambria Math" panose="02040503050406030204" pitchFamily="18" charset="0"/>
                          </a:rPr>
                          <m:t>2</m:t>
                        </m:r>
                      </m:sub>
                      <m:sup>
                        <m:r>
                          <a:rPr lang="en-IN" sz="1800" i="1" dirty="0">
                            <a:latin typeface="Cambria Math" panose="02040503050406030204" pitchFamily="18" charset="0"/>
                          </a:rPr>
                          <m:t>2</m:t>
                        </m:r>
                      </m:sup>
                    </m:sSubSup>
                    <m:r>
                      <a:rPr lang="en-IN" sz="1800" i="1" dirty="0">
                        <a:latin typeface="Cambria Math" panose="02040503050406030204" pitchFamily="18" charset="0"/>
                      </a:rPr>
                      <m:t> </m:t>
                    </m:r>
                  </m:oMath>
                </a14:m>
                <a:r>
                  <a:rPr lang="en-US" sz="1800" dirty="0"/>
                  <a:t>​</a:t>
                </a:r>
              </a:p>
              <a:p>
                <a:pPr lvl="1"/>
                <a:endParaRPr lang="en-US" sz="1800" dirty="0"/>
              </a:p>
              <a:p>
                <a:pPr>
                  <a:buFont typeface="+mj-lt"/>
                  <a:buAutoNum type="arabicPeriod"/>
                </a:pPr>
                <a:r>
                  <a:rPr lang="en-US" sz="1800" b="1" dirty="0"/>
                  <a:t>Choose the Significance Level</a:t>
                </a:r>
                <a:r>
                  <a:rPr lang="en-US" sz="1800" dirty="0"/>
                  <a:t>:</a:t>
                </a:r>
              </a:p>
              <a:p>
                <a:pPr lvl="1"/>
                <a:r>
                  <a:rPr lang="en-US" sz="1800" dirty="0"/>
                  <a:t>Commonly 0.05 or 0.01.</a:t>
                </a:r>
              </a:p>
              <a:p>
                <a:pPr lvl="1"/>
                <a:endParaRPr lang="en-US" sz="1800" dirty="0"/>
              </a:p>
              <a:p>
                <a:pPr>
                  <a:buFont typeface="+mj-lt"/>
                  <a:buAutoNum type="arabicPeriod"/>
                </a:pPr>
                <a:r>
                  <a:rPr lang="en-US" sz="1800" b="1" dirty="0"/>
                  <a:t>Calculate the F-Statistic</a:t>
                </a:r>
                <a:r>
                  <a:rPr lang="en-US" sz="1800" dirty="0"/>
                  <a:t>:</a:t>
                </a:r>
              </a:p>
              <a:p>
                <a:pPr lvl="1"/>
                <a:r>
                  <a:rPr lang="en-US" sz="1800" dirty="0"/>
                  <a:t> </a:t>
                </a:r>
              </a:p>
              <a:p>
                <a:pPr lvl="1"/>
                <a:r>
                  <a:rPr lang="en-US" sz="1800" dirty="0"/>
                  <a:t>where </a:t>
                </a:r>
                <a14:m>
                  <m:oMath xmlns:m="http://schemas.openxmlformats.org/officeDocument/2006/math">
                    <m:sSubSup>
                      <m:sSubSupPr>
                        <m:ctrlPr>
                          <a:rPr lang="en-US" sz="1800" i="1">
                            <a:latin typeface="Cambria Math"/>
                          </a:rPr>
                        </m:ctrlPr>
                      </m:sSubSupPr>
                      <m:e>
                        <m:r>
                          <a:rPr lang="en-IN" sz="1800" i="1">
                            <a:latin typeface="Cambria Math" panose="02040503050406030204" pitchFamily="18" charset="0"/>
                          </a:rPr>
                          <m:t>𝑠</m:t>
                        </m:r>
                      </m:e>
                      <m:sub>
                        <m:r>
                          <a:rPr lang="en-IN" sz="1800" i="1">
                            <a:latin typeface="Cambria Math" panose="02040503050406030204" pitchFamily="18" charset="0"/>
                          </a:rPr>
                          <m:t>1</m:t>
                        </m:r>
                      </m:sub>
                      <m:sup>
                        <m:r>
                          <a:rPr lang="en-IN" sz="1800" i="1">
                            <a:latin typeface="Cambria Math" panose="02040503050406030204" pitchFamily="18" charset="0"/>
                          </a:rPr>
                          <m:t>2</m:t>
                        </m:r>
                      </m:sup>
                    </m:sSubSup>
                  </m:oMath>
                </a14:m>
                <a:r>
                  <a:rPr lang="en-US" sz="1800" dirty="0"/>
                  <a:t>​ being larger the F statistic is always greater than or equal to 1.</a:t>
                </a:r>
              </a:p>
              <a:p>
                <a:pPr lvl="1"/>
                <a:endParaRPr lang="en-US" sz="1800" dirty="0"/>
              </a:p>
              <a:p>
                <a:pPr>
                  <a:buFont typeface="+mj-lt"/>
                  <a:buAutoNum type="arabicPeriod"/>
                </a:pPr>
                <a:r>
                  <a:rPr lang="en-US" sz="1800" b="1" dirty="0"/>
                  <a:t>Determine the Critical Value or p-Value</a:t>
                </a:r>
                <a:r>
                  <a:rPr lang="en-US" sz="1800" dirty="0"/>
                  <a:t>:</a:t>
                </a:r>
              </a:p>
              <a:p>
                <a:pPr lvl="1"/>
                <a:r>
                  <a:rPr lang="en-US" sz="1800" dirty="0"/>
                  <a:t>Use the F-distribution table with the specified degrees of freedom to determine the critical F-value or compute the p-value.</a:t>
                </a:r>
              </a:p>
              <a:p>
                <a:pPr>
                  <a:buFont typeface="+mj-lt"/>
                  <a:buAutoNum type="arabicPeriod"/>
                </a:pPr>
                <a:r>
                  <a:rPr lang="en-US" sz="1800" b="1" dirty="0"/>
                  <a:t>Make a Decision</a:t>
                </a:r>
                <a:r>
                  <a:rPr lang="en-US" sz="1800" dirty="0"/>
                  <a:t>:</a:t>
                </a:r>
              </a:p>
              <a:p>
                <a:pPr lvl="1"/>
                <a:r>
                  <a:rPr lang="en-US" sz="1800" dirty="0"/>
                  <a:t>If F is greater than the critical value (or the p-value is less than the significance level), reject H</a:t>
                </a:r>
                <a:r>
                  <a:rPr lang="en-US" sz="1800" baseline="-25000" dirty="0"/>
                  <a:t>0</a:t>
                </a:r>
                <a:r>
                  <a:rPr lang="en-US" sz="1800" dirty="0"/>
                  <a:t>​; otherwise, do not reject H</a:t>
                </a:r>
                <a:r>
                  <a:rPr lang="en-US" sz="1800" baseline="-25000" dirty="0"/>
                  <a:t>0</a:t>
                </a:r>
                <a:r>
                  <a:rPr lang="en-US" sz="1800" dirty="0"/>
                  <a:t>​.</a:t>
                </a:r>
              </a:p>
            </p:txBody>
          </p:sp>
        </mc:Choice>
        <mc:Fallback xmlns="">
          <p:sp>
            <p:nvSpPr>
              <p:cNvPr id="3" name="TextBox 2">
                <a:extLst>
                  <a:ext uri="{FF2B5EF4-FFF2-40B4-BE49-F238E27FC236}">
                    <a16:creationId xmlns:a16="http://schemas.microsoft.com/office/drawing/2014/main" id="{75FCB957-297C-F6C7-F4DC-4E78047735EC}"/>
                  </a:ext>
                </a:extLst>
              </p:cNvPr>
              <p:cNvSpPr txBox="1">
                <a:spLocks noRot="1" noChangeAspect="1" noMove="1" noResize="1" noEditPoints="1" noAdjustHandles="1" noChangeArrowheads="1" noChangeShapeType="1" noTextEdit="1"/>
              </p:cNvSpPr>
              <p:nvPr/>
            </p:nvSpPr>
            <p:spPr>
              <a:xfrm>
                <a:off x="719572" y="515009"/>
                <a:ext cx="7704856" cy="5642955"/>
              </a:xfrm>
              <a:prstGeom prst="rect">
                <a:avLst/>
              </a:prstGeom>
              <a:blipFill>
                <a:blip r:embed="rId2"/>
                <a:stretch>
                  <a:fillRect l="-791" t="-540" r="-1266" b="-75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4E99592E-9FB4-EC09-AED6-597D588DA097}"/>
              </a:ext>
            </a:extLst>
          </p:cNvPr>
          <p:cNvPicPr>
            <a:picLocks noChangeAspect="1"/>
          </p:cNvPicPr>
          <p:nvPr/>
        </p:nvPicPr>
        <p:blipFill>
          <a:blip r:embed="rId3"/>
          <a:stretch>
            <a:fillRect/>
          </a:stretch>
        </p:blipFill>
        <p:spPr>
          <a:xfrm>
            <a:off x="3707904" y="2996952"/>
            <a:ext cx="707052" cy="567042"/>
          </a:xfrm>
          <a:prstGeom prst="rect">
            <a:avLst/>
          </a:prstGeom>
        </p:spPr>
      </p:pic>
    </p:spTree>
    <p:extLst>
      <p:ext uri="{BB962C8B-B14F-4D97-AF65-F5344CB8AC3E}">
        <p14:creationId xmlns:p14="http://schemas.microsoft.com/office/powerpoint/2010/main" val="40565696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52B35A9-F7EC-F5F0-8F49-0C29F33B4DA0}"/>
              </a:ext>
            </a:extLst>
          </p:cNvPr>
          <p:cNvSpPr txBox="1"/>
          <p:nvPr/>
        </p:nvSpPr>
        <p:spPr>
          <a:xfrm>
            <a:off x="303248" y="197346"/>
            <a:ext cx="8673713" cy="6463308"/>
          </a:xfrm>
          <a:prstGeom prst="rect">
            <a:avLst/>
          </a:prstGeom>
          <a:noFill/>
        </p:spPr>
        <p:txBody>
          <a:bodyPr wrap="square">
            <a:spAutoFit/>
          </a:bodyPr>
          <a:lstStyle/>
          <a:p>
            <a:r>
              <a:rPr lang="en-US" sz="1800" b="1" dirty="0"/>
              <a:t>Steps in Conducting an F-Test in ANOVA</a:t>
            </a:r>
          </a:p>
          <a:p>
            <a:endParaRPr lang="en-US" sz="1800" b="1" dirty="0"/>
          </a:p>
          <a:p>
            <a:pPr>
              <a:buFont typeface="+mj-lt"/>
              <a:buAutoNum type="arabicPeriod"/>
            </a:pPr>
            <a:r>
              <a:rPr lang="en-US" sz="1800" b="1" dirty="0"/>
              <a:t>State the Hypotheses</a:t>
            </a:r>
            <a:r>
              <a:rPr lang="en-US" sz="1800" dirty="0"/>
              <a:t>:</a:t>
            </a:r>
          </a:p>
          <a:p>
            <a:pPr lvl="1"/>
            <a:r>
              <a:rPr lang="en-US" sz="1800" dirty="0"/>
              <a:t>Null: H</a:t>
            </a:r>
            <a:r>
              <a:rPr lang="en-US" sz="1800" baseline="-25000" dirty="0"/>
              <a:t>0</a:t>
            </a:r>
            <a:r>
              <a:rPr lang="en-US" sz="1800" dirty="0"/>
              <a:t>:                          (all means are equal).</a:t>
            </a:r>
          </a:p>
          <a:p>
            <a:pPr lvl="1"/>
            <a:r>
              <a:rPr lang="en-US" sz="1800" dirty="0"/>
              <a:t>Alternative: H</a:t>
            </a:r>
            <a:r>
              <a:rPr lang="en-US" sz="1800" baseline="-25000" dirty="0"/>
              <a:t>a</a:t>
            </a:r>
            <a:r>
              <a:rPr lang="en-US" sz="1800" dirty="0"/>
              <a:t>​: At least one mean differs.</a:t>
            </a:r>
          </a:p>
          <a:p>
            <a:pPr lvl="1"/>
            <a:endParaRPr lang="en-US" sz="1800" dirty="0"/>
          </a:p>
          <a:p>
            <a:pPr>
              <a:buFont typeface="+mj-lt"/>
              <a:buAutoNum type="arabicPeriod"/>
            </a:pPr>
            <a:r>
              <a:rPr lang="en-US" sz="1800" b="1" dirty="0"/>
              <a:t>Calculate the Sum of Squares and Mean Squares</a:t>
            </a:r>
            <a:r>
              <a:rPr lang="en-US" sz="1800" dirty="0"/>
              <a:t>:</a:t>
            </a:r>
          </a:p>
          <a:p>
            <a:pPr lvl="1"/>
            <a:r>
              <a:rPr lang="en-US" sz="1800" b="1" dirty="0"/>
              <a:t>Total Sum of Squares (SST)</a:t>
            </a:r>
            <a:r>
              <a:rPr lang="en-US" sz="1800" dirty="0"/>
              <a:t>: Measures the total variance in the data.</a:t>
            </a:r>
          </a:p>
          <a:p>
            <a:pPr lvl="1"/>
            <a:r>
              <a:rPr lang="en-US" sz="1800" b="1" dirty="0"/>
              <a:t>Sum of Squares Between (</a:t>
            </a:r>
            <a:r>
              <a:rPr lang="en-US" sz="1800" b="1" dirty="0" err="1"/>
              <a:t>SSB</a:t>
            </a:r>
            <a:r>
              <a:rPr lang="en-US" sz="1800" b="1" dirty="0"/>
              <a:t>)</a:t>
            </a:r>
            <a:r>
              <a:rPr lang="en-US" sz="1800" dirty="0"/>
              <a:t>: Measures variance due to differences between group means.</a:t>
            </a:r>
          </a:p>
          <a:p>
            <a:pPr lvl="1"/>
            <a:r>
              <a:rPr lang="en-US" sz="1800" b="1" dirty="0"/>
              <a:t>Sum of Squares Within (SSW)</a:t>
            </a:r>
            <a:r>
              <a:rPr lang="en-US" sz="1800" dirty="0"/>
              <a:t>: Measures variance within each group.</a:t>
            </a:r>
          </a:p>
          <a:p>
            <a:pPr lvl="1"/>
            <a:endParaRPr lang="en-US" sz="1800" dirty="0"/>
          </a:p>
          <a:p>
            <a:r>
              <a:rPr lang="en-US" sz="1800" dirty="0"/>
              <a:t>Then calculate </a:t>
            </a:r>
            <a:r>
              <a:rPr lang="en-US" sz="1800" b="1" dirty="0"/>
              <a:t>Mean Square Between (</a:t>
            </a:r>
            <a:r>
              <a:rPr lang="en-US" sz="1800" b="1" dirty="0" err="1"/>
              <a:t>MSB</a:t>
            </a:r>
            <a:r>
              <a:rPr lang="en-US" sz="1800" b="1" dirty="0"/>
              <a:t>)</a:t>
            </a:r>
            <a:r>
              <a:rPr lang="en-US" sz="1800" dirty="0"/>
              <a:t> and </a:t>
            </a:r>
            <a:r>
              <a:rPr lang="en-US" sz="1800" b="1" dirty="0"/>
              <a:t>Mean Square Within (MSW)</a:t>
            </a:r>
            <a:r>
              <a:rPr lang="en-US" sz="1800" dirty="0"/>
              <a:t>:</a:t>
            </a:r>
          </a:p>
          <a:p>
            <a:endParaRPr lang="en-US" sz="1800" b="1" dirty="0"/>
          </a:p>
          <a:p>
            <a:endParaRPr lang="en-US" sz="1800" b="1" dirty="0"/>
          </a:p>
          <a:p>
            <a:r>
              <a:rPr lang="en-US" sz="1800" b="1" dirty="0"/>
              <a:t>3.Calculate the F-Statistic</a:t>
            </a:r>
            <a:r>
              <a:rPr lang="en-US" sz="1800" dirty="0"/>
              <a:t>:</a:t>
            </a:r>
          </a:p>
          <a:p>
            <a:endParaRPr lang="en-US" sz="1800" b="1" dirty="0"/>
          </a:p>
          <a:p>
            <a:endParaRPr lang="en-US" sz="1800" b="1" dirty="0"/>
          </a:p>
          <a:p>
            <a:r>
              <a:rPr lang="en-US" sz="1800" b="1" dirty="0"/>
              <a:t>Determine the Critical Value or p-Value</a:t>
            </a:r>
            <a:r>
              <a:rPr lang="en-US" sz="1800" dirty="0"/>
              <a:t>: Use the F-distribution with the degrees of freedom for the numerator (</a:t>
            </a:r>
            <a:r>
              <a:rPr lang="en-US" sz="1800" dirty="0" err="1"/>
              <a:t>df</a:t>
            </a:r>
            <a:r>
              <a:rPr lang="en-US" sz="1800" baseline="-25000" dirty="0" err="1"/>
              <a:t>b</a:t>
            </a:r>
            <a:r>
              <a:rPr lang="en-US" sz="1800" dirty="0"/>
              <a:t>​) and denominator (</a:t>
            </a:r>
            <a:r>
              <a:rPr lang="en-US" sz="1800" dirty="0" err="1"/>
              <a:t>df</a:t>
            </a:r>
            <a:r>
              <a:rPr lang="en-US" sz="1800" baseline="-25000" dirty="0" err="1"/>
              <a:t>w</a:t>
            </a:r>
            <a:r>
              <a:rPr lang="en-US" sz="1800" dirty="0"/>
              <a:t>​).</a:t>
            </a:r>
          </a:p>
          <a:p>
            <a:endParaRPr lang="en-US" sz="1800" b="1" dirty="0"/>
          </a:p>
          <a:p>
            <a:r>
              <a:rPr lang="en-US" sz="1800" b="1" dirty="0"/>
              <a:t>Make a Decision</a:t>
            </a:r>
            <a:r>
              <a:rPr lang="en-US" sz="1800" dirty="0"/>
              <a:t>: If F exceeds the critical value (or the p-value is less than the significance level), reject H</a:t>
            </a:r>
            <a:r>
              <a:rPr lang="en-US" sz="1800" baseline="-25000" dirty="0"/>
              <a:t>0</a:t>
            </a:r>
            <a:r>
              <a:rPr lang="en-US" sz="1800" dirty="0"/>
              <a:t>​.</a:t>
            </a:r>
          </a:p>
        </p:txBody>
      </p:sp>
      <p:pic>
        <p:nvPicPr>
          <p:cNvPr id="5" name="Picture 4">
            <a:extLst>
              <a:ext uri="{FF2B5EF4-FFF2-40B4-BE49-F238E27FC236}">
                <a16:creationId xmlns:a16="http://schemas.microsoft.com/office/drawing/2014/main" xmlns="" id="{A278A6BE-196F-36BE-BCFE-43F9133AA40B}"/>
              </a:ext>
            </a:extLst>
          </p:cNvPr>
          <p:cNvPicPr>
            <a:picLocks noChangeAspect="1"/>
          </p:cNvPicPr>
          <p:nvPr/>
        </p:nvPicPr>
        <p:blipFill>
          <a:blip r:embed="rId2"/>
          <a:stretch>
            <a:fillRect/>
          </a:stretch>
        </p:blipFill>
        <p:spPr>
          <a:xfrm>
            <a:off x="2123728" y="1296753"/>
            <a:ext cx="1886213" cy="190527"/>
          </a:xfrm>
          <a:prstGeom prst="rect">
            <a:avLst/>
          </a:prstGeom>
        </p:spPr>
      </p:pic>
      <p:pic>
        <p:nvPicPr>
          <p:cNvPr id="7" name="Picture 6">
            <a:extLst>
              <a:ext uri="{FF2B5EF4-FFF2-40B4-BE49-F238E27FC236}">
                <a16:creationId xmlns:a16="http://schemas.microsoft.com/office/drawing/2014/main" xmlns="" id="{35E97CFF-337D-668E-2D43-A909B2AB8F03}"/>
              </a:ext>
            </a:extLst>
          </p:cNvPr>
          <p:cNvPicPr>
            <a:picLocks noChangeAspect="1"/>
          </p:cNvPicPr>
          <p:nvPr/>
        </p:nvPicPr>
        <p:blipFill>
          <a:blip r:embed="rId3"/>
          <a:stretch>
            <a:fillRect/>
          </a:stretch>
        </p:blipFill>
        <p:spPr>
          <a:xfrm>
            <a:off x="3215903" y="4005064"/>
            <a:ext cx="3372321" cy="676369"/>
          </a:xfrm>
          <a:prstGeom prst="rect">
            <a:avLst/>
          </a:prstGeom>
        </p:spPr>
      </p:pic>
      <p:pic>
        <p:nvPicPr>
          <p:cNvPr id="9" name="Picture 8">
            <a:extLst>
              <a:ext uri="{FF2B5EF4-FFF2-40B4-BE49-F238E27FC236}">
                <a16:creationId xmlns:a16="http://schemas.microsoft.com/office/drawing/2014/main" xmlns="" id="{1EEEB414-4550-3F1C-C70B-305B1ADB7786}"/>
              </a:ext>
            </a:extLst>
          </p:cNvPr>
          <p:cNvPicPr>
            <a:picLocks noChangeAspect="1"/>
          </p:cNvPicPr>
          <p:nvPr/>
        </p:nvPicPr>
        <p:blipFill>
          <a:blip r:embed="rId4"/>
          <a:stretch>
            <a:fillRect/>
          </a:stretch>
        </p:blipFill>
        <p:spPr>
          <a:xfrm>
            <a:off x="3363759" y="4801636"/>
            <a:ext cx="1371791" cy="571580"/>
          </a:xfrm>
          <a:prstGeom prst="rect">
            <a:avLst/>
          </a:prstGeom>
        </p:spPr>
      </p:pic>
    </p:spTree>
    <p:extLst>
      <p:ext uri="{BB962C8B-B14F-4D97-AF65-F5344CB8AC3E}">
        <p14:creationId xmlns:p14="http://schemas.microsoft.com/office/powerpoint/2010/main" val="27583218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2201268-38BB-B4CC-4788-3280A7F61818}"/>
              </a:ext>
            </a:extLst>
          </p:cNvPr>
          <p:cNvSpPr txBox="1"/>
          <p:nvPr/>
        </p:nvSpPr>
        <p:spPr>
          <a:xfrm>
            <a:off x="827584" y="944724"/>
            <a:ext cx="7308812" cy="4247317"/>
          </a:xfrm>
          <a:prstGeom prst="rect">
            <a:avLst/>
          </a:prstGeom>
          <a:noFill/>
        </p:spPr>
        <p:txBody>
          <a:bodyPr wrap="square">
            <a:spAutoFit/>
          </a:bodyPr>
          <a:lstStyle/>
          <a:p>
            <a:r>
              <a:rPr lang="en-US" sz="1800" b="1" dirty="0"/>
              <a:t>Example of F-Test in ANOVA</a:t>
            </a:r>
          </a:p>
          <a:p>
            <a:endParaRPr lang="en-US" sz="1800" b="1" dirty="0"/>
          </a:p>
          <a:p>
            <a:r>
              <a:rPr lang="en-US" sz="1800" dirty="0"/>
              <a:t>Suppose researchers want to test if three different fertilizers (A, B, C) lead to different plant growth rates. The data is collected, and the sum of squares and mean square values are calculated as follows:</a:t>
            </a:r>
          </a:p>
          <a:p>
            <a:r>
              <a:rPr lang="en-US" sz="1800" dirty="0" err="1"/>
              <a:t>SSB</a:t>
            </a:r>
            <a:r>
              <a:rPr lang="en-US" sz="1800" dirty="0"/>
              <a:t>=60 with </a:t>
            </a:r>
            <a:r>
              <a:rPr lang="en-US" sz="1800" dirty="0" err="1"/>
              <a:t>df</a:t>
            </a:r>
            <a:r>
              <a:rPr lang="en-US" sz="1800" baseline="-25000" dirty="0" err="1"/>
              <a:t>b</a:t>
            </a:r>
            <a:r>
              <a:rPr lang="en-US" sz="1800" dirty="0"/>
              <a:t>=2, SSW=45 with </a:t>
            </a:r>
            <a:r>
              <a:rPr lang="en-US" sz="1800" dirty="0" err="1"/>
              <a:t>df</a:t>
            </a:r>
            <a:r>
              <a:rPr lang="en-US" sz="1800" baseline="-25000" dirty="0" err="1"/>
              <a:t>w</a:t>
            </a:r>
            <a:r>
              <a:rPr lang="en-US" sz="1800" dirty="0"/>
              <a:t>=12</a:t>
            </a:r>
          </a:p>
          <a:p>
            <a:r>
              <a:rPr lang="en-US" sz="1800" dirty="0"/>
              <a:t>Calculate the mean squares and F-statistic:</a:t>
            </a:r>
          </a:p>
          <a:p>
            <a:endParaRPr lang="en-US" sz="1800" dirty="0"/>
          </a:p>
          <a:p>
            <a:r>
              <a:rPr lang="en-US" sz="1800" dirty="0" err="1"/>
              <a:t>MSB</a:t>
            </a:r>
            <a:r>
              <a:rPr lang="en-US" sz="1800" dirty="0"/>
              <a:t>=60/2=30, MSW=45/12=3.75, F=30/3.75​=8</a:t>
            </a:r>
          </a:p>
          <a:p>
            <a:endParaRPr lang="en-US" sz="1800" dirty="0"/>
          </a:p>
          <a:p>
            <a:r>
              <a:rPr lang="en-US" sz="1800" dirty="0"/>
              <a:t>Compare the F-statistic to the critical value for </a:t>
            </a:r>
            <a:r>
              <a:rPr lang="en-US" sz="1800" dirty="0" err="1"/>
              <a:t>df</a:t>
            </a:r>
            <a:r>
              <a:rPr lang="en-US" sz="1800" baseline="-25000" dirty="0" err="1"/>
              <a:t>b</a:t>
            </a:r>
            <a:r>
              <a:rPr lang="en-US" sz="1800" dirty="0"/>
              <a:t>=2 and </a:t>
            </a:r>
            <a:r>
              <a:rPr lang="en-US" sz="1800" dirty="0" err="1"/>
              <a:t>df</a:t>
            </a:r>
            <a:r>
              <a:rPr lang="en-US" sz="1800" baseline="-25000" dirty="0" err="1"/>
              <a:t>w</a:t>
            </a:r>
            <a:r>
              <a:rPr lang="en-US" sz="1800" dirty="0"/>
              <a:t>=12 or calculate the p-value to determine if there are significant differences among the fertilizer groups.</a:t>
            </a:r>
          </a:p>
          <a:p>
            <a:endParaRPr lang="en-US" sz="1800" dirty="0"/>
          </a:p>
        </p:txBody>
      </p:sp>
    </p:spTree>
    <p:extLst>
      <p:ext uri="{BB962C8B-B14F-4D97-AF65-F5344CB8AC3E}">
        <p14:creationId xmlns:p14="http://schemas.microsoft.com/office/powerpoint/2010/main" val="17905935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28F17EB-184F-2A09-E35B-0752C9FD3C25}"/>
              </a:ext>
            </a:extLst>
          </p:cNvPr>
          <p:cNvSpPr txBox="1"/>
          <p:nvPr/>
        </p:nvSpPr>
        <p:spPr>
          <a:xfrm>
            <a:off x="521550" y="320457"/>
            <a:ext cx="8100900" cy="5909310"/>
          </a:xfrm>
          <a:prstGeom prst="rect">
            <a:avLst/>
          </a:prstGeom>
          <a:noFill/>
        </p:spPr>
        <p:txBody>
          <a:bodyPr wrap="square">
            <a:spAutoFit/>
          </a:bodyPr>
          <a:lstStyle/>
          <a:p>
            <a:r>
              <a:rPr lang="en-US" sz="1800" b="1" dirty="0"/>
              <a:t>Examples of Sample Tests</a:t>
            </a:r>
          </a:p>
          <a:p>
            <a:endParaRPr lang="en-US" sz="1800" b="1" dirty="0"/>
          </a:p>
          <a:p>
            <a:pPr>
              <a:buFont typeface="+mj-lt"/>
              <a:buAutoNum type="arabicPeriod"/>
            </a:pPr>
            <a:r>
              <a:rPr lang="en-US" sz="1800" b="1" dirty="0"/>
              <a:t>Z-Test Example</a:t>
            </a:r>
            <a:r>
              <a:rPr lang="en-US" sz="1800" dirty="0"/>
              <a:t>: Testing if a factory’s average production rate differs from the industry standard.</a:t>
            </a:r>
          </a:p>
          <a:p>
            <a:pPr>
              <a:buFont typeface="+mj-lt"/>
              <a:buAutoNum type="arabicPeriod"/>
            </a:pPr>
            <a:r>
              <a:rPr lang="en-US" sz="1800" b="1" dirty="0"/>
              <a:t>T-Test Example</a:t>
            </a:r>
            <a:r>
              <a:rPr lang="en-US" sz="1800" dirty="0"/>
              <a:t>: Comparing pre- and post-training test scores of employees to see if training had a significant effect.</a:t>
            </a:r>
          </a:p>
          <a:p>
            <a:pPr>
              <a:buFont typeface="+mj-lt"/>
              <a:buAutoNum type="arabicPeriod"/>
            </a:pPr>
            <a:r>
              <a:rPr lang="en-US" sz="1800" b="1" dirty="0"/>
              <a:t>Chi-Square Test Example</a:t>
            </a:r>
            <a:r>
              <a:rPr lang="en-US" sz="1800" dirty="0"/>
              <a:t>: Examining if customer preferences differ across age groups.</a:t>
            </a:r>
          </a:p>
          <a:p>
            <a:pPr>
              <a:buFont typeface="+mj-lt"/>
              <a:buAutoNum type="arabicPeriod"/>
            </a:pPr>
            <a:r>
              <a:rPr lang="en-US" sz="1800" b="1" dirty="0"/>
              <a:t>ANOVA Example</a:t>
            </a:r>
            <a:r>
              <a:rPr lang="en-US" sz="1800" dirty="0"/>
              <a:t>: Testing if different fertilizers yield significantly different crop growth results.</a:t>
            </a:r>
          </a:p>
          <a:p>
            <a:pPr>
              <a:buFont typeface="+mj-lt"/>
              <a:buAutoNum type="arabicPeriod"/>
            </a:pPr>
            <a:r>
              <a:rPr lang="en-US" sz="1800" b="1" dirty="0"/>
              <a:t>Proportion Test Example</a:t>
            </a:r>
            <a:r>
              <a:rPr lang="en-US" sz="1800" dirty="0"/>
              <a:t>: Testing if the proportion of defectives in a new batch differs from previous batches.</a:t>
            </a:r>
          </a:p>
          <a:p>
            <a:endParaRPr lang="en-US" sz="1800" dirty="0"/>
          </a:p>
          <a:p>
            <a:r>
              <a:rPr lang="en-US" sz="1800" b="1" dirty="0"/>
              <a:t>Choosing the Right Test</a:t>
            </a:r>
          </a:p>
          <a:p>
            <a:endParaRPr lang="en-US" sz="1800" b="1" dirty="0"/>
          </a:p>
          <a:p>
            <a:pPr>
              <a:buFont typeface="Arial" panose="020B0604020202020204" pitchFamily="34" charset="0"/>
              <a:buChar char="•"/>
            </a:pPr>
            <a:r>
              <a:rPr lang="en-US" sz="1800" b="1" dirty="0"/>
              <a:t>Data Type</a:t>
            </a:r>
            <a:r>
              <a:rPr lang="en-US" sz="1800" dirty="0"/>
              <a:t>: Use a T-test or Z-test for means, Chi-Square for categorical data, and ANOVA for multiple groups.</a:t>
            </a:r>
          </a:p>
          <a:p>
            <a:pPr>
              <a:buFont typeface="Arial" panose="020B0604020202020204" pitchFamily="34" charset="0"/>
              <a:buChar char="•"/>
            </a:pPr>
            <a:r>
              <a:rPr lang="en-US" sz="1800" b="1" dirty="0"/>
              <a:t>Sample Size</a:t>
            </a:r>
            <a:r>
              <a:rPr lang="en-US" sz="1800" dirty="0"/>
              <a:t>: T-tests are preferred for small samples; Z-tests are better for larger samples.</a:t>
            </a:r>
          </a:p>
          <a:p>
            <a:pPr>
              <a:buFont typeface="Arial" panose="020B0604020202020204" pitchFamily="34" charset="0"/>
              <a:buChar char="•"/>
            </a:pPr>
            <a:r>
              <a:rPr lang="en-US" sz="1800" b="1" dirty="0"/>
              <a:t>Assumptions</a:t>
            </a:r>
            <a:r>
              <a:rPr lang="en-US" sz="1800" dirty="0"/>
              <a:t>: Use non-parametric tests if normality or equal variance assumptions are not met.</a:t>
            </a:r>
          </a:p>
        </p:txBody>
      </p:sp>
    </p:spTree>
    <p:extLst>
      <p:ext uri="{BB962C8B-B14F-4D97-AF65-F5344CB8AC3E}">
        <p14:creationId xmlns:p14="http://schemas.microsoft.com/office/powerpoint/2010/main" val="9168891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5A16E04-0297-2AFC-FB62-C7C39AA06767}"/>
              </a:ext>
            </a:extLst>
          </p:cNvPr>
          <p:cNvSpPr txBox="1"/>
          <p:nvPr/>
        </p:nvSpPr>
        <p:spPr>
          <a:xfrm>
            <a:off x="323528" y="43458"/>
            <a:ext cx="8424936" cy="6463308"/>
          </a:xfrm>
          <a:prstGeom prst="rect">
            <a:avLst/>
          </a:prstGeom>
          <a:noFill/>
        </p:spPr>
        <p:txBody>
          <a:bodyPr wrap="square">
            <a:spAutoFit/>
          </a:bodyPr>
          <a:lstStyle/>
          <a:p>
            <a:r>
              <a:rPr lang="en-US" sz="1800" b="1" dirty="0"/>
              <a:t>Model Verification</a:t>
            </a:r>
          </a:p>
          <a:p>
            <a:r>
              <a:rPr lang="en-US" sz="1800" dirty="0"/>
              <a:t>Verification is the process of determining if a model is implemented correctly according to its design and requirements. Verification answers the question, </a:t>
            </a:r>
            <a:r>
              <a:rPr lang="en-US" sz="1800" b="1" dirty="0"/>
              <a:t>“Are we building the model correctly?”</a:t>
            </a:r>
            <a:endParaRPr lang="en-US" sz="1800" dirty="0"/>
          </a:p>
          <a:p>
            <a:endParaRPr lang="en-US" sz="1800" b="1" dirty="0"/>
          </a:p>
          <a:p>
            <a:r>
              <a:rPr lang="en-US" sz="1800" b="1" dirty="0"/>
              <a:t>Purpose</a:t>
            </a:r>
            <a:r>
              <a:rPr lang="en-US" sz="1800" dirty="0"/>
              <a:t>: To ensure the model has been constructed and coded without errors and operates as intended based on the defined specifications. Primary focus is on model accuracy in terms of code, algorithms, and implementation.</a:t>
            </a:r>
          </a:p>
          <a:p>
            <a:endParaRPr lang="en-US" sz="1800" b="1" dirty="0"/>
          </a:p>
          <a:p>
            <a:r>
              <a:rPr lang="en-US" sz="1800" b="1" dirty="0"/>
              <a:t>Methods</a:t>
            </a:r>
            <a:r>
              <a:rPr lang="en-US" sz="1800" dirty="0"/>
              <a:t>:</a:t>
            </a:r>
          </a:p>
          <a:p>
            <a:pPr marL="742950" lvl="1" indent="-285750">
              <a:buFont typeface="Arial" panose="020B0604020202020204" pitchFamily="34" charset="0"/>
              <a:buChar char="•"/>
            </a:pPr>
            <a:r>
              <a:rPr lang="en-US" sz="1800" b="1" dirty="0"/>
              <a:t>Code Review and Testing</a:t>
            </a:r>
            <a:r>
              <a:rPr lang="en-US" sz="1800" dirty="0"/>
              <a:t>: Reviewing the model’s code for errors, debugging, and ensuring all functions operate correctly.</a:t>
            </a:r>
          </a:p>
          <a:p>
            <a:pPr marL="742950" lvl="1" indent="-285750">
              <a:buFont typeface="Arial" panose="020B0604020202020204" pitchFamily="34" charset="0"/>
              <a:buChar char="•"/>
            </a:pPr>
            <a:r>
              <a:rPr lang="en-US" sz="1800" b="1" dirty="0"/>
              <a:t>Algorithm Checks</a:t>
            </a:r>
            <a:r>
              <a:rPr lang="en-US" sz="1800" dirty="0"/>
              <a:t>: Verifying that the algorithms used in the model are mathematically correct and implemented as intended.</a:t>
            </a:r>
          </a:p>
          <a:p>
            <a:pPr marL="742950" lvl="1" indent="-285750">
              <a:buFont typeface="Arial" panose="020B0604020202020204" pitchFamily="34" charset="0"/>
              <a:buChar char="•"/>
            </a:pPr>
            <a:r>
              <a:rPr lang="en-US" sz="1800" b="1" dirty="0"/>
              <a:t>Unit Testing and Component Testing</a:t>
            </a:r>
            <a:r>
              <a:rPr lang="en-US" sz="1800" dirty="0"/>
              <a:t>: Testing individual parts or components of the model to make sure they function correctly.</a:t>
            </a:r>
          </a:p>
          <a:p>
            <a:pPr marL="742950" lvl="1" indent="-285750">
              <a:buFont typeface="Arial" panose="020B0604020202020204" pitchFamily="34" charset="0"/>
              <a:buChar char="•"/>
            </a:pPr>
            <a:r>
              <a:rPr lang="en-US" sz="1800" b="1" dirty="0"/>
              <a:t>Model Performance Testing</a:t>
            </a:r>
            <a:r>
              <a:rPr lang="en-US" sz="1800" dirty="0"/>
              <a:t>: Ensuring that the model performs well computationally, is efficient, and is robust under various inputs.</a:t>
            </a:r>
          </a:p>
          <a:p>
            <a:endParaRPr lang="en-US" sz="1800" b="1" dirty="0"/>
          </a:p>
          <a:p>
            <a:r>
              <a:rPr lang="en-US" sz="1800" b="1" dirty="0"/>
              <a:t>Example</a:t>
            </a:r>
          </a:p>
          <a:p>
            <a:r>
              <a:rPr lang="en-US" sz="1800" dirty="0"/>
              <a:t>In a simulation model of a manufacturing process, verification would involve checking if the simulation code correctly implements the process logic, follows all steps correctly, and produces outputs without programming errors.</a:t>
            </a:r>
          </a:p>
        </p:txBody>
      </p:sp>
    </p:spTree>
    <p:extLst>
      <p:ext uri="{BB962C8B-B14F-4D97-AF65-F5344CB8AC3E}">
        <p14:creationId xmlns:p14="http://schemas.microsoft.com/office/powerpoint/2010/main" val="2792492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8F077E1-B228-6954-2C98-B5CAB91F4C05}"/>
              </a:ext>
            </a:extLst>
          </p:cNvPr>
          <p:cNvSpPr txBox="1"/>
          <p:nvPr/>
        </p:nvSpPr>
        <p:spPr>
          <a:xfrm>
            <a:off x="323528" y="109076"/>
            <a:ext cx="8352928" cy="6494085"/>
          </a:xfrm>
          <a:prstGeom prst="rect">
            <a:avLst/>
          </a:prstGeom>
          <a:noFill/>
        </p:spPr>
        <p:txBody>
          <a:bodyPr wrap="square">
            <a:spAutoFit/>
          </a:bodyPr>
          <a:lstStyle/>
          <a:p>
            <a:r>
              <a:rPr lang="en-US" sz="1600" b="1" dirty="0"/>
              <a:t>Model Validation</a:t>
            </a:r>
          </a:p>
          <a:p>
            <a:r>
              <a:rPr lang="en-US" sz="1600" dirty="0"/>
              <a:t>Validation is the process of evaluating if a model accurately represents the real-world system it is intended to simulate. Validation answers the question, </a:t>
            </a:r>
            <a:r>
              <a:rPr lang="en-US" sz="1600" b="1" dirty="0"/>
              <a:t>“Are we building the right model?”</a:t>
            </a:r>
            <a:endParaRPr lang="en-US" sz="1600" dirty="0"/>
          </a:p>
          <a:p>
            <a:endParaRPr lang="en-US" sz="1600" b="1" dirty="0"/>
          </a:p>
          <a:p>
            <a:r>
              <a:rPr lang="en-US" sz="1600" b="1" dirty="0"/>
              <a:t>Purpose</a:t>
            </a:r>
            <a:r>
              <a:rPr lang="en-US" sz="1600" dirty="0"/>
              <a:t>: To confirm that the model provides meaningful and accurate predictions or results for real-world applications. The focus is on the model's ability to represent reality and produce results consistent with observed data or expected behaviors.</a:t>
            </a:r>
          </a:p>
          <a:p>
            <a:endParaRPr lang="en-US" sz="1600" b="1" dirty="0"/>
          </a:p>
          <a:p>
            <a:r>
              <a:rPr lang="en-US" sz="1600" b="1" dirty="0"/>
              <a:t>Methods</a:t>
            </a:r>
            <a:r>
              <a:rPr lang="en-US" sz="1600" dirty="0"/>
              <a:t>:</a:t>
            </a:r>
          </a:p>
          <a:p>
            <a:pPr marL="742950" lvl="1" indent="-285750">
              <a:buFont typeface="Arial" panose="020B0604020202020204" pitchFamily="34" charset="0"/>
              <a:buChar char="•"/>
            </a:pPr>
            <a:r>
              <a:rPr lang="en-US" sz="1600" b="1" dirty="0"/>
              <a:t>Comparison with Real Data</a:t>
            </a:r>
            <a:r>
              <a:rPr lang="en-US" sz="1600" dirty="0"/>
              <a:t>: Comparing model outputs to real-world data to ensure they align closely.</a:t>
            </a:r>
          </a:p>
          <a:p>
            <a:pPr marL="742950" lvl="1" indent="-285750">
              <a:buFont typeface="Arial" panose="020B0604020202020204" pitchFamily="34" charset="0"/>
              <a:buChar char="•"/>
            </a:pPr>
            <a:r>
              <a:rPr lang="en-US" sz="1600" b="1" dirty="0"/>
              <a:t>Sensitivity Analysis</a:t>
            </a:r>
            <a:r>
              <a:rPr lang="en-US" sz="1600" dirty="0"/>
              <a:t>: Testing how changes in model inputs affect outputs to ensure the model behaves realistically under various conditions.</a:t>
            </a:r>
          </a:p>
          <a:p>
            <a:pPr marL="742950" lvl="1" indent="-285750">
              <a:buFont typeface="Arial" panose="020B0604020202020204" pitchFamily="34" charset="0"/>
              <a:buChar char="•"/>
            </a:pPr>
            <a:r>
              <a:rPr lang="en-US" sz="1600" b="1" dirty="0"/>
              <a:t>Historical Data Testing</a:t>
            </a:r>
            <a:r>
              <a:rPr lang="en-US" sz="1600" dirty="0"/>
              <a:t>: Using historical data to see if the model could have correctly predicted past outcomes.</a:t>
            </a:r>
          </a:p>
          <a:p>
            <a:pPr marL="742950" lvl="1" indent="-285750">
              <a:buFont typeface="Arial" panose="020B0604020202020204" pitchFamily="34" charset="0"/>
              <a:buChar char="•"/>
            </a:pPr>
            <a:r>
              <a:rPr lang="en-US" sz="1600" b="1" dirty="0"/>
              <a:t>Cross-Validation</a:t>
            </a:r>
            <a:r>
              <a:rPr lang="en-US" sz="1600" dirty="0"/>
              <a:t>: Dividing the data into training and testing sets to evaluate if the model generalizes well to new data.</a:t>
            </a:r>
          </a:p>
          <a:p>
            <a:pPr marL="742950" lvl="1" indent="-285750">
              <a:buFont typeface="Arial" panose="020B0604020202020204" pitchFamily="34" charset="0"/>
              <a:buChar char="•"/>
            </a:pPr>
            <a:r>
              <a:rPr lang="en-US" sz="1600" b="1" dirty="0"/>
              <a:t>Expert Judgment and Face Validation</a:t>
            </a:r>
            <a:r>
              <a:rPr lang="en-US" sz="1600" dirty="0"/>
              <a:t>: Having experts evaluate whether the model’s results appear realistic and accurate based on their experience.</a:t>
            </a:r>
          </a:p>
          <a:p>
            <a:endParaRPr lang="en-US" sz="1600" b="1" dirty="0"/>
          </a:p>
          <a:p>
            <a:r>
              <a:rPr lang="en-US" sz="1600" b="1" dirty="0"/>
              <a:t>Example</a:t>
            </a:r>
          </a:p>
          <a:p>
            <a:r>
              <a:rPr lang="en-US" sz="1600" dirty="0"/>
              <a:t>In the same manufacturing process simulation, validation would involve checking if the simulated production rates, resource utilization, and other outputs match actual production data, and if the model can predict performance under different scenarios accurately.</a:t>
            </a:r>
          </a:p>
        </p:txBody>
      </p:sp>
    </p:spTree>
    <p:extLst>
      <p:ext uri="{BB962C8B-B14F-4D97-AF65-F5344CB8AC3E}">
        <p14:creationId xmlns:p14="http://schemas.microsoft.com/office/powerpoint/2010/main" val="7811575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5AC154D-8BF3-9C02-CC47-27E6902494F7}"/>
              </a:ext>
            </a:extLst>
          </p:cNvPr>
          <p:cNvSpPr txBox="1"/>
          <p:nvPr/>
        </p:nvSpPr>
        <p:spPr>
          <a:xfrm>
            <a:off x="431540" y="872716"/>
            <a:ext cx="8136904" cy="461665"/>
          </a:xfrm>
          <a:prstGeom prst="rect">
            <a:avLst/>
          </a:prstGeom>
          <a:noFill/>
        </p:spPr>
        <p:txBody>
          <a:bodyPr wrap="square">
            <a:spAutoFit/>
          </a:bodyPr>
          <a:lstStyle/>
          <a:p>
            <a:r>
              <a:rPr lang="en-US" sz="2400" b="1" dirty="0"/>
              <a:t>Key Differences Between Verification and Validation</a:t>
            </a:r>
          </a:p>
        </p:txBody>
      </p:sp>
      <p:pic>
        <p:nvPicPr>
          <p:cNvPr id="5" name="Picture 4">
            <a:extLst>
              <a:ext uri="{FF2B5EF4-FFF2-40B4-BE49-F238E27FC236}">
                <a16:creationId xmlns:a16="http://schemas.microsoft.com/office/drawing/2014/main" xmlns="" id="{16CE3369-9952-F933-F3DB-6AC2A04CF67C}"/>
              </a:ext>
            </a:extLst>
          </p:cNvPr>
          <p:cNvPicPr>
            <a:picLocks noChangeAspect="1"/>
          </p:cNvPicPr>
          <p:nvPr/>
        </p:nvPicPr>
        <p:blipFill>
          <a:blip r:embed="rId2"/>
          <a:stretch>
            <a:fillRect/>
          </a:stretch>
        </p:blipFill>
        <p:spPr>
          <a:xfrm>
            <a:off x="232757" y="1585655"/>
            <a:ext cx="8678486" cy="3686689"/>
          </a:xfrm>
          <a:prstGeom prst="rect">
            <a:avLst/>
          </a:prstGeom>
        </p:spPr>
      </p:pic>
    </p:spTree>
    <p:extLst>
      <p:ext uri="{BB962C8B-B14F-4D97-AF65-F5344CB8AC3E}">
        <p14:creationId xmlns:p14="http://schemas.microsoft.com/office/powerpoint/2010/main" val="35898728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2C5EFED-169F-6B1C-3755-1CF24C52965B}"/>
              </a:ext>
            </a:extLst>
          </p:cNvPr>
          <p:cNvSpPr txBox="1"/>
          <p:nvPr/>
        </p:nvSpPr>
        <p:spPr>
          <a:xfrm>
            <a:off x="1151620" y="1556792"/>
            <a:ext cx="7020780" cy="2554545"/>
          </a:xfrm>
          <a:prstGeom prst="rect">
            <a:avLst/>
          </a:prstGeom>
          <a:noFill/>
        </p:spPr>
        <p:txBody>
          <a:bodyPr wrap="square">
            <a:spAutoFit/>
          </a:bodyPr>
          <a:lstStyle/>
          <a:p>
            <a:r>
              <a:rPr lang="en-US" sz="2000" b="1" dirty="0"/>
              <a:t>Correlation analysis</a:t>
            </a:r>
          </a:p>
          <a:p>
            <a:endParaRPr lang="en-US" sz="2000" dirty="0"/>
          </a:p>
          <a:p>
            <a:r>
              <a:rPr lang="en-US" sz="2000" dirty="0"/>
              <a:t>Correlation analysis is a statistical method used to evaluate the strength and direction of the relationship between two or more variables. It helps in understanding whether, and how strongly, variables are related, which is essential in fields like research, data analysis, finance, engineering, and social sciences.</a:t>
            </a:r>
          </a:p>
        </p:txBody>
      </p:sp>
    </p:spTree>
    <p:extLst>
      <p:ext uri="{BB962C8B-B14F-4D97-AF65-F5344CB8AC3E}">
        <p14:creationId xmlns:p14="http://schemas.microsoft.com/office/powerpoint/2010/main" val="2247642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0B1052D-D403-5EEC-DFA9-851653D14F72}"/>
              </a:ext>
            </a:extLst>
          </p:cNvPr>
          <p:cNvSpPr txBox="1"/>
          <p:nvPr/>
        </p:nvSpPr>
        <p:spPr>
          <a:xfrm>
            <a:off x="791580" y="476672"/>
            <a:ext cx="7560840" cy="5632311"/>
          </a:xfrm>
          <a:prstGeom prst="rect">
            <a:avLst/>
          </a:prstGeom>
          <a:noFill/>
        </p:spPr>
        <p:txBody>
          <a:bodyPr wrap="square">
            <a:spAutoFit/>
          </a:bodyPr>
          <a:lstStyle/>
          <a:p>
            <a:r>
              <a:rPr lang="en-US" sz="1800" b="1" dirty="0"/>
              <a:t>Types of Correlation</a:t>
            </a:r>
          </a:p>
          <a:p>
            <a:endParaRPr lang="en-US" sz="1800" b="1" dirty="0"/>
          </a:p>
          <a:p>
            <a:pPr>
              <a:buFont typeface="+mj-lt"/>
              <a:buAutoNum type="arabicPeriod"/>
            </a:pPr>
            <a:r>
              <a:rPr lang="en-US" sz="1800" b="1" dirty="0"/>
              <a:t>Positive Correlation</a:t>
            </a:r>
            <a:r>
              <a:rPr lang="en-US" sz="1800" dirty="0"/>
              <a:t>: When two variables move in the same direction. As one variable increases, the other also increases, and as one decreases, the other also decreases.</a:t>
            </a:r>
          </a:p>
          <a:p>
            <a:pPr lvl="1"/>
            <a:r>
              <a:rPr lang="en-US" sz="1800" dirty="0"/>
              <a:t>Example: The relationship between temperature and ice cream sales — as temperature increases, ice cream sales typically increase.</a:t>
            </a:r>
          </a:p>
          <a:p>
            <a:pPr lvl="1"/>
            <a:endParaRPr lang="en-US" sz="1800" dirty="0"/>
          </a:p>
          <a:p>
            <a:pPr>
              <a:buFont typeface="+mj-lt"/>
              <a:buAutoNum type="arabicPeriod"/>
            </a:pPr>
            <a:r>
              <a:rPr lang="en-US" sz="1800" b="1" dirty="0"/>
              <a:t>Negative Correlation</a:t>
            </a:r>
            <a:r>
              <a:rPr lang="en-US" sz="1800" dirty="0"/>
              <a:t>: When two variables move in opposite directions. As one variable increases, the other decreases.</a:t>
            </a:r>
          </a:p>
          <a:p>
            <a:pPr lvl="1"/>
            <a:r>
              <a:rPr lang="en-US" sz="1800" dirty="0"/>
              <a:t>Example: The relationship between the number of hours spent studying and the number of errors in a test — as study hours increase, the number of errors tends to decrease.</a:t>
            </a:r>
          </a:p>
          <a:p>
            <a:pPr lvl="1"/>
            <a:endParaRPr lang="en-US" sz="1800" dirty="0"/>
          </a:p>
          <a:p>
            <a:pPr>
              <a:buFont typeface="+mj-lt"/>
              <a:buAutoNum type="arabicPeriod"/>
            </a:pPr>
            <a:r>
              <a:rPr lang="en-US" sz="1800" b="1" dirty="0"/>
              <a:t>No Correlation</a:t>
            </a:r>
            <a:r>
              <a:rPr lang="en-US" sz="1800" dirty="0"/>
              <a:t>: When there is no discernible pattern in the movement of two variables; changes in one do not affect the other in any systematic way.</a:t>
            </a:r>
          </a:p>
          <a:p>
            <a:pPr lvl="1"/>
            <a:r>
              <a:rPr lang="en-US" sz="1800" dirty="0"/>
              <a:t>Example: The relationship between shoe size and intelligence level in adults.</a:t>
            </a:r>
          </a:p>
        </p:txBody>
      </p:sp>
    </p:spTree>
    <p:extLst>
      <p:ext uri="{BB962C8B-B14F-4D97-AF65-F5344CB8AC3E}">
        <p14:creationId xmlns:p14="http://schemas.microsoft.com/office/powerpoint/2010/main" val="7549127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F73498C-5863-19EF-FFB9-DFBE39596FB7}"/>
              </a:ext>
            </a:extLst>
          </p:cNvPr>
          <p:cNvSpPr txBox="1"/>
          <p:nvPr/>
        </p:nvSpPr>
        <p:spPr>
          <a:xfrm>
            <a:off x="449542" y="197346"/>
            <a:ext cx="8244916" cy="6186309"/>
          </a:xfrm>
          <a:prstGeom prst="rect">
            <a:avLst/>
          </a:prstGeom>
          <a:noFill/>
        </p:spPr>
        <p:txBody>
          <a:bodyPr wrap="square">
            <a:spAutoFit/>
          </a:bodyPr>
          <a:lstStyle/>
          <a:p>
            <a:r>
              <a:rPr lang="en-US" sz="1800" b="1" dirty="0"/>
              <a:t>Types of Correlation Coefficients</a:t>
            </a:r>
          </a:p>
          <a:p>
            <a:endParaRPr lang="en-US" sz="1800" b="1" dirty="0"/>
          </a:p>
          <a:p>
            <a:r>
              <a:rPr lang="en-US" sz="1800" dirty="0"/>
              <a:t>Several methods can quantify correlation, with each method suited to specific types of data.</a:t>
            </a:r>
          </a:p>
          <a:p>
            <a:endParaRPr lang="en-US" sz="1800" dirty="0"/>
          </a:p>
          <a:p>
            <a:pPr>
              <a:buFont typeface="+mj-lt"/>
              <a:buAutoNum type="arabicPeriod"/>
            </a:pPr>
            <a:r>
              <a:rPr lang="en-US" sz="1800" b="1" dirty="0"/>
              <a:t>Pearson Correlation Coefficient</a:t>
            </a:r>
            <a:r>
              <a:rPr lang="en-US" sz="1800" dirty="0"/>
              <a:t> (r)</a:t>
            </a:r>
          </a:p>
          <a:p>
            <a:pPr lvl="1"/>
            <a:r>
              <a:rPr lang="en-US" sz="1800" b="1" dirty="0"/>
              <a:t>Purpose</a:t>
            </a:r>
            <a:r>
              <a:rPr lang="en-US" sz="1800" dirty="0"/>
              <a:t>: Measures the linear relationship between two continuous variables.</a:t>
            </a:r>
          </a:p>
          <a:p>
            <a:pPr lvl="1"/>
            <a:endParaRPr lang="en-US" sz="1800" b="1" dirty="0"/>
          </a:p>
          <a:p>
            <a:pPr lvl="1"/>
            <a:r>
              <a:rPr lang="en-US" sz="1800" b="1" dirty="0"/>
              <a:t>Value Range</a:t>
            </a:r>
            <a:r>
              <a:rPr lang="en-US" sz="1800" dirty="0"/>
              <a:t>: -1 to +1</a:t>
            </a:r>
          </a:p>
          <a:p>
            <a:pPr lvl="2"/>
            <a:r>
              <a:rPr lang="en-US" sz="1800" dirty="0"/>
              <a:t>r=+1: Perfect positive linear relationship.</a:t>
            </a:r>
          </a:p>
          <a:p>
            <a:pPr lvl="2"/>
            <a:r>
              <a:rPr lang="en-US" sz="1800" dirty="0"/>
              <a:t>r=−1: Perfect negative linear relationship.</a:t>
            </a:r>
          </a:p>
          <a:p>
            <a:pPr lvl="2"/>
            <a:r>
              <a:rPr lang="en-US" sz="1800" dirty="0"/>
              <a:t>r=0: No linear relationship.</a:t>
            </a:r>
          </a:p>
          <a:p>
            <a:pPr lvl="1"/>
            <a:endParaRPr lang="en-US" sz="1800" b="1" dirty="0"/>
          </a:p>
          <a:p>
            <a:pPr lvl="1"/>
            <a:r>
              <a:rPr lang="en-US" sz="1800" b="1" dirty="0"/>
              <a:t>Assumptions</a:t>
            </a:r>
            <a:r>
              <a:rPr lang="en-US" sz="1800" dirty="0"/>
              <a:t>: Both variables are normally distributed and have a linear relationship.</a:t>
            </a:r>
          </a:p>
          <a:p>
            <a:pPr lvl="1"/>
            <a:endParaRPr lang="en-US" sz="1800" b="1" dirty="0"/>
          </a:p>
          <a:p>
            <a:pPr lvl="1"/>
            <a:r>
              <a:rPr lang="en-US" sz="1800" b="1" dirty="0"/>
              <a:t>Formula</a:t>
            </a:r>
            <a:r>
              <a:rPr lang="en-US" sz="1800" dirty="0"/>
              <a:t>:</a:t>
            </a:r>
          </a:p>
          <a:p>
            <a:pPr lvl="1"/>
            <a:endParaRPr lang="en-US" sz="1800" b="1" dirty="0"/>
          </a:p>
          <a:p>
            <a:pPr lvl="1"/>
            <a:endParaRPr lang="en-US" sz="1800" b="1" dirty="0"/>
          </a:p>
          <a:p>
            <a:pPr lvl="1"/>
            <a:r>
              <a:rPr lang="en-US" sz="1800" b="1" dirty="0"/>
              <a:t>Example</a:t>
            </a:r>
            <a:r>
              <a:rPr lang="en-US" sz="1800" dirty="0"/>
              <a:t>: Examining the correlation between height and weight among adults.</a:t>
            </a:r>
          </a:p>
        </p:txBody>
      </p:sp>
      <p:pic>
        <p:nvPicPr>
          <p:cNvPr id="5" name="Picture 4">
            <a:extLst>
              <a:ext uri="{FF2B5EF4-FFF2-40B4-BE49-F238E27FC236}">
                <a16:creationId xmlns:a16="http://schemas.microsoft.com/office/drawing/2014/main" xmlns="" id="{FEBFA897-EE5E-6180-AF5F-29EE72EA9505}"/>
              </a:ext>
            </a:extLst>
          </p:cNvPr>
          <p:cNvPicPr>
            <a:picLocks noChangeAspect="1"/>
          </p:cNvPicPr>
          <p:nvPr/>
        </p:nvPicPr>
        <p:blipFill>
          <a:blip r:embed="rId2"/>
          <a:stretch>
            <a:fillRect/>
          </a:stretch>
        </p:blipFill>
        <p:spPr>
          <a:xfrm>
            <a:off x="2699792" y="4941168"/>
            <a:ext cx="3353268" cy="800212"/>
          </a:xfrm>
          <a:prstGeom prst="rect">
            <a:avLst/>
          </a:prstGeom>
        </p:spPr>
      </p:pic>
    </p:spTree>
    <p:extLst>
      <p:ext uri="{BB962C8B-B14F-4D97-AF65-F5344CB8AC3E}">
        <p14:creationId xmlns:p14="http://schemas.microsoft.com/office/powerpoint/2010/main" val="13277146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5BEB933-8ADA-80CD-D427-602F69AA867B}"/>
              </a:ext>
            </a:extLst>
          </p:cNvPr>
          <p:cNvSpPr txBox="1"/>
          <p:nvPr/>
        </p:nvSpPr>
        <p:spPr>
          <a:xfrm>
            <a:off x="611560" y="404664"/>
            <a:ext cx="7704856" cy="5078313"/>
          </a:xfrm>
          <a:prstGeom prst="rect">
            <a:avLst/>
          </a:prstGeom>
          <a:noFill/>
        </p:spPr>
        <p:txBody>
          <a:bodyPr wrap="square">
            <a:spAutoFit/>
          </a:bodyPr>
          <a:lstStyle/>
          <a:p>
            <a:r>
              <a:rPr lang="en-US" sz="1800" b="1" dirty="0"/>
              <a:t>Spearman’s Rank Correlation Coefficient</a:t>
            </a:r>
            <a:r>
              <a:rPr lang="en-US" sz="1800" dirty="0"/>
              <a:t> (ρ)</a:t>
            </a:r>
          </a:p>
          <a:p>
            <a:endParaRPr lang="en-US" sz="1800" dirty="0"/>
          </a:p>
          <a:p>
            <a:r>
              <a:rPr lang="en-US" sz="1800" b="1" dirty="0"/>
              <a:t>Purpose</a:t>
            </a:r>
            <a:r>
              <a:rPr lang="en-US" sz="1800" dirty="0"/>
              <a:t>: Measures the strength and direction of the monotonic relationship between two ranked variables.</a:t>
            </a:r>
          </a:p>
          <a:p>
            <a:endParaRPr lang="en-US" sz="1800" b="1" dirty="0"/>
          </a:p>
          <a:p>
            <a:r>
              <a:rPr lang="en-US" sz="1800" b="1" dirty="0"/>
              <a:t>Value Range</a:t>
            </a:r>
            <a:r>
              <a:rPr lang="en-US" sz="1800" dirty="0"/>
              <a:t>: -1 to +1</a:t>
            </a:r>
          </a:p>
          <a:p>
            <a:endParaRPr lang="en-US" sz="1800" b="1" dirty="0"/>
          </a:p>
          <a:p>
            <a:r>
              <a:rPr lang="en-US" sz="1800" b="1" dirty="0"/>
              <a:t>Assumptions</a:t>
            </a:r>
            <a:r>
              <a:rPr lang="en-US" sz="1800" dirty="0"/>
              <a:t>: Works with ordinal data or continuous data that do not meet Pearson’s normality assumptions.</a:t>
            </a:r>
          </a:p>
          <a:p>
            <a:endParaRPr lang="en-US" sz="1800" b="1" dirty="0"/>
          </a:p>
          <a:p>
            <a:r>
              <a:rPr lang="en-US" sz="1800" b="1" dirty="0"/>
              <a:t>Formula</a:t>
            </a:r>
            <a:r>
              <a:rPr lang="en-US" sz="1800" dirty="0"/>
              <a:t>:</a:t>
            </a:r>
          </a:p>
          <a:p>
            <a:endParaRPr lang="en-US" sz="1800" dirty="0"/>
          </a:p>
          <a:p>
            <a:endParaRPr lang="en-US" sz="1800" dirty="0"/>
          </a:p>
          <a:p>
            <a:r>
              <a:rPr lang="en-US" sz="1800" dirty="0"/>
              <a:t>where d</a:t>
            </a:r>
            <a:r>
              <a:rPr lang="en-US" sz="1800" baseline="-25000" dirty="0"/>
              <a:t>i</a:t>
            </a:r>
            <a:r>
              <a:rPr lang="en-US" sz="1800" dirty="0"/>
              <a:t>​ is the difference in ranks for each pair and n is the number of pairs.</a:t>
            </a:r>
          </a:p>
          <a:p>
            <a:endParaRPr lang="en-US" sz="1800" b="1" dirty="0"/>
          </a:p>
          <a:p>
            <a:r>
              <a:rPr lang="en-US" sz="1800" b="1" dirty="0"/>
              <a:t>Example</a:t>
            </a:r>
            <a:r>
              <a:rPr lang="en-US" sz="1800" dirty="0"/>
              <a:t>: Analyzing the correlation between the ranks of students’ scores on two different tests.</a:t>
            </a:r>
          </a:p>
        </p:txBody>
      </p:sp>
      <p:pic>
        <p:nvPicPr>
          <p:cNvPr id="5" name="Picture 4">
            <a:extLst>
              <a:ext uri="{FF2B5EF4-FFF2-40B4-BE49-F238E27FC236}">
                <a16:creationId xmlns:a16="http://schemas.microsoft.com/office/drawing/2014/main" xmlns="" id="{F11EB72F-260C-CC58-4913-EA76A999C8CA}"/>
              </a:ext>
            </a:extLst>
          </p:cNvPr>
          <p:cNvPicPr>
            <a:picLocks noChangeAspect="1"/>
          </p:cNvPicPr>
          <p:nvPr/>
        </p:nvPicPr>
        <p:blipFill>
          <a:blip r:embed="rId2"/>
          <a:stretch>
            <a:fillRect/>
          </a:stretch>
        </p:blipFill>
        <p:spPr>
          <a:xfrm>
            <a:off x="2951820" y="3090325"/>
            <a:ext cx="2048161" cy="724001"/>
          </a:xfrm>
          <a:prstGeom prst="rect">
            <a:avLst/>
          </a:prstGeom>
        </p:spPr>
      </p:pic>
    </p:spTree>
    <p:extLst>
      <p:ext uri="{BB962C8B-B14F-4D97-AF65-F5344CB8AC3E}">
        <p14:creationId xmlns:p14="http://schemas.microsoft.com/office/powerpoint/2010/main" val="38646195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FDDE186-BEA3-243B-6762-A637F4C9AD2B}"/>
              </a:ext>
            </a:extLst>
          </p:cNvPr>
          <p:cNvSpPr txBox="1"/>
          <p:nvPr/>
        </p:nvSpPr>
        <p:spPr>
          <a:xfrm>
            <a:off x="1115616" y="692696"/>
            <a:ext cx="4572000" cy="369332"/>
          </a:xfrm>
          <a:prstGeom prst="rect">
            <a:avLst/>
          </a:prstGeom>
          <a:noFill/>
        </p:spPr>
        <p:txBody>
          <a:bodyPr wrap="square">
            <a:spAutoFit/>
          </a:bodyPr>
          <a:lstStyle/>
          <a:p>
            <a:r>
              <a:rPr lang="en-US" sz="1800" b="1" dirty="0"/>
              <a:t>Interpreting Correlation Coefficients</a:t>
            </a:r>
          </a:p>
        </p:txBody>
      </p:sp>
      <p:pic>
        <p:nvPicPr>
          <p:cNvPr id="5" name="Picture 4">
            <a:extLst>
              <a:ext uri="{FF2B5EF4-FFF2-40B4-BE49-F238E27FC236}">
                <a16:creationId xmlns:a16="http://schemas.microsoft.com/office/drawing/2014/main" xmlns="" id="{B5331E53-61E7-0BB5-D13A-CF197B908E9B}"/>
              </a:ext>
            </a:extLst>
          </p:cNvPr>
          <p:cNvPicPr>
            <a:picLocks noChangeAspect="1"/>
          </p:cNvPicPr>
          <p:nvPr/>
        </p:nvPicPr>
        <p:blipFill>
          <a:blip r:embed="rId2"/>
          <a:stretch>
            <a:fillRect/>
          </a:stretch>
        </p:blipFill>
        <p:spPr>
          <a:xfrm>
            <a:off x="444737" y="1376772"/>
            <a:ext cx="8697539" cy="2486372"/>
          </a:xfrm>
          <a:prstGeom prst="rect">
            <a:avLst/>
          </a:prstGeom>
        </p:spPr>
      </p:pic>
      <p:sp>
        <p:nvSpPr>
          <p:cNvPr id="7" name="TextBox 6">
            <a:extLst>
              <a:ext uri="{FF2B5EF4-FFF2-40B4-BE49-F238E27FC236}">
                <a16:creationId xmlns:a16="http://schemas.microsoft.com/office/drawing/2014/main" xmlns="" id="{29A55762-3FBF-1A04-D3F3-ED22FE93D5F5}"/>
              </a:ext>
            </a:extLst>
          </p:cNvPr>
          <p:cNvSpPr txBox="1"/>
          <p:nvPr/>
        </p:nvSpPr>
        <p:spPr>
          <a:xfrm>
            <a:off x="539552" y="4177888"/>
            <a:ext cx="7776864" cy="369332"/>
          </a:xfrm>
          <a:prstGeom prst="rect">
            <a:avLst/>
          </a:prstGeom>
          <a:noFill/>
        </p:spPr>
        <p:txBody>
          <a:bodyPr wrap="square">
            <a:spAutoFit/>
          </a:bodyPr>
          <a:lstStyle/>
          <a:p>
            <a:r>
              <a:rPr lang="en-US" sz="1800" dirty="0"/>
              <a:t>These values can apply to both positive and negative correlations.</a:t>
            </a:r>
          </a:p>
        </p:txBody>
      </p:sp>
    </p:spTree>
    <p:extLst>
      <p:ext uri="{BB962C8B-B14F-4D97-AF65-F5344CB8AC3E}">
        <p14:creationId xmlns:p14="http://schemas.microsoft.com/office/powerpoint/2010/main" val="29274102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A8A37B8-F369-D353-778B-276E452C36A4}"/>
              </a:ext>
            </a:extLst>
          </p:cNvPr>
          <p:cNvSpPr txBox="1"/>
          <p:nvPr/>
        </p:nvSpPr>
        <p:spPr>
          <a:xfrm>
            <a:off x="683568" y="764704"/>
            <a:ext cx="7560840" cy="3170099"/>
          </a:xfrm>
          <a:prstGeom prst="rect">
            <a:avLst/>
          </a:prstGeom>
          <a:noFill/>
        </p:spPr>
        <p:txBody>
          <a:bodyPr wrap="square">
            <a:spAutoFit/>
          </a:bodyPr>
          <a:lstStyle/>
          <a:p>
            <a:r>
              <a:rPr lang="en-US" sz="2000" b="1" dirty="0"/>
              <a:t>Limitations of Correlation Analysis</a:t>
            </a:r>
          </a:p>
          <a:p>
            <a:endParaRPr lang="en-US" sz="1800" b="1" dirty="0"/>
          </a:p>
          <a:p>
            <a:r>
              <a:rPr lang="en-US" sz="1800" b="1" dirty="0"/>
              <a:t>Does Not Imply Causation</a:t>
            </a:r>
            <a:r>
              <a:rPr lang="en-US" sz="1800" dirty="0"/>
              <a:t>: A high correlation between two variables does not imply that one variable causes the other to change. There may be underlying factors or mere coincidence.</a:t>
            </a:r>
          </a:p>
          <a:p>
            <a:endParaRPr lang="en-US" sz="1800" dirty="0"/>
          </a:p>
          <a:p>
            <a:r>
              <a:rPr lang="en-US" sz="1800" b="1" dirty="0"/>
              <a:t>Sensitive to Outliers</a:t>
            </a:r>
            <a:r>
              <a:rPr lang="en-US" sz="1800" dirty="0"/>
              <a:t>: Outliers can greatly affect the Pearson correlation, potentially masking or exaggerating the true relationship.</a:t>
            </a:r>
          </a:p>
          <a:p>
            <a:endParaRPr lang="en-US" sz="1800" dirty="0"/>
          </a:p>
          <a:p>
            <a:r>
              <a:rPr lang="en-US" sz="1800" b="1" dirty="0"/>
              <a:t>Only Measures Linear Relationships (for Pearson)</a:t>
            </a:r>
            <a:r>
              <a:rPr lang="en-US" sz="1800" dirty="0"/>
              <a:t>: Non-linear relationships are not captured by Pearson’s correlation.</a:t>
            </a:r>
          </a:p>
        </p:txBody>
      </p:sp>
    </p:spTree>
    <p:extLst>
      <p:ext uri="{BB962C8B-B14F-4D97-AF65-F5344CB8AC3E}">
        <p14:creationId xmlns:p14="http://schemas.microsoft.com/office/powerpoint/2010/main" val="26355844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E0A5337-C8E7-AA2E-95C0-43CC39205A23}"/>
              </a:ext>
            </a:extLst>
          </p:cNvPr>
          <p:cNvSpPr txBox="1"/>
          <p:nvPr/>
        </p:nvSpPr>
        <p:spPr>
          <a:xfrm>
            <a:off x="755576" y="404664"/>
            <a:ext cx="7524836" cy="5663089"/>
          </a:xfrm>
          <a:prstGeom prst="rect">
            <a:avLst/>
          </a:prstGeom>
          <a:noFill/>
        </p:spPr>
        <p:txBody>
          <a:bodyPr wrap="square">
            <a:spAutoFit/>
          </a:bodyPr>
          <a:lstStyle/>
          <a:p>
            <a:r>
              <a:rPr lang="en-US" sz="2000" b="1" dirty="0"/>
              <a:t>Example of Correlation Analysis</a:t>
            </a:r>
          </a:p>
          <a:p>
            <a:endParaRPr lang="en-US" sz="1800" dirty="0"/>
          </a:p>
          <a:p>
            <a:r>
              <a:rPr lang="en-US" sz="1800" dirty="0"/>
              <a:t>Suppose a researcher is studying the relationship between hours of study (independent variable) and exam scores (dependent variable) among a group of students.</a:t>
            </a:r>
          </a:p>
          <a:p>
            <a:endParaRPr lang="en-US" sz="1800" dirty="0"/>
          </a:p>
          <a:p>
            <a:pPr>
              <a:buFont typeface="+mj-lt"/>
              <a:buAutoNum type="arabicPeriod"/>
            </a:pPr>
            <a:r>
              <a:rPr lang="en-US" sz="1800" b="1" dirty="0"/>
              <a:t>Data Collection</a:t>
            </a:r>
            <a:r>
              <a:rPr lang="en-US" sz="1800" dirty="0"/>
              <a:t>: Gather data on hours of study and exam scores.</a:t>
            </a:r>
          </a:p>
          <a:p>
            <a:pPr>
              <a:buFont typeface="+mj-lt"/>
              <a:buAutoNum type="arabicPeriod"/>
            </a:pPr>
            <a:endParaRPr lang="en-US" sz="1800" dirty="0"/>
          </a:p>
          <a:p>
            <a:pPr>
              <a:buFont typeface="+mj-lt"/>
              <a:buAutoNum type="arabicPeriod"/>
            </a:pPr>
            <a:r>
              <a:rPr lang="en-US" sz="1800" b="1" dirty="0"/>
              <a:t>Choosing the Correlation Test</a:t>
            </a:r>
            <a:r>
              <a:rPr lang="en-US" sz="1800" dirty="0"/>
              <a:t>:</a:t>
            </a:r>
          </a:p>
          <a:p>
            <a:pPr lvl="1"/>
            <a:r>
              <a:rPr lang="en-US" sz="1800" dirty="0"/>
              <a:t>If both variables are continuous and linearly related, use the </a:t>
            </a:r>
            <a:r>
              <a:rPr lang="en-US" sz="1800" b="1" dirty="0"/>
              <a:t>Pearson correlation</a:t>
            </a:r>
            <a:r>
              <a:rPr lang="en-US" sz="1800" dirty="0"/>
              <a:t>.</a:t>
            </a:r>
          </a:p>
          <a:p>
            <a:pPr lvl="1"/>
            <a:r>
              <a:rPr lang="en-US" sz="1800" dirty="0"/>
              <a:t>If the variables are ranked or do not meet normality assumptions, use </a:t>
            </a:r>
            <a:r>
              <a:rPr lang="en-US" sz="1800" b="1" dirty="0"/>
              <a:t>Spearman’s correlation</a:t>
            </a:r>
            <a:r>
              <a:rPr lang="en-US" sz="1800" dirty="0"/>
              <a:t>.</a:t>
            </a:r>
          </a:p>
          <a:p>
            <a:pPr lvl="1"/>
            <a:endParaRPr lang="en-US" sz="1800" dirty="0"/>
          </a:p>
          <a:p>
            <a:pPr>
              <a:buFont typeface="+mj-lt"/>
              <a:buAutoNum type="arabicPeriod"/>
            </a:pPr>
            <a:r>
              <a:rPr lang="en-US" sz="1800" b="1" dirty="0"/>
              <a:t>Calculation and Interpretation</a:t>
            </a:r>
            <a:r>
              <a:rPr lang="en-US" sz="1800" dirty="0"/>
              <a:t>:</a:t>
            </a:r>
          </a:p>
          <a:p>
            <a:pPr lvl="1"/>
            <a:r>
              <a:rPr lang="en-US" sz="1800" dirty="0"/>
              <a:t>Calculate the correlation coefficient (e.g., Pearson’s r=0.75), indicating a strong positive correlation.</a:t>
            </a:r>
          </a:p>
          <a:p>
            <a:pPr lvl="1"/>
            <a:r>
              <a:rPr lang="en-US" sz="1800" dirty="0"/>
              <a:t>Interpret the result: Higher study hours are associated with higher exam scores, suggesting a positive association but not necessarily causation.</a:t>
            </a:r>
          </a:p>
        </p:txBody>
      </p:sp>
    </p:spTree>
    <p:extLst>
      <p:ext uri="{BB962C8B-B14F-4D97-AF65-F5344CB8AC3E}">
        <p14:creationId xmlns:p14="http://schemas.microsoft.com/office/powerpoint/2010/main" val="18843861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C94EFDE-8BF0-1D20-88FB-B95A21DB0760}"/>
              </a:ext>
            </a:extLst>
          </p:cNvPr>
          <p:cNvSpPr txBox="1"/>
          <p:nvPr/>
        </p:nvSpPr>
        <p:spPr>
          <a:xfrm>
            <a:off x="575556" y="548680"/>
            <a:ext cx="7776864" cy="5170646"/>
          </a:xfrm>
          <a:prstGeom prst="rect">
            <a:avLst/>
          </a:prstGeom>
          <a:noFill/>
        </p:spPr>
        <p:txBody>
          <a:bodyPr wrap="square">
            <a:spAutoFit/>
          </a:bodyPr>
          <a:lstStyle/>
          <a:p>
            <a:r>
              <a:rPr lang="en-US" sz="2400" b="1" dirty="0"/>
              <a:t>Factor Analysis</a:t>
            </a:r>
          </a:p>
          <a:p>
            <a:endParaRPr lang="en-US" sz="1800" b="1" dirty="0"/>
          </a:p>
          <a:p>
            <a:r>
              <a:rPr lang="en-US" sz="1800" b="1" dirty="0"/>
              <a:t>Factor Analysis</a:t>
            </a:r>
            <a:r>
              <a:rPr lang="en-US" sz="1800" dirty="0"/>
              <a:t> is a statistical method used to identify underlying relationships between variables in a dataset. By reducing data dimensions, factor analysis helps in discovering patterns and grouping variables that share common underlying factors. This method is particularly useful in fields like psychology, finance, social sciences, and market research to simplify complex datasets and identify latent variables (factors) that explain the variance in observed variables.</a:t>
            </a:r>
          </a:p>
          <a:p>
            <a:endParaRPr lang="en-US" sz="1800" b="1" dirty="0"/>
          </a:p>
          <a:p>
            <a:endParaRPr lang="en-US" sz="1800" b="1" dirty="0"/>
          </a:p>
          <a:p>
            <a:r>
              <a:rPr lang="en-US" sz="1800" b="1" dirty="0"/>
              <a:t>Goals of Factor Analysis</a:t>
            </a:r>
          </a:p>
          <a:p>
            <a:endParaRPr lang="en-US" sz="1800" b="1" dirty="0"/>
          </a:p>
          <a:p>
            <a:pPr>
              <a:buFont typeface="+mj-lt"/>
              <a:buAutoNum type="arabicPeriod"/>
            </a:pPr>
            <a:r>
              <a:rPr lang="en-US" sz="1800" b="1" dirty="0"/>
              <a:t>Data Reduction</a:t>
            </a:r>
            <a:r>
              <a:rPr lang="en-US" sz="1800" dirty="0"/>
              <a:t>: To condense a large set of variables into a smaller set of factors without losing significant information.</a:t>
            </a:r>
          </a:p>
          <a:p>
            <a:pPr>
              <a:buFont typeface="+mj-lt"/>
              <a:buAutoNum type="arabicPeriod"/>
            </a:pPr>
            <a:endParaRPr lang="en-US" sz="1800" dirty="0"/>
          </a:p>
          <a:p>
            <a:pPr>
              <a:buFont typeface="+mj-lt"/>
              <a:buAutoNum type="arabicPeriod"/>
            </a:pPr>
            <a:r>
              <a:rPr lang="en-US" sz="1800" b="1" dirty="0"/>
              <a:t>Identifying Latent Structures</a:t>
            </a:r>
            <a:r>
              <a:rPr lang="en-US" sz="1800" dirty="0"/>
              <a:t>: To discover unobserved (latent) variables that explain the correlations among observed variables.</a:t>
            </a:r>
          </a:p>
        </p:txBody>
      </p:sp>
    </p:spTree>
    <p:extLst>
      <p:ext uri="{BB962C8B-B14F-4D97-AF65-F5344CB8AC3E}">
        <p14:creationId xmlns:p14="http://schemas.microsoft.com/office/powerpoint/2010/main" val="2262972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DE47153-A6D4-72BE-0ABE-EB5109873898}"/>
              </a:ext>
            </a:extLst>
          </p:cNvPr>
          <p:cNvSpPr txBox="1"/>
          <p:nvPr/>
        </p:nvSpPr>
        <p:spPr>
          <a:xfrm>
            <a:off x="977280" y="620688"/>
            <a:ext cx="7272808" cy="4524315"/>
          </a:xfrm>
          <a:prstGeom prst="rect">
            <a:avLst/>
          </a:prstGeom>
          <a:noFill/>
        </p:spPr>
        <p:txBody>
          <a:bodyPr wrap="square">
            <a:spAutoFit/>
          </a:bodyPr>
          <a:lstStyle/>
          <a:p>
            <a:r>
              <a:rPr lang="en-US" sz="1800" b="1" dirty="0"/>
              <a:t>Key Concepts in Factor Analysis</a:t>
            </a:r>
          </a:p>
          <a:p>
            <a:endParaRPr lang="en-US" sz="1800" b="1" dirty="0"/>
          </a:p>
          <a:p>
            <a:pPr>
              <a:buFont typeface="Arial" panose="020B0604020202020204" pitchFamily="34" charset="0"/>
              <a:buChar char="•"/>
            </a:pPr>
            <a:r>
              <a:rPr lang="en-US" sz="1800" b="1" dirty="0"/>
              <a:t>Factors</a:t>
            </a:r>
            <a:r>
              <a:rPr lang="en-US" sz="1800" dirty="0"/>
              <a:t>: Latent variables that represent the shared variance among observed variables.</a:t>
            </a:r>
          </a:p>
          <a:p>
            <a:pPr>
              <a:buFont typeface="Arial" panose="020B0604020202020204" pitchFamily="34" charset="0"/>
              <a:buChar char="•"/>
            </a:pPr>
            <a:endParaRPr lang="en-US" sz="1800" dirty="0"/>
          </a:p>
          <a:p>
            <a:pPr>
              <a:buFont typeface="Arial" panose="020B0604020202020204" pitchFamily="34" charset="0"/>
              <a:buChar char="•"/>
            </a:pPr>
            <a:r>
              <a:rPr lang="en-US" sz="1800" b="1" dirty="0"/>
              <a:t>Factor Loadings</a:t>
            </a:r>
            <a:r>
              <a:rPr lang="en-US" sz="1800" dirty="0"/>
              <a:t>: Correlation coefficients between observed variables and factors.</a:t>
            </a:r>
          </a:p>
          <a:p>
            <a:pPr>
              <a:buFont typeface="Arial" panose="020B0604020202020204" pitchFamily="34" charset="0"/>
              <a:buChar char="•"/>
            </a:pPr>
            <a:endParaRPr lang="en-US" sz="1800" dirty="0"/>
          </a:p>
          <a:p>
            <a:pPr>
              <a:buFont typeface="Arial" panose="020B0604020202020204" pitchFamily="34" charset="0"/>
              <a:buChar char="•"/>
            </a:pPr>
            <a:r>
              <a:rPr lang="en-US" sz="1800" b="1" dirty="0"/>
              <a:t>Eigenvalues</a:t>
            </a:r>
            <a:r>
              <a:rPr lang="en-US" sz="1800" dirty="0"/>
              <a:t>: Indicate the amount of variance captured by each factor; higher eigenvalues suggest stronger factors.</a:t>
            </a:r>
          </a:p>
          <a:p>
            <a:pPr>
              <a:buFont typeface="Arial" panose="020B0604020202020204" pitchFamily="34" charset="0"/>
              <a:buChar char="•"/>
            </a:pPr>
            <a:endParaRPr lang="en-US" sz="1800" dirty="0"/>
          </a:p>
          <a:p>
            <a:pPr>
              <a:buFont typeface="Arial" panose="020B0604020202020204" pitchFamily="34" charset="0"/>
              <a:buChar char="•"/>
            </a:pPr>
            <a:r>
              <a:rPr lang="en-US" sz="1800" b="1" dirty="0"/>
              <a:t>Communality</a:t>
            </a:r>
            <a:r>
              <a:rPr lang="en-US" sz="1800" dirty="0"/>
              <a:t>: The proportion of each variable’s variance explained by the factors.</a:t>
            </a:r>
          </a:p>
          <a:p>
            <a:pPr>
              <a:buFont typeface="Arial" panose="020B0604020202020204" pitchFamily="34" charset="0"/>
              <a:buChar char="•"/>
            </a:pPr>
            <a:endParaRPr lang="en-US" sz="1800" dirty="0"/>
          </a:p>
          <a:p>
            <a:pPr>
              <a:buFont typeface="Arial" panose="020B0604020202020204" pitchFamily="34" charset="0"/>
              <a:buChar char="•"/>
            </a:pPr>
            <a:r>
              <a:rPr lang="en-US" sz="1800" b="1" dirty="0"/>
              <a:t>Uniqueness</a:t>
            </a:r>
            <a:r>
              <a:rPr lang="en-US" sz="1800" dirty="0"/>
              <a:t>: The portion of variance in a variable that is unique to that variable and not shared with others.</a:t>
            </a:r>
          </a:p>
        </p:txBody>
      </p:sp>
    </p:spTree>
    <p:extLst>
      <p:ext uri="{BB962C8B-B14F-4D97-AF65-F5344CB8AC3E}">
        <p14:creationId xmlns:p14="http://schemas.microsoft.com/office/powerpoint/2010/main" val="40663677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E9A8E91-5787-288F-523B-7D4F3A329664}"/>
              </a:ext>
            </a:extLst>
          </p:cNvPr>
          <p:cNvSpPr txBox="1"/>
          <p:nvPr/>
        </p:nvSpPr>
        <p:spPr>
          <a:xfrm>
            <a:off x="935596" y="797510"/>
            <a:ext cx="7776864" cy="3416320"/>
          </a:xfrm>
          <a:prstGeom prst="rect">
            <a:avLst/>
          </a:prstGeom>
          <a:noFill/>
        </p:spPr>
        <p:txBody>
          <a:bodyPr wrap="square">
            <a:spAutoFit/>
          </a:bodyPr>
          <a:lstStyle/>
          <a:p>
            <a:r>
              <a:rPr lang="en-US" sz="1800" b="1" dirty="0"/>
              <a:t>Example of Factor Analysis</a:t>
            </a:r>
          </a:p>
          <a:p>
            <a:endParaRPr lang="en-US" sz="1800" b="1" dirty="0"/>
          </a:p>
          <a:p>
            <a:r>
              <a:rPr lang="en-US" sz="1800" dirty="0"/>
              <a:t>Suppose a survey is conducted to measure students’ satisfaction in different areas of university life, including academic support, social opportunities, campus facilities, and career services. Factor analysis could be used to:</a:t>
            </a:r>
          </a:p>
          <a:p>
            <a:endParaRPr lang="en-US" sz="1800" dirty="0"/>
          </a:p>
          <a:p>
            <a:pPr>
              <a:buFont typeface="Arial" panose="020B0604020202020204" pitchFamily="34" charset="0"/>
              <a:buChar char="•"/>
            </a:pPr>
            <a:r>
              <a:rPr lang="en-US" sz="1800" dirty="0"/>
              <a:t>Reduce the survey items into a few key factors, like “academic satisfaction,” “social satisfaction,” and “facility satisfaction.”</a:t>
            </a:r>
          </a:p>
          <a:p>
            <a:pPr>
              <a:buFont typeface="Arial" panose="020B0604020202020204" pitchFamily="34" charset="0"/>
              <a:buChar char="•"/>
            </a:pPr>
            <a:endParaRPr lang="en-US" sz="1800" dirty="0"/>
          </a:p>
          <a:p>
            <a:pPr>
              <a:buFont typeface="Arial" panose="020B0604020202020204" pitchFamily="34" charset="0"/>
              <a:buChar char="•"/>
            </a:pPr>
            <a:r>
              <a:rPr lang="en-US" sz="1800" dirty="0"/>
              <a:t>Identify groups of questions that load onto these factors, simplifying the data and making it easier to interpret and act upon.</a:t>
            </a:r>
          </a:p>
        </p:txBody>
      </p:sp>
    </p:spTree>
    <p:extLst>
      <p:ext uri="{BB962C8B-B14F-4D97-AF65-F5344CB8AC3E}">
        <p14:creationId xmlns:p14="http://schemas.microsoft.com/office/powerpoint/2010/main" val="17773325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57904" y="752165"/>
            <a:ext cx="3717240" cy="510092"/>
          </a:xfrm>
          <a:prstGeom prst="rect">
            <a:avLst/>
          </a:prstGeom>
        </p:spPr>
        <p:txBody>
          <a:bodyPr wrap="square" lIns="0" tIns="0" rIns="0" bIns="0" rtlCol="0">
            <a:noAutofit/>
          </a:bodyPr>
          <a:lstStyle/>
          <a:p>
            <a:pPr marL="11206">
              <a:lnSpc>
                <a:spcPts val="4015"/>
              </a:lnSpc>
              <a:spcBef>
                <a:spcPts val="200"/>
              </a:spcBef>
            </a:pPr>
            <a:r>
              <a:rPr sz="5758" b="1" baseline="1883" dirty="0">
                <a:latin typeface="Calibri"/>
                <a:cs typeface="Calibri"/>
              </a:rPr>
              <a:t>Machine Learning</a:t>
            </a:r>
            <a:endParaRPr sz="3838">
              <a:latin typeface="Calibri"/>
              <a:cs typeface="Calibri"/>
            </a:endParaRPr>
          </a:p>
        </p:txBody>
      </p:sp>
      <p:sp>
        <p:nvSpPr>
          <p:cNvPr id="5" name="object 5"/>
          <p:cNvSpPr txBox="1"/>
          <p:nvPr/>
        </p:nvSpPr>
        <p:spPr>
          <a:xfrm>
            <a:off x="539553" y="1397956"/>
            <a:ext cx="8064896" cy="2031044"/>
          </a:xfrm>
          <a:prstGeom prst="rect">
            <a:avLst/>
          </a:prstGeom>
        </p:spPr>
        <p:txBody>
          <a:bodyPr wrap="square" lIns="0" tIns="0" rIns="0" bIns="0" rtlCol="0">
            <a:noAutofit/>
          </a:bodyPr>
          <a:lstStyle/>
          <a:p>
            <a:pPr marL="11206">
              <a:lnSpc>
                <a:spcPts val="3013"/>
              </a:lnSpc>
              <a:spcBef>
                <a:spcPts val="150"/>
              </a:spcBef>
            </a:pPr>
            <a:r>
              <a:rPr lang="en-US" sz="2400" kern="0" dirty="0">
                <a:latin typeface="Calibri" panose="020F0502020204030204" pitchFamily="34" charset="0"/>
                <a:ea typeface="Calibri" panose="020F0502020204030204" pitchFamily="34" charset="0"/>
                <a:cs typeface="Calibri" panose="020F0502020204030204" pitchFamily="34" charset="0"/>
              </a:rPr>
              <a:t>Machine learning (ML) is a subfield of artificial intelligence (AI) that focuses on using data and algorithms to enable machines to learn from experience and perform tasks without explicit programming.</a:t>
            </a:r>
          </a:p>
          <a:p>
            <a:pPr marL="11206">
              <a:lnSpc>
                <a:spcPts val="3013"/>
              </a:lnSpc>
              <a:spcBef>
                <a:spcPts val="150"/>
              </a:spcBef>
            </a:pPr>
            <a:endParaRPr lang="en-US" sz="2400" kern="0" dirty="0">
              <a:latin typeface="Calibri" panose="020F0502020204030204" pitchFamily="34" charset="0"/>
              <a:ea typeface="Calibri" panose="020F0502020204030204" pitchFamily="34" charset="0"/>
              <a:cs typeface="Calibri" panose="020F0502020204030204" pitchFamily="34" charset="0"/>
            </a:endParaRPr>
          </a:p>
          <a:p>
            <a:pPr marL="11206">
              <a:lnSpc>
                <a:spcPts val="3013"/>
              </a:lnSpc>
              <a:spcBef>
                <a:spcPts val="150"/>
              </a:spcBef>
            </a:pPr>
            <a:r>
              <a:rPr lang="en-US" sz="2400" kern="0" dirty="0">
                <a:latin typeface="Calibri" panose="020F0502020204030204" pitchFamily="34" charset="0"/>
                <a:ea typeface="Calibri" panose="020F0502020204030204" pitchFamily="34" charset="0"/>
                <a:cs typeface="Calibri" panose="020F0502020204030204" pitchFamily="34" charset="0"/>
              </a:rPr>
              <a:t>It involves training algorithms on data sets to create models capable of predicting outcomes and classifying information autonomously.</a:t>
            </a:r>
          </a:p>
        </p:txBody>
      </p:sp>
      <p:sp>
        <p:nvSpPr>
          <p:cNvPr id="10" name="object 10"/>
          <p:cNvSpPr txBox="1"/>
          <p:nvPr/>
        </p:nvSpPr>
        <p:spPr>
          <a:xfrm>
            <a:off x="656165" y="4928171"/>
            <a:ext cx="210990" cy="377088"/>
          </a:xfrm>
          <a:prstGeom prst="rect">
            <a:avLst/>
          </a:prstGeom>
        </p:spPr>
        <p:txBody>
          <a:bodyPr wrap="square" lIns="0" tIns="0" rIns="0" bIns="0" rtlCol="0">
            <a:noAutofit/>
          </a:bodyPr>
          <a:lstStyle/>
          <a:p>
            <a:pPr marL="11206">
              <a:lnSpc>
                <a:spcPts val="2938"/>
              </a:lnSpc>
              <a:spcBef>
                <a:spcPts val="146"/>
              </a:spcBef>
            </a:pPr>
            <a:r>
              <a:rPr sz="2780" dirty="0">
                <a:latin typeface="Arial"/>
                <a:cs typeface="Arial"/>
              </a:rPr>
              <a:t>•</a:t>
            </a:r>
            <a:endParaRPr sz="2780">
              <a:latin typeface="Arial"/>
              <a:cs typeface="Arial"/>
            </a:endParaRPr>
          </a:p>
        </p:txBody>
      </p:sp>
      <p:sp>
        <p:nvSpPr>
          <p:cNvPr id="11" name="object 11"/>
          <p:cNvSpPr txBox="1"/>
          <p:nvPr/>
        </p:nvSpPr>
        <p:spPr>
          <a:xfrm>
            <a:off x="955425" y="4938924"/>
            <a:ext cx="2601680" cy="377088"/>
          </a:xfrm>
          <a:prstGeom prst="rect">
            <a:avLst/>
          </a:prstGeom>
        </p:spPr>
        <p:txBody>
          <a:bodyPr wrap="square" lIns="0" tIns="0" rIns="0" bIns="0" rtlCol="0">
            <a:noAutofit/>
          </a:bodyPr>
          <a:lstStyle/>
          <a:p>
            <a:pPr marL="11206">
              <a:lnSpc>
                <a:spcPts val="2969"/>
              </a:lnSpc>
              <a:spcBef>
                <a:spcPts val="148"/>
              </a:spcBef>
            </a:pPr>
            <a:r>
              <a:rPr sz="4169" spc="-123" baseline="1733" dirty="0">
                <a:latin typeface="Calibri"/>
                <a:cs typeface="Calibri"/>
              </a:rPr>
              <a:t>T</a:t>
            </a:r>
            <a:r>
              <a:rPr sz="4169" baseline="1733" dirty="0">
                <a:latin typeface="Calibri"/>
                <a:cs typeface="Calibri"/>
              </a:rPr>
              <a:t>ypes of Learning</a:t>
            </a:r>
            <a:endParaRPr sz="2780">
              <a:latin typeface="Calibri"/>
              <a:cs typeface="Calibri"/>
            </a:endParaRPr>
          </a:p>
        </p:txBody>
      </p:sp>
      <p:sp>
        <p:nvSpPr>
          <p:cNvPr id="12" name="object 12"/>
          <p:cNvSpPr txBox="1"/>
          <p:nvPr/>
        </p:nvSpPr>
        <p:spPr>
          <a:xfrm>
            <a:off x="1055177" y="5434472"/>
            <a:ext cx="210990" cy="886935"/>
          </a:xfrm>
          <a:prstGeom prst="rect">
            <a:avLst/>
          </a:prstGeom>
        </p:spPr>
        <p:txBody>
          <a:bodyPr wrap="square" lIns="0" tIns="0" rIns="0" bIns="0" rtlCol="0">
            <a:noAutofit/>
          </a:bodyPr>
          <a:lstStyle/>
          <a:p>
            <a:pPr marL="11206">
              <a:lnSpc>
                <a:spcPts val="2938"/>
              </a:lnSpc>
              <a:spcBef>
                <a:spcPts val="146"/>
              </a:spcBef>
            </a:pPr>
            <a:r>
              <a:rPr sz="2780" dirty="0">
                <a:latin typeface="Arial"/>
                <a:cs typeface="Arial"/>
              </a:rPr>
              <a:t>•</a:t>
            </a:r>
          </a:p>
          <a:p>
            <a:pPr marL="11206">
              <a:lnSpc>
                <a:spcPct val="95825"/>
              </a:lnSpc>
              <a:spcBef>
                <a:spcPts val="672"/>
              </a:spcBef>
            </a:pPr>
            <a:r>
              <a:rPr sz="2780" dirty="0">
                <a:latin typeface="Arial"/>
                <a:cs typeface="Arial"/>
              </a:rPr>
              <a:t>•</a:t>
            </a:r>
          </a:p>
        </p:txBody>
      </p:sp>
      <p:sp>
        <p:nvSpPr>
          <p:cNvPr id="13" name="object 13"/>
          <p:cNvSpPr txBox="1"/>
          <p:nvPr/>
        </p:nvSpPr>
        <p:spPr>
          <a:xfrm>
            <a:off x="1354435" y="5445224"/>
            <a:ext cx="2058541" cy="886935"/>
          </a:xfrm>
          <a:prstGeom prst="rect">
            <a:avLst/>
          </a:prstGeom>
        </p:spPr>
        <p:txBody>
          <a:bodyPr wrap="square" lIns="0" tIns="0" rIns="0" bIns="0" rtlCol="0">
            <a:noAutofit/>
          </a:bodyPr>
          <a:lstStyle/>
          <a:p>
            <a:pPr marL="11206" marR="53203">
              <a:lnSpc>
                <a:spcPts val="3013"/>
              </a:lnSpc>
              <a:spcBef>
                <a:spcPts val="150"/>
              </a:spcBef>
            </a:pPr>
            <a:r>
              <a:rPr sz="4169" baseline="2600" dirty="0">
                <a:latin typeface="Calibri"/>
                <a:cs typeface="Calibri"/>
              </a:rPr>
              <a:t>Supe</a:t>
            </a:r>
            <a:r>
              <a:rPr sz="4169" spc="22" baseline="2600" dirty="0">
                <a:latin typeface="Calibri"/>
                <a:cs typeface="Calibri"/>
              </a:rPr>
              <a:t>r</a:t>
            </a:r>
            <a:r>
              <a:rPr sz="4169" baseline="2600" dirty="0">
                <a:latin typeface="Calibri"/>
                <a:cs typeface="Calibri"/>
              </a:rPr>
              <a:t>vised</a:t>
            </a:r>
            <a:endParaRPr sz="2780" dirty="0">
              <a:latin typeface="Calibri"/>
              <a:cs typeface="Calibri"/>
            </a:endParaRPr>
          </a:p>
          <a:p>
            <a:pPr marL="11206">
              <a:lnSpc>
                <a:spcPts val="3349"/>
              </a:lnSpc>
              <a:spcBef>
                <a:spcPts val="638"/>
              </a:spcBef>
            </a:pPr>
            <a:r>
              <a:rPr sz="2780" dirty="0">
                <a:latin typeface="Calibri"/>
                <a:cs typeface="Calibri"/>
              </a:rPr>
              <a:t>Unsupe</a:t>
            </a:r>
            <a:r>
              <a:rPr sz="2780" spc="26" dirty="0">
                <a:latin typeface="Calibri"/>
                <a:cs typeface="Calibri"/>
              </a:rPr>
              <a:t>r</a:t>
            </a:r>
            <a:r>
              <a:rPr sz="2780" dirty="0">
                <a:latin typeface="Calibri"/>
                <a:cs typeface="Calibri"/>
              </a:rPr>
              <a:t>vised</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9746" y="752166"/>
            <a:ext cx="7586876" cy="4540921"/>
          </a:xfrm>
          <a:prstGeom prst="rect">
            <a:avLst/>
          </a:prstGeom>
        </p:spPr>
        <p:txBody>
          <a:bodyPr wrap="square" lIns="0" tIns="0" rIns="0" bIns="0" rtlCol="0">
            <a:noAutofit/>
          </a:bodyPr>
          <a:lstStyle/>
          <a:p>
            <a:pPr marL="1312585" marR="53430">
              <a:lnSpc>
                <a:spcPts val="4116"/>
              </a:lnSpc>
              <a:spcBef>
                <a:spcPts val="206"/>
              </a:spcBef>
            </a:pPr>
            <a:r>
              <a:rPr sz="5758" b="1" baseline="3138" dirty="0">
                <a:latin typeface="Calibri"/>
                <a:cs typeface="Calibri"/>
              </a:rPr>
              <a:t>Unsupe</a:t>
            </a:r>
            <a:r>
              <a:rPr sz="5758" b="1" spc="34" baseline="3138" dirty="0">
                <a:latin typeface="Calibri"/>
                <a:cs typeface="Calibri"/>
              </a:rPr>
              <a:t>r</a:t>
            </a:r>
            <a:r>
              <a:rPr sz="5758" b="1" baseline="3138" dirty="0">
                <a:latin typeface="Calibri"/>
                <a:cs typeface="Calibri"/>
              </a:rPr>
              <a:t>vised Learning</a:t>
            </a:r>
            <a:endParaRPr sz="3838">
              <a:latin typeface="Calibri"/>
              <a:cs typeface="Calibri"/>
            </a:endParaRPr>
          </a:p>
          <a:p>
            <a:pPr marL="11206" marR="311752">
              <a:lnSpc>
                <a:spcPts val="3318"/>
              </a:lnSpc>
              <a:spcBef>
                <a:spcPts val="2760"/>
              </a:spcBef>
            </a:pPr>
            <a:r>
              <a:rPr sz="2780" dirty="0">
                <a:latin typeface="Calibri"/>
                <a:cs typeface="Calibri"/>
              </a:rPr>
              <a:t>The model is not p</a:t>
            </a:r>
            <a:r>
              <a:rPr sz="2780" spc="-44" dirty="0">
                <a:latin typeface="Calibri"/>
                <a:cs typeface="Calibri"/>
              </a:rPr>
              <a:t>r</a:t>
            </a:r>
            <a:r>
              <a:rPr sz="2780" spc="-8" dirty="0">
                <a:latin typeface="Calibri"/>
                <a:cs typeface="Calibri"/>
              </a:rPr>
              <a:t>o</a:t>
            </a:r>
            <a:r>
              <a:rPr sz="2780" dirty="0">
                <a:latin typeface="Calibri"/>
                <a:cs typeface="Calibri"/>
              </a:rPr>
              <a:t>vided with the </a:t>
            </a:r>
            <a:r>
              <a:rPr sz="2780" spc="-17" dirty="0">
                <a:latin typeface="Calibri"/>
                <a:cs typeface="Calibri"/>
              </a:rPr>
              <a:t>c</a:t>
            </a:r>
            <a:r>
              <a:rPr sz="2780" dirty="0">
                <a:latin typeface="Calibri"/>
                <a:cs typeface="Calibri"/>
              </a:rPr>
              <a:t>or</a:t>
            </a:r>
            <a:r>
              <a:rPr sz="2780" spc="-34" dirty="0">
                <a:latin typeface="Calibri"/>
                <a:cs typeface="Calibri"/>
              </a:rPr>
              <a:t>r</a:t>
            </a:r>
            <a:r>
              <a:rPr sz="2780" dirty="0">
                <a:latin typeface="Calibri"/>
                <a:cs typeface="Calibri"/>
              </a:rPr>
              <a:t>ect </a:t>
            </a:r>
            <a:r>
              <a:rPr sz="2780" spc="-34" dirty="0">
                <a:latin typeface="Calibri"/>
                <a:cs typeface="Calibri"/>
              </a:rPr>
              <a:t>r</a:t>
            </a:r>
            <a:r>
              <a:rPr sz="2780" dirty="0">
                <a:latin typeface="Calibri"/>
                <a:cs typeface="Calibri"/>
              </a:rPr>
              <a:t>esults during the t</a:t>
            </a:r>
            <a:r>
              <a:rPr sz="2780" spc="-52" dirty="0">
                <a:latin typeface="Calibri"/>
                <a:cs typeface="Calibri"/>
              </a:rPr>
              <a:t>r</a:t>
            </a:r>
            <a:r>
              <a:rPr sz="2780" dirty="0">
                <a:latin typeface="Calibri"/>
                <a:cs typeface="Calibri"/>
              </a:rPr>
              <a:t>aining.</a:t>
            </a:r>
            <a:endParaRPr sz="2780">
              <a:latin typeface="Calibri"/>
              <a:cs typeface="Calibri"/>
            </a:endParaRPr>
          </a:p>
          <a:p>
            <a:pPr marL="11206" marR="318808">
              <a:lnSpc>
                <a:spcPts val="3344"/>
              </a:lnSpc>
              <a:spcBef>
                <a:spcPts val="736"/>
              </a:spcBef>
            </a:pPr>
            <a:r>
              <a:rPr sz="2780" dirty="0">
                <a:latin typeface="Calibri"/>
                <a:cs typeface="Calibri"/>
              </a:rPr>
              <a:t>Can be used </a:t>
            </a:r>
            <a:r>
              <a:rPr sz="2780" spc="-26" dirty="0">
                <a:latin typeface="Calibri"/>
                <a:cs typeface="Calibri"/>
              </a:rPr>
              <a:t>t</a:t>
            </a:r>
            <a:r>
              <a:rPr sz="2780" dirty="0">
                <a:latin typeface="Calibri"/>
                <a:cs typeface="Calibri"/>
              </a:rPr>
              <a:t>o clu</a:t>
            </a:r>
            <a:r>
              <a:rPr sz="2780" spc="-30" dirty="0">
                <a:latin typeface="Calibri"/>
                <a:cs typeface="Calibri"/>
              </a:rPr>
              <a:t>s</a:t>
            </a:r>
            <a:r>
              <a:rPr sz="2780" spc="-26" dirty="0">
                <a:latin typeface="Calibri"/>
                <a:cs typeface="Calibri"/>
              </a:rPr>
              <a:t>t</a:t>
            </a:r>
            <a:r>
              <a:rPr sz="2780" dirty="0">
                <a:latin typeface="Calibri"/>
                <a:cs typeface="Calibri"/>
              </a:rPr>
              <a:t>er the input d</a:t>
            </a:r>
            <a:r>
              <a:rPr sz="2780" spc="-22" dirty="0">
                <a:latin typeface="Calibri"/>
                <a:cs typeface="Calibri"/>
              </a:rPr>
              <a:t>a</a:t>
            </a:r>
            <a:r>
              <a:rPr sz="2780" spc="-30" dirty="0">
                <a:latin typeface="Calibri"/>
                <a:cs typeface="Calibri"/>
              </a:rPr>
              <a:t>t</a:t>
            </a:r>
            <a:r>
              <a:rPr sz="2780" dirty="0">
                <a:latin typeface="Calibri"/>
                <a:cs typeface="Calibri"/>
              </a:rPr>
              <a:t>a in classes on the basis of </a:t>
            </a:r>
            <a:r>
              <a:rPr sz="2780">
                <a:latin typeface="Calibri"/>
                <a:cs typeface="Calibri"/>
              </a:rPr>
              <a:t>their </a:t>
            </a:r>
            <a:r>
              <a:rPr sz="2780" spc="-26">
                <a:latin typeface="Calibri"/>
                <a:cs typeface="Calibri"/>
              </a:rPr>
              <a:t>s</a:t>
            </a:r>
            <a:r>
              <a:rPr sz="2780" spc="-30">
                <a:latin typeface="Calibri"/>
                <a:cs typeface="Calibri"/>
              </a:rPr>
              <a:t>t</a:t>
            </a:r>
            <a:r>
              <a:rPr sz="2780">
                <a:latin typeface="Calibri"/>
                <a:cs typeface="Calibri"/>
              </a:rPr>
              <a:t>a</a:t>
            </a:r>
            <a:r>
              <a:rPr lang="en-US" sz="2780" dirty="0">
                <a:latin typeface="Calibri"/>
                <a:cs typeface="Calibri"/>
              </a:rPr>
              <a:t>ti</a:t>
            </a:r>
            <a:r>
              <a:rPr sz="2780">
                <a:latin typeface="Calibri"/>
                <a:cs typeface="Calibri"/>
              </a:rPr>
              <a:t>s</a:t>
            </a:r>
            <a:r>
              <a:rPr lang="en-US" sz="2780" dirty="0">
                <a:latin typeface="Calibri"/>
                <a:cs typeface="Calibri"/>
              </a:rPr>
              <a:t>ti</a:t>
            </a:r>
            <a:r>
              <a:rPr sz="2780" spc="-22">
                <a:latin typeface="Calibri"/>
                <a:cs typeface="Calibri"/>
              </a:rPr>
              <a:t>c</a:t>
            </a:r>
            <a:r>
              <a:rPr sz="2780">
                <a:latin typeface="Calibri"/>
                <a:cs typeface="Calibri"/>
              </a:rPr>
              <a:t>al</a:t>
            </a:r>
            <a:r>
              <a:rPr sz="2780" spc="555">
                <a:latin typeface="Calibri"/>
                <a:cs typeface="Calibri"/>
              </a:rPr>
              <a:t> </a:t>
            </a:r>
            <a:r>
              <a:rPr sz="2780">
                <a:latin typeface="Calibri"/>
                <a:cs typeface="Calibri"/>
              </a:rPr>
              <a:t>p</a:t>
            </a:r>
            <a:r>
              <a:rPr sz="2780" spc="-44">
                <a:latin typeface="Calibri"/>
                <a:cs typeface="Calibri"/>
              </a:rPr>
              <a:t>r</a:t>
            </a:r>
            <a:r>
              <a:rPr sz="2780">
                <a:latin typeface="Calibri"/>
                <a:cs typeface="Calibri"/>
              </a:rPr>
              <a:t>oper</a:t>
            </a:r>
            <a:r>
              <a:rPr lang="en-US" sz="2780" dirty="0">
                <a:latin typeface="Calibri"/>
                <a:cs typeface="Calibri"/>
              </a:rPr>
              <a:t>ti</a:t>
            </a:r>
            <a:r>
              <a:rPr sz="2780">
                <a:latin typeface="Calibri"/>
                <a:cs typeface="Calibri"/>
              </a:rPr>
              <a:t>es</a:t>
            </a:r>
            <a:r>
              <a:rPr sz="2780" spc="271">
                <a:latin typeface="Calibri"/>
                <a:cs typeface="Calibri"/>
              </a:rPr>
              <a:t> </a:t>
            </a:r>
            <a:r>
              <a:rPr sz="2780" dirty="0">
                <a:latin typeface="Calibri"/>
                <a:cs typeface="Calibri"/>
              </a:rPr>
              <a:t>on</a:t>
            </a:r>
            <a:r>
              <a:rPr sz="2780" spc="-4" dirty="0">
                <a:latin typeface="Calibri"/>
                <a:cs typeface="Calibri"/>
              </a:rPr>
              <a:t>l</a:t>
            </a:r>
            <a:r>
              <a:rPr sz="2780" spc="-180" dirty="0">
                <a:latin typeface="Calibri"/>
                <a:cs typeface="Calibri"/>
              </a:rPr>
              <a:t>y</a:t>
            </a:r>
            <a:r>
              <a:rPr sz="2780" dirty="0">
                <a:latin typeface="Calibri"/>
                <a:cs typeface="Calibri"/>
              </a:rPr>
              <a:t>.</a:t>
            </a:r>
            <a:endParaRPr sz="2780">
              <a:latin typeface="Calibri"/>
              <a:cs typeface="Calibri"/>
            </a:endParaRPr>
          </a:p>
          <a:p>
            <a:pPr marL="11206" marR="53430">
              <a:lnSpc>
                <a:spcPct val="101725"/>
              </a:lnSpc>
              <a:spcBef>
                <a:spcPts val="504"/>
              </a:spcBef>
            </a:pPr>
            <a:r>
              <a:rPr sz="2780" dirty="0">
                <a:latin typeface="Calibri"/>
                <a:cs typeface="Calibri"/>
              </a:rPr>
              <a:t>Clu</a:t>
            </a:r>
            <a:r>
              <a:rPr sz="2780" spc="-30" dirty="0">
                <a:latin typeface="Calibri"/>
                <a:cs typeface="Calibri"/>
              </a:rPr>
              <a:t>s</a:t>
            </a:r>
            <a:r>
              <a:rPr sz="2780" spc="-26" dirty="0">
                <a:latin typeface="Calibri"/>
                <a:cs typeface="Calibri"/>
              </a:rPr>
              <a:t>t</a:t>
            </a:r>
            <a:r>
              <a:rPr sz="2780" dirty="0">
                <a:latin typeface="Calibri"/>
                <a:cs typeface="Calibri"/>
              </a:rPr>
              <a:t>er signiﬁ</a:t>
            </a:r>
            <a:r>
              <a:rPr sz="2780" spc="-22" dirty="0">
                <a:latin typeface="Calibri"/>
                <a:cs typeface="Calibri"/>
              </a:rPr>
              <a:t>c</a:t>
            </a:r>
            <a:r>
              <a:rPr sz="2780" dirty="0">
                <a:latin typeface="Calibri"/>
                <a:cs typeface="Calibri"/>
              </a:rPr>
              <a:t>ance and labeling.</a:t>
            </a:r>
            <a:endParaRPr sz="2780">
              <a:latin typeface="Calibri"/>
              <a:cs typeface="Calibri"/>
            </a:endParaRPr>
          </a:p>
          <a:p>
            <a:pPr marL="11206">
              <a:lnSpc>
                <a:spcPct val="101114"/>
              </a:lnSpc>
              <a:spcBef>
                <a:spcPts val="637"/>
              </a:spcBef>
            </a:pPr>
            <a:r>
              <a:rPr sz="2780" dirty="0">
                <a:latin typeface="Calibri"/>
                <a:cs typeface="Calibri"/>
              </a:rPr>
              <a:t>The labeling </a:t>
            </a:r>
            <a:r>
              <a:rPr sz="2780" spc="-17" dirty="0">
                <a:latin typeface="Calibri"/>
                <a:cs typeface="Calibri"/>
              </a:rPr>
              <a:t>c</a:t>
            </a:r>
            <a:r>
              <a:rPr sz="2780" dirty="0">
                <a:latin typeface="Calibri"/>
                <a:cs typeface="Calibri"/>
              </a:rPr>
              <a:t>an be </a:t>
            </a:r>
            <a:r>
              <a:rPr sz="2780" spc="-17" dirty="0">
                <a:latin typeface="Calibri"/>
                <a:cs typeface="Calibri"/>
              </a:rPr>
              <a:t>c</a:t>
            </a:r>
            <a:r>
              <a:rPr sz="2780" dirty="0">
                <a:latin typeface="Calibri"/>
                <a:cs typeface="Calibri"/>
              </a:rPr>
              <a:t>arried out </a:t>
            </a:r>
            <a:r>
              <a:rPr sz="2780" spc="-8" dirty="0">
                <a:latin typeface="Calibri"/>
                <a:cs typeface="Calibri"/>
              </a:rPr>
              <a:t>e</a:t>
            </a:r>
            <a:r>
              <a:rPr sz="2780" spc="-22" dirty="0">
                <a:latin typeface="Calibri"/>
                <a:cs typeface="Calibri"/>
              </a:rPr>
              <a:t>v</a:t>
            </a:r>
            <a:r>
              <a:rPr sz="2780" dirty="0">
                <a:latin typeface="Calibri"/>
                <a:cs typeface="Calibri"/>
              </a:rPr>
              <a:t>en if the labels a</a:t>
            </a:r>
            <a:r>
              <a:rPr sz="2780" spc="-34" dirty="0">
                <a:latin typeface="Calibri"/>
                <a:cs typeface="Calibri"/>
              </a:rPr>
              <a:t>r</a:t>
            </a:r>
            <a:r>
              <a:rPr sz="2780" dirty="0">
                <a:latin typeface="Calibri"/>
                <a:cs typeface="Calibri"/>
              </a:rPr>
              <a:t>e only </a:t>
            </a:r>
            <a:r>
              <a:rPr sz="2780" spc="-44" dirty="0">
                <a:latin typeface="Calibri"/>
                <a:cs typeface="Calibri"/>
              </a:rPr>
              <a:t>a</a:t>
            </a:r>
            <a:r>
              <a:rPr sz="2780" spc="-39" dirty="0">
                <a:latin typeface="Calibri"/>
                <a:cs typeface="Calibri"/>
              </a:rPr>
              <a:t>v</a:t>
            </a:r>
            <a:r>
              <a:rPr sz="2780" dirty="0">
                <a:latin typeface="Calibri"/>
                <a:cs typeface="Calibri"/>
              </a:rPr>
              <a:t>ailable </a:t>
            </a:r>
            <a:r>
              <a:rPr sz="2780" spc="-56" dirty="0">
                <a:latin typeface="Calibri"/>
                <a:cs typeface="Calibri"/>
              </a:rPr>
              <a:t>f</a:t>
            </a:r>
            <a:r>
              <a:rPr sz="2780" dirty="0">
                <a:latin typeface="Calibri"/>
                <a:cs typeface="Calibri"/>
              </a:rPr>
              <a:t>or a small number of </a:t>
            </a:r>
            <a:r>
              <a:rPr sz="2780">
                <a:latin typeface="Calibri"/>
                <a:cs typeface="Calibri"/>
              </a:rPr>
              <a:t>objects </a:t>
            </a:r>
            <a:r>
              <a:rPr sz="2780" spc="-34">
                <a:latin typeface="Calibri"/>
                <a:cs typeface="Calibri"/>
              </a:rPr>
              <a:t>r</a:t>
            </a:r>
            <a:r>
              <a:rPr sz="2780">
                <a:latin typeface="Calibri"/>
                <a:cs typeface="Calibri"/>
              </a:rPr>
              <a:t>ep</a:t>
            </a:r>
            <a:r>
              <a:rPr sz="2780" spc="-34">
                <a:latin typeface="Calibri"/>
                <a:cs typeface="Calibri"/>
              </a:rPr>
              <a:t>r</a:t>
            </a:r>
            <a:r>
              <a:rPr sz="2780">
                <a:latin typeface="Calibri"/>
                <a:cs typeface="Calibri"/>
              </a:rPr>
              <a:t>ese</a:t>
            </a:r>
            <a:r>
              <a:rPr sz="2780" spc="-22">
                <a:latin typeface="Calibri"/>
                <a:cs typeface="Calibri"/>
              </a:rPr>
              <a:t>n</a:t>
            </a:r>
            <a:r>
              <a:rPr sz="2780" spc="-30">
                <a:latin typeface="Calibri"/>
                <a:cs typeface="Calibri"/>
              </a:rPr>
              <a:t>t</a:t>
            </a:r>
            <a:r>
              <a:rPr sz="2780">
                <a:latin typeface="Calibri"/>
                <a:cs typeface="Calibri"/>
              </a:rPr>
              <a:t>a</a:t>
            </a:r>
            <a:r>
              <a:rPr lang="en-US" sz="2780" dirty="0">
                <a:latin typeface="Calibri"/>
                <a:cs typeface="Calibri"/>
              </a:rPr>
              <a:t>ti</a:t>
            </a:r>
            <a:r>
              <a:rPr sz="2780" spc="-26">
                <a:latin typeface="Calibri"/>
                <a:cs typeface="Calibri"/>
              </a:rPr>
              <a:t>v</a:t>
            </a:r>
            <a:r>
              <a:rPr sz="2780">
                <a:latin typeface="Calibri"/>
                <a:cs typeface="Calibri"/>
              </a:rPr>
              <a:t>e</a:t>
            </a:r>
            <a:r>
              <a:rPr sz="2780" spc="271">
                <a:latin typeface="Calibri"/>
                <a:cs typeface="Calibri"/>
              </a:rPr>
              <a:t> </a:t>
            </a:r>
            <a:r>
              <a:rPr sz="2780" dirty="0">
                <a:latin typeface="Calibri"/>
                <a:cs typeface="Calibri"/>
              </a:rPr>
              <a:t>of the desi</a:t>
            </a:r>
            <a:r>
              <a:rPr sz="2780" spc="-34" dirty="0">
                <a:latin typeface="Calibri"/>
                <a:cs typeface="Calibri"/>
              </a:rPr>
              <a:t>r</a:t>
            </a:r>
            <a:r>
              <a:rPr sz="2780" dirty="0">
                <a:latin typeface="Calibri"/>
                <a:cs typeface="Calibri"/>
              </a:rPr>
              <a:t>ed classes.</a:t>
            </a:r>
            <a:endParaRPr sz="2780">
              <a:latin typeface="Calibri"/>
              <a:cs typeface="Calibri"/>
            </a:endParaRPr>
          </a:p>
        </p:txBody>
      </p:sp>
      <p:sp>
        <p:nvSpPr>
          <p:cNvPr id="3" name="object 3"/>
          <p:cNvSpPr txBox="1"/>
          <p:nvPr/>
        </p:nvSpPr>
        <p:spPr>
          <a:xfrm>
            <a:off x="650486" y="1668826"/>
            <a:ext cx="210990" cy="377088"/>
          </a:xfrm>
          <a:prstGeom prst="rect">
            <a:avLst/>
          </a:prstGeom>
        </p:spPr>
        <p:txBody>
          <a:bodyPr wrap="square" lIns="0" tIns="0" rIns="0" bIns="0" rtlCol="0">
            <a:noAutofit/>
          </a:bodyPr>
          <a:lstStyle/>
          <a:p>
            <a:pPr marL="11206">
              <a:lnSpc>
                <a:spcPts val="2938"/>
              </a:lnSpc>
              <a:spcBef>
                <a:spcPts val="146"/>
              </a:spcBef>
            </a:pPr>
            <a:r>
              <a:rPr sz="2780" dirty="0">
                <a:latin typeface="Arial"/>
                <a:cs typeface="Arial"/>
              </a:rPr>
              <a:t>•</a:t>
            </a:r>
            <a:endParaRPr sz="2780">
              <a:latin typeface="Arial"/>
              <a:cs typeface="Arial"/>
            </a:endParaRPr>
          </a:p>
        </p:txBody>
      </p:sp>
      <p:sp>
        <p:nvSpPr>
          <p:cNvPr id="4" name="object 4"/>
          <p:cNvSpPr txBox="1"/>
          <p:nvPr/>
        </p:nvSpPr>
        <p:spPr>
          <a:xfrm>
            <a:off x="650486" y="2607387"/>
            <a:ext cx="210990" cy="377088"/>
          </a:xfrm>
          <a:prstGeom prst="rect">
            <a:avLst/>
          </a:prstGeom>
        </p:spPr>
        <p:txBody>
          <a:bodyPr wrap="square" lIns="0" tIns="0" rIns="0" bIns="0" rtlCol="0">
            <a:noAutofit/>
          </a:bodyPr>
          <a:lstStyle/>
          <a:p>
            <a:pPr marL="11206">
              <a:lnSpc>
                <a:spcPts val="2938"/>
              </a:lnSpc>
              <a:spcBef>
                <a:spcPts val="146"/>
              </a:spcBef>
            </a:pPr>
            <a:r>
              <a:rPr sz="2780" dirty="0">
                <a:latin typeface="Arial"/>
                <a:cs typeface="Arial"/>
              </a:rPr>
              <a:t>•</a:t>
            </a:r>
            <a:endParaRPr sz="2780">
              <a:latin typeface="Arial"/>
              <a:cs typeface="Arial"/>
            </a:endParaRPr>
          </a:p>
        </p:txBody>
      </p:sp>
      <p:sp>
        <p:nvSpPr>
          <p:cNvPr id="5" name="object 5"/>
          <p:cNvSpPr txBox="1"/>
          <p:nvPr/>
        </p:nvSpPr>
        <p:spPr>
          <a:xfrm>
            <a:off x="650486" y="3538413"/>
            <a:ext cx="210990" cy="886935"/>
          </a:xfrm>
          <a:prstGeom prst="rect">
            <a:avLst/>
          </a:prstGeom>
        </p:spPr>
        <p:txBody>
          <a:bodyPr wrap="square" lIns="0" tIns="0" rIns="0" bIns="0" rtlCol="0">
            <a:noAutofit/>
          </a:bodyPr>
          <a:lstStyle/>
          <a:p>
            <a:pPr marL="11206">
              <a:lnSpc>
                <a:spcPts val="2938"/>
              </a:lnSpc>
              <a:spcBef>
                <a:spcPts val="146"/>
              </a:spcBef>
            </a:pPr>
            <a:r>
              <a:rPr sz="2780" dirty="0">
                <a:latin typeface="Arial"/>
                <a:cs typeface="Arial"/>
              </a:rPr>
              <a:t>•</a:t>
            </a:r>
            <a:endParaRPr sz="2780">
              <a:latin typeface="Arial"/>
              <a:cs typeface="Arial"/>
            </a:endParaRPr>
          </a:p>
          <a:p>
            <a:pPr marL="11206">
              <a:lnSpc>
                <a:spcPct val="95825"/>
              </a:lnSpc>
              <a:spcBef>
                <a:spcPts val="672"/>
              </a:spcBef>
            </a:pPr>
            <a:r>
              <a:rPr sz="2780" dirty="0">
                <a:latin typeface="Arial"/>
                <a:cs typeface="Arial"/>
              </a:rPr>
              <a:t>•</a:t>
            </a:r>
            <a:endParaRPr sz="2780">
              <a:latin typeface="Arial"/>
              <a:cs typeface="Arial"/>
            </a:endParaRPr>
          </a:p>
        </p:txBody>
      </p:sp>
    </p:spTree>
    <p:extLst>
      <p:ext uri="{BB962C8B-B14F-4D97-AF65-F5344CB8AC3E}">
        <p14:creationId xmlns:p14="http://schemas.microsoft.com/office/powerpoint/2010/main" val="16800099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9745" y="740856"/>
            <a:ext cx="7589084" cy="5391244"/>
          </a:xfrm>
          <a:prstGeom prst="rect">
            <a:avLst/>
          </a:prstGeom>
        </p:spPr>
        <p:txBody>
          <a:bodyPr wrap="square" lIns="0" tIns="0" rIns="0" bIns="0" rtlCol="0">
            <a:noAutofit/>
          </a:bodyPr>
          <a:lstStyle/>
          <a:p>
            <a:pPr marL="1584657" marR="53430">
              <a:lnSpc>
                <a:spcPts val="4116"/>
              </a:lnSpc>
              <a:spcBef>
                <a:spcPts val="206"/>
              </a:spcBef>
            </a:pPr>
            <a:r>
              <a:rPr sz="5758" b="1" baseline="3138" dirty="0">
                <a:latin typeface="Calibri"/>
                <a:cs typeface="Calibri"/>
              </a:rPr>
              <a:t>Supe</a:t>
            </a:r>
            <a:r>
              <a:rPr sz="5758" b="1" spc="34" baseline="3138" dirty="0">
                <a:latin typeface="Calibri"/>
                <a:cs typeface="Calibri"/>
              </a:rPr>
              <a:t>r</a:t>
            </a:r>
            <a:r>
              <a:rPr sz="5758" b="1" baseline="3138" dirty="0">
                <a:latin typeface="Calibri"/>
                <a:cs typeface="Calibri"/>
              </a:rPr>
              <a:t>vised Learning</a:t>
            </a:r>
            <a:endParaRPr sz="3838" dirty="0">
              <a:latin typeface="Calibri"/>
              <a:cs typeface="Calibri"/>
            </a:endParaRPr>
          </a:p>
          <a:p>
            <a:pPr marL="11206" marR="1034602">
              <a:lnSpc>
                <a:spcPts val="3053"/>
              </a:lnSpc>
              <a:spcBef>
                <a:spcPts val="2323"/>
              </a:spcBef>
            </a:pPr>
            <a:r>
              <a:rPr sz="2780" spc="-171" dirty="0">
                <a:latin typeface="Calibri"/>
                <a:cs typeface="Calibri"/>
              </a:rPr>
              <a:t>T</a:t>
            </a:r>
            <a:r>
              <a:rPr sz="2780" spc="-52" dirty="0">
                <a:latin typeface="Calibri"/>
                <a:cs typeface="Calibri"/>
              </a:rPr>
              <a:t>r</a:t>
            </a:r>
            <a:r>
              <a:rPr sz="2780" dirty="0">
                <a:latin typeface="Calibri"/>
                <a:cs typeface="Calibri"/>
              </a:rPr>
              <a:t>aining d</a:t>
            </a:r>
            <a:r>
              <a:rPr sz="2780" spc="-22" dirty="0">
                <a:latin typeface="Calibri"/>
                <a:cs typeface="Calibri"/>
              </a:rPr>
              <a:t>a</a:t>
            </a:r>
            <a:r>
              <a:rPr sz="2780" spc="-30" dirty="0">
                <a:latin typeface="Calibri"/>
                <a:cs typeface="Calibri"/>
              </a:rPr>
              <a:t>t</a:t>
            </a:r>
            <a:r>
              <a:rPr sz="2780" dirty="0">
                <a:latin typeface="Calibri"/>
                <a:cs typeface="Calibri"/>
              </a:rPr>
              <a:t>a includes both the input and the desi</a:t>
            </a:r>
            <a:r>
              <a:rPr sz="2780" spc="-34" dirty="0">
                <a:latin typeface="Calibri"/>
                <a:cs typeface="Calibri"/>
              </a:rPr>
              <a:t>r</a:t>
            </a:r>
            <a:r>
              <a:rPr sz="2780" dirty="0">
                <a:latin typeface="Calibri"/>
                <a:cs typeface="Calibri"/>
              </a:rPr>
              <a:t>ed </a:t>
            </a:r>
            <a:r>
              <a:rPr sz="2780" spc="-34" dirty="0">
                <a:latin typeface="Calibri"/>
                <a:cs typeface="Calibri"/>
              </a:rPr>
              <a:t>r</a:t>
            </a:r>
            <a:r>
              <a:rPr sz="2780" dirty="0">
                <a:latin typeface="Calibri"/>
                <a:cs typeface="Calibri"/>
              </a:rPr>
              <a:t>esults.</a:t>
            </a:r>
          </a:p>
          <a:p>
            <a:pPr marL="11206" marR="186295">
              <a:lnSpc>
                <a:spcPts val="3393"/>
              </a:lnSpc>
              <a:spcBef>
                <a:spcPts val="514"/>
              </a:spcBef>
            </a:pPr>
            <a:r>
              <a:rPr sz="2780" spc="-34" dirty="0">
                <a:latin typeface="Calibri"/>
                <a:cs typeface="Calibri"/>
              </a:rPr>
              <a:t>F</a:t>
            </a:r>
            <a:r>
              <a:rPr sz="2780" dirty="0">
                <a:latin typeface="Calibri"/>
                <a:cs typeface="Calibri"/>
              </a:rPr>
              <a:t>or some </a:t>
            </a:r>
            <a:r>
              <a:rPr sz="2780" spc="-39" dirty="0">
                <a:latin typeface="Calibri"/>
                <a:cs typeface="Calibri"/>
              </a:rPr>
              <a:t>e</a:t>
            </a:r>
            <a:r>
              <a:rPr sz="2780" spc="-48" dirty="0">
                <a:latin typeface="Calibri"/>
                <a:cs typeface="Calibri"/>
              </a:rPr>
              <a:t>x</a:t>
            </a:r>
            <a:r>
              <a:rPr sz="2780" dirty="0">
                <a:latin typeface="Calibri"/>
                <a:cs typeface="Calibri"/>
              </a:rPr>
              <a:t>amples the </a:t>
            </a:r>
            <a:r>
              <a:rPr sz="2780" spc="-17" dirty="0">
                <a:latin typeface="Calibri"/>
                <a:cs typeface="Calibri"/>
              </a:rPr>
              <a:t>c</a:t>
            </a:r>
            <a:r>
              <a:rPr sz="2780" dirty="0">
                <a:latin typeface="Calibri"/>
                <a:cs typeface="Calibri"/>
              </a:rPr>
              <a:t>or</a:t>
            </a:r>
            <a:r>
              <a:rPr sz="2780" spc="-34" dirty="0">
                <a:latin typeface="Calibri"/>
                <a:cs typeface="Calibri"/>
              </a:rPr>
              <a:t>r</a:t>
            </a:r>
            <a:r>
              <a:rPr sz="2780" dirty="0">
                <a:latin typeface="Calibri"/>
                <a:cs typeface="Calibri"/>
              </a:rPr>
              <a:t>ect </a:t>
            </a:r>
            <a:r>
              <a:rPr sz="2780" spc="-34" dirty="0">
                <a:latin typeface="Calibri"/>
                <a:cs typeface="Calibri"/>
              </a:rPr>
              <a:t>r</a:t>
            </a:r>
            <a:r>
              <a:rPr sz="2780" dirty="0">
                <a:latin typeface="Calibri"/>
                <a:cs typeface="Calibri"/>
              </a:rPr>
              <a:t>esults (</a:t>
            </a:r>
            <a:r>
              <a:rPr sz="2780" spc="-30" dirty="0">
                <a:latin typeface="Calibri"/>
                <a:cs typeface="Calibri"/>
              </a:rPr>
              <a:t>t</a:t>
            </a:r>
            <a:r>
              <a:rPr sz="2780" dirty="0">
                <a:latin typeface="Calibri"/>
                <a:cs typeface="Calibri"/>
              </a:rPr>
              <a:t>a</a:t>
            </a:r>
            <a:r>
              <a:rPr sz="2780" spc="-34" dirty="0">
                <a:latin typeface="Calibri"/>
                <a:cs typeface="Calibri"/>
              </a:rPr>
              <a:t>r</a:t>
            </a:r>
            <a:r>
              <a:rPr sz="2780" spc="-22" dirty="0">
                <a:latin typeface="Calibri"/>
                <a:cs typeface="Calibri"/>
              </a:rPr>
              <a:t>g</a:t>
            </a:r>
            <a:r>
              <a:rPr sz="2780" spc="-12" dirty="0">
                <a:latin typeface="Calibri"/>
                <a:cs typeface="Calibri"/>
              </a:rPr>
              <a:t>e</a:t>
            </a:r>
            <a:r>
              <a:rPr sz="2780" dirty="0">
                <a:latin typeface="Calibri"/>
                <a:cs typeface="Calibri"/>
              </a:rPr>
              <a:t>ts) a</a:t>
            </a:r>
            <a:r>
              <a:rPr sz="2780" spc="-34" dirty="0">
                <a:latin typeface="Calibri"/>
                <a:cs typeface="Calibri"/>
              </a:rPr>
              <a:t>r</a:t>
            </a:r>
            <a:r>
              <a:rPr sz="2780" dirty="0">
                <a:latin typeface="Calibri"/>
                <a:cs typeface="Calibri"/>
              </a:rPr>
              <a:t>e </a:t>
            </a:r>
          </a:p>
          <a:p>
            <a:pPr marL="11206" marR="186295">
              <a:lnSpc>
                <a:spcPts val="3026"/>
              </a:lnSpc>
            </a:pPr>
            <a:r>
              <a:rPr sz="2780" dirty="0">
                <a:latin typeface="Calibri"/>
                <a:cs typeface="Calibri"/>
              </a:rPr>
              <a:t>kn</a:t>
            </a:r>
            <a:r>
              <a:rPr sz="2780" spc="-8" dirty="0">
                <a:latin typeface="Calibri"/>
                <a:cs typeface="Calibri"/>
              </a:rPr>
              <a:t>o</a:t>
            </a:r>
            <a:r>
              <a:rPr sz="2780" dirty="0">
                <a:latin typeface="Calibri"/>
                <a:cs typeface="Calibri"/>
              </a:rPr>
              <a:t>wn and a</a:t>
            </a:r>
            <a:r>
              <a:rPr sz="2780" spc="-34" dirty="0">
                <a:latin typeface="Calibri"/>
                <a:cs typeface="Calibri"/>
              </a:rPr>
              <a:t>r</a:t>
            </a:r>
            <a:r>
              <a:rPr sz="2780" dirty="0">
                <a:latin typeface="Calibri"/>
                <a:cs typeface="Calibri"/>
              </a:rPr>
              <a:t>e gi</a:t>
            </a:r>
            <a:r>
              <a:rPr sz="2780" spc="-26" dirty="0">
                <a:latin typeface="Calibri"/>
                <a:cs typeface="Calibri"/>
              </a:rPr>
              <a:t>v</a:t>
            </a:r>
            <a:r>
              <a:rPr sz="2780" dirty="0">
                <a:latin typeface="Calibri"/>
                <a:cs typeface="Calibri"/>
              </a:rPr>
              <a:t>en in input </a:t>
            </a:r>
            <a:r>
              <a:rPr sz="2780" spc="-26" dirty="0">
                <a:latin typeface="Calibri"/>
                <a:cs typeface="Calibri"/>
              </a:rPr>
              <a:t>t</a:t>
            </a:r>
            <a:r>
              <a:rPr sz="2780" dirty="0">
                <a:latin typeface="Calibri"/>
                <a:cs typeface="Calibri"/>
              </a:rPr>
              <a:t>o the model during </a:t>
            </a:r>
          </a:p>
          <a:p>
            <a:pPr marL="11206" marR="186295">
              <a:lnSpc>
                <a:spcPts val="3026"/>
              </a:lnSpc>
            </a:pPr>
            <a:r>
              <a:rPr sz="2780" dirty="0">
                <a:latin typeface="Calibri"/>
                <a:cs typeface="Calibri"/>
              </a:rPr>
              <a:t>the learning p</a:t>
            </a:r>
            <a:r>
              <a:rPr sz="2780" spc="-44" dirty="0">
                <a:latin typeface="Calibri"/>
                <a:cs typeface="Calibri"/>
              </a:rPr>
              <a:t>r</a:t>
            </a:r>
            <a:r>
              <a:rPr sz="2780" dirty="0">
                <a:latin typeface="Calibri"/>
                <a:cs typeface="Calibri"/>
              </a:rPr>
              <a:t>ocess.</a:t>
            </a:r>
          </a:p>
          <a:p>
            <a:pPr marL="11206">
              <a:lnSpc>
                <a:spcPts val="3080"/>
              </a:lnSpc>
              <a:spcBef>
                <a:spcPts val="296"/>
              </a:spcBef>
            </a:pPr>
            <a:r>
              <a:rPr sz="2780" dirty="0">
                <a:latin typeface="Calibri"/>
                <a:cs typeface="Calibri"/>
              </a:rPr>
              <a:t>The </a:t>
            </a:r>
            <a:r>
              <a:rPr sz="2780" spc="-17" dirty="0">
                <a:latin typeface="Calibri"/>
                <a:cs typeface="Calibri"/>
              </a:rPr>
              <a:t>c</a:t>
            </a:r>
            <a:r>
              <a:rPr sz="2780" dirty="0">
                <a:latin typeface="Calibri"/>
                <a:cs typeface="Calibri"/>
              </a:rPr>
              <a:t>on</a:t>
            </a:r>
            <a:r>
              <a:rPr sz="2780" spc="-30" dirty="0">
                <a:latin typeface="Calibri"/>
                <a:cs typeface="Calibri"/>
              </a:rPr>
              <a:t>s</a:t>
            </a:r>
            <a:r>
              <a:rPr sz="2780" dirty="0">
                <a:latin typeface="Calibri"/>
                <a:cs typeface="Calibri"/>
              </a:rPr>
              <a:t>truc</a:t>
            </a:r>
            <a:r>
              <a:rPr lang="en-US" sz="2780" dirty="0">
                <a:latin typeface="Calibri"/>
                <a:cs typeface="Calibri"/>
              </a:rPr>
              <a:t>ti</a:t>
            </a:r>
            <a:r>
              <a:rPr sz="2780" dirty="0">
                <a:latin typeface="Calibri"/>
                <a:cs typeface="Calibri"/>
              </a:rPr>
              <a:t>on</a:t>
            </a:r>
            <a:r>
              <a:rPr sz="2780" spc="262" dirty="0">
                <a:latin typeface="Calibri"/>
                <a:cs typeface="Calibri"/>
              </a:rPr>
              <a:t> </a:t>
            </a:r>
            <a:r>
              <a:rPr sz="2780" dirty="0">
                <a:latin typeface="Calibri"/>
                <a:cs typeface="Calibri"/>
              </a:rPr>
              <a:t>of a p</a:t>
            </a:r>
            <a:r>
              <a:rPr sz="2780" spc="-44" dirty="0">
                <a:latin typeface="Calibri"/>
                <a:cs typeface="Calibri"/>
              </a:rPr>
              <a:t>r</a:t>
            </a:r>
            <a:r>
              <a:rPr sz="2780" dirty="0">
                <a:latin typeface="Calibri"/>
                <a:cs typeface="Calibri"/>
              </a:rPr>
              <a:t>oper t</a:t>
            </a:r>
            <a:r>
              <a:rPr sz="2780" spc="-52" dirty="0">
                <a:latin typeface="Calibri"/>
                <a:cs typeface="Calibri"/>
              </a:rPr>
              <a:t>r</a:t>
            </a:r>
            <a:r>
              <a:rPr sz="2780" dirty="0">
                <a:latin typeface="Calibri"/>
                <a:cs typeface="Calibri"/>
              </a:rPr>
              <a:t>ainin</a:t>
            </a:r>
            <a:r>
              <a:rPr sz="2780" spc="26" dirty="0">
                <a:latin typeface="Calibri"/>
                <a:cs typeface="Calibri"/>
              </a:rPr>
              <a:t>g</a:t>
            </a:r>
            <a:r>
              <a:rPr sz="2780" dirty="0">
                <a:latin typeface="Calibri"/>
                <a:cs typeface="Calibri"/>
              </a:rPr>
              <a:t>, </a:t>
            </a:r>
            <a:r>
              <a:rPr sz="2780" spc="-39" dirty="0">
                <a:latin typeface="Calibri"/>
                <a:cs typeface="Calibri"/>
              </a:rPr>
              <a:t>v</a:t>
            </a:r>
            <a:r>
              <a:rPr sz="2780" dirty="0">
                <a:latin typeface="Calibri"/>
                <a:cs typeface="Calibri"/>
              </a:rPr>
              <a:t>alida</a:t>
            </a:r>
            <a:r>
              <a:rPr lang="en-US" sz="2780" dirty="0">
                <a:latin typeface="Calibri"/>
                <a:cs typeface="Calibri"/>
              </a:rPr>
              <a:t>ti</a:t>
            </a:r>
            <a:r>
              <a:rPr sz="2780" dirty="0">
                <a:latin typeface="Calibri"/>
                <a:cs typeface="Calibri"/>
              </a:rPr>
              <a:t>on</a:t>
            </a:r>
            <a:r>
              <a:rPr sz="2780" spc="288" dirty="0">
                <a:latin typeface="Calibri"/>
                <a:cs typeface="Calibri"/>
              </a:rPr>
              <a:t> </a:t>
            </a:r>
            <a:r>
              <a:rPr sz="2780" dirty="0">
                <a:latin typeface="Calibri"/>
                <a:cs typeface="Calibri"/>
              </a:rPr>
              <a:t>and </a:t>
            </a:r>
            <a:r>
              <a:rPr sz="2780" spc="-26" dirty="0">
                <a:latin typeface="Calibri"/>
                <a:cs typeface="Calibri"/>
              </a:rPr>
              <a:t>t</a:t>
            </a:r>
            <a:r>
              <a:rPr sz="2780" dirty="0">
                <a:latin typeface="Calibri"/>
                <a:cs typeface="Calibri"/>
              </a:rPr>
              <a:t>e</a:t>
            </a:r>
            <a:r>
              <a:rPr sz="2780" spc="-26" dirty="0">
                <a:latin typeface="Calibri"/>
                <a:cs typeface="Calibri"/>
              </a:rPr>
              <a:t>s</a:t>
            </a:r>
            <a:r>
              <a:rPr sz="2780" dirty="0">
                <a:latin typeface="Calibri"/>
                <a:cs typeface="Calibri"/>
              </a:rPr>
              <a:t>t s</a:t>
            </a:r>
            <a:r>
              <a:rPr sz="2780" spc="-12" dirty="0">
                <a:latin typeface="Calibri"/>
                <a:cs typeface="Calibri"/>
              </a:rPr>
              <a:t>e</a:t>
            </a:r>
            <a:r>
              <a:rPr sz="2780" dirty="0">
                <a:latin typeface="Calibri"/>
                <a:cs typeface="Calibri"/>
              </a:rPr>
              <a:t>t is crucial.</a:t>
            </a:r>
          </a:p>
          <a:p>
            <a:pPr marL="11206" marR="887146">
              <a:lnSpc>
                <a:spcPts val="3393"/>
              </a:lnSpc>
              <a:spcBef>
                <a:spcPts val="221"/>
              </a:spcBef>
            </a:pPr>
            <a:r>
              <a:rPr sz="2780" dirty="0">
                <a:latin typeface="Calibri"/>
                <a:cs typeface="Calibri"/>
              </a:rPr>
              <a:t>These m</a:t>
            </a:r>
            <a:r>
              <a:rPr sz="2780" spc="-12" dirty="0">
                <a:latin typeface="Calibri"/>
                <a:cs typeface="Calibri"/>
              </a:rPr>
              <a:t>e</a:t>
            </a:r>
            <a:r>
              <a:rPr sz="2780" dirty="0">
                <a:latin typeface="Calibri"/>
                <a:cs typeface="Calibri"/>
              </a:rPr>
              <a:t>thods a</a:t>
            </a:r>
            <a:r>
              <a:rPr sz="2780" spc="-34" dirty="0">
                <a:latin typeface="Calibri"/>
                <a:cs typeface="Calibri"/>
              </a:rPr>
              <a:t>r</a:t>
            </a:r>
            <a:r>
              <a:rPr sz="2780" dirty="0">
                <a:latin typeface="Calibri"/>
                <a:cs typeface="Calibri"/>
              </a:rPr>
              <a:t>e usually </a:t>
            </a:r>
            <a:r>
              <a:rPr sz="2780" spc="-52" dirty="0">
                <a:latin typeface="Calibri"/>
                <a:cs typeface="Calibri"/>
              </a:rPr>
              <a:t>f</a:t>
            </a:r>
            <a:r>
              <a:rPr sz="2780" dirty="0">
                <a:latin typeface="Calibri"/>
                <a:cs typeface="Calibri"/>
              </a:rPr>
              <a:t>a</a:t>
            </a:r>
            <a:r>
              <a:rPr sz="2780" spc="-26" dirty="0">
                <a:latin typeface="Calibri"/>
                <a:cs typeface="Calibri"/>
              </a:rPr>
              <a:t>s</a:t>
            </a:r>
            <a:r>
              <a:rPr sz="2780" dirty="0">
                <a:latin typeface="Calibri"/>
                <a:cs typeface="Calibri"/>
              </a:rPr>
              <a:t>t and accu</a:t>
            </a:r>
            <a:r>
              <a:rPr sz="2780" spc="-52" dirty="0">
                <a:latin typeface="Calibri"/>
                <a:cs typeface="Calibri"/>
              </a:rPr>
              <a:t>r</a:t>
            </a:r>
            <a:r>
              <a:rPr sz="2780" spc="-22" dirty="0">
                <a:latin typeface="Calibri"/>
                <a:cs typeface="Calibri"/>
              </a:rPr>
              <a:t>a</a:t>
            </a:r>
            <a:r>
              <a:rPr sz="2780" spc="-26" dirty="0">
                <a:latin typeface="Calibri"/>
                <a:cs typeface="Calibri"/>
              </a:rPr>
              <a:t>t</a:t>
            </a:r>
            <a:r>
              <a:rPr sz="2780" dirty="0">
                <a:latin typeface="Calibri"/>
                <a:cs typeface="Calibri"/>
              </a:rPr>
              <a:t>e. </a:t>
            </a:r>
          </a:p>
          <a:p>
            <a:pPr marL="11206" marR="887146">
              <a:lnSpc>
                <a:spcPts val="3399"/>
              </a:lnSpc>
              <a:spcBef>
                <a:spcPts val="359"/>
              </a:spcBef>
            </a:pPr>
            <a:r>
              <a:rPr sz="2780" dirty="0">
                <a:latin typeface="Calibri"/>
                <a:cs typeface="Calibri"/>
              </a:rPr>
              <a:t>H</a:t>
            </a:r>
            <a:r>
              <a:rPr sz="2780" spc="-44" dirty="0">
                <a:latin typeface="Calibri"/>
                <a:cs typeface="Calibri"/>
              </a:rPr>
              <a:t>a</a:t>
            </a:r>
            <a:r>
              <a:rPr sz="2780" spc="-22" dirty="0">
                <a:latin typeface="Calibri"/>
                <a:cs typeface="Calibri"/>
              </a:rPr>
              <a:t>v</a:t>
            </a:r>
            <a:r>
              <a:rPr sz="2780" dirty="0">
                <a:latin typeface="Calibri"/>
                <a:cs typeface="Calibri"/>
              </a:rPr>
              <a:t>e </a:t>
            </a:r>
            <a:r>
              <a:rPr sz="2780" spc="-26" dirty="0">
                <a:latin typeface="Calibri"/>
                <a:cs typeface="Calibri"/>
              </a:rPr>
              <a:t>t</a:t>
            </a:r>
            <a:r>
              <a:rPr sz="2780" dirty="0">
                <a:latin typeface="Calibri"/>
                <a:cs typeface="Calibri"/>
              </a:rPr>
              <a:t>o be able to generalize: give the </a:t>
            </a:r>
            <a:r>
              <a:rPr sz="2780" spc="-17" dirty="0">
                <a:latin typeface="Calibri"/>
                <a:cs typeface="Calibri"/>
              </a:rPr>
              <a:t>c</a:t>
            </a:r>
            <a:r>
              <a:rPr sz="2780" dirty="0">
                <a:latin typeface="Calibri"/>
                <a:cs typeface="Calibri"/>
              </a:rPr>
              <a:t>or</a:t>
            </a:r>
            <a:r>
              <a:rPr sz="2780" spc="-34" dirty="0">
                <a:latin typeface="Calibri"/>
                <a:cs typeface="Calibri"/>
              </a:rPr>
              <a:t>r</a:t>
            </a:r>
            <a:r>
              <a:rPr sz="2780" dirty="0">
                <a:latin typeface="Calibri"/>
                <a:cs typeface="Calibri"/>
              </a:rPr>
              <a:t>ect</a:t>
            </a:r>
          </a:p>
          <a:p>
            <a:pPr marL="11206" marR="53430">
              <a:lnSpc>
                <a:spcPts val="2634"/>
              </a:lnSpc>
              <a:spcBef>
                <a:spcPts val="491"/>
              </a:spcBef>
            </a:pPr>
            <a:r>
              <a:rPr sz="4169" spc="-34" baseline="4334" dirty="0">
                <a:latin typeface="Calibri"/>
                <a:cs typeface="Calibri"/>
              </a:rPr>
              <a:t>r</a:t>
            </a:r>
            <a:r>
              <a:rPr sz="4169" baseline="4334" dirty="0">
                <a:latin typeface="Calibri"/>
                <a:cs typeface="Calibri"/>
              </a:rPr>
              <a:t>esults when n</a:t>
            </a:r>
            <a:r>
              <a:rPr sz="4169" spc="-8" baseline="4334" dirty="0">
                <a:latin typeface="Calibri"/>
                <a:cs typeface="Calibri"/>
              </a:rPr>
              <a:t>e</a:t>
            </a:r>
            <a:r>
              <a:rPr sz="4169" baseline="4334" dirty="0">
                <a:latin typeface="Calibri"/>
                <a:cs typeface="Calibri"/>
              </a:rPr>
              <a:t>w d</a:t>
            </a:r>
            <a:r>
              <a:rPr sz="4169" spc="-22" baseline="4334" dirty="0">
                <a:latin typeface="Calibri"/>
                <a:cs typeface="Calibri"/>
              </a:rPr>
              <a:t>a</a:t>
            </a:r>
            <a:r>
              <a:rPr sz="4169" spc="-30" baseline="4334" dirty="0">
                <a:latin typeface="Calibri"/>
                <a:cs typeface="Calibri"/>
              </a:rPr>
              <a:t>t</a:t>
            </a:r>
            <a:r>
              <a:rPr sz="4169" baseline="4334" dirty="0">
                <a:latin typeface="Calibri"/>
                <a:cs typeface="Calibri"/>
              </a:rPr>
              <a:t>a a</a:t>
            </a:r>
            <a:r>
              <a:rPr sz="4169" spc="-34" baseline="4334" dirty="0">
                <a:latin typeface="Calibri"/>
                <a:cs typeface="Calibri"/>
              </a:rPr>
              <a:t>r</a:t>
            </a:r>
            <a:r>
              <a:rPr sz="4169" baseline="4334" dirty="0">
                <a:latin typeface="Calibri"/>
                <a:cs typeface="Calibri"/>
              </a:rPr>
              <a:t>e gi</a:t>
            </a:r>
            <a:r>
              <a:rPr sz="4169" spc="-26" baseline="4334" dirty="0">
                <a:latin typeface="Calibri"/>
                <a:cs typeface="Calibri"/>
              </a:rPr>
              <a:t>v</a:t>
            </a:r>
            <a:r>
              <a:rPr sz="4169" baseline="4334" dirty="0">
                <a:latin typeface="Calibri"/>
                <a:cs typeface="Calibri"/>
              </a:rPr>
              <a:t>en in input without</a:t>
            </a:r>
            <a:endParaRPr sz="2780" dirty="0">
              <a:latin typeface="Calibri"/>
              <a:cs typeface="Calibri"/>
            </a:endParaRPr>
          </a:p>
          <a:p>
            <a:pPr marL="11206" marR="53430">
              <a:lnSpc>
                <a:spcPts val="2925"/>
              </a:lnSpc>
              <a:spcBef>
                <a:spcPts val="14"/>
              </a:spcBef>
            </a:pPr>
            <a:r>
              <a:rPr sz="4169" baseline="2600" dirty="0">
                <a:latin typeface="Calibri"/>
                <a:cs typeface="Calibri"/>
              </a:rPr>
              <a:t>kn</a:t>
            </a:r>
            <a:r>
              <a:rPr sz="4169" spc="-8" baseline="2600" dirty="0">
                <a:latin typeface="Calibri"/>
                <a:cs typeface="Calibri"/>
              </a:rPr>
              <a:t>o</a:t>
            </a:r>
            <a:r>
              <a:rPr sz="4169" baseline="2600" dirty="0">
                <a:latin typeface="Calibri"/>
                <a:cs typeface="Calibri"/>
              </a:rPr>
              <a:t>wing a priori the </a:t>
            </a:r>
            <a:r>
              <a:rPr sz="4169" spc="-30" baseline="2600" dirty="0">
                <a:latin typeface="Calibri"/>
                <a:cs typeface="Calibri"/>
              </a:rPr>
              <a:t>t</a:t>
            </a:r>
            <a:r>
              <a:rPr sz="4169" baseline="2600" dirty="0">
                <a:latin typeface="Calibri"/>
                <a:cs typeface="Calibri"/>
              </a:rPr>
              <a:t>a</a:t>
            </a:r>
            <a:r>
              <a:rPr sz="4169" spc="-34" baseline="2600" dirty="0">
                <a:latin typeface="Calibri"/>
                <a:cs typeface="Calibri"/>
              </a:rPr>
              <a:t>r</a:t>
            </a:r>
            <a:r>
              <a:rPr sz="4169" spc="-22" baseline="2600" dirty="0">
                <a:latin typeface="Calibri"/>
                <a:cs typeface="Calibri"/>
              </a:rPr>
              <a:t>g</a:t>
            </a:r>
            <a:r>
              <a:rPr sz="4169" spc="-12" baseline="2600" dirty="0">
                <a:latin typeface="Calibri"/>
                <a:cs typeface="Calibri"/>
              </a:rPr>
              <a:t>e</a:t>
            </a:r>
            <a:r>
              <a:rPr sz="4169" baseline="2600" dirty="0">
                <a:latin typeface="Calibri"/>
                <a:cs typeface="Calibri"/>
              </a:rPr>
              <a:t>t.</a:t>
            </a:r>
            <a:endParaRPr sz="2780" dirty="0">
              <a:latin typeface="Calibri"/>
              <a:cs typeface="Calibri"/>
            </a:endParaRPr>
          </a:p>
        </p:txBody>
      </p:sp>
      <p:sp>
        <p:nvSpPr>
          <p:cNvPr id="3" name="object 3"/>
          <p:cNvSpPr txBox="1"/>
          <p:nvPr/>
        </p:nvSpPr>
        <p:spPr>
          <a:xfrm>
            <a:off x="650486" y="1576814"/>
            <a:ext cx="210990" cy="377088"/>
          </a:xfrm>
          <a:prstGeom prst="rect">
            <a:avLst/>
          </a:prstGeom>
        </p:spPr>
        <p:txBody>
          <a:bodyPr wrap="square" lIns="0" tIns="0" rIns="0" bIns="0" rtlCol="0">
            <a:noAutofit/>
          </a:bodyPr>
          <a:lstStyle/>
          <a:p>
            <a:pPr marL="11206">
              <a:lnSpc>
                <a:spcPts val="2938"/>
              </a:lnSpc>
              <a:spcBef>
                <a:spcPts val="146"/>
              </a:spcBef>
            </a:pPr>
            <a:r>
              <a:rPr sz="2780" dirty="0">
                <a:latin typeface="Arial"/>
                <a:cs typeface="Arial"/>
              </a:rPr>
              <a:t>•</a:t>
            </a:r>
            <a:endParaRPr sz="2780">
              <a:latin typeface="Arial"/>
              <a:cs typeface="Arial"/>
            </a:endParaRPr>
          </a:p>
        </p:txBody>
      </p:sp>
      <p:sp>
        <p:nvSpPr>
          <p:cNvPr id="4" name="object 4"/>
          <p:cNvSpPr txBox="1"/>
          <p:nvPr/>
        </p:nvSpPr>
        <p:spPr>
          <a:xfrm>
            <a:off x="650486" y="2426706"/>
            <a:ext cx="210990" cy="377088"/>
          </a:xfrm>
          <a:prstGeom prst="rect">
            <a:avLst/>
          </a:prstGeom>
        </p:spPr>
        <p:txBody>
          <a:bodyPr wrap="square" lIns="0" tIns="0" rIns="0" bIns="0" rtlCol="0">
            <a:noAutofit/>
          </a:bodyPr>
          <a:lstStyle/>
          <a:p>
            <a:pPr marL="11206">
              <a:lnSpc>
                <a:spcPts val="2938"/>
              </a:lnSpc>
              <a:spcBef>
                <a:spcPts val="146"/>
              </a:spcBef>
            </a:pPr>
            <a:r>
              <a:rPr sz="2780" dirty="0">
                <a:latin typeface="Arial"/>
                <a:cs typeface="Arial"/>
              </a:rPr>
              <a:t>•</a:t>
            </a:r>
            <a:endParaRPr sz="2780">
              <a:latin typeface="Arial"/>
              <a:cs typeface="Arial"/>
            </a:endParaRPr>
          </a:p>
        </p:txBody>
      </p:sp>
      <p:sp>
        <p:nvSpPr>
          <p:cNvPr id="5" name="object 5"/>
          <p:cNvSpPr txBox="1"/>
          <p:nvPr/>
        </p:nvSpPr>
        <p:spPr>
          <a:xfrm>
            <a:off x="650486" y="3656990"/>
            <a:ext cx="210990" cy="377088"/>
          </a:xfrm>
          <a:prstGeom prst="rect">
            <a:avLst/>
          </a:prstGeom>
        </p:spPr>
        <p:txBody>
          <a:bodyPr wrap="square" lIns="0" tIns="0" rIns="0" bIns="0" rtlCol="0">
            <a:noAutofit/>
          </a:bodyPr>
          <a:lstStyle/>
          <a:p>
            <a:pPr marL="11206">
              <a:lnSpc>
                <a:spcPts val="2938"/>
              </a:lnSpc>
              <a:spcBef>
                <a:spcPts val="146"/>
              </a:spcBef>
            </a:pPr>
            <a:r>
              <a:rPr sz="2780" dirty="0">
                <a:latin typeface="Arial"/>
                <a:cs typeface="Arial"/>
              </a:rPr>
              <a:t>•</a:t>
            </a:r>
            <a:endParaRPr sz="2780">
              <a:latin typeface="Arial"/>
              <a:cs typeface="Arial"/>
            </a:endParaRPr>
          </a:p>
        </p:txBody>
      </p:sp>
      <p:sp>
        <p:nvSpPr>
          <p:cNvPr id="6" name="object 6"/>
          <p:cNvSpPr txBox="1"/>
          <p:nvPr/>
        </p:nvSpPr>
        <p:spPr>
          <a:xfrm>
            <a:off x="650486" y="4510430"/>
            <a:ext cx="210990" cy="853684"/>
          </a:xfrm>
          <a:prstGeom prst="rect">
            <a:avLst/>
          </a:prstGeom>
        </p:spPr>
        <p:txBody>
          <a:bodyPr wrap="square" lIns="0" tIns="0" rIns="0" bIns="0" rtlCol="0">
            <a:noAutofit/>
          </a:bodyPr>
          <a:lstStyle/>
          <a:p>
            <a:pPr marL="11206">
              <a:lnSpc>
                <a:spcPts val="2938"/>
              </a:lnSpc>
              <a:spcBef>
                <a:spcPts val="146"/>
              </a:spcBef>
            </a:pPr>
            <a:r>
              <a:rPr sz="2780" dirty="0">
                <a:latin typeface="Arial"/>
                <a:cs typeface="Arial"/>
              </a:rPr>
              <a:t>•</a:t>
            </a:r>
            <a:endParaRPr sz="2780">
              <a:latin typeface="Arial"/>
              <a:cs typeface="Arial"/>
            </a:endParaRPr>
          </a:p>
          <a:p>
            <a:pPr marL="11206">
              <a:lnSpc>
                <a:spcPct val="95825"/>
              </a:lnSpc>
              <a:spcBef>
                <a:spcPts val="409"/>
              </a:spcBef>
            </a:pPr>
            <a:r>
              <a:rPr sz="2780" dirty="0">
                <a:latin typeface="Arial"/>
                <a:cs typeface="Arial"/>
              </a:rPr>
              <a:t>•</a:t>
            </a:r>
            <a:endParaRPr sz="2780">
              <a:latin typeface="Arial"/>
              <a:cs typeface="Arial"/>
            </a:endParaRPr>
          </a:p>
        </p:txBody>
      </p:sp>
    </p:spTree>
    <p:extLst>
      <p:ext uri="{BB962C8B-B14F-4D97-AF65-F5344CB8AC3E}">
        <p14:creationId xmlns:p14="http://schemas.microsoft.com/office/powerpoint/2010/main" val="25084651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7FDF3DE-67C2-DF30-36D2-D67EA18CD956}"/>
              </a:ext>
            </a:extLst>
          </p:cNvPr>
          <p:cNvSpPr txBox="1"/>
          <p:nvPr/>
        </p:nvSpPr>
        <p:spPr>
          <a:xfrm>
            <a:off x="791580" y="512676"/>
            <a:ext cx="7416824" cy="4893647"/>
          </a:xfrm>
          <a:prstGeom prst="rect">
            <a:avLst/>
          </a:prstGeom>
          <a:noFill/>
        </p:spPr>
        <p:txBody>
          <a:bodyPr wrap="square">
            <a:spAutoFit/>
          </a:bodyPr>
          <a:lstStyle/>
          <a:p>
            <a:r>
              <a:rPr lang="en-US" sz="2400" b="1" dirty="0"/>
              <a:t>Regression Analysis</a:t>
            </a:r>
          </a:p>
          <a:p>
            <a:endParaRPr lang="en-US" sz="1800" b="1" dirty="0"/>
          </a:p>
          <a:p>
            <a:r>
              <a:rPr lang="en-US" sz="1800" b="1" dirty="0"/>
              <a:t>Regression</a:t>
            </a:r>
            <a:r>
              <a:rPr lang="en-US" sz="1800" dirty="0"/>
              <a:t> is a predictive modeling technique used to estimate the relationship between a dependent (target) variable and one or more independent (predictor) variables. It is typically used when the target variable is continuous. The goal is to create a model that can make accurate predictions of the target variable based on the input predictors.</a:t>
            </a:r>
          </a:p>
          <a:p>
            <a:endParaRPr lang="en-US" sz="1800" b="1" dirty="0"/>
          </a:p>
          <a:p>
            <a:r>
              <a:rPr lang="en-US" sz="1800" b="1" dirty="0"/>
              <a:t>Types of Regression</a:t>
            </a:r>
          </a:p>
          <a:p>
            <a:endParaRPr lang="en-US" sz="1800" b="1" dirty="0"/>
          </a:p>
          <a:p>
            <a:pPr>
              <a:buFont typeface="+mj-lt"/>
              <a:buAutoNum type="arabicPeriod"/>
            </a:pPr>
            <a:r>
              <a:rPr lang="en-US" sz="1800" b="1" dirty="0"/>
              <a:t>Linear Regression</a:t>
            </a:r>
            <a:r>
              <a:rPr lang="en-US" sz="1800" dirty="0"/>
              <a:t>:</a:t>
            </a:r>
          </a:p>
          <a:p>
            <a:pPr lvl="1"/>
            <a:r>
              <a:rPr lang="en-US" sz="1800" b="1" dirty="0"/>
              <a:t>Purpose</a:t>
            </a:r>
            <a:r>
              <a:rPr lang="en-US" sz="1800" dirty="0"/>
              <a:t>: To model the relationship between a dependent variable and one or more independent variables linearly.</a:t>
            </a:r>
          </a:p>
          <a:p>
            <a:pPr lvl="1"/>
            <a:r>
              <a:rPr lang="en-US" sz="1800" b="1" dirty="0"/>
              <a:t>Example</a:t>
            </a:r>
            <a:r>
              <a:rPr lang="en-US" sz="1800" dirty="0"/>
              <a:t>: Predicting house prices based on features like area, location, and number of rooms.</a:t>
            </a:r>
          </a:p>
          <a:p>
            <a:pPr lvl="1"/>
            <a:r>
              <a:rPr lang="en-US" sz="1800" b="1" dirty="0"/>
              <a:t>Formula</a:t>
            </a:r>
            <a:r>
              <a:rPr lang="en-US" sz="1800" dirty="0"/>
              <a:t>:</a:t>
            </a:r>
          </a:p>
        </p:txBody>
      </p:sp>
      <p:pic>
        <p:nvPicPr>
          <p:cNvPr id="5" name="Picture 4">
            <a:extLst>
              <a:ext uri="{FF2B5EF4-FFF2-40B4-BE49-F238E27FC236}">
                <a16:creationId xmlns:a16="http://schemas.microsoft.com/office/drawing/2014/main" xmlns="" id="{4093BDB1-FEED-1468-56B6-61CD76C91553}"/>
              </a:ext>
            </a:extLst>
          </p:cNvPr>
          <p:cNvPicPr>
            <a:picLocks noChangeAspect="1"/>
          </p:cNvPicPr>
          <p:nvPr/>
        </p:nvPicPr>
        <p:blipFill>
          <a:blip r:embed="rId2"/>
          <a:stretch>
            <a:fillRect/>
          </a:stretch>
        </p:blipFill>
        <p:spPr>
          <a:xfrm>
            <a:off x="2735796" y="5211033"/>
            <a:ext cx="4001058" cy="390580"/>
          </a:xfrm>
          <a:prstGeom prst="rect">
            <a:avLst/>
          </a:prstGeom>
        </p:spPr>
      </p:pic>
      <p:sp>
        <p:nvSpPr>
          <p:cNvPr id="7" name="TextBox 6">
            <a:extLst>
              <a:ext uri="{FF2B5EF4-FFF2-40B4-BE49-F238E27FC236}">
                <a16:creationId xmlns:a16="http://schemas.microsoft.com/office/drawing/2014/main" xmlns="" id="{2F41210E-985C-950A-C291-C657B1C6EB22}"/>
              </a:ext>
            </a:extLst>
          </p:cNvPr>
          <p:cNvSpPr txBox="1"/>
          <p:nvPr/>
        </p:nvSpPr>
        <p:spPr>
          <a:xfrm>
            <a:off x="1295636" y="5718162"/>
            <a:ext cx="6804756" cy="646331"/>
          </a:xfrm>
          <a:prstGeom prst="rect">
            <a:avLst/>
          </a:prstGeom>
          <a:noFill/>
        </p:spPr>
        <p:txBody>
          <a:bodyPr wrap="square">
            <a:spAutoFit/>
          </a:bodyPr>
          <a:lstStyle/>
          <a:p>
            <a:r>
              <a:rPr lang="en-US" sz="1800" dirty="0"/>
              <a:t>where y is the predicted outcome, x</a:t>
            </a:r>
            <a:r>
              <a:rPr lang="en-US" sz="1800" baseline="-25000" dirty="0"/>
              <a:t>i</a:t>
            </a:r>
            <a:r>
              <a:rPr lang="en-US" sz="1800" dirty="0"/>
              <a:t>​ are the predictors, β</a:t>
            </a:r>
            <a:r>
              <a:rPr lang="en-US" sz="1800" baseline="-25000" dirty="0" err="1"/>
              <a:t>i</a:t>
            </a:r>
            <a:r>
              <a:rPr lang="en-US" sz="1800" dirty="0"/>
              <a:t>​ are the coefficients, and ϵ is the error term.</a:t>
            </a:r>
          </a:p>
        </p:txBody>
      </p:sp>
    </p:spTree>
    <p:extLst>
      <p:ext uri="{BB962C8B-B14F-4D97-AF65-F5344CB8AC3E}">
        <p14:creationId xmlns:p14="http://schemas.microsoft.com/office/powerpoint/2010/main" val="19072346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F19A9C9E-C7FF-8A3C-77D5-0A3703ABF05F}"/>
              </a:ext>
            </a:extLst>
          </p:cNvPr>
          <p:cNvSpPr>
            <a:spLocks noChangeArrowheads="1"/>
          </p:cNvSpPr>
          <p:nvPr/>
        </p:nvSpPr>
        <p:spPr bwMode="auto">
          <a:xfrm>
            <a:off x="287524" y="317850"/>
            <a:ext cx="8712968"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2. Logistic Regression</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Purpose</a:t>
            </a:r>
            <a:r>
              <a:rPr kumimoji="0" lang="en-US" altLang="en-US" sz="1700" b="0" i="0" u="none" strike="noStrike" cap="none" normalizeH="0" baseline="0" dirty="0">
                <a:ln>
                  <a:noFill/>
                </a:ln>
                <a:solidFill>
                  <a:schemeClr val="tx1"/>
                </a:solidFill>
                <a:effectLst/>
                <a:latin typeface="Arial" panose="020B0604020202020204" pitchFamily="34" charset="0"/>
              </a:rPr>
              <a:t>: Used when the dependent variable is binary (e.g., 0 or 1, yes or no).</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Example</a:t>
            </a:r>
            <a:r>
              <a:rPr kumimoji="0" lang="en-US" altLang="en-US" sz="1700" b="0" i="0" u="none" strike="noStrike" cap="none" normalizeH="0" baseline="0" dirty="0">
                <a:ln>
                  <a:noFill/>
                </a:ln>
                <a:solidFill>
                  <a:schemeClr val="tx1"/>
                </a:solidFill>
                <a:effectLst/>
                <a:latin typeface="Arial" panose="020B0604020202020204" pitchFamily="34" charset="0"/>
              </a:rPr>
              <a:t>: Predicting whether a student will pass or fail an exam based on hours studied.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Formula</a:t>
            </a:r>
            <a:r>
              <a:rPr kumimoji="0" lang="en-US" altLang="en-US" sz="1700" b="0" i="0" u="none" strike="noStrike" cap="none" normalizeH="0" baseline="0" dirty="0">
                <a:ln>
                  <a:noFill/>
                </a:ln>
                <a:solidFill>
                  <a:schemeClr val="tx1"/>
                </a:solidFill>
                <a:effectLst/>
                <a:latin typeface="Arial" panose="020B0604020202020204" pitchFamily="34" charset="0"/>
              </a:rPr>
              <a:t> (logistic function):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Arial" panose="020B0604020202020204" pitchFamily="34" charset="0"/>
              </a:rPr>
              <a:t>where p is the probability of the event occurring.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3. Polynomial Regression</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Purpose</a:t>
            </a:r>
            <a:r>
              <a:rPr kumimoji="0" lang="en-US" altLang="en-US" sz="1700" b="0" i="0" u="none" strike="noStrike" cap="none" normalizeH="0" baseline="0" dirty="0">
                <a:ln>
                  <a:noFill/>
                </a:ln>
                <a:solidFill>
                  <a:schemeClr val="tx1"/>
                </a:solidFill>
                <a:effectLst/>
                <a:latin typeface="Arial" panose="020B0604020202020204" pitchFamily="34" charset="0"/>
              </a:rPr>
              <a:t>: Fits a polynomial equation to model non-linear relationships between the dependent and independent variables.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Example</a:t>
            </a:r>
            <a:r>
              <a:rPr kumimoji="0" lang="en-US" altLang="en-US" sz="1700" b="0" i="0" u="none" strike="noStrike" cap="none" normalizeH="0" baseline="0" dirty="0">
                <a:ln>
                  <a:noFill/>
                </a:ln>
                <a:solidFill>
                  <a:schemeClr val="tx1"/>
                </a:solidFill>
                <a:effectLst/>
                <a:latin typeface="Arial" panose="020B0604020202020204" pitchFamily="34" charset="0"/>
              </a:rPr>
              <a:t>: Modeling the trajectory of a ball in physics experiments.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4. Multiple Regression</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Purpose</a:t>
            </a:r>
            <a:r>
              <a:rPr kumimoji="0" lang="en-US" altLang="en-US" sz="1700" b="0" i="0" u="none" strike="noStrike" cap="none" normalizeH="0" baseline="0" dirty="0">
                <a:ln>
                  <a:noFill/>
                </a:ln>
                <a:solidFill>
                  <a:schemeClr val="tx1"/>
                </a:solidFill>
                <a:effectLst/>
                <a:latin typeface="Arial" panose="020B0604020202020204" pitchFamily="34" charset="0"/>
              </a:rPr>
              <a:t>: Extends linear regression to include multiple predictor variables.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700" b="1" i="0" u="none" strike="noStrike" cap="none" normalizeH="0" baseline="0" dirty="0">
                <a:ln>
                  <a:noFill/>
                </a:ln>
                <a:solidFill>
                  <a:schemeClr val="tx1"/>
                </a:solidFill>
                <a:effectLst/>
                <a:latin typeface="Arial" panose="020B0604020202020204" pitchFamily="34" charset="0"/>
              </a:rPr>
              <a:t>Example</a:t>
            </a:r>
            <a:r>
              <a:rPr kumimoji="0" lang="en-US" altLang="en-US" sz="1700" b="0" i="0" u="none" strike="noStrike" cap="none" normalizeH="0" baseline="0" dirty="0">
                <a:ln>
                  <a:noFill/>
                </a:ln>
                <a:solidFill>
                  <a:schemeClr val="tx1"/>
                </a:solidFill>
                <a:effectLst/>
                <a:latin typeface="Arial" panose="020B0604020202020204" pitchFamily="34" charset="0"/>
              </a:rPr>
              <a:t>: Predicting sales revenue based on advertising spend across multiple media platforms.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xmlns="" id="{316206B5-705E-8E63-A5C2-E668BA483367}"/>
              </a:ext>
            </a:extLst>
          </p:cNvPr>
          <p:cNvPicPr>
            <a:picLocks noChangeAspect="1"/>
          </p:cNvPicPr>
          <p:nvPr/>
        </p:nvPicPr>
        <p:blipFill>
          <a:blip r:embed="rId2"/>
          <a:stretch>
            <a:fillRect/>
          </a:stretch>
        </p:blipFill>
        <p:spPr>
          <a:xfrm>
            <a:off x="3347864" y="1830393"/>
            <a:ext cx="2857899" cy="619211"/>
          </a:xfrm>
          <a:prstGeom prst="rect">
            <a:avLst/>
          </a:prstGeom>
        </p:spPr>
      </p:pic>
    </p:spTree>
    <p:extLst>
      <p:ext uri="{BB962C8B-B14F-4D97-AF65-F5344CB8AC3E}">
        <p14:creationId xmlns:p14="http://schemas.microsoft.com/office/powerpoint/2010/main" val="24536077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8F988E8-6065-A1AB-8B58-9CB2AFE59936}"/>
              </a:ext>
            </a:extLst>
          </p:cNvPr>
          <p:cNvSpPr txBox="1"/>
          <p:nvPr/>
        </p:nvSpPr>
        <p:spPr>
          <a:xfrm>
            <a:off x="863588" y="620688"/>
            <a:ext cx="7344816" cy="5447645"/>
          </a:xfrm>
          <a:prstGeom prst="rect">
            <a:avLst/>
          </a:prstGeom>
          <a:noFill/>
        </p:spPr>
        <p:txBody>
          <a:bodyPr wrap="square">
            <a:spAutoFit/>
          </a:bodyPr>
          <a:lstStyle/>
          <a:p>
            <a:r>
              <a:rPr lang="en-US" sz="2400" b="1" dirty="0"/>
              <a:t>Classification Analysis</a:t>
            </a:r>
          </a:p>
          <a:p>
            <a:endParaRPr lang="en-US" sz="1800" b="1" dirty="0"/>
          </a:p>
          <a:p>
            <a:r>
              <a:rPr lang="en-US" sz="1800" b="1" dirty="0"/>
              <a:t>Classification</a:t>
            </a:r>
            <a:r>
              <a:rPr lang="en-US" sz="1800" dirty="0"/>
              <a:t> is a technique in supervised learning where the objective is to categorize data into predefined classes or groups based on input features. The target variable is categorical (e.g., labels such as “spam” or “not spam”).</a:t>
            </a:r>
          </a:p>
          <a:p>
            <a:endParaRPr lang="en-US" sz="1800" b="1" dirty="0"/>
          </a:p>
          <a:p>
            <a:r>
              <a:rPr lang="en-US" sz="1800" b="1" dirty="0"/>
              <a:t>Types of Classification Algorithms</a:t>
            </a:r>
          </a:p>
          <a:p>
            <a:pPr>
              <a:buFont typeface="+mj-lt"/>
              <a:buAutoNum type="arabicPeriod"/>
            </a:pPr>
            <a:endParaRPr lang="en-US" sz="1800" b="1" dirty="0"/>
          </a:p>
          <a:p>
            <a:pPr>
              <a:buFont typeface="+mj-lt"/>
              <a:buAutoNum type="arabicPeriod"/>
            </a:pPr>
            <a:r>
              <a:rPr lang="en-US" sz="1800" b="1" dirty="0"/>
              <a:t>Logistic Regression</a:t>
            </a:r>
            <a:r>
              <a:rPr lang="en-US" sz="1800" dirty="0"/>
              <a:t> (also used for binary classification, as noted above).</a:t>
            </a:r>
          </a:p>
          <a:p>
            <a:pPr>
              <a:buFont typeface="+mj-lt"/>
              <a:buAutoNum type="arabicPeriod"/>
            </a:pPr>
            <a:endParaRPr lang="en-US" sz="1800" dirty="0"/>
          </a:p>
          <a:p>
            <a:pPr>
              <a:buFont typeface="+mj-lt"/>
              <a:buAutoNum type="arabicPeriod"/>
            </a:pPr>
            <a:r>
              <a:rPr lang="en-US" sz="1800" b="1" dirty="0"/>
              <a:t>Decision Trees</a:t>
            </a:r>
            <a:r>
              <a:rPr lang="en-US" sz="1800" dirty="0"/>
              <a:t>:</a:t>
            </a:r>
          </a:p>
          <a:p>
            <a:pPr lvl="1"/>
            <a:endParaRPr lang="en-US" sz="1800" b="1" dirty="0"/>
          </a:p>
          <a:p>
            <a:pPr lvl="1"/>
            <a:r>
              <a:rPr lang="en-US" sz="1800" b="1" dirty="0"/>
              <a:t>Purpose</a:t>
            </a:r>
            <a:r>
              <a:rPr lang="en-US" sz="1800" dirty="0"/>
              <a:t>: Use a tree-like structure to make decisions based on feature values.</a:t>
            </a:r>
          </a:p>
          <a:p>
            <a:pPr lvl="1"/>
            <a:endParaRPr lang="en-US" sz="1800" b="1" dirty="0"/>
          </a:p>
          <a:p>
            <a:pPr lvl="1"/>
            <a:r>
              <a:rPr lang="en-US" sz="1800" b="1" dirty="0"/>
              <a:t>Example</a:t>
            </a:r>
            <a:r>
              <a:rPr lang="en-US" sz="1800" dirty="0"/>
              <a:t>: Classifying loan applicants as “approved” or “rejected” based on credit score, income, etc.</a:t>
            </a:r>
          </a:p>
        </p:txBody>
      </p:sp>
    </p:spTree>
    <p:extLst>
      <p:ext uri="{BB962C8B-B14F-4D97-AF65-F5344CB8AC3E}">
        <p14:creationId xmlns:p14="http://schemas.microsoft.com/office/powerpoint/2010/main" val="31385511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589880D9-7893-3CF4-7DBC-44B79408564B}"/>
              </a:ext>
            </a:extLst>
          </p:cNvPr>
          <p:cNvSpPr>
            <a:spLocks noChangeArrowheads="1"/>
          </p:cNvSpPr>
          <p:nvPr/>
        </p:nvSpPr>
        <p:spPr bwMode="auto">
          <a:xfrm>
            <a:off x="575810" y="335845"/>
            <a:ext cx="799238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3. k-Nearest Neighbors (k-NN)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Classifies a new data point based on the majority class among its k-nearest neighbors.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Classifying a type of flower based on petal and sepal measurements.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dirty="0">
                <a:solidFill>
                  <a:schemeClr val="tx1"/>
                </a:solidFill>
                <a:latin typeface="Arial" panose="020B0604020202020204" pitchFamily="34" charset="0"/>
              </a:rPr>
              <a:t>4. </a:t>
            </a:r>
            <a:r>
              <a:rPr kumimoji="0" lang="en-US" altLang="en-US" sz="1800" b="1" i="0" u="none" strike="noStrike" cap="none" normalizeH="0" baseline="0" dirty="0">
                <a:ln>
                  <a:noFill/>
                </a:ln>
                <a:solidFill>
                  <a:schemeClr val="tx1"/>
                </a:solidFill>
                <a:effectLst/>
                <a:latin typeface="Arial" panose="020B0604020202020204" pitchFamily="34" charset="0"/>
              </a:rPr>
              <a:t>Support Vector Machines (</a:t>
            </a:r>
            <a:r>
              <a:rPr kumimoji="0" lang="en-US" altLang="en-US" sz="1800" b="1" i="0" u="none" strike="noStrike" cap="none" normalizeH="0" baseline="0" dirty="0" err="1">
                <a:ln>
                  <a:noFill/>
                </a:ln>
                <a:solidFill>
                  <a:schemeClr val="tx1"/>
                </a:solidFill>
                <a:effectLst/>
                <a:latin typeface="Arial" panose="020B0604020202020204" pitchFamily="34" charset="0"/>
              </a:rPr>
              <a:t>SVM</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Finds the optimal hyperplane that maximizes the margin between classes.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Classifying emails as spam or not spam based on content.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dirty="0">
                <a:solidFill>
                  <a:schemeClr val="tx1"/>
                </a:solidFill>
                <a:latin typeface="Arial" panose="020B0604020202020204" pitchFamily="34" charset="0"/>
              </a:rPr>
              <a:t>5. </a:t>
            </a:r>
            <a:r>
              <a:rPr kumimoji="0" lang="en-US" altLang="en-US" sz="1800" b="1" i="0" u="none" strike="noStrike" cap="none" normalizeH="0" baseline="0" dirty="0">
                <a:ln>
                  <a:noFill/>
                </a:ln>
                <a:solidFill>
                  <a:schemeClr val="tx1"/>
                </a:solidFill>
                <a:effectLst/>
                <a:latin typeface="Arial" panose="020B0604020202020204" pitchFamily="34" charset="0"/>
              </a:rPr>
              <a:t>Naive Bayes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Uses Bayes' theorem, assuming independence between features, to classify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Text classification, such as categorizing news articles by topic.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162707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02FE4A7-91AE-E081-44DF-A9201F69B94E}"/>
              </a:ext>
            </a:extLst>
          </p:cNvPr>
          <p:cNvSpPr txBox="1"/>
          <p:nvPr/>
        </p:nvSpPr>
        <p:spPr>
          <a:xfrm>
            <a:off x="575556" y="368660"/>
            <a:ext cx="7776864" cy="5724644"/>
          </a:xfrm>
          <a:prstGeom prst="rect">
            <a:avLst/>
          </a:prstGeom>
          <a:noFill/>
        </p:spPr>
        <p:txBody>
          <a:bodyPr wrap="square">
            <a:spAutoFit/>
          </a:bodyPr>
          <a:lstStyle/>
          <a:p>
            <a:r>
              <a:rPr lang="en-US" sz="2400" b="1" dirty="0"/>
              <a:t>Cluster Analysis</a:t>
            </a:r>
          </a:p>
          <a:p>
            <a:endParaRPr lang="en-US" sz="1800" b="1" dirty="0"/>
          </a:p>
          <a:p>
            <a:r>
              <a:rPr lang="en-US" sz="1800" b="1" dirty="0"/>
              <a:t>Clustering</a:t>
            </a:r>
            <a:r>
              <a:rPr lang="en-US" sz="1800" dirty="0"/>
              <a:t> is an unsupervised learning technique used to group data into clusters or segments based on similarities among features. Unlike classification, clustering doesn’t require predefined labels, and the goal is to discover inherent groupings in the data.</a:t>
            </a:r>
          </a:p>
          <a:p>
            <a:endParaRPr lang="en-US" sz="1800" b="1" dirty="0"/>
          </a:p>
          <a:p>
            <a:r>
              <a:rPr lang="en-US" sz="1800" b="1" dirty="0"/>
              <a:t>Types of Clustering Algorithms</a:t>
            </a:r>
          </a:p>
          <a:p>
            <a:endParaRPr lang="en-US" sz="1800" b="1" dirty="0"/>
          </a:p>
          <a:p>
            <a:pPr>
              <a:buFont typeface="+mj-lt"/>
              <a:buAutoNum type="arabicPeriod"/>
            </a:pPr>
            <a:r>
              <a:rPr lang="en-US" sz="1800" b="1" dirty="0"/>
              <a:t>k-Means Clustering</a:t>
            </a:r>
            <a:r>
              <a:rPr lang="en-US" sz="1800" dirty="0"/>
              <a:t>:</a:t>
            </a:r>
          </a:p>
          <a:p>
            <a:pPr lvl="1"/>
            <a:r>
              <a:rPr lang="en-US" sz="1800" b="1" dirty="0"/>
              <a:t>Purpose</a:t>
            </a:r>
            <a:r>
              <a:rPr lang="en-US" sz="1800" dirty="0"/>
              <a:t>: Partitions data into k clusters by minimizing the distance between data points and the cluster centroids.</a:t>
            </a:r>
          </a:p>
          <a:p>
            <a:pPr lvl="1"/>
            <a:r>
              <a:rPr lang="en-US" sz="1800" b="1" dirty="0"/>
              <a:t>Example</a:t>
            </a:r>
            <a:r>
              <a:rPr lang="en-US" sz="1800" dirty="0"/>
              <a:t>: Segmenting customers into groups based on purchasing behavior.</a:t>
            </a:r>
          </a:p>
          <a:p>
            <a:pPr lvl="1"/>
            <a:endParaRPr lang="en-US" sz="1800" dirty="0"/>
          </a:p>
          <a:p>
            <a:pPr>
              <a:buFont typeface="+mj-lt"/>
              <a:buAutoNum type="arabicPeriod"/>
            </a:pPr>
            <a:r>
              <a:rPr lang="en-US" sz="1800" b="1" dirty="0"/>
              <a:t>Hierarchical Clustering</a:t>
            </a:r>
            <a:r>
              <a:rPr lang="en-US" sz="1800" dirty="0"/>
              <a:t>:</a:t>
            </a:r>
          </a:p>
          <a:p>
            <a:pPr lvl="1"/>
            <a:r>
              <a:rPr lang="en-US" sz="1800" b="1" dirty="0"/>
              <a:t>Purpose</a:t>
            </a:r>
            <a:r>
              <a:rPr lang="en-US" sz="1800" dirty="0"/>
              <a:t>: Builds a hierarchy of clusters using either a bottom-up (agglomerative) or top-down (divisive) approach.</a:t>
            </a:r>
          </a:p>
          <a:p>
            <a:pPr lvl="1"/>
            <a:r>
              <a:rPr lang="en-US" sz="1800" b="1" dirty="0"/>
              <a:t>Example</a:t>
            </a:r>
            <a:r>
              <a:rPr lang="en-US" sz="1800" dirty="0"/>
              <a:t>: Organizing documents based on content similarity into topic clusters.</a:t>
            </a:r>
          </a:p>
        </p:txBody>
      </p:sp>
    </p:spTree>
    <p:extLst>
      <p:ext uri="{BB962C8B-B14F-4D97-AF65-F5344CB8AC3E}">
        <p14:creationId xmlns:p14="http://schemas.microsoft.com/office/powerpoint/2010/main" val="195078550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B74582F6-1536-9D59-DDB9-F8B6E742064F}"/>
              </a:ext>
            </a:extLst>
          </p:cNvPr>
          <p:cNvSpPr>
            <a:spLocks noChangeArrowheads="1"/>
          </p:cNvSpPr>
          <p:nvPr/>
        </p:nvSpPr>
        <p:spPr bwMode="auto">
          <a:xfrm>
            <a:off x="539552" y="908720"/>
            <a:ext cx="759633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3. </a:t>
            </a:r>
            <a:r>
              <a:rPr kumimoji="0" lang="en-US" altLang="en-US" sz="1800" b="1" i="0" u="none" strike="noStrike" cap="none" normalizeH="0" baseline="0" dirty="0" err="1">
                <a:ln>
                  <a:noFill/>
                </a:ln>
                <a:solidFill>
                  <a:schemeClr val="tx1"/>
                </a:solidFill>
                <a:effectLst/>
                <a:latin typeface="Arial" panose="020B0604020202020204" pitchFamily="34" charset="0"/>
              </a:rPr>
              <a:t>DBSCAN</a:t>
            </a:r>
            <a:r>
              <a:rPr kumimoji="0" lang="en-US" altLang="en-US" sz="1800" b="1" i="0" u="none" strike="noStrike" cap="none" normalizeH="0" baseline="0" dirty="0">
                <a:ln>
                  <a:noFill/>
                </a:ln>
                <a:solidFill>
                  <a:schemeClr val="tx1"/>
                </a:solidFill>
                <a:effectLst/>
                <a:latin typeface="Arial" panose="020B0604020202020204" pitchFamily="34" charset="0"/>
              </a:rPr>
              <a:t> (Density-Based Spatial Clustering of Applications with Noise)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Groups points that are close in density, allowing for clusters of arbitrary shape and handling noise points.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Identifying geographical regions with high crime rates.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4. Gaussian Mixture Models (</a:t>
            </a:r>
            <a:r>
              <a:rPr kumimoji="0" lang="en-US" altLang="en-US" sz="1800" b="1" i="0" u="none" strike="noStrike" cap="none" normalizeH="0" baseline="0" dirty="0" err="1">
                <a:ln>
                  <a:noFill/>
                </a:ln>
                <a:solidFill>
                  <a:schemeClr val="tx1"/>
                </a:solidFill>
                <a:effectLst/>
                <a:latin typeface="Arial" panose="020B0604020202020204" pitchFamily="34" charset="0"/>
              </a:rPr>
              <a:t>GMM</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Models data as a mixture of several Gaussian distributions to handle clusters that may overlap.</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Grouping genetic data where clusters have overlapping features.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091645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A81815D-4BAC-7A7E-8EB9-43CBBF1EE955}"/>
              </a:ext>
            </a:extLst>
          </p:cNvPr>
          <p:cNvSpPr txBox="1"/>
          <p:nvPr/>
        </p:nvSpPr>
        <p:spPr>
          <a:xfrm>
            <a:off x="791580" y="548680"/>
            <a:ext cx="6840760" cy="400110"/>
          </a:xfrm>
          <a:prstGeom prst="rect">
            <a:avLst/>
          </a:prstGeom>
          <a:noFill/>
        </p:spPr>
        <p:txBody>
          <a:bodyPr wrap="square">
            <a:spAutoFit/>
          </a:bodyPr>
          <a:lstStyle/>
          <a:p>
            <a:r>
              <a:rPr lang="en-US" sz="2000" b="1" dirty="0"/>
              <a:t>Comparing Regression, Classification, and Clustering</a:t>
            </a:r>
          </a:p>
        </p:txBody>
      </p:sp>
      <p:pic>
        <p:nvPicPr>
          <p:cNvPr id="5" name="Picture 4">
            <a:extLst>
              <a:ext uri="{FF2B5EF4-FFF2-40B4-BE49-F238E27FC236}">
                <a16:creationId xmlns:a16="http://schemas.microsoft.com/office/drawing/2014/main" xmlns="" id="{CF0B01D8-3612-880A-0D46-12B008588E0B}"/>
              </a:ext>
            </a:extLst>
          </p:cNvPr>
          <p:cNvPicPr>
            <a:picLocks noChangeAspect="1"/>
          </p:cNvPicPr>
          <p:nvPr/>
        </p:nvPicPr>
        <p:blipFill>
          <a:blip r:embed="rId2"/>
          <a:stretch>
            <a:fillRect/>
          </a:stretch>
        </p:blipFill>
        <p:spPr>
          <a:xfrm>
            <a:off x="359532" y="1304764"/>
            <a:ext cx="8611802" cy="1686160"/>
          </a:xfrm>
          <a:prstGeom prst="rect">
            <a:avLst/>
          </a:prstGeom>
        </p:spPr>
      </p:pic>
    </p:spTree>
    <p:extLst>
      <p:ext uri="{BB962C8B-B14F-4D97-AF65-F5344CB8AC3E}">
        <p14:creationId xmlns:p14="http://schemas.microsoft.com/office/powerpoint/2010/main" val="27837331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B5F5416-8DCE-5939-9C79-ABD49863206E}"/>
              </a:ext>
            </a:extLst>
          </p:cNvPr>
          <p:cNvSpPr txBox="1"/>
          <p:nvPr/>
        </p:nvSpPr>
        <p:spPr>
          <a:xfrm>
            <a:off x="1979712" y="2384884"/>
            <a:ext cx="5940660" cy="1200329"/>
          </a:xfrm>
          <a:prstGeom prst="rect">
            <a:avLst/>
          </a:prstGeom>
          <a:noFill/>
        </p:spPr>
        <p:txBody>
          <a:bodyPr wrap="square" rtlCol="0">
            <a:spAutoFit/>
          </a:bodyPr>
          <a:lstStyle/>
          <a:p>
            <a:r>
              <a:rPr lang="en-IN" sz="2400" b="1" dirty="0"/>
              <a:t>Case studies:</a:t>
            </a:r>
          </a:p>
          <a:p>
            <a:endParaRPr lang="en-IN" sz="2400" b="1" dirty="0"/>
          </a:p>
          <a:p>
            <a:r>
              <a:rPr lang="en-IN" sz="2400" b="1" dirty="0"/>
              <a:t>Application of machine learning</a:t>
            </a:r>
            <a:endParaRPr lang="en-US" sz="2400" b="1" dirty="0"/>
          </a:p>
        </p:txBody>
      </p:sp>
    </p:spTree>
    <p:extLst>
      <p:ext uri="{BB962C8B-B14F-4D97-AF65-F5344CB8AC3E}">
        <p14:creationId xmlns:p14="http://schemas.microsoft.com/office/powerpoint/2010/main" val="7460309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266&quot;/&gt;&lt;partner val=&quot;53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1&quot;/&gt;&lt;m_mruColor&gt;&lt;m_vecMRU length=&quot;7&quot;&gt;&lt;elem&gt;&lt;m_ppcolschidx val=&quot;0&quot;/&gt;&lt;m_rgb r=&quot;3c&quot; g=&quot;55&quot; b=&quot;7b&quot;/&gt;&lt;/elem&gt;&lt;elem&gt;&lt;m_ppcolschidx val=&quot;0&quot;/&gt;&lt;m_rgb r=&quot;c8&quot; g=&quot;cf&quot; b=&quot;d7&quot;/&gt;&lt;/elem&gt;&lt;elem&gt;&lt;m_ppcolschidx val=&quot;0&quot;/&gt;&lt;m_rgb r=&quot;82&quot; g=&quot;8c&quot; b=&quot;96&quot;/&gt;&lt;/elem&gt;&lt;elem&gt;&lt;m_ppcolschidx val=&quot;0&quot;/&gt;&lt;m_rgb r=&quot;42&quot; g=&quot;57&quot; b=&quot;73&quot;/&gt;&lt;/elem&gt;&lt;elem&gt;&lt;m_ppcolschidx val=&quot;0&quot;/&gt;&lt;m_rgb r=&quot;ff&quot; g=&quot;cc&quot; b=&quot;0&quot;/&gt;&lt;/elem&gt;&lt;elem&gt;&lt;m_ppcolschidx val=&quot;0&quot;/&gt;&lt;m_rgb r=&quot;2d&quot; g=&quot;37&quot; b=&quot;49&quot;/&gt;&lt;/elem&gt;&lt;elem&gt;&lt;m_ppcolschidx val=&quot;0&quot;/&gt;&lt;m_rgb r=&quot;14&quot; g=&quot;1d&quot; b=&quot;29&quot;/&gt;&lt;/elem&gt;&lt;/m_vecMRU&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1014"/>
</p:tagLst>
</file>

<file path=ppt/theme/theme1.xml><?xml version="1.0" encoding="utf-8"?>
<a:theme xmlns:a="http://schemas.openxmlformats.org/drawingml/2006/main" name="2_Knowledgeworks Temlat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2_Knowledgeworks Temlate">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100" b="0" i="0" u="none" strike="noStrike" cap="none" normalizeH="0" baseline="0" smtClean="0">
            <a:ln>
              <a:noFill/>
            </a:ln>
            <a:solidFill>
              <a:schemeClr val="tx1"/>
            </a:solidFill>
            <a:effectLst/>
            <a:latin typeface="맑은 고딕" pitchFamily="50" charset="-127"/>
            <a:ea typeface="맑은 고딕" pitchFamily="50" charset="-127"/>
          </a:defRPr>
        </a:defPPr>
      </a:lstStyle>
    </a:spDef>
    <a:lnDef>
      <a:spPr bwMode="auto">
        <a:xfrm>
          <a:off x="0" y="0"/>
          <a:ext cx="1" cy="1"/>
        </a:xfrm>
        <a:custGeom>
          <a:avLst/>
          <a:gdLst/>
          <a:ahLst/>
          <a:cxnLst/>
          <a:rect l="0" t="0" r="0" b="0"/>
          <a:pathLst/>
        </a:custGeom>
        <a:solidFill>
          <a:schemeClr val="bg1"/>
        </a:solidFill>
        <a:ln w="9525"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100" b="0" i="0" u="none" strike="noStrike" cap="none" normalizeH="0" baseline="0" smtClean="0">
            <a:ln>
              <a:noFill/>
            </a:ln>
            <a:solidFill>
              <a:schemeClr val="tx1"/>
            </a:solidFill>
            <a:effectLst/>
            <a:latin typeface="맑은 고딕" pitchFamily="50" charset="-127"/>
            <a:ea typeface="맑은 고딕" pitchFamily="50" charset="-127"/>
          </a:defRPr>
        </a:defPPr>
      </a:lstStyle>
    </a:lnDef>
  </a:objectDefaults>
  <a:extraClrSchemeLst>
    <a:extraClrScheme>
      <a:clrScheme name="2_Knowledgeworks Temlate 1">
        <a:dk1>
          <a:srgbClr val="004785"/>
        </a:dk1>
        <a:lt1>
          <a:srgbClr val="FFFFFF"/>
        </a:lt1>
        <a:dk2>
          <a:srgbClr val="004785"/>
        </a:dk2>
        <a:lt2>
          <a:srgbClr val="808080"/>
        </a:lt2>
        <a:accent1>
          <a:srgbClr val="3E7898"/>
        </a:accent1>
        <a:accent2>
          <a:srgbClr val="C0D8E6"/>
        </a:accent2>
        <a:accent3>
          <a:srgbClr val="FFFFFF"/>
        </a:accent3>
        <a:accent4>
          <a:srgbClr val="003B71"/>
        </a:accent4>
        <a:accent5>
          <a:srgbClr val="AFBECA"/>
        </a:accent5>
        <a:accent6>
          <a:srgbClr val="AEC4D0"/>
        </a:accent6>
        <a:hlink>
          <a:srgbClr val="6EA5C4"/>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33033</TotalTime>
  <Words>8559</Words>
  <Application>Microsoft Office PowerPoint</Application>
  <PresentationFormat>On-screen Show (4:3)</PresentationFormat>
  <Paragraphs>874</Paragraphs>
  <Slides>87</Slides>
  <Notes>1</Notes>
  <HiddenSlides>0</HiddenSlides>
  <MMClips>0</MMClips>
  <ScaleCrop>false</ScaleCrop>
  <HeadingPairs>
    <vt:vector size="4" baseType="variant">
      <vt:variant>
        <vt:lpstr>Theme</vt:lpstr>
      </vt:variant>
      <vt:variant>
        <vt:i4>1</vt:i4>
      </vt:variant>
      <vt:variant>
        <vt:lpstr>Slide Titles</vt:lpstr>
      </vt:variant>
      <vt:variant>
        <vt:i4>87</vt:i4>
      </vt:variant>
    </vt:vector>
  </HeadingPairs>
  <TitlesOfParts>
    <vt:vector size="88" baseType="lpstr">
      <vt:lpstr>2_Knowledgeworks Temlate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knowledgeworks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KRISS 프로젝트 착수보고</dc:title>
  <dc:creator>조승철</dc:creator>
  <cp:lastModifiedBy>Subash R</cp:lastModifiedBy>
  <cp:revision>1419</cp:revision>
  <cp:lastPrinted>2023-01-25T03:23:56Z</cp:lastPrinted>
  <dcterms:created xsi:type="dcterms:W3CDTF">2009-01-23T07:32:02Z</dcterms:created>
  <dcterms:modified xsi:type="dcterms:W3CDTF">2025-09-21T02:01:14Z</dcterms:modified>
</cp:coreProperties>
</file>