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04DAD-95B1-B410-38D7-DBBE22E14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96E0E-8DF6-00CB-96C4-5F8CC4F9D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FC968-BA73-1087-7804-56505CAA9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F99B3-87EF-74BD-4CF2-FF4DEF075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AB225-8AD8-4990-743A-C63CBF46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2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03C3-9063-5E4D-D79B-854BD7F8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BD7D6-3204-3538-0379-6FE84264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1C23E-497C-5B2F-796E-97B7CBA9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76FD8-0E4D-4470-F50E-EB142BCC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01239-5A38-493C-2DA3-F38A174F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44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1353F-D9E2-644A-79F4-C089BD585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0DE9-BC64-9EA6-7754-64B050D93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E3152-2A50-CF71-2AAE-0DD41E50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84D19-44B3-AAC8-6459-A02DE871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F826C-390E-2A65-D7AB-6FDBF9A3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310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E8FC8-A6E5-9797-5E0E-A5BD260CC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4F1F-DADF-8D7D-5ADA-4F0F26153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4997C-7651-2D8B-901D-59B40654B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3DD3E-2811-5275-170B-B1E7B692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4161F-8F56-EBEE-9698-A55EE37E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166B5-5B97-4D58-199B-4B6E4FC1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21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9F3A-B772-1CDA-F7F8-985857F1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E2680-787D-0E65-C7F0-C4820CBC8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615B4-96A4-826C-7B26-826C2E9D6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13B9E-21D3-9D40-0D4D-20E0118DB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EEB2C7-C1B0-7094-9B25-079D3AE3B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A48771-7C90-1767-1114-36130123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1C4AD-6416-CAA4-6888-E46655F33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60BC8A-B8AE-C4E8-C1D6-73D85246C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32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D630-ACD4-7B99-1726-6978F9FD3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31558-1D17-9A7A-7CDC-56497DC8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14B1C-CA33-CA31-4794-F03A5C16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D3FA4E-04FD-E115-3366-EBE80536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056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DA098-AAD2-F043-563D-0187929D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8687E-D1F6-AD05-6A6D-0ACA5E0B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65D7D-EDE6-25E5-5792-67486E60F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46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A73D5-B17E-8120-BF22-35E00CAE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6B6D-FF74-5C00-8CBB-41D40EEBA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BA412-F547-D50C-2A65-8427A32A4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E63F7-068D-CB7F-22EF-5CA3D175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EDD1D-5B1F-491D-DA84-4B37DA561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F59A3-1E7F-5599-0297-D511109E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401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6FBCC-6425-540A-15FA-B43CCECE6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BFBA2-04E0-FDBC-8E8E-BB4DA8769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34522-358B-EFF6-04C2-1674080E5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3C446-3472-2636-AE87-B4D78B90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BAA39-26FF-D8E6-2690-B37C87418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F18FC-AF78-7451-0EEB-DDC94004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46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EFD9-3E7F-6737-E52B-BB44B72D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B4B46-5DDE-FA14-302F-A584F6D4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B585D-C655-744B-3EBB-48D3EBD2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11B80-0FE2-3022-321C-117E33AA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C01B1-0748-6BD6-4B89-019275CF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431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58C668-A16C-7CB5-D190-93CE1C298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0B12E-5197-F109-C8F1-AF27D9B54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09530-FB9E-0A21-4C72-FCB45891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5A77-0018-92B7-7AF1-309177A5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ABA00-D578-751E-11C9-F547D1D0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10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070F1-FB42-FD7C-3DFE-F5767A160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BC26C-55AC-D107-AC91-4A0A62FA1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BD9BC-DC33-E3F6-8742-0EF60A0C9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A567B-2939-4D04-9E12-49AE3A33A0CA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BEA3-0DB9-6717-709C-797C88DB1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4A086-68D5-796A-D1FA-C32958E1C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0984C-0954-489A-B14E-D72661DD20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76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0AFEDC-29A8-BD5B-A139-4331E096B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860"/>
            <a:ext cx="12192000" cy="6172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D0A20C-B0F4-3EB1-5F7E-9772863AC401}"/>
              </a:ext>
            </a:extLst>
          </p:cNvPr>
          <p:cNvSpPr txBox="1"/>
          <p:nvPr/>
        </p:nvSpPr>
        <p:spPr>
          <a:xfrm>
            <a:off x="117987" y="4208206"/>
            <a:ext cx="2517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Upload </a:t>
            </a:r>
            <a:r>
              <a:rPr lang="en-US" b="1" dirty="0"/>
              <a:t>salary CSV </a:t>
            </a:r>
            <a:r>
              <a:rPr lang="en-US" dirty="0"/>
              <a:t>file</a:t>
            </a:r>
          </a:p>
          <a:p>
            <a:r>
              <a:rPr lang="en-US" dirty="0"/>
              <a:t>From your system 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B39B3A-A0A1-D013-7D39-B8FA680CBD6B}"/>
              </a:ext>
            </a:extLst>
          </p:cNvPr>
          <p:cNvCxnSpPr/>
          <p:nvPr/>
        </p:nvCxnSpPr>
        <p:spPr>
          <a:xfrm flipV="1">
            <a:off x="1012723" y="2723535"/>
            <a:ext cx="501445" cy="1484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0CC900E-F903-519F-B583-8178BD796043}"/>
              </a:ext>
            </a:extLst>
          </p:cNvPr>
          <p:cNvSpPr txBox="1"/>
          <p:nvPr/>
        </p:nvSpPr>
        <p:spPr>
          <a:xfrm>
            <a:off x="6027174" y="1779639"/>
            <a:ext cx="3136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 the libraries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9F68B1-F1D8-610C-80EF-065EE771541D}"/>
              </a:ext>
            </a:extLst>
          </p:cNvPr>
          <p:cNvCxnSpPr/>
          <p:nvPr/>
        </p:nvCxnSpPr>
        <p:spPr>
          <a:xfrm flipH="1">
            <a:off x="4748981" y="1917290"/>
            <a:ext cx="1474838" cy="511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513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CAF4A1-5181-049D-4EEF-DAF591970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9" y="449177"/>
            <a:ext cx="11851962" cy="59167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5353A7-4402-90D6-57D9-10B6A58B7D8A}"/>
              </a:ext>
            </a:extLst>
          </p:cNvPr>
          <p:cNvSpPr txBox="1"/>
          <p:nvPr/>
        </p:nvSpPr>
        <p:spPr>
          <a:xfrm>
            <a:off x="4208208" y="4456984"/>
            <a:ext cx="61746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00FF00"/>
                </a:highlight>
              </a:rPr>
              <a:t>dataset</a:t>
            </a:r>
            <a:r>
              <a:rPr lang="en-IN" dirty="0"/>
              <a:t> → Our Pandas </a:t>
            </a:r>
            <a:r>
              <a:rPr lang="en-IN" dirty="0" err="1"/>
              <a:t>DataFrame</a:t>
            </a:r>
            <a:endParaRPr lang="en-IN" dirty="0"/>
          </a:p>
          <a:p>
            <a:r>
              <a:rPr lang="en-IN" b="1" dirty="0" err="1">
                <a:highlight>
                  <a:srgbClr val="00FFFF"/>
                </a:highlight>
              </a:rPr>
              <a:t>iloc</a:t>
            </a:r>
            <a:r>
              <a:rPr lang="en-IN" b="1" dirty="0">
                <a:highlight>
                  <a:srgbClr val="00FFFF"/>
                </a:highlight>
              </a:rPr>
              <a:t> </a:t>
            </a:r>
            <a:r>
              <a:rPr lang="en-IN" dirty="0"/>
              <a:t>→ integer-location based indexing</a:t>
            </a:r>
          </a:p>
          <a:p>
            <a:r>
              <a:rPr lang="en-IN" b="1" dirty="0">
                <a:highlight>
                  <a:srgbClr val="FFFF00"/>
                </a:highlight>
              </a:rPr>
              <a:t>: </a:t>
            </a:r>
            <a:r>
              <a:rPr lang="en-IN" dirty="0"/>
              <a:t>→ all rows</a:t>
            </a:r>
          </a:p>
          <a:p>
            <a:r>
              <a:rPr lang="en-IN" b="1" dirty="0">
                <a:highlight>
                  <a:srgbClr val="FF00FF"/>
                </a:highlight>
              </a:rPr>
              <a:t>:-1 </a:t>
            </a:r>
            <a:r>
              <a:rPr lang="en-IN" dirty="0"/>
              <a:t>→ all columns except the last</a:t>
            </a:r>
          </a:p>
          <a:p>
            <a:r>
              <a:rPr lang="en-IN" b="1" dirty="0">
                <a:highlight>
                  <a:srgbClr val="FF0000"/>
                </a:highlight>
              </a:rPr>
              <a:t>-1   </a:t>
            </a:r>
            <a:r>
              <a:rPr lang="en-IN" dirty="0"/>
              <a:t>-&gt; The last column alone</a:t>
            </a:r>
          </a:p>
          <a:p>
            <a:r>
              <a:rPr lang="en-IN" b="1" dirty="0">
                <a:highlight>
                  <a:srgbClr val="C0C0C0"/>
                </a:highlight>
              </a:rPr>
              <a:t>.values </a:t>
            </a:r>
            <a:r>
              <a:rPr lang="en-IN" dirty="0"/>
              <a:t>→ converts the result to a NumPy array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142CDF-B93E-0255-1891-57567F5AF458}"/>
              </a:ext>
            </a:extLst>
          </p:cNvPr>
          <p:cNvSpPr txBox="1"/>
          <p:nvPr/>
        </p:nvSpPr>
        <p:spPr>
          <a:xfrm>
            <a:off x="5211098" y="3896057"/>
            <a:ext cx="617465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B050"/>
                </a:solidFill>
              </a:rPr>
              <a:t> # Already 2D → shape (rows, columns-1</a:t>
            </a:r>
            <a:r>
              <a:rPr lang="en-US" sz="1050" dirty="0"/>
              <a:t>)</a:t>
            </a:r>
            <a:endParaRPr lang="en-IN" sz="105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3D89DCF-9D59-33AE-F1AF-32E8447A3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561" y="3407531"/>
            <a:ext cx="374653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.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latin typeface="Arial Unicode MS"/>
              </a:rPr>
              <a:t>values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</a:rPr>
              <a:t>returns a 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2D NumPy array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, which is what scikit-learn expects.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E3D081-615D-2A7D-8D9C-0AFC94F154E7}"/>
              </a:ext>
            </a:extLst>
          </p:cNvPr>
          <p:cNvSpPr txBox="1"/>
          <p:nvPr/>
        </p:nvSpPr>
        <p:spPr>
          <a:xfrm>
            <a:off x="5211098" y="4056190"/>
            <a:ext cx="41688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FF0000"/>
                </a:solidFill>
              </a:rPr>
              <a:t># 1D → shape (rows,)</a:t>
            </a:r>
          </a:p>
        </p:txBody>
      </p:sp>
    </p:spTree>
    <p:extLst>
      <p:ext uri="{BB962C8B-B14F-4D97-AF65-F5344CB8AC3E}">
        <p14:creationId xmlns:p14="http://schemas.microsoft.com/office/powerpoint/2010/main" val="226195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13BE1-BA72-678C-2082-8F639EFF8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61" y="377808"/>
            <a:ext cx="12005187" cy="6102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46CE38-6871-5A13-6DE0-13BB3EA70E7F}"/>
              </a:ext>
            </a:extLst>
          </p:cNvPr>
          <p:cNvSpPr txBox="1"/>
          <p:nvPr/>
        </p:nvSpPr>
        <p:spPr>
          <a:xfrm>
            <a:off x="6302477" y="4139381"/>
            <a:ext cx="2998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Train and test data split</a:t>
            </a:r>
            <a:endParaRPr lang="en-IN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6C2BD9-DB1C-15ED-04C5-478A5D4CCF5B}"/>
              </a:ext>
            </a:extLst>
          </p:cNvPr>
          <p:cNvCxnSpPr/>
          <p:nvPr/>
        </p:nvCxnSpPr>
        <p:spPr>
          <a:xfrm flipH="1">
            <a:off x="6715432" y="4237703"/>
            <a:ext cx="1622323" cy="855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828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23EBD0-98F4-F1B0-0C8D-8CF56449B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344430"/>
            <a:ext cx="11946194" cy="61691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AB616A-DB08-6475-57D8-40824974FA48}"/>
              </a:ext>
            </a:extLst>
          </p:cNvPr>
          <p:cNvSpPr txBox="1"/>
          <p:nvPr/>
        </p:nvSpPr>
        <p:spPr>
          <a:xfrm>
            <a:off x="1897626" y="600218"/>
            <a:ext cx="7855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line imports the </a:t>
            </a:r>
            <a:r>
              <a:rPr lang="en-US" b="1" dirty="0">
                <a:solidFill>
                  <a:srgbClr val="FF0000"/>
                </a:solidFill>
              </a:rPr>
              <a:t>LinearRegression</a:t>
            </a:r>
            <a:r>
              <a:rPr lang="en-US" dirty="0"/>
              <a:t> class from the </a:t>
            </a:r>
            <a:r>
              <a:rPr lang="en-US" b="1" dirty="0">
                <a:solidFill>
                  <a:srgbClr val="FF0000"/>
                </a:solidFill>
              </a:rPr>
              <a:t>sklearn.linear_model </a:t>
            </a:r>
            <a:r>
              <a:rPr lang="en-US" dirty="0"/>
              <a:t>module, which provides functionality for performing </a:t>
            </a:r>
            <a:r>
              <a:rPr lang="en-US" b="1" dirty="0"/>
              <a:t>linear regression.</a:t>
            </a:r>
            <a:endParaRPr lang="en-IN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DBF2CA-E494-408B-059A-F3F84863FDBF}"/>
              </a:ext>
            </a:extLst>
          </p:cNvPr>
          <p:cNvCxnSpPr/>
          <p:nvPr/>
        </p:nvCxnSpPr>
        <p:spPr>
          <a:xfrm flipH="1">
            <a:off x="5132439" y="1002890"/>
            <a:ext cx="1248696" cy="3136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79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9C134-0A1F-0B88-1A59-271CAD70A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5" y="344430"/>
            <a:ext cx="11611898" cy="61691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33F931-9870-5382-20AE-68B1AC6EF31B}"/>
              </a:ext>
            </a:extLst>
          </p:cNvPr>
          <p:cNvSpPr txBox="1"/>
          <p:nvPr/>
        </p:nvSpPr>
        <p:spPr>
          <a:xfrm>
            <a:off x="4090220" y="6305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Here, you're </a:t>
            </a:r>
            <a:r>
              <a:rPr lang="en-US" b="1" dirty="0">
                <a:solidFill>
                  <a:srgbClr val="FF0000"/>
                </a:solidFill>
              </a:rPr>
              <a:t>creating an instance </a:t>
            </a:r>
            <a:r>
              <a:rPr lang="en-US" dirty="0"/>
              <a:t>of the </a:t>
            </a:r>
            <a:r>
              <a:rPr lang="en-US" b="1" dirty="0">
                <a:solidFill>
                  <a:srgbClr val="FF0000"/>
                </a:solidFill>
              </a:rPr>
              <a:t>LinearRegression</a:t>
            </a:r>
            <a:r>
              <a:rPr lang="en-US" dirty="0"/>
              <a:t> class and storing it in the </a:t>
            </a:r>
            <a:r>
              <a:rPr lang="en-US" b="1" dirty="0"/>
              <a:t>variable</a:t>
            </a:r>
            <a:r>
              <a:rPr lang="en-US" dirty="0"/>
              <a:t> </a:t>
            </a:r>
            <a:r>
              <a:rPr lang="en-US" b="1" dirty="0">
                <a:highlight>
                  <a:srgbClr val="FFFF00"/>
                </a:highlight>
              </a:rPr>
              <a:t>regressor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619AA7-3704-B110-81E8-2568ECF6C7A2}"/>
              </a:ext>
            </a:extLst>
          </p:cNvPr>
          <p:cNvCxnSpPr/>
          <p:nvPr/>
        </p:nvCxnSpPr>
        <p:spPr>
          <a:xfrm flipH="1">
            <a:off x="4168877" y="1081548"/>
            <a:ext cx="2674375" cy="3500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97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D8975D-CA68-4B1F-115A-761FDA68F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430"/>
            <a:ext cx="11759381" cy="61691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27C824-D497-5F2A-97D4-FFBED0304D0A}"/>
              </a:ext>
            </a:extLst>
          </p:cNvPr>
          <p:cNvSpPr txBox="1"/>
          <p:nvPr/>
        </p:nvSpPr>
        <p:spPr>
          <a:xfrm>
            <a:off x="3736258" y="6600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highlight>
                  <a:srgbClr val="00FF00"/>
                </a:highlight>
              </a:rPr>
              <a:t>fit</a:t>
            </a:r>
            <a:r>
              <a:rPr lang="en-US" dirty="0"/>
              <a:t> method is used to </a:t>
            </a:r>
            <a:r>
              <a:rPr lang="en-US" b="1" dirty="0"/>
              <a:t>train</a:t>
            </a:r>
            <a:r>
              <a:rPr lang="en-US" dirty="0"/>
              <a:t> the </a:t>
            </a:r>
            <a:r>
              <a:rPr lang="en-US" b="1" dirty="0">
                <a:solidFill>
                  <a:srgbClr val="FF0000"/>
                </a:solidFill>
              </a:rPr>
              <a:t>linear regression model </a:t>
            </a:r>
            <a:r>
              <a:rPr lang="en-US" dirty="0"/>
              <a:t>on the training data 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dirty="0" err="1">
                <a:solidFill>
                  <a:srgbClr val="FF0000"/>
                </a:solidFill>
              </a:rPr>
              <a:t>x_train</a:t>
            </a:r>
            <a:r>
              <a:rPr lang="en-US" b="1" dirty="0">
                <a:solidFill>
                  <a:srgbClr val="FF0000"/>
                </a:solidFill>
              </a:rPr>
              <a:t> and </a:t>
            </a:r>
            <a:r>
              <a:rPr lang="en-US" b="1" dirty="0" err="1">
                <a:solidFill>
                  <a:srgbClr val="FF0000"/>
                </a:solidFill>
              </a:rPr>
              <a:t>y_train</a:t>
            </a:r>
            <a:r>
              <a:rPr lang="en-US" b="1" dirty="0">
                <a:solidFill>
                  <a:srgbClr val="FF0000"/>
                </a:solidFill>
              </a:rPr>
              <a:t>).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7920B-2C66-3296-57BB-EE071B9505C9}"/>
              </a:ext>
            </a:extLst>
          </p:cNvPr>
          <p:cNvSpPr txBox="1"/>
          <p:nvPr/>
        </p:nvSpPr>
        <p:spPr>
          <a:xfrm>
            <a:off x="117988" y="3244334"/>
            <a:ext cx="1946786" cy="1465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instance </a:t>
            </a:r>
            <a:r>
              <a:rPr lang="en-US" b="1" dirty="0">
                <a:highlight>
                  <a:srgbClr val="FFFF00"/>
                </a:highlight>
              </a:rPr>
              <a:t>(regressor) </a:t>
            </a:r>
            <a:r>
              <a:rPr lang="en-US" dirty="0"/>
              <a:t>represents the </a:t>
            </a:r>
            <a:r>
              <a:rPr lang="en-US" b="1" dirty="0">
                <a:solidFill>
                  <a:srgbClr val="FF0000"/>
                </a:solidFill>
              </a:rPr>
              <a:t>linear regression model</a:t>
            </a:r>
            <a:endParaRPr lang="en-IN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B10CA7-5698-DE60-3618-5F13422739C0}"/>
              </a:ext>
            </a:extLst>
          </p:cNvPr>
          <p:cNvCxnSpPr/>
          <p:nvPr/>
        </p:nvCxnSpPr>
        <p:spPr>
          <a:xfrm>
            <a:off x="934065" y="3667432"/>
            <a:ext cx="2045109" cy="1189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0DFF5-CECD-B015-8FC8-BDB940A92E65}"/>
              </a:ext>
            </a:extLst>
          </p:cNvPr>
          <p:cNvSpPr txBox="1"/>
          <p:nvPr/>
        </p:nvSpPr>
        <p:spPr>
          <a:xfrm>
            <a:off x="2664543" y="5630267"/>
            <a:ext cx="66859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>
                <a:highlight>
                  <a:srgbClr val="00FF00"/>
                </a:highlight>
              </a:rPr>
              <a:t>fit </a:t>
            </a:r>
            <a:r>
              <a:rPr lang="en-US" dirty="0"/>
              <a:t>method</a:t>
            </a:r>
            <a:r>
              <a:rPr lang="en-US" b="1" dirty="0"/>
              <a:t> calculates </a:t>
            </a:r>
            <a:r>
              <a:rPr lang="en-US" dirty="0"/>
              <a:t>the </a:t>
            </a:r>
            <a:r>
              <a:rPr lang="en-US" b="1" dirty="0"/>
              <a:t>optimal values </a:t>
            </a:r>
            <a:r>
              <a:rPr lang="en-US" dirty="0"/>
              <a:t>for the model's parameters </a:t>
            </a:r>
            <a:r>
              <a:rPr lang="en-US" b="1" dirty="0">
                <a:solidFill>
                  <a:srgbClr val="FF0000"/>
                </a:solidFill>
              </a:rPr>
              <a:t>(slope and intercept) </a:t>
            </a:r>
            <a:r>
              <a:rPr lang="en-US" dirty="0"/>
              <a:t>based on the training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87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A296AC-641B-B60A-D13B-A1B6982C9B4B}"/>
              </a:ext>
            </a:extLst>
          </p:cNvPr>
          <p:cNvSpPr txBox="1"/>
          <p:nvPr/>
        </p:nvSpPr>
        <p:spPr>
          <a:xfrm>
            <a:off x="1573161" y="1111046"/>
            <a:ext cx="10166555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LinearRegression()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the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trains the model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provided training data, allowing it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the relationship between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 (</a:t>
            </a:r>
            <a:r>
              <a:rPr lang="en-US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(</a:t>
            </a:r>
            <a:r>
              <a:rPr lang="en-US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79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16B598-9CEF-CEC8-0FFC-7C102FD0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" y="617185"/>
            <a:ext cx="11641394" cy="57898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2DD030-FE9E-D9A6-9257-4598329F5E5F}"/>
              </a:ext>
            </a:extLst>
          </p:cNvPr>
          <p:cNvSpPr txBox="1"/>
          <p:nvPr/>
        </p:nvSpPr>
        <p:spPr>
          <a:xfrm>
            <a:off x="0" y="0"/>
            <a:ext cx="12103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regressor.predict(</a:t>
            </a:r>
            <a:r>
              <a:rPr lang="en-US" b="1" dirty="0" err="1">
                <a:highlight>
                  <a:srgbClr val="00FF00"/>
                </a:highlight>
              </a:rPr>
              <a:t>x_test</a:t>
            </a:r>
            <a:r>
              <a:rPr lang="en-US" b="1" dirty="0">
                <a:highlight>
                  <a:srgbClr val="00FF00"/>
                </a:highlight>
              </a:rPr>
              <a:t>) </a:t>
            </a:r>
            <a:r>
              <a:rPr lang="en-US" dirty="0"/>
              <a:t>uses the </a:t>
            </a:r>
            <a:r>
              <a:rPr lang="en-US" b="1" dirty="0"/>
              <a:t>trained</a:t>
            </a:r>
            <a:r>
              <a:rPr lang="en-US" dirty="0"/>
              <a:t> </a:t>
            </a:r>
            <a:r>
              <a:rPr lang="en-US" b="1" dirty="0"/>
              <a:t>linear regression model (regressor)</a:t>
            </a:r>
            <a:r>
              <a:rPr lang="en-US" dirty="0"/>
              <a:t> to </a:t>
            </a:r>
            <a:r>
              <a:rPr lang="en-US" b="1" dirty="0">
                <a:solidFill>
                  <a:srgbClr val="0070C0"/>
                </a:solidFill>
              </a:rPr>
              <a:t>predict</a:t>
            </a:r>
            <a:r>
              <a:rPr lang="en-US" dirty="0"/>
              <a:t> the </a:t>
            </a:r>
            <a:r>
              <a:rPr lang="en-US" b="1" dirty="0"/>
              <a:t>target values </a:t>
            </a:r>
            <a:r>
              <a:rPr lang="en-US" dirty="0"/>
              <a:t>for the input features provided in </a:t>
            </a:r>
            <a:r>
              <a:rPr lang="en-US" b="1" dirty="0" err="1">
                <a:highlight>
                  <a:srgbClr val="00FF00"/>
                </a:highlight>
              </a:rPr>
              <a:t>x_test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A9423DD-3A77-923A-F3F6-46CBE0919F49}"/>
              </a:ext>
            </a:extLst>
          </p:cNvPr>
          <p:cNvCxnSpPr/>
          <p:nvPr/>
        </p:nvCxnSpPr>
        <p:spPr>
          <a:xfrm>
            <a:off x="1632155" y="450923"/>
            <a:ext cx="3657600" cy="3295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5907AF-5B8A-B76E-7D49-1E7A06152485}"/>
              </a:ext>
            </a:extLst>
          </p:cNvPr>
          <p:cNvSpPr txBox="1"/>
          <p:nvPr/>
        </p:nvSpPr>
        <p:spPr>
          <a:xfrm>
            <a:off x="2735826" y="4987101"/>
            <a:ext cx="6159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predicted values </a:t>
            </a:r>
            <a:r>
              <a:rPr lang="en-US" dirty="0"/>
              <a:t>are stored in the variable </a:t>
            </a:r>
            <a:r>
              <a:rPr lang="en-US" b="1" dirty="0">
                <a:highlight>
                  <a:srgbClr val="00FF00"/>
                </a:highlight>
              </a:rPr>
              <a:t>y_pred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CFE0E3-249C-9B4B-0332-747552B87BF4}"/>
              </a:ext>
            </a:extLst>
          </p:cNvPr>
          <p:cNvCxnSpPr/>
          <p:nvPr/>
        </p:nvCxnSpPr>
        <p:spPr>
          <a:xfrm flipH="1" flipV="1">
            <a:off x="3588774" y="3903406"/>
            <a:ext cx="3932903" cy="1258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03BEA4E-1EBD-F1A9-F21C-8800A7538D86}"/>
              </a:ext>
            </a:extLst>
          </p:cNvPr>
          <p:cNvSpPr txBox="1"/>
          <p:nvPr/>
        </p:nvSpPr>
        <p:spPr>
          <a:xfrm>
            <a:off x="658761" y="5610205"/>
            <a:ext cx="9016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then compare </a:t>
            </a:r>
            <a:r>
              <a:rPr lang="en-US" b="1" dirty="0">
                <a:highlight>
                  <a:srgbClr val="00FF00"/>
                </a:highlight>
              </a:rPr>
              <a:t>y_pred </a:t>
            </a:r>
            <a:r>
              <a:rPr lang="en-US" dirty="0"/>
              <a:t>with the actual values </a:t>
            </a:r>
            <a:r>
              <a:rPr lang="en-US" b="1" dirty="0">
                <a:highlight>
                  <a:srgbClr val="FFFF00"/>
                </a:highlight>
              </a:rPr>
              <a:t>(y_test) </a:t>
            </a:r>
            <a:r>
              <a:rPr lang="en-US" dirty="0"/>
              <a:t>to </a:t>
            </a:r>
            <a:r>
              <a:rPr lang="en-US" b="1" dirty="0"/>
              <a:t>evaluate</a:t>
            </a:r>
            <a:r>
              <a:rPr lang="en-US" dirty="0"/>
              <a:t> the </a:t>
            </a:r>
            <a:r>
              <a:rPr lang="en-US" b="1" dirty="0"/>
              <a:t>performance </a:t>
            </a:r>
            <a:r>
              <a:rPr lang="en-US" dirty="0"/>
              <a:t>of your model.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894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F772-5D9C-4B36-709B-2B91985B6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8817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                   What Happens During predict?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AA09A-6F91-A2F6-4E88-0F6F2D6A2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766916"/>
            <a:ext cx="11206316" cy="5410047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applies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linear relationship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(slope and intercept)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phase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sample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x_test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corresponding </a:t>
            </a:r>
            <a:r>
              <a:rPr lang="en-US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 values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feature value in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model calculates the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output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equation of the line (in case of </a:t>
            </a:r>
            <a:r>
              <a:rPr lang="en-US" sz="32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regression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  <a:p>
            <a:pPr marL="0" indent="0">
              <a:buNone/>
            </a:pPr>
            <a:r>
              <a:rPr lang="en-US" dirty="0">
                <a:latin typeface="Algerian" panose="04020705040A02060702" pitchFamily="82" charset="0"/>
              </a:rPr>
              <a:t>                     predicted </a:t>
            </a:r>
            <a:r>
              <a:rPr lang="en-US" b="1" dirty="0">
                <a:solidFill>
                  <a:srgbClr val="FF0000"/>
                </a:solidFill>
                <a:latin typeface="Algerian" panose="04020705040A02060702" pitchFamily="82" charset="0"/>
              </a:rPr>
              <a:t>𝑦</a:t>
            </a:r>
            <a:r>
              <a:rPr lang="en-US" dirty="0">
                <a:latin typeface="Algerian" panose="04020705040A02060702" pitchFamily="82" charset="0"/>
              </a:rPr>
              <a:t>=intercept+(slope×</a:t>
            </a:r>
            <a:r>
              <a:rPr lang="en-US" b="1" dirty="0">
                <a:solidFill>
                  <a:srgbClr val="FF0000"/>
                </a:solidFill>
                <a:latin typeface="Algerian" panose="04020705040A02060702" pitchFamily="82" charset="0"/>
              </a:rPr>
              <a:t>𝑥</a:t>
            </a:r>
            <a:r>
              <a:rPr lang="en-US" dirty="0">
                <a:latin typeface="Algerian" panose="04020705040A02060702" pitchFamily="82" charset="0"/>
              </a:rPr>
              <a:t>)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278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4C79A6-2C9D-F766-0CF2-858A2155B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155154"/>
            <a:ext cx="12192000" cy="61150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7BDFE2-DD19-8E46-4CFB-6DDF2DA1B6E1}"/>
              </a:ext>
            </a:extLst>
          </p:cNvPr>
          <p:cNvSpPr txBox="1"/>
          <p:nvPr/>
        </p:nvSpPr>
        <p:spPr>
          <a:xfrm>
            <a:off x="8072284" y="2726273"/>
            <a:ext cx="359860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plt.scatter </a:t>
            </a:r>
            <a:r>
              <a:rPr lang="en-US" dirty="0"/>
              <a:t>creates a scatter plot.</a:t>
            </a:r>
          </a:p>
          <a:p>
            <a:r>
              <a:rPr lang="en-US" b="1" dirty="0">
                <a:solidFill>
                  <a:srgbClr val="FF0000"/>
                </a:solidFill>
              </a:rPr>
              <a:t>x_test </a:t>
            </a:r>
            <a:r>
              <a:rPr lang="en-US" dirty="0"/>
              <a:t>is plotted on the x-axis (years of experience).</a:t>
            </a:r>
          </a:p>
          <a:p>
            <a:r>
              <a:rPr lang="en-US" b="1" dirty="0">
                <a:solidFill>
                  <a:srgbClr val="FF0000"/>
                </a:solidFill>
              </a:rPr>
              <a:t>y_test </a:t>
            </a:r>
            <a:r>
              <a:rPr lang="en-US" dirty="0"/>
              <a:t>is plotted on the y-axis ( salary).</a:t>
            </a:r>
          </a:p>
          <a:p>
            <a:endParaRPr lang="en-US" dirty="0"/>
          </a:p>
          <a:p>
            <a:r>
              <a:rPr lang="en-US" dirty="0"/>
              <a:t>This </a:t>
            </a:r>
            <a:r>
              <a:rPr lang="en-US" b="1" dirty="0">
                <a:solidFill>
                  <a:srgbClr val="FF0000"/>
                </a:solidFill>
              </a:rPr>
              <a:t>red color plots </a:t>
            </a:r>
            <a:r>
              <a:rPr lang="en-US" dirty="0"/>
              <a:t>visualizes the actual </a:t>
            </a:r>
            <a:r>
              <a:rPr lang="en-US" b="1" dirty="0">
                <a:solidFill>
                  <a:srgbClr val="FF0000"/>
                </a:solidFill>
              </a:rPr>
              <a:t>data points </a:t>
            </a:r>
            <a:r>
              <a:rPr lang="en-US" dirty="0"/>
              <a:t>from the </a:t>
            </a:r>
            <a:r>
              <a:rPr lang="en-US" b="1" dirty="0">
                <a:solidFill>
                  <a:srgbClr val="002060"/>
                </a:solidFill>
              </a:rPr>
              <a:t>test set</a:t>
            </a:r>
            <a:r>
              <a:rPr lang="en-US" dirty="0"/>
              <a:t>, showing the </a:t>
            </a:r>
            <a:r>
              <a:rPr lang="en-US" b="1" dirty="0">
                <a:highlight>
                  <a:srgbClr val="FFFF00"/>
                </a:highlight>
              </a:rPr>
              <a:t>real relationship </a:t>
            </a:r>
            <a:r>
              <a:rPr lang="en-US" dirty="0"/>
              <a:t>between </a:t>
            </a:r>
            <a:r>
              <a:rPr lang="en-US" b="1" dirty="0">
                <a:highlight>
                  <a:srgbClr val="00FF00"/>
                </a:highlight>
              </a:rPr>
              <a:t>years of experience </a:t>
            </a:r>
            <a:r>
              <a:rPr lang="en-US" dirty="0"/>
              <a:t>and </a:t>
            </a:r>
            <a:r>
              <a:rPr lang="en-US" b="1" dirty="0">
                <a:highlight>
                  <a:srgbClr val="00FF00"/>
                </a:highlight>
              </a:rPr>
              <a:t>salary.</a:t>
            </a:r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0565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20636D-CDB3-039D-D356-BA49F1945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48" y="300351"/>
            <a:ext cx="11552903" cy="6115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6177C6-EB7B-370F-2134-49DD9F7D5AEA}"/>
              </a:ext>
            </a:extLst>
          </p:cNvPr>
          <p:cNvSpPr txBox="1"/>
          <p:nvPr/>
        </p:nvSpPr>
        <p:spPr>
          <a:xfrm>
            <a:off x="7816645" y="1926725"/>
            <a:ext cx="35789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plt.plot </a:t>
            </a:r>
            <a:r>
              <a:rPr lang="en-US" dirty="0"/>
              <a:t>is used to </a:t>
            </a:r>
            <a:r>
              <a:rPr lang="en-US" b="1" dirty="0"/>
              <a:t>plot a line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002060"/>
                </a:solidFill>
              </a:rPr>
              <a:t>x_test </a:t>
            </a:r>
            <a:r>
              <a:rPr lang="en-US" dirty="0"/>
              <a:t>is plotted on the x-axis.</a:t>
            </a:r>
          </a:p>
          <a:p>
            <a:r>
              <a:rPr lang="en-US" b="1" dirty="0"/>
              <a:t>y_pred </a:t>
            </a:r>
            <a:r>
              <a:rPr lang="en-US" dirty="0"/>
              <a:t>is plotted on the y-axis.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y_pred </a:t>
            </a:r>
            <a:r>
              <a:rPr lang="en-US" dirty="0"/>
              <a:t>contains the </a:t>
            </a:r>
            <a:r>
              <a:rPr lang="en-US" b="1" dirty="0"/>
              <a:t>predicted salary values</a:t>
            </a:r>
            <a:r>
              <a:rPr lang="en-US" dirty="0"/>
              <a:t> for the corresponding </a:t>
            </a:r>
            <a:r>
              <a:rPr lang="en-US" b="1" dirty="0">
                <a:solidFill>
                  <a:srgbClr val="FF0000"/>
                </a:solidFill>
              </a:rPr>
              <a:t>x_test </a:t>
            </a:r>
            <a:r>
              <a:rPr lang="en-US" dirty="0"/>
              <a:t>values, generated by the model using </a:t>
            </a:r>
            <a:r>
              <a:rPr lang="en-US" b="1" dirty="0">
                <a:highlight>
                  <a:srgbClr val="00FF00"/>
                </a:highlight>
              </a:rPr>
              <a:t>regressor.predict(x_test).</a:t>
            </a:r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50873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7ACC3-AACD-DC94-16A7-08BAE017A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6" y="337890"/>
            <a:ext cx="11985523" cy="618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67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EEEAC-ADD2-3DB8-489A-297130071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89" y="584775"/>
            <a:ext cx="11284884" cy="5753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85E0FC-2B47-5D9B-6F5E-440502973E0D}"/>
              </a:ext>
            </a:extLst>
          </p:cNvPr>
          <p:cNvSpPr txBox="1"/>
          <p:nvPr/>
        </p:nvSpPr>
        <p:spPr>
          <a:xfrm>
            <a:off x="668594" y="5023887"/>
            <a:ext cx="92324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00FF00"/>
                </a:highlight>
              </a:rPr>
              <a:t>Coefficient: </a:t>
            </a:r>
            <a:r>
              <a:rPr lang="en-US" sz="1600" b="1" dirty="0">
                <a:solidFill>
                  <a:srgbClr val="FF0000"/>
                </a:solidFill>
              </a:rPr>
              <a:t>9345.94</a:t>
            </a:r>
            <a:r>
              <a:rPr lang="en-US" sz="1600" dirty="0"/>
              <a:t> suggests that for </a:t>
            </a:r>
            <a:r>
              <a:rPr lang="en-US" sz="1600" b="1" dirty="0">
                <a:solidFill>
                  <a:srgbClr val="FF0000"/>
                </a:solidFill>
              </a:rPr>
              <a:t>every additional year of experience </a:t>
            </a:r>
            <a:r>
              <a:rPr lang="en-US" sz="1600" dirty="0"/>
              <a:t>,the model predicts an increase in salary by </a:t>
            </a:r>
            <a:r>
              <a:rPr lang="en-US" sz="1600" b="1" dirty="0"/>
              <a:t>$935.94</a:t>
            </a:r>
            <a:r>
              <a:rPr lang="en-US" sz="1600" dirty="0"/>
              <a:t>, assuming a linear relationship.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07AB0-6AC5-4206-D817-D99645EA3830}"/>
              </a:ext>
            </a:extLst>
          </p:cNvPr>
          <p:cNvSpPr txBox="1"/>
          <p:nvPr/>
        </p:nvSpPr>
        <p:spPr>
          <a:xfrm>
            <a:off x="216310" y="0"/>
            <a:ext cx="117987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00FFFF"/>
                </a:highlight>
              </a:rPr>
              <a:t>Intercept: </a:t>
            </a:r>
            <a:r>
              <a:rPr lang="en-US" sz="1600" b="1" dirty="0">
                <a:solidFill>
                  <a:srgbClr val="FF0000"/>
                </a:solidFill>
              </a:rPr>
              <a:t>26780.0091506</a:t>
            </a:r>
            <a:r>
              <a:rPr lang="en-US" sz="1600" dirty="0"/>
              <a:t>means that if a person has </a:t>
            </a:r>
            <a:r>
              <a:rPr lang="en-US" sz="1600" b="1" dirty="0">
                <a:solidFill>
                  <a:srgbClr val="FF0000"/>
                </a:solidFill>
              </a:rPr>
              <a:t>0 years </a:t>
            </a:r>
            <a:r>
              <a:rPr lang="en-US" sz="1600" dirty="0"/>
              <a:t>of experience, the predicted starting salary (based on this model) would be approximately </a:t>
            </a:r>
            <a:r>
              <a:rPr lang="en-US" sz="1600" b="1" dirty="0"/>
              <a:t>$26816.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693788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CE1575-213C-0B6C-F476-E4452C9C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1369210"/>
            <a:ext cx="5696745" cy="12288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E8EA45-2744-222C-B70E-228934364A1F}"/>
              </a:ext>
            </a:extLst>
          </p:cNvPr>
          <p:cNvSpPr txBox="1"/>
          <p:nvPr/>
        </p:nvSpPr>
        <p:spPr>
          <a:xfrm>
            <a:off x="521110" y="914400"/>
            <a:ext cx="4817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      Prediction for 11.5  years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2B4D6-E0A8-0926-D536-5AEE90464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131" y="1369210"/>
            <a:ext cx="5039428" cy="1171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AC83FC-D543-8507-603D-B36ABD1CFF3F}"/>
              </a:ext>
            </a:extLst>
          </p:cNvPr>
          <p:cNvSpPr txBox="1"/>
          <p:nvPr/>
        </p:nvSpPr>
        <p:spPr>
          <a:xfrm>
            <a:off x="6951406" y="9144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Prediction for 0 years of experience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610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558</Words>
  <Application>Microsoft Office PowerPoint</Application>
  <PresentationFormat>Widescreen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Arial Unicode MS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What Happens During predict?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jagadishdell@outlook.com</dc:creator>
  <cp:lastModifiedBy>jagadishdell@outlook.com</cp:lastModifiedBy>
  <cp:revision>3</cp:revision>
  <dcterms:created xsi:type="dcterms:W3CDTF">2024-09-02T12:48:00Z</dcterms:created>
  <dcterms:modified xsi:type="dcterms:W3CDTF">2025-05-08T18:43:20Z</dcterms:modified>
</cp:coreProperties>
</file>