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heme/theme3.xml" ContentType="application/vnd.openxmlformats-officedocument.them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3.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4.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5.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6.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27.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28.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77"/>
  </p:notesMasterIdLst>
  <p:sldIdLst>
    <p:sldId id="443" r:id="rId3"/>
    <p:sldId id="461" r:id="rId4"/>
    <p:sldId id="534" r:id="rId5"/>
    <p:sldId id="514" r:id="rId6"/>
    <p:sldId id="515" r:id="rId7"/>
    <p:sldId id="516" r:id="rId8"/>
    <p:sldId id="518" r:id="rId9"/>
    <p:sldId id="517" r:id="rId10"/>
    <p:sldId id="533" r:id="rId11"/>
    <p:sldId id="340" r:id="rId12"/>
    <p:sldId id="481" r:id="rId13"/>
    <p:sldId id="519" r:id="rId14"/>
    <p:sldId id="520" r:id="rId15"/>
    <p:sldId id="521" r:id="rId16"/>
    <p:sldId id="522" r:id="rId17"/>
    <p:sldId id="482" r:id="rId18"/>
    <p:sldId id="523" r:id="rId19"/>
    <p:sldId id="483" r:id="rId20"/>
    <p:sldId id="524" r:id="rId21"/>
    <p:sldId id="525" r:id="rId22"/>
    <p:sldId id="526" r:id="rId23"/>
    <p:sldId id="416" r:id="rId24"/>
    <p:sldId id="417" r:id="rId25"/>
    <p:sldId id="419" r:id="rId26"/>
    <p:sldId id="420" r:id="rId27"/>
    <p:sldId id="421" r:id="rId28"/>
    <p:sldId id="422" r:id="rId29"/>
    <p:sldId id="423" r:id="rId30"/>
    <p:sldId id="424" r:id="rId31"/>
    <p:sldId id="425" r:id="rId32"/>
    <p:sldId id="426" r:id="rId33"/>
    <p:sldId id="427" r:id="rId34"/>
    <p:sldId id="428" r:id="rId35"/>
    <p:sldId id="429" r:id="rId36"/>
    <p:sldId id="430" r:id="rId37"/>
    <p:sldId id="431" r:id="rId38"/>
    <p:sldId id="432" r:id="rId39"/>
    <p:sldId id="484" r:id="rId40"/>
    <p:sldId id="462" r:id="rId41"/>
    <p:sldId id="485" r:id="rId42"/>
    <p:sldId id="486" r:id="rId43"/>
    <p:sldId id="487" r:id="rId44"/>
    <p:sldId id="488" r:id="rId45"/>
    <p:sldId id="489" r:id="rId46"/>
    <p:sldId id="490" r:id="rId47"/>
    <p:sldId id="527" r:id="rId48"/>
    <p:sldId id="491" r:id="rId49"/>
    <p:sldId id="492" r:id="rId50"/>
    <p:sldId id="493" r:id="rId51"/>
    <p:sldId id="494" r:id="rId52"/>
    <p:sldId id="466" r:id="rId53"/>
    <p:sldId id="495" r:id="rId54"/>
    <p:sldId id="463" r:id="rId55"/>
    <p:sldId id="496" r:id="rId56"/>
    <p:sldId id="528" r:id="rId57"/>
    <p:sldId id="529" r:id="rId58"/>
    <p:sldId id="530" r:id="rId59"/>
    <p:sldId id="531" r:id="rId60"/>
    <p:sldId id="497" r:id="rId61"/>
    <p:sldId id="498" r:id="rId62"/>
    <p:sldId id="499" r:id="rId63"/>
    <p:sldId id="500" r:id="rId64"/>
    <p:sldId id="501" r:id="rId65"/>
    <p:sldId id="502" r:id="rId66"/>
    <p:sldId id="503" r:id="rId67"/>
    <p:sldId id="504" r:id="rId68"/>
    <p:sldId id="505" r:id="rId69"/>
    <p:sldId id="507" r:id="rId70"/>
    <p:sldId id="506" r:id="rId71"/>
    <p:sldId id="512" r:id="rId72"/>
    <p:sldId id="513" r:id="rId73"/>
    <p:sldId id="510" r:id="rId74"/>
    <p:sldId id="511" r:id="rId75"/>
    <p:sldId id="532"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60"/>
  </p:normalViewPr>
  <p:slideViewPr>
    <p:cSldViewPr snapToGrid="0">
      <p:cViewPr varScale="1">
        <p:scale>
          <a:sx n="84" d="100"/>
          <a:sy n="84" d="100"/>
        </p:scale>
        <p:origin x="816" y="72"/>
      </p:cViewPr>
      <p:guideLst/>
    </p:cSldViewPr>
  </p:slideViewPr>
  <p:notesTextViewPr>
    <p:cViewPr>
      <p:scale>
        <a:sx n="1" d="1"/>
        <a:sy n="1" d="1"/>
      </p:scale>
      <p:origin x="0" y="0"/>
    </p:cViewPr>
  </p:notesTextViewPr>
  <p:sorterViewPr>
    <p:cViewPr>
      <p:scale>
        <a:sx n="100" d="100"/>
        <a:sy n="100" d="100"/>
      </p:scale>
      <p:origin x="0" y="-31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7.xml"/><Relationship Id="rId1" Type="http://schemas.microsoft.com/office/2011/relationships/chartStyle" Target="styl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F59A-4560-8034-40C9E1FDCB41}"/>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8CE7-466B-9414-9DAA48B2E9D7}"/>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590B-42A3-85FC-B6AAC52D7A76}"/>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E6A7-45A8-AF99-C273DF158801}"/>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BB66-4DED-A4F2-70018B691EB5}"/>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2698-426F-B133-2FF8F4C94AE3}"/>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665C-472C-A74A-E9B30C770781}"/>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12D0-4673-980F-B08046E75E06}"/>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 Prediction</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38100" cap="rnd" cmpd="sng">
                <a:solidFill>
                  <a:srgbClr val="FF0000"/>
                </a:solidFill>
                <a:prstDash val="solid"/>
              </a:ln>
              <a:effectLst/>
            </c:spPr>
            <c:trendlineType val="linear"/>
            <c:dispRSqr val="1"/>
            <c:dispEq val="1"/>
            <c:trendlineLbl>
              <c:layout>
                <c:manualLayout>
                  <c:x val="-0.25731832712757102"/>
                  <c:y val="-3.0524276392428398E-2"/>
                </c:manualLayout>
              </c:layout>
              <c:numFmt formatCode="General" sourceLinked="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trendlineLbl>
          </c:trendline>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1-1672-458E-A7CE-9D5730F2BD31}"/>
            </c:ext>
          </c:extLst>
        </c:ser>
        <c:dLbls>
          <c:showLegendKey val="0"/>
          <c:showVal val="0"/>
          <c:showCatName val="0"/>
          <c:showSerName val="0"/>
          <c:showPercent val="0"/>
          <c:showBubbleSize val="0"/>
        </c:dLbls>
        <c:axId val="1664561840"/>
        <c:axId val="1664541200"/>
      </c:scatterChart>
      <c:valAx>
        <c:axId val="1664561840"/>
        <c:scaling>
          <c:orientation val="minMax"/>
          <c:min val="400"/>
        </c:scaling>
        <c:delete val="0"/>
        <c:axPos val="b"/>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Size (Sq ft)</a:t>
                </a:r>
                <a:endParaRPr lang="en-US"/>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41200"/>
        <c:crosses val="autoZero"/>
        <c:crossBetween val="midCat"/>
      </c:valAx>
      <c:valAx>
        <c:axId val="1664541200"/>
        <c:scaling>
          <c:orientation val="minMax"/>
          <c:min val="1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6184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5553-4912-98D1-1C6FE4E9FA47}"/>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 Prediction</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38100" cap="rnd" cmpd="sng">
                <a:solidFill>
                  <a:srgbClr val="FF0000"/>
                </a:solidFill>
                <a:prstDash val="solid"/>
              </a:ln>
              <a:effectLst/>
            </c:spPr>
            <c:trendlineType val="linear"/>
            <c:dispRSqr val="1"/>
            <c:dispEq val="1"/>
            <c:trendlineLbl>
              <c:layout>
                <c:manualLayout>
                  <c:x val="-0.25731832712757102"/>
                  <c:y val="-3.0524276392428398E-2"/>
                </c:manualLayout>
              </c:layout>
              <c:numFmt formatCode="General" sourceLinked="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trendlineLbl>
          </c:trendline>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1-5DF3-4446-9B2A-ED35C81A7144}"/>
            </c:ext>
          </c:extLst>
        </c:ser>
        <c:dLbls>
          <c:showLegendKey val="0"/>
          <c:showVal val="0"/>
          <c:showCatName val="0"/>
          <c:showSerName val="0"/>
          <c:showPercent val="0"/>
          <c:showBubbleSize val="0"/>
        </c:dLbls>
        <c:axId val="1664561840"/>
        <c:axId val="1664541200"/>
      </c:scatterChart>
      <c:valAx>
        <c:axId val="1664561840"/>
        <c:scaling>
          <c:orientation val="minMax"/>
          <c:min val="400"/>
        </c:scaling>
        <c:delete val="0"/>
        <c:axPos val="b"/>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Size (Sq ft)</a:t>
                </a:r>
                <a:endParaRPr lang="en-US"/>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41200"/>
        <c:crosses val="autoZero"/>
        <c:crossBetween val="midCat"/>
      </c:valAx>
      <c:valAx>
        <c:axId val="1664541200"/>
        <c:scaling>
          <c:orientation val="minMax"/>
          <c:min val="1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6184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A566-448A-8585-6E1DCBE0D139}"/>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 Prediction</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38100" cap="rnd" cmpd="sng">
                <a:solidFill>
                  <a:srgbClr val="FF0000"/>
                </a:solidFill>
                <a:prstDash val="solid"/>
              </a:ln>
              <a:effectLst/>
            </c:spPr>
            <c:trendlineType val="linear"/>
            <c:dispRSqr val="1"/>
            <c:dispEq val="1"/>
            <c:trendlineLbl>
              <c:layout>
                <c:manualLayout>
                  <c:x val="-0.25731832712757102"/>
                  <c:y val="-3.0524276392428398E-2"/>
                </c:manualLayout>
              </c:layout>
              <c:numFmt formatCode="General" sourceLinked="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trendlineLbl>
          </c:trendline>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1-77EB-4F71-8875-5CBA5AC94DCA}"/>
            </c:ext>
          </c:extLst>
        </c:ser>
        <c:dLbls>
          <c:showLegendKey val="0"/>
          <c:showVal val="0"/>
          <c:showCatName val="0"/>
          <c:showSerName val="0"/>
          <c:showPercent val="0"/>
          <c:showBubbleSize val="0"/>
        </c:dLbls>
        <c:axId val="1664561840"/>
        <c:axId val="1664541200"/>
      </c:scatterChart>
      <c:valAx>
        <c:axId val="1664561840"/>
        <c:scaling>
          <c:orientation val="minMax"/>
          <c:min val="400"/>
        </c:scaling>
        <c:delete val="0"/>
        <c:axPos val="b"/>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Size (Sq ft)</a:t>
                </a:r>
                <a:endParaRPr lang="en-US"/>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41200"/>
        <c:crosses val="autoZero"/>
        <c:crossBetween val="midCat"/>
      </c:valAx>
      <c:valAx>
        <c:axId val="1664541200"/>
        <c:scaling>
          <c:orientation val="minMax"/>
          <c:min val="1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6184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DDA9-4041-87D6-F3194AB72B61}"/>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 Prediction</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38100" cap="rnd" cmpd="sng">
                <a:solidFill>
                  <a:srgbClr val="FF0000"/>
                </a:solidFill>
                <a:prstDash val="solid"/>
              </a:ln>
              <a:effectLst/>
            </c:spPr>
            <c:trendlineType val="linear"/>
            <c:dispRSqr val="1"/>
            <c:dispEq val="1"/>
            <c:trendlineLbl>
              <c:layout>
                <c:manualLayout>
                  <c:x val="-0.25731832712757102"/>
                  <c:y val="-3.0524276392428398E-2"/>
                </c:manualLayout>
              </c:layout>
              <c:numFmt formatCode="General" sourceLinked="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trendlineLbl>
          </c:trendline>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1-6F55-4ACA-AE3F-C01BF5B4AB8C}"/>
            </c:ext>
          </c:extLst>
        </c:ser>
        <c:dLbls>
          <c:showLegendKey val="0"/>
          <c:showVal val="0"/>
          <c:showCatName val="0"/>
          <c:showSerName val="0"/>
          <c:showPercent val="0"/>
          <c:showBubbleSize val="0"/>
        </c:dLbls>
        <c:axId val="1664561840"/>
        <c:axId val="1664541200"/>
      </c:scatterChart>
      <c:valAx>
        <c:axId val="1664561840"/>
        <c:scaling>
          <c:orientation val="minMax"/>
          <c:min val="400"/>
        </c:scaling>
        <c:delete val="0"/>
        <c:axPos val="b"/>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Size (Sq ft)</a:t>
                </a:r>
                <a:endParaRPr lang="en-US"/>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41200"/>
        <c:crosses val="autoZero"/>
        <c:crossBetween val="midCat"/>
      </c:valAx>
      <c:valAx>
        <c:axId val="1664541200"/>
        <c:scaling>
          <c:orientation val="minMax"/>
          <c:min val="1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6184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0-2714-4088-8976-43FD07D6D4B3}"/>
            </c:ext>
          </c:extLst>
        </c:ser>
        <c:dLbls>
          <c:showLegendKey val="0"/>
          <c:showVal val="0"/>
          <c:showCatName val="0"/>
          <c:showSerName val="0"/>
          <c:showPercent val="0"/>
          <c:showBubbleSize val="0"/>
        </c:dLbls>
        <c:axId val="1042366000"/>
        <c:axId val="1042356880"/>
      </c:scatterChart>
      <c:valAx>
        <c:axId val="1042366000"/>
        <c:scaling>
          <c:orientation val="minMax"/>
          <c:min val="4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Size(Sq ft) </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56880"/>
        <c:crosses val="autoZero"/>
        <c:crossBetween val="midCat"/>
      </c:valAx>
      <c:valAx>
        <c:axId val="1042356880"/>
        <c:scaling>
          <c:orientation val="minMax"/>
          <c:min val="1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 Price ($)</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04236600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a:t>House</a:t>
            </a:r>
            <a:r>
              <a:rPr lang="en-US" baseline="0"/>
              <a:t> Price Prediction</a:t>
            </a:r>
            <a:endParaRPr lang="en-US"/>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38100" cap="rnd" cmpd="sng">
                <a:solidFill>
                  <a:srgbClr val="FF0000"/>
                </a:solidFill>
                <a:prstDash val="solid"/>
              </a:ln>
              <a:effectLst/>
            </c:spPr>
            <c:trendlineType val="linear"/>
            <c:dispRSqr val="1"/>
            <c:dispEq val="1"/>
            <c:trendlineLbl>
              <c:layout>
                <c:manualLayout>
                  <c:x val="-0.25731832712757102"/>
                  <c:y val="-3.0524276392428398E-2"/>
                </c:manualLayout>
              </c:layout>
              <c:numFmt formatCode="General" sourceLinked="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trendlineLbl>
          </c:trendline>
          <c:xVal>
            <c:numRef>
              <c:f>Sheet1!$A$2:$A$6</c:f>
              <c:numCache>
                <c:formatCode>General</c:formatCode>
                <c:ptCount val="5"/>
                <c:pt idx="0">
                  <c:v>500</c:v>
                </c:pt>
                <c:pt idx="1">
                  <c:v>800</c:v>
                </c:pt>
                <c:pt idx="2">
                  <c:v>1000</c:v>
                </c:pt>
                <c:pt idx="3">
                  <c:v>1200</c:v>
                </c:pt>
                <c:pt idx="4">
                  <c:v>1500</c:v>
                </c:pt>
              </c:numCache>
            </c:numRef>
          </c:xVal>
          <c:yVal>
            <c:numRef>
              <c:f>Sheet1!$B$2:$B$6</c:f>
              <c:numCache>
                <c:formatCode>#,##0</c:formatCode>
                <c:ptCount val="5"/>
                <c:pt idx="0">
                  <c:v>150000</c:v>
                </c:pt>
                <c:pt idx="1">
                  <c:v>200000</c:v>
                </c:pt>
                <c:pt idx="2">
                  <c:v>250000</c:v>
                </c:pt>
                <c:pt idx="3">
                  <c:v>280000</c:v>
                </c:pt>
                <c:pt idx="4">
                  <c:v>320000</c:v>
                </c:pt>
              </c:numCache>
            </c:numRef>
          </c:yVal>
          <c:smooth val="0"/>
          <c:extLst>
            <c:ext xmlns:c16="http://schemas.microsoft.com/office/drawing/2014/chart" uri="{C3380CC4-5D6E-409C-BE32-E72D297353CC}">
              <c16:uniqueId val="{00000001-92C2-40E3-9CA1-37312E6BE9DF}"/>
            </c:ext>
          </c:extLst>
        </c:ser>
        <c:dLbls>
          <c:showLegendKey val="0"/>
          <c:showVal val="0"/>
          <c:showCatName val="0"/>
          <c:showSerName val="0"/>
          <c:showPercent val="0"/>
          <c:showBubbleSize val="0"/>
        </c:dLbls>
        <c:axId val="1664561840"/>
        <c:axId val="1664541200"/>
      </c:scatterChart>
      <c:valAx>
        <c:axId val="1664561840"/>
        <c:scaling>
          <c:orientation val="minMax"/>
          <c:min val="400"/>
        </c:scaling>
        <c:delete val="0"/>
        <c:axPos val="b"/>
        <c:title>
          <c:tx>
            <c:rich>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Size (Sq ft)</a:t>
                </a:r>
                <a:endParaRPr lang="en-US"/>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41200"/>
        <c:crosses val="autoZero"/>
        <c:crossBetween val="midCat"/>
      </c:valAx>
      <c:valAx>
        <c:axId val="1664541200"/>
        <c:scaling>
          <c:orientation val="minMax"/>
          <c:min val="1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r>
                  <a:rPr lang="en-US"/>
                  <a:t>House</a:t>
                </a:r>
                <a:r>
                  <a:rPr lang="en-US" baseline="0"/>
                  <a:t> Price($)</a:t>
                </a:r>
                <a:endParaRPr lang="en-US"/>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664561840"/>
        <c:crosses val="autoZero"/>
        <c:crossBetween val="midCat"/>
      </c:valAx>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9138F0-D6EF-4E4C-A72F-A74E1EC68592}" type="datetimeFigureOut">
              <a:rPr lang="en-US" smtClean="0"/>
              <a:t>9/12/2025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5F1064-02AB-48C6-A605-3DC22B2A7DC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5F1064-02AB-48C6-A605-3DC22B2A7DCD}" type="slidenum">
              <a:rPr lang="en-US" smtClean="0"/>
              <a:t>5</a:t>
            </a:fld>
            <a:endParaRPr lang="en-US"/>
          </a:p>
        </p:txBody>
      </p:sp>
    </p:spTree>
    <p:extLst>
      <p:ext uri="{BB962C8B-B14F-4D97-AF65-F5344CB8AC3E}">
        <p14:creationId xmlns:p14="http://schemas.microsoft.com/office/powerpoint/2010/main" val="2468478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445510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538863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2125559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169799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64140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2145977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2249610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800305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186799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4190525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095794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pPr algn="l"/>
            <a:r>
              <a:rPr lang="en-US" b="0" i="0" dirty="0">
                <a:effectLst/>
                <a:latin typeface="Roboto" panose="02000000000000000000" pitchFamily="2" charset="0"/>
              </a:rPr>
              <a:t>We train the model by feeding it input data and a binary class to which this data belongs. </a:t>
            </a:r>
            <a:br>
              <a:rPr lang="en-US" b="0" i="0" dirty="0">
                <a:effectLst/>
                <a:latin typeface="Roboto" panose="02000000000000000000" pitchFamily="2" charset="0"/>
              </a:rPr>
            </a:br>
            <a:endParaRPr lang="en-US" b="0" i="0" dirty="0">
              <a:effectLst/>
              <a:latin typeface="Roboto" panose="02000000000000000000" pitchFamily="2" charset="0"/>
            </a:endParaRPr>
          </a:p>
          <a:p>
            <a:pPr algn="l"/>
            <a:r>
              <a:rPr lang="en-US" b="0" i="0" dirty="0">
                <a:effectLst/>
                <a:latin typeface="Roboto" panose="02000000000000000000" pitchFamily="2" charset="0"/>
              </a:rPr>
              <a:t>For example, we would input the email subject line (“A Nigerian prince needs your help”) into the model with the accompanying class (“spam”). The model learns the patterns between the incoming data and the desired output as a mapping (aka, when input is “x”, predict “y”). </a:t>
            </a:r>
            <a:br>
              <a:rPr lang="en-US" b="0" i="0" dirty="0">
                <a:effectLst/>
                <a:latin typeface="Roboto" panose="02000000000000000000" pitchFamily="2" charset="0"/>
              </a:rPr>
            </a:br>
            <a:endParaRPr lang="en-US" b="0" i="0" dirty="0">
              <a:effectLst/>
              <a:latin typeface="Roboto" panose="02000000000000000000" pitchFamily="2" charset="0"/>
            </a:endParaRPr>
          </a:p>
          <a:p>
            <a:pPr algn="l"/>
            <a:r>
              <a:rPr lang="en-US" b="0" i="0" dirty="0">
                <a:effectLst/>
                <a:latin typeface="Roboto" panose="02000000000000000000" pitchFamily="2" charset="0"/>
              </a:rPr>
              <a:t>The logistic regression can then be used on novel input data which the model has never seen before (during training).  </a:t>
            </a:r>
          </a:p>
          <a:p>
            <a:endParaRPr dirty="0"/>
          </a:p>
        </p:txBody>
      </p:sp>
    </p:spTree>
    <p:extLst>
      <p:ext uri="{BB962C8B-B14F-4D97-AF65-F5344CB8AC3E}">
        <p14:creationId xmlns:p14="http://schemas.microsoft.com/office/powerpoint/2010/main" val="3128913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643532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592055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0455225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8558554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22308011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29342414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41859984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2255081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42626566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677882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5960574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6992172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3852962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40338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1369977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2791410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5699000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5136796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35633488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Tree>
    <p:extLst>
      <p:ext uri="{BB962C8B-B14F-4D97-AF65-F5344CB8AC3E}">
        <p14:creationId xmlns:p14="http://schemas.microsoft.com/office/powerpoint/2010/main" val="17091064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21882772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39972340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16553374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11451786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12762055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31487949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27300895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40533306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18873324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24832462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406436420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28754879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19622493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r>
              <a:rPr lang="en-US" dirty="0"/>
              <a:t>The </a:t>
            </a:r>
            <a:r>
              <a:rPr lang="en-US" dirty="0" err="1"/>
              <a:t>softmax</a:t>
            </a:r>
            <a:r>
              <a:rPr lang="en-US" dirty="0"/>
              <a:t> function is used to convert the raw output (logits) from the linear regression model into probabilities for each class. For a given input XXX, the probability of class </a:t>
            </a:r>
            <a:r>
              <a:rPr lang="en-US" dirty="0" err="1"/>
              <a:t>kkk</a:t>
            </a:r>
            <a:r>
              <a:rPr lang="en-US" dirty="0"/>
              <a:t> is given by:</a:t>
            </a:r>
            <a:endParaRPr dirty="0"/>
          </a:p>
        </p:txBody>
      </p:sp>
    </p:spTree>
    <p:extLst>
      <p:ext uri="{BB962C8B-B14F-4D97-AF65-F5344CB8AC3E}">
        <p14:creationId xmlns:p14="http://schemas.microsoft.com/office/powerpoint/2010/main" val="3025374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2.png"/><Relationship Id="rId5" Type="http://schemas.openxmlformats.org/officeDocument/2006/relationships/tags" Target="../tags/tag14.xml"/><Relationship Id="rId10" Type="http://schemas.openxmlformats.org/officeDocument/2006/relationships/slideMaster" Target="../slideMasters/slideMaster2.xml"/><Relationship Id="rId4" Type="http://schemas.openxmlformats.org/officeDocument/2006/relationships/tags" Target="../tags/tag13.xml"/><Relationship Id="rId9" Type="http://schemas.openxmlformats.org/officeDocument/2006/relationships/tags" Target="../tags/tag18.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Master" Target="../slideMasters/slideMaster2.xml"/><Relationship Id="rId5" Type="http://schemas.openxmlformats.org/officeDocument/2006/relationships/tags" Target="../tags/tag23.xml"/><Relationship Id="rId4" Type="http://schemas.openxmlformats.org/officeDocument/2006/relationships/tags" Target="../tags/tag22.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9"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4.png"/><Relationship Id="rId5" Type="http://schemas.openxmlformats.org/officeDocument/2006/relationships/tags" Target="../tags/tag35.xml"/><Relationship Id="rId10" Type="http://schemas.openxmlformats.org/officeDocument/2006/relationships/slideMaster" Target="../slideMasters/slideMaster2.xml"/><Relationship Id="rId4" Type="http://schemas.openxmlformats.org/officeDocument/2006/relationships/tags" Target="../tags/tag34.xml"/><Relationship Id="rId9" Type="http://schemas.openxmlformats.org/officeDocument/2006/relationships/tags" Target="../tags/tag39.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2.xml"/><Relationship Id="rId4" Type="http://schemas.openxmlformats.org/officeDocument/2006/relationships/tags" Target="../tags/tag57.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slideMaster" Target="../slideMasters/slideMaster2.xml"/><Relationship Id="rId4" Type="http://schemas.openxmlformats.org/officeDocument/2006/relationships/tags" Target="../tags/tag64.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media/image5.png"/><Relationship Id="rId5" Type="http://schemas.openxmlformats.org/officeDocument/2006/relationships/tags" Target="../tags/tag75.xml"/><Relationship Id="rId10" Type="http://schemas.openxmlformats.org/officeDocument/2006/relationships/slideMaster" Target="../slideMasters/slideMaster2.xml"/><Relationship Id="rId4" Type="http://schemas.openxmlformats.org/officeDocument/2006/relationships/tags" Target="../tags/tag74.xml"/><Relationship Id="rId9" Type="http://schemas.openxmlformats.org/officeDocument/2006/relationships/tags" Target="../tags/tag7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747F76-AB6E-44B1-B98C-D4B14E9714A2}"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7F76-AB6E-44B1-B98C-D4B14E9714A2}"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747F76-AB6E-44B1-B98C-D4B14E9714A2}"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747F76-AB6E-44B1-B98C-D4B14E9714A2}"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747F76-AB6E-44B1-B98C-D4B14E9714A2}" type="datetimeFigureOut">
              <a:rPr lang="en-US" smtClean="0"/>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747F76-AB6E-44B1-B98C-D4B14E9714A2}" type="datetimeFigureOut">
              <a:rPr lang="en-US" smtClean="0"/>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747F76-AB6E-44B1-B98C-D4B14E9714A2}" type="datetimeFigureOut">
              <a:rPr lang="en-US" smtClean="0"/>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747F76-AB6E-44B1-B98C-D4B14E9714A2}"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747F76-AB6E-44B1-B98C-D4B14E9714A2}"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7F76-AB6E-44B1-B98C-D4B14E9714A2}"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7F76-AB6E-44B1-B98C-D4B14E9714A2}"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F0DF38-14A7-4864-B7FE-63BE149557F1}"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224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90649" y="50800"/>
            <a:ext cx="963251" cy="960203"/>
          </a:xfrm>
          <a:prstGeom prst="rect">
            <a:avLst/>
          </a:prstGeom>
        </p:spPr>
      </p:pic>
      <p:sp>
        <p:nvSpPr>
          <p:cNvPr id="8" name="Date Placeholder 7"/>
          <p:cNvSpPr>
            <a:spLocks noGrp="1"/>
          </p:cNvSpPr>
          <p:nvPr>
            <p:ph type="dt" sz="half" idx="10"/>
          </p:nvPr>
        </p:nvSpPr>
        <p:spPr>
          <a:xfrm>
            <a:off x="0" y="6496050"/>
            <a:ext cx="4038600" cy="365125"/>
          </a:xfrm>
          <a:ln>
            <a:noFill/>
          </a:ln>
        </p:spPr>
        <p:style>
          <a:lnRef idx="1">
            <a:schemeClr val="accent1"/>
          </a:lnRef>
          <a:fillRef idx="2">
            <a:schemeClr val="accent1"/>
          </a:fillRef>
          <a:effectRef idx="1">
            <a:schemeClr val="accent1"/>
          </a:effectRef>
          <a:fontRef idx="none"/>
        </p:style>
        <p:txBody>
          <a:bodyPr/>
          <a:lstStyle>
            <a:lvl1pPr>
              <a:defRPr b="1">
                <a:solidFill>
                  <a:srgbClr val="0000FF"/>
                </a:solidFill>
                <a:latin typeface="Bookman Old Style" panose="02050604050505020204" pitchFamily="18" charset="0"/>
              </a:defRPr>
            </a:lvl1pPr>
          </a:lstStyle>
          <a:p>
            <a:fld id="{05AAEBE1-8C31-4CCB-8034-3B2C89988683}" type="datetime1">
              <a:rPr lang="en-IN" smtClean="0"/>
              <a:t>12-09-2025</a:t>
            </a:fld>
            <a:endParaRPr lang="en-IN" dirty="0"/>
          </a:p>
        </p:txBody>
      </p:sp>
      <p:sp>
        <p:nvSpPr>
          <p:cNvPr id="9" name="Footer Placeholder 8"/>
          <p:cNvSpPr>
            <a:spLocks noGrp="1"/>
          </p:cNvSpPr>
          <p:nvPr>
            <p:ph type="ftr" sz="quarter" idx="11"/>
          </p:nvPr>
        </p:nvSpPr>
        <p:spPr>
          <a:xfrm>
            <a:off x="4038600" y="6496050"/>
            <a:ext cx="4114800" cy="365125"/>
          </a:xfrm>
          <a:ln>
            <a:noFill/>
          </a:ln>
        </p:spPr>
        <p:style>
          <a:lnRef idx="1">
            <a:schemeClr val="accent1"/>
          </a:lnRef>
          <a:fillRef idx="2">
            <a:schemeClr val="accent1"/>
          </a:fillRef>
          <a:effectRef idx="1">
            <a:schemeClr val="accent1"/>
          </a:effectRef>
          <a:fontRef idx="none"/>
        </p:style>
        <p:txBody>
          <a:bodyPr/>
          <a:lstStyle>
            <a:lvl1pPr>
              <a:defRPr b="1">
                <a:solidFill>
                  <a:srgbClr val="0000FF"/>
                </a:solidFill>
                <a:latin typeface="Bookman Old Style" panose="02050604050505020204" pitchFamily="18" charset="0"/>
              </a:defRPr>
            </a:lvl1pPr>
          </a:lstStyle>
          <a:p>
            <a:r>
              <a:rPr lang="en-IN"/>
              <a:t>APP Faculties - CINTEL</a:t>
            </a:r>
            <a:endParaRPr lang="en-IN" dirty="0"/>
          </a:p>
        </p:txBody>
      </p:sp>
      <p:sp>
        <p:nvSpPr>
          <p:cNvPr id="10" name="Slide Number Placeholder 9"/>
          <p:cNvSpPr>
            <a:spLocks noGrp="1"/>
          </p:cNvSpPr>
          <p:nvPr>
            <p:ph type="sldNum" sz="quarter" idx="12"/>
          </p:nvPr>
        </p:nvSpPr>
        <p:spPr>
          <a:xfrm>
            <a:off x="8153400" y="6483350"/>
            <a:ext cx="4038600" cy="365125"/>
          </a:xfrm>
          <a:ln>
            <a:noFill/>
          </a:ln>
        </p:spPr>
        <p:style>
          <a:lnRef idx="1">
            <a:schemeClr val="accent1"/>
          </a:lnRef>
          <a:fillRef idx="2">
            <a:schemeClr val="accent1"/>
          </a:fillRef>
          <a:effectRef idx="1">
            <a:schemeClr val="accent1"/>
          </a:effectRef>
          <a:fontRef idx="none"/>
        </p:style>
        <p:txBody>
          <a:bodyPr/>
          <a:lstStyle>
            <a:lvl1pPr>
              <a:defRPr b="1">
                <a:solidFill>
                  <a:srgbClr val="0000FF"/>
                </a:solidFill>
              </a:defRPr>
            </a:lvl1pPr>
          </a:lstStyle>
          <a:p>
            <a:fld id="{AD7ED525-5088-40CF-8CE0-E4296ADF624B}"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矩形 1"/>
          <p:cNvSpPr/>
          <p:nvPr userDrawn="1">
            <p:custDataLst>
              <p:tags r:id="rId1"/>
            </p:custDataLst>
          </p:nvPr>
        </p:nvSpPr>
        <p:spPr>
          <a:xfrm rot="10800000">
            <a:off x="-1" y="0"/>
            <a:ext cx="12192000" cy="6858000"/>
          </a:xfrm>
          <a:prstGeom prst="rect">
            <a:avLst/>
          </a:prstGeom>
          <a:gradFill flip="none" rotWithShape="1">
            <a:gsLst>
              <a:gs pos="0">
                <a:schemeClr val="bg2">
                  <a:lumMod val="60000"/>
                  <a:lumOff val="40000"/>
                </a:schemeClr>
              </a:gs>
              <a:gs pos="100000">
                <a:schemeClr val="bg2"/>
              </a:gs>
              <a:gs pos="58000">
                <a:schemeClr val="bg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13" name="矩形 12"/>
          <p:cNvSpPr/>
          <p:nvPr userDrawn="1">
            <p:custDataLst>
              <p:tags r:id="rId2"/>
            </p:custDataLst>
          </p:nvPr>
        </p:nvSpPr>
        <p:spPr>
          <a:xfrm rot="10800000">
            <a:off x="0" y="0"/>
            <a:ext cx="12192000" cy="6858000"/>
          </a:xfrm>
          <a:prstGeom prst="rect">
            <a:avLst/>
          </a:prstGeom>
          <a:gradFill flip="none" rotWithShape="1">
            <a:gsLst>
              <a:gs pos="0">
                <a:schemeClr val="accent1">
                  <a:lumMod val="75000"/>
                  <a:alpha val="50000"/>
                </a:schemeClr>
              </a:gs>
              <a:gs pos="100000">
                <a:schemeClr val="bg2">
                  <a:alpha val="0"/>
                </a:schemeClr>
              </a:gs>
              <a:gs pos="58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pic>
        <p:nvPicPr>
          <p:cNvPr id="10" name="图片 9" descr="矢量智能对象5-01"/>
          <p:cNvPicPr>
            <a:picLocks noChangeAspect="1"/>
          </p:cNvPicPr>
          <p:nvPr userDrawn="1">
            <p:custDataLst>
              <p:tags r:id="rId3"/>
            </p:custDataLst>
          </p:nvPr>
        </p:nvPicPr>
        <p:blipFill>
          <a:blip r:embed="rId11"/>
          <a:srcRect l="6578"/>
          <a:stretch>
            <a:fillRect/>
          </a:stretch>
        </p:blipFill>
        <p:spPr>
          <a:xfrm flipH="1">
            <a:off x="6149340" y="1361440"/>
            <a:ext cx="5763895" cy="5027930"/>
          </a:xfrm>
          <a:prstGeom prst="rect">
            <a:avLst/>
          </a:prstGeom>
        </p:spPr>
      </p:pic>
      <p:sp>
        <p:nvSpPr>
          <p:cNvPr id="9" name="署名"/>
          <p:cNvSpPr txBox="1">
            <a:spLocks noGrp="1"/>
          </p:cNvSpPr>
          <p:nvPr>
            <p:ph type="body" idx="3" hasCustomPrompt="1"/>
            <p:custDataLst>
              <p:tags r:id="rId4"/>
            </p:custDataLst>
          </p:nvPr>
        </p:nvSpPr>
        <p:spPr>
          <a:xfrm>
            <a:off x="1006475" y="3587645"/>
            <a:ext cx="1607820" cy="421640"/>
          </a:xfrm>
          <a:prstGeom prst="roundRect">
            <a:avLst>
              <a:gd name="adj" fmla="val 50000"/>
            </a:avLst>
          </a:prstGeom>
          <a:gradFill>
            <a:gsLst>
              <a:gs pos="0">
                <a:schemeClr val="accent3"/>
              </a:gs>
              <a:gs pos="100000">
                <a:schemeClr val="accent4"/>
              </a:gs>
            </a:gsLst>
            <a:lin ang="0" scaled="0"/>
          </a:gradFill>
        </p:spPr>
        <p:txBody>
          <a:bodyPr wrap="square" lIns="0" tIns="0" rIns="0" bIns="0" rtlCol="0" anchor="ctr" anchorCtr="0">
            <a:normAutofit/>
          </a:bodyPr>
          <a:lstStyle>
            <a:lvl1pPr marL="0" marR="0" algn="ctr" defTabSz="914400" rtl="0" eaLnBrk="1" fontAlgn="auto" latinLnBrk="0" hangingPunct="1">
              <a:lnSpc>
                <a:spcPct val="100000"/>
              </a:lnSpc>
              <a:buClrTx/>
              <a:buSzTx/>
              <a:buFontTx/>
              <a:buNone/>
              <a:defRPr kumimoji="0" lang="en-US" sz="1400" b="0" i="0" u="none" strike="noStrike" kern="1200" cap="none" spc="0" normalizeH="0" baseline="0" noProof="1" dirty="0">
                <a:solidFill>
                  <a:srgbClr val="FFFFFF"/>
                </a:solidFill>
                <a:latin typeface="+mn-lt"/>
                <a:sym typeface="+mn-ea"/>
              </a:defRPr>
            </a:lvl1pPr>
          </a:lstStyle>
          <a:p>
            <a:pPr lvl="0" algn="ctr">
              <a:buClrTx/>
              <a:buSzTx/>
              <a:buFontTx/>
            </a:pPr>
            <a:r>
              <a:rPr lang="en-US" dirty="0">
                <a:sym typeface="+mn-ea"/>
              </a:rPr>
              <a:t>Click to add text</a:t>
            </a:r>
          </a:p>
        </p:txBody>
      </p:sp>
      <p:sp>
        <p:nvSpPr>
          <p:cNvPr id="7" name="标题"/>
          <p:cNvSpPr txBox="1">
            <a:spLocks noGrp="1"/>
          </p:cNvSpPr>
          <p:nvPr>
            <p:ph type="title" idx="1" hasCustomPrompt="1"/>
            <p:custDataLst>
              <p:tags r:id="rId5"/>
            </p:custDataLst>
          </p:nvPr>
        </p:nvSpPr>
        <p:spPr>
          <a:xfrm>
            <a:off x="1006475" y="1586609"/>
            <a:ext cx="6184265" cy="1720060"/>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en-US" sz="5300" b="0" i="0" u="none" strike="noStrike" kern="1200" cap="none" spc="0" normalizeH="0" baseline="0" noProof="1" dirty="0">
                <a:solidFill>
                  <a:schemeClr val="tx1"/>
                </a:solidFill>
                <a:latin typeface="+mj-lt"/>
              </a:defRPr>
            </a:lvl1pPr>
          </a:lstStyle>
          <a:p>
            <a:pPr lvl="0" algn="l">
              <a:lnSpc>
                <a:spcPct val="100000"/>
              </a:lnSpc>
              <a:buClrTx/>
              <a:buSzTx/>
              <a:buFontTx/>
            </a:pPr>
            <a:r>
              <a:rPr dirty="0">
                <a:sym typeface="+mn-ea"/>
              </a:rPr>
              <a:t>Click to add title</a:t>
            </a:r>
          </a:p>
        </p:txBody>
      </p:sp>
      <p:sp>
        <p:nvSpPr>
          <p:cNvPr id="4" name="日期占位符 3"/>
          <p:cNvSpPr>
            <a:spLocks noGrp="1"/>
          </p:cNvSpPr>
          <p:nvPr>
            <p:ph type="dt" sz="half" idx="10"/>
            <p:custDataLst>
              <p:tags r:id="rId6"/>
            </p:custDataLst>
          </p:nvPr>
        </p:nvSpPr>
        <p:spPr>
          <a:xfrm>
            <a:off x="695324" y="6314400"/>
            <a:ext cx="2616675" cy="316800"/>
          </a:xfrm>
        </p:spPr>
        <p:txBody>
          <a:bodyPr/>
          <a:lstStyle/>
          <a:p>
            <a:r>
              <a:rPr lang="en-US"/>
              <a:t>Date Area</a:t>
            </a:r>
          </a:p>
        </p:txBody>
      </p:sp>
      <p:sp>
        <p:nvSpPr>
          <p:cNvPr id="5" name="页脚占位符 4"/>
          <p:cNvSpPr>
            <a:spLocks noGrp="1"/>
          </p:cNvSpPr>
          <p:nvPr>
            <p:ph type="ftr" sz="quarter" idx="11"/>
            <p:custDataLst>
              <p:tags r:id="rId7"/>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8"/>
            </p:custDataLst>
          </p:nvPr>
        </p:nvSpPr>
        <p:spPr>
          <a:xfrm>
            <a:off x="8877600" y="6314400"/>
            <a:ext cx="2619075" cy="316800"/>
          </a:xfrm>
        </p:spPr>
        <p:txBody>
          <a:bodyPr/>
          <a:lstStyle/>
          <a:p>
            <a:fld id="{49AE70B2-8BF9-45C0-BB95-33D1B9D3A854}" type="slidenum">
              <a:rPr lang="en-US" smtClean="0"/>
              <a:t>‹#›</a:t>
            </a:fld>
            <a:endParaRPr lang="en-US" dirty="0"/>
          </a:p>
        </p:txBody>
      </p:sp>
      <p:sp>
        <p:nvSpPr>
          <p:cNvPr id="8" name="矩形: 圆角 3"/>
          <p:cNvSpPr/>
          <p:nvPr userDrawn="1">
            <p:custDataLst>
              <p:tags r:id="rId9"/>
            </p:custDataLst>
          </p:nvPr>
        </p:nvSpPr>
        <p:spPr>
          <a:xfrm>
            <a:off x="360045" y="333375"/>
            <a:ext cx="11473180" cy="6221730"/>
          </a:xfrm>
          <a:prstGeom prst="roundRect">
            <a:avLst>
              <a:gd name="adj" fmla="val 3754"/>
            </a:avLst>
          </a:prstGeom>
          <a:noFill/>
          <a:ln w="28575">
            <a:gradFill flip="none" rotWithShape="1">
              <a:gsLst>
                <a:gs pos="0">
                  <a:schemeClr val="accent2"/>
                </a:gs>
                <a:gs pos="71000">
                  <a:schemeClr val="accent2">
                    <a:alpha val="0"/>
                  </a:schemeClr>
                </a:gs>
              </a:gsLst>
              <a:lin ang="27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Arial" panose="020B0604020202020204" pitchFamily="34" charset="0"/>
              </a:rPr>
              <a:t> </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标题"/>
          <p:cNvSpPr txBox="1">
            <a:spLocks noGrp="1"/>
          </p:cNvSpPr>
          <p:nvPr>
            <p:ph type="title" idx="2" hasCustomPrompt="1"/>
            <p:custDataLst>
              <p:tags r:id="rId1"/>
            </p:custDataLst>
          </p:nvPr>
        </p:nvSpPr>
        <p:spPr>
          <a:xfrm>
            <a:off x="694800" y="359999"/>
            <a:ext cx="10800000" cy="720000"/>
          </a:xfrm>
          <a:prstGeom prst="rect">
            <a:avLst/>
          </a:prstGeom>
          <a:noFill/>
        </p:spPr>
        <p:txBody>
          <a:bodyPr wrap="square" lIns="0" tIns="0" rIns="0" bIns="0" rtlCol="0" anchor="b" anchorCtr="0">
            <a:noAutofit/>
          </a:bodyPr>
          <a:lstStyle>
            <a:lvl1pPr marL="0" marR="0" lvl="0" algn="l" defTabSz="914400" rtl="0" eaLnBrk="1" fontAlgn="base" latinLnBrk="0" hangingPunct="1">
              <a:lnSpc>
                <a:spcPct val="100000"/>
              </a:lnSpc>
              <a:buClrTx/>
              <a:buSzTx/>
              <a:buFontTx/>
              <a:buNone/>
              <a:defRPr kumimoji="0" lang="en-US" sz="2800" b="0" i="0" u="none" strike="noStrike" kern="1200" cap="none" spc="0" normalizeH="0" baseline="0" noProof="1">
                <a:solidFill>
                  <a:schemeClr val="tx1"/>
                </a:solidFill>
                <a:latin typeface="+mj-lt"/>
                <a:sym typeface="+mn-ea"/>
              </a:defRPr>
            </a:lvl1pPr>
          </a:lstStyle>
          <a:p>
            <a:pPr lvl="0" algn="l">
              <a:buClrTx/>
              <a:buSzTx/>
              <a:buFontTx/>
            </a:pPr>
            <a:r>
              <a:rPr dirty="0">
                <a:sym typeface="+mn-ea"/>
              </a:rPr>
              <a:t>Click to add title</a:t>
            </a:r>
          </a:p>
        </p:txBody>
      </p:sp>
      <p:sp>
        <p:nvSpPr>
          <p:cNvPr id="7" name="正文"/>
          <p:cNvSpPr txBox="1">
            <a:spLocks noGrp="1"/>
          </p:cNvSpPr>
          <p:nvPr>
            <p:ph idx="1" hasCustomPrompt="1"/>
            <p:custDataLst>
              <p:tags r:id="rId2"/>
            </p:custDataLst>
          </p:nvPr>
        </p:nvSpPr>
        <p:spPr>
          <a:xfrm>
            <a:off x="694800" y="1225550"/>
            <a:ext cx="10796050" cy="502412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5"/>
              </a:buClr>
              <a:buSzTx/>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chemeClr val="accent5"/>
              </a:buClr>
            </a:pPr>
            <a:r>
              <a:rPr dirty="0">
                <a:sym typeface="+mn-ea"/>
              </a:rPr>
              <a:t>Click to add text</a:t>
            </a:r>
          </a:p>
        </p:txBody>
      </p:sp>
      <p:sp>
        <p:nvSpPr>
          <p:cNvPr id="4" name="日期占位符 3"/>
          <p:cNvSpPr>
            <a:spLocks noGrp="1"/>
          </p:cNvSpPr>
          <p:nvPr>
            <p:ph type="dt" sz="half" idx="10"/>
            <p:custDataLst>
              <p:tags r:id="rId3"/>
            </p:custDataLst>
          </p:nvPr>
        </p:nvSpPr>
        <p:spPr>
          <a:xfrm>
            <a:off x="694800" y="6314400"/>
            <a:ext cx="2617200" cy="316800"/>
          </a:xfrm>
        </p:spPr>
        <p:txBody>
          <a:bodyPr/>
          <a:lstStyle/>
          <a:p>
            <a:r>
              <a:rPr lang="en-US"/>
              <a:t>Date Area</a:t>
            </a:r>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5"/>
            </p:custDataLst>
          </p:nvPr>
        </p:nvSpPr>
        <p:spPr>
          <a:xfrm>
            <a:off x="8877600" y="6314400"/>
            <a:ext cx="2619600" cy="316800"/>
          </a:xfrm>
        </p:spPr>
        <p:txBody>
          <a:bodyPr/>
          <a:lstStyle/>
          <a:p>
            <a:fld id="{49AE70B2-8BF9-45C0-BB95-33D1B9D3A854}"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atalog Slide">
    <p:spTree>
      <p:nvGrpSpPr>
        <p:cNvPr id="1" name=""/>
        <p:cNvGrpSpPr/>
        <p:nvPr/>
      </p:nvGrpSpPr>
      <p:grpSpPr>
        <a:xfrm>
          <a:off x="0" y="0"/>
          <a:ext cx="0" cy="0"/>
          <a:chOff x="0" y="0"/>
          <a:chExt cx="0" cy="0"/>
        </a:xfrm>
      </p:grpSpPr>
      <p:sp>
        <p:nvSpPr>
          <p:cNvPr id="8" name="矩形 7"/>
          <p:cNvSpPr/>
          <p:nvPr userDrawn="1">
            <p:custDataLst>
              <p:tags r:id="rId1"/>
            </p:custDataLst>
          </p:nvPr>
        </p:nvSpPr>
        <p:spPr>
          <a:xfrm rot="10800000" flipH="1">
            <a:off x="0" y="0"/>
            <a:ext cx="12192000" cy="6858000"/>
          </a:xfrm>
          <a:prstGeom prst="rect">
            <a:avLst/>
          </a:prstGeom>
          <a:gradFill flip="none" rotWithShape="1">
            <a:gsLst>
              <a:gs pos="0">
                <a:schemeClr val="bg2">
                  <a:lumMod val="60000"/>
                  <a:lumOff val="40000"/>
                </a:schemeClr>
              </a:gs>
              <a:gs pos="100000">
                <a:schemeClr val="bg2"/>
              </a:gs>
              <a:gs pos="58000">
                <a:schemeClr val="bg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10" name="矩形 9"/>
          <p:cNvSpPr/>
          <p:nvPr userDrawn="1">
            <p:custDataLst>
              <p:tags r:id="rId2"/>
            </p:custDataLst>
          </p:nvPr>
        </p:nvSpPr>
        <p:spPr>
          <a:xfrm rot="10800000" flipH="1">
            <a:off x="0" y="0"/>
            <a:ext cx="12192000" cy="6858000"/>
          </a:xfrm>
          <a:prstGeom prst="rect">
            <a:avLst/>
          </a:prstGeom>
          <a:gradFill flip="none" rotWithShape="1">
            <a:gsLst>
              <a:gs pos="0">
                <a:schemeClr val="accent1">
                  <a:lumMod val="75000"/>
                  <a:alpha val="50000"/>
                </a:schemeClr>
              </a:gs>
              <a:gs pos="100000">
                <a:schemeClr val="bg2">
                  <a:alpha val="0"/>
                </a:schemeClr>
              </a:gs>
              <a:gs pos="58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6" name="标题"/>
          <p:cNvSpPr txBox="1">
            <a:spLocks noGrp="1"/>
          </p:cNvSpPr>
          <p:nvPr>
            <p:ph type="title" idx="1" hasCustomPrompt="1"/>
            <p:custDataLst>
              <p:tags r:id="rId3"/>
            </p:custDataLst>
          </p:nvPr>
        </p:nvSpPr>
        <p:spPr>
          <a:xfrm>
            <a:off x="695325" y="361950"/>
            <a:ext cx="10801350" cy="727075"/>
          </a:xfrm>
          <a:prstGeom prst="rect">
            <a:avLst/>
          </a:prstGeom>
          <a:noFill/>
        </p:spPr>
        <p:txBody>
          <a:bodyPr wrap="square" lIns="91440" tIns="0" rIns="91440" bIns="0" rtlCol="0" anchor="b">
            <a:normAutofit/>
          </a:bodyPr>
          <a:lstStyle>
            <a:lvl1pPr marL="0" marR="0" lvl="0" algn="l" defTabSz="914400" rtl="0" eaLnBrk="1" fontAlgn="auto" latinLnBrk="0" hangingPunct="1">
              <a:lnSpc>
                <a:spcPct val="100000"/>
              </a:lnSpc>
              <a:buClrTx/>
              <a:buSzTx/>
              <a:buFontTx/>
              <a:buNone/>
              <a:defRPr kumimoji="0" lang="en-US" sz="3200" b="0" i="0" u="none" strike="noStrike" kern="1200" cap="none" spc="0" normalizeH="0" baseline="0" noProof="1">
                <a:solidFill>
                  <a:schemeClr val="tx1"/>
                </a:solidFill>
                <a:latin typeface="+mj-lt"/>
                <a:sym typeface="+mn-ea"/>
              </a:defRPr>
            </a:lvl1pPr>
          </a:lstStyle>
          <a:p>
            <a:pPr lvl="0" algn="l">
              <a:buClrTx/>
              <a:buSzTx/>
              <a:buFontTx/>
            </a:pPr>
            <a:r>
              <a:rPr dirty="0">
                <a:sym typeface="+mn-ea"/>
              </a:rPr>
              <a:t>Click to add title</a:t>
            </a: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r>
              <a:rPr lang="en-US"/>
              <a:t>Date Area</a:t>
            </a:r>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en-US" smtClean="0"/>
              <a:t>‹#›</a:t>
            </a:fld>
            <a:endParaRPr lang="en-US" dirty="0"/>
          </a:p>
        </p:txBody>
      </p:sp>
      <p:pic>
        <p:nvPicPr>
          <p:cNvPr id="7" name="图片 6"/>
          <p:cNvPicPr>
            <a:picLocks noChangeAspect="1"/>
          </p:cNvPicPr>
          <p:nvPr userDrawn="1">
            <p:custDataLst>
              <p:tags r:id="rId7"/>
            </p:custDataLst>
          </p:nvPr>
        </p:nvPicPr>
        <p:blipFill>
          <a:blip r:embed="rId9">
            <a:extLst>
              <a:ext uri="{28A0092B-C50C-407E-A947-70E740481C1C}">
                <a14:useLocalDpi xmlns:a14="http://schemas.microsoft.com/office/drawing/2010/main" val="0"/>
              </a:ext>
            </a:extLst>
          </a:blip>
          <a:stretch>
            <a:fillRect/>
          </a:stretch>
        </p:blipFill>
        <p:spPr>
          <a:xfrm>
            <a:off x="754062" y="1638300"/>
            <a:ext cx="4029075" cy="40386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0" name="矩形 9"/>
          <p:cNvSpPr/>
          <p:nvPr userDrawn="1">
            <p:custDataLst>
              <p:tags r:id="rId1"/>
            </p:custDataLst>
          </p:nvPr>
        </p:nvSpPr>
        <p:spPr>
          <a:xfrm rot="10800000">
            <a:off x="-1" y="0"/>
            <a:ext cx="12192000" cy="6858000"/>
          </a:xfrm>
          <a:prstGeom prst="rect">
            <a:avLst/>
          </a:prstGeom>
          <a:gradFill flip="none" rotWithShape="1">
            <a:gsLst>
              <a:gs pos="0">
                <a:schemeClr val="bg2">
                  <a:lumMod val="60000"/>
                  <a:lumOff val="40000"/>
                </a:schemeClr>
              </a:gs>
              <a:gs pos="100000">
                <a:schemeClr val="bg2"/>
              </a:gs>
              <a:gs pos="58000">
                <a:schemeClr val="bg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11" name="矩形 10"/>
          <p:cNvSpPr/>
          <p:nvPr userDrawn="1">
            <p:custDataLst>
              <p:tags r:id="rId2"/>
            </p:custDataLst>
          </p:nvPr>
        </p:nvSpPr>
        <p:spPr>
          <a:xfrm rot="10800000">
            <a:off x="0" y="-1"/>
            <a:ext cx="12192000" cy="6858000"/>
          </a:xfrm>
          <a:prstGeom prst="rect">
            <a:avLst/>
          </a:prstGeom>
          <a:gradFill flip="none" rotWithShape="1">
            <a:gsLst>
              <a:gs pos="0">
                <a:schemeClr val="accent1">
                  <a:lumMod val="75000"/>
                  <a:alpha val="50000"/>
                </a:schemeClr>
              </a:gs>
              <a:gs pos="100000">
                <a:schemeClr val="bg2">
                  <a:alpha val="0"/>
                </a:schemeClr>
              </a:gs>
              <a:gs pos="58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8" name="节编号"/>
          <p:cNvSpPr txBox="1">
            <a:spLocks noGrp="1"/>
          </p:cNvSpPr>
          <p:nvPr>
            <p:ph type="body" idx="2" hasCustomPrompt="1"/>
            <p:custDataLst>
              <p:tags r:id="rId3"/>
            </p:custDataLst>
          </p:nvPr>
        </p:nvSpPr>
        <p:spPr>
          <a:xfrm>
            <a:off x="914400" y="1677670"/>
            <a:ext cx="6045200" cy="1855470"/>
          </a:xfrm>
          <a:prstGeom prst="rect">
            <a:avLst/>
          </a:prstGeom>
          <a:noFill/>
        </p:spPr>
        <p:txBody>
          <a:bodyPr wrap="none" lIns="91440" tIns="0" rIns="91440" bIns="0" rtlCol="0" anchor="b" anchorCtr="0">
            <a:normAutofit/>
          </a:bodyPr>
          <a:lstStyle>
            <a:lvl1pPr marL="0" marR="0" lvl="0" algn="l" defTabSz="914400" rtl="0" eaLnBrk="1" fontAlgn="ctr" latinLnBrk="0" hangingPunct="1">
              <a:lnSpc>
                <a:spcPct val="120000"/>
              </a:lnSpc>
              <a:buClrTx/>
              <a:buSzTx/>
              <a:buFontTx/>
              <a:buNone/>
              <a:defRPr kumimoji="0" lang="en-US" sz="9600" b="0" i="0" u="none" strike="noStrike" kern="1200" cap="none" spc="0" normalizeH="0" baseline="0" noProof="1">
                <a:gradFill>
                  <a:gsLst>
                    <a:gs pos="79000">
                      <a:schemeClr val="accent1"/>
                    </a:gs>
                    <a:gs pos="0">
                      <a:schemeClr val="tx2">
                        <a:lumMod val="75000"/>
                      </a:schemeClr>
                    </a:gs>
                  </a:gsLst>
                  <a:lin ang="5400000" scaled="0"/>
                </a:gradFill>
                <a:latin typeface="+mn-lt"/>
                <a:sym typeface="+mn-ea"/>
              </a:defRPr>
            </a:lvl1pPr>
          </a:lstStyle>
          <a:p>
            <a:pPr lvl="0" algn="l" fontAlgn="ctr">
              <a:lnSpc>
                <a:spcPct val="120000"/>
              </a:lnSpc>
              <a:buClrTx/>
              <a:buSzTx/>
              <a:buFontTx/>
            </a:pPr>
            <a:r>
              <a:rPr dirty="0">
                <a:sym typeface="+mn-ea"/>
              </a:rPr>
              <a:t>Click to add text</a:t>
            </a:r>
          </a:p>
        </p:txBody>
      </p:sp>
      <p:sp>
        <p:nvSpPr>
          <p:cNvPr id="7" name="副标题"/>
          <p:cNvSpPr txBox="1">
            <a:spLocks noGrp="1"/>
          </p:cNvSpPr>
          <p:nvPr>
            <p:ph type="title" idx="1" hasCustomPrompt="1"/>
            <p:custDataLst>
              <p:tags r:id="rId4"/>
            </p:custDataLst>
          </p:nvPr>
        </p:nvSpPr>
        <p:spPr>
          <a:xfrm>
            <a:off x="895350" y="3533140"/>
            <a:ext cx="6045200" cy="1541145"/>
          </a:xfrm>
          <a:prstGeom prst="rect">
            <a:avLst/>
          </a:prstGeom>
          <a:noFill/>
        </p:spPr>
        <p:txBody>
          <a:bodyPr wrap="square" lIns="91440" tIns="45720" rIns="91440" bIns="45720" rtlCol="0" anchor="t" anchorCtr="0">
            <a:normAutofit/>
          </a:bodyPr>
          <a:lstStyle>
            <a:lvl1pPr marL="0" marR="0" lvl="0" algn="l" defTabSz="914400" rtl="0" eaLnBrk="1" fontAlgn="ctr" latinLnBrk="0" hangingPunct="1">
              <a:lnSpc>
                <a:spcPct val="100000"/>
              </a:lnSpc>
              <a:buClrTx/>
              <a:buSzTx/>
              <a:buFontTx/>
              <a:buNone/>
              <a:defRPr kumimoji="0" lang="en-US" sz="3600" b="0" i="0" u="none" strike="noStrike" kern="1200" cap="none" spc="0" normalizeH="0" baseline="0" noProof="1">
                <a:solidFill>
                  <a:schemeClr val="tx1"/>
                </a:solidFill>
                <a:latin typeface="+mj-lt"/>
                <a:sym typeface="+mn-ea"/>
              </a:defRPr>
            </a:lvl1pPr>
          </a:lstStyle>
          <a:p>
            <a:pPr lvl="0" algn="l" fontAlgn="ctr">
              <a:buClrTx/>
              <a:buSzTx/>
              <a:buFontTx/>
            </a:pPr>
            <a:r>
              <a:rPr dirty="0">
                <a:sym typeface="+mn-ea"/>
              </a:rPr>
              <a:t>Click to add title</a:t>
            </a:r>
          </a:p>
        </p:txBody>
      </p:sp>
      <p:sp>
        <p:nvSpPr>
          <p:cNvPr id="4" name="日期占位符 3"/>
          <p:cNvSpPr>
            <a:spLocks noGrp="1"/>
          </p:cNvSpPr>
          <p:nvPr>
            <p:ph type="dt" sz="half" idx="10"/>
            <p:custDataLst>
              <p:tags r:id="rId5"/>
            </p:custDataLst>
          </p:nvPr>
        </p:nvSpPr>
        <p:spPr>
          <a:xfrm>
            <a:off x="612000" y="6314400"/>
            <a:ext cx="2700000" cy="316800"/>
          </a:xfrm>
        </p:spPr>
        <p:txBody>
          <a:bodyPr/>
          <a:lstStyle/>
          <a:p>
            <a:r>
              <a:rPr lang="en-US"/>
              <a:t>Date Area</a:t>
            </a:r>
          </a:p>
        </p:txBody>
      </p:sp>
      <p:sp>
        <p:nvSpPr>
          <p:cNvPr id="5" name="页脚占位符 4"/>
          <p:cNvSpPr>
            <a:spLocks noGrp="1"/>
          </p:cNvSpPr>
          <p:nvPr>
            <p:ph type="ftr" sz="quarter" idx="11"/>
            <p:custDataLst>
              <p:tags r:id="rId6"/>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en-US" smtClean="0"/>
              <a:t>‹#›</a:t>
            </a:fld>
            <a:endParaRPr lang="en-US" dirty="0"/>
          </a:p>
        </p:txBody>
      </p:sp>
      <p:pic>
        <p:nvPicPr>
          <p:cNvPr id="3" name="图片 2"/>
          <p:cNvPicPr>
            <a:picLocks noChangeAspect="1"/>
          </p:cNvPicPr>
          <p:nvPr userDrawn="1">
            <p:custDataLst>
              <p:tags r:id="rId8"/>
            </p:custDataLst>
          </p:nvPr>
        </p:nvPicPr>
        <p:blipFill>
          <a:blip r:embed="rId11">
            <a:extLst>
              <a:ext uri="{28A0092B-C50C-407E-A947-70E740481C1C}">
                <a14:useLocalDpi xmlns:a14="http://schemas.microsoft.com/office/drawing/2010/main" val="0"/>
              </a:ext>
            </a:extLst>
          </a:blip>
          <a:stretch>
            <a:fillRect/>
          </a:stretch>
        </p:blipFill>
        <p:spPr>
          <a:xfrm>
            <a:off x="6653212" y="1820862"/>
            <a:ext cx="4676775" cy="4333875"/>
          </a:xfrm>
          <a:prstGeom prst="rect">
            <a:avLst/>
          </a:prstGeom>
        </p:spPr>
      </p:pic>
      <p:sp>
        <p:nvSpPr>
          <p:cNvPr id="2" name="矩形: 圆角 3"/>
          <p:cNvSpPr/>
          <p:nvPr userDrawn="1">
            <p:custDataLst>
              <p:tags r:id="rId9"/>
            </p:custDataLst>
          </p:nvPr>
        </p:nvSpPr>
        <p:spPr>
          <a:xfrm>
            <a:off x="360045" y="333375"/>
            <a:ext cx="11473180" cy="6221730"/>
          </a:xfrm>
          <a:prstGeom prst="roundRect">
            <a:avLst>
              <a:gd name="adj" fmla="val 3754"/>
            </a:avLst>
          </a:prstGeom>
          <a:noFill/>
          <a:ln w="28575">
            <a:gradFill flip="none" rotWithShape="1">
              <a:gsLst>
                <a:gs pos="0">
                  <a:schemeClr val="accent2"/>
                </a:gs>
                <a:gs pos="71000">
                  <a:schemeClr val="accent2">
                    <a:alpha val="0"/>
                  </a:schemeClr>
                </a:gs>
              </a:gsLst>
              <a:lin ang="27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Arial" panose="020B0604020202020204" pitchFamily="34" charset="0"/>
              </a:rPr>
              <a:t>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标题"/>
          <p:cNvSpPr txBox="1">
            <a:spLocks noGrp="1"/>
          </p:cNvSpPr>
          <p:nvPr>
            <p:ph type="title" idx="3" hasCustomPrompt="1"/>
            <p:custDataLst>
              <p:tags r:id="rId1"/>
            </p:custDataLst>
          </p:nvPr>
        </p:nvSpPr>
        <p:spPr>
          <a:xfrm>
            <a:off x="694800" y="359999"/>
            <a:ext cx="10800000" cy="720000"/>
          </a:xfrm>
          <a:prstGeom prst="rect">
            <a:avLst/>
          </a:prstGeom>
          <a:noFill/>
        </p:spPr>
        <p:txBody>
          <a:bodyPr wrap="square" lIns="0" tIns="0" rIns="0" bIns="0" rtlCol="0" anchor="b" anchorCtr="0">
            <a:noAutofit/>
          </a:bodyPr>
          <a:lstStyle>
            <a:lvl1pPr marL="0" marR="0" lvl="0" algn="l" defTabSz="914400" rtl="0" eaLnBrk="1" fontAlgn="base" latinLnBrk="0" hangingPunct="1">
              <a:lnSpc>
                <a:spcPct val="100000"/>
              </a:lnSpc>
              <a:buClrTx/>
              <a:buSzTx/>
              <a:buFontTx/>
              <a:buNone/>
              <a:defRPr kumimoji="0" lang="en-US" sz="2800" b="0" i="0" u="none" strike="noStrike" kern="1200" cap="none" spc="0" normalizeH="0" baseline="0" noProof="1">
                <a:solidFill>
                  <a:schemeClr val="tx1"/>
                </a:solidFill>
                <a:latin typeface="+mj-lt"/>
                <a:sym typeface="+mn-ea"/>
              </a:defRPr>
            </a:lvl1pPr>
          </a:lstStyle>
          <a:p>
            <a:pPr lvl="0" algn="l">
              <a:buClrTx/>
              <a:buSzTx/>
              <a:buFontTx/>
            </a:pPr>
            <a:r>
              <a:rPr dirty="0">
                <a:sym typeface="+mn-ea"/>
              </a:rPr>
              <a:t>Click to add title</a:t>
            </a:r>
          </a:p>
        </p:txBody>
      </p:sp>
      <p:sp>
        <p:nvSpPr>
          <p:cNvPr id="9" name="正文"/>
          <p:cNvSpPr txBox="1">
            <a:spLocks noGrp="1"/>
          </p:cNvSpPr>
          <p:nvPr>
            <p:ph idx="2" hasCustomPrompt="1"/>
            <p:custDataLst>
              <p:tags r:id="rId2"/>
            </p:custDataLst>
          </p:nvPr>
        </p:nvSpPr>
        <p:spPr>
          <a:xfrm>
            <a:off x="6400805" y="1250066"/>
            <a:ext cx="5093995" cy="4999527"/>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add text</a:t>
            </a:r>
          </a:p>
        </p:txBody>
      </p:sp>
      <p:sp>
        <p:nvSpPr>
          <p:cNvPr id="8" name="正文"/>
          <p:cNvSpPr txBox="1">
            <a:spLocks noGrp="1"/>
          </p:cNvSpPr>
          <p:nvPr>
            <p:ph idx="1" hasCustomPrompt="1"/>
            <p:custDataLst>
              <p:tags r:id="rId3"/>
            </p:custDataLst>
          </p:nvPr>
        </p:nvSpPr>
        <p:spPr>
          <a:xfrm>
            <a:off x="691206" y="1250066"/>
            <a:ext cx="5093994" cy="4999527"/>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add text</a:t>
            </a:r>
          </a:p>
        </p:txBody>
      </p:sp>
      <p:sp>
        <p:nvSpPr>
          <p:cNvPr id="5" name="日期占位符 4"/>
          <p:cNvSpPr>
            <a:spLocks noGrp="1"/>
          </p:cNvSpPr>
          <p:nvPr>
            <p:ph type="dt" sz="half" idx="10"/>
            <p:custDataLst>
              <p:tags r:id="rId4"/>
            </p:custDataLst>
          </p:nvPr>
        </p:nvSpPr>
        <p:spPr>
          <a:xfrm>
            <a:off x="695324" y="6314400"/>
            <a:ext cx="2616675" cy="316800"/>
          </a:xfrm>
        </p:spPr>
        <p:txBody>
          <a:bodyPr/>
          <a:lstStyle/>
          <a:p>
            <a:r>
              <a:rPr lang="en-US"/>
              <a:t>Date Area</a:t>
            </a:r>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en-US" dirty="0"/>
          </a:p>
        </p:txBody>
      </p:sp>
      <p:sp>
        <p:nvSpPr>
          <p:cNvPr id="7" name="灯片编号占位符 6"/>
          <p:cNvSpPr>
            <a:spLocks noGrp="1"/>
          </p:cNvSpPr>
          <p:nvPr>
            <p:ph type="sldNum" sz="quarter" idx="12"/>
            <p:custDataLst>
              <p:tags r:id="rId6"/>
            </p:custDataLst>
          </p:nvPr>
        </p:nvSpPr>
        <p:spPr>
          <a:xfrm>
            <a:off x="8877600" y="6314400"/>
            <a:ext cx="2619075" cy="316800"/>
          </a:xfrm>
        </p:spPr>
        <p:txBody>
          <a:bodyPr/>
          <a:lstStyle/>
          <a:p>
            <a:fld id="{49AE70B2-8BF9-45C0-BB95-33D1B9D3A854}" type="slidenum">
              <a:rPr lang="en-US" smtClean="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标题"/>
          <p:cNvSpPr txBox="1">
            <a:spLocks noGrp="1"/>
          </p:cNvSpPr>
          <p:nvPr>
            <p:ph type="title" idx="5" hasCustomPrompt="1"/>
            <p:custDataLst>
              <p:tags r:id="rId1"/>
            </p:custDataLst>
          </p:nvPr>
        </p:nvSpPr>
        <p:spPr>
          <a:xfrm>
            <a:off x="694800" y="359999"/>
            <a:ext cx="10800000" cy="720000"/>
          </a:xfrm>
          <a:prstGeom prst="rect">
            <a:avLst/>
          </a:prstGeom>
          <a:noFill/>
        </p:spPr>
        <p:txBody>
          <a:bodyPr wrap="square" lIns="0" tIns="0" rIns="0" bIns="0" rtlCol="0" anchor="b" anchorCtr="0">
            <a:noAutofit/>
          </a:bodyPr>
          <a:lstStyle>
            <a:lvl1pPr marL="0" marR="0" lvl="0" algn="l" defTabSz="914400" rtl="0" eaLnBrk="1" fontAlgn="base" latinLnBrk="0" hangingPunct="1">
              <a:lnSpc>
                <a:spcPct val="100000"/>
              </a:lnSpc>
              <a:buClrTx/>
              <a:buSzTx/>
              <a:buFontTx/>
              <a:buNone/>
              <a:defRPr kumimoji="0" lang="en-US" sz="2800" b="0" i="0" u="none" strike="noStrike" kern="1200" cap="none" spc="0" normalizeH="0" baseline="0" noProof="1">
                <a:solidFill>
                  <a:schemeClr val="tx1"/>
                </a:solidFill>
                <a:latin typeface="+mj-lt"/>
                <a:sym typeface="+mn-ea"/>
              </a:defRPr>
            </a:lvl1pPr>
          </a:lstStyle>
          <a:p>
            <a:pPr lvl="0" algn="l">
              <a:buClrTx/>
              <a:buSzTx/>
              <a:buFontTx/>
            </a:pPr>
            <a:r>
              <a:rPr dirty="0">
                <a:sym typeface="+mn-ea"/>
              </a:rPr>
              <a:t>Click to add title</a:t>
            </a:r>
          </a:p>
        </p:txBody>
      </p:sp>
      <p:sp>
        <p:nvSpPr>
          <p:cNvPr id="13" name="正文"/>
          <p:cNvSpPr txBox="1">
            <a:spLocks noGrp="1"/>
          </p:cNvSpPr>
          <p:nvPr>
            <p:ph idx="4" hasCustomPrompt="1"/>
            <p:custDataLst>
              <p:tags r:id="rId2"/>
            </p:custDataLst>
          </p:nvPr>
        </p:nvSpPr>
        <p:spPr>
          <a:xfrm>
            <a:off x="6235200" y="1854000"/>
            <a:ext cx="5261475"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add text</a:t>
            </a:r>
          </a:p>
        </p:txBody>
      </p:sp>
      <p:sp>
        <p:nvSpPr>
          <p:cNvPr id="12" name="标题"/>
          <p:cNvSpPr txBox="1">
            <a:spLocks noGrp="1"/>
          </p:cNvSpPr>
          <p:nvPr>
            <p:ph type="title" idx="3" hasCustomPrompt="1"/>
            <p:custDataLst>
              <p:tags r:id="rId3"/>
            </p:custDataLst>
          </p:nvPr>
        </p:nvSpPr>
        <p:spPr>
          <a:xfrm>
            <a:off x="6235200" y="1226215"/>
            <a:ext cx="5261475" cy="46288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solidFill>
                <a:latin typeface="+mj-lt"/>
              </a:defRPr>
            </a:lvl1pPr>
          </a:lstStyle>
          <a:p>
            <a:pPr lvl="0"/>
            <a:r>
              <a:rPr dirty="0">
                <a:sym typeface="+mn-ea"/>
              </a:rPr>
              <a:t>Click to add title</a:t>
            </a:r>
          </a:p>
        </p:txBody>
      </p:sp>
      <p:sp>
        <p:nvSpPr>
          <p:cNvPr id="11" name="正文"/>
          <p:cNvSpPr txBox="1">
            <a:spLocks noGrp="1"/>
          </p:cNvSpPr>
          <p:nvPr>
            <p:ph idx="2" hasCustomPrompt="1"/>
            <p:custDataLst>
              <p:tags r:id="rId4"/>
            </p:custDataLst>
          </p:nvPr>
        </p:nvSpPr>
        <p:spPr>
          <a:xfrm>
            <a:off x="694800" y="1854000"/>
            <a:ext cx="52560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add text</a:t>
            </a:r>
          </a:p>
        </p:txBody>
      </p:sp>
      <p:sp>
        <p:nvSpPr>
          <p:cNvPr id="10" name="标题"/>
          <p:cNvSpPr txBox="1">
            <a:spLocks noGrp="1"/>
          </p:cNvSpPr>
          <p:nvPr>
            <p:ph type="title" idx="1" hasCustomPrompt="1"/>
            <p:custDataLst>
              <p:tags r:id="rId5"/>
            </p:custDataLst>
          </p:nvPr>
        </p:nvSpPr>
        <p:spPr>
          <a:xfrm>
            <a:off x="694800" y="1225550"/>
            <a:ext cx="5256000" cy="46288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a:solidFill>
                  <a:schemeClr val="tx1"/>
                </a:solidFill>
                <a:latin typeface="+mj-lt"/>
              </a:defRPr>
            </a:lvl1pPr>
          </a:lstStyle>
          <a:p>
            <a:pPr lvl="0"/>
            <a:r>
              <a:rPr dirty="0">
                <a:sym typeface="+mn-ea"/>
              </a:rPr>
              <a:t>Click to add title</a:t>
            </a:r>
          </a:p>
        </p:txBody>
      </p:sp>
      <p:sp>
        <p:nvSpPr>
          <p:cNvPr id="7" name="日期占位符 6"/>
          <p:cNvSpPr>
            <a:spLocks noGrp="1"/>
          </p:cNvSpPr>
          <p:nvPr>
            <p:ph type="dt" sz="half" idx="10"/>
            <p:custDataLst>
              <p:tags r:id="rId6"/>
            </p:custDataLst>
          </p:nvPr>
        </p:nvSpPr>
        <p:spPr>
          <a:xfrm>
            <a:off x="718184" y="6314400"/>
            <a:ext cx="2593815" cy="316800"/>
          </a:xfrm>
        </p:spPr>
        <p:txBody>
          <a:bodyPr/>
          <a:lstStyle/>
          <a:p>
            <a:r>
              <a:rPr lang="en-US"/>
              <a:t>Date Area</a:t>
            </a:r>
          </a:p>
        </p:txBody>
      </p:sp>
      <p:sp>
        <p:nvSpPr>
          <p:cNvPr id="8" name="页脚占位符 7"/>
          <p:cNvSpPr>
            <a:spLocks noGrp="1"/>
          </p:cNvSpPr>
          <p:nvPr>
            <p:ph type="ftr" sz="quarter" idx="11"/>
            <p:custDataLst>
              <p:tags r:id="rId7"/>
            </p:custDataLst>
          </p:nvPr>
        </p:nvSpPr>
        <p:spPr>
          <a:xfrm>
            <a:off x="4116000" y="6314400"/>
            <a:ext cx="3960000" cy="316800"/>
          </a:xfrm>
        </p:spPr>
        <p:txBody>
          <a:bodyPr/>
          <a:lstStyle/>
          <a:p>
            <a:endParaRPr lang="en-US" dirty="0"/>
          </a:p>
        </p:txBody>
      </p:sp>
      <p:sp>
        <p:nvSpPr>
          <p:cNvPr id="9" name="灯片编号占位符 8"/>
          <p:cNvSpPr>
            <a:spLocks noGrp="1"/>
          </p:cNvSpPr>
          <p:nvPr>
            <p:ph type="sldNum" sz="quarter" idx="12"/>
            <p:custDataLst>
              <p:tags r:id="rId8"/>
            </p:custDataLst>
          </p:nvPr>
        </p:nvSpPr>
        <p:spPr>
          <a:xfrm>
            <a:off x="8877600" y="6314400"/>
            <a:ext cx="2619075" cy="316800"/>
          </a:xfrm>
        </p:spPr>
        <p:txBody>
          <a:bodyPr/>
          <a:lstStyle/>
          <a:p>
            <a:fld id="{49AE70B2-8BF9-45C0-BB95-33D1B9D3A854}"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标题"/>
          <p:cNvSpPr txBox="1">
            <a:spLocks noGrp="1"/>
          </p:cNvSpPr>
          <p:nvPr>
            <p:ph type="title" idx="2" hasCustomPrompt="1"/>
            <p:custDataLst>
              <p:tags r:id="rId1"/>
            </p:custDataLst>
          </p:nvPr>
        </p:nvSpPr>
        <p:spPr>
          <a:xfrm>
            <a:off x="694800" y="359999"/>
            <a:ext cx="10800000" cy="720000"/>
          </a:xfrm>
          <a:prstGeom prst="rect">
            <a:avLst/>
          </a:prstGeom>
          <a:noFill/>
        </p:spPr>
        <p:txBody>
          <a:bodyPr wrap="square" lIns="0" tIns="0" rIns="0" bIns="0" rtlCol="0" anchor="b" anchorCtr="0">
            <a:noAutofit/>
          </a:bodyPr>
          <a:lstStyle>
            <a:lvl1pPr marL="0" marR="0" lvl="0" algn="l" defTabSz="914400" rtl="0" eaLnBrk="1" fontAlgn="base" latinLnBrk="0" hangingPunct="1">
              <a:lnSpc>
                <a:spcPct val="100000"/>
              </a:lnSpc>
              <a:buClrTx/>
              <a:buSzTx/>
              <a:buFontTx/>
              <a:buNone/>
              <a:defRPr kumimoji="0" lang="en-US" sz="2800" b="0" i="0" u="none" strike="noStrike" kern="1200" cap="none" spc="0" normalizeH="0" baseline="0" noProof="1">
                <a:solidFill>
                  <a:schemeClr val="tx1"/>
                </a:solidFill>
                <a:latin typeface="+mj-lt"/>
                <a:sym typeface="+mn-ea"/>
              </a:defRPr>
            </a:lvl1pPr>
          </a:lstStyle>
          <a:p>
            <a:pPr lvl="0" algn="l">
              <a:buClrTx/>
              <a:buSzTx/>
              <a:buFontTx/>
            </a:pPr>
            <a:r>
              <a:rPr dirty="0">
                <a:sym typeface="+mn-ea"/>
              </a:rPr>
              <a:t>Click to add title</a:t>
            </a:r>
          </a:p>
        </p:txBody>
      </p:sp>
      <p:sp>
        <p:nvSpPr>
          <p:cNvPr id="3" name="日期占位符 2"/>
          <p:cNvSpPr>
            <a:spLocks noGrp="1"/>
          </p:cNvSpPr>
          <p:nvPr>
            <p:ph type="dt" sz="half" idx="10"/>
            <p:custDataLst>
              <p:tags r:id="rId2"/>
            </p:custDataLst>
          </p:nvPr>
        </p:nvSpPr>
        <p:spPr>
          <a:xfrm>
            <a:off x="695324" y="6314400"/>
            <a:ext cx="2616675" cy="316800"/>
          </a:xfrm>
        </p:spPr>
        <p:txBody>
          <a:bodyPr/>
          <a:lstStyle/>
          <a:p>
            <a:r>
              <a:rPr lang="en-US"/>
              <a:t>Date Area</a:t>
            </a:r>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8877600" y="6314400"/>
            <a:ext cx="2619075" cy="316800"/>
          </a:xfrm>
        </p:spPr>
        <p:txBody>
          <a:bodyPr/>
          <a:lstStyle/>
          <a:p>
            <a:fld id="{49AE70B2-8BF9-45C0-BB95-33D1B9D3A854}" type="slidenum">
              <a:rPr lang="en-US" smtClean="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r>
              <a:rPr lang="en-US"/>
              <a:t>Date Area</a:t>
            </a:r>
          </a:p>
        </p:txBody>
      </p:sp>
      <p:sp>
        <p:nvSpPr>
          <p:cNvPr id="3" name="页脚占位符 2"/>
          <p:cNvSpPr>
            <a:spLocks noGrp="1"/>
          </p:cNvSpPr>
          <p:nvPr>
            <p:ph type="ftr" sz="quarter" idx="11"/>
            <p:custDataLst>
              <p:tags r:id="rId2"/>
            </p:custDataLst>
          </p:nvPr>
        </p:nvSpPr>
        <p:spPr/>
        <p:txBody>
          <a:bodyPr/>
          <a:lstStyle/>
          <a:p>
            <a:endParaRPr lang="en-US" dirty="0"/>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7" name="正文"/>
          <p:cNvSpPr txBox="1">
            <a:spLocks noGrp="1"/>
          </p:cNvSpPr>
          <p:nvPr>
            <p:ph idx="1" hasCustomPrompt="1"/>
            <p:custDataLst>
              <p:tags r:id="rId1"/>
            </p:custDataLst>
          </p:nvPr>
        </p:nvSpPr>
        <p:spPr>
          <a:xfrm>
            <a:off x="695324" y="366395"/>
            <a:ext cx="10801351" cy="589026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en-US" sz="1800" b="0" i="0" u="none" strike="noStrike" kern="1200" cap="none" spc="150" normalizeH="0" baseline="0" noProof="1" dirty="0">
                <a:ln>
                  <a:noFill/>
                  <a:prstDash val="sysDot"/>
                </a:ln>
                <a:solidFill>
                  <a:schemeClr val="tx1"/>
                </a:solidFill>
                <a:uFillTx/>
                <a:latin typeface="+mn-lt"/>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en-US" sz="1800" b="0" i="0" u="none" strike="noStrike" kern="1200" cap="none" spc="150" normalizeH="0" baseline="0" noProof="1" dirty="0">
                <a:ln>
                  <a:noFill/>
                  <a:prstDash val="sysDot"/>
                </a:ln>
                <a:solidFill>
                  <a:schemeClr val="tx1"/>
                </a:solidFill>
                <a:uFillTx/>
                <a:latin typeface="+mn-lt"/>
                <a:sym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Click to add text</a:t>
            </a:r>
          </a:p>
        </p:txBody>
      </p:sp>
      <p:sp>
        <p:nvSpPr>
          <p:cNvPr id="4" name="日期占位符 3"/>
          <p:cNvSpPr>
            <a:spLocks noGrp="1"/>
          </p:cNvSpPr>
          <p:nvPr>
            <p:ph type="dt" sz="half" idx="10"/>
            <p:custDataLst>
              <p:tags r:id="rId2"/>
            </p:custDataLst>
          </p:nvPr>
        </p:nvSpPr>
        <p:spPr>
          <a:xfrm>
            <a:off x="695324" y="6314400"/>
            <a:ext cx="2616675" cy="316800"/>
          </a:xfrm>
        </p:spPr>
        <p:txBody>
          <a:bodyPr/>
          <a:lstStyle/>
          <a:p>
            <a:r>
              <a:rPr lang="en-US"/>
              <a:t>Date Area</a:t>
            </a:r>
          </a:p>
        </p:txBody>
      </p:sp>
      <p:sp>
        <p:nvSpPr>
          <p:cNvPr id="5" name="页脚占位符 4"/>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8877600" y="6314400"/>
            <a:ext cx="2619075" cy="316800"/>
          </a:xfrm>
        </p:spPr>
        <p:txBody>
          <a:bodyPr/>
          <a:lstStyle/>
          <a:p>
            <a:fld id="{49AE70B2-8BF9-45C0-BB95-33D1B9D3A854}" type="slidenum">
              <a:rPr lang="en-US" smtClean="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and Subtitle">
    <p:spTree>
      <p:nvGrpSpPr>
        <p:cNvPr id="1" name=""/>
        <p:cNvGrpSpPr/>
        <p:nvPr/>
      </p:nvGrpSpPr>
      <p:grpSpPr>
        <a:xfrm>
          <a:off x="0" y="0"/>
          <a:ext cx="0" cy="0"/>
          <a:chOff x="0" y="0"/>
          <a:chExt cx="0" cy="0"/>
        </a:xfrm>
      </p:grpSpPr>
      <p:cxnSp>
        <p:nvCxnSpPr>
          <p:cNvPr id="9" name="直接连接符 8"/>
          <p:cNvCxnSpPr/>
          <p:nvPr>
            <p:custDataLst>
              <p:tags r:id="rId1"/>
            </p:custDataLst>
          </p:nvPr>
        </p:nvCxnSpPr>
        <p:spPr>
          <a:xfrm>
            <a:off x="718185" y="959485"/>
            <a:ext cx="694055" cy="0"/>
          </a:xfrm>
          <a:prstGeom prst="line">
            <a:avLst/>
          </a:prstGeom>
          <a:ln w="25400" cap="sq">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副标题"/>
          <p:cNvSpPr txBox="1">
            <a:spLocks noGrp="1"/>
          </p:cNvSpPr>
          <p:nvPr>
            <p:ph type="body" idx="2" hasCustomPrompt="1"/>
            <p:custDataLst>
              <p:tags r:id="rId2"/>
            </p:custDataLst>
          </p:nvPr>
        </p:nvSpPr>
        <p:spPr>
          <a:xfrm>
            <a:off x="695325" y="1225550"/>
            <a:ext cx="10799476" cy="459740"/>
          </a:xfrm>
          <a:prstGeom prst="rect">
            <a:avLst/>
          </a:prstGeom>
          <a:noFill/>
          <a:ln>
            <a:noFill/>
            <a:prstDash val="sysDash"/>
          </a:ln>
        </p:spPr>
        <p:txBody>
          <a:bodyPr wrap="square" lIns="107950" rtlCol="0" anchor="b">
            <a:noAutofit/>
          </a:bodyPr>
          <a:lstStyle>
            <a:lvl1pPr marL="0" marR="0" algn="l" defTabSz="914400" rtl="0" eaLnBrk="1" fontAlgn="auto" latinLnBrk="0" hangingPunct="1">
              <a:lnSpc>
                <a:spcPct val="100000"/>
              </a:lnSpc>
              <a:buClrTx/>
              <a:buSzTx/>
              <a:buFontTx/>
              <a:buNone/>
              <a:defRPr kumimoji="0" lang="en-US" sz="1800" b="0" i="0" u="none" strike="noStrike" kern="1200" cap="none" spc="300" normalizeH="0" baseline="0" noProof="1" dirty="0">
                <a:solidFill>
                  <a:schemeClr val="tx1"/>
                </a:solidFill>
                <a:latin typeface="+mj-lt"/>
              </a:defRPr>
            </a:lvl1pPr>
          </a:lstStyle>
          <a:p>
            <a:pPr lvl="0" algn="l"/>
            <a:r>
              <a:rPr dirty="0">
                <a:sym typeface="+mn-ea"/>
              </a:rPr>
              <a:t>Click to add text</a:t>
            </a:r>
          </a:p>
        </p:txBody>
      </p:sp>
      <p:sp>
        <p:nvSpPr>
          <p:cNvPr id="6" name="标题"/>
          <p:cNvSpPr txBox="1">
            <a:spLocks noGrp="1"/>
          </p:cNvSpPr>
          <p:nvPr>
            <p:ph type="title" idx="1" hasCustomPrompt="1"/>
            <p:custDataLst>
              <p:tags r:id="rId3"/>
            </p:custDataLst>
          </p:nvPr>
        </p:nvSpPr>
        <p:spPr>
          <a:xfrm>
            <a:off x="694800" y="359999"/>
            <a:ext cx="10800000" cy="720000"/>
          </a:xfrm>
          <a:prstGeom prst="rect">
            <a:avLst/>
          </a:prstGeom>
          <a:noFill/>
        </p:spPr>
        <p:txBody>
          <a:bodyPr wrap="square" lIns="0" tIns="0" rIns="0" bIns="0" rtlCol="0" anchor="b" anchorCtr="0">
            <a:noAutofit/>
          </a:bodyPr>
          <a:lstStyle>
            <a:lvl1pPr marL="0" marR="0" lvl="0" algn="l" defTabSz="914400" rtl="0" eaLnBrk="1" fontAlgn="base" latinLnBrk="0" hangingPunct="1">
              <a:lnSpc>
                <a:spcPct val="100000"/>
              </a:lnSpc>
              <a:buClrTx/>
              <a:buSzTx/>
              <a:buFontTx/>
              <a:buNone/>
              <a:defRPr kumimoji="0" lang="en-US" sz="2800" b="0" i="0" u="none" strike="noStrike" kern="1200" cap="none" spc="0" normalizeH="0" baseline="0" noProof="1">
                <a:solidFill>
                  <a:schemeClr val="tx1"/>
                </a:solidFill>
                <a:latin typeface="+mj-lt"/>
                <a:sym typeface="+mn-ea"/>
              </a:defRPr>
            </a:lvl1pPr>
          </a:lstStyle>
          <a:p>
            <a:pPr lvl="0" algn="l">
              <a:buClrTx/>
              <a:buSzTx/>
              <a:buFontTx/>
            </a:pPr>
            <a:r>
              <a:rPr dirty="0">
                <a:sym typeface="+mn-ea"/>
              </a:rPr>
              <a:t>Click to add title</a:t>
            </a:r>
          </a:p>
        </p:txBody>
      </p:sp>
      <p:sp>
        <p:nvSpPr>
          <p:cNvPr id="3" name="日期占位符 2"/>
          <p:cNvSpPr>
            <a:spLocks noGrp="1"/>
          </p:cNvSpPr>
          <p:nvPr>
            <p:ph type="dt" sz="half" idx="10"/>
            <p:custDataLst>
              <p:tags r:id="rId4"/>
            </p:custDataLst>
          </p:nvPr>
        </p:nvSpPr>
        <p:spPr>
          <a:xfrm>
            <a:off x="694800" y="6314400"/>
            <a:ext cx="2617200" cy="316800"/>
          </a:xfrm>
        </p:spPr>
        <p:txBody>
          <a:bodyPr/>
          <a:lstStyle/>
          <a:p>
            <a:r>
              <a:rPr lang="en-US"/>
              <a:t>Date Area</a:t>
            </a:r>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6"/>
            </p:custDataLst>
          </p:nvPr>
        </p:nvSpPr>
        <p:spPr>
          <a:xfrm>
            <a:off x="8877600" y="6314400"/>
            <a:ext cx="2619075" cy="316800"/>
          </a:xfrm>
        </p:spPr>
        <p:txBody>
          <a:bodyPr/>
          <a:lstStyle/>
          <a:p>
            <a:fld id="{49AE70B2-8BF9-45C0-BB95-33D1B9D3A854}" type="slidenum">
              <a:rPr lang="en-US" smtClean="0"/>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reserve="1">
  <p:cSld name="End Slide">
    <p:spTree>
      <p:nvGrpSpPr>
        <p:cNvPr id="1" name=""/>
        <p:cNvGrpSpPr/>
        <p:nvPr/>
      </p:nvGrpSpPr>
      <p:grpSpPr>
        <a:xfrm>
          <a:off x="0" y="0"/>
          <a:ext cx="0" cy="0"/>
          <a:chOff x="0" y="0"/>
          <a:chExt cx="0" cy="0"/>
        </a:xfrm>
      </p:grpSpPr>
      <p:sp>
        <p:nvSpPr>
          <p:cNvPr id="11" name="矩形 10"/>
          <p:cNvSpPr/>
          <p:nvPr userDrawn="1">
            <p:custDataLst>
              <p:tags r:id="rId1"/>
            </p:custDataLst>
          </p:nvPr>
        </p:nvSpPr>
        <p:spPr>
          <a:xfrm rot="10800000">
            <a:off x="-1" y="0"/>
            <a:ext cx="12192000" cy="6858000"/>
          </a:xfrm>
          <a:prstGeom prst="rect">
            <a:avLst/>
          </a:prstGeom>
          <a:gradFill flip="none" rotWithShape="1">
            <a:gsLst>
              <a:gs pos="0">
                <a:schemeClr val="bg2">
                  <a:lumMod val="60000"/>
                  <a:lumOff val="40000"/>
                </a:schemeClr>
              </a:gs>
              <a:gs pos="100000">
                <a:schemeClr val="bg2"/>
              </a:gs>
              <a:gs pos="58000">
                <a:schemeClr val="bg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12" name="矩形 11"/>
          <p:cNvSpPr/>
          <p:nvPr userDrawn="1">
            <p:custDataLst>
              <p:tags r:id="rId2"/>
            </p:custDataLst>
          </p:nvPr>
        </p:nvSpPr>
        <p:spPr>
          <a:xfrm rot="10800000">
            <a:off x="0" y="0"/>
            <a:ext cx="12192000" cy="6858000"/>
          </a:xfrm>
          <a:prstGeom prst="rect">
            <a:avLst/>
          </a:prstGeom>
          <a:gradFill flip="none" rotWithShape="1">
            <a:gsLst>
              <a:gs pos="0">
                <a:schemeClr val="accent1">
                  <a:lumMod val="75000"/>
                  <a:alpha val="50000"/>
                </a:schemeClr>
              </a:gs>
              <a:gs pos="100000">
                <a:schemeClr val="bg2">
                  <a:alpha val="0"/>
                </a:schemeClr>
              </a:gs>
              <a:gs pos="58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pic>
        <p:nvPicPr>
          <p:cNvPr id="10" name="图片 9" descr="996_画板 1"/>
          <p:cNvPicPr>
            <a:picLocks noChangeAspect="1"/>
          </p:cNvPicPr>
          <p:nvPr userDrawn="1">
            <p:custDataLst>
              <p:tags r:id="rId3"/>
            </p:custDataLst>
          </p:nvPr>
        </p:nvPicPr>
        <p:blipFill>
          <a:blip r:embed="rId11"/>
          <a:stretch>
            <a:fillRect/>
          </a:stretch>
        </p:blipFill>
        <p:spPr>
          <a:xfrm flipH="1">
            <a:off x="5743575" y="925195"/>
            <a:ext cx="6927215" cy="5567680"/>
          </a:xfrm>
          <a:prstGeom prst="rect">
            <a:avLst/>
          </a:prstGeom>
        </p:spPr>
      </p:pic>
      <p:sp>
        <p:nvSpPr>
          <p:cNvPr id="8" name="署名"/>
          <p:cNvSpPr txBox="1">
            <a:spLocks noGrp="1"/>
          </p:cNvSpPr>
          <p:nvPr>
            <p:ph type="body" idx="2" hasCustomPrompt="1"/>
            <p:custDataLst>
              <p:tags r:id="rId4"/>
            </p:custDataLst>
          </p:nvPr>
        </p:nvSpPr>
        <p:spPr>
          <a:xfrm>
            <a:off x="1006475" y="3617595"/>
            <a:ext cx="1607820" cy="421640"/>
          </a:xfrm>
          <a:prstGeom prst="roundRect">
            <a:avLst>
              <a:gd name="adj" fmla="val 50000"/>
            </a:avLst>
          </a:prstGeom>
          <a:gradFill>
            <a:gsLst>
              <a:gs pos="0">
                <a:schemeClr val="accent3"/>
              </a:gs>
              <a:gs pos="100000">
                <a:schemeClr val="accent4"/>
              </a:gs>
            </a:gsLst>
            <a:lin ang="0" scaled="0"/>
          </a:gradFill>
        </p:spPr>
        <p:txBody>
          <a:bodyPr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en-US" sz="1400" b="0" i="0" u="none" strike="noStrike" kern="1200" cap="none" spc="0" normalizeH="0" baseline="0" noProof="1" dirty="0">
                <a:solidFill>
                  <a:srgbClr val="FFFFFF"/>
                </a:solidFill>
                <a:latin typeface="+mn-lt"/>
                <a:sym typeface="+mn-ea"/>
              </a:defRPr>
            </a:lvl1pPr>
          </a:lstStyle>
          <a:p>
            <a:pPr lvl="0" algn="ctr">
              <a:buClrTx/>
              <a:buSzTx/>
              <a:buFontTx/>
            </a:pPr>
            <a:r>
              <a:rPr dirty="0">
                <a:sym typeface="+mn-ea"/>
              </a:rPr>
              <a:t>Click to add text</a:t>
            </a:r>
          </a:p>
        </p:txBody>
      </p:sp>
      <p:sp>
        <p:nvSpPr>
          <p:cNvPr id="7" name="标题"/>
          <p:cNvSpPr txBox="1">
            <a:spLocks noGrp="1"/>
          </p:cNvSpPr>
          <p:nvPr>
            <p:ph type="title" idx="1" hasCustomPrompt="1"/>
            <p:custDataLst>
              <p:tags r:id="rId5"/>
            </p:custDataLst>
          </p:nvPr>
        </p:nvSpPr>
        <p:spPr>
          <a:xfrm>
            <a:off x="1006475" y="1586608"/>
            <a:ext cx="6184265" cy="1728092"/>
          </a:xfrm>
          <a:prstGeom prst="rect">
            <a:avLst/>
          </a:prstGeom>
          <a:noFill/>
        </p:spPr>
        <p:txBody>
          <a:bodyPr wrap="square" lIns="0" tIns="0" rIns="0" bIns="0" rtlCol="0" anchor="b">
            <a:normAutofit/>
          </a:bodyPr>
          <a:lstStyle>
            <a:lvl1pPr marL="0" marR="0" algn="l" defTabSz="914400" rtl="0" eaLnBrk="1" fontAlgn="auto" latinLnBrk="0" hangingPunct="1">
              <a:lnSpc>
                <a:spcPct val="90000"/>
              </a:lnSpc>
              <a:buClrTx/>
              <a:buSzTx/>
              <a:buFontTx/>
              <a:buNone/>
              <a:defRPr kumimoji="0" lang="en-US" sz="5800" b="0" i="0" u="none" strike="noStrike" kern="1200" cap="none" spc="0" normalizeH="0" baseline="0" noProof="1" dirty="0">
                <a:solidFill>
                  <a:schemeClr val="tx1"/>
                </a:solidFill>
                <a:latin typeface="+mj-lt"/>
              </a:defRPr>
            </a:lvl1pPr>
          </a:lstStyle>
          <a:p>
            <a:pPr lvl="0" algn="l">
              <a:lnSpc>
                <a:spcPct val="90000"/>
              </a:lnSpc>
              <a:buClrTx/>
              <a:buSzTx/>
              <a:buFontTx/>
            </a:pPr>
            <a:r>
              <a:rPr dirty="0">
                <a:sym typeface="+mn-ea"/>
              </a:rPr>
              <a:t>Click to add title</a:t>
            </a:r>
          </a:p>
        </p:txBody>
      </p:sp>
      <p:sp>
        <p:nvSpPr>
          <p:cNvPr id="4" name="日期占位符 3"/>
          <p:cNvSpPr>
            <a:spLocks noGrp="1"/>
          </p:cNvSpPr>
          <p:nvPr>
            <p:ph type="dt" sz="half" idx="10"/>
            <p:custDataLst>
              <p:tags r:id="rId6"/>
            </p:custDataLst>
          </p:nvPr>
        </p:nvSpPr>
        <p:spPr>
          <a:xfrm>
            <a:off x="612000" y="6314400"/>
            <a:ext cx="2700000" cy="316800"/>
          </a:xfrm>
        </p:spPr>
        <p:txBody>
          <a:bodyPr/>
          <a:lstStyle/>
          <a:p>
            <a:r>
              <a:rPr lang="en-US"/>
              <a:t>Date Area</a:t>
            </a:r>
          </a:p>
        </p:txBody>
      </p:sp>
      <p:sp>
        <p:nvSpPr>
          <p:cNvPr id="5" name="页脚占位符 4"/>
          <p:cNvSpPr>
            <a:spLocks noGrp="1"/>
          </p:cNvSpPr>
          <p:nvPr>
            <p:ph type="ftr" sz="quarter" idx="11"/>
            <p:custDataLst>
              <p:tags r:id="rId7"/>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8"/>
            </p:custDataLst>
          </p:nvPr>
        </p:nvSpPr>
        <p:spPr>
          <a:xfrm>
            <a:off x="8877600" y="6314400"/>
            <a:ext cx="2700000" cy="316800"/>
          </a:xfrm>
        </p:spPr>
        <p:txBody>
          <a:bodyPr/>
          <a:lstStyle/>
          <a:p>
            <a:fld id="{49AE70B2-8BF9-45C0-BB95-33D1B9D3A854}" type="slidenum">
              <a:rPr lang="en-US" smtClean="0"/>
              <a:t>‹#›</a:t>
            </a:fld>
            <a:endParaRPr lang="en-US" dirty="0"/>
          </a:p>
        </p:txBody>
      </p:sp>
      <p:sp>
        <p:nvSpPr>
          <p:cNvPr id="3" name="矩形: 圆角 3"/>
          <p:cNvSpPr/>
          <p:nvPr userDrawn="1">
            <p:custDataLst>
              <p:tags r:id="rId9"/>
            </p:custDataLst>
          </p:nvPr>
        </p:nvSpPr>
        <p:spPr>
          <a:xfrm>
            <a:off x="360045" y="333375"/>
            <a:ext cx="11473180" cy="6221730"/>
          </a:xfrm>
          <a:prstGeom prst="roundRect">
            <a:avLst>
              <a:gd name="adj" fmla="val 3754"/>
            </a:avLst>
          </a:prstGeom>
          <a:noFill/>
          <a:ln w="28575">
            <a:gradFill flip="none" rotWithShape="1">
              <a:gsLst>
                <a:gs pos="0">
                  <a:schemeClr val="accent2"/>
                </a:gs>
                <a:gs pos="71000">
                  <a:schemeClr val="accent2">
                    <a:alpha val="0"/>
                  </a:schemeClr>
                </a:gs>
              </a:gsLst>
              <a:lin ang="27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Arial" panose="020B0604020202020204" pitchFamily="34" charset="0"/>
              </a:rPr>
              <a:t> </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15.xml"/><Relationship Id="rId21" Type="http://schemas.openxmlformats.org/officeDocument/2006/relationships/tags" Target="../tags/tag9.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tags" Target="../tags/tag5.xml"/><Relationship Id="rId2" Type="http://schemas.openxmlformats.org/officeDocument/2006/relationships/slideLayout" Target="../slideLayouts/slideLayout14.xml"/><Relationship Id="rId16" Type="http://schemas.openxmlformats.org/officeDocument/2006/relationships/tags" Target="../tags/tag4.xml"/><Relationship Id="rId20" Type="http://schemas.openxmlformats.org/officeDocument/2006/relationships/tags" Target="../tags/tag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ags" Target="../tags/tag3.xml"/><Relationship Id="rId10" Type="http://schemas.openxmlformats.org/officeDocument/2006/relationships/slideLayout" Target="../slideLayouts/slideLayout22.xml"/><Relationship Id="rId19" Type="http://schemas.openxmlformats.org/officeDocument/2006/relationships/tags" Target="../tags/tag7.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747F76-AB6E-44B1-B98C-D4B14E9714A2}" type="datetimeFigureOut">
              <a:rPr lang="en-US" smtClean="0"/>
              <a:t>9/12/2025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F0DF38-14A7-4864-B7FE-63BE149557F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矩形 8"/>
          <p:cNvSpPr/>
          <p:nvPr userDrawn="1">
            <p:custDataLst>
              <p:tags r:id="rId14"/>
            </p:custDataLst>
          </p:nvPr>
        </p:nvSpPr>
        <p:spPr>
          <a:xfrm rot="10800000">
            <a:off x="-1" y="0"/>
            <a:ext cx="12192000" cy="6858000"/>
          </a:xfrm>
          <a:prstGeom prst="rect">
            <a:avLst/>
          </a:prstGeom>
          <a:gradFill flip="none" rotWithShape="1">
            <a:gsLst>
              <a:gs pos="0">
                <a:schemeClr val="bg2">
                  <a:lumMod val="60000"/>
                  <a:lumOff val="40000"/>
                </a:schemeClr>
              </a:gs>
              <a:gs pos="100000">
                <a:schemeClr val="bg2"/>
              </a:gs>
              <a:gs pos="58000">
                <a:schemeClr val="bg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3" name="矩形 12"/>
          <p:cNvSpPr/>
          <p:nvPr userDrawn="1">
            <p:custDataLst>
              <p:tags r:id="rId15"/>
            </p:custDataLst>
          </p:nvPr>
        </p:nvSpPr>
        <p:spPr>
          <a:xfrm rot="10800000">
            <a:off x="0" y="0"/>
            <a:ext cx="12192000" cy="6858000"/>
          </a:xfrm>
          <a:prstGeom prst="rect">
            <a:avLst/>
          </a:prstGeom>
          <a:gradFill flip="none" rotWithShape="1">
            <a:gsLst>
              <a:gs pos="0">
                <a:schemeClr val="accent1">
                  <a:lumMod val="75000"/>
                  <a:alpha val="50000"/>
                </a:schemeClr>
              </a:gs>
              <a:gs pos="100000">
                <a:schemeClr val="bg2">
                  <a:alpha val="0"/>
                </a:schemeClr>
              </a:gs>
              <a:gs pos="58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0" name="日期占位符 9"/>
          <p:cNvSpPr>
            <a:spLocks noGrp="1"/>
          </p:cNvSpPr>
          <p:nvPr>
            <p:ph type="dt" sz="half" idx="10"/>
            <p:custDataLst>
              <p:tags r:id="rId16"/>
            </p:custDataLst>
          </p:nvPr>
        </p:nvSpPr>
        <p:spPr>
          <a:xfrm>
            <a:off x="694799" y="6314400"/>
            <a:ext cx="2617201" cy="316800"/>
          </a:xfrm>
        </p:spPr>
        <p:txBody>
          <a:bodyPr/>
          <a:lstStyle>
            <a:lvl1pPr>
              <a:defRPr>
                <a:latin typeface="Arial" panose="020B0604020202020204" pitchFamily="34" charset="0"/>
                <a:ea typeface="Arial" panose="020B0604020202020204" pitchFamily="34" charset="0"/>
                <a:cs typeface="Arial" panose="020B0604020202020204" pitchFamily="34" charset="0"/>
              </a:defRPr>
            </a:lvl1pPr>
          </a:lstStyle>
          <a:p>
            <a:r>
              <a:rPr lang="en-US"/>
              <a:t>Date Area</a:t>
            </a:r>
          </a:p>
        </p:txBody>
      </p:sp>
      <p:sp>
        <p:nvSpPr>
          <p:cNvPr id="11" name="页脚占位符 10"/>
          <p:cNvSpPr>
            <a:spLocks noGrp="1"/>
          </p:cNvSpPr>
          <p:nvPr>
            <p:ph type="ftr" sz="quarter" idx="11"/>
            <p:custDataLst>
              <p:tags r:id="rId17"/>
            </p:custDataLst>
          </p:nvPr>
        </p:nvSpPr>
        <p:spPr>
          <a:xfrm>
            <a:off x="4116000" y="6314400"/>
            <a:ext cx="3960000" cy="316800"/>
          </a:xfrm>
        </p:spPr>
        <p:txBody>
          <a:bodyPr/>
          <a:lstStyle>
            <a:lvl1pPr algn="ctr">
              <a:defRPr>
                <a:latin typeface="Arial" panose="020B0604020202020204" pitchFamily="34" charset="0"/>
                <a:ea typeface="Arial" panose="020B0604020202020204" pitchFamily="34" charset="0"/>
                <a:cs typeface="Arial" panose="020B0604020202020204" pitchFamily="34" charset="0"/>
              </a:defRPr>
            </a:lvl1pPr>
          </a:lstStyle>
          <a:p>
            <a:endParaRPr lang="en-US" dirty="0"/>
          </a:p>
        </p:txBody>
      </p:sp>
      <p:sp>
        <p:nvSpPr>
          <p:cNvPr id="12" name="灯片编号占位符 11"/>
          <p:cNvSpPr>
            <a:spLocks noGrp="1"/>
          </p:cNvSpPr>
          <p:nvPr>
            <p:ph type="sldNum" sz="quarter" idx="12"/>
            <p:custDataLst>
              <p:tags r:id="rId18"/>
            </p:custDataLst>
          </p:nvPr>
        </p:nvSpPr>
        <p:spPr>
          <a:xfrm>
            <a:off x="8877600" y="6314400"/>
            <a:ext cx="2617198" cy="316800"/>
          </a:xfrm>
        </p:spPr>
        <p:txBody>
          <a:bodyPr/>
          <a:lstStyle>
            <a:lvl1pPr algn="r">
              <a:defRPr>
                <a:latin typeface="Arial" panose="020B0604020202020204" pitchFamily="34" charset="0"/>
                <a:ea typeface="Arial" panose="020B0604020202020204" pitchFamily="34" charset="0"/>
                <a:cs typeface="Arial" panose="020B0604020202020204" pitchFamily="34" charset="0"/>
              </a:defRPr>
            </a:lvl1pPr>
          </a:lstStyle>
          <a:p>
            <a:fld id="{49AE70B2-8BF9-45C0-BB95-33D1B9D3A854}" type="slidenum">
              <a:rPr lang="en-US" smtClean="0"/>
              <a:t>‹#›</a:t>
            </a:fld>
            <a:endParaRPr lang="en-US" dirty="0"/>
          </a:p>
        </p:txBody>
      </p:sp>
      <p:sp>
        <p:nvSpPr>
          <p:cNvPr id="4" name="文本占位符 3"/>
          <p:cNvSpPr>
            <a:spLocks noGrp="1"/>
          </p:cNvSpPr>
          <p:nvPr>
            <p:ph type="body" idx="1"/>
            <p:custDataLst>
              <p:tags r:id="rId19"/>
            </p:custDataLst>
          </p:nvPr>
        </p:nvSpPr>
        <p:spPr>
          <a:xfrm>
            <a:off x="694799" y="1226916"/>
            <a:ext cx="10799999" cy="4950047"/>
          </a:xfrm>
          <a:prstGeom prst="rect">
            <a:avLst/>
          </a:prstGeom>
          <a:ln>
            <a:noFill/>
            <a:prstDash val="sysDash"/>
          </a:ln>
        </p:spPr>
        <p:txBody>
          <a:bodyPr vert="horz" lIns="90000" tIns="46800" rIns="90000" bIns="46800" rtlCol="0">
            <a:normAutofit/>
          </a:bodyPr>
          <a:lstStyle/>
          <a:p>
            <a:pPr marR="0" lvl="0">
              <a:spcBef>
                <a:spcPts val="1200"/>
              </a:spcBef>
              <a:spcAft>
                <a:spcPts val="0"/>
              </a:spcAft>
              <a:buClr>
                <a:schemeClr val="accent5"/>
              </a:buClr>
              <a:buSzTx/>
            </a:pPr>
            <a:r>
              <a:rPr lang="en-US" dirty="0">
                <a:latin typeface="+mn-lt"/>
              </a:rPr>
              <a:t>Click to add text</a:t>
            </a:r>
            <a:endParaRPr lang="en-US" dirty="0"/>
          </a:p>
        </p:txBody>
      </p:sp>
      <p:sp>
        <p:nvSpPr>
          <p:cNvPr id="2" name="标题占位符 1"/>
          <p:cNvSpPr>
            <a:spLocks noGrp="1"/>
          </p:cNvSpPr>
          <p:nvPr>
            <p:ph type="title"/>
            <p:custDataLst>
              <p:tags r:id="rId20"/>
            </p:custDataLst>
          </p:nvPr>
        </p:nvSpPr>
        <p:spPr>
          <a:xfrm>
            <a:off x="694800" y="360000"/>
            <a:ext cx="10800000" cy="720000"/>
          </a:xfrm>
          <a:prstGeom prst="rect">
            <a:avLst/>
          </a:prstGeom>
          <a:noFill/>
        </p:spPr>
        <p:txBody>
          <a:bodyPr vert="horz" wrap="square" lIns="91440" tIns="0" rIns="91440" bIns="0" rtlCol="0" anchor="b">
            <a:normAutofit/>
          </a:bodyPr>
          <a:lstStyle/>
          <a:p>
            <a:pPr marL="0" marR="0" lvl="0">
              <a:buClrTx/>
              <a:buSzTx/>
              <a:buFontTx/>
            </a:pPr>
            <a:r>
              <a:rPr lang="en-US" dirty="0">
                <a:latin typeface="+mj-lt"/>
              </a:rPr>
              <a:t>Click to add title</a:t>
            </a:r>
            <a:endParaRPr lang="en-US" dirty="0"/>
          </a:p>
        </p:txBody>
      </p:sp>
      <p:sp>
        <p:nvSpPr>
          <p:cNvPr id="5"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3"/>
    </p:custData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fontAlgn="auto" latinLnBrk="0" hangingPunct="1">
        <a:lnSpc>
          <a:spcPct val="100000"/>
        </a:lnSpc>
        <a:spcBef>
          <a:spcPct val="0"/>
        </a:spcBef>
        <a:buNone/>
        <a:defRPr kumimoji="0" lang="en-US" sz="3200" b="0" i="0" u="none" strike="noStrike" kern="1200" cap="none" spc="0" normalizeH="0" baseline="0" smtClean="0">
          <a:solidFill>
            <a:schemeClr val="tx1"/>
          </a:solidFill>
          <a:uFillTx/>
          <a:latin typeface="Arial" panose="020B0604020202020204" pitchFamily="34" charset="0"/>
          <a:ea typeface="Arial" panose="020B0604020202020204" pitchFamily="34" charset="0"/>
          <a:cs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en-US" sz="1800" b="0" i="0" u="none" strike="noStrike" kern="1200" cap="none" spc="150" normalizeH="0" baseline="0" dirty="0">
          <a:ln>
            <a:noFill/>
            <a:prstDash val="sysDot"/>
          </a:ln>
          <a:solidFill>
            <a:schemeClr val="tx1"/>
          </a:solidFill>
          <a:uFillTx/>
          <a:latin typeface="Arial" panose="020B0604020202020204" pitchFamily="34" charset="0"/>
          <a:ea typeface="Arial" panose="020B0604020202020204" pitchFamily="34" charset="0"/>
          <a:cs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Lst>
        <a:defRPr kumimoji="0" lang="en-US" sz="1600" b="0" i="0" u="none" strike="noStrike" kern="1200" cap="none" spc="150" normalizeH="0" baseline="0" noProof="1" dirty="0">
          <a:solidFill>
            <a:schemeClr val="tx1"/>
          </a:solidFill>
          <a:uFillTx/>
          <a:latin typeface="+mn-ea"/>
          <a:ea typeface="+mn-ea"/>
          <a:cs typeface="MiSans Normal" panose="00000500000000000000" charset="-122"/>
          <a:sym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en-US" sz="1600" b="0" i="0" u="none" strike="noStrike" kern="1200" cap="none" spc="150" normalizeH="0" baseline="0" noProof="1" dirty="0">
          <a:solidFill>
            <a:schemeClr val="tx1"/>
          </a:solidFill>
          <a:uFillTx/>
          <a:latin typeface="+mn-ea"/>
          <a:ea typeface="+mn-ea"/>
          <a:cs typeface="MiSans Normal" panose="00000500000000000000" charset="-122"/>
          <a:sym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noProof="1" dirty="0">
          <a:solidFill>
            <a:schemeClr val="tx1"/>
          </a:solidFill>
          <a:uFillTx/>
          <a:latin typeface="+mn-ea"/>
          <a:ea typeface="+mn-ea"/>
          <a:cs typeface="MiSans Normal" panose="00000500000000000000" charset="-122"/>
          <a:sym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en-US" sz="1400" b="0" i="0" u="none" strike="noStrike" kern="1200" cap="none" spc="150" normalizeH="0" baseline="0" noProof="1" dirty="0">
          <a:solidFill>
            <a:schemeClr val="tx1"/>
          </a:solidFill>
          <a:uFillTx/>
          <a:latin typeface="+mn-ea"/>
          <a:ea typeface="+mn-ea"/>
          <a:cs typeface="MiSans Normal" panose="00000500000000000000" charset="-122"/>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hart" Target="../charts/chart3.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hart" Target="../charts/chart4.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hart" Target="../charts/chart5.xml"/></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hart" Target="../charts/chart6.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hart" Target="../charts/chart7.xml"/></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chart" Target="../charts/chart8.xml"/></Relationships>
</file>

<file path=ppt/slides/_rels/slide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chart" Target="../charts/chart11.xml"/><Relationship Id="rId4" Type="http://schemas.openxmlformats.org/officeDocument/2006/relationships/chart" Target="../charts/chart10.xml"/></Relationships>
</file>

<file path=ppt/slides/_rels/slide34.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chart" Target="../charts/chart13.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chart" Target="../charts/chart12.xml"/></Relationships>
</file>

<file path=ppt/slides/_rels/slide3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chart" Target="../charts/chart15.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chart" Target="../charts/chart14.xml"/></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chart" Target="../charts/chart1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chart" Target="../charts/char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6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6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6.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jpeg"/><Relationship Id="rId7"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jpeg"/><Relationship Id="rId7" Type="http://schemas.openxmlformats.org/officeDocument/2006/relationships/image" Target="../media/image40.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6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jpeg"/><Relationship Id="rId7"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7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jpeg"/><Relationship Id="rId7" Type="http://schemas.openxmlformats.org/officeDocument/2006/relationships/image" Target="../media/image40.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7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jpeg"/><Relationship Id="rId7" Type="http://schemas.openxmlformats.org/officeDocument/2006/relationships/image" Target="../media/image40.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7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custDataLst>
              <p:tags r:id="rId2"/>
            </p:custDataLst>
          </p:nvPr>
        </p:nvSpPr>
        <p:spPr/>
        <p:txBody>
          <a:bodyPr/>
          <a:lstStyle/>
          <a:p>
            <a:r>
              <a:rPr lang="en-US" dirty="0"/>
              <a:t>S.THENMALR</a:t>
            </a:r>
          </a:p>
        </p:txBody>
      </p:sp>
      <p:sp>
        <p:nvSpPr>
          <p:cNvPr id="8" name="标题 7"/>
          <p:cNvSpPr>
            <a:spLocks noGrp="1"/>
          </p:cNvSpPr>
          <p:nvPr>
            <p:ph type="title" idx="1"/>
            <p:custDataLst>
              <p:tags r:id="rId3"/>
            </p:custDataLst>
          </p:nvPr>
        </p:nvSpPr>
        <p:spPr/>
        <p:txBody>
          <a:bodyPr>
            <a:normAutofit fontScale="90000"/>
          </a:bodyPr>
          <a:lstStyle/>
          <a:p>
            <a:r>
              <a:rPr lang="en-US" dirty="0"/>
              <a:t>MACHINE LEARNING ALGORITHMS</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4" y="347730"/>
            <a:ext cx="11410735" cy="6027311"/>
          </a:xfrm>
        </p:spPr>
        <p:txBody>
          <a:bodyPr>
            <a:normAutofit lnSpcReduction="1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a:lnSpc>
                <a:spcPct val="150000"/>
              </a:lnSpc>
              <a:defRPr/>
            </a:pPr>
            <a:r>
              <a:rPr lang="en-US" sz="2800" dirty="0">
                <a:latin typeface="Times New Roman" panose="02020603050405020304" pitchFamily="18" charset="0"/>
                <a:cs typeface="Times New Roman" panose="02020603050405020304" pitchFamily="18" charset="0"/>
              </a:rPr>
              <a:t>Guidelines for machine learning experiments</a:t>
            </a:r>
          </a:p>
          <a:p>
            <a:pPr>
              <a:lnSpc>
                <a:spcPct val="150000"/>
              </a:lnSpc>
              <a:defRPr/>
            </a:pPr>
            <a:r>
              <a:rPr lang="en-US" sz="2800" dirty="0">
                <a:latin typeface="Times New Roman" panose="02020603050405020304" pitchFamily="18" charset="0"/>
                <a:cs typeface="Times New Roman" panose="02020603050405020304" pitchFamily="18" charset="0"/>
              </a:rPr>
              <a:t>Cross Validation (CV) and resampling</a:t>
            </a:r>
          </a:p>
          <a:p>
            <a:pPr>
              <a:lnSpc>
                <a:spcPct val="150000"/>
              </a:lnSpc>
              <a:defRPr/>
            </a:pPr>
            <a:r>
              <a:rPr lang="en-US" dirty="0">
                <a:latin typeface="Times New Roman" panose="02020603050405020304" pitchFamily="18" charset="0"/>
                <a:cs typeface="Times New Roman" panose="02020603050405020304" pitchFamily="18" charset="0"/>
              </a:rPr>
              <a:t>A</a:t>
            </a:r>
            <a:r>
              <a:rPr lang="en-US" sz="2800" dirty="0">
                <a:latin typeface="Times New Roman" panose="02020603050405020304" pitchFamily="18" charset="0"/>
                <a:cs typeface="Times New Roman" panose="02020603050405020304" pitchFamily="18" charset="0"/>
              </a:rPr>
              <a:t>ssessing a single classification algorithm and comparing two classification algorithms - K-fold CV Performance metrics-MSE, accuracy, confusion matrix, precision, recall, F1-score</a:t>
            </a:r>
          </a:p>
          <a:p>
            <a:pPr>
              <a:lnSpc>
                <a:spcPct val="150000"/>
              </a:lnSpc>
              <a:defRPr/>
            </a:pPr>
            <a:r>
              <a:rPr lang="en-US" sz="2800" dirty="0">
                <a:latin typeface="Times New Roman" panose="02020603050405020304" pitchFamily="18" charset="0"/>
                <a:cs typeface="Times New Roman" panose="02020603050405020304" pitchFamily="18" charset="0"/>
              </a:rPr>
              <a:t>Linear Regression </a:t>
            </a:r>
          </a:p>
          <a:p>
            <a:pPr>
              <a:lnSpc>
                <a:spcPct val="150000"/>
              </a:lnSpc>
              <a:defRPr/>
            </a:pPr>
            <a:r>
              <a:rPr lang="en-US" sz="2800" dirty="0">
                <a:latin typeface="Times New Roman" panose="02020603050405020304" pitchFamily="18" charset="0"/>
                <a:cs typeface="Times New Roman" panose="02020603050405020304" pitchFamily="18" charset="0"/>
              </a:rPr>
              <a:t>Logistic Regression with Binomial &amp; Multi class classification</a:t>
            </a: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5" name="Date Placeholder 5"/>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p:cNvSpPr>
            <a:spLocks noGrp="1"/>
          </p:cNvSpPr>
          <p:nvPr>
            <p:ph type="sldNum" sz="quarter" idx="12"/>
          </p:nvPr>
        </p:nvSpPr>
        <p:spPr/>
        <p:txBody>
          <a:bodyPr/>
          <a:lstStyle/>
          <a:p>
            <a:fld id="{AD7ED525-5088-40CF-8CE0-E4296ADF624B}" type="slidenum">
              <a:rPr lang="en-IN" smtClean="0"/>
              <a:t>2</a:t>
            </a:fld>
            <a:endParaRPr lang="en-IN"/>
          </a:p>
        </p:txBody>
      </p:sp>
    </p:spTree>
    <p:extLst>
      <p:ext uri="{BB962C8B-B14F-4D97-AF65-F5344CB8AC3E}">
        <p14:creationId xmlns:p14="http://schemas.microsoft.com/office/powerpoint/2010/main" val="1607771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BD8AA-0AE3-7B90-CB0B-FE76F82C37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85639C-98F1-38D5-39BB-8F9825F82E91}"/>
              </a:ext>
            </a:extLst>
          </p:cNvPr>
          <p:cNvSpPr>
            <a:spLocks noGrp="1"/>
          </p:cNvSpPr>
          <p:nvPr>
            <p:ph idx="1"/>
          </p:nvPr>
        </p:nvSpPr>
        <p:spPr>
          <a:xfrm>
            <a:off x="670775" y="347730"/>
            <a:ext cx="10515600" cy="6027311"/>
          </a:xfrm>
        </p:spPr>
        <p:txBody>
          <a:bodyPr>
            <a:normAutofit fontScale="70000" lnSpcReduction="2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marL="0" indent="0">
              <a:lnSpc>
                <a:spcPct val="150000"/>
              </a:lnSpc>
              <a:buNone/>
              <a:defRPr/>
            </a:pPr>
            <a:r>
              <a:rPr lang="en-US" sz="2800" b="1" dirty="0">
                <a:solidFill>
                  <a:srgbClr val="FF000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Formulate objectives.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Collect and preprocess data.</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Split data into training, validation, and test sets (or use cross-validation).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Train the model with different algorithms and settings.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Evaluate performance using metrics relevant to the task.</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Tune hyperparameters through cross-validation.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Perform error analysis to identify areas for improvement.</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Select the best model and ensure it meets business goals and ethical standards.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Deploy the model, and monitor its performance over time.</a:t>
            </a:r>
            <a:endParaRPr lang="en-US" dirty="0">
              <a:solidFill>
                <a:srgbClr val="C00000"/>
              </a:solidFill>
            </a:endParaRP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a:extLst>
              <a:ext uri="{FF2B5EF4-FFF2-40B4-BE49-F238E27FC236}">
                <a16:creationId xmlns:a16="http://schemas.microsoft.com/office/drawing/2014/main" id="{B5D76AA4-0623-16C1-205F-0A217193DD1D}"/>
              </a:ext>
            </a:extLst>
          </p:cNvPr>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5" name="Date Placeholder 5">
            <a:extLst>
              <a:ext uri="{FF2B5EF4-FFF2-40B4-BE49-F238E27FC236}">
                <a16:creationId xmlns:a16="http://schemas.microsoft.com/office/drawing/2014/main" id="{9D275668-D8D7-AA32-930B-489432C1BE1C}"/>
              </a:ext>
            </a:extLst>
          </p:cNvPr>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a:extLst>
              <a:ext uri="{FF2B5EF4-FFF2-40B4-BE49-F238E27FC236}">
                <a16:creationId xmlns:a16="http://schemas.microsoft.com/office/drawing/2014/main" id="{51DA7601-8B3D-9F60-A0B7-F96E9060407E}"/>
              </a:ext>
            </a:extLst>
          </p:cNvPr>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a:extLst>
              <a:ext uri="{FF2B5EF4-FFF2-40B4-BE49-F238E27FC236}">
                <a16:creationId xmlns:a16="http://schemas.microsoft.com/office/drawing/2014/main" id="{F1B69621-C89F-0AAF-C623-CFEB1F820306}"/>
              </a:ext>
            </a:extLst>
          </p:cNvPr>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a:extLst>
              <a:ext uri="{FF2B5EF4-FFF2-40B4-BE49-F238E27FC236}">
                <a16:creationId xmlns:a16="http://schemas.microsoft.com/office/drawing/2014/main" id="{74FD36F8-32C4-AEFA-26FD-0ABFB45AF829}"/>
              </a:ext>
            </a:extLst>
          </p:cNvPr>
          <p:cNvSpPr>
            <a:spLocks noGrp="1"/>
          </p:cNvSpPr>
          <p:nvPr>
            <p:ph type="sldNum" sz="quarter" idx="12"/>
          </p:nvPr>
        </p:nvSpPr>
        <p:spPr/>
        <p:txBody>
          <a:bodyPr/>
          <a:lstStyle/>
          <a:p>
            <a:fld id="{AD7ED525-5088-40CF-8CE0-E4296ADF624B}" type="slidenum">
              <a:rPr lang="en-IN" smtClean="0"/>
              <a:t>3</a:t>
            </a:fld>
            <a:endParaRPr lang="en-IN"/>
          </a:p>
        </p:txBody>
      </p:sp>
    </p:spTree>
    <p:extLst>
      <p:ext uri="{BB962C8B-B14F-4D97-AF65-F5344CB8AC3E}">
        <p14:creationId xmlns:p14="http://schemas.microsoft.com/office/powerpoint/2010/main" val="2271655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5" y="347730"/>
            <a:ext cx="10515600" cy="6027311"/>
          </a:xfrm>
        </p:spPr>
        <p:txBody>
          <a:bodyPr>
            <a:normAutofit fontScale="77500" lnSpcReduction="2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marL="0" indent="0">
              <a:lnSpc>
                <a:spcPct val="150000"/>
              </a:lnSpc>
              <a:buNone/>
              <a:defRPr/>
            </a:pPr>
            <a:r>
              <a:rPr lang="en-US" sz="2800" b="1" dirty="0">
                <a:solidFill>
                  <a:srgbClr val="FF000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Formulate objectives.</a:t>
            </a:r>
          </a:p>
          <a:p>
            <a:pPr>
              <a:lnSpc>
                <a:spcPct val="150000"/>
              </a:lnSpc>
              <a:buFont typeface="Wingdings" panose="05000000000000000000" pitchFamily="2" charset="2"/>
              <a:buChar char="Ø"/>
              <a:defRPr/>
            </a:pPr>
            <a:r>
              <a:rPr lang="en-US" sz="2800" dirty="0">
                <a:solidFill>
                  <a:srgbClr val="FF0000"/>
                </a:solidFill>
                <a:latin typeface="Times New Roman" panose="02020603050405020304" pitchFamily="18" charset="0"/>
                <a:cs typeface="Times New Roman" panose="02020603050405020304" pitchFamily="18" charset="0"/>
              </a:rPr>
              <a:t>Collect and preprocess data</a:t>
            </a:r>
            <a:endParaRPr lang="en-US" dirty="0">
              <a:solidFill>
                <a:srgbClr val="002060"/>
              </a:solidFill>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Data Cleaning</a:t>
            </a:r>
            <a:r>
              <a:rPr lang="en-US" dirty="0">
                <a:solidFill>
                  <a:srgbClr val="002060"/>
                </a:solidFill>
                <a:latin typeface="Times New Roman" panose="02020603050405020304" pitchFamily="18" charset="0"/>
                <a:cs typeface="Times New Roman" panose="02020603050405020304" pitchFamily="18" charset="0"/>
              </a:rPr>
              <a:t>: Handling missing data, removing outliers, fixing data inconsistencies.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Data Transformation</a:t>
            </a:r>
            <a:r>
              <a:rPr lang="en-US" dirty="0">
                <a:solidFill>
                  <a:srgbClr val="002060"/>
                </a:solidFill>
                <a:latin typeface="Times New Roman" panose="02020603050405020304" pitchFamily="18" charset="0"/>
                <a:cs typeface="Times New Roman" panose="02020603050405020304" pitchFamily="18" charset="0"/>
              </a:rPr>
              <a:t>: Normalizing or standardizing features to ensure that they have similar ranges or distributions.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Feature Engineering</a:t>
            </a:r>
            <a:r>
              <a:rPr lang="en-US" dirty="0">
                <a:solidFill>
                  <a:srgbClr val="002060"/>
                </a:solidFill>
                <a:latin typeface="Times New Roman" panose="02020603050405020304" pitchFamily="18" charset="0"/>
                <a:cs typeface="Times New Roman" panose="02020603050405020304" pitchFamily="18" charset="0"/>
              </a:rPr>
              <a:t>: Creating new features from the raw data to enhance model performance (e.g., combining features, deriving meaningful variables).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Encoding Categorical Variables</a:t>
            </a:r>
            <a:r>
              <a:rPr lang="en-US" dirty="0">
                <a:solidFill>
                  <a:srgbClr val="002060"/>
                </a:solidFill>
                <a:latin typeface="Times New Roman" panose="02020603050405020304" pitchFamily="18" charset="0"/>
                <a:cs typeface="Times New Roman" panose="02020603050405020304" pitchFamily="18" charset="0"/>
              </a:rPr>
              <a:t>: Converting categorical features to numerical ones using techniques like one-hot encoding or label encoding.</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Handling Imbalanced Data</a:t>
            </a:r>
            <a:r>
              <a:rPr lang="en-US" dirty="0">
                <a:solidFill>
                  <a:srgbClr val="002060"/>
                </a:solidFill>
                <a:latin typeface="Times New Roman" panose="02020603050405020304" pitchFamily="18" charset="0"/>
                <a:cs typeface="Times New Roman" panose="02020603050405020304" pitchFamily="18" charset="0"/>
              </a:rPr>
              <a:t>: Techniques like SMOTE (Synthetic Minority Over-sampling Technique) or </a:t>
            </a:r>
            <a:r>
              <a:rPr lang="en-US" dirty="0" err="1">
                <a:solidFill>
                  <a:srgbClr val="002060"/>
                </a:solidFill>
                <a:latin typeface="Times New Roman" panose="02020603050405020304" pitchFamily="18" charset="0"/>
                <a:cs typeface="Times New Roman" panose="02020603050405020304" pitchFamily="18" charset="0"/>
              </a:rPr>
              <a:t>undersampling</a:t>
            </a:r>
            <a:r>
              <a:rPr lang="en-US" dirty="0">
                <a:solidFill>
                  <a:srgbClr val="002060"/>
                </a:solidFill>
                <a:latin typeface="Times New Roman" panose="02020603050405020304" pitchFamily="18" charset="0"/>
                <a:cs typeface="Times New Roman" panose="02020603050405020304" pitchFamily="18" charset="0"/>
              </a:rPr>
              <a:t> to balance datasets where one class is underrepresented.</a:t>
            </a: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5" name="Date Placeholder 5"/>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p:cNvSpPr>
            <a:spLocks noGrp="1"/>
          </p:cNvSpPr>
          <p:nvPr>
            <p:ph type="sldNum" sz="quarter" idx="12"/>
          </p:nvPr>
        </p:nvSpPr>
        <p:spPr/>
        <p:txBody>
          <a:bodyPr/>
          <a:lstStyle/>
          <a:p>
            <a:fld id="{AD7ED525-5088-40CF-8CE0-E4296ADF624B}" type="slidenum">
              <a:rPr lang="en-IN" smtClean="0"/>
              <a:t>4</a:t>
            </a:fld>
            <a:endParaRPr lang="en-IN"/>
          </a:p>
        </p:txBody>
      </p:sp>
    </p:spTree>
    <p:extLst>
      <p:ext uri="{BB962C8B-B14F-4D97-AF65-F5344CB8AC3E}">
        <p14:creationId xmlns:p14="http://schemas.microsoft.com/office/powerpoint/2010/main" val="4127767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5" y="347730"/>
            <a:ext cx="10515600" cy="6027311"/>
          </a:xfrm>
        </p:spPr>
        <p:txBody>
          <a:bodyPr>
            <a:normAutofit fontScale="85000" lnSpcReduction="1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marL="0" indent="0">
              <a:lnSpc>
                <a:spcPct val="150000"/>
              </a:lnSpc>
              <a:buNone/>
              <a:defRPr/>
            </a:pPr>
            <a:r>
              <a:rPr lang="en-US" sz="2800" b="1" dirty="0">
                <a:solidFill>
                  <a:srgbClr val="FF000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Formulate objectives.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Collect and preprocess data.</a:t>
            </a:r>
          </a:p>
          <a:p>
            <a:pPr>
              <a:lnSpc>
                <a:spcPct val="150000"/>
              </a:lnSpc>
              <a:buFont typeface="Wingdings" panose="05000000000000000000" pitchFamily="2" charset="2"/>
              <a:buChar char="Ø"/>
              <a:defRPr/>
            </a:pPr>
            <a:r>
              <a:rPr lang="en-US" sz="2800" dirty="0">
                <a:solidFill>
                  <a:srgbClr val="FF0000"/>
                </a:solidFill>
                <a:latin typeface="Times New Roman" panose="02020603050405020304" pitchFamily="18" charset="0"/>
                <a:cs typeface="Times New Roman" panose="02020603050405020304" pitchFamily="18" charset="0"/>
              </a:rPr>
              <a:t>Split data into training, validation, and test sets (or use cross-validation).</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Train-Test Split</a:t>
            </a:r>
            <a:r>
              <a:rPr lang="en-US" dirty="0">
                <a:latin typeface="Times New Roman" panose="02020603050405020304" pitchFamily="18" charset="0"/>
                <a:cs typeface="Times New Roman" panose="02020603050405020304" pitchFamily="18" charset="0"/>
              </a:rPr>
              <a:t>: Dividing the dataset into training and testing sets (often 70%-80% training, 30%-20% testing).</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K-Fold Cross Validation</a:t>
            </a:r>
            <a:r>
              <a:rPr lang="en-US" dirty="0">
                <a:latin typeface="Times New Roman" panose="02020603050405020304" pitchFamily="18" charset="0"/>
                <a:cs typeface="Times New Roman" panose="02020603050405020304" pitchFamily="18" charset="0"/>
              </a:rPr>
              <a:t>: Dividing the dataset into K equal parts to ensure the model is trained and validated on multiple sets, improving the robustness of the results.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Stratified K-Fold Cross Validation</a:t>
            </a:r>
            <a:r>
              <a:rPr lang="en-US" dirty="0">
                <a:latin typeface="Times New Roman" panose="02020603050405020304" pitchFamily="18" charset="0"/>
                <a:cs typeface="Times New Roman" panose="02020603050405020304" pitchFamily="18" charset="0"/>
              </a:rPr>
              <a:t>: Used when the dataset has imbalanced classes, ensuring that each fold maintains the same class distribution as the original dataset.</a:t>
            </a: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5" name="Date Placeholder 5"/>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p:cNvSpPr>
            <a:spLocks noGrp="1"/>
          </p:cNvSpPr>
          <p:nvPr>
            <p:ph type="sldNum" sz="quarter" idx="12"/>
          </p:nvPr>
        </p:nvSpPr>
        <p:spPr/>
        <p:txBody>
          <a:bodyPr/>
          <a:lstStyle/>
          <a:p>
            <a:fld id="{AD7ED525-5088-40CF-8CE0-E4296ADF624B}" type="slidenum">
              <a:rPr lang="en-IN" smtClean="0"/>
              <a:t>5</a:t>
            </a:fld>
            <a:endParaRPr lang="en-IN"/>
          </a:p>
        </p:txBody>
      </p:sp>
    </p:spTree>
    <p:extLst>
      <p:ext uri="{BB962C8B-B14F-4D97-AF65-F5344CB8AC3E}">
        <p14:creationId xmlns:p14="http://schemas.microsoft.com/office/powerpoint/2010/main" val="3794120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5" y="347730"/>
            <a:ext cx="10515600" cy="6027311"/>
          </a:xfrm>
        </p:spPr>
        <p:txBody>
          <a:bodyPr>
            <a:normAutofit fontScale="77500" lnSpcReduction="2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marL="0" indent="0">
              <a:lnSpc>
                <a:spcPct val="150000"/>
              </a:lnSpc>
              <a:buNone/>
              <a:defRPr/>
            </a:pPr>
            <a:r>
              <a:rPr lang="en-US" sz="2800" b="1" dirty="0">
                <a:solidFill>
                  <a:srgbClr val="FF000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Formulate objectives.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Collect and preprocess data.</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Split data into training, validation, and test sets (or use cross-validation).</a:t>
            </a:r>
          </a:p>
          <a:p>
            <a:pPr>
              <a:lnSpc>
                <a:spcPct val="150000"/>
              </a:lnSpc>
              <a:buFont typeface="Wingdings" panose="05000000000000000000" pitchFamily="2" charset="2"/>
              <a:buChar char="Ø"/>
              <a:defRPr/>
            </a:pPr>
            <a:r>
              <a:rPr lang="en-US" sz="2800" dirty="0">
                <a:solidFill>
                  <a:srgbClr val="FF0000"/>
                </a:solidFill>
                <a:latin typeface="Times New Roman" panose="02020603050405020304" pitchFamily="18" charset="0"/>
                <a:cs typeface="Times New Roman" panose="02020603050405020304" pitchFamily="18" charset="0"/>
              </a:rPr>
              <a:t>Train the model with different algorithms and settings.</a:t>
            </a:r>
          </a:p>
          <a:p>
            <a:pPr marL="685800" lvl="2">
              <a:lnSpc>
                <a:spcPct val="150000"/>
              </a:lnSpc>
              <a:spcBef>
                <a:spcPts val="1000"/>
              </a:spcBef>
              <a:buFont typeface="Wingdings" panose="05000000000000000000" pitchFamily="2" charset="2"/>
              <a:buChar char="Ø"/>
              <a:defRPr/>
            </a:pPr>
            <a:r>
              <a:rPr lang="en-US" sz="2400" dirty="0">
                <a:solidFill>
                  <a:srgbClr val="C00000"/>
                </a:solidFill>
                <a:latin typeface="Times New Roman" panose="02020603050405020304" pitchFamily="18" charset="0"/>
                <a:cs typeface="Times New Roman" panose="02020603050405020304" pitchFamily="18" charset="0"/>
              </a:rPr>
              <a:t>Baseline Models</a:t>
            </a:r>
            <a:r>
              <a:rPr lang="en-US" sz="2400" dirty="0">
                <a:solidFill>
                  <a:srgbClr val="002060"/>
                </a:solidFill>
                <a:latin typeface="Times New Roman" panose="02020603050405020304" pitchFamily="18" charset="0"/>
                <a:cs typeface="Times New Roman" panose="02020603050405020304" pitchFamily="18" charset="0"/>
              </a:rPr>
              <a:t>: Start with simple models (e.g., logistic regression, decision trees) to establish a performance baseline.</a:t>
            </a:r>
          </a:p>
          <a:p>
            <a:pPr marL="685800" lvl="2">
              <a:lnSpc>
                <a:spcPct val="150000"/>
              </a:lnSpc>
              <a:spcBef>
                <a:spcPts val="1000"/>
              </a:spcBef>
              <a:buFont typeface="Wingdings" panose="05000000000000000000" pitchFamily="2" charset="2"/>
              <a:buChar char="Ø"/>
              <a:defRPr/>
            </a:pPr>
            <a:r>
              <a:rPr lang="en-US" sz="2400" dirty="0">
                <a:solidFill>
                  <a:srgbClr val="C00000"/>
                </a:solidFill>
                <a:latin typeface="Times New Roman" panose="02020603050405020304" pitchFamily="18" charset="0"/>
                <a:cs typeface="Times New Roman" panose="02020603050405020304" pitchFamily="18" charset="0"/>
              </a:rPr>
              <a:t>Algorithm Selection</a:t>
            </a:r>
            <a:r>
              <a:rPr lang="en-US" sz="2400" dirty="0">
                <a:solidFill>
                  <a:srgbClr val="002060"/>
                </a:solidFill>
                <a:latin typeface="Times New Roman" panose="02020603050405020304" pitchFamily="18" charset="0"/>
                <a:cs typeface="Times New Roman" panose="02020603050405020304" pitchFamily="18" charset="0"/>
              </a:rPr>
              <a:t>: Choose algorithms based on the type of problem (e.g., SVM for classification, CNN for images, RNN for sequences).</a:t>
            </a:r>
          </a:p>
          <a:p>
            <a:pPr marL="685800" lvl="2">
              <a:lnSpc>
                <a:spcPct val="150000"/>
              </a:lnSpc>
              <a:spcBef>
                <a:spcPts val="1000"/>
              </a:spcBef>
              <a:buFont typeface="Wingdings" panose="05000000000000000000" pitchFamily="2" charset="2"/>
              <a:buChar char="Ø"/>
              <a:defRPr/>
            </a:pPr>
            <a:r>
              <a:rPr lang="en-US" sz="2400" dirty="0">
                <a:solidFill>
                  <a:srgbClr val="C00000"/>
                </a:solidFill>
                <a:latin typeface="Times New Roman" panose="02020603050405020304" pitchFamily="18" charset="0"/>
                <a:cs typeface="Times New Roman" panose="02020603050405020304" pitchFamily="18" charset="0"/>
              </a:rPr>
              <a:t>Ensemble Methods</a:t>
            </a:r>
            <a:r>
              <a:rPr lang="en-US" sz="2400" dirty="0">
                <a:solidFill>
                  <a:srgbClr val="002060"/>
                </a:solidFill>
                <a:latin typeface="Times New Roman" panose="02020603050405020304" pitchFamily="18" charset="0"/>
                <a:cs typeface="Times New Roman" panose="02020603050405020304" pitchFamily="18" charset="0"/>
              </a:rPr>
              <a:t>: Combining multiple models to improve accuracy, e.g., Bagging (Random Forest), Boosting (</a:t>
            </a:r>
            <a:r>
              <a:rPr lang="en-US" sz="2400" dirty="0" err="1">
                <a:solidFill>
                  <a:srgbClr val="002060"/>
                </a:solidFill>
                <a:latin typeface="Times New Roman" panose="02020603050405020304" pitchFamily="18" charset="0"/>
                <a:cs typeface="Times New Roman" panose="02020603050405020304" pitchFamily="18" charset="0"/>
              </a:rPr>
              <a:t>XGBoost</a:t>
            </a:r>
            <a:r>
              <a:rPr lang="en-US" sz="2400" dirty="0">
                <a:solidFill>
                  <a:srgbClr val="002060"/>
                </a:solidFill>
                <a:latin typeface="Times New Roman" panose="02020603050405020304" pitchFamily="18" charset="0"/>
                <a:cs typeface="Times New Roman" panose="02020603050405020304" pitchFamily="18" charset="0"/>
              </a:rPr>
              <a:t>, AdaBoost), Stacking.</a:t>
            </a: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5" name="Date Placeholder 5"/>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p:cNvSpPr>
            <a:spLocks noGrp="1"/>
          </p:cNvSpPr>
          <p:nvPr>
            <p:ph type="sldNum" sz="quarter" idx="12"/>
          </p:nvPr>
        </p:nvSpPr>
        <p:spPr/>
        <p:txBody>
          <a:bodyPr/>
          <a:lstStyle/>
          <a:p>
            <a:fld id="{AD7ED525-5088-40CF-8CE0-E4296ADF624B}" type="slidenum">
              <a:rPr lang="en-IN" smtClean="0"/>
              <a:t>6</a:t>
            </a:fld>
            <a:endParaRPr lang="en-IN"/>
          </a:p>
        </p:txBody>
      </p:sp>
    </p:spTree>
    <p:extLst>
      <p:ext uri="{BB962C8B-B14F-4D97-AF65-F5344CB8AC3E}">
        <p14:creationId xmlns:p14="http://schemas.microsoft.com/office/powerpoint/2010/main" val="1790944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5" y="347730"/>
            <a:ext cx="10515600" cy="6027311"/>
          </a:xfrm>
        </p:spPr>
        <p:txBody>
          <a:bodyPr>
            <a:normAutofit fontScale="62500" lnSpcReduction="2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marL="0" indent="0">
              <a:lnSpc>
                <a:spcPct val="150000"/>
              </a:lnSpc>
              <a:buNone/>
              <a:defRPr/>
            </a:pPr>
            <a:r>
              <a:rPr lang="en-US" sz="2800" b="1" dirty="0">
                <a:solidFill>
                  <a:srgbClr val="FF000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Formulate objectives.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Collect and preprocess data.</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Split data into training, validation, and test sets (or use cross-validation).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Train the model with different algorithms and settings.</a:t>
            </a:r>
          </a:p>
          <a:p>
            <a:pPr>
              <a:lnSpc>
                <a:spcPct val="150000"/>
              </a:lnSpc>
              <a:buFont typeface="Wingdings" panose="05000000000000000000" pitchFamily="2" charset="2"/>
              <a:buChar char="Ø"/>
              <a:defRPr/>
            </a:pPr>
            <a:r>
              <a:rPr lang="en-US" sz="2800" dirty="0">
                <a:solidFill>
                  <a:srgbClr val="FF0000"/>
                </a:solidFill>
                <a:latin typeface="Times New Roman" panose="02020603050405020304" pitchFamily="18" charset="0"/>
                <a:cs typeface="Times New Roman" panose="02020603050405020304" pitchFamily="18" charset="0"/>
              </a:rPr>
              <a:t>Evaluate performance using metrics relevant to the task</a:t>
            </a:r>
            <a:r>
              <a:rPr lang="en-US" sz="2800" dirty="0">
                <a:latin typeface="Times New Roman" panose="02020603050405020304" pitchFamily="18" charset="0"/>
                <a:cs typeface="Times New Roman" panose="02020603050405020304" pitchFamily="18" charset="0"/>
              </a:rPr>
              <a:t>.</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Accuracy</a:t>
            </a:r>
            <a:r>
              <a:rPr lang="en-US" dirty="0">
                <a:solidFill>
                  <a:srgbClr val="002060"/>
                </a:solidFill>
                <a:latin typeface="Times New Roman" panose="02020603050405020304" pitchFamily="18" charset="0"/>
                <a:cs typeface="Times New Roman" panose="02020603050405020304" pitchFamily="18" charset="0"/>
              </a:rPr>
              <a:t>: The percentage of correctly predicted instances.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Precision, Recall, F1-Score</a:t>
            </a:r>
            <a:r>
              <a:rPr lang="en-US" dirty="0">
                <a:solidFill>
                  <a:srgbClr val="002060"/>
                </a:solidFill>
                <a:latin typeface="Times New Roman" panose="02020603050405020304" pitchFamily="18" charset="0"/>
                <a:cs typeface="Times New Roman" panose="02020603050405020304" pitchFamily="18" charset="0"/>
              </a:rPr>
              <a:t>: Useful for classification tasks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ROC-AUC (Receiver Operating Characteristic - Area Under the Curve): </a:t>
            </a:r>
            <a:r>
              <a:rPr lang="en-US" dirty="0">
                <a:solidFill>
                  <a:srgbClr val="002060"/>
                </a:solidFill>
                <a:latin typeface="Times New Roman" panose="02020603050405020304" pitchFamily="18" charset="0"/>
                <a:cs typeface="Times New Roman" panose="02020603050405020304" pitchFamily="18" charset="0"/>
              </a:rPr>
              <a:t>Measures how well the model distinguishes between classes.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Confusion Matrix</a:t>
            </a:r>
            <a:r>
              <a:rPr lang="en-US" dirty="0">
                <a:solidFill>
                  <a:srgbClr val="002060"/>
                </a:solidFill>
                <a:latin typeface="Times New Roman" panose="02020603050405020304" pitchFamily="18" charset="0"/>
                <a:cs typeface="Times New Roman" panose="02020603050405020304" pitchFamily="18" charset="0"/>
              </a:rPr>
              <a:t>: Provides a detailed breakdown of model performance by showing true positives, false positives, true negatives, and false negatives.</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Mean Squared Error (MSE) and Mean Absolute Error (MAE): </a:t>
            </a:r>
            <a:r>
              <a:rPr lang="en-US" dirty="0">
                <a:solidFill>
                  <a:srgbClr val="002060"/>
                </a:solidFill>
                <a:latin typeface="Times New Roman" panose="02020603050405020304" pitchFamily="18" charset="0"/>
                <a:cs typeface="Times New Roman" panose="02020603050405020304" pitchFamily="18" charset="0"/>
              </a:rPr>
              <a:t>For regression tasks, these evaluate how far off the predictions are from the actual values.</a:t>
            </a:r>
            <a:endParaRPr lang="en-US" dirty="0"/>
          </a:p>
        </p:txBody>
      </p:sp>
      <p:sp>
        <p:nvSpPr>
          <p:cNvPr id="4" name="Date Placeholder 5"/>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5" name="Date Placeholder 5"/>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p:cNvSpPr>
            <a:spLocks noGrp="1"/>
          </p:cNvSpPr>
          <p:nvPr>
            <p:ph type="sldNum" sz="quarter" idx="12"/>
          </p:nvPr>
        </p:nvSpPr>
        <p:spPr/>
        <p:txBody>
          <a:bodyPr/>
          <a:lstStyle/>
          <a:p>
            <a:fld id="{AD7ED525-5088-40CF-8CE0-E4296ADF624B}" type="slidenum">
              <a:rPr lang="en-IN" smtClean="0"/>
              <a:t>7</a:t>
            </a:fld>
            <a:endParaRPr lang="en-IN"/>
          </a:p>
        </p:txBody>
      </p:sp>
    </p:spTree>
    <p:extLst>
      <p:ext uri="{BB962C8B-B14F-4D97-AF65-F5344CB8AC3E}">
        <p14:creationId xmlns:p14="http://schemas.microsoft.com/office/powerpoint/2010/main" val="3085145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5" y="347730"/>
            <a:ext cx="10515600" cy="6027311"/>
          </a:xfrm>
        </p:spPr>
        <p:txBody>
          <a:bodyPr>
            <a:normAutofit fontScale="70000" lnSpcReduction="2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marL="0" indent="0">
              <a:lnSpc>
                <a:spcPct val="150000"/>
              </a:lnSpc>
              <a:buNone/>
              <a:defRPr/>
            </a:pPr>
            <a:r>
              <a:rPr lang="en-US" sz="2800" b="1" dirty="0">
                <a:solidFill>
                  <a:srgbClr val="FF000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Formulate objectives.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Collect and preprocess data.</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Split data into training, validation, and test sets (or use cross-validation).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Train the model with different algorithms and settings.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Evaluate performance using metrics relevant to the task.</a:t>
            </a:r>
          </a:p>
          <a:p>
            <a:pPr>
              <a:lnSpc>
                <a:spcPct val="150000"/>
              </a:lnSpc>
              <a:buFont typeface="Wingdings" panose="05000000000000000000" pitchFamily="2" charset="2"/>
              <a:buChar char="Ø"/>
              <a:defRPr/>
            </a:pPr>
            <a:r>
              <a:rPr lang="en-US" sz="2800" dirty="0">
                <a:solidFill>
                  <a:srgbClr val="FF0000"/>
                </a:solidFill>
                <a:latin typeface="Times New Roman" panose="02020603050405020304" pitchFamily="18" charset="0"/>
                <a:cs typeface="Times New Roman" panose="02020603050405020304" pitchFamily="18" charset="0"/>
              </a:rPr>
              <a:t>Tune hyperparameters through cross-validation</a:t>
            </a:r>
            <a:r>
              <a:rPr lang="en-US" sz="2800" dirty="0">
                <a:solidFill>
                  <a:srgbClr val="002060"/>
                </a:solidFill>
                <a:latin typeface="Times New Roman" panose="02020603050405020304" pitchFamily="18" charset="0"/>
                <a:cs typeface="Times New Roman" panose="02020603050405020304" pitchFamily="18" charset="0"/>
              </a:rPr>
              <a:t>.</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Grid Search</a:t>
            </a:r>
            <a:r>
              <a:rPr lang="en-US" dirty="0">
                <a:solidFill>
                  <a:srgbClr val="002060"/>
                </a:solidFill>
                <a:latin typeface="Times New Roman" panose="02020603050405020304" pitchFamily="18" charset="0"/>
                <a:cs typeface="Times New Roman" panose="02020603050405020304" pitchFamily="18" charset="0"/>
              </a:rPr>
              <a:t>: Systematically searching over a predefined hyperparameter space to find the best combination.</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Random Search</a:t>
            </a:r>
            <a:r>
              <a:rPr lang="en-US" dirty="0">
                <a:solidFill>
                  <a:srgbClr val="002060"/>
                </a:solidFill>
                <a:latin typeface="Times New Roman" panose="02020603050405020304" pitchFamily="18" charset="0"/>
                <a:cs typeface="Times New Roman" panose="02020603050405020304" pitchFamily="18" charset="0"/>
              </a:rPr>
              <a:t>: Randomly selecting combinations of hyperparameters for faster tuning than Grid Search.</a:t>
            </a:r>
          </a:p>
          <a:p>
            <a:pPr lvl="1">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Bayesian Optimization</a:t>
            </a:r>
            <a:r>
              <a:rPr lang="en-US" dirty="0">
                <a:solidFill>
                  <a:srgbClr val="002060"/>
                </a:solidFill>
                <a:latin typeface="Times New Roman" panose="02020603050405020304" pitchFamily="18" charset="0"/>
                <a:cs typeface="Times New Roman" panose="02020603050405020304" pitchFamily="18" charset="0"/>
              </a:rPr>
              <a:t>: A more advanced method that uses probabilistic models to find the best hyperparameters efficiently.</a:t>
            </a: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5" name="Date Placeholder 5"/>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p:cNvSpPr>
            <a:spLocks noGrp="1"/>
          </p:cNvSpPr>
          <p:nvPr>
            <p:ph type="sldNum" sz="quarter" idx="12"/>
          </p:nvPr>
        </p:nvSpPr>
        <p:spPr/>
        <p:txBody>
          <a:bodyPr/>
          <a:lstStyle/>
          <a:p>
            <a:fld id="{AD7ED525-5088-40CF-8CE0-E4296ADF624B}" type="slidenum">
              <a:rPr lang="en-IN" smtClean="0"/>
              <a:t>8</a:t>
            </a:fld>
            <a:endParaRPr lang="en-IN"/>
          </a:p>
        </p:txBody>
      </p:sp>
    </p:spTree>
    <p:extLst>
      <p:ext uri="{BB962C8B-B14F-4D97-AF65-F5344CB8AC3E}">
        <p14:creationId xmlns:p14="http://schemas.microsoft.com/office/powerpoint/2010/main" val="330756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96D0E-6C33-726C-6121-0FBE64CE13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5BCB31-E879-9B52-BC7B-941F7A2C919C}"/>
              </a:ext>
            </a:extLst>
          </p:cNvPr>
          <p:cNvSpPr>
            <a:spLocks noGrp="1"/>
          </p:cNvSpPr>
          <p:nvPr>
            <p:ph idx="1"/>
          </p:nvPr>
        </p:nvSpPr>
        <p:spPr>
          <a:xfrm>
            <a:off x="670775" y="347730"/>
            <a:ext cx="10515600" cy="6027311"/>
          </a:xfrm>
        </p:spPr>
        <p:txBody>
          <a:bodyPr>
            <a:normAutofit fontScale="70000" lnSpcReduction="2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Module 2 - Design And Analysis of Machine Learning Algorithms</a:t>
            </a:r>
            <a:endParaRPr lang="en-US" b="1" dirty="0">
              <a:latin typeface="Candara" panose="020E0502030303020204" pitchFamily="34" charset="0"/>
            </a:endParaRPr>
          </a:p>
          <a:p>
            <a:pPr marL="0" indent="0">
              <a:lnSpc>
                <a:spcPct val="150000"/>
              </a:lnSpc>
              <a:buNone/>
              <a:defRPr/>
            </a:pPr>
            <a:r>
              <a:rPr lang="en-US" sz="2800" b="1" dirty="0">
                <a:solidFill>
                  <a:srgbClr val="FF000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Formulate objectives.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Collect and preprocess data.</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Split data into training, validation, and test sets (or use cross-validation).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Train the model with different algorithms and settings.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Evaluate performance using metrics relevant to the task.</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Tune hyperparameters through cross-validation.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Perform error analysis to identify areas for improvement.</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Select the best model and ensure it meets business goals and ethical standards.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Deploy the model, and monitor its performance over time.</a:t>
            </a:r>
            <a:endParaRPr lang="en-US" dirty="0">
              <a:solidFill>
                <a:srgbClr val="C00000"/>
              </a:solidFill>
            </a:endParaRP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a:extLst>
              <a:ext uri="{FF2B5EF4-FFF2-40B4-BE49-F238E27FC236}">
                <a16:creationId xmlns:a16="http://schemas.microsoft.com/office/drawing/2014/main" id="{80EE3B52-DF72-7136-C952-01348E3BC4DA}"/>
              </a:ext>
            </a:extLst>
          </p:cNvPr>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5" name="Date Placeholder 5">
            <a:extLst>
              <a:ext uri="{FF2B5EF4-FFF2-40B4-BE49-F238E27FC236}">
                <a16:creationId xmlns:a16="http://schemas.microsoft.com/office/drawing/2014/main" id="{1A829064-CBF0-39B0-8729-50D7EA4672A4}"/>
              </a:ext>
            </a:extLst>
          </p:cNvPr>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a:extLst>
              <a:ext uri="{FF2B5EF4-FFF2-40B4-BE49-F238E27FC236}">
                <a16:creationId xmlns:a16="http://schemas.microsoft.com/office/drawing/2014/main" id="{928AA2D5-20E4-9241-B0C0-443E11ECBC20}"/>
              </a:ext>
            </a:extLst>
          </p:cNvPr>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a:extLst>
              <a:ext uri="{FF2B5EF4-FFF2-40B4-BE49-F238E27FC236}">
                <a16:creationId xmlns:a16="http://schemas.microsoft.com/office/drawing/2014/main" id="{91A9EEBB-7BAA-9DE1-8F35-B423FBAD7473}"/>
              </a:ext>
            </a:extLst>
          </p:cNvPr>
          <p:cNvSpPr>
            <a:spLocks noGrp="1"/>
          </p:cNvSpPr>
          <p:nvPr>
            <p:ph type="ftr" sz="quarter" idx="11"/>
          </p:nvPr>
        </p:nvSpPr>
        <p:spPr/>
        <p:txBody>
          <a:bodyPr/>
          <a:lstStyle/>
          <a:p>
            <a:r>
              <a:rPr lang="en-US" dirty="0"/>
              <a:t>Design And Analysis of Machine Learning Algorithms</a:t>
            </a:r>
            <a:endParaRPr lang="en-IN" dirty="0"/>
          </a:p>
        </p:txBody>
      </p:sp>
      <p:sp>
        <p:nvSpPr>
          <p:cNvPr id="7" name="Slide Number Placeholder 6">
            <a:extLst>
              <a:ext uri="{FF2B5EF4-FFF2-40B4-BE49-F238E27FC236}">
                <a16:creationId xmlns:a16="http://schemas.microsoft.com/office/drawing/2014/main" id="{E0456B57-F899-7B1F-A8EE-3204FCD8740E}"/>
              </a:ext>
            </a:extLst>
          </p:cNvPr>
          <p:cNvSpPr>
            <a:spLocks noGrp="1"/>
          </p:cNvSpPr>
          <p:nvPr>
            <p:ph type="sldNum" sz="quarter" idx="12"/>
          </p:nvPr>
        </p:nvSpPr>
        <p:spPr/>
        <p:txBody>
          <a:bodyPr/>
          <a:lstStyle/>
          <a:p>
            <a:fld id="{AD7ED525-5088-40CF-8CE0-E4296ADF624B}" type="slidenum">
              <a:rPr lang="en-IN" smtClean="0"/>
              <a:t>9</a:t>
            </a:fld>
            <a:endParaRPr lang="en-IN"/>
          </a:p>
        </p:txBody>
      </p:sp>
    </p:spTree>
    <p:extLst>
      <p:ext uri="{BB962C8B-B14F-4D97-AF65-F5344CB8AC3E}">
        <p14:creationId xmlns:p14="http://schemas.microsoft.com/office/powerpoint/2010/main" val="3615218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62917"/>
            </a:xfrm>
            <a:prstGeom prst="rect">
              <a:avLst/>
            </a:prstGeom>
          </p:spPr>
          <p:txBody>
            <a:bodyPr vert="horz" wrap="square" lIns="0" tIns="0" rIns="0" bIns="0" numCol="1" rtlCol="0">
              <a:spAutoFit/>
            </a:bodyPr>
            <a:lstStyle/>
            <a:p>
              <a:pPr marL="357505" indent="-357505" algn="just" fontAlgn="base">
                <a:lnSpc>
                  <a:spcPct val="250000"/>
                </a:lnSpc>
                <a:buFont typeface="Arial" panose="020B0604020202020204" pitchFamily="34" charset="0"/>
                <a:buChar char="•"/>
              </a:pPr>
              <a:r>
                <a:rPr lang="en-US" sz="2400" dirty="0"/>
                <a:t>Cross Validation </a:t>
              </a:r>
            </a:p>
            <a:p>
              <a:pPr marL="814705" lvl="1" indent="-357505" algn="just" fontAlgn="base">
                <a:lnSpc>
                  <a:spcPct val="250000"/>
                </a:lnSpc>
                <a:buFont typeface="Arial" panose="020B0604020202020204" pitchFamily="34" charset="0"/>
                <a:buChar char="•"/>
              </a:pPr>
              <a:r>
                <a:rPr lang="en-US" sz="2400" dirty="0"/>
                <a:t>Assess how well a machine learning model generalizes to an independent dataset. </a:t>
              </a:r>
            </a:p>
            <a:p>
              <a:pPr marL="814705" lvl="1" indent="-357505" algn="just" fontAlgn="base">
                <a:lnSpc>
                  <a:spcPct val="250000"/>
                </a:lnSpc>
                <a:buFont typeface="Arial" panose="020B0604020202020204" pitchFamily="34" charset="0"/>
                <a:buChar char="•"/>
              </a:pPr>
              <a:r>
                <a:rPr lang="en-US" sz="2400" dirty="0"/>
                <a:t>Ensure that the model's performance is not due to overfitting or underfitting to a particular dataset. </a:t>
              </a:r>
            </a:p>
            <a:p>
              <a:pPr marL="814705" lvl="1" indent="-357505" algn="just" fontAlgn="base">
                <a:lnSpc>
                  <a:spcPct val="250000"/>
                </a:lnSpc>
                <a:buFont typeface="Arial" panose="020B0604020202020204" pitchFamily="34" charset="0"/>
                <a:buChar char="•"/>
              </a:pPr>
              <a:r>
                <a:rPr lang="en-US" sz="2400" dirty="0"/>
                <a:t>It involves splitting the dataset into multiple subsets, training the model on some subsets, and testing it on others.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6"/>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47754"/>
            </a:xfrm>
            <a:prstGeom prst="rect">
              <a:avLst/>
            </a:prstGeom>
          </p:spPr>
          <p:txBody>
            <a:bodyPr vert="horz" wrap="square" lIns="0" tIns="0" rIns="0" bIns="0" numCol="1" rtlCol="0">
              <a:spAutoFit/>
            </a:bodyPr>
            <a:lstStyle/>
            <a:p>
              <a:pPr marL="357505" indent="-357505" algn="just" fontAlgn="base">
                <a:lnSpc>
                  <a:spcPct val="2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Cross Validation - Types</a:t>
              </a:r>
            </a:p>
            <a:p>
              <a:pPr marL="814705" lvl="1" indent="-357505" algn="just" fontAlgn="base">
                <a:lnSpc>
                  <a:spcPct val="200000"/>
                </a:lnSpc>
                <a:buFont typeface="Arial" panose="020B0604020202020204" pitchFamily="34" charset="0"/>
                <a:buChar char="•"/>
              </a:pPr>
              <a:r>
                <a:rPr lang="en-US" sz="2400" dirty="0"/>
                <a:t>K-Fold Cross-Validation</a:t>
              </a:r>
            </a:p>
            <a:p>
              <a:pPr marL="814705" lvl="1" indent="-357505" algn="just" fontAlgn="base">
                <a:lnSpc>
                  <a:spcPct val="200000"/>
                </a:lnSpc>
                <a:buFont typeface="Arial" panose="020B0604020202020204" pitchFamily="34" charset="0"/>
                <a:buChar char="•"/>
              </a:pPr>
              <a:r>
                <a:rPr lang="en-US" sz="2400" dirty="0"/>
                <a:t>Stratified K-Fold Cross-Validation</a:t>
              </a:r>
            </a:p>
            <a:p>
              <a:pPr marL="814705" lvl="1" indent="-357505" algn="just" fontAlgn="base">
                <a:lnSpc>
                  <a:spcPct val="200000"/>
                </a:lnSpc>
                <a:buFont typeface="Arial" panose="020B0604020202020204" pitchFamily="34" charset="0"/>
                <a:buChar char="•"/>
              </a:pPr>
              <a:r>
                <a:rPr lang="en-US" sz="2400" dirty="0"/>
                <a:t>Leave-One-Out Cross-Validation</a:t>
              </a:r>
            </a:p>
            <a:p>
              <a:pPr marL="814705" lvl="1" indent="-357505" algn="just" fontAlgn="base">
                <a:lnSpc>
                  <a:spcPct val="200000"/>
                </a:lnSpc>
                <a:buFont typeface="Arial" panose="020B0604020202020204" pitchFamily="34" charset="0"/>
                <a:buChar char="•"/>
              </a:pPr>
              <a:r>
                <a:rPr lang="en-US" sz="2400" dirty="0"/>
                <a:t>Leave-P-Out Cross-Validation</a:t>
              </a:r>
            </a:p>
            <a:p>
              <a:pPr marL="814705" lvl="1" indent="-357505" algn="just" fontAlgn="base">
                <a:lnSpc>
                  <a:spcPct val="200000"/>
                </a:lnSpc>
                <a:buFont typeface="Arial" panose="020B0604020202020204" pitchFamily="34" charset="0"/>
                <a:buChar char="•"/>
              </a:pPr>
              <a:r>
                <a:rPr lang="en-US" sz="2400" dirty="0"/>
                <a:t>Repeated K-Fold Cross-Validation</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11</a:t>
            </a:fld>
            <a:endParaRPr lang="en-IN"/>
          </a:p>
        </p:txBody>
      </p:sp>
    </p:spTree>
    <p:extLst>
      <p:ext uri="{BB962C8B-B14F-4D97-AF65-F5344CB8AC3E}">
        <p14:creationId xmlns:p14="http://schemas.microsoft.com/office/powerpoint/2010/main" val="4157387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6"/>
            <a:ext cx="12105504" cy="6015562"/>
            <a:chOff x="127862" y="1270374"/>
            <a:chExt cx="9296400" cy="85140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57935" y="1279913"/>
              <a:ext cx="4790581" cy="841861"/>
            </a:xfrm>
            <a:prstGeom prst="rect">
              <a:avLst/>
            </a:prstGeom>
          </p:spPr>
          <p:txBody>
            <a:bodyPr vert="horz" wrap="square" lIns="0" tIns="0" rIns="0" bIns="0" numCol="1" rtlCol="0">
              <a:spAutoFit/>
            </a:bodyPr>
            <a:lstStyle/>
            <a:p>
              <a:pPr marL="357505" indent="-357505" algn="just" fontAlgn="base">
                <a:lnSpc>
                  <a:spcPct val="2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Cross Validation - Types</a:t>
              </a:r>
            </a:p>
            <a:p>
              <a:pPr marL="814705" lvl="1" indent="-357505" algn="just" fontAlgn="base">
                <a:lnSpc>
                  <a:spcPct val="200000"/>
                </a:lnSpc>
                <a:buFont typeface="Arial" panose="020B0604020202020204" pitchFamily="34" charset="0"/>
                <a:buChar char="•"/>
              </a:pPr>
              <a:r>
                <a:rPr lang="en-US" sz="2400" dirty="0">
                  <a:solidFill>
                    <a:srgbClr val="FF0000"/>
                  </a:solidFill>
                </a:rPr>
                <a:t>K-Fold Cross-Validation</a:t>
              </a:r>
            </a:p>
            <a:p>
              <a:pPr marL="1271905" lvl="2" indent="-357505" algn="just" fontAlgn="base">
                <a:lnSpc>
                  <a:spcPct val="200000"/>
                </a:lnSpc>
                <a:buFont typeface="Arial" panose="020B0604020202020204" pitchFamily="34" charset="0"/>
                <a:buChar char="•"/>
              </a:pPr>
              <a:r>
                <a:rPr lang="en-US" sz="2000" dirty="0"/>
                <a:t>The data is divided into K subsets (folds).</a:t>
              </a:r>
            </a:p>
            <a:p>
              <a:pPr marL="1271905" lvl="2" indent="-357505" algn="just" fontAlgn="base">
                <a:lnSpc>
                  <a:spcPct val="200000"/>
                </a:lnSpc>
                <a:buFont typeface="Arial" panose="020B0604020202020204" pitchFamily="34" charset="0"/>
                <a:buChar char="•"/>
              </a:pPr>
              <a:r>
                <a:rPr lang="en-US" sz="2000" dirty="0"/>
                <a:t>The model is trained on K-1 folds and tested on the remaining fold. </a:t>
              </a:r>
            </a:p>
            <a:p>
              <a:pPr marL="1271905" lvl="2" indent="-357505" algn="just" fontAlgn="base">
                <a:lnSpc>
                  <a:spcPct val="200000"/>
                </a:lnSpc>
                <a:buFont typeface="Arial" panose="020B0604020202020204" pitchFamily="34" charset="0"/>
                <a:buChar char="•"/>
              </a:pPr>
              <a:r>
                <a:rPr lang="en-US" sz="2000" dirty="0"/>
                <a:t>This is repeated K times with each fold being used as the validation set once.</a:t>
              </a:r>
            </a:p>
            <a:p>
              <a:pPr marL="1271905" lvl="2" indent="-357505" algn="just" fontAlgn="base">
                <a:lnSpc>
                  <a:spcPct val="200000"/>
                </a:lnSpc>
                <a:buFont typeface="Arial" panose="020B0604020202020204" pitchFamily="34" charset="0"/>
                <a:buChar char="•"/>
              </a:pPr>
              <a:r>
                <a:rPr lang="en-US" sz="2000" dirty="0"/>
                <a:t>The performance metric is averaged over all K runs to get the final estimate.</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12</a:t>
            </a:fld>
            <a:endParaRPr lang="en-IN"/>
          </a:p>
        </p:txBody>
      </p:sp>
      <p:pic>
        <p:nvPicPr>
          <p:cNvPr id="2050" name="Picture 2">
            <a:extLst>
              <a:ext uri="{FF2B5EF4-FFF2-40B4-BE49-F238E27FC236}">
                <a16:creationId xmlns:a16="http://schemas.microsoft.com/office/drawing/2014/main" id="{24E0B3E0-5D4D-12C7-BF94-9A2FCDB84B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188" y="1712118"/>
            <a:ext cx="5709345" cy="3433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957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92046" y="1277957"/>
              <a:ext cx="4362499" cy="784970"/>
            </a:xfrm>
            <a:prstGeom prst="rect">
              <a:avLst/>
            </a:prstGeom>
          </p:spPr>
          <p:txBody>
            <a:bodyPr vert="horz" wrap="square" lIns="0" tIns="0" rIns="0" bIns="0" numCol="1" rtlCol="0">
              <a:spAutoFit/>
            </a:bodyPr>
            <a:lstStyle/>
            <a:p>
              <a:pPr marL="357505" indent="-357505" algn="just" fontAlgn="base">
                <a:lnSpc>
                  <a:spcPct val="2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Cross Validation - Types</a:t>
              </a:r>
            </a:p>
            <a:p>
              <a:pPr marL="814705" lvl="1" indent="-357505" algn="just" fontAlgn="base">
                <a:lnSpc>
                  <a:spcPct val="150000"/>
                </a:lnSpc>
                <a:buFont typeface="Arial" panose="020B0604020202020204" pitchFamily="34" charset="0"/>
                <a:buChar char="•"/>
              </a:pPr>
              <a:r>
                <a:rPr lang="en-US" sz="2400" dirty="0"/>
                <a:t>K-Fold Cross-Validation</a:t>
              </a:r>
            </a:p>
            <a:p>
              <a:pPr marL="814705" lvl="1" indent="-357505" algn="just" fontAlgn="base">
                <a:lnSpc>
                  <a:spcPct val="150000"/>
                </a:lnSpc>
                <a:buFont typeface="Arial" panose="020B0604020202020204" pitchFamily="34" charset="0"/>
                <a:buChar char="•"/>
              </a:pPr>
              <a:r>
                <a:rPr lang="en-US" sz="2400" dirty="0">
                  <a:solidFill>
                    <a:srgbClr val="FF0000"/>
                  </a:solidFill>
                </a:rPr>
                <a:t>Stratified K-Fold Cross-Validation</a:t>
              </a:r>
            </a:p>
            <a:p>
              <a:pPr marL="1271905" lvl="2" indent="-357505" algn="just" fontAlgn="base">
                <a:lnSpc>
                  <a:spcPct val="150000"/>
                </a:lnSpc>
                <a:buFont typeface="Arial" panose="020B0604020202020204" pitchFamily="34" charset="0"/>
                <a:buChar char="•"/>
              </a:pPr>
              <a:r>
                <a:rPr lang="en-US" sz="2000" dirty="0"/>
                <a:t>This is a variation of K-fold where the folds are stratified to ensure that the proportion of classes in each fold is similar to the original dataset.</a:t>
              </a:r>
            </a:p>
            <a:p>
              <a:pPr marL="814705" lvl="1" indent="-357505" algn="just" fontAlgn="base">
                <a:lnSpc>
                  <a:spcPct val="150000"/>
                </a:lnSpc>
                <a:buFont typeface="Arial" panose="020B0604020202020204" pitchFamily="34" charset="0"/>
                <a:buChar char="•"/>
              </a:pPr>
              <a:r>
                <a:rPr lang="en-US" sz="2400" dirty="0"/>
                <a:t>Leave-One-Out Cross-Validation</a:t>
              </a:r>
            </a:p>
            <a:p>
              <a:pPr marL="814705" lvl="1" indent="-357505" algn="just" fontAlgn="base">
                <a:lnSpc>
                  <a:spcPct val="150000"/>
                </a:lnSpc>
                <a:buFont typeface="Arial" panose="020B0604020202020204" pitchFamily="34" charset="0"/>
                <a:buChar char="•"/>
              </a:pPr>
              <a:r>
                <a:rPr lang="en-US" sz="2400" dirty="0"/>
                <a:t>Leave-P-Out Cross-Validation</a:t>
              </a:r>
            </a:p>
            <a:p>
              <a:pPr marL="814705" lvl="1" indent="-357505" algn="just" fontAlgn="base">
                <a:lnSpc>
                  <a:spcPct val="150000"/>
                </a:lnSpc>
                <a:buFont typeface="Arial" panose="020B0604020202020204" pitchFamily="34" charset="0"/>
                <a:buChar char="•"/>
              </a:pPr>
              <a:r>
                <a:rPr lang="en-US" sz="2400" dirty="0"/>
                <a:t>Repeated K-Fold Cross-Validation</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13</a:t>
            </a:fld>
            <a:endParaRPr lang="en-IN"/>
          </a:p>
        </p:txBody>
      </p:sp>
      <p:pic>
        <p:nvPicPr>
          <p:cNvPr id="3074" name="Picture 2" descr="How Cross-Validation Works In Machine Learning - Dataaspirant">
            <a:extLst>
              <a:ext uri="{FF2B5EF4-FFF2-40B4-BE49-F238E27FC236}">
                <a16:creationId xmlns:a16="http://schemas.microsoft.com/office/drawing/2014/main" id="{A7842F7D-F567-3A76-F240-7A9DD053DA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30153" y="1765112"/>
            <a:ext cx="5746983" cy="3860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725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6"/>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4917347" cy="758833"/>
            </a:xfrm>
            <a:prstGeom prst="rect">
              <a:avLst/>
            </a:prstGeom>
          </p:spPr>
          <p:txBody>
            <a:bodyPr vert="horz" wrap="square" lIns="0" tIns="0" rIns="0" bIns="0" numCol="1" rtlCol="0">
              <a:spAutoFit/>
            </a:bodyPr>
            <a:lstStyle/>
            <a:p>
              <a:pPr marL="357505" indent="-357505" algn="just" fontAlgn="base">
                <a:lnSpc>
                  <a:spcPct val="2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Cross Validation - Types</a:t>
              </a:r>
            </a:p>
            <a:p>
              <a:pPr marL="814705" lvl="1" indent="-357505" algn="just" fontAlgn="base">
                <a:lnSpc>
                  <a:spcPct val="200000"/>
                </a:lnSpc>
                <a:buFont typeface="Arial" panose="020B0604020202020204" pitchFamily="34" charset="0"/>
                <a:buChar char="•"/>
              </a:pPr>
              <a:r>
                <a:rPr lang="en-US" sz="2400" dirty="0"/>
                <a:t>K-Fold Cross-Validation</a:t>
              </a:r>
            </a:p>
            <a:p>
              <a:pPr marL="814705" lvl="1" indent="-357505" algn="just" fontAlgn="base">
                <a:lnSpc>
                  <a:spcPct val="200000"/>
                </a:lnSpc>
                <a:buFont typeface="Arial" panose="020B0604020202020204" pitchFamily="34" charset="0"/>
                <a:buChar char="•"/>
              </a:pPr>
              <a:r>
                <a:rPr lang="en-US" sz="2400" dirty="0"/>
                <a:t>Stratified K-Fold Cross-Validation</a:t>
              </a:r>
            </a:p>
            <a:p>
              <a:pPr marL="814705" lvl="1" indent="-357505" algn="just" fontAlgn="base">
                <a:lnSpc>
                  <a:spcPct val="200000"/>
                </a:lnSpc>
                <a:buFont typeface="Arial" panose="020B0604020202020204" pitchFamily="34" charset="0"/>
                <a:buChar char="•"/>
              </a:pPr>
              <a:r>
                <a:rPr lang="en-US" sz="2400" dirty="0">
                  <a:solidFill>
                    <a:srgbClr val="FF0000"/>
                  </a:solidFill>
                </a:rPr>
                <a:t>Leave-One-Out Cross-Validation</a:t>
              </a:r>
            </a:p>
            <a:p>
              <a:pPr marL="1271905" lvl="2" indent="-357505" algn="just" fontAlgn="base">
                <a:buFont typeface="Arial" panose="020B0604020202020204" pitchFamily="34" charset="0"/>
                <a:buChar char="•"/>
              </a:pPr>
              <a:r>
                <a:rPr lang="en-US" sz="2400" dirty="0"/>
                <a:t>In each iteration, a single sample is used as the validation set, and the rest are used for training.</a:t>
              </a:r>
            </a:p>
            <a:p>
              <a:pPr marL="814705" lvl="1" indent="-357505" algn="just" fontAlgn="base">
                <a:lnSpc>
                  <a:spcPct val="150000"/>
                </a:lnSpc>
                <a:buFont typeface="Arial" panose="020B0604020202020204" pitchFamily="34" charset="0"/>
                <a:buChar char="•"/>
              </a:pPr>
              <a:r>
                <a:rPr lang="en-US" sz="2400" dirty="0"/>
                <a:t>Leave-P-Out Cross-Validation</a:t>
              </a:r>
            </a:p>
            <a:p>
              <a:pPr marL="814705" lvl="1" indent="-357505" algn="just" fontAlgn="base">
                <a:lnSpc>
                  <a:spcPct val="150000"/>
                </a:lnSpc>
                <a:buFont typeface="Arial" panose="020B0604020202020204" pitchFamily="34" charset="0"/>
                <a:buChar char="•"/>
              </a:pPr>
              <a:r>
                <a:rPr lang="en-US" sz="2400" dirty="0"/>
                <a:t>Repeated K-Fold Cross-Validation</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14</a:t>
            </a:fld>
            <a:endParaRPr lang="en-IN"/>
          </a:p>
        </p:txBody>
      </p:sp>
      <p:pic>
        <p:nvPicPr>
          <p:cNvPr id="4100" name="Picture 4">
            <a:extLst>
              <a:ext uri="{FF2B5EF4-FFF2-40B4-BE49-F238E27FC236}">
                <a16:creationId xmlns:a16="http://schemas.microsoft.com/office/drawing/2014/main" id="{267C8501-C0FE-7B79-D975-D481DCE19F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4877" y="1025957"/>
            <a:ext cx="5353050" cy="4171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483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6"/>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58833"/>
            </a:xfrm>
            <a:prstGeom prst="rect">
              <a:avLst/>
            </a:prstGeom>
          </p:spPr>
          <p:txBody>
            <a:bodyPr vert="horz" wrap="square" lIns="0" tIns="0" rIns="0" bIns="0" numCol="1" rtlCol="0">
              <a:spAutoFit/>
            </a:bodyPr>
            <a:lstStyle/>
            <a:p>
              <a:pPr marL="357505" indent="-357505" algn="just" fontAlgn="base">
                <a:lnSpc>
                  <a:spcPct val="2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Cross Validation - Types</a:t>
              </a:r>
            </a:p>
            <a:p>
              <a:pPr marL="814705" lvl="1" indent="-357505" algn="just" fontAlgn="base">
                <a:lnSpc>
                  <a:spcPct val="200000"/>
                </a:lnSpc>
                <a:buFont typeface="Arial" panose="020B0604020202020204" pitchFamily="34" charset="0"/>
                <a:buChar char="•"/>
              </a:pPr>
              <a:r>
                <a:rPr lang="en-US" sz="2400" dirty="0"/>
                <a:t>K-Fold Cross-Validation</a:t>
              </a:r>
            </a:p>
            <a:p>
              <a:pPr marL="814705" lvl="1" indent="-357505" algn="just" fontAlgn="base">
                <a:lnSpc>
                  <a:spcPct val="200000"/>
                </a:lnSpc>
                <a:buFont typeface="Arial" panose="020B0604020202020204" pitchFamily="34" charset="0"/>
                <a:buChar char="•"/>
              </a:pPr>
              <a:r>
                <a:rPr lang="en-US" sz="2400" dirty="0"/>
                <a:t>Stratified K-Fold Cross-Validation</a:t>
              </a:r>
            </a:p>
            <a:p>
              <a:pPr marL="814705" lvl="1" indent="-357505" algn="just" fontAlgn="base">
                <a:lnSpc>
                  <a:spcPct val="200000"/>
                </a:lnSpc>
                <a:buFont typeface="Arial" panose="020B0604020202020204" pitchFamily="34" charset="0"/>
                <a:buChar char="•"/>
              </a:pPr>
              <a:r>
                <a:rPr lang="en-US" sz="2400" dirty="0"/>
                <a:t>Leave-One-Out Cross-Validation</a:t>
              </a:r>
            </a:p>
            <a:p>
              <a:pPr marL="814705" lvl="1" indent="-357505" algn="just" fontAlgn="base">
                <a:lnSpc>
                  <a:spcPct val="150000"/>
                </a:lnSpc>
                <a:buFont typeface="Arial" panose="020B0604020202020204" pitchFamily="34" charset="0"/>
                <a:buChar char="•"/>
              </a:pPr>
              <a:r>
                <a:rPr lang="en-US" sz="2400" dirty="0">
                  <a:solidFill>
                    <a:srgbClr val="FF0000"/>
                  </a:solidFill>
                </a:rPr>
                <a:t>Leave-P-Out Cross-Validation</a:t>
              </a:r>
            </a:p>
            <a:p>
              <a:pPr marL="1271905" lvl="2" indent="-357505" algn="just" fontAlgn="base">
                <a:lnSpc>
                  <a:spcPct val="150000"/>
                </a:lnSpc>
                <a:buFont typeface="Arial" panose="020B0604020202020204" pitchFamily="34" charset="0"/>
                <a:buChar char="•"/>
              </a:pPr>
              <a:r>
                <a:rPr lang="en-US" sz="2400" dirty="0"/>
                <a:t>leaves P samples out of the training set in each iteration and uses them as the validation set</a:t>
              </a:r>
            </a:p>
            <a:p>
              <a:pPr marL="814705" lvl="1" indent="-357505" algn="just" fontAlgn="base">
                <a:lnSpc>
                  <a:spcPct val="150000"/>
                </a:lnSpc>
                <a:buFont typeface="Arial" panose="020B0604020202020204" pitchFamily="34" charset="0"/>
                <a:buChar char="•"/>
              </a:pPr>
              <a:r>
                <a:rPr lang="en-US" sz="2400" dirty="0"/>
                <a:t>Repeated K-Fold Cross-Validation</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15</a:t>
            </a:fld>
            <a:endParaRPr lang="en-IN"/>
          </a:p>
        </p:txBody>
      </p:sp>
      <p:pic>
        <p:nvPicPr>
          <p:cNvPr id="5122" name="Picture 2">
            <a:extLst>
              <a:ext uri="{FF2B5EF4-FFF2-40B4-BE49-F238E27FC236}">
                <a16:creationId xmlns:a16="http://schemas.microsoft.com/office/drawing/2014/main" id="{793FC075-E631-D2D0-11AE-A41220204A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2194" y="1765113"/>
            <a:ext cx="5900919" cy="3633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575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71901"/>
            </a:xfrm>
            <a:prstGeom prst="rect">
              <a:avLst/>
            </a:prstGeom>
          </p:spPr>
          <p:txBody>
            <a:bodyPr vert="horz" wrap="square" lIns="0" tIns="0" rIns="0" bIns="0" numCol="1" rtlCol="0">
              <a:spAutoFit/>
            </a:bodyPr>
            <a:lstStyle/>
            <a:p>
              <a:pPr marL="357505" indent="-357505" algn="just" fontAlgn="base">
                <a:lnSpc>
                  <a:spcPct val="2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Resampling</a:t>
              </a:r>
              <a:r>
                <a:rPr lang="en-US" sz="2400" dirty="0"/>
                <a:t> </a:t>
              </a:r>
            </a:p>
            <a:p>
              <a:pPr marL="814705" lvl="1" indent="-357505" algn="just" fontAlgn="base">
                <a:lnSpc>
                  <a:spcPct val="250000"/>
                </a:lnSpc>
                <a:buFont typeface="Arial" panose="020B0604020202020204" pitchFamily="34" charset="0"/>
                <a:buChar char="•"/>
              </a:pPr>
              <a:r>
                <a:rPr lang="en-US" sz="2400" dirty="0"/>
                <a:t>Create different samples from the data to estimate the properties of a model or dataset.</a:t>
              </a:r>
            </a:p>
            <a:p>
              <a:pPr marL="814705" lvl="1" indent="-357505" algn="just" fontAlgn="base">
                <a:lnSpc>
                  <a:spcPct val="250000"/>
                </a:lnSpc>
                <a:buFont typeface="Arial" panose="020B0604020202020204" pitchFamily="34" charset="0"/>
                <a:buChar char="•"/>
              </a:pPr>
              <a:r>
                <a:rPr lang="en-US" sz="2400" dirty="0"/>
                <a:t>Types</a:t>
              </a:r>
            </a:p>
            <a:p>
              <a:pPr marL="1271905" lvl="2" indent="-357505" algn="just" fontAlgn="base">
                <a:lnSpc>
                  <a:spcPct val="250000"/>
                </a:lnSpc>
                <a:buFont typeface="Arial" panose="020B0604020202020204" pitchFamily="34" charset="0"/>
                <a:buChar char="•"/>
              </a:pPr>
              <a:r>
                <a:rPr lang="en-US" sz="2400" dirty="0"/>
                <a:t>Bootstrap Resampling</a:t>
              </a:r>
            </a:p>
            <a:p>
              <a:pPr marL="1271905" lvl="2" indent="-357505" algn="just" fontAlgn="base">
                <a:lnSpc>
                  <a:spcPct val="250000"/>
                </a:lnSpc>
                <a:buFont typeface="Arial" panose="020B0604020202020204" pitchFamily="34" charset="0"/>
                <a:buChar char="•"/>
              </a:pPr>
              <a:r>
                <a:rPr lang="en-US" sz="2400" dirty="0"/>
                <a:t>Monte Carlo Cross-Validation</a:t>
              </a:r>
            </a:p>
            <a:p>
              <a:pPr marL="1271905" lvl="2" indent="-357505" algn="just" fontAlgn="base">
                <a:lnSpc>
                  <a:spcPct val="250000"/>
                </a:lnSpc>
                <a:buFont typeface="Arial" panose="020B0604020202020204" pitchFamily="34" charset="0"/>
                <a:buChar char="•"/>
              </a:pPr>
              <a:r>
                <a:rPr lang="en-US" sz="2400" dirty="0"/>
                <a:t>Jackknife Resampling</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16</a:t>
            </a:fld>
            <a:endParaRPr lang="en-IN"/>
          </a:p>
        </p:txBody>
      </p:sp>
    </p:spTree>
    <p:extLst>
      <p:ext uri="{BB962C8B-B14F-4D97-AF65-F5344CB8AC3E}">
        <p14:creationId xmlns:p14="http://schemas.microsoft.com/office/powerpoint/2010/main" val="2840971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Cross Validation and Resampling</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48499" y="1282824"/>
              <a:ext cx="5892421" cy="596625"/>
            </a:xfrm>
            <a:prstGeom prst="rect">
              <a:avLst/>
            </a:prstGeom>
          </p:spPr>
          <p:txBody>
            <a:bodyPr vert="horz" wrap="square" lIns="0" tIns="0" rIns="0" bIns="0" numCol="1" rtlCol="0">
              <a:spAutoFit/>
            </a:bodyPr>
            <a:lstStyle/>
            <a:p>
              <a:pPr marL="357505" indent="-357505" algn="just" fontAlgn="base">
                <a:buFont typeface="Arial" panose="020B0604020202020204" pitchFamily="34" charset="0"/>
                <a:buChar char="•"/>
              </a:pPr>
              <a:r>
                <a:rPr lang="en-US" sz="2565" b="1" spc="13" dirty="0">
                  <a:solidFill>
                    <a:srgbClr val="0070C0"/>
                  </a:solidFill>
                  <a:latin typeface="Arial" panose="020B0604020202020204"/>
                  <a:cs typeface="Arial" panose="020B0604020202020204"/>
                </a:rPr>
                <a:t>Resampling</a:t>
              </a:r>
              <a:r>
                <a:rPr lang="en-US" sz="2400" dirty="0"/>
                <a:t> </a:t>
              </a:r>
            </a:p>
            <a:p>
              <a:pPr marL="814705" lvl="1" indent="-357505" algn="just" fontAlgn="base">
                <a:lnSpc>
                  <a:spcPct val="150000"/>
                </a:lnSpc>
                <a:buFont typeface="Arial" panose="020B0604020202020204" pitchFamily="34" charset="0"/>
                <a:buChar char="•"/>
              </a:pPr>
              <a:r>
                <a:rPr lang="en-US" sz="2400" dirty="0"/>
                <a:t>Create different samples from the data to estimate the properties of a model or dataset.</a:t>
              </a:r>
            </a:p>
            <a:p>
              <a:pPr marL="814705" lvl="1" indent="-357505" algn="just" fontAlgn="base">
                <a:lnSpc>
                  <a:spcPct val="150000"/>
                </a:lnSpc>
                <a:buFont typeface="Arial" panose="020B0604020202020204" pitchFamily="34" charset="0"/>
                <a:buChar char="•"/>
              </a:pPr>
              <a:r>
                <a:rPr lang="en-US" sz="2400" dirty="0"/>
                <a:t>Types</a:t>
              </a:r>
            </a:p>
            <a:p>
              <a:pPr marL="1271905" lvl="2" indent="-357505" algn="just" fontAlgn="base">
                <a:lnSpc>
                  <a:spcPct val="150000"/>
                </a:lnSpc>
                <a:buFont typeface="Arial" panose="020B0604020202020204" pitchFamily="34" charset="0"/>
                <a:buChar char="•"/>
              </a:pPr>
              <a:r>
                <a:rPr lang="en-US" sz="2400" dirty="0">
                  <a:solidFill>
                    <a:srgbClr val="FF0000"/>
                  </a:solidFill>
                </a:rPr>
                <a:t>Bootstrap Resampling</a:t>
              </a:r>
            </a:p>
            <a:p>
              <a:pPr marL="1729105" lvl="3" indent="-357505" algn="just" fontAlgn="base">
                <a:lnSpc>
                  <a:spcPct val="150000"/>
                </a:lnSpc>
                <a:buFont typeface="Arial" panose="020B0604020202020204" pitchFamily="34" charset="0"/>
                <a:buChar char="•"/>
              </a:pPr>
              <a:r>
                <a:rPr lang="en-US" sz="2400" dirty="0"/>
                <a:t>The original dataset is sampled </a:t>
              </a:r>
              <a:r>
                <a:rPr lang="en-US" sz="2400" b="1" dirty="0"/>
                <a:t>with replacement</a:t>
              </a:r>
              <a:r>
                <a:rPr lang="en-US" sz="2400" dirty="0"/>
                <a:t> to create multiple “bootstrap” datasets. </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17</a:t>
            </a:fld>
            <a:endParaRPr lang="en-IN"/>
          </a:p>
        </p:txBody>
      </p:sp>
      <p:pic>
        <p:nvPicPr>
          <p:cNvPr id="6146" name="Picture 2" descr="An example of bootstrap sampling. Since ...">
            <a:extLst>
              <a:ext uri="{FF2B5EF4-FFF2-40B4-BE49-F238E27FC236}">
                <a16:creationId xmlns:a16="http://schemas.microsoft.com/office/drawing/2014/main" id="{199E1946-DB04-3E92-64BC-6AFC6E4B37F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3124"/>
          <a:stretch/>
        </p:blipFill>
        <p:spPr bwMode="auto">
          <a:xfrm>
            <a:off x="7775174" y="2777461"/>
            <a:ext cx="4242753" cy="176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0142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108831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 Assessing a Single Classification Algorithm with K-Fold CV</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0305"/>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18</a:t>
            </a:fld>
            <a:endParaRPr lang="en-IN"/>
          </a:p>
        </p:txBody>
      </p:sp>
      <p:sp>
        <p:nvSpPr>
          <p:cNvPr id="11" name="Rectangle 10">
            <a:extLst>
              <a:ext uri="{FF2B5EF4-FFF2-40B4-BE49-F238E27FC236}">
                <a16:creationId xmlns:a16="http://schemas.microsoft.com/office/drawing/2014/main" id="{803C4A6E-7597-1082-7D2E-AAE40E65241E}"/>
              </a:ext>
            </a:extLst>
          </p:cNvPr>
          <p:cNvSpPr/>
          <p:nvPr/>
        </p:nvSpPr>
        <p:spPr>
          <a:xfrm>
            <a:off x="0" y="600616"/>
            <a:ext cx="12105504" cy="597917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a:extLst>
              <a:ext uri="{FF2B5EF4-FFF2-40B4-BE49-F238E27FC236}">
                <a16:creationId xmlns:a16="http://schemas.microsoft.com/office/drawing/2014/main" id="{79D6AE71-2BE7-6190-7065-9EBC35449AB7}"/>
              </a:ext>
            </a:extLst>
          </p:cNvPr>
          <p:cNvSpPr txBox="1"/>
          <p:nvPr/>
        </p:nvSpPr>
        <p:spPr>
          <a:xfrm>
            <a:off x="205337" y="941873"/>
            <a:ext cx="11812590" cy="4374724"/>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b="1" dirty="0">
                <a:solidFill>
                  <a:srgbClr val="FF0000"/>
                </a:solidFill>
              </a:rPr>
              <a:t>Select the value of K: </a:t>
            </a:r>
            <a:r>
              <a:rPr lang="en-US" sz="2400" dirty="0"/>
              <a:t>Common choices are K=5 or K=10. The higher the value, the better the estimate of the model’s performance, though it increases computational cost.</a:t>
            </a:r>
          </a:p>
          <a:p>
            <a:pPr marL="357505" indent="-357505" algn="just" fontAlgn="base">
              <a:lnSpc>
                <a:spcPct val="150000"/>
              </a:lnSpc>
              <a:buFont typeface="Arial" panose="020B0604020202020204" pitchFamily="34" charset="0"/>
              <a:buChar char="•"/>
            </a:pPr>
            <a:r>
              <a:rPr lang="en-US" sz="2400" b="1" dirty="0">
                <a:solidFill>
                  <a:srgbClr val="FF0000"/>
                </a:solidFill>
              </a:rPr>
              <a:t>Perform Cross-Validation: </a:t>
            </a:r>
            <a:r>
              <a:rPr lang="en-US" sz="2400" dirty="0"/>
              <a:t>Train the model K times, each time using different training and validation sets.</a:t>
            </a:r>
          </a:p>
          <a:p>
            <a:pPr marL="357505" indent="-357505" algn="just" fontAlgn="base">
              <a:lnSpc>
                <a:spcPct val="150000"/>
              </a:lnSpc>
              <a:buFont typeface="Arial" panose="020B0604020202020204" pitchFamily="34" charset="0"/>
              <a:buChar char="•"/>
            </a:pPr>
            <a:r>
              <a:rPr lang="en-US" sz="2400" b="1" dirty="0">
                <a:solidFill>
                  <a:srgbClr val="FF0000"/>
                </a:solidFill>
              </a:rPr>
              <a:t>Record the performance metrics </a:t>
            </a:r>
            <a:r>
              <a:rPr lang="en-US" sz="2400" dirty="0"/>
              <a:t>for each fold using any of the mentioned metrics (accuracy, precision, recall, etc.).</a:t>
            </a:r>
          </a:p>
          <a:p>
            <a:pPr marL="357505" indent="-357505" algn="just" fontAlgn="base">
              <a:lnSpc>
                <a:spcPct val="150000"/>
              </a:lnSpc>
              <a:buFont typeface="Arial" panose="020B0604020202020204" pitchFamily="34" charset="0"/>
              <a:buChar char="•"/>
            </a:pPr>
            <a:r>
              <a:rPr lang="en-US" sz="2400" b="1" dirty="0">
                <a:solidFill>
                  <a:srgbClr val="FF0000"/>
                </a:solidFill>
              </a:rPr>
              <a:t>Aggregate Results: </a:t>
            </a:r>
            <a:r>
              <a:rPr lang="en-US" sz="2400" dirty="0"/>
              <a:t>Calculate the mean and standard deviation of the performance metrics across all K folds to get a final estimate of how well the model performs on average.</a:t>
            </a:r>
          </a:p>
        </p:txBody>
      </p:sp>
      <p:pic>
        <p:nvPicPr>
          <p:cNvPr id="14" name="Picture 13">
            <a:extLst>
              <a:ext uri="{FF2B5EF4-FFF2-40B4-BE49-F238E27FC236}">
                <a16:creationId xmlns:a16="http://schemas.microsoft.com/office/drawing/2014/main" id="{55C09C39-D008-0A69-0D62-61822B8F4BEB}"/>
              </a:ext>
            </a:extLst>
          </p:cNvPr>
          <p:cNvPicPr>
            <a:picLocks noChangeAspect="1"/>
          </p:cNvPicPr>
          <p:nvPr/>
        </p:nvPicPr>
        <p:blipFill>
          <a:blip r:embed="rId4"/>
          <a:stretch>
            <a:fillRect/>
          </a:stretch>
        </p:blipFill>
        <p:spPr>
          <a:xfrm>
            <a:off x="2414392" y="5718737"/>
            <a:ext cx="2791215" cy="609685"/>
          </a:xfrm>
          <a:prstGeom prst="rect">
            <a:avLst/>
          </a:prstGeom>
        </p:spPr>
      </p:pic>
      <p:pic>
        <p:nvPicPr>
          <p:cNvPr id="16" name="Picture 15">
            <a:extLst>
              <a:ext uri="{FF2B5EF4-FFF2-40B4-BE49-F238E27FC236}">
                <a16:creationId xmlns:a16="http://schemas.microsoft.com/office/drawing/2014/main" id="{51F86BBC-B91B-6C39-6F04-34C69F20880B}"/>
              </a:ext>
            </a:extLst>
          </p:cNvPr>
          <p:cNvPicPr>
            <a:picLocks noChangeAspect="1"/>
          </p:cNvPicPr>
          <p:nvPr/>
        </p:nvPicPr>
        <p:blipFill>
          <a:blip r:embed="rId5"/>
          <a:stretch>
            <a:fillRect/>
          </a:stretch>
        </p:blipFill>
        <p:spPr>
          <a:xfrm>
            <a:off x="6052752" y="5548675"/>
            <a:ext cx="5620534" cy="857370"/>
          </a:xfrm>
          <a:prstGeom prst="rect">
            <a:avLst/>
          </a:prstGeom>
        </p:spPr>
      </p:pic>
    </p:spTree>
    <p:extLst>
      <p:ext uri="{BB962C8B-B14F-4D97-AF65-F5344CB8AC3E}">
        <p14:creationId xmlns:p14="http://schemas.microsoft.com/office/powerpoint/2010/main" val="3339167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108831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 Assessing a Single Classification Algorithm with K-Fold CV</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0305"/>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19</a:t>
            </a:fld>
            <a:endParaRPr lang="en-IN"/>
          </a:p>
        </p:txBody>
      </p:sp>
      <p:sp>
        <p:nvSpPr>
          <p:cNvPr id="11" name="Rectangle 10">
            <a:extLst>
              <a:ext uri="{FF2B5EF4-FFF2-40B4-BE49-F238E27FC236}">
                <a16:creationId xmlns:a16="http://schemas.microsoft.com/office/drawing/2014/main" id="{803C4A6E-7597-1082-7D2E-AAE40E65241E}"/>
              </a:ext>
            </a:extLst>
          </p:cNvPr>
          <p:cNvSpPr/>
          <p:nvPr/>
        </p:nvSpPr>
        <p:spPr>
          <a:xfrm>
            <a:off x="0" y="600616"/>
            <a:ext cx="12105504" cy="597917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a:extLst>
              <a:ext uri="{FF2B5EF4-FFF2-40B4-BE49-F238E27FC236}">
                <a16:creationId xmlns:a16="http://schemas.microsoft.com/office/drawing/2014/main" id="{79D6AE71-2BE7-6190-7065-9EBC35449AB7}"/>
              </a:ext>
            </a:extLst>
          </p:cNvPr>
          <p:cNvSpPr txBox="1"/>
          <p:nvPr/>
        </p:nvSpPr>
        <p:spPr>
          <a:xfrm>
            <a:off x="205337" y="941873"/>
            <a:ext cx="11812590" cy="4340547"/>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1900" b="1" dirty="0">
                <a:solidFill>
                  <a:srgbClr val="FF0000"/>
                </a:solidFill>
              </a:rPr>
              <a:t>Select the value of K: </a:t>
            </a:r>
            <a:r>
              <a:rPr lang="en-US" sz="1900" dirty="0"/>
              <a:t>Common choices are K=5 or K=10. The higher the value, the better the estimate of the model’s performance, though it increases computational cost.</a:t>
            </a:r>
          </a:p>
          <a:p>
            <a:pPr lvl="2" algn="just" fontAlgn="base">
              <a:lnSpc>
                <a:spcPct val="150000"/>
              </a:lnSpc>
            </a:pPr>
            <a:r>
              <a:rPr lang="en-US" sz="1900" dirty="0" err="1">
                <a:solidFill>
                  <a:srgbClr val="C00000"/>
                </a:solidFill>
              </a:rPr>
              <a:t>kfold</a:t>
            </a:r>
            <a:r>
              <a:rPr lang="en-US" sz="1900" dirty="0">
                <a:solidFill>
                  <a:srgbClr val="C00000"/>
                </a:solidFill>
              </a:rPr>
              <a:t> = </a:t>
            </a:r>
            <a:r>
              <a:rPr lang="en-US" sz="1900" dirty="0" err="1">
                <a:solidFill>
                  <a:srgbClr val="C00000"/>
                </a:solidFill>
              </a:rPr>
              <a:t>KFold</a:t>
            </a:r>
            <a:r>
              <a:rPr lang="en-US" sz="1900" dirty="0">
                <a:solidFill>
                  <a:srgbClr val="C00000"/>
                </a:solidFill>
              </a:rPr>
              <a:t>(</a:t>
            </a:r>
            <a:r>
              <a:rPr lang="en-US" sz="1900" dirty="0" err="1">
                <a:solidFill>
                  <a:srgbClr val="C00000"/>
                </a:solidFill>
              </a:rPr>
              <a:t>n_splits</a:t>
            </a:r>
            <a:r>
              <a:rPr lang="en-US" sz="1900" dirty="0">
                <a:solidFill>
                  <a:srgbClr val="C00000"/>
                </a:solidFill>
              </a:rPr>
              <a:t>=5, shuffle=True, </a:t>
            </a:r>
            <a:r>
              <a:rPr lang="en-US" sz="1900" dirty="0" err="1">
                <a:solidFill>
                  <a:srgbClr val="C00000"/>
                </a:solidFill>
              </a:rPr>
              <a:t>random_state</a:t>
            </a:r>
            <a:r>
              <a:rPr lang="en-US" sz="1900" dirty="0">
                <a:solidFill>
                  <a:srgbClr val="C00000"/>
                </a:solidFill>
              </a:rPr>
              <a:t>=42)</a:t>
            </a:r>
          </a:p>
          <a:p>
            <a:pPr marL="357505" indent="-357505" algn="just" fontAlgn="base">
              <a:lnSpc>
                <a:spcPct val="150000"/>
              </a:lnSpc>
              <a:buFont typeface="Arial" panose="020B0604020202020204" pitchFamily="34" charset="0"/>
              <a:buChar char="•"/>
            </a:pPr>
            <a:r>
              <a:rPr lang="en-US" sz="1900" b="1" dirty="0">
                <a:solidFill>
                  <a:srgbClr val="FF0000"/>
                </a:solidFill>
              </a:rPr>
              <a:t>Perform Cross-Validation: </a:t>
            </a:r>
            <a:r>
              <a:rPr lang="en-US" sz="1900" dirty="0"/>
              <a:t>Train the model K times, each time using different training and validation sets.</a:t>
            </a:r>
          </a:p>
          <a:p>
            <a:pPr marL="357505" indent="-357505" algn="just" fontAlgn="base">
              <a:lnSpc>
                <a:spcPct val="150000"/>
              </a:lnSpc>
              <a:buFont typeface="Arial" panose="020B0604020202020204" pitchFamily="34" charset="0"/>
              <a:buChar char="•"/>
            </a:pPr>
            <a:r>
              <a:rPr lang="en-US" sz="1900" b="1" dirty="0">
                <a:solidFill>
                  <a:srgbClr val="FF0000"/>
                </a:solidFill>
              </a:rPr>
              <a:t>Record the performance metrics </a:t>
            </a:r>
            <a:r>
              <a:rPr lang="en-US" sz="1900" dirty="0"/>
              <a:t>for each fold using any of the mentioned metrics (accuracy, precision, recall, etc.).</a:t>
            </a:r>
          </a:p>
          <a:p>
            <a:pPr lvl="2" algn="just" fontAlgn="base">
              <a:lnSpc>
                <a:spcPct val="150000"/>
              </a:lnSpc>
            </a:pPr>
            <a:r>
              <a:rPr lang="en-US" sz="1900" dirty="0">
                <a:solidFill>
                  <a:srgbClr val="C00000"/>
                </a:solidFill>
              </a:rPr>
              <a:t>model = SVC() </a:t>
            </a:r>
          </a:p>
          <a:p>
            <a:pPr lvl="2" algn="just" fontAlgn="base">
              <a:lnSpc>
                <a:spcPct val="150000"/>
              </a:lnSpc>
            </a:pPr>
            <a:r>
              <a:rPr lang="en-US" sz="1900" dirty="0">
                <a:solidFill>
                  <a:srgbClr val="C00000"/>
                </a:solidFill>
              </a:rPr>
              <a:t>scoring = ['accuracy', '</a:t>
            </a:r>
            <a:r>
              <a:rPr lang="en-US" sz="1900" dirty="0" err="1">
                <a:solidFill>
                  <a:srgbClr val="C00000"/>
                </a:solidFill>
              </a:rPr>
              <a:t>precision_macro</a:t>
            </a:r>
            <a:r>
              <a:rPr lang="en-US" sz="1900" dirty="0">
                <a:solidFill>
                  <a:srgbClr val="C00000"/>
                </a:solidFill>
              </a:rPr>
              <a:t>', '</a:t>
            </a:r>
            <a:r>
              <a:rPr lang="en-US" sz="1900" dirty="0" err="1">
                <a:solidFill>
                  <a:srgbClr val="C00000"/>
                </a:solidFill>
              </a:rPr>
              <a:t>recall_macro</a:t>
            </a:r>
            <a:r>
              <a:rPr lang="en-US" sz="1900" dirty="0">
                <a:solidFill>
                  <a:srgbClr val="C00000"/>
                </a:solidFill>
              </a:rPr>
              <a:t>', 'f1_macro']</a:t>
            </a:r>
          </a:p>
          <a:p>
            <a:pPr lvl="2" algn="just" fontAlgn="base">
              <a:lnSpc>
                <a:spcPct val="150000"/>
              </a:lnSpc>
            </a:pPr>
            <a:r>
              <a:rPr lang="en-US" sz="1900" dirty="0">
                <a:solidFill>
                  <a:srgbClr val="C00000"/>
                </a:solidFill>
              </a:rPr>
              <a:t>results = </a:t>
            </a:r>
            <a:r>
              <a:rPr lang="en-US" sz="1900" dirty="0" err="1">
                <a:solidFill>
                  <a:srgbClr val="C00000"/>
                </a:solidFill>
              </a:rPr>
              <a:t>cross_validate</a:t>
            </a:r>
            <a:r>
              <a:rPr lang="en-US" sz="1900" dirty="0">
                <a:solidFill>
                  <a:srgbClr val="C00000"/>
                </a:solidFill>
              </a:rPr>
              <a:t>(model, X, y, cv=</a:t>
            </a:r>
            <a:r>
              <a:rPr lang="en-US" sz="1900" dirty="0" err="1">
                <a:solidFill>
                  <a:srgbClr val="C00000"/>
                </a:solidFill>
              </a:rPr>
              <a:t>kfold</a:t>
            </a:r>
            <a:r>
              <a:rPr lang="en-US" sz="1900" dirty="0">
                <a:solidFill>
                  <a:srgbClr val="C00000"/>
                </a:solidFill>
              </a:rPr>
              <a:t>, scoring=scoring)</a:t>
            </a:r>
            <a:endParaRPr lang="en-US" sz="1900" dirty="0"/>
          </a:p>
          <a:p>
            <a:pPr marL="357505" indent="-357505" algn="just" fontAlgn="base">
              <a:lnSpc>
                <a:spcPct val="150000"/>
              </a:lnSpc>
              <a:buFont typeface="Arial" panose="020B0604020202020204" pitchFamily="34" charset="0"/>
              <a:buChar char="•"/>
            </a:pPr>
            <a:r>
              <a:rPr lang="en-US" sz="1900" b="1" dirty="0">
                <a:solidFill>
                  <a:srgbClr val="FF0000"/>
                </a:solidFill>
              </a:rPr>
              <a:t>Aggregate Results: </a:t>
            </a:r>
            <a:r>
              <a:rPr lang="en-US" sz="1900" dirty="0"/>
              <a:t>Calculate the mean and standard deviation of the performance metrics across all K folds to get a final estimate of how well the model performs on average.</a:t>
            </a:r>
          </a:p>
        </p:txBody>
      </p:sp>
      <p:pic>
        <p:nvPicPr>
          <p:cNvPr id="14" name="Picture 13">
            <a:extLst>
              <a:ext uri="{FF2B5EF4-FFF2-40B4-BE49-F238E27FC236}">
                <a16:creationId xmlns:a16="http://schemas.microsoft.com/office/drawing/2014/main" id="{55C09C39-D008-0A69-0D62-61822B8F4BEB}"/>
              </a:ext>
            </a:extLst>
          </p:cNvPr>
          <p:cNvPicPr>
            <a:picLocks noChangeAspect="1"/>
          </p:cNvPicPr>
          <p:nvPr/>
        </p:nvPicPr>
        <p:blipFill>
          <a:blip r:embed="rId4"/>
          <a:stretch>
            <a:fillRect/>
          </a:stretch>
        </p:blipFill>
        <p:spPr>
          <a:xfrm>
            <a:off x="2031183" y="5321419"/>
            <a:ext cx="2791215" cy="609685"/>
          </a:xfrm>
          <a:prstGeom prst="rect">
            <a:avLst/>
          </a:prstGeom>
        </p:spPr>
      </p:pic>
      <p:pic>
        <p:nvPicPr>
          <p:cNvPr id="16" name="Picture 15">
            <a:extLst>
              <a:ext uri="{FF2B5EF4-FFF2-40B4-BE49-F238E27FC236}">
                <a16:creationId xmlns:a16="http://schemas.microsoft.com/office/drawing/2014/main" id="{51F86BBC-B91B-6C39-6F04-34C69F20880B}"/>
              </a:ext>
            </a:extLst>
          </p:cNvPr>
          <p:cNvPicPr>
            <a:picLocks noChangeAspect="1"/>
          </p:cNvPicPr>
          <p:nvPr/>
        </p:nvPicPr>
        <p:blipFill>
          <a:blip r:embed="rId5"/>
          <a:stretch>
            <a:fillRect/>
          </a:stretch>
        </p:blipFill>
        <p:spPr>
          <a:xfrm>
            <a:off x="6023849" y="5180981"/>
            <a:ext cx="5620534" cy="857370"/>
          </a:xfrm>
          <a:prstGeom prst="rect">
            <a:avLst/>
          </a:prstGeom>
        </p:spPr>
      </p:pic>
    </p:spTree>
    <p:extLst>
      <p:ext uri="{BB962C8B-B14F-4D97-AF65-F5344CB8AC3E}">
        <p14:creationId xmlns:p14="http://schemas.microsoft.com/office/powerpoint/2010/main" val="1807579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108831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 </a:t>
            </a:r>
            <a:r>
              <a:rPr lang="en-US" b="1" spc="13" dirty="0">
                <a:solidFill>
                  <a:srgbClr val="0070C0"/>
                </a:solidFill>
                <a:latin typeface="Arial" panose="020B0604020202020204"/>
                <a:cs typeface="Arial" panose="020B0604020202020204"/>
              </a:rPr>
              <a:t>Assessing a Single Classification Algorithm and comparing two Classification Algorithms</a:t>
            </a:r>
            <a:endParaRPr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0305"/>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20</a:t>
            </a:fld>
            <a:endParaRPr lang="en-IN"/>
          </a:p>
        </p:txBody>
      </p:sp>
      <p:sp>
        <p:nvSpPr>
          <p:cNvPr id="11" name="Rectangle 10">
            <a:extLst>
              <a:ext uri="{FF2B5EF4-FFF2-40B4-BE49-F238E27FC236}">
                <a16:creationId xmlns:a16="http://schemas.microsoft.com/office/drawing/2014/main" id="{803C4A6E-7597-1082-7D2E-AAE40E65241E}"/>
              </a:ext>
            </a:extLst>
          </p:cNvPr>
          <p:cNvSpPr/>
          <p:nvPr/>
        </p:nvSpPr>
        <p:spPr>
          <a:xfrm>
            <a:off x="0" y="600616"/>
            <a:ext cx="12105504" cy="597917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a:extLst>
              <a:ext uri="{FF2B5EF4-FFF2-40B4-BE49-F238E27FC236}">
                <a16:creationId xmlns:a16="http://schemas.microsoft.com/office/drawing/2014/main" id="{79D6AE71-2BE7-6190-7065-9EBC35449AB7}"/>
              </a:ext>
            </a:extLst>
          </p:cNvPr>
          <p:cNvSpPr txBox="1"/>
          <p:nvPr/>
        </p:nvSpPr>
        <p:spPr>
          <a:xfrm>
            <a:off x="205337" y="941873"/>
            <a:ext cx="11812590" cy="4374724"/>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b="1" dirty="0">
                <a:solidFill>
                  <a:srgbClr val="FF0000"/>
                </a:solidFill>
              </a:rPr>
              <a:t>Select the value of K: </a:t>
            </a:r>
            <a:r>
              <a:rPr lang="en-US" sz="2400" dirty="0"/>
              <a:t>Common choices are K=5 or K=10. The higher the value, the better the estimate of the model’s performance, though it increases computational cost.</a:t>
            </a:r>
          </a:p>
          <a:p>
            <a:pPr marL="357505" indent="-357505" algn="just" fontAlgn="base">
              <a:lnSpc>
                <a:spcPct val="150000"/>
              </a:lnSpc>
              <a:buFont typeface="Arial" panose="020B0604020202020204" pitchFamily="34" charset="0"/>
              <a:buChar char="•"/>
            </a:pPr>
            <a:r>
              <a:rPr lang="en-US" sz="2400" b="1" dirty="0">
                <a:solidFill>
                  <a:srgbClr val="FF0000"/>
                </a:solidFill>
              </a:rPr>
              <a:t>Perform Cross-Validation: </a:t>
            </a:r>
            <a:r>
              <a:rPr lang="en-US" sz="2400" dirty="0"/>
              <a:t>Train the model K times, each time using different training and validation sets.</a:t>
            </a:r>
          </a:p>
          <a:p>
            <a:pPr marL="357505" indent="-357505" algn="just" fontAlgn="base">
              <a:lnSpc>
                <a:spcPct val="150000"/>
              </a:lnSpc>
              <a:buFont typeface="Arial" panose="020B0604020202020204" pitchFamily="34" charset="0"/>
              <a:buChar char="•"/>
            </a:pPr>
            <a:r>
              <a:rPr lang="en-US" sz="2400" b="1" dirty="0">
                <a:solidFill>
                  <a:srgbClr val="FF0000"/>
                </a:solidFill>
              </a:rPr>
              <a:t>Record the performance metrics </a:t>
            </a:r>
            <a:r>
              <a:rPr lang="en-US" sz="2400" dirty="0"/>
              <a:t>for each fold using any of the mentioned metrics (accuracy, precision, recall, etc.).</a:t>
            </a:r>
          </a:p>
          <a:p>
            <a:pPr marL="357505" indent="-357505" algn="just" fontAlgn="base">
              <a:lnSpc>
                <a:spcPct val="150000"/>
              </a:lnSpc>
              <a:buFont typeface="Arial" panose="020B0604020202020204" pitchFamily="34" charset="0"/>
              <a:buChar char="•"/>
            </a:pPr>
            <a:r>
              <a:rPr lang="en-US" sz="2400" b="1" dirty="0">
                <a:solidFill>
                  <a:srgbClr val="FF0000"/>
                </a:solidFill>
              </a:rPr>
              <a:t>Aggregate Results: </a:t>
            </a:r>
            <a:r>
              <a:rPr lang="en-US" sz="2400" dirty="0"/>
              <a:t>Calculate the mean and standard deviation of the performance metrics across all K folds to get a final estimate of how well the model performs on average.</a:t>
            </a:r>
          </a:p>
        </p:txBody>
      </p:sp>
      <p:pic>
        <p:nvPicPr>
          <p:cNvPr id="14" name="Picture 13">
            <a:extLst>
              <a:ext uri="{FF2B5EF4-FFF2-40B4-BE49-F238E27FC236}">
                <a16:creationId xmlns:a16="http://schemas.microsoft.com/office/drawing/2014/main" id="{55C09C39-D008-0A69-0D62-61822B8F4BEB}"/>
              </a:ext>
            </a:extLst>
          </p:cNvPr>
          <p:cNvPicPr>
            <a:picLocks noChangeAspect="1"/>
          </p:cNvPicPr>
          <p:nvPr/>
        </p:nvPicPr>
        <p:blipFill>
          <a:blip r:embed="rId4"/>
          <a:stretch>
            <a:fillRect/>
          </a:stretch>
        </p:blipFill>
        <p:spPr>
          <a:xfrm>
            <a:off x="2414392" y="5718737"/>
            <a:ext cx="2791215" cy="609685"/>
          </a:xfrm>
          <a:prstGeom prst="rect">
            <a:avLst/>
          </a:prstGeom>
        </p:spPr>
      </p:pic>
      <p:pic>
        <p:nvPicPr>
          <p:cNvPr id="16" name="Picture 15">
            <a:extLst>
              <a:ext uri="{FF2B5EF4-FFF2-40B4-BE49-F238E27FC236}">
                <a16:creationId xmlns:a16="http://schemas.microsoft.com/office/drawing/2014/main" id="{51F86BBC-B91B-6C39-6F04-34C69F20880B}"/>
              </a:ext>
            </a:extLst>
          </p:cNvPr>
          <p:cNvPicPr>
            <a:picLocks noChangeAspect="1"/>
          </p:cNvPicPr>
          <p:nvPr/>
        </p:nvPicPr>
        <p:blipFill>
          <a:blip r:embed="rId5"/>
          <a:stretch>
            <a:fillRect/>
          </a:stretch>
        </p:blipFill>
        <p:spPr>
          <a:xfrm>
            <a:off x="6052752" y="5548675"/>
            <a:ext cx="5620534" cy="857370"/>
          </a:xfrm>
          <a:prstGeom prst="rect">
            <a:avLst/>
          </a:prstGeom>
        </p:spPr>
      </p:pic>
      <p:sp>
        <p:nvSpPr>
          <p:cNvPr id="4" name="TextBox 3">
            <a:extLst>
              <a:ext uri="{FF2B5EF4-FFF2-40B4-BE49-F238E27FC236}">
                <a16:creationId xmlns:a16="http://schemas.microsoft.com/office/drawing/2014/main" id="{D1953009-C5F4-AE26-97D0-48AC7A055A88}"/>
              </a:ext>
            </a:extLst>
          </p:cNvPr>
          <p:cNvSpPr txBox="1"/>
          <p:nvPr/>
        </p:nvSpPr>
        <p:spPr>
          <a:xfrm>
            <a:off x="2133601" y="682745"/>
            <a:ext cx="5686096" cy="400110"/>
          </a:xfrm>
          <a:prstGeom prst="rect">
            <a:avLst/>
          </a:prstGeom>
          <a:noFill/>
        </p:spPr>
        <p:txBody>
          <a:bodyPr wrap="square" rtlCol="0">
            <a:spAutoFit/>
          </a:bodyPr>
          <a:lstStyle/>
          <a:p>
            <a:r>
              <a:rPr lang="en-US" sz="2000" dirty="0">
                <a:solidFill>
                  <a:srgbClr val="C00000"/>
                </a:solidFill>
              </a:rPr>
              <a:t>The procedure to be followed for two models</a:t>
            </a:r>
          </a:p>
        </p:txBody>
      </p:sp>
    </p:spTree>
    <p:extLst>
      <p:ext uri="{BB962C8B-B14F-4D97-AF65-F5344CB8AC3E}">
        <p14:creationId xmlns:p14="http://schemas.microsoft.com/office/powerpoint/2010/main" val="1770515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108831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 </a:t>
            </a:r>
            <a:r>
              <a:rPr lang="en-US" b="1" spc="13" dirty="0">
                <a:solidFill>
                  <a:srgbClr val="0070C0"/>
                </a:solidFill>
                <a:latin typeface="Arial" panose="020B0604020202020204"/>
                <a:cs typeface="Arial" panose="020B0604020202020204"/>
              </a:rPr>
              <a:t>Assessing a Single Classification Algorithm and comparing two Classification Algorithms</a:t>
            </a:r>
            <a:endParaRPr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0305"/>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21</a:t>
            </a:fld>
            <a:endParaRPr lang="en-IN"/>
          </a:p>
        </p:txBody>
      </p:sp>
      <p:sp>
        <p:nvSpPr>
          <p:cNvPr id="11" name="Rectangle 10">
            <a:extLst>
              <a:ext uri="{FF2B5EF4-FFF2-40B4-BE49-F238E27FC236}">
                <a16:creationId xmlns:a16="http://schemas.microsoft.com/office/drawing/2014/main" id="{803C4A6E-7597-1082-7D2E-AAE40E65241E}"/>
              </a:ext>
            </a:extLst>
          </p:cNvPr>
          <p:cNvSpPr/>
          <p:nvPr/>
        </p:nvSpPr>
        <p:spPr>
          <a:xfrm>
            <a:off x="0" y="600616"/>
            <a:ext cx="12105504" cy="597917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a:extLst>
              <a:ext uri="{FF2B5EF4-FFF2-40B4-BE49-F238E27FC236}">
                <a16:creationId xmlns:a16="http://schemas.microsoft.com/office/drawing/2014/main" id="{79D6AE71-2BE7-6190-7065-9EBC35449AB7}"/>
              </a:ext>
            </a:extLst>
          </p:cNvPr>
          <p:cNvSpPr txBox="1"/>
          <p:nvPr/>
        </p:nvSpPr>
        <p:spPr>
          <a:xfrm>
            <a:off x="205337" y="941873"/>
            <a:ext cx="11812590" cy="5217710"/>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1900" b="1" dirty="0">
                <a:solidFill>
                  <a:srgbClr val="FF0000"/>
                </a:solidFill>
              </a:rPr>
              <a:t>Select the value of K: </a:t>
            </a:r>
            <a:r>
              <a:rPr lang="en-US" sz="1900" dirty="0"/>
              <a:t>Common choices are K=5 or K=10. The higher the value, the better the estimate of the model’s performance, though it increases computational cost.</a:t>
            </a:r>
          </a:p>
          <a:p>
            <a:pPr algn="just" fontAlgn="base">
              <a:lnSpc>
                <a:spcPct val="150000"/>
              </a:lnSpc>
            </a:pPr>
            <a:r>
              <a:rPr lang="en-US" sz="1900" dirty="0"/>
              <a:t>		</a:t>
            </a:r>
            <a:r>
              <a:rPr lang="en-US" sz="1900" dirty="0" err="1">
                <a:solidFill>
                  <a:srgbClr val="C00000"/>
                </a:solidFill>
              </a:rPr>
              <a:t>kfold</a:t>
            </a:r>
            <a:r>
              <a:rPr lang="en-US" sz="1900" dirty="0">
                <a:solidFill>
                  <a:srgbClr val="C00000"/>
                </a:solidFill>
              </a:rPr>
              <a:t> = </a:t>
            </a:r>
            <a:r>
              <a:rPr lang="en-US" sz="1900" dirty="0" err="1">
                <a:solidFill>
                  <a:srgbClr val="C00000"/>
                </a:solidFill>
              </a:rPr>
              <a:t>KFold</a:t>
            </a:r>
            <a:r>
              <a:rPr lang="en-US" sz="1900" dirty="0">
                <a:solidFill>
                  <a:srgbClr val="C00000"/>
                </a:solidFill>
              </a:rPr>
              <a:t>(</a:t>
            </a:r>
            <a:r>
              <a:rPr lang="en-US" sz="1900" dirty="0" err="1">
                <a:solidFill>
                  <a:srgbClr val="C00000"/>
                </a:solidFill>
              </a:rPr>
              <a:t>n_splits</a:t>
            </a:r>
            <a:r>
              <a:rPr lang="en-US" sz="1900" dirty="0">
                <a:solidFill>
                  <a:srgbClr val="C00000"/>
                </a:solidFill>
              </a:rPr>
              <a:t>=5, shuffle=True, </a:t>
            </a:r>
            <a:r>
              <a:rPr lang="en-US" sz="1900" dirty="0" err="1">
                <a:solidFill>
                  <a:srgbClr val="C00000"/>
                </a:solidFill>
              </a:rPr>
              <a:t>random_state</a:t>
            </a:r>
            <a:r>
              <a:rPr lang="en-US" sz="1900" dirty="0">
                <a:solidFill>
                  <a:srgbClr val="C00000"/>
                </a:solidFill>
              </a:rPr>
              <a:t>=42)</a:t>
            </a:r>
          </a:p>
          <a:p>
            <a:pPr marL="357505" indent="-357505" algn="just" fontAlgn="base">
              <a:lnSpc>
                <a:spcPct val="150000"/>
              </a:lnSpc>
              <a:buFont typeface="Arial" panose="020B0604020202020204" pitchFamily="34" charset="0"/>
              <a:buChar char="•"/>
            </a:pPr>
            <a:r>
              <a:rPr lang="en-US" sz="1900" b="1" dirty="0">
                <a:solidFill>
                  <a:srgbClr val="FF0000"/>
                </a:solidFill>
              </a:rPr>
              <a:t>Perform Cross-Validation: </a:t>
            </a:r>
            <a:r>
              <a:rPr lang="en-US" sz="1900" dirty="0"/>
              <a:t>Train the model K times, each time using different training and validation sets.</a:t>
            </a:r>
          </a:p>
          <a:p>
            <a:pPr marL="357505" indent="-357505" algn="just" fontAlgn="base">
              <a:lnSpc>
                <a:spcPct val="150000"/>
              </a:lnSpc>
              <a:buFont typeface="Arial" panose="020B0604020202020204" pitchFamily="34" charset="0"/>
              <a:buChar char="•"/>
            </a:pPr>
            <a:r>
              <a:rPr lang="en-US" sz="1900" b="1" dirty="0">
                <a:solidFill>
                  <a:srgbClr val="FF0000"/>
                </a:solidFill>
              </a:rPr>
              <a:t>Record the performance metrics </a:t>
            </a:r>
            <a:r>
              <a:rPr lang="en-US" sz="1900" dirty="0"/>
              <a:t>for each fold using any of the mentioned metrics (accuracy, precision, recall, etc.).</a:t>
            </a:r>
          </a:p>
          <a:p>
            <a:pPr lvl="4" algn="just" fontAlgn="base">
              <a:lnSpc>
                <a:spcPct val="150000"/>
              </a:lnSpc>
            </a:pPr>
            <a:r>
              <a:rPr lang="en-US" sz="1900" dirty="0">
                <a:solidFill>
                  <a:srgbClr val="C00000"/>
                </a:solidFill>
              </a:rPr>
              <a:t>model_1 = SVC()  # Support Vector Classifier</a:t>
            </a:r>
          </a:p>
          <a:p>
            <a:pPr lvl="4" algn="just" fontAlgn="base">
              <a:lnSpc>
                <a:spcPct val="150000"/>
              </a:lnSpc>
            </a:pPr>
            <a:r>
              <a:rPr lang="en-US" sz="1900" dirty="0">
                <a:solidFill>
                  <a:srgbClr val="C00000"/>
                </a:solidFill>
              </a:rPr>
              <a:t>model_2 = </a:t>
            </a:r>
            <a:r>
              <a:rPr lang="en-US" sz="1900" dirty="0" err="1">
                <a:solidFill>
                  <a:srgbClr val="C00000"/>
                </a:solidFill>
              </a:rPr>
              <a:t>RandomForestClassifier</a:t>
            </a:r>
            <a:r>
              <a:rPr lang="en-US" sz="1900" dirty="0">
                <a:solidFill>
                  <a:srgbClr val="C00000"/>
                </a:solidFill>
              </a:rPr>
              <a:t>()  # Random Forest Classifier</a:t>
            </a:r>
          </a:p>
          <a:p>
            <a:pPr lvl="4" algn="just" fontAlgn="base">
              <a:lnSpc>
                <a:spcPct val="150000"/>
              </a:lnSpc>
            </a:pPr>
            <a:r>
              <a:rPr lang="en-US" sz="1900" dirty="0">
                <a:solidFill>
                  <a:srgbClr val="C00000"/>
                </a:solidFill>
              </a:rPr>
              <a:t>scoring = ['accuracy', '</a:t>
            </a:r>
            <a:r>
              <a:rPr lang="en-US" sz="1900" dirty="0" err="1">
                <a:solidFill>
                  <a:srgbClr val="C00000"/>
                </a:solidFill>
              </a:rPr>
              <a:t>precision_macro</a:t>
            </a:r>
            <a:r>
              <a:rPr lang="en-US" sz="1900" dirty="0">
                <a:solidFill>
                  <a:srgbClr val="C00000"/>
                </a:solidFill>
              </a:rPr>
              <a:t>', '</a:t>
            </a:r>
            <a:r>
              <a:rPr lang="en-US" sz="1900" dirty="0" err="1">
                <a:solidFill>
                  <a:srgbClr val="C00000"/>
                </a:solidFill>
              </a:rPr>
              <a:t>recall_macro</a:t>
            </a:r>
            <a:r>
              <a:rPr lang="en-US" sz="1900" dirty="0">
                <a:solidFill>
                  <a:srgbClr val="C00000"/>
                </a:solidFill>
              </a:rPr>
              <a:t>', 'f1_macro']</a:t>
            </a:r>
          </a:p>
          <a:p>
            <a:pPr lvl="4" algn="just" fontAlgn="base">
              <a:lnSpc>
                <a:spcPct val="150000"/>
              </a:lnSpc>
            </a:pPr>
            <a:r>
              <a:rPr lang="en-US" sz="1900" dirty="0">
                <a:solidFill>
                  <a:srgbClr val="C00000"/>
                </a:solidFill>
              </a:rPr>
              <a:t>results_model_1 = </a:t>
            </a:r>
            <a:r>
              <a:rPr lang="en-US" sz="1900" dirty="0" err="1">
                <a:solidFill>
                  <a:srgbClr val="C00000"/>
                </a:solidFill>
              </a:rPr>
              <a:t>cross_validate</a:t>
            </a:r>
            <a:r>
              <a:rPr lang="en-US" sz="1900" dirty="0">
                <a:solidFill>
                  <a:srgbClr val="C00000"/>
                </a:solidFill>
              </a:rPr>
              <a:t>(model_1, X, y, cv=</a:t>
            </a:r>
            <a:r>
              <a:rPr lang="en-US" sz="1900" dirty="0" err="1">
                <a:solidFill>
                  <a:srgbClr val="C00000"/>
                </a:solidFill>
              </a:rPr>
              <a:t>kfold</a:t>
            </a:r>
            <a:r>
              <a:rPr lang="en-US" sz="1900" dirty="0">
                <a:solidFill>
                  <a:srgbClr val="C00000"/>
                </a:solidFill>
              </a:rPr>
              <a:t>, scoring=scoring)</a:t>
            </a:r>
          </a:p>
          <a:p>
            <a:pPr lvl="4" algn="just" fontAlgn="base">
              <a:lnSpc>
                <a:spcPct val="150000"/>
              </a:lnSpc>
            </a:pPr>
            <a:r>
              <a:rPr lang="en-US" sz="1900" dirty="0">
                <a:solidFill>
                  <a:srgbClr val="C00000"/>
                </a:solidFill>
              </a:rPr>
              <a:t>results_model_2 = </a:t>
            </a:r>
            <a:r>
              <a:rPr lang="en-US" sz="1900" dirty="0" err="1">
                <a:solidFill>
                  <a:srgbClr val="C00000"/>
                </a:solidFill>
              </a:rPr>
              <a:t>cross_validate</a:t>
            </a:r>
            <a:r>
              <a:rPr lang="en-US" sz="1900" dirty="0">
                <a:solidFill>
                  <a:srgbClr val="C00000"/>
                </a:solidFill>
              </a:rPr>
              <a:t>(model_2, X, y, cv=</a:t>
            </a:r>
            <a:r>
              <a:rPr lang="en-US" sz="1900" dirty="0" err="1">
                <a:solidFill>
                  <a:srgbClr val="C00000"/>
                </a:solidFill>
              </a:rPr>
              <a:t>kfold</a:t>
            </a:r>
            <a:r>
              <a:rPr lang="en-US" sz="1900" dirty="0">
                <a:solidFill>
                  <a:srgbClr val="C00000"/>
                </a:solidFill>
              </a:rPr>
              <a:t>, scoring=scoring)</a:t>
            </a:r>
          </a:p>
          <a:p>
            <a:pPr marL="357505" indent="-357505" algn="just" fontAlgn="base">
              <a:lnSpc>
                <a:spcPct val="150000"/>
              </a:lnSpc>
              <a:buFont typeface="Arial" panose="020B0604020202020204" pitchFamily="34" charset="0"/>
              <a:buChar char="•"/>
            </a:pPr>
            <a:r>
              <a:rPr lang="en-US" sz="1900" b="1" dirty="0">
                <a:solidFill>
                  <a:srgbClr val="FF0000"/>
                </a:solidFill>
              </a:rPr>
              <a:t>Aggregate Results: </a:t>
            </a:r>
            <a:r>
              <a:rPr lang="en-US" sz="1900" dirty="0"/>
              <a:t>Calculate the mean and standard deviation of the performance metrics across all K folds to get a final estimate of how well the model performs on average.</a:t>
            </a:r>
          </a:p>
        </p:txBody>
      </p:sp>
    </p:spTree>
    <p:extLst>
      <p:ext uri="{BB962C8B-B14F-4D97-AF65-F5344CB8AC3E}">
        <p14:creationId xmlns:p14="http://schemas.microsoft.com/office/powerpoint/2010/main" val="1199773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309062"/>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Linear Regression is a supervised learning algorithm used for predicting a continuous dependent variable (target) based on one or more independent variables (features). </a:t>
              </a:r>
            </a:p>
            <a:p>
              <a:pPr marL="814705" lvl="1" indent="-357505" algn="just" fontAlgn="base">
                <a:lnSpc>
                  <a:spcPct val="250000"/>
                </a:lnSpc>
                <a:buFont typeface="Arial" panose="020B0604020202020204" pitchFamily="34" charset="0"/>
                <a:buChar char="•"/>
              </a:pPr>
              <a:r>
                <a:rPr lang="en-US" sz="2000" dirty="0"/>
                <a:t>The goal is to find the best-fitting line that minimizes the error between predicted and actual values.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22</a:t>
            </a:fld>
            <a:endParaRPr lang="en-IN"/>
          </a:p>
        </p:txBody>
      </p:sp>
      <p:pic>
        <p:nvPicPr>
          <p:cNvPr id="3074" name="Picture 2" descr="What is Linear Regression?- Spiceworks - Spiceworks"/>
          <p:cNvPicPr>
            <a:picLocks noChangeAspect="1" noChangeArrowheads="1"/>
          </p:cNvPicPr>
          <p:nvPr/>
        </p:nvPicPr>
        <p:blipFill rotWithShape="1">
          <a:blip r:embed="rId4">
            <a:extLst>
              <a:ext uri="{28A0092B-C50C-407E-A947-70E740481C1C}">
                <a14:useLocalDpi xmlns:a14="http://schemas.microsoft.com/office/drawing/2010/main" val="0"/>
              </a:ext>
            </a:extLst>
          </a:blip>
          <a:srcRect t="10495" r="5732" b="4870"/>
          <a:stretch>
            <a:fillRect/>
          </a:stretch>
        </p:blipFill>
        <p:spPr bwMode="auto">
          <a:xfrm>
            <a:off x="6277572" y="2881028"/>
            <a:ext cx="5014939" cy="36764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35484"/>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The general equation for a simple linear regression is:</a:t>
              </a:r>
            </a:p>
            <a:p>
              <a:pPr lvl="1" algn="just" fontAlgn="base">
                <a:lnSpc>
                  <a:spcPct val="250000"/>
                </a:lnSpc>
              </a:pPr>
              <a:r>
                <a:rPr lang="en-US" sz="2000" dirty="0"/>
                <a:t>			𝑦=𝑚𝑥+𝑏</a:t>
              </a:r>
            </a:p>
            <a:p>
              <a:pPr lvl="1" algn="just" fontAlgn="base">
                <a:lnSpc>
                  <a:spcPct val="250000"/>
                </a:lnSpc>
              </a:pPr>
              <a:r>
                <a:rPr lang="en-US" sz="2000" dirty="0"/>
                <a:t>𝑦 is the dependent variable (target or response),</a:t>
              </a:r>
            </a:p>
            <a:p>
              <a:pPr lvl="1" algn="just" fontAlgn="base">
                <a:lnSpc>
                  <a:spcPct val="250000"/>
                </a:lnSpc>
              </a:pPr>
              <a:r>
                <a:rPr lang="en-US" sz="2000" dirty="0"/>
                <a:t>𝑥 is the independent variable (predictor or feature),</a:t>
              </a:r>
            </a:p>
            <a:p>
              <a:pPr lvl="1" algn="just" fontAlgn="base">
                <a:lnSpc>
                  <a:spcPct val="250000"/>
                </a:lnSpc>
              </a:pPr>
              <a:r>
                <a:rPr lang="en-US" sz="2000" dirty="0"/>
                <a:t>𝑚 is the slope of the line (how much 𝑦 changes for each unit change in 𝑥),</a:t>
              </a:r>
            </a:p>
            <a:p>
              <a:pPr lvl="1" algn="just" fontAlgn="base">
                <a:lnSpc>
                  <a:spcPct val="250000"/>
                </a:lnSpc>
              </a:pPr>
              <a:r>
                <a:rPr lang="en-US" sz="2000" dirty="0"/>
                <a:t>𝑏 is the intercept (the value of 𝑦 when 𝑥=0).</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23</a:t>
            </a:fld>
            <a:endParaRPr lang="en-IN"/>
          </a:p>
        </p:txBody>
      </p:sp>
      <p:sp>
        <p:nvSpPr>
          <p:cNvPr id="7" name="TextBox 6"/>
          <p:cNvSpPr txBox="1"/>
          <p:nvPr/>
        </p:nvSpPr>
        <p:spPr>
          <a:xfrm>
            <a:off x="1946251" y="5508785"/>
            <a:ext cx="6143624" cy="369332"/>
          </a:xfrm>
          <a:prstGeom prst="rect">
            <a:avLst/>
          </a:prstGeom>
          <a:noFill/>
        </p:spPr>
        <p:txBody>
          <a:bodyPr wrap="square">
            <a:spAutoFit/>
          </a:bodyPr>
          <a:lstStyle/>
          <a:p>
            <a:r>
              <a:rPr lang="en-US" b="1" dirty="0">
                <a:solidFill>
                  <a:srgbClr val="FF0000"/>
                </a:solidFill>
              </a:rPr>
              <a:t>Example Scenario: Predicting House Prices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24</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25</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5090160" y="1408632"/>
          <a:ext cx="5139690" cy="360913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26</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5090160" y="1408632"/>
          <a:ext cx="5139690" cy="3609138"/>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896009" y="4018294"/>
            <a:ext cx="6143624" cy="670825"/>
          </a:xfrm>
          <a:prstGeom prst="rect">
            <a:avLst/>
          </a:prstGeom>
          <a:noFill/>
        </p:spPr>
        <p:txBody>
          <a:bodyPr wrap="square">
            <a:spAutoFit/>
          </a:bodyPr>
          <a:lstStyle/>
          <a:p>
            <a:pPr lvl="1" algn="just" fontAlgn="base">
              <a:lnSpc>
                <a:spcPct val="250000"/>
              </a:lnSpc>
            </a:pPr>
            <a:r>
              <a:rPr lang="en-US" sz="1800" dirty="0"/>
              <a:t>𝑦=𝑚𝑥+𝑏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27</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5090160" y="1408632"/>
          <a:ext cx="5139690" cy="3609138"/>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𝑦=𝑚𝑥+𝑏</a:t>
            </a:r>
          </a:p>
        </p:txBody>
      </p:sp>
      <p:pic>
        <p:nvPicPr>
          <p:cNvPr id="13" name="Picture 12"/>
          <p:cNvPicPr>
            <a:picLocks noChangeAspect="1"/>
          </p:cNvPicPr>
          <p:nvPr/>
        </p:nvPicPr>
        <p:blipFill>
          <a:blip r:embed="rId5"/>
          <a:stretch>
            <a:fillRect/>
          </a:stretch>
        </p:blipFill>
        <p:spPr>
          <a:xfrm>
            <a:off x="1743375" y="4408476"/>
            <a:ext cx="3372321" cy="176237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28</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5090160" y="1408632"/>
          <a:ext cx="5139690" cy="3609138"/>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𝑦=𝑚𝑥+𝑏</a:t>
            </a:r>
          </a:p>
        </p:txBody>
      </p:sp>
      <p:pic>
        <p:nvPicPr>
          <p:cNvPr id="13" name="Picture 12"/>
          <p:cNvPicPr>
            <a:picLocks noChangeAspect="1"/>
          </p:cNvPicPr>
          <p:nvPr/>
        </p:nvPicPr>
        <p:blipFill>
          <a:blip r:embed="rId5"/>
          <a:stretch>
            <a:fillRect/>
          </a:stretch>
        </p:blipFill>
        <p:spPr>
          <a:xfrm>
            <a:off x="1743375" y="4408476"/>
            <a:ext cx="3372321" cy="176237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29</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5213441" y="681610"/>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𝑦=𝑚𝑥+𝑏</a:t>
            </a:r>
          </a:p>
        </p:txBody>
      </p:sp>
      <p:pic>
        <p:nvPicPr>
          <p:cNvPr id="13" name="Picture 12"/>
          <p:cNvPicPr>
            <a:picLocks noChangeAspect="1"/>
          </p:cNvPicPr>
          <p:nvPr/>
        </p:nvPicPr>
        <p:blipFill>
          <a:blip r:embed="rId5"/>
          <a:stretch>
            <a:fillRect/>
          </a:stretch>
        </p:blipFill>
        <p:spPr>
          <a:xfrm>
            <a:off x="1743375" y="4408476"/>
            <a:ext cx="3372321" cy="1762371"/>
          </a:xfrm>
          <a:prstGeom prst="rect">
            <a:avLst/>
          </a:prstGeom>
        </p:spPr>
      </p:pic>
      <p:graphicFrame>
        <p:nvGraphicFramePr>
          <p:cNvPr id="11" name="Table 10"/>
          <p:cNvGraphicFramePr>
            <a:graphicFrameLocks noGrp="1"/>
          </p:cNvGraphicFramePr>
          <p:nvPr/>
        </p:nvGraphicFramePr>
        <p:xfrm>
          <a:off x="5675295" y="34911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348564">
                <a:tc>
                  <a:txBody>
                    <a:bodyPr/>
                    <a:lstStyle/>
                    <a:p>
                      <a:pPr algn="r" fontAlgn="b"/>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30</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5213441" y="681610"/>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𝑦=𝑚𝑥+𝑏</a:t>
            </a:r>
          </a:p>
        </p:txBody>
      </p:sp>
      <p:pic>
        <p:nvPicPr>
          <p:cNvPr id="13" name="Picture 12"/>
          <p:cNvPicPr>
            <a:picLocks noChangeAspect="1"/>
          </p:cNvPicPr>
          <p:nvPr/>
        </p:nvPicPr>
        <p:blipFill>
          <a:blip r:embed="rId5"/>
          <a:stretch>
            <a:fillRect/>
          </a:stretch>
        </p:blipFill>
        <p:spPr>
          <a:xfrm>
            <a:off x="1743375" y="4408476"/>
            <a:ext cx="3372321" cy="1762371"/>
          </a:xfrm>
          <a:prstGeom prst="rect">
            <a:avLst/>
          </a:prstGeom>
        </p:spPr>
      </p:pic>
      <p:graphicFrame>
        <p:nvGraphicFramePr>
          <p:cNvPr id="11" name="Table 10"/>
          <p:cNvGraphicFramePr>
            <a:graphicFrameLocks noGrp="1"/>
          </p:cNvGraphicFramePr>
          <p:nvPr/>
        </p:nvGraphicFramePr>
        <p:xfrm>
          <a:off x="5675295" y="34911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75,000,000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a:t>
                      </a: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160,000,000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640,000</a:t>
                      </a: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1,000,000</a:t>
                      </a: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336,000,000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1,440,000</a:t>
                      </a: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480,000,000</a:t>
                      </a: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2,250,000</a:t>
                      </a:r>
                    </a:p>
                  </a:txBody>
                  <a:tcPr marL="9525" marR="9525" marT="9525" marB="0" anchor="b"/>
                </a:tc>
                <a:extLst>
                  <a:ext uri="{0D108BD9-81ED-4DB2-BD59-A6C34878D82A}">
                    <a16:rowId xmlns:a16="http://schemas.microsoft.com/office/drawing/2014/main" val="10005"/>
                  </a:ext>
                </a:extLst>
              </a:tr>
              <a:tr h="348564">
                <a:tc>
                  <a:txBody>
                    <a:bodyPr/>
                    <a:lstStyle/>
                    <a:p>
                      <a:pPr algn="r" fontAlgn="b"/>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31</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5213441" y="681610"/>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𝑦=𝑚𝑥+𝑏</a:t>
            </a:r>
          </a:p>
        </p:txBody>
      </p:sp>
      <p:pic>
        <p:nvPicPr>
          <p:cNvPr id="13" name="Picture 12"/>
          <p:cNvPicPr>
            <a:picLocks noChangeAspect="1"/>
          </p:cNvPicPr>
          <p:nvPr/>
        </p:nvPicPr>
        <p:blipFill>
          <a:blip r:embed="rId5"/>
          <a:stretch>
            <a:fillRect/>
          </a:stretch>
        </p:blipFill>
        <p:spPr>
          <a:xfrm>
            <a:off x="1743375" y="4408476"/>
            <a:ext cx="3372321" cy="1762371"/>
          </a:xfrm>
          <a:prstGeom prst="rect">
            <a:avLst/>
          </a:prstGeom>
        </p:spPr>
      </p:pic>
      <p:graphicFrame>
        <p:nvGraphicFramePr>
          <p:cNvPr id="11" name="Table 10"/>
          <p:cNvGraphicFramePr>
            <a:graphicFrameLocks noGrp="1"/>
          </p:cNvGraphicFramePr>
          <p:nvPr/>
        </p:nvGraphicFramePr>
        <p:xfrm>
          <a:off x="5675295" y="34911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75,000,000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a:t>
                      </a: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160,000,000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640,000</a:t>
                      </a: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1,000,000</a:t>
                      </a: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336,000,000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1,440,000</a:t>
                      </a: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480,000,000</a:t>
                      </a: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2,250,000</a:t>
                      </a:r>
                    </a:p>
                  </a:txBody>
                  <a:tcPr marL="9525" marR="9525" marT="9525" marB="0" anchor="b"/>
                </a:tc>
                <a:extLst>
                  <a:ext uri="{0D108BD9-81ED-4DB2-BD59-A6C34878D82A}">
                    <a16:rowId xmlns:a16="http://schemas.microsoft.com/office/drawing/2014/main" val="10005"/>
                  </a:ext>
                </a:extLst>
              </a:tr>
              <a:tr h="348564">
                <a:tc>
                  <a:txBody>
                    <a:bodyPr/>
                    <a:lstStyle/>
                    <a:p>
                      <a:pPr algn="r" fontAlgn="b"/>
                      <a:r>
                        <a:rPr lang="en-US" sz="1100" b="1" i="0" u="none" strike="noStrike" dirty="0">
                          <a:solidFill>
                            <a:srgbClr val="000000"/>
                          </a:solidFill>
                          <a:effectLst/>
                          <a:latin typeface="Calibri" panose="020F0502020204030204" charset="0"/>
                        </a:rPr>
                        <a:t>5000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1200000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1301000000</a:t>
                      </a:r>
                    </a:p>
                  </a:txBody>
                  <a:tcPr marL="9525" marR="9525" marT="9525" marB="0" anchor="b"/>
                </a:tc>
                <a:tc>
                  <a:txBody>
                    <a:bodyPr/>
                    <a:lstStyle/>
                    <a:p>
                      <a:pPr algn="r" fontAlgn="b"/>
                      <a:r>
                        <a:rPr lang="en-US" sz="1100" b="1" i="0" u="none" strike="noStrike" dirty="0">
                          <a:solidFill>
                            <a:srgbClr val="000000"/>
                          </a:solidFill>
                          <a:effectLst/>
                          <a:latin typeface="Calibri" panose="020F0502020204030204" charset="0"/>
                        </a:rPr>
                        <a:t>5580000</a:t>
                      </a:r>
                    </a:p>
                  </a:txBody>
                  <a:tcPr marL="9525" marR="9525" marT="9525" marB="0" anchor="b"/>
                </a:tc>
                <a:extLst>
                  <a:ext uri="{0D108BD9-81ED-4DB2-BD59-A6C34878D82A}">
                    <a16:rowId xmlns:a16="http://schemas.microsoft.com/office/drawing/2014/main" val="10006"/>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32</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4274555" y="714410"/>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y=174.14x+65,860</a:t>
            </a:r>
          </a:p>
        </p:txBody>
      </p:sp>
      <p:graphicFrame>
        <p:nvGraphicFramePr>
          <p:cNvPr id="11" name="Table 10"/>
          <p:cNvGraphicFramePr>
            <a:graphicFrameLocks noGrp="1"/>
          </p:cNvGraphicFramePr>
          <p:nvPr/>
        </p:nvGraphicFramePr>
        <p:xfrm>
          <a:off x="6332079" y="35026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75,000,000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a:t>
                      </a: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160,000,000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640,000</a:t>
                      </a: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1,000,000</a:t>
                      </a: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336,000,000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1,440,000</a:t>
                      </a: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480,000,000</a:t>
                      </a: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2,250,000</a:t>
                      </a:r>
                    </a:p>
                  </a:txBody>
                  <a:tcPr marL="9525" marR="9525" marT="9525" marB="0" anchor="b"/>
                </a:tc>
                <a:extLst>
                  <a:ext uri="{0D108BD9-81ED-4DB2-BD59-A6C34878D82A}">
                    <a16:rowId xmlns:a16="http://schemas.microsoft.com/office/drawing/2014/main" val="10005"/>
                  </a:ext>
                </a:extLst>
              </a:tr>
              <a:tr h="348564">
                <a:tc>
                  <a:txBody>
                    <a:bodyPr/>
                    <a:lstStyle/>
                    <a:p>
                      <a:pPr algn="r" fontAlgn="b"/>
                      <a:r>
                        <a:rPr lang="en-US" sz="1100" b="1" i="0" u="none" strike="noStrike" dirty="0">
                          <a:solidFill>
                            <a:srgbClr val="000000"/>
                          </a:solidFill>
                          <a:effectLst/>
                          <a:latin typeface="Calibri" panose="020F0502020204030204" charset="0"/>
                        </a:rPr>
                        <a:t>5000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1200000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1301000000</a:t>
                      </a:r>
                    </a:p>
                  </a:txBody>
                  <a:tcPr marL="9525" marR="9525" marT="9525" marB="0" anchor="b"/>
                </a:tc>
                <a:tc>
                  <a:txBody>
                    <a:bodyPr/>
                    <a:lstStyle/>
                    <a:p>
                      <a:pPr algn="r" fontAlgn="b"/>
                      <a:r>
                        <a:rPr lang="en-US" sz="1100" b="1" i="0" u="none" strike="noStrike" dirty="0">
                          <a:solidFill>
                            <a:srgbClr val="000000"/>
                          </a:solidFill>
                          <a:effectLst/>
                          <a:latin typeface="Calibri" panose="020F0502020204030204" charset="0"/>
                        </a:rPr>
                        <a:t>5580000</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17" name="Chart 16"/>
          <p:cNvGraphicFramePr/>
          <p:nvPr/>
        </p:nvGraphicFramePr>
        <p:xfrm>
          <a:off x="7806306" y="1033271"/>
          <a:ext cx="4390006" cy="2117757"/>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33</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4164577" y="703361"/>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y=174.14x+65,860</a:t>
            </a:r>
          </a:p>
        </p:txBody>
      </p:sp>
      <p:graphicFrame>
        <p:nvGraphicFramePr>
          <p:cNvPr id="11" name="Table 10"/>
          <p:cNvGraphicFramePr>
            <a:graphicFrameLocks noGrp="1"/>
          </p:cNvGraphicFramePr>
          <p:nvPr/>
        </p:nvGraphicFramePr>
        <p:xfrm>
          <a:off x="6332079" y="35026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75,000,000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a:t>
                      </a: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160,000,000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640,000</a:t>
                      </a: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1,000,000</a:t>
                      </a: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336,000,000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1,440,000</a:t>
                      </a: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480,000,000</a:t>
                      </a: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2,250,000</a:t>
                      </a:r>
                    </a:p>
                  </a:txBody>
                  <a:tcPr marL="9525" marR="9525" marT="9525" marB="0" anchor="b"/>
                </a:tc>
                <a:extLst>
                  <a:ext uri="{0D108BD9-81ED-4DB2-BD59-A6C34878D82A}">
                    <a16:rowId xmlns:a16="http://schemas.microsoft.com/office/drawing/2014/main" val="10005"/>
                  </a:ext>
                </a:extLst>
              </a:tr>
              <a:tr h="348564">
                <a:tc>
                  <a:txBody>
                    <a:bodyPr/>
                    <a:lstStyle/>
                    <a:p>
                      <a:pPr algn="r" fontAlgn="b"/>
                      <a:r>
                        <a:rPr lang="en-US" sz="1100" b="1" i="0" u="none" strike="noStrike" dirty="0">
                          <a:solidFill>
                            <a:srgbClr val="000000"/>
                          </a:solidFill>
                          <a:effectLst/>
                          <a:latin typeface="Calibri" panose="020F0502020204030204" charset="0"/>
                        </a:rPr>
                        <a:t>5000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1200000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1301000000</a:t>
                      </a:r>
                    </a:p>
                  </a:txBody>
                  <a:tcPr marL="9525" marR="9525" marT="9525" marB="0" anchor="b"/>
                </a:tc>
                <a:tc>
                  <a:txBody>
                    <a:bodyPr/>
                    <a:lstStyle/>
                    <a:p>
                      <a:pPr algn="r" fontAlgn="b"/>
                      <a:r>
                        <a:rPr lang="en-US" sz="1100" b="1" i="0" u="none" strike="noStrike" dirty="0">
                          <a:solidFill>
                            <a:srgbClr val="000000"/>
                          </a:solidFill>
                          <a:effectLst/>
                          <a:latin typeface="Calibri" panose="020F0502020204030204" charset="0"/>
                        </a:rPr>
                        <a:t>5580000</a:t>
                      </a:r>
                    </a:p>
                  </a:txBody>
                  <a:tcPr marL="9525" marR="9525" marT="9525" marB="0" anchor="b"/>
                </a:tc>
                <a:extLst>
                  <a:ext uri="{0D108BD9-81ED-4DB2-BD59-A6C34878D82A}">
                    <a16:rowId xmlns:a16="http://schemas.microsoft.com/office/drawing/2014/main" val="10006"/>
                  </a:ext>
                </a:extLst>
              </a:tr>
            </a:tbl>
          </a:graphicData>
        </a:graphic>
      </p:graphicFrame>
      <p:sp>
        <p:nvSpPr>
          <p:cNvPr id="16" name="TextBox 15"/>
          <p:cNvSpPr txBox="1"/>
          <p:nvPr/>
        </p:nvSpPr>
        <p:spPr>
          <a:xfrm>
            <a:off x="11883" y="4322320"/>
            <a:ext cx="6143624" cy="1754326"/>
          </a:xfrm>
          <a:prstGeom prst="rect">
            <a:avLst/>
          </a:prstGeom>
          <a:noFill/>
        </p:spPr>
        <p:txBody>
          <a:bodyPr wrap="square">
            <a:spAutoFit/>
          </a:bodyPr>
          <a:lstStyle/>
          <a:p>
            <a:r>
              <a:rPr lang="en-US" dirty="0">
                <a:solidFill>
                  <a:srgbClr val="0070C0"/>
                </a:solidFill>
              </a:rPr>
              <a:t>Slope (m = 174.14): For each additional square foot of house size, the price is expected to increase by approximately $174.14</a:t>
            </a:r>
            <a:r>
              <a:rPr lang="en-US" dirty="0"/>
              <a:t>.</a:t>
            </a:r>
          </a:p>
          <a:p>
            <a:r>
              <a:rPr lang="en-US" dirty="0">
                <a:solidFill>
                  <a:schemeClr val="accent2">
                    <a:lumMod val="75000"/>
                  </a:schemeClr>
                </a:solidFill>
              </a:rPr>
              <a:t>Intercept (b = 65,860): Even if the house size is 0 square feet, the model predicts a base price of around $65,860 (though this may not have practical meaning in this context).</a:t>
            </a:r>
          </a:p>
        </p:txBody>
      </p:sp>
      <p:graphicFrame>
        <p:nvGraphicFramePr>
          <p:cNvPr id="13" name="Chart 12"/>
          <p:cNvGraphicFramePr/>
          <p:nvPr/>
        </p:nvGraphicFramePr>
        <p:xfrm>
          <a:off x="7806306" y="1033271"/>
          <a:ext cx="4390006" cy="2117757"/>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34</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3981450" y="669380"/>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y=174.14x+65,860</a:t>
            </a:r>
          </a:p>
        </p:txBody>
      </p:sp>
      <p:graphicFrame>
        <p:nvGraphicFramePr>
          <p:cNvPr id="11" name="Table 10"/>
          <p:cNvGraphicFramePr>
            <a:graphicFrameLocks noGrp="1"/>
          </p:cNvGraphicFramePr>
          <p:nvPr/>
        </p:nvGraphicFramePr>
        <p:xfrm>
          <a:off x="6332079" y="35026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75,000,000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a:t>
                      </a: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160,000,000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640,000</a:t>
                      </a: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1,000,000</a:t>
                      </a: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336,000,000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1,440,000</a:t>
                      </a: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480,000,000</a:t>
                      </a: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2,250,000</a:t>
                      </a:r>
                    </a:p>
                  </a:txBody>
                  <a:tcPr marL="9525" marR="9525" marT="9525" marB="0" anchor="b"/>
                </a:tc>
                <a:extLst>
                  <a:ext uri="{0D108BD9-81ED-4DB2-BD59-A6C34878D82A}">
                    <a16:rowId xmlns:a16="http://schemas.microsoft.com/office/drawing/2014/main" val="10005"/>
                  </a:ext>
                </a:extLst>
              </a:tr>
              <a:tr h="348564">
                <a:tc>
                  <a:txBody>
                    <a:bodyPr/>
                    <a:lstStyle/>
                    <a:p>
                      <a:pPr algn="r" fontAlgn="b"/>
                      <a:r>
                        <a:rPr lang="en-US" sz="1100" b="1" i="0" u="none" strike="noStrike" dirty="0">
                          <a:solidFill>
                            <a:srgbClr val="000000"/>
                          </a:solidFill>
                          <a:effectLst/>
                          <a:latin typeface="Calibri" panose="020F0502020204030204" charset="0"/>
                        </a:rPr>
                        <a:t>5000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1200000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1301000000</a:t>
                      </a:r>
                    </a:p>
                  </a:txBody>
                  <a:tcPr marL="9525" marR="9525" marT="9525" marB="0" anchor="b"/>
                </a:tc>
                <a:tc>
                  <a:txBody>
                    <a:bodyPr/>
                    <a:lstStyle/>
                    <a:p>
                      <a:pPr algn="r" fontAlgn="b"/>
                      <a:r>
                        <a:rPr lang="en-US" sz="1100" b="1" i="0" u="none" strike="noStrike" dirty="0">
                          <a:solidFill>
                            <a:srgbClr val="000000"/>
                          </a:solidFill>
                          <a:effectLst/>
                          <a:latin typeface="Calibri" panose="020F0502020204030204" charset="0"/>
                        </a:rPr>
                        <a:t>5580000</a:t>
                      </a:r>
                    </a:p>
                  </a:txBody>
                  <a:tcPr marL="9525" marR="9525" marT="9525" marB="0" anchor="b"/>
                </a:tc>
                <a:extLst>
                  <a:ext uri="{0D108BD9-81ED-4DB2-BD59-A6C34878D82A}">
                    <a16:rowId xmlns:a16="http://schemas.microsoft.com/office/drawing/2014/main" val="10006"/>
                  </a:ext>
                </a:extLst>
              </a:tr>
            </a:tbl>
          </a:graphicData>
        </a:graphic>
      </p:graphicFrame>
      <p:sp>
        <p:nvSpPr>
          <p:cNvPr id="16" name="TextBox 15"/>
          <p:cNvSpPr txBox="1"/>
          <p:nvPr/>
        </p:nvSpPr>
        <p:spPr>
          <a:xfrm>
            <a:off x="11883" y="4322320"/>
            <a:ext cx="6143624" cy="369332"/>
          </a:xfrm>
          <a:prstGeom prst="rect">
            <a:avLst/>
          </a:prstGeom>
          <a:noFill/>
        </p:spPr>
        <p:txBody>
          <a:bodyPr wrap="square">
            <a:spAutoFit/>
          </a:bodyPr>
          <a:lstStyle/>
          <a:p>
            <a:r>
              <a:rPr lang="en-US" dirty="0">
                <a:solidFill>
                  <a:schemeClr val="accent2">
                    <a:lumMod val="75000"/>
                  </a:schemeClr>
                </a:solidFill>
              </a:rPr>
              <a:t>Make predictions -- </a:t>
            </a:r>
            <a:r>
              <a:rPr lang="en-US" dirty="0"/>
              <a:t>For a house of size 1100 square feet</a:t>
            </a:r>
            <a:r>
              <a:rPr lang="en-US" dirty="0">
                <a:solidFill>
                  <a:schemeClr val="accent2">
                    <a:lumMod val="75000"/>
                  </a:schemeClr>
                </a:solidFill>
              </a:rPr>
              <a:t> </a:t>
            </a:r>
          </a:p>
        </p:txBody>
      </p:sp>
      <p:pic>
        <p:nvPicPr>
          <p:cNvPr id="17" name="Graphic 16" descr="Hour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19" y="3508427"/>
            <a:ext cx="914400" cy="914400"/>
          </a:xfrm>
          <a:prstGeom prst="rect">
            <a:avLst/>
          </a:prstGeom>
        </p:spPr>
      </p:pic>
      <p:graphicFrame>
        <p:nvGraphicFramePr>
          <p:cNvPr id="20" name="Chart 19"/>
          <p:cNvGraphicFramePr/>
          <p:nvPr/>
        </p:nvGraphicFramePr>
        <p:xfrm>
          <a:off x="7806306" y="1033271"/>
          <a:ext cx="4390006" cy="2117757"/>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35</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3981450" y="669380"/>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y=174.14x+65,860</a:t>
            </a:r>
          </a:p>
        </p:txBody>
      </p:sp>
      <p:graphicFrame>
        <p:nvGraphicFramePr>
          <p:cNvPr id="11" name="Table 10"/>
          <p:cNvGraphicFramePr>
            <a:graphicFrameLocks noGrp="1"/>
          </p:cNvGraphicFramePr>
          <p:nvPr/>
        </p:nvGraphicFramePr>
        <p:xfrm>
          <a:off x="6332079" y="35026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75,000,000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a:t>
                      </a: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160,000,000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640,000</a:t>
                      </a: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1,000,000</a:t>
                      </a: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336,000,000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1,440,000</a:t>
                      </a: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480,000,000</a:t>
                      </a: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2,250,000</a:t>
                      </a:r>
                    </a:p>
                  </a:txBody>
                  <a:tcPr marL="9525" marR="9525" marT="9525" marB="0" anchor="b"/>
                </a:tc>
                <a:extLst>
                  <a:ext uri="{0D108BD9-81ED-4DB2-BD59-A6C34878D82A}">
                    <a16:rowId xmlns:a16="http://schemas.microsoft.com/office/drawing/2014/main" val="10005"/>
                  </a:ext>
                </a:extLst>
              </a:tr>
              <a:tr h="348564">
                <a:tc>
                  <a:txBody>
                    <a:bodyPr/>
                    <a:lstStyle/>
                    <a:p>
                      <a:pPr algn="r" fontAlgn="b"/>
                      <a:r>
                        <a:rPr lang="en-US" sz="1100" b="1" i="0" u="none" strike="noStrike" dirty="0">
                          <a:solidFill>
                            <a:srgbClr val="000000"/>
                          </a:solidFill>
                          <a:effectLst/>
                          <a:latin typeface="Calibri" panose="020F0502020204030204" charset="0"/>
                        </a:rPr>
                        <a:t>5000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1200000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1301000000</a:t>
                      </a:r>
                    </a:p>
                  </a:txBody>
                  <a:tcPr marL="9525" marR="9525" marT="9525" marB="0" anchor="b"/>
                </a:tc>
                <a:tc>
                  <a:txBody>
                    <a:bodyPr/>
                    <a:lstStyle/>
                    <a:p>
                      <a:pPr algn="r" fontAlgn="b"/>
                      <a:r>
                        <a:rPr lang="en-US" sz="1100" b="1" i="0" u="none" strike="noStrike" dirty="0">
                          <a:solidFill>
                            <a:srgbClr val="000000"/>
                          </a:solidFill>
                          <a:effectLst/>
                          <a:latin typeface="Calibri" panose="020F0502020204030204" charset="0"/>
                        </a:rPr>
                        <a:t>5580000</a:t>
                      </a:r>
                    </a:p>
                  </a:txBody>
                  <a:tcPr marL="9525" marR="9525" marT="9525" marB="0" anchor="b"/>
                </a:tc>
                <a:extLst>
                  <a:ext uri="{0D108BD9-81ED-4DB2-BD59-A6C34878D82A}">
                    <a16:rowId xmlns:a16="http://schemas.microsoft.com/office/drawing/2014/main" val="10006"/>
                  </a:ext>
                </a:extLst>
              </a:tr>
            </a:tbl>
          </a:graphicData>
        </a:graphic>
      </p:graphicFrame>
      <p:sp>
        <p:nvSpPr>
          <p:cNvPr id="16" name="TextBox 15"/>
          <p:cNvSpPr txBox="1"/>
          <p:nvPr/>
        </p:nvSpPr>
        <p:spPr>
          <a:xfrm>
            <a:off x="11883" y="4322320"/>
            <a:ext cx="6143624" cy="369332"/>
          </a:xfrm>
          <a:prstGeom prst="rect">
            <a:avLst/>
          </a:prstGeom>
          <a:noFill/>
        </p:spPr>
        <p:txBody>
          <a:bodyPr wrap="square">
            <a:spAutoFit/>
          </a:bodyPr>
          <a:lstStyle/>
          <a:p>
            <a:r>
              <a:rPr lang="en-US" dirty="0">
                <a:solidFill>
                  <a:schemeClr val="accent2">
                    <a:lumMod val="75000"/>
                  </a:schemeClr>
                </a:solidFill>
              </a:rPr>
              <a:t>Make predictions -- </a:t>
            </a:r>
            <a:r>
              <a:rPr lang="en-US" dirty="0"/>
              <a:t>For a house of size 1100 square feet</a:t>
            </a:r>
            <a:r>
              <a:rPr lang="en-US" dirty="0">
                <a:solidFill>
                  <a:schemeClr val="accent2">
                    <a:lumMod val="75000"/>
                  </a:schemeClr>
                </a:solidFill>
              </a:rPr>
              <a:t> </a:t>
            </a:r>
          </a:p>
        </p:txBody>
      </p:sp>
      <p:pic>
        <p:nvPicPr>
          <p:cNvPr id="17" name="Graphic 16" descr="Hour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19" y="3508427"/>
            <a:ext cx="914400" cy="914400"/>
          </a:xfrm>
          <a:prstGeom prst="rect">
            <a:avLst/>
          </a:prstGeom>
        </p:spPr>
      </p:pic>
      <p:sp>
        <p:nvSpPr>
          <p:cNvPr id="19" name="TextBox 18"/>
          <p:cNvSpPr txBox="1"/>
          <p:nvPr/>
        </p:nvSpPr>
        <p:spPr>
          <a:xfrm>
            <a:off x="174073" y="4815001"/>
            <a:ext cx="6143624" cy="369332"/>
          </a:xfrm>
          <a:prstGeom prst="rect">
            <a:avLst/>
          </a:prstGeom>
          <a:noFill/>
        </p:spPr>
        <p:txBody>
          <a:bodyPr wrap="square">
            <a:spAutoFit/>
          </a:bodyPr>
          <a:lstStyle/>
          <a:p>
            <a:r>
              <a:rPr lang="en-US" dirty="0"/>
              <a:t>y=174.14×1100+65,860=191,554+65,860=257,414</a:t>
            </a:r>
          </a:p>
        </p:txBody>
      </p:sp>
      <p:graphicFrame>
        <p:nvGraphicFramePr>
          <p:cNvPr id="20" name="Chart 19"/>
          <p:cNvGraphicFramePr/>
          <p:nvPr/>
        </p:nvGraphicFramePr>
        <p:xfrm>
          <a:off x="7806306" y="1033271"/>
          <a:ext cx="4390006" cy="2117757"/>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156949" cy="39440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Linear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5"/>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1259"/>
            </a:xfrm>
            <a:prstGeom prst="rect">
              <a:avLst/>
            </a:prstGeom>
          </p:spPr>
          <p:txBody>
            <a:bodyPr vert="horz" wrap="square" lIns="0" tIns="0" rIns="0" bIns="0" numCol="1" rtlCol="0">
              <a:spAutoFit/>
            </a:bodyPr>
            <a:lstStyle/>
            <a:p>
              <a:pPr marL="814705" lvl="1" indent="-357505" algn="just" fontAlgn="base">
                <a:lnSpc>
                  <a:spcPct val="250000"/>
                </a:lnSpc>
                <a:buFont typeface="Arial" panose="020B0604020202020204" pitchFamily="34" charset="0"/>
                <a:buChar char="•"/>
              </a:pPr>
              <a:r>
                <a:rPr lang="en-US" sz="2000" dirty="0"/>
                <a:t>Predicting House Prices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a:t>MLA – Session 2</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36</a:t>
            </a:fld>
            <a:endParaRPr lang="en-IN"/>
          </a:p>
        </p:txBody>
      </p:sp>
      <p:graphicFrame>
        <p:nvGraphicFramePr>
          <p:cNvPr id="4" name="Table 3"/>
          <p:cNvGraphicFramePr>
            <a:graphicFrameLocks noGrp="1"/>
          </p:cNvGraphicFramePr>
          <p:nvPr/>
        </p:nvGraphicFramePr>
        <p:xfrm>
          <a:off x="1405890" y="1525241"/>
          <a:ext cx="2526030" cy="1977390"/>
        </p:xfrm>
        <a:graphic>
          <a:graphicData uri="http://schemas.openxmlformats.org/drawingml/2006/table">
            <a:tbl>
              <a:tblPr>
                <a:tableStyleId>{5C22544A-7EE6-4342-B048-85BDC9FD1C3A}</a:tableStyleId>
              </a:tblPr>
              <a:tblGrid>
                <a:gridCol w="131445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tblGrid>
              <a:tr h="499549">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dirty="0">
                          <a:effectLst/>
                          <a:latin typeface="Times New Roman" panose="02020603050405020304" pitchFamily="18" charset="0"/>
                          <a:cs typeface="Times New Roman" panose="02020603050405020304" pitchFamily="18" charset="0"/>
                        </a:rPr>
                        <a:t>House Price ($) 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54037">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dirty="0">
                          <a:effectLst/>
                          <a:latin typeface="Times New Roman" panose="02020603050405020304" pitchFamily="18" charset="0"/>
                          <a:cs typeface="Times New Roman" panose="02020603050405020304" pitchFamily="18" charset="0"/>
                        </a:rPr>
                        <a:t>320,000</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7" name="Chart 6"/>
          <p:cNvGraphicFramePr/>
          <p:nvPr/>
        </p:nvGraphicFramePr>
        <p:xfrm>
          <a:off x="3981450" y="669380"/>
          <a:ext cx="3981859" cy="292427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2141629" y="3536057"/>
            <a:ext cx="6143624" cy="863634"/>
          </a:xfrm>
          <a:prstGeom prst="rect">
            <a:avLst/>
          </a:prstGeom>
          <a:noFill/>
        </p:spPr>
        <p:txBody>
          <a:bodyPr wrap="square">
            <a:spAutoFit/>
          </a:bodyPr>
          <a:lstStyle/>
          <a:p>
            <a:pPr lvl="1" algn="just" fontAlgn="base">
              <a:lnSpc>
                <a:spcPct val="250000"/>
              </a:lnSpc>
            </a:pPr>
            <a:r>
              <a:rPr lang="en-US" sz="2400" b="1" dirty="0">
                <a:solidFill>
                  <a:srgbClr val="FF0000"/>
                </a:solidFill>
              </a:rPr>
              <a:t>y=174.14x+65,860</a:t>
            </a:r>
          </a:p>
        </p:txBody>
      </p:sp>
      <p:graphicFrame>
        <p:nvGraphicFramePr>
          <p:cNvPr id="11" name="Table 10"/>
          <p:cNvGraphicFramePr>
            <a:graphicFrameLocks noGrp="1"/>
          </p:cNvGraphicFramePr>
          <p:nvPr/>
        </p:nvGraphicFramePr>
        <p:xfrm>
          <a:off x="6332079" y="3502631"/>
          <a:ext cx="5366928" cy="2649549"/>
        </p:xfrm>
        <a:graphic>
          <a:graphicData uri="http://schemas.openxmlformats.org/drawingml/2006/table">
            <a:tbl>
              <a:tblPr>
                <a:tableStyleId>{5C22544A-7EE6-4342-B048-85BDC9FD1C3A}</a:tableStyleId>
              </a:tblPr>
              <a:tblGrid>
                <a:gridCol w="1210220">
                  <a:extLst>
                    <a:ext uri="{9D8B030D-6E8A-4147-A177-3AD203B41FA5}">
                      <a16:colId xmlns:a16="http://schemas.microsoft.com/office/drawing/2014/main" val="20000"/>
                    </a:ext>
                  </a:extLst>
                </a:gridCol>
                <a:gridCol w="1154430">
                  <a:extLst>
                    <a:ext uri="{9D8B030D-6E8A-4147-A177-3AD203B41FA5}">
                      <a16:colId xmlns:a16="http://schemas.microsoft.com/office/drawing/2014/main" val="20001"/>
                    </a:ext>
                  </a:extLst>
                </a:gridCol>
                <a:gridCol w="1474470">
                  <a:extLst>
                    <a:ext uri="{9D8B030D-6E8A-4147-A177-3AD203B41FA5}">
                      <a16:colId xmlns:a16="http://schemas.microsoft.com/office/drawing/2014/main" val="20002"/>
                    </a:ext>
                  </a:extLst>
                </a:gridCol>
                <a:gridCol w="1527808">
                  <a:extLst>
                    <a:ext uri="{9D8B030D-6E8A-4147-A177-3AD203B41FA5}">
                      <a16:colId xmlns:a16="http://schemas.microsoft.com/office/drawing/2014/main" val="20003"/>
                    </a:ext>
                  </a:extLst>
                </a:gridCol>
              </a:tblGrid>
              <a:tr h="348564">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Size (Sq ft) 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House Price ($) 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1800" u="none" strike="noStrike">
                          <a:effectLst/>
                          <a:latin typeface="Times New Roman" panose="02020603050405020304" pitchFamily="18" charset="0"/>
                          <a:cs typeface="Times New Roman" panose="02020603050405020304" pitchFamily="18" charset="0"/>
                        </a:rPr>
                        <a:t>x*x</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75,000,000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a:t>
                      </a:r>
                    </a:p>
                  </a:txBody>
                  <a:tcPr marL="9525" marR="9525" marT="9525" marB="0" anchor="b"/>
                </a:tc>
                <a:extLst>
                  <a:ext uri="{0D108BD9-81ED-4DB2-BD59-A6C34878D82A}">
                    <a16:rowId xmlns:a16="http://schemas.microsoft.com/office/drawing/2014/main" val="10001"/>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800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200,000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160,000,000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640,000</a:t>
                      </a:r>
                    </a:p>
                  </a:txBody>
                  <a:tcPr marL="9525" marR="9525" marT="9525" marB="0" anchor="b"/>
                </a:tc>
                <a:extLst>
                  <a:ext uri="{0D108BD9-81ED-4DB2-BD59-A6C34878D82A}">
                    <a16:rowId xmlns:a16="http://schemas.microsoft.com/office/drawing/2014/main" val="10002"/>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250,000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250,000,000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1,000,000</a:t>
                      </a:r>
                    </a:p>
                  </a:txBody>
                  <a:tcPr marL="9525" marR="9525" marT="9525" marB="0" anchor="b"/>
                </a:tc>
                <a:extLst>
                  <a:ext uri="{0D108BD9-81ED-4DB2-BD59-A6C34878D82A}">
                    <a16:rowId xmlns:a16="http://schemas.microsoft.com/office/drawing/2014/main" val="10003"/>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1200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280,000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336,000,000</a:t>
                      </a: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1,440,000</a:t>
                      </a:r>
                    </a:p>
                  </a:txBody>
                  <a:tcPr marL="9525" marR="9525" marT="9525" marB="0" anchor="b"/>
                </a:tc>
                <a:extLst>
                  <a:ext uri="{0D108BD9-81ED-4DB2-BD59-A6C34878D82A}">
                    <a16:rowId xmlns:a16="http://schemas.microsoft.com/office/drawing/2014/main" val="10004"/>
                  </a:ext>
                </a:extLst>
              </a:tr>
              <a:tr h="348564">
                <a:tc>
                  <a:txBody>
                    <a:bodyPr/>
                    <a:lstStyle/>
                    <a:p>
                      <a:pPr algn="r" fontAlgn="b"/>
                      <a:r>
                        <a:rPr lang="en-US" sz="1800" u="none" strike="noStrike">
                          <a:effectLst/>
                          <a:latin typeface="Times New Roman" panose="02020603050405020304" pitchFamily="18" charset="0"/>
                          <a:cs typeface="Times New Roman" panose="02020603050405020304" pitchFamily="18" charset="0"/>
                        </a:rPr>
                        <a:t>1500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800" u="none" strike="noStrike">
                          <a:effectLst/>
                          <a:latin typeface="Times New Roman" panose="02020603050405020304" pitchFamily="18" charset="0"/>
                          <a:cs typeface="Times New Roman" panose="02020603050405020304" pitchFamily="18" charset="0"/>
                        </a:rPr>
                        <a:t>320,000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r" fontAlgn="b"/>
                      <a:r>
                        <a:rPr lang="en-US" sz="1100" b="0" i="0" u="none" strike="noStrike">
                          <a:solidFill>
                            <a:srgbClr val="000000"/>
                          </a:solidFill>
                          <a:effectLst/>
                          <a:latin typeface="Calibri" panose="020F0502020204030204" charset="0"/>
                        </a:rPr>
                        <a:t>480,000,000</a:t>
                      </a:r>
                    </a:p>
                  </a:txBody>
                  <a:tcPr marL="9525" marR="9525" marT="9525" marB="0" anchor="b"/>
                </a:tc>
                <a:tc>
                  <a:txBody>
                    <a:bodyPr/>
                    <a:lstStyle/>
                    <a:p>
                      <a:pPr algn="r" fontAlgn="b"/>
                      <a:r>
                        <a:rPr lang="en-US" sz="1100" b="0" i="0" u="none" strike="noStrike" dirty="0">
                          <a:solidFill>
                            <a:srgbClr val="000000"/>
                          </a:solidFill>
                          <a:effectLst/>
                          <a:latin typeface="Calibri" panose="020F0502020204030204" charset="0"/>
                        </a:rPr>
                        <a:t>2,250,000</a:t>
                      </a:r>
                    </a:p>
                  </a:txBody>
                  <a:tcPr marL="9525" marR="9525" marT="9525" marB="0" anchor="b"/>
                </a:tc>
                <a:extLst>
                  <a:ext uri="{0D108BD9-81ED-4DB2-BD59-A6C34878D82A}">
                    <a16:rowId xmlns:a16="http://schemas.microsoft.com/office/drawing/2014/main" val="10005"/>
                  </a:ext>
                </a:extLst>
              </a:tr>
              <a:tr h="348564">
                <a:tc>
                  <a:txBody>
                    <a:bodyPr/>
                    <a:lstStyle/>
                    <a:p>
                      <a:pPr algn="r" fontAlgn="b"/>
                      <a:r>
                        <a:rPr lang="en-US" sz="1100" b="1" i="0" u="none" strike="noStrike" dirty="0">
                          <a:solidFill>
                            <a:srgbClr val="000000"/>
                          </a:solidFill>
                          <a:effectLst/>
                          <a:latin typeface="Calibri" panose="020F0502020204030204" charset="0"/>
                        </a:rPr>
                        <a:t>5000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1200000</a:t>
                      </a:r>
                    </a:p>
                  </a:txBody>
                  <a:tcPr marL="9525" marR="9525" marT="9525" marB="0" anchor="b"/>
                </a:tc>
                <a:tc>
                  <a:txBody>
                    <a:bodyPr/>
                    <a:lstStyle/>
                    <a:p>
                      <a:pPr algn="r" fontAlgn="b"/>
                      <a:r>
                        <a:rPr lang="en-US" sz="1100" b="1" i="0" u="none" strike="noStrike">
                          <a:solidFill>
                            <a:srgbClr val="000000"/>
                          </a:solidFill>
                          <a:effectLst/>
                          <a:latin typeface="Calibri" panose="020F0502020204030204" charset="0"/>
                        </a:rPr>
                        <a:t>1301000000</a:t>
                      </a:r>
                    </a:p>
                  </a:txBody>
                  <a:tcPr marL="9525" marR="9525" marT="9525" marB="0" anchor="b"/>
                </a:tc>
                <a:tc>
                  <a:txBody>
                    <a:bodyPr/>
                    <a:lstStyle/>
                    <a:p>
                      <a:pPr algn="r" fontAlgn="b"/>
                      <a:r>
                        <a:rPr lang="en-US" sz="1100" b="1" i="0" u="none" strike="noStrike" dirty="0">
                          <a:solidFill>
                            <a:srgbClr val="000000"/>
                          </a:solidFill>
                          <a:effectLst/>
                          <a:latin typeface="Calibri" panose="020F0502020204030204" charset="0"/>
                        </a:rPr>
                        <a:t>5580000</a:t>
                      </a:r>
                    </a:p>
                  </a:txBody>
                  <a:tcPr marL="9525" marR="9525" marT="9525" marB="0" anchor="b"/>
                </a:tc>
                <a:extLst>
                  <a:ext uri="{0D108BD9-81ED-4DB2-BD59-A6C34878D82A}">
                    <a16:rowId xmlns:a16="http://schemas.microsoft.com/office/drawing/2014/main" val="10006"/>
                  </a:ext>
                </a:extLst>
              </a:tr>
            </a:tbl>
          </a:graphicData>
        </a:graphic>
      </p:graphicFrame>
      <p:sp>
        <p:nvSpPr>
          <p:cNvPr id="16" name="TextBox 15"/>
          <p:cNvSpPr txBox="1"/>
          <p:nvPr/>
        </p:nvSpPr>
        <p:spPr>
          <a:xfrm>
            <a:off x="11883" y="4322320"/>
            <a:ext cx="6143624" cy="369332"/>
          </a:xfrm>
          <a:prstGeom prst="rect">
            <a:avLst/>
          </a:prstGeom>
          <a:noFill/>
        </p:spPr>
        <p:txBody>
          <a:bodyPr wrap="square">
            <a:spAutoFit/>
          </a:bodyPr>
          <a:lstStyle/>
          <a:p>
            <a:r>
              <a:rPr lang="en-US" dirty="0">
                <a:solidFill>
                  <a:schemeClr val="accent2">
                    <a:lumMod val="75000"/>
                  </a:schemeClr>
                </a:solidFill>
              </a:rPr>
              <a:t>Make predictions -- </a:t>
            </a:r>
            <a:r>
              <a:rPr lang="en-US" dirty="0"/>
              <a:t>For a house of size 1100 square feet</a:t>
            </a:r>
            <a:r>
              <a:rPr lang="en-US" dirty="0">
                <a:solidFill>
                  <a:schemeClr val="accent2">
                    <a:lumMod val="75000"/>
                  </a:schemeClr>
                </a:solidFill>
              </a:rPr>
              <a:t> </a:t>
            </a:r>
          </a:p>
        </p:txBody>
      </p:sp>
      <p:pic>
        <p:nvPicPr>
          <p:cNvPr id="17" name="Graphic 16" descr="Hour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19" y="3508427"/>
            <a:ext cx="914400" cy="914400"/>
          </a:xfrm>
          <a:prstGeom prst="rect">
            <a:avLst/>
          </a:prstGeom>
        </p:spPr>
      </p:pic>
      <p:sp>
        <p:nvSpPr>
          <p:cNvPr id="19" name="TextBox 18"/>
          <p:cNvSpPr txBox="1"/>
          <p:nvPr/>
        </p:nvSpPr>
        <p:spPr>
          <a:xfrm>
            <a:off x="174073" y="4815001"/>
            <a:ext cx="6143624" cy="369332"/>
          </a:xfrm>
          <a:prstGeom prst="rect">
            <a:avLst/>
          </a:prstGeom>
          <a:noFill/>
        </p:spPr>
        <p:txBody>
          <a:bodyPr wrap="square">
            <a:spAutoFit/>
          </a:bodyPr>
          <a:lstStyle/>
          <a:p>
            <a:r>
              <a:rPr lang="en-US" dirty="0"/>
              <a:t>y=174.14×1100+65,860=191,554+65,860=257,414</a:t>
            </a:r>
          </a:p>
        </p:txBody>
      </p:sp>
      <p:graphicFrame>
        <p:nvGraphicFramePr>
          <p:cNvPr id="20" name="Chart 19"/>
          <p:cNvGraphicFramePr/>
          <p:nvPr/>
        </p:nvGraphicFramePr>
        <p:xfrm>
          <a:off x="7806306" y="1033271"/>
          <a:ext cx="4390006" cy="2117757"/>
        </p:xfrm>
        <a:graphic>
          <a:graphicData uri="http://schemas.openxmlformats.org/drawingml/2006/chart">
            <c:chart xmlns:c="http://schemas.openxmlformats.org/drawingml/2006/chart" xmlns:r="http://schemas.openxmlformats.org/officeDocument/2006/relationships" r:id="rId7"/>
          </a:graphicData>
        </a:graphic>
      </p:graphicFrame>
      <p:sp>
        <p:nvSpPr>
          <p:cNvPr id="14" name="TextBox 13"/>
          <p:cNvSpPr txBox="1"/>
          <p:nvPr/>
        </p:nvSpPr>
        <p:spPr>
          <a:xfrm>
            <a:off x="68329" y="5440410"/>
            <a:ext cx="6143624" cy="369332"/>
          </a:xfrm>
          <a:prstGeom prst="rect">
            <a:avLst/>
          </a:prstGeom>
          <a:noFill/>
        </p:spPr>
        <p:txBody>
          <a:bodyPr wrap="square">
            <a:spAutoFit/>
          </a:bodyPr>
          <a:lstStyle/>
          <a:p>
            <a:r>
              <a:rPr lang="en-US" dirty="0">
                <a:solidFill>
                  <a:schemeClr val="accent2">
                    <a:lumMod val="75000"/>
                  </a:schemeClr>
                </a:solidFill>
              </a:rPr>
              <a:t>evaluation metrics like </a:t>
            </a:r>
            <a:r>
              <a:rPr lang="en-US" b="1" dirty="0">
                <a:solidFill>
                  <a:schemeClr val="accent2">
                    <a:lumMod val="75000"/>
                  </a:schemeClr>
                </a:solidFill>
              </a:rPr>
              <a:t>Mean Squared Error (MSE)</a:t>
            </a:r>
            <a:r>
              <a:rPr lang="en-US" dirty="0">
                <a:solidFill>
                  <a:schemeClr val="accent2">
                    <a:lumMod val="75000"/>
                  </a:schemeClr>
                </a:solidFill>
              </a:rPr>
              <a:t> or </a:t>
            </a:r>
            <a:r>
              <a:rPr lang="en-US" b="1" dirty="0">
                <a:solidFill>
                  <a:schemeClr val="accent2">
                    <a:lumMod val="75000"/>
                  </a:schemeClr>
                </a:solidFill>
              </a:rPr>
              <a:t>R-squared</a:t>
            </a:r>
            <a:r>
              <a:rPr lang="en-US" dirty="0">
                <a:solidFill>
                  <a:schemeClr val="accent2">
                    <a:lumMod val="75000"/>
                  </a:schemeClr>
                </a:solidFill>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4" y="347730"/>
            <a:ext cx="11521226" cy="6027311"/>
          </a:xfrm>
        </p:spPr>
        <p:txBody>
          <a:bodyPr>
            <a:normAutofit/>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Summary of Linear Regression</a:t>
            </a:r>
          </a:p>
          <a:p>
            <a:pPr lvl="0">
              <a:lnSpc>
                <a:spcPct val="100000"/>
              </a:lnSpc>
              <a:spcBef>
                <a:spcPts val="0"/>
              </a:spcBef>
              <a:buFont typeface="Wingdings" panose="05000000000000000000" pitchFamily="2" charset="2"/>
              <a:buChar char="Ø"/>
              <a:defRPr/>
            </a:pPr>
            <a:endParaRPr lang="en-US" b="1" dirty="0">
              <a:latin typeface="Candara" panose="020E0502030303020204" pitchFamily="34" charset="0"/>
            </a:endParaRPr>
          </a:p>
          <a:p>
            <a:pPr>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Collect and prepare the data (identify dependent and independent variables)</a:t>
            </a:r>
          </a:p>
          <a:p>
            <a:pPr>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Plot the data to visualize the relationship</a:t>
            </a:r>
          </a:p>
          <a:p>
            <a:pPr lvl="5">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Fit the linear regression model by calculating the slope (𝑚) and intercept (𝑏)</a:t>
            </a:r>
          </a:p>
          <a:p>
            <a:pPr>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Interpret the model to understand the relationship between variables</a:t>
            </a:r>
          </a:p>
          <a:p>
            <a:pPr>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Make predictions using the regression equation</a:t>
            </a:r>
          </a:p>
          <a:p>
            <a:pPr>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Evaluate the model's performance using appropriate metrics</a:t>
            </a:r>
          </a:p>
          <a:p>
            <a:pPr marL="0" indent="0">
              <a:buNone/>
              <a:defRPr/>
            </a:pPr>
            <a:endParaRPr lang="en-US" dirty="0">
              <a:solidFill>
                <a:srgbClr val="C00000"/>
              </a:solidFill>
            </a:endParaRP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
        <p:nvSpPr>
          <p:cNvPr id="4" name="Date Placeholder 5"/>
          <p:cNvSpPr>
            <a:spLocks noGrp="1"/>
          </p:cNvSpPr>
          <p:nvPr>
            <p:ph type="dt" sz="half" idx="10"/>
          </p:nvPr>
        </p:nvSpPr>
        <p:spPr>
          <a:xfrm>
            <a:off x="0" y="6496050"/>
            <a:ext cx="4038600" cy="365125"/>
          </a:xfrm>
        </p:spPr>
        <p:style>
          <a:lnRef idx="1">
            <a:schemeClr val="accent1"/>
          </a:lnRef>
          <a:fillRef idx="2">
            <a:schemeClr val="accent1"/>
          </a:fillRef>
          <a:effectRef idx="1">
            <a:schemeClr val="accent1"/>
          </a:effectRef>
          <a:fontRef idx="minor">
            <a:schemeClr val="dk1"/>
          </a:fontRef>
        </p:style>
        <p:txBody>
          <a:bodyPr/>
          <a:lstStyle/>
          <a:p>
            <a:fld id="{B7C0D6E8-684C-464F-99E1-500B9EE63F46}" type="datetime1">
              <a:rPr lang="en-IN" b="1" smtClean="0">
                <a:solidFill>
                  <a:srgbClr val="0000FF"/>
                </a:solidFill>
                <a:latin typeface="Bookman Old Style" panose="02050604050505020204" pitchFamily="18" charset="0"/>
              </a:rPr>
              <a:t>13-09-2025</a:t>
            </a:fld>
            <a:endParaRPr lang="en-IN" b="1" dirty="0">
              <a:solidFill>
                <a:srgbClr val="0000FF"/>
              </a:solidFill>
              <a:latin typeface="Bookman Old Style" panose="02050604050505020204" pitchFamily="18" charset="0"/>
            </a:endParaRPr>
          </a:p>
        </p:txBody>
      </p:sp>
      <p:sp>
        <p:nvSpPr>
          <p:cNvPr id="5" name="Date Placeholder 5"/>
          <p:cNvSpPr txBox="1"/>
          <p:nvPr/>
        </p:nvSpPr>
        <p:spPr>
          <a:xfrm>
            <a:off x="4038600" y="6492875"/>
            <a:ext cx="41148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dirty="0" err="1"/>
              <a:t>Dr.Maivizhi</a:t>
            </a:r>
            <a:r>
              <a:rPr lang="en-IN" dirty="0"/>
              <a:t>  Assistant Professor / CINTEL</a:t>
            </a:r>
          </a:p>
        </p:txBody>
      </p:sp>
      <p:sp>
        <p:nvSpPr>
          <p:cNvPr id="6" name="Date Placeholder 5"/>
          <p:cNvSpPr txBox="1"/>
          <p:nvPr/>
        </p:nvSpPr>
        <p:spPr>
          <a:xfrm>
            <a:off x="8153400" y="6492874"/>
            <a:ext cx="4038600"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IN" dirty="0"/>
          </a:p>
        </p:txBody>
      </p:sp>
      <p:sp>
        <p:nvSpPr>
          <p:cNvPr id="3" name="Footer Placeholder 2"/>
          <p:cNvSpPr>
            <a:spLocks noGrp="1"/>
          </p:cNvSpPr>
          <p:nvPr>
            <p:ph type="ftr" sz="quarter" idx="11"/>
          </p:nvPr>
        </p:nvSpPr>
        <p:spPr/>
        <p:txBody>
          <a:bodyPr/>
          <a:lstStyle/>
          <a:p>
            <a:r>
              <a:rPr lang="en-IN"/>
              <a:t>APP Faculties - CINTEL</a:t>
            </a:r>
            <a:endParaRPr lang="en-IN" dirty="0"/>
          </a:p>
        </p:txBody>
      </p:sp>
      <p:sp>
        <p:nvSpPr>
          <p:cNvPr id="7" name="Slide Number Placeholder 6"/>
          <p:cNvSpPr>
            <a:spLocks noGrp="1"/>
          </p:cNvSpPr>
          <p:nvPr>
            <p:ph type="sldNum" sz="quarter" idx="12"/>
          </p:nvPr>
        </p:nvSpPr>
        <p:spPr/>
        <p:txBody>
          <a:bodyPr/>
          <a:lstStyle/>
          <a:p>
            <a:fld id="{AD7ED525-5088-40CF-8CE0-E4296ADF624B}" type="slidenum">
              <a:rPr lang="en-IN" smtClean="0"/>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108831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 Logistic Regression </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0305"/>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38</a:t>
            </a:fld>
            <a:endParaRPr lang="en-IN"/>
          </a:p>
        </p:txBody>
      </p:sp>
      <p:sp>
        <p:nvSpPr>
          <p:cNvPr id="11" name="Rectangle 10">
            <a:extLst>
              <a:ext uri="{FF2B5EF4-FFF2-40B4-BE49-F238E27FC236}">
                <a16:creationId xmlns:a16="http://schemas.microsoft.com/office/drawing/2014/main" id="{803C4A6E-7597-1082-7D2E-AAE40E65241E}"/>
              </a:ext>
            </a:extLst>
          </p:cNvPr>
          <p:cNvSpPr/>
          <p:nvPr/>
        </p:nvSpPr>
        <p:spPr>
          <a:xfrm>
            <a:off x="0" y="600616"/>
            <a:ext cx="12105504" cy="597917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a:extLst>
              <a:ext uri="{FF2B5EF4-FFF2-40B4-BE49-F238E27FC236}">
                <a16:creationId xmlns:a16="http://schemas.microsoft.com/office/drawing/2014/main" id="{79D6AE71-2BE7-6190-7065-9EBC35449AB7}"/>
              </a:ext>
            </a:extLst>
          </p:cNvPr>
          <p:cNvSpPr txBox="1"/>
          <p:nvPr/>
        </p:nvSpPr>
        <p:spPr>
          <a:xfrm>
            <a:off x="205337" y="941873"/>
            <a:ext cx="11812590" cy="5067221"/>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Logistic regression is a machine learning algorithm used to predict the probability that an observation belongs to one of two possible classes.</a:t>
            </a:r>
          </a:p>
          <a:p>
            <a:pPr marL="814705" lvl="1" indent="-357505" algn="just" fontAlgn="base">
              <a:lnSpc>
                <a:spcPct val="200000"/>
              </a:lnSpc>
              <a:buFont typeface="Arial" panose="020B0604020202020204" pitchFamily="34" charset="0"/>
              <a:buChar char="•"/>
            </a:pPr>
            <a:r>
              <a:rPr lang="en-US" sz="2400" dirty="0"/>
              <a:t>Build an email classifier to tell us whether an incoming email should be marked as “spam” or “not spam”.</a:t>
            </a:r>
          </a:p>
          <a:p>
            <a:pPr marL="814705" lvl="1" indent="-357505" algn="just" fontAlgn="base">
              <a:lnSpc>
                <a:spcPct val="200000"/>
              </a:lnSpc>
              <a:buFont typeface="Arial" panose="020B0604020202020204" pitchFamily="34" charset="0"/>
              <a:buChar char="•"/>
            </a:pPr>
            <a:r>
              <a:rPr lang="en-US" sz="2400" dirty="0"/>
              <a:t>Check radiological images to predict whether a tumor is benign or malignant.</a:t>
            </a:r>
          </a:p>
          <a:p>
            <a:pPr marL="814705" lvl="1" indent="-357505" algn="just" fontAlgn="base">
              <a:lnSpc>
                <a:spcPct val="200000"/>
              </a:lnSpc>
              <a:buFont typeface="Arial" panose="020B0604020202020204" pitchFamily="34" charset="0"/>
              <a:buChar char="•"/>
            </a:pPr>
            <a:r>
              <a:rPr lang="en-US" sz="2400" dirty="0"/>
              <a:t>Historic bank records to predict whether a customer will default on their loan repayments or repay the loan.</a:t>
            </a:r>
          </a:p>
        </p:txBody>
      </p:sp>
    </p:spTree>
    <p:extLst>
      <p:ext uri="{BB962C8B-B14F-4D97-AF65-F5344CB8AC3E}">
        <p14:creationId xmlns:p14="http://schemas.microsoft.com/office/powerpoint/2010/main" val="27717974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Example</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3"/>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97577"/>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Predict whether or not a client of your bank will default on their loan repayments. </a:t>
              </a:r>
            </a:p>
            <a:p>
              <a:pPr lvl="1" algn="just" fontAlgn="base">
                <a:lnSpc>
                  <a:spcPct val="150000"/>
                </a:lnSpc>
              </a:pPr>
              <a:r>
                <a:rPr lang="en-US" sz="2400" dirty="0"/>
                <a:t>The data would contain client demographic information (e.g. age, gender, location, etc.), their financial information (loan size, times that payment was overdue, etc.), and whether they ended up defaulting on a loan or repaying it.</a:t>
              </a:r>
            </a:p>
            <a:p>
              <a:pPr lvl="1" algn="just" fontAlgn="base">
                <a:lnSpc>
                  <a:spcPct val="150000"/>
                </a:lnSpc>
              </a:pPr>
              <a:endParaRPr lang="en-US" sz="2400" dirty="0"/>
            </a:p>
            <a:p>
              <a:pPr lvl="1" algn="just" fontAlgn="base">
                <a:lnSpc>
                  <a:spcPct val="150000"/>
                </a:lnSpc>
              </a:pPr>
              <a:endParaRPr lang="en-US" sz="2400" dirty="0"/>
            </a:p>
            <a:p>
              <a:pPr lvl="1" algn="just" fontAlgn="base">
                <a:lnSpc>
                  <a:spcPct val="150000"/>
                </a:lnSpc>
              </a:pPr>
              <a:endParaRPr lang="en-US" sz="2400" dirty="0"/>
            </a:p>
            <a:p>
              <a:pPr lvl="1" algn="just" fontAlgn="base">
                <a:lnSpc>
                  <a:spcPct val="150000"/>
                </a:lnSpc>
              </a:pPr>
              <a:endParaRPr lang="en-US" sz="2400" dirty="0"/>
            </a:p>
            <a:p>
              <a:pPr algn="just" fontAlgn="base">
                <a:lnSpc>
                  <a:spcPct val="15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39</a:t>
            </a:fld>
            <a:endParaRPr lang="en-IN"/>
          </a:p>
        </p:txBody>
      </p:sp>
      <p:pic>
        <p:nvPicPr>
          <p:cNvPr id="7" name="Picture 6">
            <a:extLst>
              <a:ext uri="{FF2B5EF4-FFF2-40B4-BE49-F238E27FC236}">
                <a16:creationId xmlns:a16="http://schemas.microsoft.com/office/drawing/2014/main" id="{1F818773-202B-C58B-2E4F-11C7D83EC154}"/>
              </a:ext>
            </a:extLst>
          </p:cNvPr>
          <p:cNvPicPr>
            <a:picLocks noChangeAspect="1"/>
          </p:cNvPicPr>
          <p:nvPr/>
        </p:nvPicPr>
        <p:blipFill>
          <a:blip r:embed="rId4"/>
          <a:stretch>
            <a:fillRect/>
          </a:stretch>
        </p:blipFill>
        <p:spPr>
          <a:xfrm>
            <a:off x="3414338" y="3001191"/>
            <a:ext cx="5363323" cy="1952898"/>
          </a:xfrm>
          <a:prstGeom prst="rect">
            <a:avLst/>
          </a:prstGeom>
        </p:spPr>
      </p:pic>
    </p:spTree>
    <p:extLst>
      <p:ext uri="{BB962C8B-B14F-4D97-AF65-F5344CB8AC3E}">
        <p14:creationId xmlns:p14="http://schemas.microsoft.com/office/powerpoint/2010/main" val="3686917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Example</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3"/>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97577"/>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Predict whether or not a client of your bank will default on their loan repayments. </a:t>
              </a:r>
            </a:p>
            <a:p>
              <a:pPr lvl="1" algn="just" fontAlgn="base">
                <a:lnSpc>
                  <a:spcPct val="150000"/>
                </a:lnSpc>
              </a:pPr>
              <a:r>
                <a:rPr lang="en-US" sz="2400" dirty="0"/>
                <a:t>The data would contain client demographic information (e.g. age, gender, location, etc.), their financial information (loan size, times that payment was overdue, etc.), and whether they ended up defaulting on a loan or repaying it.</a:t>
              </a:r>
            </a:p>
            <a:p>
              <a:pPr lvl="1" algn="just" fontAlgn="base">
                <a:lnSpc>
                  <a:spcPct val="150000"/>
                </a:lnSpc>
              </a:pPr>
              <a:endParaRPr lang="en-US" sz="2400" dirty="0"/>
            </a:p>
            <a:p>
              <a:pPr lvl="1" algn="just" fontAlgn="base">
                <a:lnSpc>
                  <a:spcPct val="150000"/>
                </a:lnSpc>
              </a:pPr>
              <a:endParaRPr lang="en-US" sz="2400" dirty="0"/>
            </a:p>
            <a:p>
              <a:pPr lvl="1" algn="just" fontAlgn="base">
                <a:lnSpc>
                  <a:spcPct val="150000"/>
                </a:lnSpc>
              </a:pPr>
              <a:endParaRPr lang="en-US" sz="2400" dirty="0"/>
            </a:p>
            <a:p>
              <a:pPr lvl="1" algn="just" fontAlgn="base">
                <a:lnSpc>
                  <a:spcPct val="150000"/>
                </a:lnSpc>
              </a:pPr>
              <a:endParaRPr lang="en-US" sz="2400" dirty="0"/>
            </a:p>
            <a:p>
              <a:pPr algn="just" fontAlgn="base">
                <a:lnSpc>
                  <a:spcPct val="15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40</a:t>
            </a:fld>
            <a:endParaRPr lang="en-IN"/>
          </a:p>
        </p:txBody>
      </p:sp>
      <p:pic>
        <p:nvPicPr>
          <p:cNvPr id="7" name="Picture 6">
            <a:extLst>
              <a:ext uri="{FF2B5EF4-FFF2-40B4-BE49-F238E27FC236}">
                <a16:creationId xmlns:a16="http://schemas.microsoft.com/office/drawing/2014/main" id="{1F818773-202B-C58B-2E4F-11C7D83EC154}"/>
              </a:ext>
            </a:extLst>
          </p:cNvPr>
          <p:cNvPicPr>
            <a:picLocks noChangeAspect="1"/>
          </p:cNvPicPr>
          <p:nvPr/>
        </p:nvPicPr>
        <p:blipFill>
          <a:blip r:embed="rId4"/>
          <a:stretch>
            <a:fillRect/>
          </a:stretch>
        </p:blipFill>
        <p:spPr>
          <a:xfrm>
            <a:off x="1505528" y="3012621"/>
            <a:ext cx="5363323" cy="1952898"/>
          </a:xfrm>
          <a:prstGeom prst="rect">
            <a:avLst/>
          </a:prstGeom>
        </p:spPr>
      </p:pic>
      <p:pic>
        <p:nvPicPr>
          <p:cNvPr id="11" name="Picture 10">
            <a:extLst>
              <a:ext uri="{FF2B5EF4-FFF2-40B4-BE49-F238E27FC236}">
                <a16:creationId xmlns:a16="http://schemas.microsoft.com/office/drawing/2014/main" id="{792A9701-6337-E636-F8A5-190E97C084C2}"/>
              </a:ext>
            </a:extLst>
          </p:cNvPr>
          <p:cNvPicPr>
            <a:picLocks noChangeAspect="1"/>
          </p:cNvPicPr>
          <p:nvPr/>
        </p:nvPicPr>
        <p:blipFill>
          <a:blip r:embed="rId5"/>
          <a:stretch>
            <a:fillRect/>
          </a:stretch>
        </p:blipFill>
        <p:spPr>
          <a:xfrm>
            <a:off x="6840579" y="3169805"/>
            <a:ext cx="4858428" cy="1638529"/>
          </a:xfrm>
          <a:prstGeom prst="rect">
            <a:avLst/>
          </a:prstGeom>
        </p:spPr>
      </p:pic>
    </p:spTree>
    <p:extLst>
      <p:ext uri="{BB962C8B-B14F-4D97-AF65-F5344CB8AC3E}">
        <p14:creationId xmlns:p14="http://schemas.microsoft.com/office/powerpoint/2010/main" val="3696612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Example</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3"/>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75985"/>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Predict whether or not a client of your bank will default on their loan repayments. </a:t>
              </a:r>
            </a:p>
            <a:p>
              <a:pPr lvl="1" algn="just" fontAlgn="base">
                <a:lnSpc>
                  <a:spcPct val="150000"/>
                </a:lnSpc>
              </a:pPr>
              <a:r>
                <a:rPr lang="en-US" sz="2400" dirty="0"/>
                <a:t>The data would contain client demographic information (e.g. age, gender, location, etc.), their financial information (loan size, times that payment was overdue, etc.), and whether they ended up defaulting on a loan or repaying it.</a:t>
              </a:r>
            </a:p>
            <a:p>
              <a:pPr lvl="1" algn="just" fontAlgn="base">
                <a:lnSpc>
                  <a:spcPct val="150000"/>
                </a:lnSpc>
              </a:pPr>
              <a:endParaRPr lang="en-US" sz="2400" dirty="0"/>
            </a:p>
            <a:p>
              <a:pPr lvl="1" algn="just" fontAlgn="base">
                <a:lnSpc>
                  <a:spcPct val="150000"/>
                </a:lnSpc>
              </a:pPr>
              <a:endParaRPr lang="en-US" sz="2400" dirty="0"/>
            </a:p>
            <a:p>
              <a:pPr lvl="1" algn="just" fontAlgn="base">
                <a:lnSpc>
                  <a:spcPct val="150000"/>
                </a:lnSpc>
              </a:pPr>
              <a:endParaRPr lang="en-US" sz="2400" dirty="0"/>
            </a:p>
            <a:p>
              <a:pPr lvl="1" algn="just" fontAlgn="base">
                <a:lnSpc>
                  <a:spcPct val="150000"/>
                </a:lnSpc>
              </a:pPr>
              <a:endParaRPr lang="en-US" sz="2400" dirty="0"/>
            </a:p>
            <a:p>
              <a:pPr lvl="1" algn="just" fontAlgn="base">
                <a:lnSpc>
                  <a:spcPct val="150000"/>
                </a:lnSpc>
              </a:pPr>
              <a:r>
                <a:rPr lang="en-US" sz="2400" dirty="0"/>
                <a:t>Assess the performance of models or systems</a:t>
              </a:r>
            </a:p>
            <a:p>
              <a:pPr algn="just" fontAlgn="base">
                <a:lnSpc>
                  <a:spcPct val="15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41</a:t>
            </a:fld>
            <a:endParaRPr lang="en-IN"/>
          </a:p>
        </p:txBody>
      </p:sp>
      <p:pic>
        <p:nvPicPr>
          <p:cNvPr id="7" name="Picture 6">
            <a:extLst>
              <a:ext uri="{FF2B5EF4-FFF2-40B4-BE49-F238E27FC236}">
                <a16:creationId xmlns:a16="http://schemas.microsoft.com/office/drawing/2014/main" id="{1F818773-202B-C58B-2E4F-11C7D83EC154}"/>
              </a:ext>
            </a:extLst>
          </p:cNvPr>
          <p:cNvPicPr>
            <a:picLocks noChangeAspect="1"/>
          </p:cNvPicPr>
          <p:nvPr/>
        </p:nvPicPr>
        <p:blipFill>
          <a:blip r:embed="rId4"/>
          <a:srcRect l="7076" t="16098" r="7678" b="15028"/>
          <a:stretch/>
        </p:blipFill>
        <p:spPr>
          <a:xfrm>
            <a:off x="640080" y="2917678"/>
            <a:ext cx="4572000" cy="1345046"/>
          </a:xfrm>
          <a:prstGeom prst="rect">
            <a:avLst/>
          </a:prstGeom>
        </p:spPr>
      </p:pic>
      <p:pic>
        <p:nvPicPr>
          <p:cNvPr id="11" name="Picture 10">
            <a:extLst>
              <a:ext uri="{FF2B5EF4-FFF2-40B4-BE49-F238E27FC236}">
                <a16:creationId xmlns:a16="http://schemas.microsoft.com/office/drawing/2014/main" id="{792A9701-6337-E636-F8A5-190E97C084C2}"/>
              </a:ext>
            </a:extLst>
          </p:cNvPr>
          <p:cNvPicPr>
            <a:picLocks noChangeAspect="1"/>
          </p:cNvPicPr>
          <p:nvPr/>
        </p:nvPicPr>
        <p:blipFill>
          <a:blip r:embed="rId5"/>
          <a:stretch>
            <a:fillRect/>
          </a:stretch>
        </p:blipFill>
        <p:spPr>
          <a:xfrm>
            <a:off x="5766159" y="2806758"/>
            <a:ext cx="4858428" cy="1638529"/>
          </a:xfrm>
          <a:prstGeom prst="rect">
            <a:avLst/>
          </a:prstGeom>
        </p:spPr>
      </p:pic>
      <p:pic>
        <p:nvPicPr>
          <p:cNvPr id="12" name="Picture 11">
            <a:extLst>
              <a:ext uri="{FF2B5EF4-FFF2-40B4-BE49-F238E27FC236}">
                <a16:creationId xmlns:a16="http://schemas.microsoft.com/office/drawing/2014/main" id="{5EF5A8FA-DC87-165D-A57F-DBAF82DC867C}"/>
              </a:ext>
            </a:extLst>
          </p:cNvPr>
          <p:cNvPicPr>
            <a:picLocks noChangeAspect="1"/>
          </p:cNvPicPr>
          <p:nvPr/>
        </p:nvPicPr>
        <p:blipFill>
          <a:blip r:embed="rId6"/>
          <a:stretch>
            <a:fillRect/>
          </a:stretch>
        </p:blipFill>
        <p:spPr>
          <a:xfrm>
            <a:off x="6545263" y="4362780"/>
            <a:ext cx="5153744" cy="1762371"/>
          </a:xfrm>
          <a:prstGeom prst="rect">
            <a:avLst/>
          </a:prstGeom>
        </p:spPr>
      </p:pic>
    </p:spTree>
    <p:extLst>
      <p:ext uri="{BB962C8B-B14F-4D97-AF65-F5344CB8AC3E}">
        <p14:creationId xmlns:p14="http://schemas.microsoft.com/office/powerpoint/2010/main" val="323106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4"/>
            <a:ext cx="12105504" cy="5979173"/>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95588"/>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Logistic regression is a supervised machine learning classification algorithm</a:t>
              </a:r>
            </a:p>
            <a:p>
              <a:pPr marL="814705" lvl="1" indent="-357505" algn="just" fontAlgn="base">
                <a:lnSpc>
                  <a:spcPct val="200000"/>
                </a:lnSpc>
                <a:buFont typeface="Arial" panose="020B0604020202020204" pitchFamily="34" charset="0"/>
                <a:buChar char="•"/>
              </a:pPr>
              <a:r>
                <a:rPr lang="en-US" sz="2400" dirty="0"/>
                <a:t>Supervised machine learning: supervised learning techniques train the model by providing pairs of input-output examples from which it can learn. For example, the logistic regression would learn from a specific example to associate three missed loan repayments with future default (class membership = 1).</a:t>
              </a:r>
            </a:p>
            <a:p>
              <a:pPr marL="814705" lvl="1" indent="-357505" algn="just" fontAlgn="base">
                <a:lnSpc>
                  <a:spcPct val="200000"/>
                </a:lnSpc>
                <a:buFont typeface="Arial" panose="020B0604020202020204" pitchFamily="34" charset="0"/>
                <a:buChar char="•"/>
              </a:pPr>
              <a:r>
                <a:rPr lang="en-US" sz="2400" dirty="0"/>
                <a:t>Classification algorithm: the purpose of the machine learning model is to classify examples into distinct (binary) classes. For instance, default vs. paying loans, email classification as spam or not spam</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42</a:t>
            </a:fld>
            <a:endParaRPr lang="en-IN"/>
          </a:p>
        </p:txBody>
      </p:sp>
    </p:spTree>
    <p:extLst>
      <p:ext uri="{BB962C8B-B14F-4D97-AF65-F5344CB8AC3E}">
        <p14:creationId xmlns:p14="http://schemas.microsoft.com/office/powerpoint/2010/main" val="20705577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4"/>
            <a:ext cx="12105504" cy="5979173"/>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78009"/>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The model takes the form of a logistic regression equation:</a:t>
              </a:r>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r>
                <a:rPr lang="en-US" dirty="0"/>
                <a:t>y is the predicted probability of belonging to the default class. </a:t>
              </a:r>
            </a:p>
            <a:p>
              <a:pPr marL="814705" lvl="1" indent="-357505" algn="just" fontAlgn="base">
                <a:lnSpc>
                  <a:spcPct val="150000"/>
                </a:lnSpc>
                <a:buFont typeface="Arial" panose="020B0604020202020204" pitchFamily="34" charset="0"/>
                <a:buChar char="•"/>
              </a:pPr>
              <a:r>
                <a:rPr lang="en-US" dirty="0"/>
                <a:t>In binary classification, we mark the default class with 1 and the other class with 0. </a:t>
              </a:r>
            </a:p>
            <a:p>
              <a:pPr marL="814705" lvl="1" indent="-357505" algn="just" fontAlgn="base">
                <a:lnSpc>
                  <a:spcPct val="150000"/>
                </a:lnSpc>
                <a:buFont typeface="Arial" panose="020B0604020202020204" pitchFamily="34" charset="0"/>
                <a:buChar char="•"/>
              </a:pPr>
              <a:r>
                <a:rPr lang="en-US" dirty="0"/>
                <a:t>y states the probability of an example belonging to the default class on a scale from 0 to 1 (exclusive). </a:t>
              </a:r>
            </a:p>
            <a:p>
              <a:pPr marL="814705" lvl="1" indent="-357505" algn="just" fontAlgn="base">
                <a:lnSpc>
                  <a:spcPct val="150000"/>
                </a:lnSpc>
                <a:buFont typeface="Arial" panose="020B0604020202020204" pitchFamily="34" charset="0"/>
                <a:buChar char="•"/>
              </a:pPr>
              <a:r>
                <a:rPr lang="en-US" dirty="0"/>
                <a:t>So y=0.99 would mean that the model predicts the example belonging to class 1. </a:t>
              </a:r>
            </a:p>
            <a:p>
              <a:pPr marL="814705" lvl="1" indent="-357505" algn="just" fontAlgn="base">
                <a:lnSpc>
                  <a:spcPct val="150000"/>
                </a:lnSpc>
                <a:buFont typeface="Arial" panose="020B0604020202020204" pitchFamily="34" charset="0"/>
                <a:buChar char="•"/>
              </a:pPr>
              <a:r>
                <a:rPr lang="en-US" dirty="0"/>
                <a:t>During training, y is also called the target variable in machine learning, or the dependent variable in statistical modeling. It represents the categorical value that we are trying to predict.</a:t>
              </a:r>
            </a:p>
            <a:p>
              <a:pPr marL="357505" indent="-357505" algn="just" fontAlgn="base">
                <a:lnSpc>
                  <a:spcPct val="150000"/>
                </a:lnSpc>
                <a:buFont typeface="Arial" panose="020B0604020202020204" pitchFamily="34" charset="0"/>
                <a:buChar char="•"/>
              </a:pPr>
              <a:r>
                <a:rPr lang="en-US" dirty="0"/>
                <a:t>1/(1+e^-z) is the sigmoid function. </a:t>
              </a:r>
            </a:p>
            <a:p>
              <a:pPr marL="357505" indent="-357505" algn="just" fontAlgn="base">
                <a:lnSpc>
                  <a:spcPct val="150000"/>
                </a:lnSpc>
                <a:buFont typeface="Arial" panose="020B0604020202020204" pitchFamily="34" charset="0"/>
                <a:buChar char="•"/>
              </a:pPr>
              <a:r>
                <a:rPr lang="en-US" dirty="0"/>
                <a:t>wo + w1x is the linear model within logistic regression. </a:t>
              </a: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43</a:t>
            </a:fld>
            <a:endParaRPr lang="en-IN"/>
          </a:p>
        </p:txBody>
      </p:sp>
      <p:pic>
        <p:nvPicPr>
          <p:cNvPr id="7" name="Picture 6">
            <a:extLst>
              <a:ext uri="{FF2B5EF4-FFF2-40B4-BE49-F238E27FC236}">
                <a16:creationId xmlns:a16="http://schemas.microsoft.com/office/drawing/2014/main" id="{5348F997-1B0F-A402-D42E-EC473A894C3A}"/>
              </a:ext>
            </a:extLst>
          </p:cNvPr>
          <p:cNvPicPr>
            <a:picLocks noChangeAspect="1"/>
          </p:cNvPicPr>
          <p:nvPr/>
        </p:nvPicPr>
        <p:blipFill>
          <a:blip r:embed="rId4"/>
          <a:stretch>
            <a:fillRect/>
          </a:stretch>
        </p:blipFill>
        <p:spPr>
          <a:xfrm>
            <a:off x="3328697" y="1467731"/>
            <a:ext cx="4163006" cy="1019317"/>
          </a:xfrm>
          <a:prstGeom prst="rect">
            <a:avLst/>
          </a:prstGeom>
        </p:spPr>
      </p:pic>
    </p:spTree>
    <p:extLst>
      <p:ext uri="{BB962C8B-B14F-4D97-AF65-F5344CB8AC3E}">
        <p14:creationId xmlns:p14="http://schemas.microsoft.com/office/powerpoint/2010/main" val="3192567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3"/>
            <a:ext cx="12105504" cy="5979172"/>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97440"/>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r>
                <a:rPr lang="en-US" sz="2400" b="0" i="0" dirty="0">
                  <a:solidFill>
                    <a:srgbClr val="233141"/>
                  </a:solidFill>
                  <a:effectLst/>
                  <a:latin typeface="Roboto" panose="02000000000000000000" pitchFamily="2" charset="0"/>
                </a:rPr>
                <a:t>We could model the data with a linear regression</a:t>
              </a: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44</a:t>
            </a:fld>
            <a:endParaRPr lang="en-IN"/>
          </a:p>
        </p:txBody>
      </p:sp>
      <p:pic>
        <p:nvPicPr>
          <p:cNvPr id="11" name="Picture 10">
            <a:extLst>
              <a:ext uri="{FF2B5EF4-FFF2-40B4-BE49-F238E27FC236}">
                <a16:creationId xmlns:a16="http://schemas.microsoft.com/office/drawing/2014/main" id="{2DB3FB1F-DCCA-FC1E-AAA8-B2C99BB3C9B6}"/>
              </a:ext>
            </a:extLst>
          </p:cNvPr>
          <p:cNvPicPr>
            <a:picLocks noChangeAspect="1"/>
          </p:cNvPicPr>
          <p:nvPr/>
        </p:nvPicPr>
        <p:blipFill>
          <a:blip r:embed="rId4"/>
          <a:stretch>
            <a:fillRect/>
          </a:stretch>
        </p:blipFill>
        <p:spPr>
          <a:xfrm>
            <a:off x="638188" y="634220"/>
            <a:ext cx="5414564" cy="4078010"/>
          </a:xfrm>
          <a:prstGeom prst="rect">
            <a:avLst/>
          </a:prstGeom>
        </p:spPr>
      </p:pic>
    </p:spTree>
    <p:extLst>
      <p:ext uri="{BB962C8B-B14F-4D97-AF65-F5344CB8AC3E}">
        <p14:creationId xmlns:p14="http://schemas.microsoft.com/office/powerpoint/2010/main" val="40670050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3"/>
            <a:ext cx="12105504" cy="6672332"/>
            <a:chOff x="127862" y="1270374"/>
            <a:chExt cx="9296400" cy="944355"/>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32804"/>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r>
                <a:rPr lang="en-US" sz="2400" b="0" i="0" dirty="0">
                  <a:solidFill>
                    <a:srgbClr val="233141"/>
                  </a:solidFill>
                  <a:effectLst/>
                  <a:latin typeface="Roboto" panose="02000000000000000000" pitchFamily="2" charset="0"/>
                </a:rPr>
                <a:t>We could model the data with a linear regression</a:t>
              </a: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45</a:t>
            </a:fld>
            <a:endParaRPr lang="en-IN"/>
          </a:p>
        </p:txBody>
      </p:sp>
      <p:pic>
        <p:nvPicPr>
          <p:cNvPr id="11" name="Picture 10">
            <a:extLst>
              <a:ext uri="{FF2B5EF4-FFF2-40B4-BE49-F238E27FC236}">
                <a16:creationId xmlns:a16="http://schemas.microsoft.com/office/drawing/2014/main" id="{2DB3FB1F-DCCA-FC1E-AAA8-B2C99BB3C9B6}"/>
              </a:ext>
            </a:extLst>
          </p:cNvPr>
          <p:cNvPicPr>
            <a:picLocks noChangeAspect="1"/>
          </p:cNvPicPr>
          <p:nvPr/>
        </p:nvPicPr>
        <p:blipFill>
          <a:blip r:embed="rId4"/>
          <a:stretch>
            <a:fillRect/>
          </a:stretch>
        </p:blipFill>
        <p:spPr>
          <a:xfrm>
            <a:off x="638188" y="634220"/>
            <a:ext cx="5414564" cy="4078010"/>
          </a:xfrm>
          <a:prstGeom prst="rect">
            <a:avLst/>
          </a:prstGeom>
        </p:spPr>
      </p:pic>
      <p:pic>
        <p:nvPicPr>
          <p:cNvPr id="7" name="Picture 6">
            <a:extLst>
              <a:ext uri="{FF2B5EF4-FFF2-40B4-BE49-F238E27FC236}">
                <a16:creationId xmlns:a16="http://schemas.microsoft.com/office/drawing/2014/main" id="{A6252C4F-EE04-8A70-8968-87D26956BB9E}"/>
              </a:ext>
            </a:extLst>
          </p:cNvPr>
          <p:cNvPicPr>
            <a:picLocks noChangeAspect="1"/>
          </p:cNvPicPr>
          <p:nvPr/>
        </p:nvPicPr>
        <p:blipFill>
          <a:blip r:embed="rId5"/>
          <a:stretch>
            <a:fillRect/>
          </a:stretch>
        </p:blipFill>
        <p:spPr>
          <a:xfrm>
            <a:off x="6395978" y="1896373"/>
            <a:ext cx="4896533" cy="2953162"/>
          </a:xfrm>
          <a:prstGeom prst="rect">
            <a:avLst/>
          </a:prstGeom>
        </p:spPr>
      </p:pic>
    </p:spTree>
    <p:extLst>
      <p:ext uri="{BB962C8B-B14F-4D97-AF65-F5344CB8AC3E}">
        <p14:creationId xmlns:p14="http://schemas.microsoft.com/office/powerpoint/2010/main" val="39930928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3"/>
            <a:ext cx="12105504" cy="6672332"/>
            <a:chOff x="127862" y="1270374"/>
            <a:chExt cx="9296400" cy="944355"/>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932804"/>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r>
                <a:rPr lang="en-US" sz="2400" b="0" i="0" dirty="0">
                  <a:solidFill>
                    <a:srgbClr val="233141"/>
                  </a:solidFill>
                  <a:effectLst/>
                  <a:latin typeface="Roboto" panose="02000000000000000000" pitchFamily="2" charset="0"/>
                </a:rPr>
                <a:t>We could model the data with a linear regression</a:t>
              </a: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46</a:t>
            </a:fld>
            <a:endParaRPr lang="en-IN"/>
          </a:p>
        </p:txBody>
      </p:sp>
      <p:pic>
        <p:nvPicPr>
          <p:cNvPr id="11" name="Picture 10">
            <a:extLst>
              <a:ext uri="{FF2B5EF4-FFF2-40B4-BE49-F238E27FC236}">
                <a16:creationId xmlns:a16="http://schemas.microsoft.com/office/drawing/2014/main" id="{2DB3FB1F-DCCA-FC1E-AAA8-B2C99BB3C9B6}"/>
              </a:ext>
            </a:extLst>
          </p:cNvPr>
          <p:cNvPicPr>
            <a:picLocks noChangeAspect="1"/>
          </p:cNvPicPr>
          <p:nvPr/>
        </p:nvPicPr>
        <p:blipFill>
          <a:blip r:embed="rId4"/>
          <a:stretch>
            <a:fillRect/>
          </a:stretch>
        </p:blipFill>
        <p:spPr>
          <a:xfrm>
            <a:off x="638188" y="634220"/>
            <a:ext cx="5414564" cy="4078010"/>
          </a:xfrm>
          <a:prstGeom prst="rect">
            <a:avLst/>
          </a:prstGeom>
        </p:spPr>
      </p:pic>
      <p:pic>
        <p:nvPicPr>
          <p:cNvPr id="7" name="Picture 6">
            <a:extLst>
              <a:ext uri="{FF2B5EF4-FFF2-40B4-BE49-F238E27FC236}">
                <a16:creationId xmlns:a16="http://schemas.microsoft.com/office/drawing/2014/main" id="{A6252C4F-EE04-8A70-8968-87D26956BB9E}"/>
              </a:ext>
            </a:extLst>
          </p:cNvPr>
          <p:cNvPicPr>
            <a:picLocks noChangeAspect="1"/>
          </p:cNvPicPr>
          <p:nvPr/>
        </p:nvPicPr>
        <p:blipFill>
          <a:blip r:embed="rId5"/>
          <a:stretch>
            <a:fillRect/>
          </a:stretch>
        </p:blipFill>
        <p:spPr>
          <a:xfrm>
            <a:off x="6395978" y="1896373"/>
            <a:ext cx="4896533" cy="2953162"/>
          </a:xfrm>
          <a:prstGeom prst="rect">
            <a:avLst/>
          </a:prstGeom>
        </p:spPr>
      </p:pic>
      <p:sp>
        <p:nvSpPr>
          <p:cNvPr id="13" name="TextBox 12">
            <a:extLst>
              <a:ext uri="{FF2B5EF4-FFF2-40B4-BE49-F238E27FC236}">
                <a16:creationId xmlns:a16="http://schemas.microsoft.com/office/drawing/2014/main" id="{8745445B-EF97-1B05-5F39-9246BF331D4B}"/>
              </a:ext>
            </a:extLst>
          </p:cNvPr>
          <p:cNvSpPr txBox="1"/>
          <p:nvPr/>
        </p:nvSpPr>
        <p:spPr>
          <a:xfrm>
            <a:off x="3741872" y="5554807"/>
            <a:ext cx="8363632" cy="646331"/>
          </a:xfrm>
          <a:prstGeom prst="rect">
            <a:avLst/>
          </a:prstGeom>
          <a:noFill/>
        </p:spPr>
        <p:txBody>
          <a:bodyPr wrap="square">
            <a:spAutoFit/>
          </a:bodyPr>
          <a:lstStyle/>
          <a:p>
            <a:r>
              <a:rPr lang="en-US" b="0" i="0" dirty="0">
                <a:solidFill>
                  <a:srgbClr val="C00000"/>
                </a:solidFill>
                <a:effectLst/>
                <a:latin typeface="Roboto" panose="02000000000000000000" pitchFamily="2" charset="0"/>
              </a:rPr>
              <a:t>For a certain number of late payments (two in this example), it is unclear whether we should categorize them under non-defaulting or defaulting behavior</a:t>
            </a:r>
            <a:endParaRPr lang="en-US" dirty="0">
              <a:solidFill>
                <a:srgbClr val="C00000"/>
              </a:solidFill>
            </a:endParaRPr>
          </a:p>
        </p:txBody>
      </p:sp>
    </p:spTree>
    <p:extLst>
      <p:ext uri="{BB962C8B-B14F-4D97-AF65-F5344CB8AC3E}">
        <p14:creationId xmlns:p14="http://schemas.microsoft.com/office/powerpoint/2010/main" val="3138719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3"/>
            <a:ext cx="12105504" cy="5979172"/>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19168"/>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Sigmoid function</a:t>
              </a:r>
            </a:p>
            <a:p>
              <a:pPr marL="814705" lvl="1" indent="-357505" algn="just" fontAlgn="base">
                <a:lnSpc>
                  <a:spcPct val="150000"/>
                </a:lnSpc>
                <a:buFont typeface="Arial" panose="020B0604020202020204" pitchFamily="34" charset="0"/>
                <a:buChar char="•"/>
              </a:pPr>
              <a:r>
                <a:rPr lang="en-US" sz="2400" dirty="0"/>
                <a:t>The sigmoid function is a function that produces an s-shaped curve. </a:t>
              </a:r>
            </a:p>
            <a:p>
              <a:pPr marL="814705" lvl="1" indent="-357505" algn="just" fontAlgn="base">
                <a:lnSpc>
                  <a:spcPct val="150000"/>
                </a:lnSpc>
                <a:buFont typeface="Arial" panose="020B0604020202020204" pitchFamily="34" charset="0"/>
                <a:buChar char="•"/>
              </a:pPr>
              <a:r>
                <a:rPr lang="en-US" sz="2400" dirty="0"/>
                <a:t>It takes any real value as an argument and maps it to a range between 0 and 1 (exclusive). </a:t>
              </a:r>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47</a:t>
            </a:fld>
            <a:endParaRPr lang="en-IN"/>
          </a:p>
        </p:txBody>
      </p:sp>
      <p:pic>
        <p:nvPicPr>
          <p:cNvPr id="2050" name="Picture 2">
            <a:extLst>
              <a:ext uri="{FF2B5EF4-FFF2-40B4-BE49-F238E27FC236}">
                <a16:creationId xmlns:a16="http://schemas.microsoft.com/office/drawing/2014/main" id="{71E162EE-2303-A986-9BB3-6D180BD4B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5545" y="2714244"/>
            <a:ext cx="4379595" cy="3204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5662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3"/>
            <a:ext cx="12105504" cy="5979172"/>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19168"/>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Sigmoid function</a:t>
              </a:r>
            </a:p>
            <a:p>
              <a:pPr marL="814705" lvl="1" indent="-357505" algn="just" fontAlgn="base">
                <a:lnSpc>
                  <a:spcPct val="150000"/>
                </a:lnSpc>
                <a:buFont typeface="Arial" panose="020B0604020202020204" pitchFamily="34" charset="0"/>
                <a:buChar char="•"/>
              </a:pPr>
              <a:r>
                <a:rPr lang="en-US" sz="2400" dirty="0"/>
                <a:t>The sigmoid function is a function that produces an s-shaped curve. </a:t>
              </a:r>
            </a:p>
            <a:p>
              <a:pPr marL="814705" lvl="1" indent="-357505" algn="just" fontAlgn="base">
                <a:lnSpc>
                  <a:spcPct val="150000"/>
                </a:lnSpc>
                <a:buFont typeface="Arial" panose="020B0604020202020204" pitchFamily="34" charset="0"/>
                <a:buChar char="•"/>
              </a:pPr>
              <a:r>
                <a:rPr lang="en-US" sz="2400" dirty="0"/>
                <a:t>It takes any real value as an argument and maps it to a range between 0 and 1 (exclusive). </a:t>
              </a:r>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48</a:t>
            </a:fld>
            <a:endParaRPr lang="en-IN"/>
          </a:p>
        </p:txBody>
      </p:sp>
      <p:pic>
        <p:nvPicPr>
          <p:cNvPr id="2050" name="Picture 2">
            <a:extLst>
              <a:ext uri="{FF2B5EF4-FFF2-40B4-BE49-F238E27FC236}">
                <a16:creationId xmlns:a16="http://schemas.microsoft.com/office/drawing/2014/main" id="{71E162EE-2303-A986-9BB3-6D180BD4B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3949" y="2640579"/>
            <a:ext cx="4379595" cy="320402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8A526B6F-8FC0-6ADA-52CA-6E59CCE9E70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77934" y="4110546"/>
            <a:ext cx="3625501" cy="214684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F64D9DC-B17C-2962-9C1A-CF0090418AC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8708" y="2251931"/>
            <a:ext cx="3055808" cy="183454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6A121A1-40D5-6972-4551-D079CAE41DB5}"/>
              </a:ext>
            </a:extLst>
          </p:cNvPr>
          <p:cNvSpPr txBox="1"/>
          <p:nvPr/>
        </p:nvSpPr>
        <p:spPr>
          <a:xfrm>
            <a:off x="159485" y="5510995"/>
            <a:ext cx="4038600" cy="646331"/>
          </a:xfrm>
          <a:prstGeom prst="rect">
            <a:avLst/>
          </a:prstGeom>
          <a:noFill/>
        </p:spPr>
        <p:txBody>
          <a:bodyPr wrap="square">
            <a:spAutoFit/>
          </a:bodyPr>
          <a:lstStyle/>
          <a:p>
            <a:pPr algn="l"/>
            <a:r>
              <a:rPr lang="en-US" b="0" i="0" dirty="0">
                <a:effectLst/>
                <a:latin typeface="Roboto" panose="02000000000000000000" pitchFamily="2" charset="0"/>
              </a:rPr>
              <a:t>y = 0 if predicted probability &lt; 0.5</a:t>
            </a:r>
          </a:p>
          <a:p>
            <a:pPr algn="l"/>
            <a:r>
              <a:rPr lang="en-US" b="0" i="0" dirty="0">
                <a:effectLst/>
                <a:latin typeface="Roboto" panose="02000000000000000000" pitchFamily="2" charset="0"/>
              </a:rPr>
              <a:t>y = 1 if predicted probability &gt; 0.5</a:t>
            </a:r>
          </a:p>
        </p:txBody>
      </p:sp>
    </p:spTree>
    <p:extLst>
      <p:ext uri="{BB962C8B-B14F-4D97-AF65-F5344CB8AC3E}">
        <p14:creationId xmlns:p14="http://schemas.microsoft.com/office/powerpoint/2010/main" val="37107740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3"/>
            <a:ext cx="12105504" cy="5979172"/>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97577"/>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Initialization:</a:t>
              </a:r>
            </a:p>
            <a:p>
              <a:pPr marL="814705" lvl="1" indent="-357505" algn="just" fontAlgn="base">
                <a:lnSpc>
                  <a:spcPct val="150000"/>
                </a:lnSpc>
                <a:buFont typeface="Arial" panose="020B0604020202020204" pitchFamily="34" charset="0"/>
                <a:buChar char="•"/>
              </a:pPr>
              <a:r>
                <a:rPr lang="en-US" sz="2400" dirty="0"/>
                <a:t>Start with an initial guess of the model parameters 𝛽0,𝛽1,…,𝛽𝑛</a:t>
              </a:r>
            </a:p>
            <a:p>
              <a:pPr marL="357505" indent="-357505" algn="just" fontAlgn="base">
                <a:lnSpc>
                  <a:spcPct val="150000"/>
                </a:lnSpc>
                <a:buFont typeface="Arial" panose="020B0604020202020204" pitchFamily="34" charset="0"/>
                <a:buChar char="•"/>
              </a:pPr>
              <a:r>
                <a:rPr lang="en-US" sz="2400" dirty="0"/>
                <a:t>Hypothesis:</a:t>
              </a:r>
            </a:p>
            <a:p>
              <a:pPr marL="814705" lvl="1" indent="-357505" algn="just" fontAlgn="base">
                <a:lnSpc>
                  <a:spcPct val="150000"/>
                </a:lnSpc>
                <a:buFont typeface="Arial" panose="020B0604020202020204" pitchFamily="34" charset="0"/>
                <a:buChar char="•"/>
              </a:pPr>
              <a:r>
                <a:rPr lang="en-US" sz="2400" dirty="0"/>
                <a:t>Log-odds of the probability of an event (class 1) is a linear function of the input features. </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r>
                <a:rPr lang="en-US" sz="2400" dirty="0"/>
                <a:t>Cost Function (Log Loss):</a:t>
              </a:r>
            </a:p>
            <a:p>
              <a:pPr marL="814705" lvl="1" indent="-357505" algn="just" fontAlgn="base">
                <a:lnSpc>
                  <a:spcPct val="150000"/>
                </a:lnSpc>
                <a:buFont typeface="Arial" panose="020B0604020202020204" pitchFamily="34" charset="0"/>
                <a:buChar char="•"/>
              </a:pPr>
              <a:r>
                <a:rPr lang="en-US" sz="2400" dirty="0"/>
                <a:t>The cost function used in logistic regression is based on maximum likelihood estimation (MLE). </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49</a:t>
            </a:fld>
            <a:endParaRPr lang="en-IN"/>
          </a:p>
        </p:txBody>
      </p:sp>
      <p:pic>
        <p:nvPicPr>
          <p:cNvPr id="7" name="Picture 6">
            <a:extLst>
              <a:ext uri="{FF2B5EF4-FFF2-40B4-BE49-F238E27FC236}">
                <a16:creationId xmlns:a16="http://schemas.microsoft.com/office/drawing/2014/main" id="{D39A87B3-20F0-172E-48A3-E397D4A01EA5}"/>
              </a:ext>
            </a:extLst>
          </p:cNvPr>
          <p:cNvPicPr>
            <a:picLocks noChangeAspect="1"/>
          </p:cNvPicPr>
          <p:nvPr/>
        </p:nvPicPr>
        <p:blipFill>
          <a:blip r:embed="rId4"/>
          <a:stretch>
            <a:fillRect/>
          </a:stretch>
        </p:blipFill>
        <p:spPr>
          <a:xfrm>
            <a:off x="2410174" y="3041879"/>
            <a:ext cx="7039957" cy="847843"/>
          </a:xfrm>
          <a:prstGeom prst="rect">
            <a:avLst/>
          </a:prstGeom>
        </p:spPr>
      </p:pic>
      <p:pic>
        <p:nvPicPr>
          <p:cNvPr id="12" name="Picture 11">
            <a:extLst>
              <a:ext uri="{FF2B5EF4-FFF2-40B4-BE49-F238E27FC236}">
                <a16:creationId xmlns:a16="http://schemas.microsoft.com/office/drawing/2014/main" id="{7538B6D0-C620-7F63-D5DF-F53814129856}"/>
              </a:ext>
            </a:extLst>
          </p:cNvPr>
          <p:cNvPicPr>
            <a:picLocks noChangeAspect="1"/>
          </p:cNvPicPr>
          <p:nvPr/>
        </p:nvPicPr>
        <p:blipFill>
          <a:blip r:embed="rId5"/>
          <a:stretch>
            <a:fillRect/>
          </a:stretch>
        </p:blipFill>
        <p:spPr>
          <a:xfrm>
            <a:off x="2559780" y="5000820"/>
            <a:ext cx="7735380" cy="1200318"/>
          </a:xfrm>
          <a:prstGeom prst="rect">
            <a:avLst/>
          </a:prstGeom>
        </p:spPr>
      </p:pic>
    </p:spTree>
    <p:extLst>
      <p:ext uri="{BB962C8B-B14F-4D97-AF65-F5344CB8AC3E}">
        <p14:creationId xmlns:p14="http://schemas.microsoft.com/office/powerpoint/2010/main" val="10667036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4"/>
            <a:ext cx="12105504" cy="5979172"/>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89054"/>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US" sz="2400" dirty="0"/>
                <a:t>Gradient Descent:</a:t>
              </a:r>
            </a:p>
            <a:p>
              <a:pPr marL="814705" lvl="1" indent="-357505" algn="just" fontAlgn="base">
                <a:lnSpc>
                  <a:spcPct val="150000"/>
                </a:lnSpc>
                <a:buFont typeface="Arial" panose="020B0604020202020204" pitchFamily="34" charset="0"/>
                <a:buChar char="•"/>
              </a:pPr>
              <a:r>
                <a:rPr lang="en-US" sz="2000" dirty="0"/>
                <a:t>The parameters 𝛽0,𝛽1,…,𝛽𝑛 are updated using gradient descent to minimize the cost function. </a:t>
              </a:r>
            </a:p>
            <a:p>
              <a:pPr marL="814705" lvl="1" indent="-357505" algn="just" fontAlgn="base">
                <a:lnSpc>
                  <a:spcPct val="150000"/>
                </a:lnSpc>
                <a:buFont typeface="Arial" panose="020B0604020202020204" pitchFamily="34" charset="0"/>
                <a:buChar char="•"/>
              </a:pPr>
              <a:r>
                <a:rPr lang="en-US" sz="2000" dirty="0"/>
                <a:t>The updates are made iteratively as follows:</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endParaRPr lang="en-US" sz="2400" dirty="0"/>
            </a:p>
            <a:p>
              <a:pPr marL="357505" indent="-357505" algn="just" fontAlgn="base">
                <a:lnSpc>
                  <a:spcPct val="150000"/>
                </a:lnSpc>
                <a:buFont typeface="Arial" panose="020B0604020202020204" pitchFamily="34" charset="0"/>
                <a:buChar char="•"/>
              </a:pPr>
              <a:r>
                <a:rPr lang="en-US" sz="2400" dirty="0"/>
                <a:t>Model Prediction:</a:t>
              </a:r>
            </a:p>
            <a:p>
              <a:pPr marL="814705" lvl="1" indent="-357505" algn="just" fontAlgn="base">
                <a:lnSpc>
                  <a:spcPct val="150000"/>
                </a:lnSpc>
                <a:buFont typeface="Arial" panose="020B0604020202020204" pitchFamily="34" charset="0"/>
                <a:buChar char="•"/>
              </a:pPr>
              <a:r>
                <a:rPr lang="en-US" sz="2000" dirty="0"/>
                <a:t>After training, the model can make predictions for new inputs by calculating the probability 𝑃(𝑦=1∣𝑋). </a:t>
              </a:r>
            </a:p>
            <a:p>
              <a:pPr marL="814705" lvl="1" indent="-357505" algn="just" fontAlgn="base">
                <a:lnSpc>
                  <a:spcPct val="150000"/>
                </a:lnSpc>
                <a:buFont typeface="Arial" panose="020B0604020202020204" pitchFamily="34" charset="0"/>
                <a:buChar char="•"/>
              </a:pPr>
              <a:r>
                <a:rPr lang="en-US" sz="2000" dirty="0"/>
                <a:t>The final classification is made by applying a threshold (typically 0.5):</a:t>
              </a:r>
            </a:p>
            <a:p>
              <a:pPr marL="1271905" lvl="2" indent="-357505" algn="just" fontAlgn="base">
                <a:lnSpc>
                  <a:spcPct val="150000"/>
                </a:lnSpc>
                <a:buFont typeface="Arial" panose="020B0604020202020204" pitchFamily="34" charset="0"/>
                <a:buChar char="•"/>
              </a:pPr>
              <a:r>
                <a:rPr lang="en-US" sz="2000" dirty="0"/>
                <a:t>If 𝑃(𝑦=1∣𝑋)≥0.5 classify as class 1.</a:t>
              </a:r>
            </a:p>
            <a:p>
              <a:pPr marL="1271905" lvl="2" indent="-357505" algn="just" fontAlgn="base">
                <a:lnSpc>
                  <a:spcPct val="150000"/>
                </a:lnSpc>
                <a:buFont typeface="Arial" panose="020B0604020202020204" pitchFamily="34" charset="0"/>
                <a:buChar char="•"/>
              </a:pPr>
              <a:r>
                <a:rPr lang="en-US" sz="2000" dirty="0"/>
                <a:t>If 𝑃(𝑦=1∣𝑋)&lt;0.5, classify as class 0.</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50</a:t>
            </a:fld>
            <a:endParaRPr lang="en-IN"/>
          </a:p>
        </p:txBody>
      </p:sp>
      <p:pic>
        <p:nvPicPr>
          <p:cNvPr id="11" name="Picture 10">
            <a:extLst>
              <a:ext uri="{FF2B5EF4-FFF2-40B4-BE49-F238E27FC236}">
                <a16:creationId xmlns:a16="http://schemas.microsoft.com/office/drawing/2014/main" id="{96CC9280-3A8C-5A50-F1FF-7B05712711EB}"/>
              </a:ext>
            </a:extLst>
          </p:cNvPr>
          <p:cNvPicPr>
            <a:picLocks noChangeAspect="1"/>
          </p:cNvPicPr>
          <p:nvPr/>
        </p:nvPicPr>
        <p:blipFill>
          <a:blip r:embed="rId4"/>
          <a:stretch>
            <a:fillRect/>
          </a:stretch>
        </p:blipFill>
        <p:spPr>
          <a:xfrm>
            <a:off x="4629809" y="2169073"/>
            <a:ext cx="2600688" cy="885949"/>
          </a:xfrm>
          <a:prstGeom prst="rect">
            <a:avLst/>
          </a:prstGeom>
        </p:spPr>
      </p:pic>
      <p:pic>
        <p:nvPicPr>
          <p:cNvPr id="14" name="Picture 13">
            <a:extLst>
              <a:ext uri="{FF2B5EF4-FFF2-40B4-BE49-F238E27FC236}">
                <a16:creationId xmlns:a16="http://schemas.microsoft.com/office/drawing/2014/main" id="{2ECDDD27-7C6A-A95C-E940-560CE78AFF5F}"/>
              </a:ext>
            </a:extLst>
          </p:cNvPr>
          <p:cNvPicPr>
            <a:picLocks noChangeAspect="1"/>
          </p:cNvPicPr>
          <p:nvPr/>
        </p:nvPicPr>
        <p:blipFill>
          <a:blip r:embed="rId5"/>
          <a:stretch>
            <a:fillRect/>
          </a:stretch>
        </p:blipFill>
        <p:spPr>
          <a:xfrm>
            <a:off x="2163399" y="2950376"/>
            <a:ext cx="7173326" cy="914528"/>
          </a:xfrm>
          <a:prstGeom prst="rect">
            <a:avLst/>
          </a:prstGeom>
        </p:spPr>
      </p:pic>
    </p:spTree>
    <p:extLst>
      <p:ext uri="{BB962C8B-B14F-4D97-AF65-F5344CB8AC3E}">
        <p14:creationId xmlns:p14="http://schemas.microsoft.com/office/powerpoint/2010/main" val="4078938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3"/>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775985"/>
            </a:xfrm>
            <a:prstGeom prst="rect">
              <a:avLst/>
            </a:prstGeom>
          </p:spPr>
          <p:txBody>
            <a:bodyPr vert="horz" wrap="square" lIns="0" tIns="0" rIns="0" bIns="0" numCol="1" rtlCol="0">
              <a:spAutoFit/>
            </a:bodyPr>
            <a:lstStyle/>
            <a:p>
              <a:pPr marL="15875" indent="-357505" fontAlgn="base">
                <a:lnSpc>
                  <a:spcPct val="1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Performance Metrics</a:t>
              </a:r>
            </a:p>
            <a:p>
              <a:pPr marL="814705" lvl="1" indent="-357505" algn="just" fontAlgn="base">
                <a:lnSpc>
                  <a:spcPct val="150000"/>
                </a:lnSpc>
                <a:buFont typeface="Arial" panose="020B0604020202020204" pitchFamily="34" charset="0"/>
                <a:buChar char="•"/>
              </a:pPr>
              <a:r>
                <a:rPr lang="en-US" sz="2400" dirty="0"/>
                <a:t>Accuracy</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r>
                <a:rPr lang="en-US" sz="2400" dirty="0"/>
                <a:t>Precision</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r>
                <a:rPr lang="en-US" sz="2400" dirty="0"/>
                <a:t>Recall (Sensitivity)</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r>
                <a:rPr lang="en-US" sz="2400" dirty="0"/>
                <a:t>f1-score </a:t>
              </a:r>
            </a:p>
            <a:p>
              <a:pPr lvl="1" algn="just" fontAlgn="base">
                <a:lnSpc>
                  <a:spcPct val="15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51</a:t>
            </a:fld>
            <a:endParaRPr lang="en-IN"/>
          </a:p>
        </p:txBody>
      </p:sp>
      <p:pic>
        <p:nvPicPr>
          <p:cNvPr id="11" name="Picture 10">
            <a:extLst>
              <a:ext uri="{FF2B5EF4-FFF2-40B4-BE49-F238E27FC236}">
                <a16:creationId xmlns:a16="http://schemas.microsoft.com/office/drawing/2014/main" id="{95ED3F06-49DC-9297-A251-A0A874F52FE8}"/>
              </a:ext>
            </a:extLst>
          </p:cNvPr>
          <p:cNvPicPr>
            <a:picLocks noChangeAspect="1"/>
          </p:cNvPicPr>
          <p:nvPr/>
        </p:nvPicPr>
        <p:blipFill>
          <a:blip r:embed="rId4"/>
          <a:stretch>
            <a:fillRect/>
          </a:stretch>
        </p:blipFill>
        <p:spPr>
          <a:xfrm>
            <a:off x="2537720" y="1535697"/>
            <a:ext cx="4401164" cy="885949"/>
          </a:xfrm>
          <a:prstGeom prst="rect">
            <a:avLst/>
          </a:prstGeom>
        </p:spPr>
      </p:pic>
      <p:pic>
        <p:nvPicPr>
          <p:cNvPr id="13" name="Picture 12">
            <a:extLst>
              <a:ext uri="{FF2B5EF4-FFF2-40B4-BE49-F238E27FC236}">
                <a16:creationId xmlns:a16="http://schemas.microsoft.com/office/drawing/2014/main" id="{EFA08E41-1E3E-BA6F-EF26-CE048D3216A5}"/>
              </a:ext>
            </a:extLst>
          </p:cNvPr>
          <p:cNvPicPr>
            <a:picLocks noChangeAspect="1"/>
          </p:cNvPicPr>
          <p:nvPr/>
        </p:nvPicPr>
        <p:blipFill>
          <a:blip r:embed="rId5"/>
          <a:stretch>
            <a:fillRect/>
          </a:stretch>
        </p:blipFill>
        <p:spPr>
          <a:xfrm>
            <a:off x="2537720" y="2679237"/>
            <a:ext cx="2791215" cy="819264"/>
          </a:xfrm>
          <a:prstGeom prst="rect">
            <a:avLst/>
          </a:prstGeom>
        </p:spPr>
      </p:pic>
      <p:pic>
        <p:nvPicPr>
          <p:cNvPr id="15" name="Picture 14">
            <a:extLst>
              <a:ext uri="{FF2B5EF4-FFF2-40B4-BE49-F238E27FC236}">
                <a16:creationId xmlns:a16="http://schemas.microsoft.com/office/drawing/2014/main" id="{B38E369D-6AB5-76C8-48DB-2996A20C06BE}"/>
              </a:ext>
            </a:extLst>
          </p:cNvPr>
          <p:cNvPicPr>
            <a:picLocks noChangeAspect="1"/>
          </p:cNvPicPr>
          <p:nvPr/>
        </p:nvPicPr>
        <p:blipFill>
          <a:blip r:embed="rId6"/>
          <a:stretch>
            <a:fillRect/>
          </a:stretch>
        </p:blipFill>
        <p:spPr>
          <a:xfrm>
            <a:off x="2537720" y="3921763"/>
            <a:ext cx="2505425" cy="847843"/>
          </a:xfrm>
          <a:prstGeom prst="rect">
            <a:avLst/>
          </a:prstGeom>
        </p:spPr>
      </p:pic>
      <p:pic>
        <p:nvPicPr>
          <p:cNvPr id="17" name="Picture 16">
            <a:extLst>
              <a:ext uri="{FF2B5EF4-FFF2-40B4-BE49-F238E27FC236}">
                <a16:creationId xmlns:a16="http://schemas.microsoft.com/office/drawing/2014/main" id="{CDD4F965-0D25-EA3D-577B-37A959B992B7}"/>
              </a:ext>
            </a:extLst>
          </p:cNvPr>
          <p:cNvPicPr>
            <a:picLocks noChangeAspect="1"/>
          </p:cNvPicPr>
          <p:nvPr/>
        </p:nvPicPr>
        <p:blipFill>
          <a:blip r:embed="rId7"/>
          <a:stretch>
            <a:fillRect/>
          </a:stretch>
        </p:blipFill>
        <p:spPr>
          <a:xfrm>
            <a:off x="2537720" y="5018901"/>
            <a:ext cx="4191585" cy="781159"/>
          </a:xfrm>
          <a:prstGeom prst="rect">
            <a:avLst/>
          </a:prstGeom>
        </p:spPr>
      </p:pic>
    </p:spTree>
    <p:extLst>
      <p:ext uri="{BB962C8B-B14F-4D97-AF65-F5344CB8AC3E}">
        <p14:creationId xmlns:p14="http://schemas.microsoft.com/office/powerpoint/2010/main" val="42327229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5"/>
            <a:ext cx="12105504" cy="5979173"/>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97577"/>
            </a:xfrm>
            <a:prstGeom prst="rect">
              <a:avLst/>
            </a:prstGeom>
          </p:spPr>
          <p:txBody>
            <a:bodyPr vert="horz" wrap="square" lIns="0" tIns="0" rIns="0" bIns="0" numCol="1" rtlCol="0">
              <a:spAutoFit/>
            </a:bodyPr>
            <a:lstStyle/>
            <a:p>
              <a:pPr marL="15875" indent="-357505" fontAlgn="base">
                <a:lnSpc>
                  <a:spcPct val="150000"/>
                </a:lnSpc>
                <a:buFont typeface="Arial" panose="020B0604020202020204" pitchFamily="34" charset="0"/>
                <a:buChar char="•"/>
              </a:pPr>
              <a:r>
                <a:rPr lang="en-US" sz="2565" b="1" spc="13" dirty="0">
                  <a:solidFill>
                    <a:srgbClr val="0070C0"/>
                  </a:solidFill>
                  <a:latin typeface="Arial" panose="020B0604020202020204"/>
                  <a:cs typeface="Arial" panose="020B0604020202020204"/>
                </a:rPr>
                <a:t>Performance Metrics</a:t>
              </a:r>
            </a:p>
            <a:p>
              <a:pPr marL="814705" lvl="1" indent="-357505" algn="just" fontAlgn="base">
                <a:lnSpc>
                  <a:spcPct val="150000"/>
                </a:lnSpc>
                <a:buFont typeface="Arial" panose="020B0604020202020204" pitchFamily="34" charset="0"/>
                <a:buChar char="•"/>
              </a:pPr>
              <a:r>
                <a:rPr lang="en-US" sz="2400" dirty="0"/>
                <a:t>Accuracy</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r>
                <a:rPr lang="en-US" sz="2400" dirty="0"/>
                <a:t>Precision</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r>
                <a:rPr lang="en-US" sz="2400" dirty="0"/>
                <a:t>Recall (Sensitivity)</a:t>
              </a:r>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endParaRPr lang="en-US" sz="2400" dirty="0"/>
            </a:p>
            <a:p>
              <a:pPr marL="814705" lvl="1" indent="-357505" algn="just" fontAlgn="base">
                <a:lnSpc>
                  <a:spcPct val="150000"/>
                </a:lnSpc>
                <a:buFont typeface="Arial" panose="020B0604020202020204" pitchFamily="34" charset="0"/>
                <a:buChar char="•"/>
              </a:pPr>
              <a:r>
                <a:rPr lang="en-US" sz="2400" dirty="0"/>
                <a:t>f1-score </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52</a:t>
            </a:fld>
            <a:endParaRPr lang="en-IN"/>
          </a:p>
        </p:txBody>
      </p:sp>
      <p:pic>
        <p:nvPicPr>
          <p:cNvPr id="11" name="Picture 10">
            <a:extLst>
              <a:ext uri="{FF2B5EF4-FFF2-40B4-BE49-F238E27FC236}">
                <a16:creationId xmlns:a16="http://schemas.microsoft.com/office/drawing/2014/main" id="{95ED3F06-49DC-9297-A251-A0A874F52FE8}"/>
              </a:ext>
            </a:extLst>
          </p:cNvPr>
          <p:cNvPicPr>
            <a:picLocks noChangeAspect="1"/>
          </p:cNvPicPr>
          <p:nvPr/>
        </p:nvPicPr>
        <p:blipFill>
          <a:blip r:embed="rId4"/>
          <a:stretch>
            <a:fillRect/>
          </a:stretch>
        </p:blipFill>
        <p:spPr>
          <a:xfrm>
            <a:off x="2537720" y="1535697"/>
            <a:ext cx="4401164" cy="885949"/>
          </a:xfrm>
          <a:prstGeom prst="rect">
            <a:avLst/>
          </a:prstGeom>
        </p:spPr>
      </p:pic>
      <p:pic>
        <p:nvPicPr>
          <p:cNvPr id="13" name="Picture 12">
            <a:extLst>
              <a:ext uri="{FF2B5EF4-FFF2-40B4-BE49-F238E27FC236}">
                <a16:creationId xmlns:a16="http://schemas.microsoft.com/office/drawing/2014/main" id="{EFA08E41-1E3E-BA6F-EF26-CE048D3216A5}"/>
              </a:ext>
            </a:extLst>
          </p:cNvPr>
          <p:cNvPicPr>
            <a:picLocks noChangeAspect="1"/>
          </p:cNvPicPr>
          <p:nvPr/>
        </p:nvPicPr>
        <p:blipFill>
          <a:blip r:embed="rId5"/>
          <a:stretch>
            <a:fillRect/>
          </a:stretch>
        </p:blipFill>
        <p:spPr>
          <a:xfrm>
            <a:off x="2537720" y="2679237"/>
            <a:ext cx="2791215" cy="819264"/>
          </a:xfrm>
          <a:prstGeom prst="rect">
            <a:avLst/>
          </a:prstGeom>
        </p:spPr>
      </p:pic>
      <p:pic>
        <p:nvPicPr>
          <p:cNvPr id="15" name="Picture 14">
            <a:extLst>
              <a:ext uri="{FF2B5EF4-FFF2-40B4-BE49-F238E27FC236}">
                <a16:creationId xmlns:a16="http://schemas.microsoft.com/office/drawing/2014/main" id="{B38E369D-6AB5-76C8-48DB-2996A20C06BE}"/>
              </a:ext>
            </a:extLst>
          </p:cNvPr>
          <p:cNvPicPr>
            <a:picLocks noChangeAspect="1"/>
          </p:cNvPicPr>
          <p:nvPr/>
        </p:nvPicPr>
        <p:blipFill>
          <a:blip r:embed="rId6"/>
          <a:stretch>
            <a:fillRect/>
          </a:stretch>
        </p:blipFill>
        <p:spPr>
          <a:xfrm>
            <a:off x="2537720" y="3921763"/>
            <a:ext cx="2505425" cy="847843"/>
          </a:xfrm>
          <a:prstGeom prst="rect">
            <a:avLst/>
          </a:prstGeom>
        </p:spPr>
      </p:pic>
      <p:pic>
        <p:nvPicPr>
          <p:cNvPr id="17" name="Picture 16">
            <a:extLst>
              <a:ext uri="{FF2B5EF4-FFF2-40B4-BE49-F238E27FC236}">
                <a16:creationId xmlns:a16="http://schemas.microsoft.com/office/drawing/2014/main" id="{CDD4F965-0D25-EA3D-577B-37A959B992B7}"/>
              </a:ext>
            </a:extLst>
          </p:cNvPr>
          <p:cNvPicPr>
            <a:picLocks noChangeAspect="1"/>
          </p:cNvPicPr>
          <p:nvPr/>
        </p:nvPicPr>
        <p:blipFill>
          <a:blip r:embed="rId7"/>
          <a:stretch>
            <a:fillRect/>
          </a:stretch>
        </p:blipFill>
        <p:spPr>
          <a:xfrm>
            <a:off x="2537720" y="5018901"/>
            <a:ext cx="4191585" cy="781159"/>
          </a:xfrm>
          <a:prstGeom prst="rect">
            <a:avLst/>
          </a:prstGeom>
        </p:spPr>
      </p:pic>
      <p:sp>
        <p:nvSpPr>
          <p:cNvPr id="20" name="TextBox 19">
            <a:extLst>
              <a:ext uri="{FF2B5EF4-FFF2-40B4-BE49-F238E27FC236}">
                <a16:creationId xmlns:a16="http://schemas.microsoft.com/office/drawing/2014/main" id="{106FDEA0-AB84-8693-A429-D7E2B8967296}"/>
              </a:ext>
            </a:extLst>
          </p:cNvPr>
          <p:cNvSpPr txBox="1"/>
          <p:nvPr/>
        </p:nvSpPr>
        <p:spPr>
          <a:xfrm>
            <a:off x="6959613" y="1260667"/>
            <a:ext cx="5079043" cy="34609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t>ROC-AUC Score: </a:t>
            </a:r>
            <a:r>
              <a:rPr lang="en-US" sz="2000" dirty="0"/>
              <a:t>The area under the Receiver Operating Characteristic curve. It measures the model’s ability to distinguish between classes.</a:t>
            </a:r>
          </a:p>
          <a:p>
            <a:pPr marL="285750" indent="-285750">
              <a:lnSpc>
                <a:spcPct val="150000"/>
              </a:lnSpc>
              <a:buFont typeface="Arial" panose="020B0604020202020204" pitchFamily="34" charset="0"/>
              <a:buChar char="•"/>
            </a:pPr>
            <a:r>
              <a:rPr lang="en-US" sz="2400" dirty="0"/>
              <a:t>Confusion Matrix: </a:t>
            </a:r>
            <a:r>
              <a:rPr lang="en-US" sz="2000" dirty="0"/>
              <a:t>A table that shows the counts of true positives, true negatives, false positives, and false negatives.</a:t>
            </a:r>
          </a:p>
        </p:txBody>
      </p:sp>
    </p:spTree>
    <p:extLst>
      <p:ext uri="{BB962C8B-B14F-4D97-AF65-F5344CB8AC3E}">
        <p14:creationId xmlns:p14="http://schemas.microsoft.com/office/powerpoint/2010/main" val="8456237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Multi class classification </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600616"/>
            <a:ext cx="12105504" cy="5979174"/>
            <a:chOff x="127862" y="1270374"/>
            <a:chExt cx="9296400" cy="846250"/>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97576"/>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Logistic regression is used for binary classification, it can be extended to handle multi-class classification problems. </a:t>
              </a:r>
            </a:p>
            <a:p>
              <a:pPr marL="357505" indent="-357505" algn="just" fontAlgn="base">
                <a:lnSpc>
                  <a:spcPct val="200000"/>
                </a:lnSpc>
                <a:buFont typeface="Arial" panose="020B0604020202020204" pitchFamily="34" charset="0"/>
                <a:buChar char="•"/>
              </a:pPr>
              <a:r>
                <a:rPr lang="en-US" sz="2400" dirty="0"/>
                <a:t>In the case of multi-class classification, the goal is to assign an observation to one of three or more classes. </a:t>
              </a:r>
            </a:p>
            <a:p>
              <a:pPr marL="357505" indent="-357505" algn="just" fontAlgn="base">
                <a:lnSpc>
                  <a:spcPct val="200000"/>
                </a:lnSpc>
                <a:buFont typeface="Arial" panose="020B0604020202020204" pitchFamily="34" charset="0"/>
                <a:buChar char="•"/>
              </a:pPr>
              <a:r>
                <a:rPr lang="en-US" sz="2400" dirty="0"/>
                <a:t>This is achieved using techniques such as One-vs-Rest (</a:t>
              </a:r>
              <a:r>
                <a:rPr lang="en-US" sz="2400" dirty="0" err="1"/>
                <a:t>OvR</a:t>
              </a:r>
              <a:r>
                <a:rPr lang="en-US" sz="2400" dirty="0"/>
                <a:t>) or </a:t>
              </a:r>
              <a:r>
                <a:rPr lang="en-US" sz="2400" dirty="0" err="1"/>
                <a:t>Softmax</a:t>
              </a:r>
              <a:r>
                <a:rPr lang="en-US" sz="2400" dirty="0"/>
                <a:t> (Multinomial Logistic Regression)</a:t>
              </a:r>
            </a:p>
            <a:p>
              <a:pPr lvl="5" algn="just" fontAlgn="base">
                <a:lnSpc>
                  <a:spcPct val="15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53</a:t>
            </a:fld>
            <a:endParaRPr lang="en-IN"/>
          </a:p>
        </p:txBody>
      </p:sp>
    </p:spTree>
    <p:extLst>
      <p:ext uri="{BB962C8B-B14F-4D97-AF65-F5344CB8AC3E}">
        <p14:creationId xmlns:p14="http://schemas.microsoft.com/office/powerpoint/2010/main" val="31061470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Multi class classification </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88141"/>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82172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One-vs-Rest (</a:t>
              </a:r>
              <a:r>
                <a:rPr lang="en-US" sz="2400" dirty="0" err="1"/>
                <a:t>OvR</a:t>
              </a:r>
              <a:r>
                <a:rPr lang="en-US" sz="2400" dirty="0"/>
                <a:t>) / One-vs-All (</a:t>
              </a:r>
              <a:r>
                <a:rPr lang="en-US" sz="2400" dirty="0" err="1"/>
                <a:t>OvA</a:t>
              </a:r>
              <a:r>
                <a:rPr lang="en-US" sz="2400" dirty="0"/>
                <a:t>)</a:t>
              </a:r>
            </a:p>
            <a:p>
              <a:pPr marL="814705" lvl="1" indent="-357505" algn="just" fontAlgn="base">
                <a:lnSpc>
                  <a:spcPct val="200000"/>
                </a:lnSpc>
                <a:buFont typeface="Arial" panose="020B0604020202020204" pitchFamily="34" charset="0"/>
                <a:buChar char="•"/>
              </a:pPr>
              <a:r>
                <a:rPr lang="en-US" sz="2400" dirty="0"/>
                <a:t>In this approach, the multi-class classification problem is converted into multiple binary classification problems.</a:t>
              </a:r>
            </a:p>
            <a:p>
              <a:pPr marL="814705" lvl="1" indent="-357505" algn="just" fontAlgn="base">
                <a:lnSpc>
                  <a:spcPct val="200000"/>
                </a:lnSpc>
                <a:buFont typeface="Arial" panose="020B0604020202020204" pitchFamily="34" charset="0"/>
                <a:buChar char="•"/>
              </a:pPr>
              <a:r>
                <a:rPr lang="en-US" sz="2400" dirty="0"/>
                <a:t>For K classes, you create K separate binary classifiers, one for each class. </a:t>
              </a:r>
            </a:p>
            <a:p>
              <a:pPr marL="814705" lvl="1" indent="-357505" algn="just" fontAlgn="base">
                <a:lnSpc>
                  <a:spcPct val="200000"/>
                </a:lnSpc>
                <a:buFont typeface="Arial" panose="020B0604020202020204" pitchFamily="34" charset="0"/>
                <a:buChar char="•"/>
              </a:pPr>
              <a:r>
                <a:rPr lang="en-US" sz="2400" dirty="0"/>
                <a:t>Each classifier is trained to distinguish one class (positive) from all other classes (negative).</a:t>
              </a:r>
            </a:p>
            <a:p>
              <a:pPr marL="814705" lvl="1" indent="-357505" algn="just" fontAlgn="base">
                <a:lnSpc>
                  <a:spcPct val="200000"/>
                </a:lnSpc>
                <a:buFont typeface="Arial" panose="020B0604020202020204" pitchFamily="34" charset="0"/>
                <a:buChar char="•"/>
              </a:pPr>
              <a:r>
                <a:rPr lang="en-US" sz="2400" dirty="0"/>
                <a:t>During prediction, all classifiers are evaluated, and the one with the highest confidence (probability) is chosen as the final prediction.</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54</a:t>
            </a:fld>
            <a:endParaRPr lang="en-IN"/>
          </a:p>
        </p:txBody>
      </p:sp>
    </p:spTree>
    <p:extLst>
      <p:ext uri="{BB962C8B-B14F-4D97-AF65-F5344CB8AC3E}">
        <p14:creationId xmlns:p14="http://schemas.microsoft.com/office/powerpoint/2010/main" val="3906114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Multi class classification </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8814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82172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One-vs-Rest (</a:t>
              </a:r>
              <a:r>
                <a:rPr lang="en-US" sz="2400" dirty="0" err="1"/>
                <a:t>OvR</a:t>
              </a:r>
              <a:r>
                <a:rPr lang="en-US" sz="2400" dirty="0"/>
                <a:t>) / One-vs-All (</a:t>
              </a:r>
              <a:r>
                <a:rPr lang="en-US" sz="2400" dirty="0" err="1"/>
                <a:t>OvA</a:t>
              </a:r>
              <a:r>
                <a:rPr lang="en-US" sz="2400" dirty="0"/>
                <a:t>)</a:t>
              </a:r>
            </a:p>
            <a:p>
              <a:pPr marL="814705" lvl="1" indent="-357505" algn="just" fontAlgn="base">
                <a:lnSpc>
                  <a:spcPct val="200000"/>
                </a:lnSpc>
                <a:buFont typeface="Arial" panose="020B0604020202020204" pitchFamily="34" charset="0"/>
                <a:buChar char="•"/>
              </a:pPr>
              <a:r>
                <a:rPr lang="en-US" sz="2400" dirty="0"/>
                <a:t>In a multiclass classification task, you have more than two classes to predict. </a:t>
              </a:r>
            </a:p>
            <a:p>
              <a:pPr marL="814705" lvl="1" indent="-357505" algn="just" fontAlgn="base">
                <a:lnSpc>
                  <a:spcPct val="200000"/>
                </a:lnSpc>
                <a:buFont typeface="Arial" panose="020B0604020202020204" pitchFamily="34" charset="0"/>
                <a:buChar char="•"/>
              </a:pPr>
              <a:r>
                <a:rPr lang="en-US" sz="2400" dirty="0"/>
                <a:t>For example, consider a problem where you need to classify iris flowers into three classes: </a:t>
              </a:r>
              <a:r>
                <a:rPr lang="en-US" sz="2400" dirty="0" err="1"/>
                <a:t>Setosa</a:t>
              </a:r>
              <a:r>
                <a:rPr lang="en-US" sz="2400" dirty="0"/>
                <a:t>, Versicolor, and Virginica.</a:t>
              </a:r>
            </a:p>
            <a:p>
              <a:pPr marL="814705" lvl="1" indent="-357505" algn="just" fontAlgn="base">
                <a:lnSpc>
                  <a:spcPct val="200000"/>
                </a:lnSpc>
                <a:buFont typeface="Arial" panose="020B0604020202020204" pitchFamily="34" charset="0"/>
                <a:buChar char="•"/>
              </a:pPr>
              <a:r>
                <a:rPr lang="en-US" sz="2400" dirty="0"/>
                <a:t>For each class, you create a separate binary classifier. </a:t>
              </a:r>
            </a:p>
            <a:p>
              <a:pPr marL="814705" lvl="1" indent="-357505" algn="just" fontAlgn="base">
                <a:lnSpc>
                  <a:spcPct val="200000"/>
                </a:lnSpc>
                <a:buFont typeface="Arial" panose="020B0604020202020204" pitchFamily="34" charset="0"/>
                <a:buChar char="•"/>
              </a:pPr>
              <a:r>
                <a:rPr lang="en-US" sz="2400" dirty="0"/>
                <a:t>This means that if you have 𝐶 classes, you will build 𝐶 binary classifiers.</a:t>
              </a:r>
            </a:p>
            <a:p>
              <a:pPr marL="814705" lvl="1" indent="-357505" algn="just" fontAlgn="base">
                <a:lnSpc>
                  <a:spcPct val="200000"/>
                </a:lnSpc>
                <a:buFont typeface="Arial" panose="020B0604020202020204" pitchFamily="34" charset="0"/>
                <a:buChar char="•"/>
              </a:pPr>
              <a:r>
                <a:rPr lang="en-US" sz="2400" dirty="0"/>
                <a:t>Each classifier is trained to distinguish between one class (the positive class) and all the other classes combined (the negative class).</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55</a:t>
            </a:fld>
            <a:endParaRPr lang="en-IN"/>
          </a:p>
        </p:txBody>
      </p:sp>
    </p:spTree>
    <p:extLst>
      <p:ext uri="{BB962C8B-B14F-4D97-AF65-F5344CB8AC3E}">
        <p14:creationId xmlns:p14="http://schemas.microsoft.com/office/powerpoint/2010/main" val="20940867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Multi class classification </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8814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689127"/>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One-vs-Rest (</a:t>
              </a:r>
              <a:r>
                <a:rPr lang="en-US" sz="2400" dirty="0" err="1"/>
                <a:t>OvR</a:t>
              </a:r>
              <a:r>
                <a:rPr lang="en-US" sz="2400" dirty="0"/>
                <a:t>) / One-vs-All (</a:t>
              </a:r>
              <a:r>
                <a:rPr lang="en-US" sz="2400" dirty="0" err="1"/>
                <a:t>OvA</a:t>
              </a:r>
              <a:r>
                <a:rPr lang="en-US" sz="2400" dirty="0"/>
                <a:t>)</a:t>
              </a:r>
            </a:p>
            <a:p>
              <a:pPr marL="814705" lvl="1" indent="-357505" algn="just" fontAlgn="base">
                <a:lnSpc>
                  <a:spcPct val="150000"/>
                </a:lnSpc>
                <a:buFont typeface="Arial" panose="020B0604020202020204" pitchFamily="34" charset="0"/>
                <a:buChar char="•"/>
              </a:pPr>
              <a:r>
                <a:rPr lang="en-US" sz="2400" dirty="0"/>
                <a:t>For each class 𝑐</a:t>
              </a:r>
              <a:r>
                <a:rPr lang="en-US" sz="2400" baseline="-25000" dirty="0"/>
                <a:t>𝑖</a:t>
              </a:r>
              <a:r>
                <a:rPr lang="en-US" sz="2400" dirty="0"/>
                <a:t>​ </a:t>
              </a:r>
            </a:p>
            <a:p>
              <a:pPr marL="1271905" lvl="2" indent="-357505" algn="just" fontAlgn="base">
                <a:lnSpc>
                  <a:spcPct val="150000"/>
                </a:lnSpc>
                <a:buFont typeface="Arial" panose="020B0604020202020204" pitchFamily="34" charset="0"/>
                <a:buChar char="•"/>
              </a:pPr>
              <a:r>
                <a:rPr lang="en-US" sz="2400" dirty="0"/>
                <a:t>The data points of class 𝑐</a:t>
              </a:r>
              <a:r>
                <a:rPr lang="en-US" sz="2400" baseline="-25000" dirty="0"/>
                <a:t>𝑖</a:t>
              </a:r>
              <a:r>
                <a:rPr lang="en-US" sz="2400" dirty="0"/>
                <a:t>​ are treated as positive examples.</a:t>
              </a:r>
            </a:p>
            <a:p>
              <a:pPr marL="1271905" lvl="2" indent="-357505" algn="just" fontAlgn="base">
                <a:lnSpc>
                  <a:spcPct val="150000"/>
                </a:lnSpc>
                <a:buFont typeface="Arial" panose="020B0604020202020204" pitchFamily="34" charset="0"/>
                <a:buChar char="•"/>
              </a:pPr>
              <a:r>
                <a:rPr lang="en-US" sz="2400" dirty="0"/>
                <a:t>All other class data points are treated as negative examples.</a:t>
              </a:r>
            </a:p>
            <a:p>
              <a:pPr marL="1271905" lvl="2" indent="-357505" algn="just" fontAlgn="base">
                <a:lnSpc>
                  <a:spcPct val="150000"/>
                </a:lnSpc>
                <a:buFont typeface="Arial" panose="020B0604020202020204" pitchFamily="34" charset="0"/>
                <a:buChar char="•"/>
              </a:pPr>
              <a:r>
                <a:rPr lang="en-US" sz="2400" dirty="0"/>
                <a:t>Train a binary classifier using these positive and negative examples.</a:t>
              </a:r>
            </a:p>
            <a:p>
              <a:pPr lvl="3" algn="just" fontAlgn="base">
                <a:lnSpc>
                  <a:spcPct val="150000"/>
                </a:lnSpc>
              </a:pPr>
              <a:r>
                <a:rPr lang="en-US" sz="2000" dirty="0"/>
                <a:t>For example, if you have three classes</a:t>
              </a:r>
            </a:p>
            <a:p>
              <a:pPr marL="1729105" lvl="3" indent="-357505" algn="just" fontAlgn="base">
                <a:lnSpc>
                  <a:spcPct val="150000"/>
                </a:lnSpc>
                <a:buFont typeface="Arial" panose="020B0604020202020204" pitchFamily="34" charset="0"/>
                <a:buChar char="•"/>
              </a:pPr>
              <a:r>
                <a:rPr lang="en-US" sz="2000" dirty="0"/>
                <a:t>Classifier 1 (for </a:t>
              </a:r>
              <a:r>
                <a:rPr lang="en-US" sz="2000" dirty="0" err="1"/>
                <a:t>Setosa</a:t>
              </a:r>
              <a:r>
                <a:rPr lang="en-US" sz="2000" dirty="0"/>
                <a:t>): Positive = </a:t>
              </a:r>
              <a:r>
                <a:rPr lang="en-US" sz="2000" dirty="0" err="1"/>
                <a:t>Setosa</a:t>
              </a:r>
              <a:r>
                <a:rPr lang="en-US" sz="2000" dirty="0"/>
                <a:t>, Negative = Versicolor + Virginica</a:t>
              </a:r>
            </a:p>
            <a:p>
              <a:pPr marL="1729105" lvl="3" indent="-357505" algn="just" fontAlgn="base">
                <a:lnSpc>
                  <a:spcPct val="150000"/>
                </a:lnSpc>
                <a:buFont typeface="Arial" panose="020B0604020202020204" pitchFamily="34" charset="0"/>
                <a:buChar char="•"/>
              </a:pPr>
              <a:r>
                <a:rPr lang="en-US" sz="2000" dirty="0"/>
                <a:t>Classifier 2 (for Versicolor): Positive = Versicolor, Negative = </a:t>
              </a:r>
              <a:r>
                <a:rPr lang="en-US" sz="2000" dirty="0" err="1"/>
                <a:t>Setosa</a:t>
              </a:r>
              <a:r>
                <a:rPr lang="en-US" sz="2000" dirty="0"/>
                <a:t> + Virginica</a:t>
              </a:r>
            </a:p>
            <a:p>
              <a:pPr marL="1729105" lvl="3" indent="-357505" algn="just" fontAlgn="base">
                <a:lnSpc>
                  <a:spcPct val="200000"/>
                </a:lnSpc>
                <a:buFont typeface="Arial" panose="020B0604020202020204" pitchFamily="34" charset="0"/>
                <a:buChar char="•"/>
              </a:pPr>
              <a:r>
                <a:rPr lang="en-US" sz="2000" dirty="0"/>
                <a:t>Classifier 3 (for Virginica): Positive = Virginica, Negative = </a:t>
              </a:r>
              <a:r>
                <a:rPr lang="en-US" sz="2000" dirty="0" err="1"/>
                <a:t>Setosa</a:t>
              </a:r>
              <a:r>
                <a:rPr lang="en-US" sz="2000" dirty="0"/>
                <a:t> + Versicolor</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56</a:t>
            </a:fld>
            <a:endParaRPr lang="en-IN"/>
          </a:p>
        </p:txBody>
      </p:sp>
    </p:spTree>
    <p:extLst>
      <p:ext uri="{BB962C8B-B14F-4D97-AF65-F5344CB8AC3E}">
        <p14:creationId xmlns:p14="http://schemas.microsoft.com/office/powerpoint/2010/main" val="34378153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Multi class classification </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8814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43995"/>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One-vs-Rest (</a:t>
              </a:r>
              <a:r>
                <a:rPr lang="en-US" sz="2400" dirty="0" err="1"/>
                <a:t>OvR</a:t>
              </a:r>
              <a:r>
                <a:rPr lang="en-US" sz="2400" dirty="0"/>
                <a:t>) / One-vs-All (</a:t>
              </a:r>
              <a:r>
                <a:rPr lang="en-US" sz="2400" dirty="0" err="1"/>
                <a:t>OvA</a:t>
              </a:r>
              <a:r>
                <a:rPr lang="en-US" sz="2400" dirty="0"/>
                <a:t>)</a:t>
              </a:r>
            </a:p>
            <a:p>
              <a:pPr marL="814705" lvl="1" indent="-357505" algn="just" fontAlgn="base">
                <a:lnSpc>
                  <a:spcPct val="150000"/>
                </a:lnSpc>
                <a:buFont typeface="Arial" panose="020B0604020202020204" pitchFamily="34" charset="0"/>
                <a:buChar char="•"/>
              </a:pPr>
              <a:r>
                <a:rPr lang="en-US" sz="2200" dirty="0"/>
                <a:t>To make a prediction for a new sample, each of the trained binary classifiers will output a score or a probability indicating how likely it is that the sample belongs to the corresponding class.</a:t>
              </a:r>
            </a:p>
            <a:p>
              <a:pPr marL="814705" lvl="1" indent="-357505" algn="just" fontAlgn="base">
                <a:lnSpc>
                  <a:spcPct val="150000"/>
                </a:lnSpc>
                <a:buFont typeface="Arial" panose="020B0604020202020204" pitchFamily="34" charset="0"/>
                <a:buChar char="•"/>
              </a:pPr>
              <a:r>
                <a:rPr lang="en-US" sz="2200" dirty="0"/>
                <a:t>The class with the highest score (or probability) across all classifiers is chosen as the predicted class for that sample.</a:t>
              </a:r>
            </a:p>
            <a:p>
              <a:pPr marL="814705" lvl="1" indent="-357505" algn="just" fontAlgn="base">
                <a:lnSpc>
                  <a:spcPct val="150000"/>
                </a:lnSpc>
                <a:buFont typeface="Arial" panose="020B0604020202020204" pitchFamily="34" charset="0"/>
                <a:buChar char="•"/>
              </a:pPr>
              <a:r>
                <a:rPr lang="en-US" sz="2200" dirty="0"/>
                <a:t>Each classifier gives you the following scores</a:t>
              </a:r>
            </a:p>
            <a:p>
              <a:pPr marL="1271905" lvl="2" indent="-357505" algn="just" fontAlgn="base">
                <a:lnSpc>
                  <a:spcPct val="150000"/>
                </a:lnSpc>
                <a:buFont typeface="Arial" panose="020B0604020202020204" pitchFamily="34" charset="0"/>
                <a:buChar char="•"/>
              </a:pPr>
              <a:r>
                <a:rPr lang="en-US" sz="2200" dirty="0"/>
                <a:t>Classifier for </a:t>
              </a:r>
              <a:r>
                <a:rPr lang="en-US" sz="2200" dirty="0" err="1"/>
                <a:t>Setosa</a:t>
              </a:r>
              <a:r>
                <a:rPr lang="en-US" sz="2200" dirty="0"/>
                <a:t>: Score = 0.8</a:t>
              </a:r>
            </a:p>
            <a:p>
              <a:pPr marL="1271905" lvl="2" indent="-357505" algn="just" fontAlgn="base">
                <a:lnSpc>
                  <a:spcPct val="150000"/>
                </a:lnSpc>
                <a:buFont typeface="Arial" panose="020B0604020202020204" pitchFamily="34" charset="0"/>
                <a:buChar char="•"/>
              </a:pPr>
              <a:r>
                <a:rPr lang="en-US" sz="2200" dirty="0"/>
                <a:t>Classifier for Versicolor: Score = 0.6</a:t>
              </a:r>
            </a:p>
            <a:p>
              <a:pPr marL="1271905" lvl="2" indent="-357505" algn="just" fontAlgn="base">
                <a:lnSpc>
                  <a:spcPct val="150000"/>
                </a:lnSpc>
                <a:buFont typeface="Arial" panose="020B0604020202020204" pitchFamily="34" charset="0"/>
                <a:buChar char="•"/>
              </a:pPr>
              <a:r>
                <a:rPr lang="en-US" sz="2200" dirty="0"/>
                <a:t>Classifier for Virginica: Score = 0.4</a:t>
              </a:r>
            </a:p>
            <a:p>
              <a:pPr lvl="2" algn="just" fontAlgn="base">
                <a:lnSpc>
                  <a:spcPct val="150000"/>
                </a:lnSpc>
              </a:pPr>
              <a:r>
                <a:rPr lang="en-US" sz="2200" dirty="0"/>
                <a:t>The predicted class will be </a:t>
              </a:r>
              <a:r>
                <a:rPr lang="en-US" sz="2200" dirty="0" err="1"/>
                <a:t>Setosa</a:t>
              </a:r>
              <a:r>
                <a:rPr lang="en-US" sz="2200" dirty="0"/>
                <a:t> since it has the highest score (0.8).</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57</a:t>
            </a:fld>
            <a:endParaRPr lang="en-IN"/>
          </a:p>
        </p:txBody>
      </p:sp>
    </p:spTree>
    <p:extLst>
      <p:ext uri="{BB962C8B-B14F-4D97-AF65-F5344CB8AC3E}">
        <p14:creationId xmlns:p14="http://schemas.microsoft.com/office/powerpoint/2010/main" val="370566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Multi class classification </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8814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43995"/>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One-vs-Rest (</a:t>
              </a:r>
              <a:r>
                <a:rPr lang="en-US" sz="2400" dirty="0" err="1"/>
                <a:t>OvR</a:t>
              </a:r>
              <a:r>
                <a:rPr lang="en-US" sz="2400" dirty="0"/>
                <a:t>) / One-vs-All (</a:t>
              </a:r>
              <a:r>
                <a:rPr lang="en-US" sz="2400" dirty="0" err="1"/>
                <a:t>OvA</a:t>
              </a:r>
              <a:r>
                <a:rPr lang="en-US" sz="2400" dirty="0"/>
                <a:t>)</a:t>
              </a:r>
            </a:p>
            <a:p>
              <a:pPr marL="814705" lvl="1" indent="-357505" algn="just" fontAlgn="base">
                <a:lnSpc>
                  <a:spcPct val="150000"/>
                </a:lnSpc>
                <a:buFont typeface="Arial" panose="020B0604020202020204" pitchFamily="34" charset="0"/>
                <a:buChar char="•"/>
              </a:pPr>
              <a:r>
                <a:rPr lang="en-US" sz="2200" dirty="0"/>
                <a:t>To make a prediction for a new sample, each of the trained binary classifiers will output a score or a probability indicating how likely it is that the sample belongs to the corresponding class.</a:t>
              </a:r>
            </a:p>
            <a:p>
              <a:pPr marL="814705" lvl="1" indent="-357505" algn="just" fontAlgn="base">
                <a:lnSpc>
                  <a:spcPct val="150000"/>
                </a:lnSpc>
                <a:buFont typeface="Arial" panose="020B0604020202020204" pitchFamily="34" charset="0"/>
                <a:buChar char="•"/>
              </a:pPr>
              <a:r>
                <a:rPr lang="en-US" sz="2200" dirty="0"/>
                <a:t>The class with the highest score (or probability) across all classifiers is chosen as the predicted class for that sample.</a:t>
              </a:r>
            </a:p>
            <a:p>
              <a:pPr marL="814705" lvl="1" indent="-357505" algn="just" fontAlgn="base">
                <a:lnSpc>
                  <a:spcPct val="150000"/>
                </a:lnSpc>
                <a:buFont typeface="Arial" panose="020B0604020202020204" pitchFamily="34" charset="0"/>
                <a:buChar char="•"/>
              </a:pPr>
              <a:r>
                <a:rPr lang="en-US" sz="2200" dirty="0"/>
                <a:t>Each classifier gives you the following scores</a:t>
              </a:r>
            </a:p>
            <a:p>
              <a:pPr marL="1271905" lvl="2" indent="-357505" algn="just" fontAlgn="base">
                <a:lnSpc>
                  <a:spcPct val="150000"/>
                </a:lnSpc>
                <a:buFont typeface="Arial" panose="020B0604020202020204" pitchFamily="34" charset="0"/>
                <a:buChar char="•"/>
              </a:pPr>
              <a:r>
                <a:rPr lang="en-US" sz="2200" dirty="0"/>
                <a:t>Classifier for </a:t>
              </a:r>
              <a:r>
                <a:rPr lang="en-US" sz="2200" dirty="0" err="1"/>
                <a:t>Setosa</a:t>
              </a:r>
              <a:r>
                <a:rPr lang="en-US" sz="2200" dirty="0"/>
                <a:t>: Score = 0.8</a:t>
              </a:r>
            </a:p>
            <a:p>
              <a:pPr marL="1271905" lvl="2" indent="-357505" algn="just" fontAlgn="base">
                <a:lnSpc>
                  <a:spcPct val="150000"/>
                </a:lnSpc>
                <a:buFont typeface="Arial" panose="020B0604020202020204" pitchFamily="34" charset="0"/>
                <a:buChar char="•"/>
              </a:pPr>
              <a:r>
                <a:rPr lang="en-US" sz="2200" dirty="0"/>
                <a:t>Classifier for Versicolor: Score = 0.6</a:t>
              </a:r>
            </a:p>
            <a:p>
              <a:pPr marL="1271905" lvl="2" indent="-357505" algn="just" fontAlgn="base">
                <a:lnSpc>
                  <a:spcPct val="150000"/>
                </a:lnSpc>
                <a:buFont typeface="Arial" panose="020B0604020202020204" pitchFamily="34" charset="0"/>
                <a:buChar char="•"/>
              </a:pPr>
              <a:r>
                <a:rPr lang="en-US" sz="2200" dirty="0"/>
                <a:t>Classifier for Virginica: Score = 0.4</a:t>
              </a:r>
            </a:p>
            <a:p>
              <a:pPr lvl="2" algn="just" fontAlgn="base">
                <a:lnSpc>
                  <a:spcPct val="150000"/>
                </a:lnSpc>
              </a:pPr>
              <a:r>
                <a:rPr lang="en-US" sz="2200" dirty="0"/>
                <a:t>The predicted class will be </a:t>
              </a:r>
              <a:r>
                <a:rPr lang="en-US" sz="2200" dirty="0" err="1"/>
                <a:t>Setosa</a:t>
              </a:r>
              <a:r>
                <a:rPr lang="en-US" sz="2200" dirty="0"/>
                <a:t> since it has the highest score (0.8).</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58</a:t>
            </a:fld>
            <a:endParaRPr lang="en-IN"/>
          </a:p>
        </p:txBody>
      </p:sp>
      <p:sp>
        <p:nvSpPr>
          <p:cNvPr id="7" name="TextBox 6">
            <a:extLst>
              <a:ext uri="{FF2B5EF4-FFF2-40B4-BE49-F238E27FC236}">
                <a16:creationId xmlns:a16="http://schemas.microsoft.com/office/drawing/2014/main" id="{6EC3F1A6-5ABE-8418-9EAF-D848236D7789}"/>
              </a:ext>
            </a:extLst>
          </p:cNvPr>
          <p:cNvSpPr txBox="1"/>
          <p:nvPr/>
        </p:nvSpPr>
        <p:spPr>
          <a:xfrm>
            <a:off x="7429087" y="3429000"/>
            <a:ext cx="4573207" cy="1323439"/>
          </a:xfrm>
          <a:prstGeom prst="rect">
            <a:avLst/>
          </a:prstGeom>
          <a:noFill/>
        </p:spPr>
        <p:txBody>
          <a:bodyPr wrap="square">
            <a:spAutoFit/>
          </a:bodyPr>
          <a:lstStyle/>
          <a:p>
            <a:r>
              <a:rPr lang="en-US" sz="2000" dirty="0">
                <a:solidFill>
                  <a:srgbClr val="C00000"/>
                </a:solidFill>
              </a:rPr>
              <a:t>One-vs-Rest is a robust method for handling multiclass classification by converting it into multiple binary classification tasks</a:t>
            </a:r>
          </a:p>
        </p:txBody>
      </p:sp>
    </p:spTree>
    <p:extLst>
      <p:ext uri="{BB962C8B-B14F-4D97-AF65-F5344CB8AC3E}">
        <p14:creationId xmlns:p14="http://schemas.microsoft.com/office/powerpoint/2010/main" val="35652776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Multi class classification </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1"/>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17179"/>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err="1"/>
                <a:t>Softmax</a:t>
              </a:r>
              <a:r>
                <a:rPr lang="en-US" sz="2400" dirty="0"/>
                <a:t> Regression (Multinomial Logistic Regression)</a:t>
              </a:r>
            </a:p>
            <a:p>
              <a:pPr marL="814705" lvl="1" indent="-357505" algn="just" fontAlgn="base">
                <a:lnSpc>
                  <a:spcPct val="200000"/>
                </a:lnSpc>
                <a:buFont typeface="Arial" panose="020B0604020202020204" pitchFamily="34" charset="0"/>
                <a:buChar char="•"/>
              </a:pPr>
              <a:r>
                <a:rPr lang="en-US" sz="2400" dirty="0"/>
                <a:t>This is a more natural extension of logistic regression for multi-class problems. </a:t>
              </a:r>
            </a:p>
            <a:p>
              <a:pPr marL="814705" lvl="1" indent="-357505" algn="just" fontAlgn="base">
                <a:lnSpc>
                  <a:spcPct val="200000"/>
                </a:lnSpc>
                <a:buFont typeface="Arial" panose="020B0604020202020204" pitchFamily="34" charset="0"/>
                <a:buChar char="•"/>
              </a:pPr>
              <a:r>
                <a:rPr lang="en-US" sz="2400" dirty="0"/>
                <a:t>Instead of training K binary classifiers, you train a single model that directly predicts the probability distribution over the K classes.</a:t>
              </a:r>
            </a:p>
            <a:p>
              <a:pPr marL="814705" lvl="1" indent="-357505" algn="just" fontAlgn="base">
                <a:lnSpc>
                  <a:spcPct val="200000"/>
                </a:lnSpc>
                <a:buFont typeface="Arial" panose="020B0604020202020204" pitchFamily="34" charset="0"/>
                <a:buChar char="•"/>
              </a:pPr>
              <a:r>
                <a:rPr lang="en-US" sz="2400" dirty="0"/>
                <a:t>The model uses the </a:t>
              </a:r>
              <a:r>
                <a:rPr lang="en-US" sz="2400" dirty="0" err="1"/>
                <a:t>softmax</a:t>
              </a:r>
              <a:r>
                <a:rPr lang="en-US" sz="2400" dirty="0"/>
                <a:t> function to generalize the logistic regression model to multiple classes. </a:t>
              </a:r>
            </a:p>
            <a:p>
              <a:pPr marL="814705" lvl="1" indent="-357505" algn="just" fontAlgn="base">
                <a:lnSpc>
                  <a:spcPct val="200000"/>
                </a:lnSpc>
                <a:buFont typeface="Arial" panose="020B0604020202020204" pitchFamily="34" charset="0"/>
                <a:buChar char="•"/>
              </a:pPr>
              <a:r>
                <a:rPr lang="en-US" sz="2400" dirty="0"/>
                <a:t>The </a:t>
              </a:r>
              <a:r>
                <a:rPr lang="en-US" sz="2400" dirty="0" err="1"/>
                <a:t>softmax</a:t>
              </a:r>
              <a:r>
                <a:rPr lang="en-US" sz="2400" dirty="0"/>
                <a:t> function ensures that the predicted probabilities for all classes sum to 1.</a:t>
              </a:r>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59</a:t>
            </a:fld>
            <a:endParaRPr lang="en-IN"/>
          </a:p>
        </p:txBody>
      </p:sp>
      <p:pic>
        <p:nvPicPr>
          <p:cNvPr id="7" name="Picture 6">
            <a:extLst>
              <a:ext uri="{FF2B5EF4-FFF2-40B4-BE49-F238E27FC236}">
                <a16:creationId xmlns:a16="http://schemas.microsoft.com/office/drawing/2014/main" id="{F881F2B7-3BE0-3689-5096-E13A4C26BBFF}"/>
              </a:ext>
            </a:extLst>
          </p:cNvPr>
          <p:cNvPicPr>
            <a:picLocks noChangeAspect="1"/>
          </p:cNvPicPr>
          <p:nvPr/>
        </p:nvPicPr>
        <p:blipFill>
          <a:blip r:embed="rId4"/>
          <a:stretch>
            <a:fillRect/>
          </a:stretch>
        </p:blipFill>
        <p:spPr>
          <a:xfrm>
            <a:off x="5132797" y="5449254"/>
            <a:ext cx="2662463" cy="722556"/>
          </a:xfrm>
          <a:prstGeom prst="rect">
            <a:avLst/>
          </a:prstGeom>
        </p:spPr>
      </p:pic>
    </p:spTree>
    <p:extLst>
      <p:ext uri="{BB962C8B-B14F-4D97-AF65-F5344CB8AC3E}">
        <p14:creationId xmlns:p14="http://schemas.microsoft.com/office/powerpoint/2010/main" val="1729494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17179"/>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Predict Whether a Student Passes an Exam</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60</a:t>
            </a:fld>
            <a:endParaRPr lang="en-IN"/>
          </a:p>
        </p:txBody>
      </p:sp>
      <p:pic>
        <p:nvPicPr>
          <p:cNvPr id="11" name="Picture 10">
            <a:extLst>
              <a:ext uri="{FF2B5EF4-FFF2-40B4-BE49-F238E27FC236}">
                <a16:creationId xmlns:a16="http://schemas.microsoft.com/office/drawing/2014/main" id="{5C1EA13A-CE8C-1B83-FC3C-5FD194165357}"/>
              </a:ext>
            </a:extLst>
          </p:cNvPr>
          <p:cNvPicPr>
            <a:picLocks noChangeAspect="1"/>
          </p:cNvPicPr>
          <p:nvPr/>
        </p:nvPicPr>
        <p:blipFill>
          <a:blip r:embed="rId4"/>
          <a:stretch>
            <a:fillRect/>
          </a:stretch>
        </p:blipFill>
        <p:spPr>
          <a:xfrm>
            <a:off x="1536462" y="1185551"/>
            <a:ext cx="6258798" cy="2943636"/>
          </a:xfrm>
          <a:prstGeom prst="rect">
            <a:avLst/>
          </a:prstGeom>
        </p:spPr>
      </p:pic>
      <p:sp>
        <p:nvSpPr>
          <p:cNvPr id="13" name="TextBox 12">
            <a:extLst>
              <a:ext uri="{FF2B5EF4-FFF2-40B4-BE49-F238E27FC236}">
                <a16:creationId xmlns:a16="http://schemas.microsoft.com/office/drawing/2014/main" id="{CFCF1A61-6D64-AE46-3DC7-30A2495E8B51}"/>
              </a:ext>
            </a:extLst>
          </p:cNvPr>
          <p:cNvSpPr txBox="1"/>
          <p:nvPr/>
        </p:nvSpPr>
        <p:spPr>
          <a:xfrm>
            <a:off x="314727" y="4099471"/>
            <a:ext cx="11384280" cy="2062103"/>
          </a:xfrm>
          <a:prstGeom prst="rect">
            <a:avLst/>
          </a:prstGeom>
          <a:noFill/>
        </p:spPr>
        <p:txBody>
          <a:bodyPr wrap="square">
            <a:spAutoFit/>
          </a:bodyPr>
          <a:lstStyle/>
          <a:p>
            <a:r>
              <a:rPr lang="en-US" sz="2000" dirty="0"/>
              <a:t>The logistic regression model predicts the probability of passing based on the score</a:t>
            </a:r>
            <a:r>
              <a:rPr lang="en-US" dirty="0"/>
              <a:t>. The logistic regression coefficient for the model is are given as :</a:t>
            </a:r>
          </a:p>
          <a:p>
            <a:r>
              <a:rPr lang="en-US" dirty="0"/>
              <a:t>                       z=β0+β1×Score</a:t>
            </a:r>
          </a:p>
          <a:p>
            <a:r>
              <a:rPr lang="en-US" dirty="0"/>
              <a:t>Where:</a:t>
            </a:r>
          </a:p>
          <a:p>
            <a:pPr>
              <a:buFont typeface="Arial" panose="020B0604020202020204" pitchFamily="34" charset="0"/>
              <a:buChar char="•"/>
            </a:pPr>
            <a:r>
              <a:rPr lang="en-US" dirty="0"/>
              <a:t>β0=−8.5</a:t>
            </a:r>
          </a:p>
          <a:p>
            <a:pPr>
              <a:buFont typeface="Arial" panose="020B0604020202020204" pitchFamily="34" charset="0"/>
              <a:buChar char="•"/>
            </a:pPr>
            <a:r>
              <a:rPr lang="en-US" dirty="0"/>
              <a:t>β1=0.1</a:t>
            </a:r>
          </a:p>
          <a:p>
            <a:r>
              <a:rPr lang="en-US" dirty="0"/>
              <a:t>Now, your task is to </a:t>
            </a:r>
            <a:r>
              <a:rPr lang="en-US" b="1" dirty="0"/>
              <a:t>calculate the probability of passing</a:t>
            </a:r>
            <a:r>
              <a:rPr lang="en-US" dirty="0"/>
              <a:t> for a student who scored </a:t>
            </a:r>
            <a:r>
              <a:rPr lang="en-US" b="1" dirty="0"/>
              <a:t>75</a:t>
            </a:r>
            <a:r>
              <a:rPr lang="en-US" dirty="0"/>
              <a:t>.</a:t>
            </a:r>
          </a:p>
        </p:txBody>
      </p:sp>
    </p:spTree>
    <p:extLst>
      <p:ext uri="{BB962C8B-B14F-4D97-AF65-F5344CB8AC3E}">
        <p14:creationId xmlns:p14="http://schemas.microsoft.com/office/powerpoint/2010/main" val="21988519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17179"/>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61</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spTree>
    <p:extLst>
      <p:ext uri="{BB962C8B-B14F-4D97-AF65-F5344CB8AC3E}">
        <p14:creationId xmlns:p14="http://schemas.microsoft.com/office/powerpoint/2010/main" val="10286423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17179"/>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62</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spTree>
    <p:extLst>
      <p:ext uri="{BB962C8B-B14F-4D97-AF65-F5344CB8AC3E}">
        <p14:creationId xmlns:p14="http://schemas.microsoft.com/office/powerpoint/2010/main" val="27599354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17179"/>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63</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spTree>
    <p:extLst>
      <p:ext uri="{BB962C8B-B14F-4D97-AF65-F5344CB8AC3E}">
        <p14:creationId xmlns:p14="http://schemas.microsoft.com/office/powerpoint/2010/main" val="28241428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682330"/>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64</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spTree>
    <p:extLst>
      <p:ext uri="{BB962C8B-B14F-4D97-AF65-F5344CB8AC3E}">
        <p14:creationId xmlns:p14="http://schemas.microsoft.com/office/powerpoint/2010/main" val="27136236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3"/>
            <a:ext cx="12105504" cy="7283211"/>
            <a:chOff x="127862" y="1254455"/>
            <a:chExt cx="9296400" cy="1030814"/>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103081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r>
                <a:rPr lang="en-US" sz="2000" dirty="0"/>
                <a:t>Apply the logistic (sigmoid) function to calculate the probability</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65</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spTree>
    <p:extLst>
      <p:ext uri="{BB962C8B-B14F-4D97-AF65-F5344CB8AC3E}">
        <p14:creationId xmlns:p14="http://schemas.microsoft.com/office/powerpoint/2010/main" val="1993633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3"/>
            <a:ext cx="12105504" cy="7283211"/>
            <a:chOff x="127862" y="1254455"/>
            <a:chExt cx="9296400" cy="1030814"/>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103081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r>
                <a:rPr lang="en-US" sz="2000" dirty="0"/>
                <a:t>Apply the logistic (sigmoid) function to calculate the probability</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66</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pic>
        <p:nvPicPr>
          <p:cNvPr id="12" name="Picture 11">
            <a:extLst>
              <a:ext uri="{FF2B5EF4-FFF2-40B4-BE49-F238E27FC236}">
                <a16:creationId xmlns:a16="http://schemas.microsoft.com/office/drawing/2014/main" id="{CEC3AFD7-A210-FA8E-4110-48DB74F8C131}"/>
              </a:ext>
            </a:extLst>
          </p:cNvPr>
          <p:cNvPicPr>
            <a:picLocks noChangeAspect="1"/>
          </p:cNvPicPr>
          <p:nvPr/>
        </p:nvPicPr>
        <p:blipFill>
          <a:blip r:embed="rId7"/>
          <a:stretch>
            <a:fillRect/>
          </a:stretch>
        </p:blipFill>
        <p:spPr>
          <a:xfrm>
            <a:off x="2797770" y="4107273"/>
            <a:ext cx="2829320" cy="952633"/>
          </a:xfrm>
          <a:prstGeom prst="rect">
            <a:avLst/>
          </a:prstGeom>
        </p:spPr>
      </p:pic>
    </p:spTree>
    <p:extLst>
      <p:ext uri="{BB962C8B-B14F-4D97-AF65-F5344CB8AC3E}">
        <p14:creationId xmlns:p14="http://schemas.microsoft.com/office/powerpoint/2010/main" val="29266542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3"/>
            <a:ext cx="12105504" cy="7283211"/>
            <a:chOff x="127862" y="1254455"/>
            <a:chExt cx="9296400" cy="1030814"/>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103081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r>
                <a:rPr lang="en-US" sz="2000" dirty="0"/>
                <a:t>Apply the logistic (sigmoid) function to calculate the probability</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67</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pic>
        <p:nvPicPr>
          <p:cNvPr id="12" name="Picture 11">
            <a:extLst>
              <a:ext uri="{FF2B5EF4-FFF2-40B4-BE49-F238E27FC236}">
                <a16:creationId xmlns:a16="http://schemas.microsoft.com/office/drawing/2014/main" id="{CEC3AFD7-A210-FA8E-4110-48DB74F8C131}"/>
              </a:ext>
            </a:extLst>
          </p:cNvPr>
          <p:cNvPicPr>
            <a:picLocks noChangeAspect="1"/>
          </p:cNvPicPr>
          <p:nvPr/>
        </p:nvPicPr>
        <p:blipFill>
          <a:blip r:embed="rId7"/>
          <a:stretch>
            <a:fillRect/>
          </a:stretch>
        </p:blipFill>
        <p:spPr>
          <a:xfrm>
            <a:off x="2797770" y="4107273"/>
            <a:ext cx="2829320" cy="952633"/>
          </a:xfrm>
          <a:prstGeom prst="rect">
            <a:avLst/>
          </a:prstGeom>
        </p:spPr>
      </p:pic>
      <p:pic>
        <p:nvPicPr>
          <p:cNvPr id="15" name="Picture 14">
            <a:extLst>
              <a:ext uri="{FF2B5EF4-FFF2-40B4-BE49-F238E27FC236}">
                <a16:creationId xmlns:a16="http://schemas.microsoft.com/office/drawing/2014/main" id="{E84795AA-8702-A642-567B-5BC2A0531CCA}"/>
              </a:ext>
            </a:extLst>
          </p:cNvPr>
          <p:cNvPicPr>
            <a:picLocks noChangeAspect="1"/>
          </p:cNvPicPr>
          <p:nvPr/>
        </p:nvPicPr>
        <p:blipFill>
          <a:blip r:embed="rId8"/>
          <a:stretch>
            <a:fillRect/>
          </a:stretch>
        </p:blipFill>
        <p:spPr>
          <a:xfrm>
            <a:off x="2816822" y="5135823"/>
            <a:ext cx="2619741" cy="876422"/>
          </a:xfrm>
          <a:prstGeom prst="rect">
            <a:avLst/>
          </a:prstGeom>
        </p:spPr>
      </p:pic>
    </p:spTree>
    <p:extLst>
      <p:ext uri="{BB962C8B-B14F-4D97-AF65-F5344CB8AC3E}">
        <p14:creationId xmlns:p14="http://schemas.microsoft.com/office/powerpoint/2010/main" val="32448454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3"/>
            <a:ext cx="12105504" cy="7283211"/>
            <a:chOff x="127862" y="1254455"/>
            <a:chExt cx="9296400" cy="1030814"/>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103081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r>
                <a:rPr lang="en-US" sz="2000" dirty="0"/>
                <a:t>Apply the logistic (sigmoid) function to calculate the probability</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68</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pic>
        <p:nvPicPr>
          <p:cNvPr id="12" name="Picture 11">
            <a:extLst>
              <a:ext uri="{FF2B5EF4-FFF2-40B4-BE49-F238E27FC236}">
                <a16:creationId xmlns:a16="http://schemas.microsoft.com/office/drawing/2014/main" id="{CEC3AFD7-A210-FA8E-4110-48DB74F8C131}"/>
              </a:ext>
            </a:extLst>
          </p:cNvPr>
          <p:cNvPicPr>
            <a:picLocks noChangeAspect="1"/>
          </p:cNvPicPr>
          <p:nvPr/>
        </p:nvPicPr>
        <p:blipFill>
          <a:blip r:embed="rId7"/>
          <a:stretch>
            <a:fillRect/>
          </a:stretch>
        </p:blipFill>
        <p:spPr>
          <a:xfrm>
            <a:off x="2797770" y="4107273"/>
            <a:ext cx="2829320" cy="952633"/>
          </a:xfrm>
          <a:prstGeom prst="rect">
            <a:avLst/>
          </a:prstGeom>
        </p:spPr>
      </p:pic>
      <p:pic>
        <p:nvPicPr>
          <p:cNvPr id="15" name="Picture 14">
            <a:extLst>
              <a:ext uri="{FF2B5EF4-FFF2-40B4-BE49-F238E27FC236}">
                <a16:creationId xmlns:a16="http://schemas.microsoft.com/office/drawing/2014/main" id="{E84795AA-8702-A642-567B-5BC2A0531CCA}"/>
              </a:ext>
            </a:extLst>
          </p:cNvPr>
          <p:cNvPicPr>
            <a:picLocks noChangeAspect="1"/>
          </p:cNvPicPr>
          <p:nvPr/>
        </p:nvPicPr>
        <p:blipFill>
          <a:blip r:embed="rId8"/>
          <a:stretch>
            <a:fillRect/>
          </a:stretch>
        </p:blipFill>
        <p:spPr>
          <a:xfrm>
            <a:off x="2816822" y="5135823"/>
            <a:ext cx="2619741" cy="876422"/>
          </a:xfrm>
          <a:prstGeom prst="rect">
            <a:avLst/>
          </a:prstGeom>
        </p:spPr>
      </p:pic>
      <p:pic>
        <p:nvPicPr>
          <p:cNvPr id="17" name="Picture 16">
            <a:extLst>
              <a:ext uri="{FF2B5EF4-FFF2-40B4-BE49-F238E27FC236}">
                <a16:creationId xmlns:a16="http://schemas.microsoft.com/office/drawing/2014/main" id="{4DE05DB5-9344-729C-6201-ECF11F627DAF}"/>
              </a:ext>
            </a:extLst>
          </p:cNvPr>
          <p:cNvPicPr>
            <a:picLocks noChangeAspect="1"/>
          </p:cNvPicPr>
          <p:nvPr/>
        </p:nvPicPr>
        <p:blipFill>
          <a:blip r:embed="rId9"/>
          <a:stretch>
            <a:fillRect/>
          </a:stretch>
        </p:blipFill>
        <p:spPr>
          <a:xfrm>
            <a:off x="5784427" y="5240612"/>
            <a:ext cx="1514686" cy="666843"/>
          </a:xfrm>
          <a:prstGeom prst="rect">
            <a:avLst/>
          </a:prstGeom>
        </p:spPr>
      </p:pic>
    </p:spTree>
    <p:extLst>
      <p:ext uri="{BB962C8B-B14F-4D97-AF65-F5344CB8AC3E}">
        <p14:creationId xmlns:p14="http://schemas.microsoft.com/office/powerpoint/2010/main" val="19553185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3"/>
            <a:ext cx="12105504" cy="7283211"/>
            <a:chOff x="127862" y="1254455"/>
            <a:chExt cx="9296400" cy="1030814"/>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103081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r>
                <a:rPr lang="en-US" sz="2000" dirty="0"/>
                <a:t>Apply the logistic (sigmoid) function to calculate the probability</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69</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pic>
        <p:nvPicPr>
          <p:cNvPr id="12" name="Picture 11">
            <a:extLst>
              <a:ext uri="{FF2B5EF4-FFF2-40B4-BE49-F238E27FC236}">
                <a16:creationId xmlns:a16="http://schemas.microsoft.com/office/drawing/2014/main" id="{CEC3AFD7-A210-FA8E-4110-48DB74F8C131}"/>
              </a:ext>
            </a:extLst>
          </p:cNvPr>
          <p:cNvPicPr>
            <a:picLocks noChangeAspect="1"/>
          </p:cNvPicPr>
          <p:nvPr/>
        </p:nvPicPr>
        <p:blipFill>
          <a:blip r:embed="rId7"/>
          <a:stretch>
            <a:fillRect/>
          </a:stretch>
        </p:blipFill>
        <p:spPr>
          <a:xfrm>
            <a:off x="2797770" y="4107273"/>
            <a:ext cx="2829320" cy="952633"/>
          </a:xfrm>
          <a:prstGeom prst="rect">
            <a:avLst/>
          </a:prstGeom>
        </p:spPr>
      </p:pic>
      <p:pic>
        <p:nvPicPr>
          <p:cNvPr id="15" name="Picture 14">
            <a:extLst>
              <a:ext uri="{FF2B5EF4-FFF2-40B4-BE49-F238E27FC236}">
                <a16:creationId xmlns:a16="http://schemas.microsoft.com/office/drawing/2014/main" id="{E84795AA-8702-A642-567B-5BC2A0531CCA}"/>
              </a:ext>
            </a:extLst>
          </p:cNvPr>
          <p:cNvPicPr>
            <a:picLocks noChangeAspect="1"/>
          </p:cNvPicPr>
          <p:nvPr/>
        </p:nvPicPr>
        <p:blipFill>
          <a:blip r:embed="rId8"/>
          <a:stretch>
            <a:fillRect/>
          </a:stretch>
        </p:blipFill>
        <p:spPr>
          <a:xfrm>
            <a:off x="2816822" y="5135823"/>
            <a:ext cx="2619741" cy="876422"/>
          </a:xfrm>
          <a:prstGeom prst="rect">
            <a:avLst/>
          </a:prstGeom>
        </p:spPr>
      </p:pic>
      <p:pic>
        <p:nvPicPr>
          <p:cNvPr id="17" name="Picture 16">
            <a:extLst>
              <a:ext uri="{FF2B5EF4-FFF2-40B4-BE49-F238E27FC236}">
                <a16:creationId xmlns:a16="http://schemas.microsoft.com/office/drawing/2014/main" id="{4DE05DB5-9344-729C-6201-ECF11F627DAF}"/>
              </a:ext>
            </a:extLst>
          </p:cNvPr>
          <p:cNvPicPr>
            <a:picLocks noChangeAspect="1"/>
          </p:cNvPicPr>
          <p:nvPr/>
        </p:nvPicPr>
        <p:blipFill>
          <a:blip r:embed="rId9"/>
          <a:stretch>
            <a:fillRect/>
          </a:stretch>
        </p:blipFill>
        <p:spPr>
          <a:xfrm>
            <a:off x="5784427" y="5240612"/>
            <a:ext cx="1514686" cy="666843"/>
          </a:xfrm>
          <a:prstGeom prst="rect">
            <a:avLst/>
          </a:prstGeom>
        </p:spPr>
      </p:pic>
      <p:pic>
        <p:nvPicPr>
          <p:cNvPr id="19" name="Picture 18">
            <a:extLst>
              <a:ext uri="{FF2B5EF4-FFF2-40B4-BE49-F238E27FC236}">
                <a16:creationId xmlns:a16="http://schemas.microsoft.com/office/drawing/2014/main" id="{554EA8F3-C6BE-0086-1291-9C947E870187}"/>
              </a:ext>
            </a:extLst>
          </p:cNvPr>
          <p:cNvPicPr>
            <a:picLocks noChangeAspect="1"/>
          </p:cNvPicPr>
          <p:nvPr/>
        </p:nvPicPr>
        <p:blipFill>
          <a:blip r:embed="rId10"/>
          <a:stretch>
            <a:fillRect/>
          </a:stretch>
        </p:blipFill>
        <p:spPr>
          <a:xfrm>
            <a:off x="7490533" y="5289917"/>
            <a:ext cx="1228896" cy="581106"/>
          </a:xfrm>
          <a:prstGeom prst="rect">
            <a:avLst/>
          </a:prstGeom>
        </p:spPr>
      </p:pic>
    </p:spTree>
    <p:extLst>
      <p:ext uri="{BB962C8B-B14F-4D97-AF65-F5344CB8AC3E}">
        <p14:creationId xmlns:p14="http://schemas.microsoft.com/office/powerpoint/2010/main" val="6231231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3"/>
            <a:ext cx="12105504" cy="7283211"/>
            <a:chOff x="127862" y="1254455"/>
            <a:chExt cx="9296400" cy="1030814"/>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103081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r>
                <a:rPr lang="en-US" sz="2000" dirty="0"/>
                <a:t>Apply the logistic (sigmoid) function to calculate the probability</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70</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pic>
        <p:nvPicPr>
          <p:cNvPr id="12" name="Picture 11">
            <a:extLst>
              <a:ext uri="{FF2B5EF4-FFF2-40B4-BE49-F238E27FC236}">
                <a16:creationId xmlns:a16="http://schemas.microsoft.com/office/drawing/2014/main" id="{CEC3AFD7-A210-FA8E-4110-48DB74F8C131}"/>
              </a:ext>
            </a:extLst>
          </p:cNvPr>
          <p:cNvPicPr>
            <a:picLocks noChangeAspect="1"/>
          </p:cNvPicPr>
          <p:nvPr/>
        </p:nvPicPr>
        <p:blipFill>
          <a:blip r:embed="rId7"/>
          <a:stretch>
            <a:fillRect/>
          </a:stretch>
        </p:blipFill>
        <p:spPr>
          <a:xfrm>
            <a:off x="2797770" y="4107273"/>
            <a:ext cx="2829320" cy="952633"/>
          </a:xfrm>
          <a:prstGeom prst="rect">
            <a:avLst/>
          </a:prstGeom>
        </p:spPr>
      </p:pic>
      <p:pic>
        <p:nvPicPr>
          <p:cNvPr id="15" name="Picture 14">
            <a:extLst>
              <a:ext uri="{FF2B5EF4-FFF2-40B4-BE49-F238E27FC236}">
                <a16:creationId xmlns:a16="http://schemas.microsoft.com/office/drawing/2014/main" id="{E84795AA-8702-A642-567B-5BC2A0531CCA}"/>
              </a:ext>
            </a:extLst>
          </p:cNvPr>
          <p:cNvPicPr>
            <a:picLocks noChangeAspect="1"/>
          </p:cNvPicPr>
          <p:nvPr/>
        </p:nvPicPr>
        <p:blipFill>
          <a:blip r:embed="rId8"/>
          <a:stretch>
            <a:fillRect/>
          </a:stretch>
        </p:blipFill>
        <p:spPr>
          <a:xfrm>
            <a:off x="2816822" y="5135823"/>
            <a:ext cx="2619741" cy="876422"/>
          </a:xfrm>
          <a:prstGeom prst="rect">
            <a:avLst/>
          </a:prstGeom>
        </p:spPr>
      </p:pic>
      <p:pic>
        <p:nvPicPr>
          <p:cNvPr id="17" name="Picture 16">
            <a:extLst>
              <a:ext uri="{FF2B5EF4-FFF2-40B4-BE49-F238E27FC236}">
                <a16:creationId xmlns:a16="http://schemas.microsoft.com/office/drawing/2014/main" id="{4DE05DB5-9344-729C-6201-ECF11F627DAF}"/>
              </a:ext>
            </a:extLst>
          </p:cNvPr>
          <p:cNvPicPr>
            <a:picLocks noChangeAspect="1"/>
          </p:cNvPicPr>
          <p:nvPr/>
        </p:nvPicPr>
        <p:blipFill>
          <a:blip r:embed="rId9"/>
          <a:stretch>
            <a:fillRect/>
          </a:stretch>
        </p:blipFill>
        <p:spPr>
          <a:xfrm>
            <a:off x="5784427" y="5240612"/>
            <a:ext cx="1514686" cy="666843"/>
          </a:xfrm>
          <a:prstGeom prst="rect">
            <a:avLst/>
          </a:prstGeom>
        </p:spPr>
      </p:pic>
      <p:pic>
        <p:nvPicPr>
          <p:cNvPr id="19" name="Picture 18">
            <a:extLst>
              <a:ext uri="{FF2B5EF4-FFF2-40B4-BE49-F238E27FC236}">
                <a16:creationId xmlns:a16="http://schemas.microsoft.com/office/drawing/2014/main" id="{554EA8F3-C6BE-0086-1291-9C947E870187}"/>
              </a:ext>
            </a:extLst>
          </p:cNvPr>
          <p:cNvPicPr>
            <a:picLocks noChangeAspect="1"/>
          </p:cNvPicPr>
          <p:nvPr/>
        </p:nvPicPr>
        <p:blipFill>
          <a:blip r:embed="rId10"/>
          <a:stretch>
            <a:fillRect/>
          </a:stretch>
        </p:blipFill>
        <p:spPr>
          <a:xfrm>
            <a:off x="7490533" y="5289917"/>
            <a:ext cx="1228896" cy="581106"/>
          </a:xfrm>
          <a:prstGeom prst="rect">
            <a:avLst/>
          </a:prstGeom>
        </p:spPr>
      </p:pic>
      <p:pic>
        <p:nvPicPr>
          <p:cNvPr id="4" name="Picture 3">
            <a:extLst>
              <a:ext uri="{FF2B5EF4-FFF2-40B4-BE49-F238E27FC236}">
                <a16:creationId xmlns:a16="http://schemas.microsoft.com/office/drawing/2014/main" id="{9726644E-3C00-0B5B-C628-D39FEE4AB932}"/>
              </a:ext>
            </a:extLst>
          </p:cNvPr>
          <p:cNvPicPr>
            <a:picLocks noChangeAspect="1"/>
          </p:cNvPicPr>
          <p:nvPr/>
        </p:nvPicPr>
        <p:blipFill>
          <a:blip r:embed="rId11"/>
          <a:stretch>
            <a:fillRect/>
          </a:stretch>
        </p:blipFill>
        <p:spPr>
          <a:xfrm>
            <a:off x="9115470" y="5327680"/>
            <a:ext cx="2553056" cy="619211"/>
          </a:xfrm>
          <a:prstGeom prst="rect">
            <a:avLst/>
          </a:prstGeom>
        </p:spPr>
      </p:pic>
    </p:spTree>
    <p:extLst>
      <p:ext uri="{BB962C8B-B14F-4D97-AF65-F5344CB8AC3E}">
        <p14:creationId xmlns:p14="http://schemas.microsoft.com/office/powerpoint/2010/main" val="7136698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3"/>
            <a:ext cx="12105504" cy="7283211"/>
            <a:chOff x="127862" y="1254455"/>
            <a:chExt cx="9296400" cy="1030814"/>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1030814"/>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000" dirty="0"/>
                <a:t>Calculate the linear combination (log-odds) using the logistic regression equation</a:t>
              </a:r>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marL="357505" indent="-357505" algn="just" fontAlgn="base">
                <a:lnSpc>
                  <a:spcPct val="200000"/>
                </a:lnSpc>
                <a:buFont typeface="Arial" panose="020B0604020202020204" pitchFamily="34" charset="0"/>
                <a:buChar char="•"/>
              </a:pPr>
              <a:endParaRPr lang="en-US" sz="2000" dirty="0"/>
            </a:p>
            <a:p>
              <a:pPr algn="just" fontAlgn="base">
                <a:lnSpc>
                  <a:spcPct val="200000"/>
                </a:lnSpc>
              </a:pPr>
              <a:r>
                <a:rPr lang="en-US" sz="2000" dirty="0"/>
                <a:t>           So the log-odds, z = -1</a:t>
              </a:r>
            </a:p>
            <a:p>
              <a:pPr marL="357505" indent="-357505" algn="just" fontAlgn="base">
                <a:lnSpc>
                  <a:spcPct val="200000"/>
                </a:lnSpc>
                <a:buFont typeface="Arial" panose="020B0604020202020204" pitchFamily="34" charset="0"/>
                <a:buChar char="•"/>
              </a:pPr>
              <a:r>
                <a:rPr lang="en-US" sz="2000" dirty="0"/>
                <a:t>Apply the logistic (sigmoid) function to calculate the probability</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71</a:t>
            </a:fld>
            <a:endParaRPr lang="en-IN"/>
          </a:p>
        </p:txBody>
      </p:sp>
      <p:pic>
        <p:nvPicPr>
          <p:cNvPr id="7" name="Picture 6">
            <a:extLst>
              <a:ext uri="{FF2B5EF4-FFF2-40B4-BE49-F238E27FC236}">
                <a16:creationId xmlns:a16="http://schemas.microsoft.com/office/drawing/2014/main" id="{41AB8DCC-A8F6-B63F-395A-AA5DD3CE59C5}"/>
              </a:ext>
            </a:extLst>
          </p:cNvPr>
          <p:cNvPicPr>
            <a:picLocks noChangeAspect="1"/>
          </p:cNvPicPr>
          <p:nvPr/>
        </p:nvPicPr>
        <p:blipFill>
          <a:blip r:embed="rId4"/>
          <a:stretch>
            <a:fillRect/>
          </a:stretch>
        </p:blipFill>
        <p:spPr>
          <a:xfrm>
            <a:off x="2800126" y="1081059"/>
            <a:ext cx="2524477" cy="390580"/>
          </a:xfrm>
          <a:prstGeom prst="rect">
            <a:avLst/>
          </a:prstGeom>
        </p:spPr>
      </p:pic>
      <p:pic>
        <p:nvPicPr>
          <p:cNvPr id="11" name="Picture 10">
            <a:extLst>
              <a:ext uri="{FF2B5EF4-FFF2-40B4-BE49-F238E27FC236}">
                <a16:creationId xmlns:a16="http://schemas.microsoft.com/office/drawing/2014/main" id="{7AE95725-E1F1-DF0C-0271-2ADA63A7D999}"/>
              </a:ext>
            </a:extLst>
          </p:cNvPr>
          <p:cNvPicPr>
            <a:picLocks noChangeAspect="1"/>
          </p:cNvPicPr>
          <p:nvPr/>
        </p:nvPicPr>
        <p:blipFill>
          <a:blip r:embed="rId5"/>
          <a:stretch>
            <a:fillRect/>
          </a:stretch>
        </p:blipFill>
        <p:spPr>
          <a:xfrm>
            <a:off x="2797770" y="1709245"/>
            <a:ext cx="2505425" cy="409632"/>
          </a:xfrm>
          <a:prstGeom prst="rect">
            <a:avLst/>
          </a:prstGeom>
        </p:spPr>
      </p:pic>
      <p:pic>
        <p:nvPicPr>
          <p:cNvPr id="13" name="Picture 12">
            <a:extLst>
              <a:ext uri="{FF2B5EF4-FFF2-40B4-BE49-F238E27FC236}">
                <a16:creationId xmlns:a16="http://schemas.microsoft.com/office/drawing/2014/main" id="{7AA3FE24-23E2-3056-99B6-1A45F0841E08}"/>
              </a:ext>
            </a:extLst>
          </p:cNvPr>
          <p:cNvPicPr>
            <a:picLocks noChangeAspect="1"/>
          </p:cNvPicPr>
          <p:nvPr/>
        </p:nvPicPr>
        <p:blipFill>
          <a:blip r:embed="rId6"/>
          <a:stretch>
            <a:fillRect/>
          </a:stretch>
        </p:blipFill>
        <p:spPr>
          <a:xfrm>
            <a:off x="2797770" y="2266570"/>
            <a:ext cx="2657846" cy="409632"/>
          </a:xfrm>
          <a:prstGeom prst="rect">
            <a:avLst/>
          </a:prstGeom>
        </p:spPr>
      </p:pic>
      <p:pic>
        <p:nvPicPr>
          <p:cNvPr id="12" name="Picture 11">
            <a:extLst>
              <a:ext uri="{FF2B5EF4-FFF2-40B4-BE49-F238E27FC236}">
                <a16:creationId xmlns:a16="http://schemas.microsoft.com/office/drawing/2014/main" id="{CEC3AFD7-A210-FA8E-4110-48DB74F8C131}"/>
              </a:ext>
            </a:extLst>
          </p:cNvPr>
          <p:cNvPicPr>
            <a:picLocks noChangeAspect="1"/>
          </p:cNvPicPr>
          <p:nvPr/>
        </p:nvPicPr>
        <p:blipFill>
          <a:blip r:embed="rId7"/>
          <a:stretch>
            <a:fillRect/>
          </a:stretch>
        </p:blipFill>
        <p:spPr>
          <a:xfrm>
            <a:off x="2797770" y="4107273"/>
            <a:ext cx="2829320" cy="952633"/>
          </a:xfrm>
          <a:prstGeom prst="rect">
            <a:avLst/>
          </a:prstGeom>
        </p:spPr>
      </p:pic>
      <p:pic>
        <p:nvPicPr>
          <p:cNvPr id="15" name="Picture 14">
            <a:extLst>
              <a:ext uri="{FF2B5EF4-FFF2-40B4-BE49-F238E27FC236}">
                <a16:creationId xmlns:a16="http://schemas.microsoft.com/office/drawing/2014/main" id="{E84795AA-8702-A642-567B-5BC2A0531CCA}"/>
              </a:ext>
            </a:extLst>
          </p:cNvPr>
          <p:cNvPicPr>
            <a:picLocks noChangeAspect="1"/>
          </p:cNvPicPr>
          <p:nvPr/>
        </p:nvPicPr>
        <p:blipFill>
          <a:blip r:embed="rId8"/>
          <a:stretch>
            <a:fillRect/>
          </a:stretch>
        </p:blipFill>
        <p:spPr>
          <a:xfrm>
            <a:off x="2816822" y="5135823"/>
            <a:ext cx="2619741" cy="876422"/>
          </a:xfrm>
          <a:prstGeom prst="rect">
            <a:avLst/>
          </a:prstGeom>
        </p:spPr>
      </p:pic>
      <p:pic>
        <p:nvPicPr>
          <p:cNvPr id="17" name="Picture 16">
            <a:extLst>
              <a:ext uri="{FF2B5EF4-FFF2-40B4-BE49-F238E27FC236}">
                <a16:creationId xmlns:a16="http://schemas.microsoft.com/office/drawing/2014/main" id="{4DE05DB5-9344-729C-6201-ECF11F627DAF}"/>
              </a:ext>
            </a:extLst>
          </p:cNvPr>
          <p:cNvPicPr>
            <a:picLocks noChangeAspect="1"/>
          </p:cNvPicPr>
          <p:nvPr/>
        </p:nvPicPr>
        <p:blipFill>
          <a:blip r:embed="rId9"/>
          <a:stretch>
            <a:fillRect/>
          </a:stretch>
        </p:blipFill>
        <p:spPr>
          <a:xfrm>
            <a:off x="5784427" y="5240612"/>
            <a:ext cx="1514686" cy="666843"/>
          </a:xfrm>
          <a:prstGeom prst="rect">
            <a:avLst/>
          </a:prstGeom>
        </p:spPr>
      </p:pic>
      <p:pic>
        <p:nvPicPr>
          <p:cNvPr id="19" name="Picture 18">
            <a:extLst>
              <a:ext uri="{FF2B5EF4-FFF2-40B4-BE49-F238E27FC236}">
                <a16:creationId xmlns:a16="http://schemas.microsoft.com/office/drawing/2014/main" id="{554EA8F3-C6BE-0086-1291-9C947E870187}"/>
              </a:ext>
            </a:extLst>
          </p:cNvPr>
          <p:cNvPicPr>
            <a:picLocks noChangeAspect="1"/>
          </p:cNvPicPr>
          <p:nvPr/>
        </p:nvPicPr>
        <p:blipFill>
          <a:blip r:embed="rId10"/>
          <a:stretch>
            <a:fillRect/>
          </a:stretch>
        </p:blipFill>
        <p:spPr>
          <a:xfrm>
            <a:off x="7490533" y="5289917"/>
            <a:ext cx="1228896" cy="581106"/>
          </a:xfrm>
          <a:prstGeom prst="rect">
            <a:avLst/>
          </a:prstGeom>
        </p:spPr>
      </p:pic>
      <p:pic>
        <p:nvPicPr>
          <p:cNvPr id="4" name="Picture 3">
            <a:extLst>
              <a:ext uri="{FF2B5EF4-FFF2-40B4-BE49-F238E27FC236}">
                <a16:creationId xmlns:a16="http://schemas.microsoft.com/office/drawing/2014/main" id="{9726644E-3C00-0B5B-C628-D39FEE4AB932}"/>
              </a:ext>
            </a:extLst>
          </p:cNvPr>
          <p:cNvPicPr>
            <a:picLocks noChangeAspect="1"/>
          </p:cNvPicPr>
          <p:nvPr/>
        </p:nvPicPr>
        <p:blipFill>
          <a:blip r:embed="rId11"/>
          <a:stretch>
            <a:fillRect/>
          </a:stretch>
        </p:blipFill>
        <p:spPr>
          <a:xfrm>
            <a:off x="9115470" y="5327680"/>
            <a:ext cx="2553056" cy="619211"/>
          </a:xfrm>
          <a:prstGeom prst="rect">
            <a:avLst/>
          </a:prstGeom>
        </p:spPr>
      </p:pic>
      <p:sp>
        <p:nvSpPr>
          <p:cNvPr id="14" name="TextBox 13">
            <a:extLst>
              <a:ext uri="{FF2B5EF4-FFF2-40B4-BE49-F238E27FC236}">
                <a16:creationId xmlns:a16="http://schemas.microsoft.com/office/drawing/2014/main" id="{851F17FF-AE8A-2BED-B46B-DE407FC08EBA}"/>
              </a:ext>
            </a:extLst>
          </p:cNvPr>
          <p:cNvSpPr txBox="1"/>
          <p:nvPr/>
        </p:nvSpPr>
        <p:spPr>
          <a:xfrm>
            <a:off x="11882" y="5862671"/>
            <a:ext cx="11812589" cy="369332"/>
          </a:xfrm>
          <a:prstGeom prst="rect">
            <a:avLst/>
          </a:prstGeom>
          <a:noFill/>
        </p:spPr>
        <p:txBody>
          <a:bodyPr wrap="square">
            <a:spAutoFit/>
          </a:bodyPr>
          <a:lstStyle/>
          <a:p>
            <a:pPr marL="285750" indent="-285750">
              <a:buFont typeface="Arial" panose="020B0604020202020204" pitchFamily="34" charset="0"/>
              <a:buChar char="•"/>
            </a:pPr>
            <a:r>
              <a:rPr lang="en-US" b="1" dirty="0"/>
              <a:t>Interpret the result</a:t>
            </a:r>
            <a:r>
              <a:rPr lang="en-US" dirty="0"/>
              <a:t>: Compare the probability with a threshold of 0.5 to decide whether the student will pass the exam</a:t>
            </a:r>
          </a:p>
        </p:txBody>
      </p:sp>
    </p:spTree>
    <p:extLst>
      <p:ext uri="{BB962C8B-B14F-4D97-AF65-F5344CB8AC3E}">
        <p14:creationId xmlns:p14="http://schemas.microsoft.com/office/powerpoint/2010/main" val="10962075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8520929" cy="394723"/>
          </a:xfrm>
          <a:prstGeom prst="rect">
            <a:avLst/>
          </a:prstGeom>
        </p:spPr>
        <p:txBody>
          <a:bodyPr vert="horz" wrap="square" lIns="0" tIns="0" rIns="0" bIns="0" rtlCol="0">
            <a:spAutoFit/>
          </a:bodyPr>
          <a:lstStyle/>
          <a:p>
            <a:pPr marL="15875"/>
            <a:r>
              <a:rPr lang="en-US" sz="2565" b="1" spc="13" dirty="0">
                <a:solidFill>
                  <a:srgbClr val="0070C0"/>
                </a:solidFill>
                <a:latin typeface="Arial" panose="020B0604020202020204"/>
                <a:cs typeface="Arial" panose="020B0604020202020204"/>
              </a:rPr>
              <a:t>Logistic Regression – Work out Example</a:t>
            </a:r>
            <a:endParaRPr lang="en-US" sz="2565" dirty="0">
              <a:solidFill>
                <a:srgbClr val="0070C0"/>
              </a:solidFill>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442422"/>
            <a:ext cx="12105504" cy="6091650"/>
            <a:chOff x="127862" y="1254455"/>
            <a:chExt cx="9296400" cy="862169"/>
          </a:xfrm>
        </p:grpSpPr>
        <p:sp>
          <p:nvSpPr>
            <p:cNvPr id="29" name="Rectangle 28"/>
            <p:cNvSpPr/>
            <p:nvPr/>
          </p:nvSpPr>
          <p:spPr>
            <a:xfrm>
              <a:off x="127862" y="1270374"/>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73546" y="1254455"/>
              <a:ext cx="9071457" cy="717179"/>
            </a:xfrm>
            <a:prstGeom prst="rect">
              <a:avLst/>
            </a:prstGeom>
          </p:spPr>
          <p:txBody>
            <a:bodyPr vert="horz" wrap="square" lIns="0" tIns="0" rIns="0" bIns="0" numCol="1" rtlCol="0">
              <a:spAutoFit/>
            </a:bodyPr>
            <a:lstStyle/>
            <a:p>
              <a:pPr marL="357505" indent="-357505" algn="just" fontAlgn="base">
                <a:lnSpc>
                  <a:spcPct val="200000"/>
                </a:lnSpc>
                <a:buFont typeface="Arial" panose="020B0604020202020204" pitchFamily="34" charset="0"/>
                <a:buChar char="•"/>
              </a:pPr>
              <a:r>
                <a:rPr lang="en-US" sz="2400" dirty="0"/>
                <a:t>Predict Whether a Student Passes an Exam</a:t>
              </a:r>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marL="357505" indent="-357505" algn="just" fontAlgn="base">
                <a:lnSpc>
                  <a:spcPct val="200000"/>
                </a:lnSpc>
                <a:buFont typeface="Arial" panose="020B0604020202020204" pitchFamily="34" charset="0"/>
                <a:buChar char="•"/>
              </a:pPr>
              <a:endParaRPr lang="en-US" sz="2400" dirty="0"/>
            </a:p>
            <a:p>
              <a:pPr algn="just" fontAlgn="base">
                <a:lnSpc>
                  <a:spcPct val="200000"/>
                </a:lnSpc>
              </a:pPr>
              <a:endParaRPr lang="en-US" sz="2400" dirty="0"/>
            </a:p>
          </p:txBody>
        </p:sp>
      </p:grpSp>
      <p:sp>
        <p:nvSpPr>
          <p:cNvPr id="8" name="Date Placeholder 5"/>
          <p:cNvSpPr>
            <a:spLocks noGrp="1"/>
          </p:cNvSpPr>
          <p:nvPr>
            <p:ph type="dt" sz="half" idx="10"/>
          </p:nvPr>
        </p:nvSpPr>
        <p:spPr>
          <a:xfrm>
            <a:off x="11883" y="6201143"/>
            <a:ext cx="4038600" cy="365125"/>
          </a:xfrm>
        </p:spPr>
        <p:style>
          <a:lnRef idx="1">
            <a:schemeClr val="accent1"/>
          </a:lnRef>
          <a:fillRef idx="2">
            <a:schemeClr val="accent1"/>
          </a:fillRef>
          <a:effectRef idx="1">
            <a:schemeClr val="accent1"/>
          </a:effectRef>
          <a:fontRef idx="minor">
            <a:schemeClr val="dk1"/>
          </a:fontRef>
        </p:style>
        <p:txBody>
          <a:bodyPr/>
          <a:lstStyle/>
          <a:p>
            <a:fld id="{C0342EEB-B923-4001-94E1-385C2F19D89B}" type="datetime1">
              <a:rPr lang="en-IN" b="1" smtClean="0">
                <a:solidFill>
                  <a:srgbClr val="0000FF"/>
                </a:solidFill>
                <a:latin typeface="Bookman Old Style" panose="02050604050505020204" pitchFamily="18" charset="0"/>
              </a:rPr>
              <a:t>12-09-2025</a:t>
            </a:fld>
            <a:endParaRPr lang="en-IN" b="1" dirty="0">
              <a:solidFill>
                <a:srgbClr val="0000FF"/>
              </a:solidFill>
              <a:latin typeface="Bookman Old Style" panose="02050604050505020204" pitchFamily="18" charset="0"/>
            </a:endParaRPr>
          </a:p>
        </p:txBody>
      </p:sp>
      <p:sp>
        <p:nvSpPr>
          <p:cNvPr id="10" name="Date Placeholder 5"/>
          <p:cNvSpPr txBox="1"/>
          <p:nvPr/>
        </p:nvSpPr>
        <p:spPr>
          <a:xfrm>
            <a:off x="4062365" y="6214665"/>
            <a:ext cx="8055021" cy="365125"/>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lstStyle>
            <a:defPPr>
              <a:defRPr lang="en-US"/>
            </a:defPPr>
            <a:lvl1pPr marL="0" algn="l" defTabSz="914400" rtl="0" eaLnBrk="1" latinLnBrk="0" hangingPunct="1">
              <a:defRPr sz="1200" b="1" kern="1200">
                <a:solidFill>
                  <a:srgbClr val="0000FF"/>
                </a:solidFill>
                <a:latin typeface="Bookman Old Style" panose="02050604050505020204" pitchFamily="18" charset="0"/>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Design And Analysis of Machine Learning Algorithms</a:t>
            </a:r>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92511" y="0"/>
            <a:ext cx="812993" cy="809380"/>
          </a:xfrm>
          <a:prstGeom prst="rect">
            <a:avLst/>
          </a:prstGeom>
        </p:spPr>
      </p:pic>
      <p:sp>
        <p:nvSpPr>
          <p:cNvPr id="6" name="Slide Number Placeholder 5"/>
          <p:cNvSpPr>
            <a:spLocks noGrp="1"/>
          </p:cNvSpPr>
          <p:nvPr>
            <p:ph type="sldNum" sz="quarter" idx="12"/>
          </p:nvPr>
        </p:nvSpPr>
        <p:spPr/>
        <p:txBody>
          <a:bodyPr/>
          <a:lstStyle/>
          <a:p>
            <a:fld id="{F59C78FD-3676-4262-8623-CA1BA4C6293E}" type="slidenum">
              <a:rPr lang="en-IN" smtClean="0"/>
              <a:t>72</a:t>
            </a:fld>
            <a:endParaRPr lang="en-IN"/>
          </a:p>
        </p:txBody>
      </p:sp>
      <p:pic>
        <p:nvPicPr>
          <p:cNvPr id="11" name="Picture 10">
            <a:extLst>
              <a:ext uri="{FF2B5EF4-FFF2-40B4-BE49-F238E27FC236}">
                <a16:creationId xmlns:a16="http://schemas.microsoft.com/office/drawing/2014/main" id="{5C1EA13A-CE8C-1B83-FC3C-5FD194165357}"/>
              </a:ext>
            </a:extLst>
          </p:cNvPr>
          <p:cNvPicPr>
            <a:picLocks noChangeAspect="1"/>
          </p:cNvPicPr>
          <p:nvPr/>
        </p:nvPicPr>
        <p:blipFill>
          <a:blip r:embed="rId4"/>
          <a:stretch>
            <a:fillRect/>
          </a:stretch>
        </p:blipFill>
        <p:spPr>
          <a:xfrm>
            <a:off x="1536462" y="1185551"/>
            <a:ext cx="6258798" cy="2943636"/>
          </a:xfrm>
          <a:prstGeom prst="rect">
            <a:avLst/>
          </a:prstGeom>
        </p:spPr>
      </p:pic>
      <p:sp>
        <p:nvSpPr>
          <p:cNvPr id="13" name="TextBox 12">
            <a:extLst>
              <a:ext uri="{FF2B5EF4-FFF2-40B4-BE49-F238E27FC236}">
                <a16:creationId xmlns:a16="http://schemas.microsoft.com/office/drawing/2014/main" id="{CFCF1A61-6D64-AE46-3DC7-30A2495E8B51}"/>
              </a:ext>
            </a:extLst>
          </p:cNvPr>
          <p:cNvSpPr txBox="1"/>
          <p:nvPr/>
        </p:nvSpPr>
        <p:spPr>
          <a:xfrm>
            <a:off x="314727" y="4099471"/>
            <a:ext cx="11384280" cy="2062103"/>
          </a:xfrm>
          <a:prstGeom prst="rect">
            <a:avLst/>
          </a:prstGeom>
          <a:noFill/>
        </p:spPr>
        <p:txBody>
          <a:bodyPr wrap="square">
            <a:spAutoFit/>
          </a:bodyPr>
          <a:lstStyle/>
          <a:p>
            <a:r>
              <a:rPr lang="en-US" sz="2000" dirty="0"/>
              <a:t>The logistic regression model predicts the probability of passing based on the score</a:t>
            </a:r>
            <a:r>
              <a:rPr lang="en-US" dirty="0"/>
              <a:t>. The logistic regression coefficient for the model is are given as :</a:t>
            </a:r>
          </a:p>
          <a:p>
            <a:r>
              <a:rPr lang="en-US" dirty="0"/>
              <a:t>                       z=β0+β1×Score</a:t>
            </a:r>
          </a:p>
          <a:p>
            <a:r>
              <a:rPr lang="en-US" dirty="0"/>
              <a:t>Where:</a:t>
            </a:r>
          </a:p>
          <a:p>
            <a:pPr>
              <a:buFont typeface="Arial" panose="020B0604020202020204" pitchFamily="34" charset="0"/>
              <a:buChar char="•"/>
            </a:pPr>
            <a:r>
              <a:rPr lang="en-US" dirty="0"/>
              <a:t>β0=−8.5</a:t>
            </a:r>
          </a:p>
          <a:p>
            <a:pPr>
              <a:buFont typeface="Arial" panose="020B0604020202020204" pitchFamily="34" charset="0"/>
              <a:buChar char="•"/>
            </a:pPr>
            <a:r>
              <a:rPr lang="en-US" dirty="0"/>
              <a:t>β1=0.1</a:t>
            </a:r>
          </a:p>
          <a:p>
            <a:r>
              <a:rPr lang="en-US" dirty="0"/>
              <a:t>Now, your task is to </a:t>
            </a:r>
            <a:r>
              <a:rPr lang="en-US" b="1" dirty="0"/>
              <a:t>calculate the probability of passing</a:t>
            </a:r>
            <a:r>
              <a:rPr lang="en-US" dirty="0"/>
              <a:t> for a student who scored </a:t>
            </a:r>
            <a:r>
              <a:rPr lang="en-US" b="1" dirty="0"/>
              <a:t>90</a:t>
            </a:r>
            <a:r>
              <a:rPr lang="en-US" dirty="0"/>
              <a:t>.</a:t>
            </a:r>
          </a:p>
        </p:txBody>
      </p:sp>
      <p:pic>
        <p:nvPicPr>
          <p:cNvPr id="5122" name="Picture 2" descr="Question Mark Clipart Problem Statement - Problem Statement Icon Transparent  - Free Transparent PNG Clipart Images Download">
            <a:extLst>
              <a:ext uri="{FF2B5EF4-FFF2-40B4-BE49-F238E27FC236}">
                <a16:creationId xmlns:a16="http://schemas.microsoft.com/office/drawing/2014/main" id="{3976A223-8451-9E5E-72A6-147478E501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82086" y="4606290"/>
            <a:ext cx="1024314" cy="1558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6846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5" y="347730"/>
            <a:ext cx="10515600" cy="6027311"/>
          </a:xfrm>
        </p:spPr>
        <p:txBody>
          <a:bodyPr>
            <a:normAutofit/>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Recap </a:t>
            </a:r>
          </a:p>
          <a:p>
            <a:pPr lvl="0">
              <a:lnSpc>
                <a:spcPct val="100000"/>
              </a:lnSpc>
              <a:spcBef>
                <a:spcPts val="0"/>
              </a:spcBef>
              <a:buFont typeface="Wingdings" panose="05000000000000000000" pitchFamily="2" charset="2"/>
              <a:buChar char="Ø"/>
              <a:defRPr/>
            </a:pPr>
            <a:endParaRPr lang="en-US" b="1" dirty="0">
              <a:latin typeface="Candara" panose="020E0502030303020204" pitchFamily="34" charset="0"/>
            </a:endParaRP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Guidelines for machine learning experiments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Cross Validation (CV) and resampling</a:t>
            </a:r>
          </a:p>
          <a:p>
            <a:pPr>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K-fold CV, measuring classifier performance</a:t>
            </a:r>
          </a:p>
          <a:p>
            <a:pPr lvl="1">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Assessing a single classification algorithm</a:t>
            </a:r>
          </a:p>
          <a:p>
            <a:pPr lvl="1">
              <a:lnSpc>
                <a:spcPct val="150000"/>
              </a:lnSpc>
              <a:buFont typeface="Wingdings" panose="05000000000000000000" pitchFamily="2" charset="2"/>
              <a:buChar char="Ø"/>
              <a:defRPr/>
            </a:pPr>
            <a:r>
              <a:rPr lang="en-US" dirty="0">
                <a:solidFill>
                  <a:srgbClr val="002060"/>
                </a:solidFill>
                <a:latin typeface="Times New Roman" panose="02020603050405020304" pitchFamily="18" charset="0"/>
                <a:cs typeface="Times New Roman" panose="02020603050405020304" pitchFamily="18" charset="0"/>
              </a:rPr>
              <a:t>comparing two classification algorithms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Logistic Regression with Binomial &amp; Multi class classification</a:t>
            </a:r>
          </a:p>
          <a:p>
            <a:pPr>
              <a:lnSpc>
                <a:spcPct val="200000"/>
              </a:lnSpc>
              <a:buFont typeface="Wingdings" panose="05000000000000000000" pitchFamily="2" charset="2"/>
              <a:buChar char="Ø"/>
              <a:defRPr/>
            </a:pPr>
            <a:endParaRPr lang="en-US" dirty="0">
              <a:solidFill>
                <a:srgbClr val="002060"/>
              </a:solidFill>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Ø"/>
              <a:defRPr/>
            </a:pPr>
            <a:endParaRPr lang="en-US" dirty="0">
              <a:solidFill>
                <a:srgbClr val="C00000"/>
              </a:solidFill>
            </a:endParaRP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7775709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70775" y="347730"/>
            <a:ext cx="10515600" cy="6027311"/>
          </a:xfrm>
        </p:spPr>
        <p:txBody>
          <a:bodyPr>
            <a:normAutofit fontScale="85000" lnSpcReduction="20000"/>
          </a:bodyPr>
          <a:lstStyle/>
          <a:p>
            <a:pPr marL="0" lvl="0" indent="0" algn="ctr">
              <a:lnSpc>
                <a:spcPct val="100000"/>
              </a:lnSpc>
              <a:spcBef>
                <a:spcPts val="0"/>
              </a:spcBef>
              <a:buNone/>
              <a:defRPr/>
            </a:pPr>
            <a:r>
              <a:rPr lang="en-US" sz="3300" b="1" i="1" dirty="0">
                <a:solidFill>
                  <a:srgbClr val="002060"/>
                </a:solidFill>
                <a:latin typeface="Times New Roman" panose="02020603050405020304" pitchFamily="18" charset="0"/>
                <a:cs typeface="Times New Roman" panose="02020603050405020304" pitchFamily="18" charset="0"/>
              </a:rPr>
              <a:t>Questions </a:t>
            </a:r>
          </a:p>
          <a:p>
            <a:pPr lvl="0">
              <a:lnSpc>
                <a:spcPct val="100000"/>
              </a:lnSpc>
              <a:spcBef>
                <a:spcPts val="0"/>
              </a:spcBef>
              <a:buFont typeface="Wingdings" panose="05000000000000000000" pitchFamily="2" charset="2"/>
              <a:buChar char="Ø"/>
              <a:defRPr/>
            </a:pPr>
            <a:endParaRPr lang="en-US" b="1" dirty="0">
              <a:latin typeface="Candara" panose="020E0502030303020204" pitchFamily="34" charset="0"/>
            </a:endParaRP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Define cross validation and resampling</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Differentiate between k fold cross validation and stratified cross validation</a:t>
            </a:r>
          </a:p>
          <a:p>
            <a:pPr>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Explain the Logistic Regression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Differentiate the Logistic and Linear Regression</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Enumerate the methods used to identify multi class classification</a:t>
            </a:r>
          </a:p>
          <a:p>
            <a:pPr>
              <a:lnSpc>
                <a:spcPct val="150000"/>
              </a:lnSpc>
              <a:buFont typeface="Wingdings" panose="05000000000000000000" pitchFamily="2" charset="2"/>
              <a:buChar char="Ø"/>
              <a:defRPr/>
            </a:pPr>
            <a:r>
              <a:rPr lang="en-US" sz="2800" dirty="0">
                <a:solidFill>
                  <a:srgbClr val="C00000"/>
                </a:solidFill>
                <a:latin typeface="Times New Roman" panose="02020603050405020304" pitchFamily="18" charset="0"/>
                <a:cs typeface="Times New Roman" panose="02020603050405020304" pitchFamily="18" charset="0"/>
              </a:rPr>
              <a:t>Discuss the guidelines followed for the machine learning experiments with the suitable techniques</a:t>
            </a:r>
          </a:p>
          <a:p>
            <a:pPr>
              <a:lnSpc>
                <a:spcPct val="150000"/>
              </a:lnSpc>
              <a:buFont typeface="Wingdings" panose="05000000000000000000" pitchFamily="2" charset="2"/>
              <a:buChar char="Ø"/>
              <a:defRPr/>
            </a:pPr>
            <a:r>
              <a:rPr lang="en-US" sz="2800" dirty="0">
                <a:solidFill>
                  <a:srgbClr val="002060"/>
                </a:solidFill>
                <a:latin typeface="Times New Roman" panose="02020603050405020304" pitchFamily="18" charset="0"/>
                <a:cs typeface="Times New Roman" panose="02020603050405020304" pitchFamily="18" charset="0"/>
              </a:rPr>
              <a:t>Suggest th</a:t>
            </a:r>
            <a:r>
              <a:rPr lang="en-US" dirty="0">
                <a:solidFill>
                  <a:srgbClr val="002060"/>
                </a:solidFill>
                <a:latin typeface="Times New Roman" panose="02020603050405020304" pitchFamily="18" charset="0"/>
                <a:cs typeface="Times New Roman" panose="02020603050405020304" pitchFamily="18" charset="0"/>
              </a:rPr>
              <a:t>e procedures for the comparison of two classification algorithms</a:t>
            </a:r>
          </a:p>
          <a:p>
            <a:pPr>
              <a:lnSpc>
                <a:spcPct val="150000"/>
              </a:lnSpc>
              <a:buFont typeface="Wingdings" panose="05000000000000000000" pitchFamily="2" charset="2"/>
              <a:buChar char="Ø"/>
              <a:defRPr/>
            </a:pPr>
            <a:r>
              <a:rPr lang="en-US" dirty="0">
                <a:solidFill>
                  <a:srgbClr val="C00000"/>
                </a:solidFill>
                <a:latin typeface="Times New Roman" panose="02020603050405020304" pitchFamily="18" charset="0"/>
                <a:cs typeface="Times New Roman" panose="02020603050405020304" pitchFamily="18" charset="0"/>
              </a:rPr>
              <a:t>Describe any four strategies adapted for cross validation</a:t>
            </a:r>
          </a:p>
          <a:p>
            <a:pPr>
              <a:lnSpc>
                <a:spcPct val="200000"/>
              </a:lnSpc>
              <a:buFont typeface="Wingdings" panose="05000000000000000000" pitchFamily="2" charset="2"/>
              <a:buChar char="Ø"/>
              <a:defRPr/>
            </a:pPr>
            <a:endParaRPr lang="en-US" dirty="0">
              <a:solidFill>
                <a:srgbClr val="C00000"/>
              </a:solidFill>
            </a:endParaRPr>
          </a:p>
          <a:p>
            <a:pPr>
              <a:buFont typeface="Wingdings" panose="05000000000000000000" pitchFamily="2" charset="2"/>
              <a:buChar char="Ø"/>
              <a:defRPr/>
            </a:pPr>
            <a:endParaRPr lang="en-US" dirty="0"/>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defRPr/>
            </a:pPr>
            <a:endParaRPr lang="en-US" b="1" dirty="0">
              <a:latin typeface="Candara" panose="020E0502030303020204" pitchFamily="34" charset="0"/>
            </a:endParaRP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4074009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5"/>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67"/>
</p:tagLst>
</file>

<file path=ppt/tags/tag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67"/>
</p:tagLst>
</file>

<file path=ppt/tags/tag9.xml><?xml version="1.0" encoding="utf-8"?>
<p:tagLst xmlns:a="http://schemas.openxmlformats.org/drawingml/2006/main" xmlns:r="http://schemas.openxmlformats.org/officeDocument/2006/relationships"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67"/>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2*a*1"/>
  <p:tag name="KSO_WM_UNIT_LAYERLEVEL" val="1"/>
  <p:tag name="KSO_WM_TAG_VERSION" val="3.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CONTENTS"/>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CONTENT_GROUP_TYPE" val="contentchip"/>
  <p:tag name="KSO_WM_UNIT_TYPE" val="e"/>
  <p:tag name="KSO_WM_UNIT_INDEX" val="1"/>
  <p:tag name="KSO_WM_UNIT_ID" val="_4*e*1"/>
  <p:tag name="KSO_WM_UNIT_LAYERLEVEL" val="1"/>
  <p:tag name="KSO_WM_TAG_VERSION" val="3.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章节标题"/>
  <p:tag name="KSO_WM_UNIT_NOCLEAR" val="0"/>
  <p:tag name="KSO_WM_UNIT_VALUE" val="9"/>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5*a*1"/>
  <p:tag name="KSO_WM_UNIT_LAYERLEVEL" val="1"/>
  <p:tag name="KSO_WM_TAG_VERSION" val="3.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6*a*1"/>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7*a*1"/>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10*i*2"/>
  <p:tag name="KSO_WM_UNIT_LAYERLEVEL" val="1"/>
  <p:tag name="KSO_WM_TAG_VERSION" val="3.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CONTENT_GROUP_TYPE" val="titlestyle"/>
  <p:tag name="KSO_WM_UNIT_TYPE" val="b"/>
  <p:tag name="KSO_WM_UNIT_INDEX" val="1"/>
  <p:tag name="KSO_WM_UNIT_ID" val="_10*b*1"/>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10*a*1"/>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SLIDE_CONTENT_AREA" val="{&quot;left&quot;:&quot;45.5&quot;,&quot;top&quot;:&quot;113.15&quot;,&quot;width&quot;:&quot;527.9&quot;,&quot;height&quot;:&quot;299.25&quot;}"/>
  <p:tag name="KSO_WM_SPECIAL_SOURCE" val="bdnull"/>
  <p:tag name="KSO_WM_TEMPLATE_THUMBS_INDEX" val="1、9"/>
  <p:tag name="KSO_WM_SLIDE_ID" val="custom20233467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67"/>
  <p:tag name="KSO_WM_SLIDE_LAYOUT" val="a_f"/>
  <p:tag name="KSO_WM_SLIDE_LAYOUT_CNT" val="1_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custom20233467_1*f*1"/>
  <p:tag name="KSO_WM_TEMPLATE_CATEGORY" val="custom"/>
  <p:tag name="KSO_WM_TEMPLATE_INDEX" val="20233467"/>
  <p:tag name="KSO_WM_UNIT_LAYERLEVEL" val="1"/>
  <p:tag name="KSO_WM_TAG_VERSION" val="3.0"/>
  <p:tag name="KSO_WM_BEAUTIFY_FLAG" val="#wm#"/>
  <p:tag name="KSO_WM_UNIT_PRESET_TEXT" val="Name"/>
</p:tagLst>
</file>

<file path=ppt/tags/tag8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3467_1*a*1"/>
  <p:tag name="KSO_WM_TEMPLATE_CATEGORY" val="custom"/>
  <p:tag name="KSO_WM_TEMPLATE_INDEX" val="20233467"/>
  <p:tag name="KSO_WM_UNIT_LAYERLEVEL" val="1"/>
  <p:tag name="KSO_WM_TAG_VERSION" val="3.0"/>
  <p:tag name="KSO_WM_BEAUTIFY_FLAG" val="#wm#"/>
  <p:tag name="KSO_WM_UNIT_PRESET_TEXT" val="Your title her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17">
      <a:dk1>
        <a:srgbClr val="000000"/>
      </a:dk1>
      <a:lt1>
        <a:srgbClr val="FFFFFF"/>
      </a:lt1>
      <a:dk2>
        <a:srgbClr val="291667"/>
      </a:dk2>
      <a:lt2>
        <a:srgbClr val="F1EAFB"/>
      </a:lt2>
      <a:accent1>
        <a:srgbClr val="BC98F0"/>
      </a:accent1>
      <a:accent2>
        <a:srgbClr val="CA8BEF"/>
      </a:accent2>
      <a:accent3>
        <a:srgbClr val="D77EEE"/>
      </a:accent3>
      <a:accent4>
        <a:srgbClr val="E285CF"/>
      </a:accent4>
      <a:accent5>
        <a:srgbClr val="EAA194"/>
      </a:accent5>
      <a:accent6>
        <a:srgbClr val="F2BD58"/>
      </a:accent6>
      <a:hlink>
        <a:srgbClr val="158BF9"/>
      </a:hlink>
      <a:folHlink>
        <a:srgbClr val="DE1A37"/>
      </a:folHlink>
    </a:clrScheme>
    <a:fontScheme name="字体-立体">
      <a:majorFont>
        <a:latin typeface="Nunito Sans ExtraBold"/>
        <a:ea typeface="Nunito Sans ExtraBold"/>
        <a:cs typeface=""/>
      </a:majorFont>
      <a:minorFont>
        <a:latin typeface="Nunito Sans"/>
        <a:ea typeface="Nunito San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4683</TotalTime>
  <Words>6597</Words>
  <Application>Microsoft Office PowerPoint</Application>
  <PresentationFormat>Widescreen</PresentationFormat>
  <Paragraphs>1225</Paragraphs>
  <Slides>74</Slides>
  <Notes>63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74</vt:i4>
      </vt:variant>
    </vt:vector>
  </HeadingPairs>
  <TitlesOfParts>
    <vt:vector size="86" baseType="lpstr">
      <vt:lpstr>Arial</vt:lpstr>
      <vt:lpstr>Bookman Old Style</vt:lpstr>
      <vt:lpstr>Calibri</vt:lpstr>
      <vt:lpstr>Calibri Light</vt:lpstr>
      <vt:lpstr>Candara</vt:lpstr>
      <vt:lpstr>Nunito Sans</vt:lpstr>
      <vt:lpstr>Nunito Sans ExtraBold</vt:lpstr>
      <vt:lpstr>Roboto</vt:lpstr>
      <vt:lpstr>Times New Roman</vt:lpstr>
      <vt:lpstr>Wingdings</vt:lpstr>
      <vt:lpstr>Office Theme</vt:lpstr>
      <vt:lpstr>1_Office Theme</vt:lpstr>
      <vt:lpstr>MACHINE LEARNING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Thenmalar S</dc:creator>
  <cp:lastModifiedBy>Thenmalar S</cp:lastModifiedBy>
  <cp:revision>58</cp:revision>
  <dcterms:created xsi:type="dcterms:W3CDTF">2024-09-06T22:49:00Z</dcterms:created>
  <dcterms:modified xsi:type="dcterms:W3CDTF">2025-09-13T07:19:29Z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ACB37FB856BC4F309105F64BEDC18A77_12</vt:lpwstr>
  </property>
  <property fmtid="{D5CDD505-2E9C-101B-9397-08002B2CF9AE}" pid="3" name="KSOProductBuildVer">
    <vt:lpwstr>1033-12.2.0.17562</vt:lpwstr>
  </property>
</Properties>
</file>