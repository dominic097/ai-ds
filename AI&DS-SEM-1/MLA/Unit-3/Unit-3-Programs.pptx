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89" r:id="rId8"/>
    <p:sldId id="290" r:id="rId9"/>
    <p:sldId id="291" r:id="rId10"/>
    <p:sldId id="292" r:id="rId11"/>
    <p:sldId id="293" r:id="rId12"/>
    <p:sldId id="312" r:id="rId13"/>
    <p:sldId id="257" r:id="rId14"/>
    <p:sldId id="294" r:id="rId15"/>
    <p:sldId id="314" r:id="rId16"/>
    <p:sldId id="315" r:id="rId17"/>
    <p:sldId id="316" r:id="rId18"/>
    <p:sldId id="317" r:id="rId19"/>
    <p:sldId id="318" r:id="rId20"/>
    <p:sldId id="319" r:id="rId21"/>
    <p:sldId id="313" r:id="rId22"/>
    <p:sldId id="321" r:id="rId23"/>
    <p:sldId id="259" r:id="rId24"/>
    <p:sldId id="263" r:id="rId25"/>
    <p:sldId id="264" r:id="rId26"/>
    <p:sldId id="322" r:id="rId27"/>
    <p:sldId id="323" r:id="rId28"/>
    <p:sldId id="324" r:id="rId29"/>
    <p:sldId id="325" r:id="rId30"/>
    <p:sldId id="326" r:id="rId31"/>
    <p:sldId id="270" r:id="rId32"/>
    <p:sldId id="271" r:id="rId33"/>
    <p:sldId id="272" r:id="rId34"/>
    <p:sldId id="273" r:id="rId35"/>
    <p:sldId id="327" r:id="rId36"/>
    <p:sldId id="27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1B7FF-DBAA-FFE1-3A23-E171908603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51610E-980C-B59B-F3B0-8C36749FF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68083-0710-4519-0957-CC98DEBD8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61DA-9B22-40A1-B8A1-A1D89702CEC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E3480-0922-1C9D-7776-8D8FA51CE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3946B-2ED4-0E51-19D7-C92F5B106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8A799-284A-4DAC-98E1-68974688E5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341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683CB-B6E2-19FF-36E2-C4A2B0D73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CBB4F-C329-DBF4-BAE7-55B940CB5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DB291-2F3E-83CE-9D45-273BC02E2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61DA-9B22-40A1-B8A1-A1D89702CEC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C5E9B-8875-59BB-5E5F-F845028F1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02A45-7390-F997-0BCC-2D4310387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8A799-284A-4DAC-98E1-68974688E5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872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E31B9-F852-9771-2B70-A45D1F394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E9CD6-EF55-B9F3-0B2D-29DE6E074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C1AE2-37C1-05CC-D5B3-1567BF109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61DA-9B22-40A1-B8A1-A1D89702CEC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0B7C1-FD7C-02A2-0F66-0015D368E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EAF81-CC9A-00E1-089D-DDD1064EA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8A799-284A-4DAC-98E1-68974688E5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530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26A8C-D1E4-3257-74FC-1E3F15C97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E7245-7F91-CF5C-1A50-16B2C8C39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16CAF-F247-1739-4ED3-EB7A90513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E1898-8249-F6F9-32E9-A45685805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61DA-9B22-40A1-B8A1-A1D89702CEC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15052-5C06-6EC2-CF98-5FD2AEC2A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78C9F-7BA3-14DE-5DAB-AE44527AA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8A799-284A-4DAC-98E1-68974688E5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271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A6010-18CF-F1A5-E1FE-87D9E6DC3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2E64B-CDE0-6FE7-CF96-58F9D8E35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4E7A6-1511-F37E-9A5E-D4F499483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A76F02-FFBC-F695-F4EC-06DFFE1554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BE6790-4F04-87C5-9355-31B3427B35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0EF947-D9A1-ABB3-090E-6608FE8E9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61DA-9B22-40A1-B8A1-A1D89702CEC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93EF2E-8800-013C-3023-79A1C9DD0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2BEE77-8C56-FC52-63E9-D640B1BD6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8A799-284A-4DAC-98E1-68974688E5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983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3B3C0-DCD4-3411-ACCA-891542B98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206615-774C-6D05-3EEE-7F6C61E94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61DA-9B22-40A1-B8A1-A1D89702CEC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E21416-6F16-48DE-7F09-F67627671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ACBB5A-CC4A-C6D3-9A93-06FE31A6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8A799-284A-4DAC-98E1-68974688E5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635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752C9-FACA-2CEE-EBEE-D34BE151B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61DA-9B22-40A1-B8A1-A1D89702CEC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226D1E-82E7-C54F-6EF8-9885F6A0C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9115D-0080-F3FD-B6F1-3B378D643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8A799-284A-4DAC-98E1-68974688E5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04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37A10-C2C6-DE29-0FE4-5A1E62766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38A52-AEC7-1BDB-4E56-66F1F6AB0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39890-1A05-758C-2DFA-BE0B93EEA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407C6-485F-94EF-981E-8C5EECD80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61DA-9B22-40A1-B8A1-A1D89702CEC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6467A7-49C1-B799-87F6-AF54B27B4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FFCFFD-6898-38F3-89F3-5312F7EBF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8A799-284A-4DAC-98E1-68974688E5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77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0CF6-3F0D-F481-AC4D-F7FB4120A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5986E5-59AE-3D33-4878-D0F402DB27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737410-4970-0ECF-F82C-98D3B869A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D941C-9630-5A2A-F05A-C568EB2C7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61DA-9B22-40A1-B8A1-A1D89702CEC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3D087-5A67-D2DA-F471-A87FAA81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B2097-0FA8-510A-72C0-887812E7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8A799-284A-4DAC-98E1-68974688E5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32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09099-3951-36EC-024F-86EF5C60D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12EC34-DDCF-190E-5023-A1FB6F3C98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58A9D-FA60-7C90-DFB3-A69FF691B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61DA-9B22-40A1-B8A1-A1D89702CEC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8ECE1-3B81-5A67-B0C9-0F142FB82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204ED-C022-AABE-B636-AF1EEC1C6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8A799-284A-4DAC-98E1-68974688E5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470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71FC3E-8B59-9635-629C-B329B25013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659440-72ED-578A-734A-491EFB8EB0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5239E-F8AC-664C-1388-D89B54CCB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61DA-9B22-40A1-B8A1-A1D89702CEC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5E630-60F2-DCFA-6A68-E3FAAB27C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4FF50-E35F-2E1A-F44B-0979F62A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8A799-284A-4DAC-98E1-68974688E5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42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9BE03C-A544-C13C-2303-6FDFF0D85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D509-1E61-E5E6-986A-D224285CF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6B5ED-0C46-634A-3768-4BA3209100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E61DA-9B22-40A1-B8A1-A1D89702CEC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034EB-C4AC-57F0-AF37-9C42FF425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FD85E-1AEE-5D01-54C1-595078B5D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8A799-284A-4DAC-98E1-68974688E5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465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B5846D-075F-D57E-2FEC-5704A6203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045" y="2656041"/>
            <a:ext cx="10515600" cy="1325563"/>
          </a:xfrm>
        </p:spPr>
        <p:txBody>
          <a:bodyPr/>
          <a:lstStyle/>
          <a:p>
            <a:r>
              <a:rPr lang="en-US" dirty="0"/>
              <a:t>                       </a:t>
            </a:r>
            <a:r>
              <a:rPr lang="en-US" b="1" dirty="0"/>
              <a:t>K-Nearest Neighbour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41684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B787D2-35A1-65D2-A521-B7FB3A915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36" y="285354"/>
            <a:ext cx="11012437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854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69A47A-A174-4466-2908-02DB81ACB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62" y="0"/>
            <a:ext cx="10259500" cy="43388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2CAC4A-23F0-2CE4-4AC7-81AD0B2D5214}"/>
              </a:ext>
            </a:extLst>
          </p:cNvPr>
          <p:cNvSpPr txBox="1"/>
          <p:nvPr/>
        </p:nvSpPr>
        <p:spPr>
          <a:xfrm>
            <a:off x="147485" y="478960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Model will consider </a:t>
            </a:r>
            <a:r>
              <a:rPr lang="en-US" b="1" dirty="0">
                <a:solidFill>
                  <a:srgbClr val="FF0000"/>
                </a:solidFill>
              </a:rPr>
              <a:t>the 5 nearest neighbors </a:t>
            </a:r>
            <a:r>
              <a:rPr lang="en-US" dirty="0"/>
              <a:t>of any new data point to predict its class label.</a:t>
            </a:r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DE506A7-28BB-B3D4-F11D-CB15C7E18B08}"/>
              </a:ext>
            </a:extLst>
          </p:cNvPr>
          <p:cNvCxnSpPr/>
          <p:nvPr/>
        </p:nvCxnSpPr>
        <p:spPr>
          <a:xfrm flipH="1" flipV="1">
            <a:off x="4424516" y="2969342"/>
            <a:ext cx="924233" cy="1946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C2EA6CE-BDD1-C448-9273-187A3C2C3328}"/>
              </a:ext>
            </a:extLst>
          </p:cNvPr>
          <p:cNvSpPr txBox="1"/>
          <p:nvPr/>
        </p:nvSpPr>
        <p:spPr>
          <a:xfrm>
            <a:off x="6243485" y="533274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Allows the model to select the </a:t>
            </a:r>
            <a:r>
              <a:rPr lang="en-US" b="1" dirty="0"/>
              <a:t>most efficient algorithm </a:t>
            </a:r>
            <a:r>
              <a:rPr lang="en-US" dirty="0"/>
              <a:t>automatically (either </a:t>
            </a:r>
            <a:r>
              <a:rPr lang="en-US" b="1" dirty="0">
                <a:solidFill>
                  <a:srgbClr val="FF0000"/>
                </a:solidFill>
              </a:rPr>
              <a:t>ball tree, kd_tree, or brute force</a:t>
            </a:r>
            <a:r>
              <a:rPr lang="en-US" dirty="0"/>
              <a:t>), based on the </a:t>
            </a:r>
            <a:r>
              <a:rPr lang="en-US" b="1" dirty="0"/>
              <a:t>data size and structure</a:t>
            </a:r>
            <a:r>
              <a:rPr lang="en-US" dirty="0"/>
              <a:t>.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AEDCBC8-F117-7E54-9D4C-CCDCEF2581CA}"/>
              </a:ext>
            </a:extLst>
          </p:cNvPr>
          <p:cNvCxnSpPr/>
          <p:nvPr/>
        </p:nvCxnSpPr>
        <p:spPr>
          <a:xfrm flipH="1" flipV="1">
            <a:off x="5997677" y="2969342"/>
            <a:ext cx="3126660" cy="2753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355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D2D24D-8C86-2093-003E-E884EA0DC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26" y="131146"/>
            <a:ext cx="8093141" cy="54944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E2193B-9A23-E587-F479-CE60D1CD4B0C}"/>
              </a:ext>
            </a:extLst>
          </p:cNvPr>
          <p:cNvSpPr txBox="1"/>
          <p:nvPr/>
        </p:nvSpPr>
        <p:spPr>
          <a:xfrm>
            <a:off x="320033" y="5625642"/>
            <a:ext cx="79390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 </a:t>
            </a:r>
            <a:r>
              <a:rPr lang="en-US" b="1" dirty="0"/>
              <a:t>k-d trees </a:t>
            </a:r>
            <a:r>
              <a:rPr lang="en-US" dirty="0"/>
              <a:t>for low-dimensional(&lt;20), large datasets.</a:t>
            </a:r>
          </a:p>
          <a:p>
            <a:r>
              <a:rPr lang="en-US" dirty="0"/>
              <a:t>Use </a:t>
            </a:r>
            <a:r>
              <a:rPr lang="en-US" b="1" dirty="0"/>
              <a:t>Ball tree </a:t>
            </a:r>
            <a:r>
              <a:rPr lang="en-US" dirty="0"/>
              <a:t>for Moderate (20-30),Large dataset</a:t>
            </a:r>
          </a:p>
          <a:p>
            <a:r>
              <a:rPr lang="en-US" dirty="0"/>
              <a:t>Use </a:t>
            </a:r>
            <a:r>
              <a:rPr lang="en-US" b="1" dirty="0"/>
              <a:t>brute-force search </a:t>
            </a:r>
            <a:r>
              <a:rPr lang="en-US" dirty="0"/>
              <a:t>for high-dimensional (&gt;30) small to moderate datasets.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500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3C7AC-DCCA-FF93-CE2C-4C83F2EA4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6" y="79989"/>
            <a:ext cx="10515600" cy="470617"/>
          </a:xfrm>
        </p:spPr>
        <p:txBody>
          <a:bodyPr>
            <a:normAutofit fontScale="90000"/>
          </a:bodyPr>
          <a:lstStyle/>
          <a:p>
            <a:r>
              <a:rPr lang="en-IN" dirty="0"/>
              <a:t>How to find the best K value?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FFB504-03A9-97AD-6B50-B17DF8D9AE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446" y="832802"/>
            <a:ext cx="11098212" cy="494382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08CCA0-1E82-80C7-22C9-0C5843720582}"/>
              </a:ext>
            </a:extLst>
          </p:cNvPr>
          <p:cNvSpPr txBox="1"/>
          <p:nvPr/>
        </p:nvSpPr>
        <p:spPr>
          <a:xfrm>
            <a:off x="7241458" y="1081373"/>
            <a:ext cx="54716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define a </a:t>
            </a:r>
            <a:r>
              <a:rPr lang="en-US" b="1" dirty="0"/>
              <a:t>range</a:t>
            </a:r>
            <a:r>
              <a:rPr lang="en-US" dirty="0"/>
              <a:t> of possible values for each </a:t>
            </a:r>
            <a:r>
              <a:rPr lang="en-US" b="1" dirty="0">
                <a:solidFill>
                  <a:srgbClr val="FF0000"/>
                </a:solidFill>
              </a:rPr>
              <a:t>hyperparameter </a:t>
            </a:r>
            <a:r>
              <a:rPr lang="en-US" dirty="0"/>
              <a:t>(like </a:t>
            </a:r>
            <a:r>
              <a:rPr lang="en-US" b="1" dirty="0"/>
              <a:t>n_neighbors </a:t>
            </a:r>
            <a:r>
              <a:rPr lang="en-US" dirty="0"/>
              <a:t>in </a:t>
            </a:r>
            <a:r>
              <a:rPr lang="en-US" b="1" dirty="0"/>
              <a:t>KNN)</a:t>
            </a:r>
            <a:r>
              <a:rPr lang="en-US" dirty="0"/>
              <a:t> in a </a:t>
            </a:r>
            <a:r>
              <a:rPr lang="en-US" b="1" dirty="0"/>
              <a:t>parameter grid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3926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DFBCE-86B7-DCAE-D0B0-1BB452BD7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/>
          <a:lstStyle/>
          <a:p>
            <a:r>
              <a:rPr lang="en-US" b="1" dirty="0"/>
              <a:t>                  Gaussian Naïve bayes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67308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20149A-9781-765D-CC98-CA43E5089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32" y="60371"/>
            <a:ext cx="8817104" cy="679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07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822BFD-B8C3-CFFA-9D48-081D04D2A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24" y="147484"/>
            <a:ext cx="11539433" cy="586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883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F5CF91-BECC-9CA3-3229-EE9DE409A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2" y="176981"/>
            <a:ext cx="11277296" cy="580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74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D475E6-8E1E-0AA9-04D7-67EEF6BDE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20" y="164483"/>
            <a:ext cx="11641394" cy="329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919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C385E-2569-A39F-349B-98370595F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168" y="2410234"/>
            <a:ext cx="10515600" cy="1325563"/>
          </a:xfrm>
        </p:spPr>
        <p:txBody>
          <a:bodyPr/>
          <a:lstStyle/>
          <a:p>
            <a:r>
              <a:rPr lang="en-US" b="1" dirty="0"/>
              <a:t>              Bernoulli Naïve bayes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81656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642457-0520-DC8A-A507-BC1204D93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88" y="0"/>
            <a:ext cx="9408067" cy="658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03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49DE75-18E4-1B7B-3F5F-115E5A7D0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77" y="184205"/>
            <a:ext cx="9956794" cy="63935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8C1912-4CCE-AE1D-E396-E5A4557E5DFF}"/>
              </a:ext>
            </a:extLst>
          </p:cNvPr>
          <p:cNvSpPr txBox="1"/>
          <p:nvPr/>
        </p:nvSpPr>
        <p:spPr>
          <a:xfrm>
            <a:off x="7777316" y="5063613"/>
            <a:ext cx="41295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probabilities is a 2D array </a:t>
            </a:r>
            <a:r>
              <a:rPr lang="en-US" dirty="0"/>
              <a:t>each </a:t>
            </a:r>
            <a:r>
              <a:rPr lang="en-US" b="1" dirty="0">
                <a:solidFill>
                  <a:srgbClr val="FF0000"/>
                </a:solidFill>
              </a:rPr>
              <a:t>column </a:t>
            </a:r>
            <a:r>
              <a:rPr lang="en-US" dirty="0"/>
              <a:t>gives the probability of a specific class </a:t>
            </a:r>
            <a:r>
              <a:rPr lang="en-US" b="1" dirty="0">
                <a:highlight>
                  <a:srgbClr val="FFFF00"/>
                </a:highlight>
              </a:rPr>
              <a:t>(column 0 = Not Spam, column 1 = Spam)</a:t>
            </a:r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35832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9516B-0865-1D68-D3C2-D0697AC5F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419" y="2351241"/>
            <a:ext cx="10515600" cy="1325563"/>
          </a:xfrm>
        </p:spPr>
        <p:txBody>
          <a:bodyPr/>
          <a:lstStyle/>
          <a:p>
            <a:r>
              <a:rPr lang="en-US" b="1" dirty="0"/>
              <a:t>                Multinomial Naïve bayes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6346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DE1FB5-3519-097A-BBC0-840B69709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93" y="314633"/>
            <a:ext cx="11186328" cy="598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34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1F567E-28A2-F30E-AB75-483D772D0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55" y="357193"/>
            <a:ext cx="9701883" cy="60141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649519-F1AF-646D-C822-263E1F87A2BF}"/>
              </a:ext>
            </a:extLst>
          </p:cNvPr>
          <p:cNvSpPr txBox="1"/>
          <p:nvPr/>
        </p:nvSpPr>
        <p:spPr>
          <a:xfrm>
            <a:off x="5899355" y="90586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>
                <a:highlight>
                  <a:srgbClr val="FFFF00"/>
                </a:highlight>
              </a:rPr>
              <a:t>*</a:t>
            </a:r>
            <a:r>
              <a:rPr lang="en-US" dirty="0"/>
              <a:t> operator unpacks the list of tuples, so </a:t>
            </a:r>
            <a:r>
              <a:rPr lang="en-US" b="1" dirty="0">
                <a:highlight>
                  <a:srgbClr val="FFFF00"/>
                </a:highlight>
              </a:rPr>
              <a:t>zip() </a:t>
            </a:r>
            <a:r>
              <a:rPr lang="en-US" dirty="0"/>
              <a:t>can group the elements at the same positions in each tuple.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867770-B162-10EF-C4FC-2AB596E64980}"/>
              </a:ext>
            </a:extLst>
          </p:cNvPr>
          <p:cNvSpPr txBox="1"/>
          <p:nvPr/>
        </p:nvSpPr>
        <p:spPr>
          <a:xfrm>
            <a:off x="5899355" y="18685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</a:t>
            </a:r>
            <a:r>
              <a:rPr lang="en-US" b="1" dirty="0">
                <a:solidFill>
                  <a:srgbClr val="FF0000"/>
                </a:solidFill>
              </a:rPr>
              <a:t>first elements </a:t>
            </a:r>
            <a:r>
              <a:rPr lang="en-US" dirty="0">
                <a:solidFill>
                  <a:srgbClr val="FF0000"/>
                </a:solidFill>
              </a:rPr>
              <a:t>of all tuples are grouped into </a:t>
            </a:r>
            <a:r>
              <a:rPr lang="en-US" b="1" dirty="0">
                <a:solidFill>
                  <a:srgbClr val="FF0000"/>
                </a:solidFill>
              </a:rPr>
              <a:t>one sequence</a:t>
            </a:r>
            <a:r>
              <a:rPr lang="en-US" dirty="0"/>
              <a:t>.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E16CDFA-2D97-F301-ED5E-570CC7DEFED7}"/>
              </a:ext>
            </a:extLst>
          </p:cNvPr>
          <p:cNvCxnSpPr/>
          <p:nvPr/>
        </p:nvCxnSpPr>
        <p:spPr>
          <a:xfrm flipH="1">
            <a:off x="4837471" y="2053246"/>
            <a:ext cx="2261419" cy="591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486F37F-8594-187E-5ECE-4D86EEAD61E0}"/>
              </a:ext>
            </a:extLst>
          </p:cNvPr>
          <p:cNvSpPr txBox="1"/>
          <p:nvPr/>
        </p:nvSpPr>
        <p:spPr>
          <a:xfrm>
            <a:off x="5968180" y="4156264"/>
            <a:ext cx="6656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</a:t>
            </a:r>
            <a:r>
              <a:rPr lang="en-US" b="1" dirty="0">
                <a:solidFill>
                  <a:srgbClr val="FF0000"/>
                </a:solidFill>
              </a:rPr>
              <a:t>Second elements </a:t>
            </a:r>
            <a:r>
              <a:rPr lang="en-US" dirty="0">
                <a:solidFill>
                  <a:srgbClr val="FF0000"/>
                </a:solidFill>
              </a:rPr>
              <a:t>of all tuples are grouped into one sequence</a:t>
            </a:r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6DD67C-7221-404E-311E-3B0A246A8808}"/>
              </a:ext>
            </a:extLst>
          </p:cNvPr>
          <p:cNvCxnSpPr/>
          <p:nvPr/>
        </p:nvCxnSpPr>
        <p:spPr>
          <a:xfrm flipH="1">
            <a:off x="6381135" y="4434348"/>
            <a:ext cx="924233" cy="639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928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859F18-89AB-6E55-7EDB-7195EBBA12CD}"/>
              </a:ext>
            </a:extLst>
          </p:cNvPr>
          <p:cNvSpPr txBox="1"/>
          <p:nvPr/>
        </p:nvSpPr>
        <p:spPr>
          <a:xfrm>
            <a:off x="1307689" y="2276167"/>
            <a:ext cx="6951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CountVectorizer  </a:t>
            </a:r>
            <a:r>
              <a:rPr lang="en-US" b="1" dirty="0"/>
              <a:t>will also </a:t>
            </a:r>
            <a:r>
              <a:rPr lang="en-US" dirty="0"/>
              <a:t>extract unique features from the texts.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5C019B-BE88-39DF-2CD4-327DF38C012C}"/>
              </a:ext>
            </a:extLst>
          </p:cNvPr>
          <p:cNvSpPr txBox="1"/>
          <p:nvPr/>
        </p:nvSpPr>
        <p:spPr>
          <a:xfrm>
            <a:off x="1307689" y="301966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CountVectorizer</a:t>
            </a:r>
            <a:r>
              <a:rPr lang="en-US" dirty="0"/>
              <a:t> outputs a </a:t>
            </a:r>
            <a:r>
              <a:rPr lang="en-US" b="1" dirty="0"/>
              <a:t>sparse matrix</a:t>
            </a:r>
            <a:r>
              <a:rPr lang="en-US" dirty="0"/>
              <a:t>, which is efficient for storing text data with many zeros.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6C20BC-5695-9684-4FFC-586C67C9C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79" y="465326"/>
            <a:ext cx="10563477" cy="12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799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436FDE-8FB0-1E9E-F3B6-F0D306261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47" y="229387"/>
            <a:ext cx="10102255" cy="61025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42B640-A6B6-250E-1A48-DB1C78079AA9}"/>
              </a:ext>
            </a:extLst>
          </p:cNvPr>
          <p:cNvSpPr txBox="1"/>
          <p:nvPr/>
        </p:nvSpPr>
        <p:spPr>
          <a:xfrm>
            <a:off x="6096000" y="1022158"/>
            <a:ext cx="629051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will print a </a:t>
            </a:r>
            <a:r>
              <a:rPr lang="en-US" b="1" dirty="0"/>
              <a:t>2D array </a:t>
            </a:r>
          </a:p>
          <a:p>
            <a:r>
              <a:rPr lang="en-US" dirty="0"/>
              <a:t>where: </a:t>
            </a:r>
          </a:p>
          <a:p>
            <a:r>
              <a:rPr lang="en-US" b="1" dirty="0">
                <a:solidFill>
                  <a:srgbClr val="FF0000"/>
                </a:solidFill>
              </a:rPr>
              <a:t>Rows correspond to the input texts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002060"/>
                </a:solidFill>
              </a:rPr>
              <a:t>Columns correspond to the </a:t>
            </a:r>
            <a:r>
              <a:rPr lang="en-US" b="1" dirty="0">
                <a:solidFill>
                  <a:srgbClr val="002060"/>
                </a:solidFill>
                <a:highlight>
                  <a:srgbClr val="FFFF00"/>
                </a:highlight>
              </a:rPr>
              <a:t>unique words (features</a:t>
            </a:r>
            <a:r>
              <a:rPr lang="en-US" b="1" dirty="0">
                <a:solidFill>
                  <a:srgbClr val="002060"/>
                </a:solidFill>
              </a:rPr>
              <a:t>) in the vocabulary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Values are the count of each word in the respective text</a:t>
            </a:r>
            <a:r>
              <a:rPr lang="en-US" dirty="0"/>
              <a:t>.</a:t>
            </a:r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0956C5-8B58-472A-2CD1-D3F31A11A19C}"/>
              </a:ext>
            </a:extLst>
          </p:cNvPr>
          <p:cNvCxnSpPr/>
          <p:nvPr/>
        </p:nvCxnSpPr>
        <p:spPr>
          <a:xfrm flipH="1">
            <a:off x="7541342" y="2054942"/>
            <a:ext cx="2723535" cy="3205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273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92621F-9159-DE2C-9866-A2794215E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81" y="219508"/>
            <a:ext cx="10863981" cy="371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079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5774FB-8A7F-4070-3F06-DDE85EEDE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07" y="342976"/>
            <a:ext cx="9261987" cy="6381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8DC3FD-6CBC-DE1B-6C54-6D90E346A501}"/>
              </a:ext>
            </a:extLst>
          </p:cNvPr>
          <p:cNvSpPr txBox="1"/>
          <p:nvPr/>
        </p:nvSpPr>
        <p:spPr>
          <a:xfrm>
            <a:off x="6096000" y="102470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vectorizer</a:t>
            </a:r>
            <a:r>
              <a:rPr lang="en-US" dirty="0"/>
              <a:t> is the previously trained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CountVectorizer </a:t>
            </a:r>
            <a:r>
              <a:rPr lang="en-US" dirty="0"/>
              <a:t>object.</a:t>
            </a:r>
          </a:p>
          <a:p>
            <a:endParaRPr lang="en-US" dirty="0"/>
          </a:p>
          <a:p>
            <a:r>
              <a:rPr lang="en-US" dirty="0"/>
              <a:t>Ensures the </a:t>
            </a:r>
            <a:r>
              <a:rPr lang="en-US" b="1" dirty="0">
                <a:highlight>
                  <a:srgbClr val="00FF00"/>
                </a:highlight>
              </a:rPr>
              <a:t>new text </a:t>
            </a:r>
            <a:r>
              <a:rPr lang="en-US" dirty="0"/>
              <a:t>uses the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same vocabulary (features</a:t>
            </a:r>
            <a:r>
              <a:rPr lang="en-US" dirty="0"/>
              <a:t>) </a:t>
            </a:r>
            <a:r>
              <a:rPr lang="en-US" b="1" dirty="0">
                <a:highlight>
                  <a:srgbClr val="00FF00"/>
                </a:highlight>
              </a:rPr>
              <a:t>learned</a:t>
            </a:r>
            <a:r>
              <a:rPr lang="en-US" dirty="0"/>
              <a:t> during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training.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BE88E89-76E3-9E9C-9603-CE17EEDACF2E}"/>
              </a:ext>
            </a:extLst>
          </p:cNvPr>
          <p:cNvCxnSpPr/>
          <p:nvPr/>
        </p:nvCxnSpPr>
        <p:spPr>
          <a:xfrm flipH="1">
            <a:off x="3490452" y="1209368"/>
            <a:ext cx="3323303" cy="1425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FE57009-1B2C-0361-A9F5-59CAD2EBB772}"/>
              </a:ext>
            </a:extLst>
          </p:cNvPr>
          <p:cNvCxnSpPr/>
          <p:nvPr/>
        </p:nvCxnSpPr>
        <p:spPr>
          <a:xfrm flipH="1">
            <a:off x="5053781" y="1789471"/>
            <a:ext cx="2743200" cy="648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16BE56B-79F3-EBA1-B416-AF6B706F4C34}"/>
              </a:ext>
            </a:extLst>
          </p:cNvPr>
          <p:cNvSpPr txBox="1"/>
          <p:nvPr/>
        </p:nvSpPr>
        <p:spPr>
          <a:xfrm>
            <a:off x="6263148" y="4044775"/>
            <a:ext cx="5683046" cy="930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model.predict(new_X) </a:t>
            </a:r>
            <a:r>
              <a:rPr lang="en-US" dirty="0"/>
              <a:t>uses </a:t>
            </a:r>
            <a:r>
              <a:rPr lang="en-US" b="1" dirty="0"/>
              <a:t>the trained Multinomial Naive Bayes model </a:t>
            </a:r>
            <a:r>
              <a:rPr lang="en-US" dirty="0"/>
              <a:t>to classify the </a:t>
            </a:r>
            <a:r>
              <a:rPr lang="en-US" b="1" dirty="0"/>
              <a:t>transformed new data </a:t>
            </a:r>
            <a:r>
              <a:rPr lang="en-US" b="1" dirty="0">
                <a:highlight>
                  <a:srgbClr val="00FF00"/>
                </a:highlight>
              </a:rPr>
              <a:t>(new_X</a:t>
            </a:r>
            <a:r>
              <a:rPr lang="en-US" dirty="0">
                <a:highlight>
                  <a:srgbClr val="00FF00"/>
                </a:highlight>
              </a:rPr>
              <a:t>).</a:t>
            </a:r>
            <a:endParaRPr lang="en-IN" dirty="0">
              <a:highlight>
                <a:srgbClr val="00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4C84A6-A08C-102F-1DF2-37B9E06C2A1B}"/>
              </a:ext>
            </a:extLst>
          </p:cNvPr>
          <p:cNvSpPr txBox="1"/>
          <p:nvPr/>
        </p:nvSpPr>
        <p:spPr>
          <a:xfrm>
            <a:off x="7914968" y="3519948"/>
            <a:ext cx="1897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00FF"/>
                </a:highlight>
              </a:rPr>
              <a:t>Predicted output</a:t>
            </a:r>
            <a:endParaRPr lang="en-IN" b="1" dirty="0">
              <a:highlight>
                <a:srgbClr val="FF00FF"/>
              </a:highlight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8C983C1-2F14-9201-BC47-8137952B2971}"/>
              </a:ext>
            </a:extLst>
          </p:cNvPr>
          <p:cNvCxnSpPr/>
          <p:nvPr/>
        </p:nvCxnSpPr>
        <p:spPr>
          <a:xfrm flipH="1">
            <a:off x="6263148" y="3733317"/>
            <a:ext cx="17796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409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0E6DF8-50C5-384F-B47B-5B5B19D64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355" y="2766218"/>
            <a:ext cx="10515600" cy="1325563"/>
          </a:xfrm>
        </p:spPr>
        <p:txBody>
          <a:bodyPr/>
          <a:lstStyle/>
          <a:p>
            <a:r>
              <a:rPr lang="en-US" b="1" dirty="0"/>
              <a:t>                Support Vector Machine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93045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703A41-975E-9BCF-EA45-FE670C253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2" y="304801"/>
            <a:ext cx="11822436" cy="465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161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FC4807-8CA6-227B-47FF-588EC9A13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8" y="357573"/>
            <a:ext cx="9727564" cy="614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087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DC4F4C-9AB4-24F5-9F41-0AC15980C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35" y="33996"/>
            <a:ext cx="9419274" cy="67900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C5047C-DBF1-A375-24F2-0FA092DFE054}"/>
              </a:ext>
            </a:extLst>
          </p:cNvPr>
          <p:cNvSpPr txBox="1"/>
          <p:nvPr/>
        </p:nvSpPr>
        <p:spPr>
          <a:xfrm>
            <a:off x="5997678" y="152038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x-axis values </a:t>
            </a:r>
            <a:r>
              <a:rPr lang="en-US" dirty="0"/>
              <a:t>for the scatter plot, which correspond to the values in the </a:t>
            </a:r>
            <a:r>
              <a:rPr lang="en-US" b="1" dirty="0"/>
              <a:t>column "0" </a:t>
            </a:r>
            <a:r>
              <a:rPr lang="en-US" dirty="0"/>
              <a:t>of the </a:t>
            </a:r>
            <a:r>
              <a:rPr lang="en-US" b="1" dirty="0">
                <a:highlight>
                  <a:srgbClr val="FFFF00"/>
                </a:highlight>
              </a:rPr>
              <a:t>DataFrame df.</a:t>
            </a:r>
            <a:endParaRPr lang="en-IN" b="1" dirty="0">
              <a:highlight>
                <a:srgbClr val="FFFF00"/>
              </a:highligh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620A48E-9014-5BE0-9463-5507E8E38166}"/>
              </a:ext>
            </a:extLst>
          </p:cNvPr>
          <p:cNvCxnSpPr/>
          <p:nvPr/>
        </p:nvCxnSpPr>
        <p:spPr>
          <a:xfrm flipH="1">
            <a:off x="3667432" y="1671484"/>
            <a:ext cx="2802194" cy="4798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82AA3E1-E6B5-6BA5-5EB8-1ADDF95D335B}"/>
              </a:ext>
            </a:extLst>
          </p:cNvPr>
          <p:cNvSpPr txBox="1"/>
          <p:nvPr/>
        </p:nvSpPr>
        <p:spPr>
          <a:xfrm>
            <a:off x="6666271" y="246427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y-axis values </a:t>
            </a:r>
            <a:r>
              <a:rPr lang="en-US" dirty="0"/>
              <a:t>for the scatter plot, which correspond to the values in the </a:t>
            </a:r>
            <a:r>
              <a:rPr lang="en-US" b="1" dirty="0"/>
              <a:t>column "1" </a:t>
            </a:r>
            <a:r>
              <a:rPr lang="en-US" dirty="0"/>
              <a:t>of the </a:t>
            </a:r>
            <a:r>
              <a:rPr lang="en-US" b="1" dirty="0"/>
              <a:t>DataFrame df.</a:t>
            </a:r>
            <a:endParaRPr lang="en-IN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C8A60E9-95CF-1D0D-241E-77BBA28FD13E}"/>
              </a:ext>
            </a:extLst>
          </p:cNvPr>
          <p:cNvCxnSpPr/>
          <p:nvPr/>
        </p:nvCxnSpPr>
        <p:spPr>
          <a:xfrm flipH="1">
            <a:off x="4611329" y="2625213"/>
            <a:ext cx="2713703" cy="3844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4435962-DF7A-9C90-ECCD-25F9E3B546DA}"/>
              </a:ext>
            </a:extLst>
          </p:cNvPr>
          <p:cNvSpPr txBox="1"/>
          <p:nvPr/>
        </p:nvSpPr>
        <p:spPr>
          <a:xfrm>
            <a:off x="7143136" y="3901088"/>
            <a:ext cx="44589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points belonging to </a:t>
            </a:r>
            <a:r>
              <a:rPr lang="en-US" b="1" dirty="0"/>
              <a:t>class 0 </a:t>
            </a:r>
            <a:r>
              <a:rPr lang="en-US" dirty="0"/>
              <a:t>will have one </a:t>
            </a:r>
            <a:r>
              <a:rPr lang="en-US" b="1" dirty="0">
                <a:solidFill>
                  <a:srgbClr val="FF0000"/>
                </a:solidFill>
              </a:rPr>
              <a:t>color</a:t>
            </a:r>
            <a:r>
              <a:rPr lang="en-US" dirty="0"/>
              <a:t>, and points in </a:t>
            </a:r>
            <a:r>
              <a:rPr lang="en-US" b="1" dirty="0"/>
              <a:t>class 1 </a:t>
            </a:r>
            <a:r>
              <a:rPr lang="en-US" dirty="0"/>
              <a:t>will have another </a:t>
            </a:r>
            <a:r>
              <a:rPr lang="en-US" b="1" dirty="0">
                <a:solidFill>
                  <a:srgbClr val="FF0000"/>
                </a:solidFill>
              </a:rPr>
              <a:t>color</a:t>
            </a:r>
            <a:r>
              <a:rPr lang="en-US" dirty="0"/>
              <a:t>.</a:t>
            </a:r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6211A2A-07AE-FFE5-EFAC-A0F2757D8E9D}"/>
              </a:ext>
            </a:extLst>
          </p:cNvPr>
          <p:cNvCxnSpPr/>
          <p:nvPr/>
        </p:nvCxnSpPr>
        <p:spPr>
          <a:xfrm flipH="1">
            <a:off x="5329084" y="4385187"/>
            <a:ext cx="2182761" cy="2192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5058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562D3F-18F1-E9D0-3FB0-B046627AE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8" y="61166"/>
            <a:ext cx="8592056" cy="67968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A33EA0-01DC-9535-8AC6-4E63C708B11E}"/>
              </a:ext>
            </a:extLst>
          </p:cNvPr>
          <p:cNvSpPr txBox="1"/>
          <p:nvPr/>
        </p:nvSpPr>
        <p:spPr>
          <a:xfrm>
            <a:off x="8003458" y="625476"/>
            <a:ext cx="371659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Now here you can definitely see that, uh, </a:t>
            </a:r>
            <a:r>
              <a:rPr lang="en-US" b="1" dirty="0"/>
              <a:t>my data points are very clearly separable.</a:t>
            </a:r>
          </a:p>
          <a:p>
            <a:endParaRPr lang="en-US" dirty="0"/>
          </a:p>
          <a:p>
            <a:r>
              <a:rPr lang="en-US" dirty="0"/>
              <a:t>And obviously I can actually create a </a:t>
            </a:r>
            <a:r>
              <a:rPr lang="en-US" b="1" dirty="0"/>
              <a:t>best fit line </a:t>
            </a:r>
            <a:r>
              <a:rPr lang="en-US" dirty="0"/>
              <a:t>with the help of </a:t>
            </a:r>
            <a:r>
              <a:rPr lang="en-US" b="1" dirty="0"/>
              <a:t>SVC.</a:t>
            </a:r>
          </a:p>
          <a:p>
            <a:endParaRPr lang="en-US" dirty="0"/>
          </a:p>
          <a:p>
            <a:r>
              <a:rPr lang="en-US" dirty="0"/>
              <a:t>And for this, the</a:t>
            </a:r>
            <a:r>
              <a:rPr lang="en-US" b="1" dirty="0"/>
              <a:t> SVC </a:t>
            </a:r>
            <a:r>
              <a:rPr lang="en-US" dirty="0"/>
              <a:t>that we will be using, it is called as </a:t>
            </a:r>
            <a:r>
              <a:rPr lang="en-US" b="1" dirty="0"/>
              <a:t>linear SVC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3033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19AC5E-04E3-A4A2-4AF5-66C7AFB4C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67" y="288918"/>
            <a:ext cx="10097729" cy="641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1239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48D5EA-1DEF-39EB-372A-2B4F3E2BF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49" y="128127"/>
            <a:ext cx="10297962" cy="66017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82A965-9B32-B78F-A627-271D1C655752}"/>
              </a:ext>
            </a:extLst>
          </p:cNvPr>
          <p:cNvSpPr txBox="1"/>
          <p:nvPr/>
        </p:nvSpPr>
        <p:spPr>
          <a:xfrm>
            <a:off x="6508954" y="3519949"/>
            <a:ext cx="3932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highlight>
                  <a:srgbClr val="FFFF00"/>
                </a:highlight>
              </a:rPr>
              <a:t>100% Accuracy </a:t>
            </a:r>
            <a:r>
              <a:rPr lang="en-IN" b="1" dirty="0">
                <a:highlight>
                  <a:srgbClr val="FFFF00"/>
                </a:highlight>
              </a:rPr>
              <a:t>because our dataset is linearly separable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9B29F9-2CD9-6A41-1BAD-5BCA5654A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026" y="4088214"/>
            <a:ext cx="3256708" cy="251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376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05698C-097F-B68B-585D-ADA0DC44B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77" y="304800"/>
            <a:ext cx="10463787" cy="50067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590564-4AD8-8CD0-6CCF-368A0A20E6D4}"/>
              </a:ext>
            </a:extLst>
          </p:cNvPr>
          <p:cNvSpPr txBox="1"/>
          <p:nvPr/>
        </p:nvSpPr>
        <p:spPr>
          <a:xfrm>
            <a:off x="6685935" y="1022555"/>
            <a:ext cx="431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 this parameter I changed the cluster group to </a:t>
            </a:r>
            <a:r>
              <a:rPr lang="en-IN" b="1" dirty="0"/>
              <a:t>2, </a:t>
            </a:r>
            <a:r>
              <a:rPr lang="en-IN" dirty="0"/>
              <a:t>previously we gave it as </a:t>
            </a:r>
            <a:r>
              <a:rPr lang="en-IN" b="1" dirty="0"/>
              <a:t>1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9762C9D-9A07-F500-5A81-83E543397788}"/>
              </a:ext>
            </a:extLst>
          </p:cNvPr>
          <p:cNvCxnSpPr/>
          <p:nvPr/>
        </p:nvCxnSpPr>
        <p:spPr>
          <a:xfrm flipH="1" flipV="1">
            <a:off x="8180439" y="707923"/>
            <a:ext cx="373626" cy="599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C612443-A017-A243-0653-8A136C06B3C9}"/>
              </a:ext>
            </a:extLst>
          </p:cNvPr>
          <p:cNvSpPr txBox="1"/>
          <p:nvPr/>
        </p:nvSpPr>
        <p:spPr>
          <a:xfrm>
            <a:off x="786579" y="5512279"/>
            <a:ext cx="7393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n_clusters_per_class=1</a:t>
            </a:r>
            <a:r>
              <a:rPr lang="en-US" dirty="0"/>
              <a:t>, each class </a:t>
            </a:r>
            <a:r>
              <a:rPr lang="en-US" b="1" dirty="0" err="1">
                <a:solidFill>
                  <a:srgbClr val="FF0000"/>
                </a:solidFill>
              </a:rPr>
              <a:t>class</a:t>
            </a:r>
            <a:r>
              <a:rPr lang="en-US" b="1" dirty="0">
                <a:solidFill>
                  <a:srgbClr val="FF0000"/>
                </a:solidFill>
              </a:rPr>
              <a:t> 0 </a:t>
            </a:r>
            <a:r>
              <a:rPr lang="en-US" dirty="0"/>
              <a:t>and </a:t>
            </a:r>
            <a:r>
              <a:rPr lang="en-US" b="1" dirty="0">
                <a:solidFill>
                  <a:srgbClr val="FF0000"/>
                </a:solidFill>
              </a:rPr>
              <a:t>class1</a:t>
            </a:r>
            <a:r>
              <a:rPr lang="en-US" dirty="0"/>
              <a:t> will form it’s own single cluster.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19DD49-D898-67D7-7DFC-28422F4A742F}"/>
              </a:ext>
            </a:extLst>
          </p:cNvPr>
          <p:cNvSpPr txBox="1"/>
          <p:nvPr/>
        </p:nvSpPr>
        <p:spPr>
          <a:xfrm>
            <a:off x="786579" y="618386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n_clusters_per_class &gt; 1 </a:t>
            </a:r>
            <a:r>
              <a:rPr lang="en-US" dirty="0"/>
              <a:t>each class </a:t>
            </a:r>
            <a:r>
              <a:rPr lang="en-US" b="1" dirty="0" err="1">
                <a:solidFill>
                  <a:srgbClr val="FF0000"/>
                </a:solidFill>
              </a:rPr>
              <a:t>class</a:t>
            </a:r>
            <a:r>
              <a:rPr lang="en-US" b="1" dirty="0">
                <a:solidFill>
                  <a:srgbClr val="FF0000"/>
                </a:solidFill>
              </a:rPr>
              <a:t> 0 </a:t>
            </a:r>
            <a:r>
              <a:rPr lang="en-US" dirty="0"/>
              <a:t>and </a:t>
            </a:r>
            <a:r>
              <a:rPr lang="en-US" b="1" dirty="0">
                <a:solidFill>
                  <a:srgbClr val="FF0000"/>
                </a:solidFill>
              </a:rPr>
              <a:t>class1</a:t>
            </a:r>
            <a:r>
              <a:rPr lang="en-US" dirty="0"/>
              <a:t> will form more than one cluster.</a:t>
            </a:r>
            <a:r>
              <a:rPr lang="en-US" b="1" dirty="0">
                <a:highlight>
                  <a:srgbClr val="00FF00"/>
                </a:highlight>
              </a:rPr>
              <a:t> </a:t>
            </a:r>
            <a:endParaRPr lang="en-IN" b="1" dirty="0">
              <a:highlight>
                <a:srgbClr val="00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1B9850-7E1B-827D-1E9D-99B9FDF2364D}"/>
              </a:ext>
            </a:extLst>
          </p:cNvPr>
          <p:cNvSpPr txBox="1"/>
          <p:nvPr/>
        </p:nvSpPr>
        <p:spPr>
          <a:xfrm>
            <a:off x="6754761" y="2133600"/>
            <a:ext cx="3195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Run this code again</a:t>
            </a:r>
          </a:p>
        </p:txBody>
      </p:sp>
    </p:spTree>
    <p:extLst>
      <p:ext uri="{BB962C8B-B14F-4D97-AF65-F5344CB8AC3E}">
        <p14:creationId xmlns:p14="http://schemas.microsoft.com/office/powerpoint/2010/main" val="8878236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1902BF-BC89-ABC0-7DF9-4D71FCDEE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4" y="95216"/>
            <a:ext cx="7247692" cy="64825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1188A6-2019-4862-2197-E916EDEA0894}"/>
              </a:ext>
            </a:extLst>
          </p:cNvPr>
          <p:cNvSpPr txBox="1"/>
          <p:nvPr/>
        </p:nvSpPr>
        <p:spPr>
          <a:xfrm>
            <a:off x="8121445" y="3283974"/>
            <a:ext cx="3549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time we can see </a:t>
            </a:r>
            <a:r>
              <a:rPr lang="en-IN" b="1" dirty="0">
                <a:highlight>
                  <a:srgbClr val="00FF00"/>
                </a:highlight>
              </a:rPr>
              <a:t>more than 2 clusters</a:t>
            </a:r>
            <a:r>
              <a:rPr lang="en-IN" dirty="0"/>
              <a:t> of each class and </a:t>
            </a:r>
            <a:r>
              <a:rPr lang="en-IN" b="1" dirty="0">
                <a:solidFill>
                  <a:srgbClr val="FF0000"/>
                </a:solidFill>
              </a:rPr>
              <a:t>Non linear separable data </a:t>
            </a:r>
            <a:r>
              <a:rPr lang="en-IN" dirty="0"/>
              <a:t>i.e. data overlapping is there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3C93167-F31C-A0DB-9C44-E25950DE47D7}"/>
              </a:ext>
            </a:extLst>
          </p:cNvPr>
          <p:cNvCxnSpPr/>
          <p:nvPr/>
        </p:nvCxnSpPr>
        <p:spPr>
          <a:xfrm flipH="1">
            <a:off x="7482348" y="3429000"/>
            <a:ext cx="825910" cy="189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6619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1F272C-AD02-448C-7D83-F83494B24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82" y="337998"/>
            <a:ext cx="8683666" cy="57953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835F1C-2463-2E7C-A41E-65A6503AB769}"/>
              </a:ext>
            </a:extLst>
          </p:cNvPr>
          <p:cNvSpPr txBox="1"/>
          <p:nvPr/>
        </p:nvSpPr>
        <p:spPr>
          <a:xfrm>
            <a:off x="9576619" y="2163097"/>
            <a:ext cx="2025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Train and Run the Model again for new dataset.</a:t>
            </a:r>
          </a:p>
        </p:txBody>
      </p:sp>
    </p:spTree>
    <p:extLst>
      <p:ext uri="{BB962C8B-B14F-4D97-AF65-F5344CB8AC3E}">
        <p14:creationId xmlns:p14="http://schemas.microsoft.com/office/powerpoint/2010/main" val="27592546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3CDF9A-48D9-0D61-3735-3ECB23829F6B}"/>
              </a:ext>
            </a:extLst>
          </p:cNvPr>
          <p:cNvSpPr txBox="1"/>
          <p:nvPr/>
        </p:nvSpPr>
        <p:spPr>
          <a:xfrm>
            <a:off x="4267200" y="5821376"/>
            <a:ext cx="2772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time you can see </a:t>
            </a:r>
            <a:r>
              <a:rPr lang="en-IN" b="1" dirty="0"/>
              <a:t>Accuracy is reduced to 84%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91CB08-7B09-DA66-C5D2-EED22B071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85" y="390293"/>
            <a:ext cx="9822762" cy="469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5771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20B06A-A49E-236B-46EF-A3DAE2027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273" y="580103"/>
            <a:ext cx="11461804" cy="510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5575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4CFB3C-554D-0504-DB62-C4945ADA8C8C}"/>
              </a:ext>
            </a:extLst>
          </p:cNvPr>
          <p:cNvSpPr txBox="1"/>
          <p:nvPr/>
        </p:nvSpPr>
        <p:spPr>
          <a:xfrm>
            <a:off x="9016181" y="2320413"/>
            <a:ext cx="2143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When Using </a:t>
            </a:r>
            <a:r>
              <a:rPr lang="en-IN" b="1" dirty="0"/>
              <a:t>Rbf</a:t>
            </a:r>
            <a:r>
              <a:rPr lang="en-IN" dirty="0"/>
              <a:t> , we can see a slight improvement in </a:t>
            </a:r>
            <a:r>
              <a:rPr lang="en-IN" b="1" dirty="0">
                <a:solidFill>
                  <a:srgbClr val="FF0000"/>
                </a:solidFill>
              </a:rPr>
              <a:t>accuracy 89%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1BB386-2330-C1FF-117D-71E180E60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0113"/>
            <a:ext cx="8501791" cy="432584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287D8DC-709B-590A-079B-C0931ED17D70}"/>
              </a:ext>
            </a:extLst>
          </p:cNvPr>
          <p:cNvCxnSpPr/>
          <p:nvPr/>
        </p:nvCxnSpPr>
        <p:spPr>
          <a:xfrm flipH="1" flipV="1">
            <a:off x="1592826" y="1956619"/>
            <a:ext cx="8672051" cy="1472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6472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996A53-00E9-6867-9452-65F0CB206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5" y="208262"/>
            <a:ext cx="9615948" cy="66497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8DAA94-0C98-024F-BE94-A429B767B882}"/>
              </a:ext>
            </a:extLst>
          </p:cNvPr>
          <p:cNvSpPr txBox="1"/>
          <p:nvPr/>
        </p:nvSpPr>
        <p:spPr>
          <a:xfrm>
            <a:off x="6823587" y="728037"/>
            <a:ext cx="50439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verbose=3 </a:t>
            </a:r>
            <a:r>
              <a:rPr lang="en-US" dirty="0"/>
              <a:t>means detailed output, including the progress of the grid search and which parameter combination is currently being tested.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26461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27A7A0-C7EA-F72F-5A52-7F9BAAF22ECD}"/>
              </a:ext>
            </a:extLst>
          </p:cNvPr>
          <p:cNvSpPr txBox="1"/>
          <p:nvPr/>
        </p:nvSpPr>
        <p:spPr>
          <a:xfrm>
            <a:off x="344129" y="39204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C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Regularization parameter for SVM.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achieve a </a:t>
            </a:r>
            <a:r>
              <a:rPr lang="en-US" b="1" dirty="0">
                <a:solidFill>
                  <a:srgbClr val="FF0000"/>
                </a:solidFill>
              </a:rPr>
              <a:t>low error on the training data </a:t>
            </a:r>
            <a:r>
              <a:rPr lang="en-US" dirty="0"/>
              <a:t>and </a:t>
            </a:r>
            <a:r>
              <a:rPr lang="en-US" b="1" dirty="0">
                <a:highlight>
                  <a:srgbClr val="00FF00"/>
                </a:highlight>
              </a:rPr>
              <a:t>maintaining a large margin (generalization).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Larger values of </a:t>
            </a:r>
            <a:r>
              <a:rPr lang="en-US" b="1" dirty="0"/>
              <a:t>C </a:t>
            </a:r>
            <a:r>
              <a:rPr lang="en-US" dirty="0"/>
              <a:t>make the model </a:t>
            </a:r>
            <a:r>
              <a:rPr lang="en-US" b="1" dirty="0">
                <a:solidFill>
                  <a:srgbClr val="FF0000"/>
                </a:solidFill>
              </a:rPr>
              <a:t>stricter on margin violations.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2E5FC-8C09-FA20-43DB-9E1699383394}"/>
              </a:ext>
            </a:extLst>
          </p:cNvPr>
          <p:cNvSpPr txBox="1"/>
          <p:nvPr/>
        </p:nvSpPr>
        <p:spPr>
          <a:xfrm>
            <a:off x="245806" y="3185255"/>
            <a:ext cx="575187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Gamma: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Kernel coefficient for the </a:t>
            </a:r>
            <a:r>
              <a:rPr lang="en-US" b="1" dirty="0"/>
              <a:t>RBF kernel </a:t>
            </a:r>
            <a:r>
              <a:rPr lang="en-US" dirty="0"/>
              <a:t>(controls influence of individual training points).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controls the </a:t>
            </a:r>
            <a:r>
              <a:rPr lang="en-US" b="1" dirty="0"/>
              <a:t>shape of the decision boundary </a:t>
            </a:r>
            <a:r>
              <a:rPr lang="en-US" dirty="0"/>
              <a:t>that the </a:t>
            </a:r>
            <a:r>
              <a:rPr lang="en-US" b="1" dirty="0">
                <a:solidFill>
                  <a:srgbClr val="FF0000"/>
                </a:solidFill>
              </a:rPr>
              <a:t>SVM tries to create to separate the classes.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High gamma Can lead to overfitting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Low gamma can lead to underfitting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Low gamma can lead to underfitting</a:t>
            </a:r>
          </a:p>
        </p:txBody>
      </p:sp>
    </p:spTree>
    <p:extLst>
      <p:ext uri="{BB962C8B-B14F-4D97-AF65-F5344CB8AC3E}">
        <p14:creationId xmlns:p14="http://schemas.microsoft.com/office/powerpoint/2010/main" val="40826122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7B992E-D35A-B2F9-0432-F1D98409F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5" y="375665"/>
            <a:ext cx="9194863" cy="64823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E8A6E4-D8E7-7B31-9788-D680B8E634D4}"/>
              </a:ext>
            </a:extLst>
          </p:cNvPr>
          <p:cNvSpPr txBox="1"/>
          <p:nvPr/>
        </p:nvSpPr>
        <p:spPr>
          <a:xfrm>
            <a:off x="7305368" y="4552335"/>
            <a:ext cx="23794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Very slight improvement in Accuracy %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8683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696</Words>
  <Application>Microsoft Office PowerPoint</Application>
  <PresentationFormat>Widescreen</PresentationFormat>
  <Paragraphs>63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Office Theme</vt:lpstr>
      <vt:lpstr>                       K-Nearest Neighbour </vt:lpstr>
      <vt:lpstr>PowerPoint Presentation</vt:lpstr>
      <vt:lpstr>PowerPoint Presentation</vt:lpstr>
      <vt:lpstr>PowerPoint Presentation</vt:lpstr>
      <vt:lpstr>How to find the best K value?</vt:lpstr>
      <vt:lpstr>                  Gaussian Naïve bayes</vt:lpstr>
      <vt:lpstr>PowerPoint Presentation</vt:lpstr>
      <vt:lpstr>PowerPoint Presentation</vt:lpstr>
      <vt:lpstr>PowerPoint Presentation</vt:lpstr>
      <vt:lpstr>PowerPoint Presentation</vt:lpstr>
      <vt:lpstr>              Bernoulli Naïve bayes</vt:lpstr>
      <vt:lpstr>PowerPoint Presentation</vt:lpstr>
      <vt:lpstr>PowerPoint Presentation</vt:lpstr>
      <vt:lpstr>                Multinomial Naïve bayes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Support Vector Machine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jagadishdell@outlook.com</dc:creator>
  <cp:lastModifiedBy>jagadishdell@outlook.com</cp:lastModifiedBy>
  <cp:revision>1</cp:revision>
  <dcterms:created xsi:type="dcterms:W3CDTF">2024-11-22T13:22:55Z</dcterms:created>
  <dcterms:modified xsi:type="dcterms:W3CDTF">2024-11-22T15:14:56Z</dcterms:modified>
</cp:coreProperties>
</file>