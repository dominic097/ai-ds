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63C7-7C3A-E993-E1BD-0BBD3921F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3E2C2-FF07-05EC-1CEE-975BA0FAF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0BD9-5538-6AE9-4D87-90CD1992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B66CE-FD22-D84F-28C7-4E3DA499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4C51-4250-2B6F-ABA0-052A8450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1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CAD3-C9A8-7608-BC50-7EA3BECE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7CB7-776E-54CE-4460-8FDCAA73F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C6CB-171B-71AF-4670-5B2DEAAF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6EFC6-B2E3-0AA9-38C1-70E4AA58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51789-DFC5-D473-73C8-7E2247AC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9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352F-6251-1E10-016C-C0ACAFF6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EFE60-C805-797D-9920-A255846A3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59AC3-4D9F-5D7A-48F7-232AF384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745F-BE07-F4BD-E9F8-A5F65132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C8103-7A78-ADB3-19CC-C2DC6412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5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F575-22EF-390B-9D84-A70495CF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4C658-E375-2933-E48B-F2FC5BAF6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E286C-106B-3F2E-EF53-3F9E94F95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09CF9-09FD-91BC-7B3E-8F37FDC8C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F727E-65C8-5513-5FA1-4F5D9F5B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F4275-8528-8EB9-DFD8-39C90B0E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C0FC-2E1E-A34E-9770-4DF0EC5E8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E67-E4E6-0B6B-114D-FFEFC19CB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14927-C4D7-86BF-8FEC-4783F9A7C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BB811-AD46-8933-48AB-5F0944B8F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D6FCD-1A08-3809-D8E6-9255E1B6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9E7EC-7458-A926-0CDC-C51EDDE9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7B0C6-5280-18B3-F3D9-4786F424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5486E-7F6B-B2A7-CF1E-18764E0A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8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B257-5E0B-2A25-16DA-13D32F51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08D2D-7DC6-9F86-5648-2A1C333D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8ED48-1A85-054C-649E-57BDD5B8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68AB9-6E0E-843B-02A0-8CE0E02B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14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65035-6050-5868-188B-C1F1B33A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3584A-A93A-0FC8-EC5F-187A5BBD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86CE0-1A3A-7984-6A5B-1138FB48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65E7E-1249-A2BA-F421-84F8BB40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CF668-8F5D-E1DE-1A5C-6FC9C5BAB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C7899-B24A-CD2F-0C4E-0122A5DE3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C25CC-A25D-AD39-56D0-ABD6D944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2F762-6709-42C4-3C07-A1569DD8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C87A9-0BEE-780C-A7C9-89D101B4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6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36C34-D58E-6097-77EA-AC00C736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4C558-3C57-7C13-75C1-77BAD87AE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8E2D4-EF8B-F30C-771F-4355F30F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6DFB4-59DC-3BC2-99C3-1D71F844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D1959-0CD4-E527-E325-75D53141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4850F-A522-ED53-781B-978DFFDAC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7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CD2F-A3D5-CA13-8931-7B0780D5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9F052-3D18-6898-9C56-0B0623540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E0C0A-403C-7F7C-1862-F43E475F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7CCF-850F-F662-6896-CF019384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2825E-A8D8-0147-39B8-D4FCAFD8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71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8852BF-F30D-FBFB-CF7D-28452F16FD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733B6-B443-7B83-7248-199CED996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D673-3964-A382-34DC-48B6B8AA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272FB-E696-CA53-98A4-ABEDCF029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A7EE0-7D58-156C-AFAA-73B80E2B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6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1BCB4-6876-C013-5706-92B56372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A2D99-6376-9E43-7359-B96BC102D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8AC68-F12B-C873-C031-0D8CC8E5E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8532D-8E34-4C5F-812E-947B410E63EF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26E55-3746-6289-AB0A-C6D2673E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6A1CD-5075-8EEF-51A6-0FB52A05E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084F5-4C9B-4A61-98CF-C61A6F8CB0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2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42457-0520-DC8A-A507-BC1204D9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88" y="0"/>
            <a:ext cx="9408067" cy="658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49DE75-18E4-1B7B-3F5F-115E5A7D0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184205"/>
            <a:ext cx="9956794" cy="6393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8C1912-4CCE-AE1D-E396-E5A4557E5DFF}"/>
              </a:ext>
            </a:extLst>
          </p:cNvPr>
          <p:cNvSpPr txBox="1"/>
          <p:nvPr/>
        </p:nvSpPr>
        <p:spPr>
          <a:xfrm>
            <a:off x="7777316" y="5063613"/>
            <a:ext cx="4129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probabilities is a 2D array </a:t>
            </a:r>
            <a:r>
              <a:rPr lang="en-US" dirty="0"/>
              <a:t>each </a:t>
            </a:r>
            <a:r>
              <a:rPr lang="en-US" b="1" dirty="0">
                <a:solidFill>
                  <a:srgbClr val="FF0000"/>
                </a:solidFill>
              </a:rPr>
              <a:t>column </a:t>
            </a:r>
            <a:r>
              <a:rPr lang="en-US" dirty="0"/>
              <a:t>gives the probability of a specific class </a:t>
            </a:r>
            <a:r>
              <a:rPr lang="en-US" b="1" dirty="0">
                <a:highlight>
                  <a:srgbClr val="FFFF00"/>
                </a:highlight>
              </a:rPr>
              <a:t>(column 0 = Not Spam, column 1 = Spam)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35832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03A41-975E-9BCF-EA45-FE670C25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2" y="304801"/>
            <a:ext cx="11822436" cy="46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61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FC4807-8CA6-227B-47FF-588EC9A1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8" y="357573"/>
            <a:ext cx="9727564" cy="614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C4F4C-9AB4-24F5-9F41-0AC15980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" y="33996"/>
            <a:ext cx="9419274" cy="6790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5047C-DBF1-A375-24F2-0FA092DFE054}"/>
              </a:ext>
            </a:extLst>
          </p:cNvPr>
          <p:cNvSpPr txBox="1"/>
          <p:nvPr/>
        </p:nvSpPr>
        <p:spPr>
          <a:xfrm>
            <a:off x="5997678" y="1520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x-axis values </a:t>
            </a:r>
            <a:r>
              <a:rPr lang="en-US" dirty="0"/>
              <a:t>for the scatter plot, which correspond to the values in the </a:t>
            </a:r>
            <a:r>
              <a:rPr lang="en-US" b="1" dirty="0"/>
              <a:t>column "0" </a:t>
            </a:r>
            <a:r>
              <a:rPr lang="en-US" dirty="0"/>
              <a:t>of the </a:t>
            </a:r>
            <a:r>
              <a:rPr lang="en-US" b="1" dirty="0">
                <a:highlight>
                  <a:srgbClr val="FFFF00"/>
                </a:highlight>
              </a:rPr>
              <a:t>DataFrame df.</a:t>
            </a:r>
            <a:endParaRPr lang="en-IN" b="1" dirty="0">
              <a:highlight>
                <a:srgbClr val="FF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20A48E-9014-5BE0-9463-5507E8E38166}"/>
              </a:ext>
            </a:extLst>
          </p:cNvPr>
          <p:cNvCxnSpPr/>
          <p:nvPr/>
        </p:nvCxnSpPr>
        <p:spPr>
          <a:xfrm flipH="1">
            <a:off x="3667432" y="1671484"/>
            <a:ext cx="2802194" cy="479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2AA3E1-E6B5-6BA5-5EB8-1ADDF95D335B}"/>
              </a:ext>
            </a:extLst>
          </p:cNvPr>
          <p:cNvSpPr txBox="1"/>
          <p:nvPr/>
        </p:nvSpPr>
        <p:spPr>
          <a:xfrm>
            <a:off x="6666271" y="24642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y-axis values </a:t>
            </a:r>
            <a:r>
              <a:rPr lang="en-US" dirty="0"/>
              <a:t>for the scatter plot, which correspond to the values in the </a:t>
            </a:r>
            <a:r>
              <a:rPr lang="en-US" b="1" dirty="0"/>
              <a:t>column "1" </a:t>
            </a:r>
            <a:r>
              <a:rPr lang="en-US" dirty="0"/>
              <a:t>of the </a:t>
            </a:r>
            <a:r>
              <a:rPr lang="en-US" b="1" dirty="0"/>
              <a:t>DataFrame df.</a:t>
            </a:r>
            <a:endParaRPr lang="en-IN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8A60E9-95CF-1D0D-241E-77BBA28FD13E}"/>
              </a:ext>
            </a:extLst>
          </p:cNvPr>
          <p:cNvCxnSpPr/>
          <p:nvPr/>
        </p:nvCxnSpPr>
        <p:spPr>
          <a:xfrm flipH="1">
            <a:off x="4611329" y="2625213"/>
            <a:ext cx="2713703" cy="384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435962-DF7A-9C90-ECCD-25F9E3B546DA}"/>
              </a:ext>
            </a:extLst>
          </p:cNvPr>
          <p:cNvSpPr txBox="1"/>
          <p:nvPr/>
        </p:nvSpPr>
        <p:spPr>
          <a:xfrm>
            <a:off x="7143136" y="3901088"/>
            <a:ext cx="4458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points belonging to </a:t>
            </a:r>
            <a:r>
              <a:rPr lang="en-US" b="1" dirty="0"/>
              <a:t>class 0 </a:t>
            </a:r>
            <a:r>
              <a:rPr lang="en-US" dirty="0"/>
              <a:t>will have one </a:t>
            </a:r>
            <a:r>
              <a:rPr lang="en-US" b="1" dirty="0">
                <a:solidFill>
                  <a:srgbClr val="FF0000"/>
                </a:solidFill>
              </a:rPr>
              <a:t>color</a:t>
            </a:r>
            <a:r>
              <a:rPr lang="en-US" dirty="0"/>
              <a:t>, and points in </a:t>
            </a:r>
            <a:r>
              <a:rPr lang="en-US" b="1" dirty="0"/>
              <a:t>class 1 </a:t>
            </a:r>
            <a:r>
              <a:rPr lang="en-US" dirty="0"/>
              <a:t>will have another </a:t>
            </a:r>
            <a:r>
              <a:rPr lang="en-US" b="1" dirty="0">
                <a:solidFill>
                  <a:srgbClr val="FF0000"/>
                </a:solidFill>
              </a:rPr>
              <a:t>color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211A2A-07AE-FFE5-EFAC-A0F2757D8E9D}"/>
              </a:ext>
            </a:extLst>
          </p:cNvPr>
          <p:cNvCxnSpPr/>
          <p:nvPr/>
        </p:nvCxnSpPr>
        <p:spPr>
          <a:xfrm flipH="1">
            <a:off x="5329084" y="4385187"/>
            <a:ext cx="2182761" cy="2192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50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62D3F-18F1-E9D0-3FB0-B046627A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61166"/>
            <a:ext cx="8592056" cy="6796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A33EA0-01DC-9535-8AC6-4E63C708B11E}"/>
              </a:ext>
            </a:extLst>
          </p:cNvPr>
          <p:cNvSpPr txBox="1"/>
          <p:nvPr/>
        </p:nvSpPr>
        <p:spPr>
          <a:xfrm>
            <a:off x="8003458" y="625476"/>
            <a:ext cx="37165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here you can definitely see that, uh, </a:t>
            </a:r>
            <a:r>
              <a:rPr lang="en-US" b="1" dirty="0"/>
              <a:t>my data points are very clearly separable.</a:t>
            </a:r>
          </a:p>
          <a:p>
            <a:endParaRPr lang="en-US" dirty="0"/>
          </a:p>
          <a:p>
            <a:r>
              <a:rPr lang="en-US" dirty="0"/>
              <a:t>And obviously I can actually create a </a:t>
            </a:r>
            <a:r>
              <a:rPr lang="en-US" b="1" dirty="0"/>
              <a:t>best fit line </a:t>
            </a:r>
            <a:r>
              <a:rPr lang="en-US" dirty="0"/>
              <a:t>with the help of </a:t>
            </a:r>
            <a:r>
              <a:rPr lang="en-US" b="1" dirty="0"/>
              <a:t>SVC.</a:t>
            </a:r>
          </a:p>
          <a:p>
            <a:endParaRPr lang="en-US" dirty="0"/>
          </a:p>
          <a:p>
            <a:r>
              <a:rPr lang="en-US" dirty="0"/>
              <a:t>And for this, the</a:t>
            </a:r>
            <a:r>
              <a:rPr lang="en-US" b="1" dirty="0"/>
              <a:t> SVC </a:t>
            </a:r>
            <a:r>
              <a:rPr lang="en-US" dirty="0"/>
              <a:t>that we will be using, it is called as </a:t>
            </a:r>
            <a:r>
              <a:rPr lang="en-US" b="1" dirty="0"/>
              <a:t>linear SVC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303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19AC5E-04E3-A4A2-4AF5-66C7AFB4C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288918"/>
            <a:ext cx="10097729" cy="64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2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8D5EA-1DEF-39EB-372A-2B4F3E2BF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49" y="128127"/>
            <a:ext cx="10297962" cy="6601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2A965-9B32-B78F-A627-271D1C655752}"/>
              </a:ext>
            </a:extLst>
          </p:cNvPr>
          <p:cNvSpPr txBox="1"/>
          <p:nvPr/>
        </p:nvSpPr>
        <p:spPr>
          <a:xfrm>
            <a:off x="6508954" y="3519949"/>
            <a:ext cx="3932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highlight>
                  <a:srgbClr val="FFFF00"/>
                </a:highlight>
              </a:rPr>
              <a:t>100% Accuracy </a:t>
            </a:r>
            <a:r>
              <a:rPr lang="en-IN" b="1" dirty="0">
                <a:highlight>
                  <a:srgbClr val="FFFF00"/>
                </a:highlight>
              </a:rPr>
              <a:t>because our dataset is linearly separable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9B29F9-2CD9-6A41-1BAD-5BCA5654A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026" y="4088214"/>
            <a:ext cx="3256708" cy="251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3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5698C-097F-B68B-585D-ADA0DC44B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77" y="304800"/>
            <a:ext cx="10463787" cy="5006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590564-4AD8-8CD0-6CCF-368A0A20E6D4}"/>
              </a:ext>
            </a:extLst>
          </p:cNvPr>
          <p:cNvSpPr txBox="1"/>
          <p:nvPr/>
        </p:nvSpPr>
        <p:spPr>
          <a:xfrm>
            <a:off x="6685935" y="1022555"/>
            <a:ext cx="43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this parameter I changed the cluster group to </a:t>
            </a:r>
            <a:r>
              <a:rPr lang="en-IN" b="1" dirty="0"/>
              <a:t>2, </a:t>
            </a:r>
            <a:r>
              <a:rPr lang="en-IN" dirty="0"/>
              <a:t>previously we gave it as </a:t>
            </a:r>
            <a:r>
              <a:rPr lang="en-IN" b="1" dirty="0"/>
              <a:t>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762C9D-9A07-F500-5A81-83E543397788}"/>
              </a:ext>
            </a:extLst>
          </p:cNvPr>
          <p:cNvCxnSpPr/>
          <p:nvPr/>
        </p:nvCxnSpPr>
        <p:spPr>
          <a:xfrm flipH="1" flipV="1">
            <a:off x="8180439" y="707923"/>
            <a:ext cx="373626" cy="599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612443-A017-A243-0653-8A136C06B3C9}"/>
              </a:ext>
            </a:extLst>
          </p:cNvPr>
          <p:cNvSpPr txBox="1"/>
          <p:nvPr/>
        </p:nvSpPr>
        <p:spPr>
          <a:xfrm>
            <a:off x="786579" y="5512279"/>
            <a:ext cx="7393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n_clusters_per_class=1</a:t>
            </a:r>
            <a:r>
              <a:rPr lang="en-US" dirty="0"/>
              <a:t>, each class </a:t>
            </a:r>
            <a:r>
              <a:rPr lang="en-US" b="1" dirty="0" err="1">
                <a:solidFill>
                  <a:srgbClr val="FF0000"/>
                </a:solidFill>
              </a:rPr>
              <a:t>class</a:t>
            </a:r>
            <a:r>
              <a:rPr lang="en-US" b="1" dirty="0">
                <a:solidFill>
                  <a:srgbClr val="FF0000"/>
                </a:solidFill>
              </a:rPr>
              <a:t> 0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class1</a:t>
            </a:r>
            <a:r>
              <a:rPr lang="en-US" dirty="0"/>
              <a:t> will form it’s own single cluster.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9DD49-D898-67D7-7DFC-28422F4A742F}"/>
              </a:ext>
            </a:extLst>
          </p:cNvPr>
          <p:cNvSpPr txBox="1"/>
          <p:nvPr/>
        </p:nvSpPr>
        <p:spPr>
          <a:xfrm>
            <a:off x="786579" y="61838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n_clusters_per_class &gt; 1 </a:t>
            </a:r>
            <a:r>
              <a:rPr lang="en-US" dirty="0"/>
              <a:t>each class </a:t>
            </a:r>
            <a:r>
              <a:rPr lang="en-US" b="1" dirty="0" err="1">
                <a:solidFill>
                  <a:srgbClr val="FF0000"/>
                </a:solidFill>
              </a:rPr>
              <a:t>class</a:t>
            </a:r>
            <a:r>
              <a:rPr lang="en-US" b="1" dirty="0">
                <a:solidFill>
                  <a:srgbClr val="FF0000"/>
                </a:solidFill>
              </a:rPr>
              <a:t> 0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</a:rPr>
              <a:t>class1</a:t>
            </a:r>
            <a:r>
              <a:rPr lang="en-US" dirty="0"/>
              <a:t> will form more than one cluster.</a:t>
            </a:r>
            <a:r>
              <a:rPr lang="en-US" b="1" dirty="0">
                <a:highlight>
                  <a:srgbClr val="00FF00"/>
                </a:highlight>
              </a:rPr>
              <a:t> </a:t>
            </a:r>
            <a:endParaRPr lang="en-IN" b="1" dirty="0">
              <a:highlight>
                <a:srgbClr val="00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1B9850-7E1B-827D-1E9D-99B9FDF2364D}"/>
              </a:ext>
            </a:extLst>
          </p:cNvPr>
          <p:cNvSpPr txBox="1"/>
          <p:nvPr/>
        </p:nvSpPr>
        <p:spPr>
          <a:xfrm>
            <a:off x="6754761" y="2133600"/>
            <a:ext cx="3195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Run this code again</a:t>
            </a:r>
          </a:p>
        </p:txBody>
      </p:sp>
    </p:spTree>
    <p:extLst>
      <p:ext uri="{BB962C8B-B14F-4D97-AF65-F5344CB8AC3E}">
        <p14:creationId xmlns:p14="http://schemas.microsoft.com/office/powerpoint/2010/main" val="88782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902BF-BC89-ABC0-7DF9-4D71FCDE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95216"/>
            <a:ext cx="7247692" cy="64825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1188A6-2019-4862-2197-E916EDEA0894}"/>
              </a:ext>
            </a:extLst>
          </p:cNvPr>
          <p:cNvSpPr txBox="1"/>
          <p:nvPr/>
        </p:nvSpPr>
        <p:spPr>
          <a:xfrm>
            <a:off x="8121445" y="3283974"/>
            <a:ext cx="354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time we can see </a:t>
            </a:r>
            <a:r>
              <a:rPr lang="en-IN" b="1" dirty="0">
                <a:highlight>
                  <a:srgbClr val="00FF00"/>
                </a:highlight>
              </a:rPr>
              <a:t>more than 2 clusters</a:t>
            </a:r>
            <a:r>
              <a:rPr lang="en-IN" dirty="0"/>
              <a:t> of each class and </a:t>
            </a:r>
            <a:r>
              <a:rPr lang="en-IN" b="1" dirty="0">
                <a:solidFill>
                  <a:srgbClr val="FF0000"/>
                </a:solidFill>
              </a:rPr>
              <a:t>Non linear separable data </a:t>
            </a:r>
            <a:r>
              <a:rPr lang="en-IN" dirty="0"/>
              <a:t>i.e. data overlapping is there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C93167-F31C-A0DB-9C44-E25950DE47D7}"/>
              </a:ext>
            </a:extLst>
          </p:cNvPr>
          <p:cNvCxnSpPr/>
          <p:nvPr/>
        </p:nvCxnSpPr>
        <p:spPr>
          <a:xfrm flipH="1">
            <a:off x="7482348" y="3429000"/>
            <a:ext cx="825910" cy="18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661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F272C-AD02-448C-7D83-F83494B24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2" y="337998"/>
            <a:ext cx="8683666" cy="5795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835F1C-2463-2E7C-A41E-65A6503AB769}"/>
              </a:ext>
            </a:extLst>
          </p:cNvPr>
          <p:cNvSpPr txBox="1"/>
          <p:nvPr/>
        </p:nvSpPr>
        <p:spPr>
          <a:xfrm>
            <a:off x="9576619" y="2163097"/>
            <a:ext cx="202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 and Run the Model again for new dataset.</a:t>
            </a:r>
          </a:p>
        </p:txBody>
      </p:sp>
    </p:spTree>
    <p:extLst>
      <p:ext uri="{BB962C8B-B14F-4D97-AF65-F5344CB8AC3E}">
        <p14:creationId xmlns:p14="http://schemas.microsoft.com/office/powerpoint/2010/main" val="2759254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3CDF9A-48D9-0D61-3735-3ECB23829F6B}"/>
              </a:ext>
            </a:extLst>
          </p:cNvPr>
          <p:cNvSpPr txBox="1"/>
          <p:nvPr/>
        </p:nvSpPr>
        <p:spPr>
          <a:xfrm>
            <a:off x="4267200" y="5821376"/>
            <a:ext cx="2772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time you can see </a:t>
            </a:r>
            <a:r>
              <a:rPr lang="en-IN" b="1" dirty="0"/>
              <a:t>Accuracy is reduced to 84%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1CB08-7B09-DA66-C5D2-EED22B07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5" y="390293"/>
            <a:ext cx="9822762" cy="469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57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0B06A-A49E-236B-46EF-A3DAE202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73" y="580103"/>
            <a:ext cx="11461804" cy="51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57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CFB3C-554D-0504-DB62-C4945ADA8C8C}"/>
              </a:ext>
            </a:extLst>
          </p:cNvPr>
          <p:cNvSpPr txBox="1"/>
          <p:nvPr/>
        </p:nvSpPr>
        <p:spPr>
          <a:xfrm>
            <a:off x="9016181" y="2320413"/>
            <a:ext cx="2143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When Using </a:t>
            </a:r>
            <a:r>
              <a:rPr lang="en-IN" b="1" dirty="0"/>
              <a:t>Rbf</a:t>
            </a:r>
            <a:r>
              <a:rPr lang="en-IN" dirty="0"/>
              <a:t> , we can see a slight improvement in </a:t>
            </a:r>
            <a:r>
              <a:rPr lang="en-IN" b="1" dirty="0">
                <a:solidFill>
                  <a:srgbClr val="FF0000"/>
                </a:solidFill>
              </a:rPr>
              <a:t>accuracy 89%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BB386-2330-C1FF-117D-71E180E6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113"/>
            <a:ext cx="8501791" cy="43258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87D8DC-709B-590A-079B-C0931ED17D70}"/>
              </a:ext>
            </a:extLst>
          </p:cNvPr>
          <p:cNvCxnSpPr/>
          <p:nvPr/>
        </p:nvCxnSpPr>
        <p:spPr>
          <a:xfrm flipH="1" flipV="1">
            <a:off x="1592826" y="1956619"/>
            <a:ext cx="8672051" cy="1472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64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96A53-00E9-6867-9452-65F0CB206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208262"/>
            <a:ext cx="9615948" cy="6649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8DAA94-0C98-024F-BE94-A429B767B882}"/>
              </a:ext>
            </a:extLst>
          </p:cNvPr>
          <p:cNvSpPr txBox="1"/>
          <p:nvPr/>
        </p:nvSpPr>
        <p:spPr>
          <a:xfrm>
            <a:off x="6823587" y="728037"/>
            <a:ext cx="5043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verbose=3 </a:t>
            </a:r>
            <a:r>
              <a:rPr lang="en-US" dirty="0"/>
              <a:t>means detailed output, including the progress of the grid search and which parameter combination is currently being tested.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64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7A7A0-C7EA-F72F-5A52-7F9BAAF22ECD}"/>
              </a:ext>
            </a:extLst>
          </p:cNvPr>
          <p:cNvSpPr txBox="1"/>
          <p:nvPr/>
        </p:nvSpPr>
        <p:spPr>
          <a:xfrm>
            <a:off x="344129" y="39204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C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Regularization parameter for SVM.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achieve a </a:t>
            </a:r>
            <a:r>
              <a:rPr lang="en-US" b="1" dirty="0">
                <a:solidFill>
                  <a:srgbClr val="FF0000"/>
                </a:solidFill>
              </a:rPr>
              <a:t>low error on the training data </a:t>
            </a:r>
            <a:r>
              <a:rPr lang="en-US" dirty="0"/>
              <a:t>and </a:t>
            </a:r>
            <a:r>
              <a:rPr lang="en-US" b="1" dirty="0">
                <a:highlight>
                  <a:srgbClr val="00FF00"/>
                </a:highlight>
              </a:rPr>
              <a:t>maintaining a large margin (generalization).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Larger values of </a:t>
            </a:r>
            <a:r>
              <a:rPr lang="en-US" b="1" dirty="0"/>
              <a:t>C </a:t>
            </a:r>
            <a:r>
              <a:rPr lang="en-US" dirty="0"/>
              <a:t>make the model </a:t>
            </a:r>
            <a:r>
              <a:rPr lang="en-US" b="1" dirty="0">
                <a:solidFill>
                  <a:srgbClr val="FF0000"/>
                </a:solidFill>
              </a:rPr>
              <a:t>stricter on margin violations.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E5FC-8C09-FA20-43DB-9E1699383394}"/>
              </a:ext>
            </a:extLst>
          </p:cNvPr>
          <p:cNvSpPr txBox="1"/>
          <p:nvPr/>
        </p:nvSpPr>
        <p:spPr>
          <a:xfrm>
            <a:off x="245806" y="3185255"/>
            <a:ext cx="57518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Gamma: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Kernel coefficient for the </a:t>
            </a:r>
            <a:r>
              <a:rPr lang="en-US" b="1" dirty="0"/>
              <a:t>RBF kernel </a:t>
            </a:r>
            <a:r>
              <a:rPr lang="en-US" dirty="0"/>
              <a:t>(controls influence of individual training points).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controls the </a:t>
            </a:r>
            <a:r>
              <a:rPr lang="en-US" b="1" dirty="0"/>
              <a:t>shape of the decision boundary </a:t>
            </a:r>
            <a:r>
              <a:rPr lang="en-US" dirty="0"/>
              <a:t>that the </a:t>
            </a:r>
            <a:r>
              <a:rPr lang="en-US" b="1" dirty="0">
                <a:solidFill>
                  <a:srgbClr val="FF0000"/>
                </a:solidFill>
              </a:rPr>
              <a:t>SVM tries to create to separate the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gamma Can lead to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gamma can lead to underfitting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Low gamma can lead to underfitting</a:t>
            </a:r>
          </a:p>
        </p:txBody>
      </p:sp>
    </p:spTree>
    <p:extLst>
      <p:ext uri="{BB962C8B-B14F-4D97-AF65-F5344CB8AC3E}">
        <p14:creationId xmlns:p14="http://schemas.microsoft.com/office/powerpoint/2010/main" val="4082612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B992E-D35A-B2F9-0432-F1D98409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375665"/>
            <a:ext cx="9194863" cy="6482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E8A6E4-D8E7-7B31-9788-D680B8E634D4}"/>
              </a:ext>
            </a:extLst>
          </p:cNvPr>
          <p:cNvSpPr txBox="1"/>
          <p:nvPr/>
        </p:nvSpPr>
        <p:spPr>
          <a:xfrm>
            <a:off x="7305368" y="4552335"/>
            <a:ext cx="2379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Very slight improvement in Accuracy 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68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398</Words>
  <Application>Microsoft Office PowerPoint</Application>
  <PresentationFormat>Widescreen</PresentationFormat>
  <Paragraphs>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jagadishdell@outlook.com</dc:creator>
  <cp:lastModifiedBy>jagadishdell@outlook.com</cp:lastModifiedBy>
  <cp:revision>4</cp:revision>
  <dcterms:created xsi:type="dcterms:W3CDTF">2024-11-20T16:07:01Z</dcterms:created>
  <dcterms:modified xsi:type="dcterms:W3CDTF">2024-11-21T16:16:26Z</dcterms:modified>
</cp:coreProperties>
</file>