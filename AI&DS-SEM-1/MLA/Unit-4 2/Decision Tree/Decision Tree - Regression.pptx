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embeddedFontLst>
    <p:embeddedFont>
      <p:font typeface="Libre Baskerville"/>
      <p:regular r:id="rId33"/>
      <p:bold r:id="rId34"/>
      <p:italic r:id="rId35"/>
    </p:embeddedFont>
    <p:embeddedFont>
      <p:font typeface="Rubik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j7J1z7IqzKazWpgrng+Y9IaeuS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LibreBaskerville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LibreBaskerville-italic.fntdata"/><Relationship Id="rId12" Type="http://schemas.openxmlformats.org/officeDocument/2006/relationships/slide" Target="slides/slide8.xml"/><Relationship Id="rId34" Type="http://schemas.openxmlformats.org/officeDocument/2006/relationships/font" Target="fonts/LibreBaskerville-bold.fntdata"/><Relationship Id="rId15" Type="http://schemas.openxmlformats.org/officeDocument/2006/relationships/slide" Target="slides/slide11.xml"/><Relationship Id="rId37" Type="http://schemas.openxmlformats.org/officeDocument/2006/relationships/font" Target="fonts/Rubik-bold.fntdata"/><Relationship Id="rId14" Type="http://schemas.openxmlformats.org/officeDocument/2006/relationships/slide" Target="slides/slide10.xml"/><Relationship Id="rId36" Type="http://schemas.openxmlformats.org/officeDocument/2006/relationships/font" Target="fonts/Rubik-regular.fntdata"/><Relationship Id="rId17" Type="http://schemas.openxmlformats.org/officeDocument/2006/relationships/slide" Target="slides/slide13.xml"/><Relationship Id="rId39" Type="http://schemas.openxmlformats.org/officeDocument/2006/relationships/font" Target="fonts/Rubik-boldItalic.fntdata"/><Relationship Id="rId16" Type="http://schemas.openxmlformats.org/officeDocument/2006/relationships/slide" Target="slides/slide12.xml"/><Relationship Id="rId38" Type="http://schemas.openxmlformats.org/officeDocument/2006/relationships/font" Target="fonts/Rubik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M Logo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1ad2dafd83_0_5"/>
          <p:cNvSpPr txBox="1"/>
          <p:nvPr>
            <p:ph type="ctrTitle"/>
          </p:nvPr>
        </p:nvSpPr>
        <p:spPr>
          <a:xfrm>
            <a:off x="415611" y="992767"/>
            <a:ext cx="113604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25" lIns="121825" spcFirstLastPara="1" rIns="121825" wrap="square" tIns="1218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g31ad2dafd83_0_5"/>
          <p:cNvSpPr txBox="1"/>
          <p:nvPr>
            <p:ph idx="1" type="subTitle"/>
          </p:nvPr>
        </p:nvSpPr>
        <p:spPr>
          <a:xfrm>
            <a:off x="415600" y="3778833"/>
            <a:ext cx="113604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g31ad2dafd83_0_5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1ad2dafd83_0_9"/>
          <p:cNvSpPr txBox="1"/>
          <p:nvPr>
            <p:ph type="title"/>
          </p:nvPr>
        </p:nvSpPr>
        <p:spPr>
          <a:xfrm>
            <a:off x="415600" y="2867800"/>
            <a:ext cx="113604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g31ad2dafd83_0_9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2_Design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1ad2dafd83_0_12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19" name="Google Shape;19;g31ad2dafd83_0_12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g31ad2dafd83_0_12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g31ad2dafd83_0_12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2" name="Google Shape;22;g31ad2dafd83_0_1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  <p:pic>
        <p:nvPicPr>
          <p:cNvPr id="23" name="Google Shape;23;g31ad2dafd83_0_12"/>
          <p:cNvPicPr preferRelativeResize="0"/>
          <p:nvPr/>
        </p:nvPicPr>
        <p:blipFill rotWithShape="1">
          <a:blip r:embed="rId2">
            <a:alphaModFix/>
          </a:blip>
          <a:srcRect b="22683" l="0" r="0" t="17385"/>
          <a:stretch/>
        </p:blipFill>
        <p:spPr>
          <a:xfrm>
            <a:off x="747233" y="392667"/>
            <a:ext cx="1741234" cy="1043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">
  <p:cSld name="TITLE_AND_BODY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1ad2dafd83_0_19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31ad2dafd83_0_1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" name="Google Shape;27;g31ad2dafd83_0_19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8" name="Google Shape;28;g31ad2dafd83_0_19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">
  <p:cSld name="TITLE_ONLY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1ad2dafd83_0_2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1" name="Google Shape;31;g31ad2dafd83_0_24"/>
          <p:cNvPicPr preferRelativeResize="0"/>
          <p:nvPr/>
        </p:nvPicPr>
        <p:blipFill rotWithShape="1">
          <a:blip r:embed="rId2">
            <a:alphaModFix/>
          </a:blip>
          <a:srcRect b="4688" l="11594" r="10692" t="4094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1ad2dafd83_0_24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" name="Google Shape;33;g31ad2dafd83_0_24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">
  <p:cSld name="TITLE_ONL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1ad2dafd83_0_2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6" name="Google Shape;36;g31ad2dafd83_0_29"/>
          <p:cNvPicPr preferRelativeResize="0"/>
          <p:nvPr/>
        </p:nvPicPr>
        <p:blipFill rotWithShape="1">
          <a:blip r:embed="rId2">
            <a:alphaModFix/>
          </a:blip>
          <a:srcRect b="23340" l="18269" r="27373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1ad2dafd83_0_29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8" name="Google Shape;38;g31ad2dafd83_0_29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1ad2dafd83_0_34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1ad2dafd83_0_36"/>
          <p:cNvSpPr txBox="1"/>
          <p:nvPr>
            <p:ph type="title"/>
          </p:nvPr>
        </p:nvSpPr>
        <p:spPr>
          <a:xfrm>
            <a:off x="415600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3" name="Google Shape;43;g31ad2dafd83_0_36"/>
          <p:cNvSpPr txBox="1"/>
          <p:nvPr>
            <p:ph idx="1" type="body"/>
          </p:nvPr>
        </p:nvSpPr>
        <p:spPr>
          <a:xfrm>
            <a:off x="415600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31ad2dafd83_0_36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1ad2dafd83_0_40"/>
          <p:cNvSpPr txBox="1"/>
          <p:nvPr>
            <p:ph type="title"/>
          </p:nvPr>
        </p:nvSpPr>
        <p:spPr>
          <a:xfrm>
            <a:off x="415600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7" name="Google Shape;47;g31ad2dafd83_0_4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8" name="Google Shape;48;g31ad2dafd83_0_4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" name="Google Shape;49;g31ad2dafd83_0_40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ad2dafd83_0_45"/>
          <p:cNvSpPr txBox="1"/>
          <p:nvPr>
            <p:ph type="title"/>
          </p:nvPr>
        </p:nvSpPr>
        <p:spPr>
          <a:xfrm>
            <a:off x="415600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g31ad2dafd83_0_45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1ad2dafd83_0_4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25" lIns="121825" spcFirstLastPara="1" rIns="121825" wrap="square" tIns="121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5" name="Google Shape;55;g31ad2dafd83_0_4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6" name="Google Shape;56;g31ad2dafd83_0_48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ad2dafd83_0_52"/>
          <p:cNvSpPr txBox="1"/>
          <p:nvPr>
            <p:ph type="title"/>
          </p:nvPr>
        </p:nvSpPr>
        <p:spPr>
          <a:xfrm>
            <a:off x="653667" y="600200"/>
            <a:ext cx="8490300" cy="54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59" name="Google Shape;59;g31ad2dafd83_0_52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ad2dafd83_0_5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25" lIns="121825" spcFirstLastPara="1" rIns="121825" wrap="square" tIns="121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1ad2dafd83_0_5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25" lIns="121825" spcFirstLastPara="1" rIns="121825" wrap="square" tIns="1218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3" name="Google Shape;63;g31ad2dafd83_0_5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g31ad2dafd83_0_5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5" name="Google Shape;65;g31ad2dafd83_0_55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ad2dafd83_0_6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8" name="Google Shape;68;g31ad2dafd83_0_61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ad2dafd83_0_64"/>
          <p:cNvSpPr txBox="1"/>
          <p:nvPr>
            <p:ph hasCustomPrompt="1" type="title"/>
          </p:nvPr>
        </p:nvSpPr>
        <p:spPr>
          <a:xfrm>
            <a:off x="415600" y="1474833"/>
            <a:ext cx="113604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25" lIns="121825" spcFirstLastPara="1" rIns="121825" wrap="square" tIns="1218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1" name="Google Shape;71;g31ad2dafd83_0_64"/>
          <p:cNvSpPr txBox="1"/>
          <p:nvPr>
            <p:ph idx="1" type="body"/>
          </p:nvPr>
        </p:nvSpPr>
        <p:spPr>
          <a:xfrm>
            <a:off x="415600" y="4202967"/>
            <a:ext cx="113604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2" name="Google Shape;72;g31ad2dafd83_0_64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ad2dafd83_0_68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5" name="Google Shape;75;g31ad2dafd83_0_68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31ad2dafd83_0_68"/>
          <p:cNvSpPr txBox="1"/>
          <p:nvPr>
            <p:ph idx="10" type="dt"/>
          </p:nvPr>
        </p:nvSpPr>
        <p:spPr>
          <a:xfrm>
            <a:off x="609600" y="6377940"/>
            <a:ext cx="2804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31ad2dafd83_0_68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ad2dafd83_0_73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0" name="Google Shape;80;g31ad2dafd83_0_73"/>
          <p:cNvSpPr txBox="1"/>
          <p:nvPr>
            <p:ph idx="1" type="body"/>
          </p:nvPr>
        </p:nvSpPr>
        <p:spPr>
          <a:xfrm>
            <a:off x="5758687" y="2569339"/>
            <a:ext cx="61755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81" name="Google Shape;81;g31ad2dafd83_0_7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1ad2dafd83_0_73"/>
          <p:cNvSpPr txBox="1"/>
          <p:nvPr>
            <p:ph idx="10" type="dt"/>
          </p:nvPr>
        </p:nvSpPr>
        <p:spPr>
          <a:xfrm>
            <a:off x="609600" y="6377940"/>
            <a:ext cx="2804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1ad2dafd83_0_73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ad2dafd83_0_79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1ad2dafd83_0_79"/>
          <p:cNvSpPr txBox="1"/>
          <p:nvPr>
            <p:ph idx="10" type="dt"/>
          </p:nvPr>
        </p:nvSpPr>
        <p:spPr>
          <a:xfrm>
            <a:off x="609600" y="6377940"/>
            <a:ext cx="2804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31ad2dafd83_0_79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ad2dafd83_0_83"/>
          <p:cNvSpPr txBox="1"/>
          <p:nvPr>
            <p:ph type="ctrTitle"/>
          </p:nvPr>
        </p:nvSpPr>
        <p:spPr>
          <a:xfrm>
            <a:off x="771483" y="280172"/>
            <a:ext cx="106491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g31ad2dafd83_0_83"/>
          <p:cNvSpPr txBox="1"/>
          <p:nvPr>
            <p:ph idx="1" type="subTitle"/>
          </p:nvPr>
        </p:nvSpPr>
        <p:spPr>
          <a:xfrm>
            <a:off x="1828800" y="3840480"/>
            <a:ext cx="85344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91" name="Google Shape;91;g31ad2dafd83_0_8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g31ad2dafd83_0_83"/>
          <p:cNvSpPr txBox="1"/>
          <p:nvPr>
            <p:ph idx="10" type="dt"/>
          </p:nvPr>
        </p:nvSpPr>
        <p:spPr>
          <a:xfrm>
            <a:off x="609600" y="6377940"/>
            <a:ext cx="2804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g31ad2dafd83_0_83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OBJECT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ad2dafd83_0_90"/>
          <p:cNvSpPr txBox="1"/>
          <p:nvPr>
            <p:ph type="ctrTitle"/>
          </p:nvPr>
        </p:nvSpPr>
        <p:spPr>
          <a:xfrm>
            <a:off x="1436989" y="213247"/>
            <a:ext cx="9318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g31ad2dafd83_0_90"/>
          <p:cNvSpPr txBox="1"/>
          <p:nvPr>
            <p:ph idx="1" type="subTitle"/>
          </p:nvPr>
        </p:nvSpPr>
        <p:spPr>
          <a:xfrm>
            <a:off x="1828800" y="3840480"/>
            <a:ext cx="8534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98" name="Google Shape;98;g31ad2dafd83_0_9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g31ad2dafd83_0_9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g31ad2dafd83_0_9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ad2dafd83_0_96"/>
          <p:cNvSpPr txBox="1"/>
          <p:nvPr>
            <p:ph type="title"/>
          </p:nvPr>
        </p:nvSpPr>
        <p:spPr>
          <a:xfrm>
            <a:off x="415600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g31ad2dafd83_0_96"/>
          <p:cNvSpPr txBox="1"/>
          <p:nvPr>
            <p:ph idx="1" type="body"/>
          </p:nvPr>
        </p:nvSpPr>
        <p:spPr>
          <a:xfrm>
            <a:off x="609600" y="1577340"/>
            <a:ext cx="5303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04" name="Google Shape;104;g31ad2dafd83_0_96"/>
          <p:cNvSpPr txBox="1"/>
          <p:nvPr>
            <p:ph idx="2" type="body"/>
          </p:nvPr>
        </p:nvSpPr>
        <p:spPr>
          <a:xfrm>
            <a:off x="6278880" y="1577340"/>
            <a:ext cx="5303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05" name="Google Shape;105;g31ad2dafd83_0_9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g31ad2dafd83_0_9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g31ad2dafd83_0_9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ad2dafd83_0_10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g31ad2dafd83_0_10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g31ad2dafd83_0_10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OBJECT_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ad2dafd83_0_107"/>
          <p:cNvSpPr txBox="1"/>
          <p:nvPr>
            <p:ph type="ctrTitle"/>
          </p:nvPr>
        </p:nvSpPr>
        <p:spPr>
          <a:xfrm>
            <a:off x="3917685" y="2469069"/>
            <a:ext cx="43569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69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14" name="Google Shape;114;g31ad2dafd83_0_107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g31ad2dafd83_0_107"/>
          <p:cNvSpPr txBox="1"/>
          <p:nvPr>
            <p:ph idx="11" type="ftr"/>
          </p:nvPr>
        </p:nvSpPr>
        <p:spPr>
          <a:xfrm>
            <a:off x="3838913" y="6597879"/>
            <a:ext cx="46713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g31ad2dafd83_0_10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g31ad2dafd83_0_107"/>
          <p:cNvSpPr txBox="1"/>
          <p:nvPr>
            <p:ph idx="12" type="sldNum"/>
          </p:nvPr>
        </p:nvSpPr>
        <p:spPr>
          <a:xfrm>
            <a:off x="877824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OBJECT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ad2dafd83_0_113"/>
          <p:cNvSpPr txBox="1"/>
          <p:nvPr>
            <p:ph type="title"/>
          </p:nvPr>
        </p:nvSpPr>
        <p:spPr>
          <a:xfrm>
            <a:off x="662832" y="374240"/>
            <a:ext cx="112539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0" name="Google Shape;120;g31ad2dafd83_0_113"/>
          <p:cNvSpPr txBox="1"/>
          <p:nvPr>
            <p:ph idx="11" type="ftr"/>
          </p:nvPr>
        </p:nvSpPr>
        <p:spPr>
          <a:xfrm>
            <a:off x="3275199" y="6373907"/>
            <a:ext cx="5641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g31ad2dafd83_0_113"/>
          <p:cNvSpPr txBox="1"/>
          <p:nvPr>
            <p:ph idx="10" type="dt"/>
          </p:nvPr>
        </p:nvSpPr>
        <p:spPr>
          <a:xfrm>
            <a:off x="609600" y="6377940"/>
            <a:ext cx="2804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g31ad2dafd83_0_113"/>
          <p:cNvSpPr txBox="1"/>
          <p:nvPr>
            <p:ph idx="12" type="sldNum"/>
          </p:nvPr>
        </p:nvSpPr>
        <p:spPr>
          <a:xfrm>
            <a:off x="8778240" y="6377940"/>
            <a:ext cx="280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ad2dafd83_0_118"/>
          <p:cNvSpPr txBox="1"/>
          <p:nvPr>
            <p:ph type="title"/>
          </p:nvPr>
        </p:nvSpPr>
        <p:spPr>
          <a:xfrm>
            <a:off x="662832" y="374240"/>
            <a:ext cx="112539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5" name="Google Shape;125;g31ad2dafd83_0_118"/>
          <p:cNvSpPr txBox="1"/>
          <p:nvPr>
            <p:ph idx="11" type="ftr"/>
          </p:nvPr>
        </p:nvSpPr>
        <p:spPr>
          <a:xfrm>
            <a:off x="3275199" y="6373907"/>
            <a:ext cx="5641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g31ad2dafd83_0_118"/>
          <p:cNvSpPr txBox="1"/>
          <p:nvPr>
            <p:ph idx="10" type="dt"/>
          </p:nvPr>
        </p:nvSpPr>
        <p:spPr>
          <a:xfrm>
            <a:off x="609600" y="6377940"/>
            <a:ext cx="2804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g31ad2dafd83_0_118"/>
          <p:cNvSpPr txBox="1"/>
          <p:nvPr>
            <p:ph idx="12" type="sldNum"/>
          </p:nvPr>
        </p:nvSpPr>
        <p:spPr>
          <a:xfrm>
            <a:off x="8778240" y="6377940"/>
            <a:ext cx="280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3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ad2dafd83_0_1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0" name="Google Shape;130;g31ad2dafd83_0_1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1" name="Google Shape;131;g31ad2dafd83_0_1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1ad2dafd83_0_1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1ad2dafd83_0_1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1ad2dafd83_0_0"/>
          <p:cNvSpPr txBox="1"/>
          <p:nvPr>
            <p:ph type="title"/>
          </p:nvPr>
        </p:nvSpPr>
        <p:spPr>
          <a:xfrm>
            <a:off x="415600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1ad2dafd83_0_0"/>
          <p:cNvSpPr txBox="1"/>
          <p:nvPr>
            <p:ph idx="1" type="body"/>
          </p:nvPr>
        </p:nvSpPr>
        <p:spPr>
          <a:xfrm>
            <a:off x="415600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25" lIns="121825" spcFirstLastPara="1" rIns="121825" wrap="square" tIns="121825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1ad2dafd83_0_0"/>
          <p:cNvSpPr txBox="1"/>
          <p:nvPr>
            <p:ph idx="12" type="sldNum"/>
          </p:nvPr>
        </p:nvSpPr>
        <p:spPr>
          <a:xfrm>
            <a:off x="11296611" y="6217623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25" lIns="121825" spcFirstLastPara="1" rIns="121825" wrap="square" tIns="1218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g31ad2dafd83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867500" y="5949"/>
            <a:ext cx="2267542" cy="8786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"/>
          <p:cNvSpPr txBox="1"/>
          <p:nvPr>
            <p:ph type="ctrTitle"/>
          </p:nvPr>
        </p:nvSpPr>
        <p:spPr>
          <a:xfrm>
            <a:off x="415611" y="992767"/>
            <a:ext cx="113604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Decision Tree - Regression</a:t>
            </a:r>
            <a:endParaRPr/>
          </a:p>
        </p:txBody>
      </p:sp>
      <p:sp>
        <p:nvSpPr>
          <p:cNvPr id="139" name="Google Shape;139;p1"/>
          <p:cNvSpPr txBox="1"/>
          <p:nvPr>
            <p:ph idx="1" type="subTitle"/>
          </p:nvPr>
        </p:nvSpPr>
        <p:spPr>
          <a:xfrm>
            <a:off x="415600" y="3778833"/>
            <a:ext cx="113604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Example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45" name="Google Shape;145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912528" cy="5811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208" y="1046162"/>
            <a:ext cx="6256439" cy="3019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52" name="Google Shape;152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072" y="365125"/>
            <a:ext cx="8063460" cy="5676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670" y="4632663"/>
            <a:ext cx="9954300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670" y="718860"/>
            <a:ext cx="10199223" cy="4077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type="title"/>
          </p:nvPr>
        </p:nvSpPr>
        <p:spPr>
          <a:xfrm>
            <a:off x="533400" y="822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 txBox="1"/>
          <p:nvPr>
            <p:ph idx="1" type="body"/>
          </p:nvPr>
        </p:nvSpPr>
        <p:spPr>
          <a:xfrm>
            <a:off x="533400" y="2282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627" y="822325"/>
            <a:ext cx="10071489" cy="555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886" y="746125"/>
            <a:ext cx="9980287" cy="559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44" y="71022"/>
            <a:ext cx="8482927" cy="6666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71" y="898525"/>
            <a:ext cx="9535800" cy="39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874" y="309563"/>
            <a:ext cx="8286750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38" y="124288"/>
            <a:ext cx="7757607" cy="6674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742" y="260966"/>
            <a:ext cx="8058150" cy="5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25" y="115409"/>
            <a:ext cx="8671474" cy="6540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6319" y="2822074"/>
            <a:ext cx="7916400" cy="38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67" y="365126"/>
            <a:ext cx="7068296" cy="2573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819" y="115410"/>
            <a:ext cx="7424839" cy="6638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771" y="0"/>
            <a:ext cx="7142658" cy="6751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466" y="97654"/>
            <a:ext cx="6952596" cy="6578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967" y="177554"/>
            <a:ext cx="8053515" cy="6593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5"/>
            <a:ext cx="8077200" cy="57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72781"/>
            <a:ext cx="7915275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084" y="115410"/>
            <a:ext cx="7652250" cy="67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936" y="333375"/>
            <a:ext cx="8896350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178" y="14580"/>
            <a:ext cx="8912482" cy="6677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452714"/>
            <a:ext cx="10393881" cy="5948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Feature Importance</a:t>
            </a:r>
            <a:endParaRPr/>
          </a:p>
        </p:txBody>
      </p:sp>
      <p:sp>
        <p:nvSpPr>
          <p:cNvPr id="262" name="Google Shape;262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800"/>
              <a:buChar char="●"/>
            </a:pPr>
            <a:r>
              <a:rPr b="0" i="1" lang="en-IN">
                <a:solidFill>
                  <a:srgbClr val="55555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importance (FI) = Feature metric * number of instances – its left child node metric * number of instances for the left child – its right child node metric * number of instances for the right child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6437" y="1114425"/>
            <a:ext cx="6346800" cy="49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764" y="517525"/>
            <a:ext cx="5373236" cy="626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Feature Importance</a:t>
            </a:r>
            <a:endParaRPr/>
          </a:p>
        </p:txBody>
      </p:sp>
      <p:sp>
        <p:nvSpPr>
          <p:cNvPr id="274" name="Google Shape;274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800"/>
              <a:buChar char="●"/>
            </a:pPr>
            <a:r>
              <a:rPr b="1" i="0" lang="en-IN">
                <a:solidFill>
                  <a:srgbClr val="55555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1st level of the decision tree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800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FI(Humidity|1st level) = 14x 0.940 – 7×0.985 – 7×0.591 = 2.121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800"/>
              <a:buChar char="●"/>
            </a:pPr>
            <a:r>
              <a:rPr b="1" i="0" lang="en-IN">
                <a:solidFill>
                  <a:srgbClr val="55555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2nd level of the decision tree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800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FI(Outlook|2nd level) = 7×0.985 – 4×0.811 = 3.651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800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FI(Wind|2nd level) = 7×0.591 – 3×0.918 = 1.390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800"/>
              <a:buChar char="●"/>
            </a:pPr>
            <a:r>
              <a:rPr b="1" i="0" lang="en-IN">
                <a:solidFill>
                  <a:srgbClr val="55555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3rd level of the decision tree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800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FI(Wind|3rd level) = 4×0.811 = 3.244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800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FI(Outlook|3rd level) = 3×0.918 = 2.754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Feature Importance</a:t>
            </a:r>
            <a:endParaRPr/>
          </a:p>
        </p:txBody>
      </p:sp>
      <p:sp>
        <p:nvSpPr>
          <p:cNvPr id="280" name="Google Shape;280;p27"/>
          <p:cNvSpPr txBox="1"/>
          <p:nvPr>
            <p:ph idx="1" type="body"/>
          </p:nvPr>
        </p:nvSpPr>
        <p:spPr>
          <a:xfrm>
            <a:off x="838200" y="1532662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1" i="0" lang="en-IN">
                <a:solidFill>
                  <a:srgbClr val="55555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FI(Humidity) = FI(Humidity|1st level) = 2.121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FI(Outlook) = FI(Outlook|2nd level) + FI(Outlook|3rd level) = 3.651 + 2.754 = 6.405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FI(Wind) = FI(Wind|2nd level) + FI(Wind|3rd level) = 1.390 + 3.244 = 4.634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1" i="0" lang="en-IN">
                <a:solidFill>
                  <a:srgbClr val="555555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Normalization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We can normalize these results if we divide them all with their sum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FI(Sum) = FI(Humidity) + FI(Outlook) + FI(Wind)  = 2.121 + 6.405 + 4.634 = 13.16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FI(Humidity)’ = FI(Humidity) / FI(Sum) = 2.121 / 13.16 = 0.16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FI(Outlook)’ = FI(Outlook) / FI(Sum) = 6.405 / 13.16 = 0.48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16666"/>
              <a:buChar char="●"/>
            </a:pPr>
            <a:r>
              <a:rPr b="0" i="0" lang="en-IN">
                <a:solidFill>
                  <a:srgbClr val="555555"/>
                </a:solidFill>
                <a:latin typeface="Rubik"/>
                <a:ea typeface="Rubik"/>
                <a:cs typeface="Rubik"/>
                <a:sym typeface="Rubik"/>
              </a:rPr>
              <a:t>FI(Wind)’ = FI(Wind) / FI(Sum) = 4.634 / 13.16 = 0.35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Feature Importance</a:t>
            </a:r>
            <a:endParaRPr/>
          </a:p>
        </p:txBody>
      </p:sp>
      <p:pic>
        <p:nvPicPr>
          <p:cNvPr id="286" name="Google Shape;286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506737"/>
            <a:ext cx="8279167" cy="5124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2023-04-29T06:06:41Z</dcterms:created>
  <dc:creator>prabu ramasamy</dc:creator>
</cp:coreProperties>
</file>