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9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y="5143500" cx="9144000"/>
  <p:notesSz cx="6858000" cy="9144000"/>
  <p:embeddedFontLst>
    <p:embeddedFont>
      <p:font typeface="Roboto"/>
      <p:regular r:id="rId72"/>
      <p:bold r:id="rId73"/>
      <p:italic r:id="rId74"/>
      <p:boldItalic r:id="rId75"/>
    </p:embeddedFont>
    <p:embeddedFont>
      <p:font typeface="Tahoma"/>
      <p:regular r:id="rId76"/>
      <p:bold r:id="rId77"/>
    </p:embeddedFont>
    <p:embeddedFont>
      <p:font typeface="Nothing You Could Do"/>
      <p:regular r:id="rId78"/>
    </p:embeddedFont>
    <p:embeddedFont>
      <p:font typeface="Open Sans"/>
      <p:regular r:id="rId79"/>
      <p:bold r:id="rId80"/>
      <p:italic r:id="rId81"/>
      <p:boldItalic r:id="rId8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83" roundtripDataSignature="AMtx7mh0GukS3QHLNk0MCy3p9GIRAWwn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C98FC0-1F2D-477D-8DF7-2778A623739D}">
  <a:tblStyle styleId="{63C98FC0-1F2D-477D-8DF7-2778A623739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CF7AC964-058A-49CF-B518-6342E6411703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83" Type="http://customschemas.google.com/relationships/presentationmetadata" Target="metadata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80" Type="http://schemas.openxmlformats.org/officeDocument/2006/relationships/font" Target="fonts/OpenSans-bold.fntdata"/><Relationship Id="rId82" Type="http://schemas.openxmlformats.org/officeDocument/2006/relationships/font" Target="fonts/OpenSans-boldItalic.fntdata"/><Relationship Id="rId81" Type="http://schemas.openxmlformats.org/officeDocument/2006/relationships/font" Target="fonts/Open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font" Target="fonts/Roboto-bold.fntdata"/><Relationship Id="rId72" Type="http://schemas.openxmlformats.org/officeDocument/2006/relationships/font" Target="fonts/Roboto-regular.fntdata"/><Relationship Id="rId31" Type="http://schemas.openxmlformats.org/officeDocument/2006/relationships/slide" Target="slides/slide24.xml"/><Relationship Id="rId75" Type="http://schemas.openxmlformats.org/officeDocument/2006/relationships/font" Target="fonts/Roboto-boldItalic.fntdata"/><Relationship Id="rId30" Type="http://schemas.openxmlformats.org/officeDocument/2006/relationships/slide" Target="slides/slide23.xml"/><Relationship Id="rId74" Type="http://schemas.openxmlformats.org/officeDocument/2006/relationships/font" Target="fonts/Roboto-italic.fntdata"/><Relationship Id="rId33" Type="http://schemas.openxmlformats.org/officeDocument/2006/relationships/slide" Target="slides/slide26.xml"/><Relationship Id="rId77" Type="http://schemas.openxmlformats.org/officeDocument/2006/relationships/font" Target="fonts/Tahoma-bold.fntdata"/><Relationship Id="rId32" Type="http://schemas.openxmlformats.org/officeDocument/2006/relationships/slide" Target="slides/slide25.xml"/><Relationship Id="rId76" Type="http://schemas.openxmlformats.org/officeDocument/2006/relationships/font" Target="fonts/Tahoma-regular.fntdata"/><Relationship Id="rId35" Type="http://schemas.openxmlformats.org/officeDocument/2006/relationships/slide" Target="slides/slide28.xml"/><Relationship Id="rId79" Type="http://schemas.openxmlformats.org/officeDocument/2006/relationships/font" Target="fonts/OpenSans-regular.fntdata"/><Relationship Id="rId34" Type="http://schemas.openxmlformats.org/officeDocument/2006/relationships/slide" Target="slides/slide27.xml"/><Relationship Id="rId78" Type="http://schemas.openxmlformats.org/officeDocument/2006/relationships/font" Target="fonts/NothingYouCouldDo-regular.fntdata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22" Type="http://schemas.openxmlformats.org/officeDocument/2006/relationships/slide" Target="slides/slide15.xml"/><Relationship Id="rId66" Type="http://schemas.openxmlformats.org/officeDocument/2006/relationships/slide" Target="slides/slide59.xml"/><Relationship Id="rId21" Type="http://schemas.openxmlformats.org/officeDocument/2006/relationships/slide" Target="slides/slide14.xml"/><Relationship Id="rId65" Type="http://schemas.openxmlformats.org/officeDocument/2006/relationships/slide" Target="slides/slide58.xml"/><Relationship Id="rId24" Type="http://schemas.openxmlformats.org/officeDocument/2006/relationships/slide" Target="slides/slide17.xml"/><Relationship Id="rId68" Type="http://schemas.openxmlformats.org/officeDocument/2006/relationships/slide" Target="slides/slide61.xml"/><Relationship Id="rId23" Type="http://schemas.openxmlformats.org/officeDocument/2006/relationships/slide" Target="slides/slide16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slide" Target="slides/slide6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8" name="Google Shape;5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4" name="Google Shape;5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7" name="Google Shape;58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3" name="Google Shape;59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e652085058_0_177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9" name="Google Shape;599;g3e652085058_0_177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g3e652085058_0_177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2" name="Google Shape;6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e652085058_0_179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8" name="Google Shape;628;g3e652085058_0_179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g3e652085058_0_179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5" name="Google Shape;6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0" name="Google Shape;68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e652085058_0_181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7" name="Google Shape;717;g3e652085058_0_181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g3e652085058_0_181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e652085058_0_14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g3e652085058_0_14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e652085058_0_183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1" name="Google Shape;741;g3e652085058_0_183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g3e652085058_0_183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e652085058_0_185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2" name="Google Shape;762;g3e652085058_0_185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g3e652085058_0_185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2" name="Google Shape;78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7" name="Google Shape;78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4" name="Google Shape;79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0" name="Google Shape;80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5" name="Google Shape;80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1" name="Google Shape;81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3e652085058_0_1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7" name="Google Shape;817;g3e652085058_0_1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3" name="Google Shape;82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3e652085058_0_187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4" name="Google Shape;864;g3e652085058_0_187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g3e652085058_0_187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e652085058_0_190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9" name="Google Shape;899;g3e652085058_0_190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g3e652085058_0_190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e652085058_0_191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9" name="Google Shape;909;g3e652085058_0_191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g3e652085058_0_191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3e652085058_0_195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0" name="Google Shape;940;g3e652085058_0_195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g3e652085058_0_195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3e652085058_0_197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5" name="Google Shape;965;g3e652085058_0_197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g3e652085058_0_197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3e652085058_0_199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4" name="Google Shape;984;g3e652085058_0_199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g3e652085058_0_199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3e652085058_0_199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2" name="Google Shape;992;g3e652085058_0_199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g3e652085058_0_199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3e652085058_0_202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9" name="Google Shape;1019;g3e652085058_0_202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g3e652085058_0_202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3e652085058_0_14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g3e652085058_0_14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g3e652085058_0_14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g3e652085058_0_14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3e652085058_0_14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g3e652085058_0_14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3e652085058_0_14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g3e652085058_0_14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3e652085058_0_14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g3e652085058_0_14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3e652085058_0_14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g3e652085058_0_14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3e652085058_0_14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g3e652085058_0_14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3e652085058_0_14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g3e652085058_0_14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3e652085058_0_14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g3e652085058_0_14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g3e652085058_0_14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g3e652085058_0_14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3e652085058_0_14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g3e652085058_0_14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g3e652085058_0_14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g3e652085058_0_14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3e652085058_0_15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g3e652085058_0_15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3e652085058_0_206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2" name="Google Shape;1122;g3e652085058_0_206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g3e652085058_0_206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3e652085058_0_208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9" name="Google Shape;1139;g3e652085058_0_208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g3e652085058_0_208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3e652085058_0_209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4" name="Google Shape;1154;g3e652085058_0_209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g3e652085058_0_209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3e652085058_0_210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6" name="Google Shape;1166;g3e652085058_0_210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g3e652085058_0_210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1" name="Google Shape;118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3e652085058_0_212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7" name="Google Shape;1187;g3e652085058_0_212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g3e652085058_0_212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g3e652085058_0_214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1" name="Google Shape;1211;g3e652085058_0_214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g3e652085058_0_214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g3e652085058_0_15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g3e652085058_0_15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g3e652085058_0_15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g3e652085058_0_15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3e652085058_0_15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g3e652085058_0_15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g3e652085058_0_15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g3e652085058_0_15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g3e652085058_0_15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g3e652085058_0_15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g3e652085058_0_15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g3e652085058_0_15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1" name="Google Shape;125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g3e652085058_0_215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8" name="Google Shape;1258;g3e652085058_0_215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g3e652085058_0_215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3e652085058_0_216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1" name="Google Shape;1271;g3e652085058_0_216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g3e652085058_0_216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3e652085058_0_219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9" name="Google Shape;1299;g3e652085058_0_219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g3e652085058_0_219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3475ce9fe8c_0_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50" lIns="121850" spcFirstLastPara="1" rIns="121850" wrap="square" tIns="121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2" name="Google Shape;12;g3475ce9fe8c_0_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50" lIns="121850" spcFirstLastPara="1" rIns="121850" wrap="square" tIns="12185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3" name="Google Shape;13;g3475ce9fe8c_0_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50" lIns="121850" spcFirstLastPara="1" rIns="121850" wrap="square" tIns="121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RM Logo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475ce9fe8c_0_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850" lIns="121850" spcFirstLastPara="1" rIns="121850" wrap="square" tIns="121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6" name="Google Shape;16;g3475ce9fe8c_0_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50" lIns="121850" spcFirstLastPara="1" rIns="121850" wrap="square" tIns="121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7" name="Google Shape;17;g3475ce9fe8c_0_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50" lIns="121850" spcFirstLastPara="1" rIns="121850" wrap="square" tIns="121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- Content">
  <p:cSld name="TITLE_AND_BODY_1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475ce9fe8c_0_9"/>
          <p:cNvSpPr txBox="1"/>
          <p:nvPr>
            <p:ph type="title"/>
          </p:nvPr>
        </p:nvSpPr>
        <p:spPr>
          <a:xfrm>
            <a:off x="422025" y="445025"/>
            <a:ext cx="673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g3475ce9fe8c_0_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" name="Google Shape;21;g3475ce9fe8c_0_9"/>
          <p:cNvSpPr txBox="1"/>
          <p:nvPr>
            <p:ph idx="1" type="subTitle"/>
          </p:nvPr>
        </p:nvSpPr>
        <p:spPr>
          <a:xfrm>
            <a:off x="422025" y="974925"/>
            <a:ext cx="5341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g3475ce9fe8c_0_9"/>
          <p:cNvSpPr txBox="1"/>
          <p:nvPr>
            <p:ph idx="2" type="body"/>
          </p:nvPr>
        </p:nvSpPr>
        <p:spPr>
          <a:xfrm>
            <a:off x="422025" y="1571700"/>
            <a:ext cx="7332900" cy="29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475ce9fe8c_0_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50" lIns="121850" spcFirstLastPara="1" rIns="121850" wrap="square" tIns="121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5" name="Google Shape;25;g3475ce9fe8c_0_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50" lIns="121850" spcFirstLastPara="1" rIns="121850" wrap="square" tIns="121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ant to know more slide">
  <p:cSld name="2_Design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g3475ce9fe8c_0_17"/>
          <p:cNvGrpSpPr/>
          <p:nvPr/>
        </p:nvGrpSpPr>
        <p:grpSpPr>
          <a:xfrm>
            <a:off x="0" y="0"/>
            <a:ext cx="381000" cy="1371600"/>
            <a:chOff x="0" y="0"/>
            <a:chExt cx="381000" cy="1371600"/>
          </a:xfrm>
        </p:grpSpPr>
        <p:sp>
          <p:nvSpPr>
            <p:cNvPr id="28" name="Google Shape;28;g3475ce9fe8c_0_17"/>
            <p:cNvSpPr/>
            <p:nvPr/>
          </p:nvSpPr>
          <p:spPr>
            <a:xfrm>
              <a:off x="0" y="0"/>
              <a:ext cx="381000" cy="685800"/>
            </a:xfrm>
            <a:prstGeom prst="rect">
              <a:avLst/>
            </a:prstGeom>
            <a:solidFill>
              <a:srgbClr val="0F75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g3475ce9fe8c_0_17"/>
            <p:cNvSpPr/>
            <p:nvPr/>
          </p:nvSpPr>
          <p:spPr>
            <a:xfrm>
              <a:off x="0" y="685800"/>
              <a:ext cx="381000" cy="685800"/>
            </a:xfrm>
            <a:prstGeom prst="rect">
              <a:avLst/>
            </a:prstGeom>
            <a:solidFill>
              <a:srgbClr val="25AA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30;g3475ce9fe8c_0_17"/>
          <p:cNvPicPr preferRelativeResize="0"/>
          <p:nvPr/>
        </p:nvPicPr>
        <p:blipFill rotWithShape="1">
          <a:blip r:embed="rId2">
            <a:alphaModFix/>
          </a:blip>
          <a:srcRect b="8176" l="0" r="12633" t="14764"/>
          <a:stretch/>
        </p:blipFill>
        <p:spPr>
          <a:xfrm>
            <a:off x="422025" y="319000"/>
            <a:ext cx="1379783" cy="7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g3475ce9fe8c_0_17"/>
          <p:cNvSpPr txBox="1"/>
          <p:nvPr>
            <p:ph idx="1" type="subTitle"/>
          </p:nvPr>
        </p:nvSpPr>
        <p:spPr>
          <a:xfrm>
            <a:off x="422025" y="974925"/>
            <a:ext cx="53412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3475ce9fe8c_0_17"/>
          <p:cNvSpPr txBox="1"/>
          <p:nvPr>
            <p:ph idx="2" type="body"/>
          </p:nvPr>
        </p:nvSpPr>
        <p:spPr>
          <a:xfrm>
            <a:off x="422025" y="1571700"/>
            <a:ext cx="7332900" cy="29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302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lease Note Slide">
  <p:cSld name="TITLE_ONLY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475ce9fe8c_0_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" name="Google Shape;35;g3475ce9fe8c_0_24"/>
          <p:cNvPicPr preferRelativeResize="0"/>
          <p:nvPr/>
        </p:nvPicPr>
        <p:blipFill rotWithShape="1">
          <a:blip r:embed="rId2">
            <a:alphaModFix/>
          </a:blip>
          <a:srcRect b="4688" l="11594" r="10693" t="4095"/>
          <a:stretch/>
        </p:blipFill>
        <p:spPr>
          <a:xfrm>
            <a:off x="422025" y="162950"/>
            <a:ext cx="944050" cy="81197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g3475ce9fe8c_0_24"/>
          <p:cNvSpPr txBox="1"/>
          <p:nvPr>
            <p:ph idx="1" type="subTitle"/>
          </p:nvPr>
        </p:nvSpPr>
        <p:spPr>
          <a:xfrm>
            <a:off x="422025" y="974925"/>
            <a:ext cx="53412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g3475ce9fe8c_0_24"/>
          <p:cNvSpPr txBox="1"/>
          <p:nvPr>
            <p:ph idx="2" type="body"/>
          </p:nvPr>
        </p:nvSpPr>
        <p:spPr>
          <a:xfrm>
            <a:off x="422025" y="1571700"/>
            <a:ext cx="7332900" cy="29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302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Y Slide">
  <p:cSld name="TITLE_ONLY_2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475ce9fe8c_0_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0" name="Google Shape;40;g3475ce9fe8c_0_29"/>
          <p:cNvPicPr preferRelativeResize="0"/>
          <p:nvPr/>
        </p:nvPicPr>
        <p:blipFill rotWithShape="1">
          <a:blip r:embed="rId2">
            <a:alphaModFix/>
          </a:blip>
          <a:srcRect b="23340" l="18269" r="27374" t="18234"/>
          <a:stretch/>
        </p:blipFill>
        <p:spPr>
          <a:xfrm>
            <a:off x="422025" y="300050"/>
            <a:ext cx="1067350" cy="674876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g3475ce9fe8c_0_29"/>
          <p:cNvSpPr txBox="1"/>
          <p:nvPr>
            <p:ph idx="1" type="subTitle"/>
          </p:nvPr>
        </p:nvSpPr>
        <p:spPr>
          <a:xfrm>
            <a:off x="422025" y="974925"/>
            <a:ext cx="5341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g3475ce9fe8c_0_29"/>
          <p:cNvSpPr txBox="1"/>
          <p:nvPr>
            <p:ph idx="2" type="body"/>
          </p:nvPr>
        </p:nvSpPr>
        <p:spPr>
          <a:xfrm>
            <a:off x="422025" y="1571700"/>
            <a:ext cx="7332900" cy="29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302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- Content 2 columns">
  <p:cSld name="TITLE_AND_TWO_COLUMNS_1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475ce9fe8c_0_34"/>
          <p:cNvSpPr txBox="1"/>
          <p:nvPr>
            <p:ph idx="1" type="body"/>
          </p:nvPr>
        </p:nvSpPr>
        <p:spPr>
          <a:xfrm>
            <a:off x="4934975" y="15717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g3475ce9fe8c_0_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" name="Google Shape;46;g3475ce9fe8c_0_34"/>
          <p:cNvSpPr txBox="1"/>
          <p:nvPr>
            <p:ph type="title"/>
          </p:nvPr>
        </p:nvSpPr>
        <p:spPr>
          <a:xfrm>
            <a:off x="422025" y="445025"/>
            <a:ext cx="673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g3475ce9fe8c_0_34"/>
          <p:cNvSpPr txBox="1"/>
          <p:nvPr>
            <p:ph idx="2" type="subTitle"/>
          </p:nvPr>
        </p:nvSpPr>
        <p:spPr>
          <a:xfrm>
            <a:off x="422025" y="974925"/>
            <a:ext cx="5341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g3475ce9fe8c_0_34"/>
          <p:cNvSpPr txBox="1"/>
          <p:nvPr>
            <p:ph idx="3" type="body"/>
          </p:nvPr>
        </p:nvSpPr>
        <p:spPr>
          <a:xfrm>
            <a:off x="422025" y="1571700"/>
            <a:ext cx="3999900" cy="29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475ce9fe8c_0_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50" lIns="121850" spcFirstLastPara="1" rIns="121850" wrap="square" tIns="121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475ce9fe8c_0_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50" lIns="121850" spcFirstLastPara="1" rIns="121850" wrap="square" tIns="121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3" name="Google Shape;53;g3475ce9fe8c_0_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50" lIns="121850" spcFirstLastPara="1" rIns="121850" wrap="square" tIns="12185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4" name="Google Shape;54;g3475ce9fe8c_0_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50" lIns="121850" spcFirstLastPara="1" rIns="121850" wrap="square" tIns="12185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55" name="Google Shape;55;g3475ce9fe8c_0_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50" lIns="121850" spcFirstLastPara="1" rIns="121850" wrap="square" tIns="121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75ce9fe8c_0_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50" lIns="121850" spcFirstLastPara="1" rIns="121850" wrap="square" tIns="121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8" name="Google Shape;58;g3475ce9fe8c_0_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50" lIns="121850" spcFirstLastPara="1" rIns="121850" wrap="square" tIns="121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475ce9fe8c_0_5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850" lIns="121850" spcFirstLastPara="1" rIns="121850" wrap="square" tIns="121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61" name="Google Shape;61;g3475ce9fe8c_0_5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50" lIns="121850" spcFirstLastPara="1" rIns="121850" wrap="square" tIns="12185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62" name="Google Shape;62;g3475ce9fe8c_0_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50" lIns="121850" spcFirstLastPara="1" rIns="121850" wrap="square" tIns="121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475ce9fe8c_0_58"/>
          <p:cNvSpPr txBox="1"/>
          <p:nvPr>
            <p:ph type="title"/>
          </p:nvPr>
        </p:nvSpPr>
        <p:spPr>
          <a:xfrm>
            <a:off x="490250" y="450150"/>
            <a:ext cx="6367800" cy="40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50" lIns="121850" spcFirstLastPara="1" rIns="121850" wrap="square" tIns="121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65" name="Google Shape;65;g3475ce9fe8c_0_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50" lIns="121850" spcFirstLastPara="1" rIns="121850" wrap="square" tIns="121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475ce9fe8c_0_6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50" lIns="121850" spcFirstLastPara="1" rIns="121850" wrap="square" tIns="121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g3475ce9fe8c_0_6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850" lIns="121850" spcFirstLastPara="1" rIns="121850" wrap="square" tIns="121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69" name="Google Shape;69;g3475ce9fe8c_0_6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50" lIns="121850" spcFirstLastPara="1" rIns="121850" wrap="square" tIns="121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0" name="Google Shape;70;g3475ce9fe8c_0_6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50" lIns="121850" spcFirstLastPara="1" rIns="121850" wrap="square" tIns="12185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71" name="Google Shape;71;g3475ce9fe8c_0_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50" lIns="121850" spcFirstLastPara="1" rIns="121850" wrap="square" tIns="121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475ce9fe8c_0_6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50" lIns="121850" spcFirstLastPara="1" rIns="121850" wrap="square" tIns="121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74" name="Google Shape;74;g3475ce9fe8c_0_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50" lIns="121850" spcFirstLastPara="1" rIns="121850" wrap="square" tIns="121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475ce9fe8c_0_7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850" lIns="121850" spcFirstLastPara="1" rIns="121850" wrap="square" tIns="121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77" name="Google Shape;77;g3475ce9fe8c_0_7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50" lIns="121850" spcFirstLastPara="1" rIns="121850" wrap="square" tIns="12185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78" name="Google Shape;78;g3475ce9fe8c_0_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50" lIns="121850" spcFirstLastPara="1" rIns="121850" wrap="square" tIns="121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obj">
  <p:cSld name="OBJEC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475ce9fe8c_0_74"/>
          <p:cNvSpPr txBox="1"/>
          <p:nvPr>
            <p:ph type="title"/>
          </p:nvPr>
        </p:nvSpPr>
        <p:spPr>
          <a:xfrm>
            <a:off x="3638550" y="2318266"/>
            <a:ext cx="1866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b="0" i="0" sz="4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81" name="Google Shape;81;g3475ce9fe8c_0_74"/>
          <p:cNvSpPr txBox="1"/>
          <p:nvPr>
            <p:ph idx="11" type="ftr"/>
          </p:nvPr>
        </p:nvSpPr>
        <p:spPr>
          <a:xfrm>
            <a:off x="2817622" y="4944462"/>
            <a:ext cx="35136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800" u="none" cap="none" strike="noStrike">
                <a:solidFill>
                  <a:srgbClr val="7D7D7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g3475ce9fe8c_0_7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g3475ce9fe8c_0_74"/>
          <p:cNvSpPr txBox="1"/>
          <p:nvPr>
            <p:ph idx="12" type="sldNum"/>
          </p:nvPr>
        </p:nvSpPr>
        <p:spPr>
          <a:xfrm>
            <a:off x="6583680" y="4783455"/>
            <a:ext cx="2103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475ce9fe8c_0_79"/>
          <p:cNvSpPr txBox="1"/>
          <p:nvPr>
            <p:ph type="title"/>
          </p:nvPr>
        </p:nvSpPr>
        <p:spPr>
          <a:xfrm>
            <a:off x="3638550" y="2318266"/>
            <a:ext cx="1866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b="0" i="0" sz="4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86" name="Google Shape;86;g3475ce9fe8c_0_79"/>
          <p:cNvSpPr txBox="1"/>
          <p:nvPr>
            <p:ph idx="1" type="body"/>
          </p:nvPr>
        </p:nvSpPr>
        <p:spPr>
          <a:xfrm>
            <a:off x="4319015" y="1927004"/>
            <a:ext cx="4631700" cy="25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900"/>
              <a:buNone/>
              <a:defRPr/>
            </a:lvl9pPr>
          </a:lstStyle>
          <a:p/>
        </p:txBody>
      </p:sp>
      <p:sp>
        <p:nvSpPr>
          <p:cNvPr id="87" name="Google Shape;87;g3475ce9fe8c_0_79"/>
          <p:cNvSpPr txBox="1"/>
          <p:nvPr>
            <p:ph idx="11" type="ftr"/>
          </p:nvPr>
        </p:nvSpPr>
        <p:spPr>
          <a:xfrm>
            <a:off x="2817622" y="4944462"/>
            <a:ext cx="35136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800" u="none" cap="none" strike="noStrike">
                <a:solidFill>
                  <a:srgbClr val="7D7D7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g3475ce9fe8c_0_79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g3475ce9fe8c_0_79"/>
          <p:cNvSpPr txBox="1"/>
          <p:nvPr>
            <p:ph idx="12" type="sldNum"/>
          </p:nvPr>
        </p:nvSpPr>
        <p:spPr>
          <a:xfrm>
            <a:off x="6583680" y="4783455"/>
            <a:ext cx="2103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475ce9fe8c_0_85"/>
          <p:cNvSpPr txBox="1"/>
          <p:nvPr>
            <p:ph idx="11" type="ftr"/>
          </p:nvPr>
        </p:nvSpPr>
        <p:spPr>
          <a:xfrm>
            <a:off x="2817622" y="4944462"/>
            <a:ext cx="35136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800" u="none" cap="none" strike="noStrike">
                <a:solidFill>
                  <a:srgbClr val="7D7D7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Google Shape;92;g3475ce9fe8c_0_8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g3475ce9fe8c_0_85"/>
          <p:cNvSpPr txBox="1"/>
          <p:nvPr>
            <p:ph idx="12" type="sldNum"/>
          </p:nvPr>
        </p:nvSpPr>
        <p:spPr>
          <a:xfrm>
            <a:off x="6583680" y="4783455"/>
            <a:ext cx="2103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475ce9fe8c_0_89"/>
          <p:cNvSpPr txBox="1"/>
          <p:nvPr>
            <p:ph type="ctrTitle"/>
          </p:nvPr>
        </p:nvSpPr>
        <p:spPr>
          <a:xfrm>
            <a:off x="578612" y="210129"/>
            <a:ext cx="79869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6" name="Google Shape;96;g3475ce9fe8c_0_89"/>
          <p:cNvSpPr txBox="1"/>
          <p:nvPr>
            <p:ph idx="1" type="subTitle"/>
          </p:nvPr>
        </p:nvSpPr>
        <p:spPr>
          <a:xfrm>
            <a:off x="1371600" y="2880360"/>
            <a:ext cx="6400800" cy="12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900"/>
              <a:buNone/>
              <a:defRPr/>
            </a:lvl9pPr>
          </a:lstStyle>
          <a:p/>
        </p:txBody>
      </p:sp>
      <p:sp>
        <p:nvSpPr>
          <p:cNvPr id="97" name="Google Shape;97;g3475ce9fe8c_0_89"/>
          <p:cNvSpPr txBox="1"/>
          <p:nvPr>
            <p:ph idx="11" type="ftr"/>
          </p:nvPr>
        </p:nvSpPr>
        <p:spPr>
          <a:xfrm>
            <a:off x="2817622" y="4944462"/>
            <a:ext cx="35136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800" u="none" cap="none" strike="noStrike">
                <a:solidFill>
                  <a:srgbClr val="7D7D7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g3475ce9fe8c_0_89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g3475ce9fe8c_0_89"/>
          <p:cNvSpPr txBox="1"/>
          <p:nvPr>
            <p:ph idx="12" type="sldNum"/>
          </p:nvPr>
        </p:nvSpPr>
        <p:spPr>
          <a:xfrm>
            <a:off x="6583680" y="4783455"/>
            <a:ext cx="2103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Design">
  <p:cSld name="2_Design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OBJECT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475ce9fe8c_0_96"/>
          <p:cNvSpPr txBox="1"/>
          <p:nvPr>
            <p:ph type="ctrTitle"/>
          </p:nvPr>
        </p:nvSpPr>
        <p:spPr>
          <a:xfrm>
            <a:off x="1077742" y="159935"/>
            <a:ext cx="69885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" name="Google Shape;103;g3475ce9fe8c_0_96"/>
          <p:cNvSpPr txBox="1"/>
          <p:nvPr>
            <p:ph idx="1" type="subTitle"/>
          </p:nvPr>
        </p:nvSpPr>
        <p:spPr>
          <a:xfrm>
            <a:off x="1371600" y="2880360"/>
            <a:ext cx="64008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4" name="Google Shape;104;g3475ce9fe8c_0_96"/>
          <p:cNvSpPr txBox="1"/>
          <p:nvPr>
            <p:ph idx="11" type="ftr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g3475ce9fe8c_0_96"/>
          <p:cNvSpPr txBox="1"/>
          <p:nvPr>
            <p:ph idx="10" type="dt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g3475ce9fe8c_0_9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475ce9fe8c_0_10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" name="Google Shape;109;g3475ce9fe8c_0_102"/>
          <p:cNvSpPr txBox="1"/>
          <p:nvPr>
            <p:ph idx="1" type="body"/>
          </p:nvPr>
        </p:nvSpPr>
        <p:spPr>
          <a:xfrm>
            <a:off x="457200" y="1183005"/>
            <a:ext cx="39777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0" name="Google Shape;110;g3475ce9fe8c_0_102"/>
          <p:cNvSpPr txBox="1"/>
          <p:nvPr>
            <p:ph idx="2" type="body"/>
          </p:nvPr>
        </p:nvSpPr>
        <p:spPr>
          <a:xfrm>
            <a:off x="4709160" y="1183005"/>
            <a:ext cx="39777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1" name="Google Shape;111;g3475ce9fe8c_0_102"/>
          <p:cNvSpPr txBox="1"/>
          <p:nvPr>
            <p:ph idx="11" type="ftr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g3475ce9fe8c_0_102"/>
          <p:cNvSpPr txBox="1"/>
          <p:nvPr>
            <p:ph idx="10" type="dt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g3475ce9fe8c_0_10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475ce9fe8c_0_109"/>
          <p:cNvSpPr txBox="1"/>
          <p:nvPr>
            <p:ph idx="11" type="ftr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" name="Google Shape;116;g3475ce9fe8c_0_109"/>
          <p:cNvSpPr txBox="1"/>
          <p:nvPr>
            <p:ph idx="10" type="dt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g3475ce9fe8c_0_10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475ce9fe8c_0_113"/>
          <p:cNvSpPr txBox="1"/>
          <p:nvPr>
            <p:ph type="ctrTitle"/>
          </p:nvPr>
        </p:nvSpPr>
        <p:spPr>
          <a:xfrm>
            <a:off x="685800" y="514350"/>
            <a:ext cx="7772400" cy="15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2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475ce9fe8c_0_115"/>
          <p:cNvSpPr txBox="1"/>
          <p:nvPr>
            <p:ph type="title"/>
          </p:nvPr>
        </p:nvSpPr>
        <p:spPr>
          <a:xfrm>
            <a:off x="457200" y="208359"/>
            <a:ext cx="82296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475ce9fe8c_0_115"/>
          <p:cNvSpPr txBox="1"/>
          <p:nvPr>
            <p:ph idx="1" type="body"/>
          </p:nvPr>
        </p:nvSpPr>
        <p:spPr>
          <a:xfrm>
            <a:off x="806450" y="925115"/>
            <a:ext cx="8229600" cy="3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  <a:defRPr/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4"/>
              <a:defRPr/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»"/>
              <a:defRPr/>
            </a:lvl6pPr>
            <a:lvl7pPr indent="-3175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»"/>
              <a:defRPr/>
            </a:lvl7pPr>
            <a:lvl8pPr indent="-3175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»"/>
              <a:defRPr/>
            </a:lvl8pPr>
            <a:lvl9pPr indent="-3175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475ce9fe8c_0_118"/>
          <p:cNvSpPr txBox="1"/>
          <p:nvPr>
            <p:ph type="title"/>
          </p:nvPr>
        </p:nvSpPr>
        <p:spPr>
          <a:xfrm>
            <a:off x="457200" y="208361"/>
            <a:ext cx="82296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g3475ce9fe8c_0_118"/>
          <p:cNvSpPr txBox="1"/>
          <p:nvPr>
            <p:ph idx="1" type="body"/>
          </p:nvPr>
        </p:nvSpPr>
        <p:spPr>
          <a:xfrm>
            <a:off x="806450" y="925118"/>
            <a:ext cx="4038600" cy="3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  <a:defRPr/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4"/>
              <a:defRPr/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»"/>
              <a:defRPr/>
            </a:lvl6pPr>
            <a:lvl7pPr indent="-3175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»"/>
              <a:defRPr/>
            </a:lvl7pPr>
            <a:lvl8pPr indent="-3175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»"/>
              <a:defRPr/>
            </a:lvl8pPr>
            <a:lvl9pPr indent="-3175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»"/>
              <a:defRPr/>
            </a:lvl9pPr>
          </a:lstStyle>
          <a:p/>
        </p:txBody>
      </p:sp>
      <p:sp>
        <p:nvSpPr>
          <p:cNvPr id="126" name="Google Shape;126;g3475ce9fe8c_0_118"/>
          <p:cNvSpPr txBox="1"/>
          <p:nvPr>
            <p:ph idx="2" type="body"/>
          </p:nvPr>
        </p:nvSpPr>
        <p:spPr>
          <a:xfrm>
            <a:off x="4997450" y="925118"/>
            <a:ext cx="4038600" cy="3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  <a:defRPr/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4"/>
              <a:defRPr/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»"/>
              <a:defRPr/>
            </a:lvl6pPr>
            <a:lvl7pPr indent="-3175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»"/>
              <a:defRPr/>
            </a:lvl7pPr>
            <a:lvl8pPr indent="-3175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»"/>
              <a:defRPr/>
            </a:lvl8pPr>
            <a:lvl9pPr indent="-3175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1">
  <p:cSld name="OBJECT_3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475ce9fe8c_0_122"/>
          <p:cNvSpPr txBox="1"/>
          <p:nvPr>
            <p:ph type="title"/>
          </p:nvPr>
        </p:nvSpPr>
        <p:spPr>
          <a:xfrm>
            <a:off x="146209" y="145494"/>
            <a:ext cx="88515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g3475ce9fe8c_0_122"/>
          <p:cNvSpPr txBox="1"/>
          <p:nvPr>
            <p:ph idx="1" type="body"/>
          </p:nvPr>
        </p:nvSpPr>
        <p:spPr>
          <a:xfrm>
            <a:off x="103822" y="1225724"/>
            <a:ext cx="3091200" cy="31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g3475ce9fe8c_0_122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g3475ce9fe8c_0_122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2" name="Google Shape;132;g3475ce9fe8c_0_122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3" name="Google Shape;133;g3475ce9fe8c_0_122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 1">
  <p:cSld name="OBJECT_1_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475ce9fe8c_0_12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g3475ce9fe8c_0_12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7" name="Google Shape;137;g3475ce9fe8c_0_12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8" name="Google Shape;138;g3475ce9fe8c_0_12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9" name="Google Shape;139;g3475ce9fe8c_0_1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3">
  <p:cSld name="OBJECT_3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475ce9fe8c_0_135"/>
          <p:cNvSpPr txBox="1"/>
          <p:nvPr>
            <p:ph type="title"/>
          </p:nvPr>
        </p:nvSpPr>
        <p:spPr>
          <a:xfrm>
            <a:off x="-270937" y="24030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42" name="Google Shape;142;g3475ce9fe8c_0_13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43" name="Google Shape;143;g3475ce9fe8c_0_13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4" name="Google Shape;144;g3475ce9fe8c_0_13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5" name="Google Shape;145;g3475ce9fe8c_0_13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 showMasterSp="0">
  <p:cSld name="Title Only"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475ce9fe8c_0_141"/>
          <p:cNvSpPr/>
          <p:nvPr/>
        </p:nvSpPr>
        <p:spPr>
          <a:xfrm>
            <a:off x="628650" y="271463"/>
            <a:ext cx="7886700" cy="371475"/>
          </a:xfrm>
          <a:custGeom>
            <a:rect b="b" l="l" r="r" t="t"/>
            <a:pathLst>
              <a:path extrusionOk="0" h="495300" w="10515600">
                <a:moveTo>
                  <a:pt x="10515600" y="0"/>
                </a:moveTo>
                <a:lnTo>
                  <a:pt x="0" y="0"/>
                </a:lnTo>
                <a:lnTo>
                  <a:pt x="0" y="495300"/>
                </a:lnTo>
                <a:lnTo>
                  <a:pt x="10515600" y="4953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EC7C3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475ce9fe8c_0_141"/>
          <p:cNvSpPr txBox="1"/>
          <p:nvPr>
            <p:ph type="title"/>
          </p:nvPr>
        </p:nvSpPr>
        <p:spPr>
          <a:xfrm>
            <a:off x="146209" y="145494"/>
            <a:ext cx="88515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g3475ce9fe8c_0_141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0" name="Google Shape;150;g3475ce9fe8c_0_14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1" name="Google Shape;151;g3475ce9fe8c_0_141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OBJECT_4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475ce9fe8c_0_14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g3475ce9fe8c_0_14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5" name="Google Shape;155;g3475ce9fe8c_0_14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6" name="Google Shape;156;g3475ce9fe8c_0_14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7" name="Google Shape;157;g3475ce9fe8c_0_14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 1">
  <p:cSld name="1_Title and Conten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475ce9fe8c_0_153"/>
          <p:cNvSpPr txBox="1"/>
          <p:nvPr>
            <p:ph type="title"/>
          </p:nvPr>
        </p:nvSpPr>
        <p:spPr>
          <a:xfrm>
            <a:off x="390424" y="497080"/>
            <a:ext cx="83631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g3475ce9fe8c_0_153"/>
          <p:cNvSpPr txBox="1"/>
          <p:nvPr>
            <p:ph idx="1" type="body"/>
          </p:nvPr>
        </p:nvSpPr>
        <p:spPr>
          <a:xfrm>
            <a:off x="390424" y="1214436"/>
            <a:ext cx="8363100" cy="27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161" name="Google Shape;161;g3475ce9fe8c_0_153"/>
          <p:cNvSpPr txBox="1"/>
          <p:nvPr>
            <p:ph idx="11" type="ftr"/>
          </p:nvPr>
        </p:nvSpPr>
        <p:spPr>
          <a:xfrm>
            <a:off x="2879185" y="4948409"/>
            <a:ext cx="35034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D7D7D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g3475ce9fe8c_0_15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3" name="Google Shape;163;g3475ce9fe8c_0_153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4">
  <p:cSld name="OBJECT_5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75ce9fe8c_0_15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66" name="Google Shape;166;g3475ce9fe8c_0_15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67" name="Google Shape;167;g3475ce9fe8c_0_15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8" name="Google Shape;168;g3475ce9fe8c_0_15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9" name="Google Shape;169;g3475ce9fe8c_0_15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5">
  <p:cSld name="OBJECT_6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475ce9fe8c_0_16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72" name="Google Shape;172;g3475ce9fe8c_0_16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73" name="Google Shape;173;g3475ce9fe8c_0_16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4" name="Google Shape;174;g3475ce9fe8c_0_16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5" name="Google Shape;175;g3475ce9fe8c_0_16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6">
  <p:cSld name="OBJECT_7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475ce9fe8c_0_17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78" name="Google Shape;178;g3475ce9fe8c_0_17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79" name="Google Shape;179;g3475ce9fe8c_0_17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0" name="Google Shape;180;g3475ce9fe8c_0_17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1" name="Google Shape;181;g3475ce9fe8c_0_17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7">
  <p:cSld name="OBJECT_8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475ce9fe8c_0_17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4" name="Google Shape;184;g3475ce9fe8c_0_17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85" name="Google Shape;185;g3475ce9fe8c_0_17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6" name="Google Shape;186;g3475ce9fe8c_0_17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7" name="Google Shape;187;g3475ce9fe8c_0_17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8">
  <p:cSld name="OBJECT_9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475ce9fe8c_0_18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90" name="Google Shape;190;g3475ce9fe8c_0_18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91" name="Google Shape;191;g3475ce9fe8c_0_18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2" name="Google Shape;192;g3475ce9fe8c_0_18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3" name="Google Shape;193;g3475ce9fe8c_0_18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9">
  <p:cSld name="OBJECT_10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75ce9fe8c_0_18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96" name="Google Shape;196;g3475ce9fe8c_0_18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97" name="Google Shape;197;g3475ce9fe8c_0_18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8" name="Google Shape;198;g3475ce9fe8c_0_18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9" name="Google Shape;199;g3475ce9fe8c_0_18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0">
  <p:cSld name="OBJECT_11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475ce9fe8c_0_19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02" name="Google Shape;202;g3475ce9fe8c_0_19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203" name="Google Shape;203;g3475ce9fe8c_0_19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4" name="Google Shape;204;g3475ce9fe8c_0_19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5" name="Google Shape;205;g3475ce9fe8c_0_19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1">
  <p:cSld name="OBJECT_12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475ce9fe8c_0_20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08" name="Google Shape;208;g3475ce9fe8c_0_20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209" name="Google Shape;209;g3475ce9fe8c_0_20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0" name="Google Shape;210;g3475ce9fe8c_0_20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1" name="Google Shape;211;g3475ce9fe8c_0_20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2">
  <p:cSld name="OBJECT_13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475ce9fe8c_0_20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14" name="Google Shape;214;g3475ce9fe8c_0_20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215" name="Google Shape;215;g3475ce9fe8c_0_20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6" name="Google Shape;216;g3475ce9fe8c_0_20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7" name="Google Shape;217;g3475ce9fe8c_0_20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3">
  <p:cSld name="OBJECT_14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e652085058_0_24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0" name="Google Shape;220;g3e652085058_0_24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221" name="Google Shape;221;g3e652085058_0_24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222" name="Google Shape;222;g3e652085058_0_24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223" name="Google Shape;223;g3e652085058_0_24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RM Logo" type="title">
  <p:cSld name="TITLE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e652085058_0_15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850" lIns="121850" spcFirstLastPara="1" rIns="121850" wrap="square" tIns="121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232" name="Google Shape;232;g3e652085058_0_15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50" lIns="121850" spcFirstLastPara="1" rIns="121850" wrap="square" tIns="121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233" name="Google Shape;233;g3e652085058_0_15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50" lIns="121850" spcFirstLastPara="1" rIns="121850" wrap="square" tIns="121850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- Content">
  <p:cSld name="TITLE_AND_BODY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e652085058_0_1550"/>
          <p:cNvSpPr txBox="1"/>
          <p:nvPr>
            <p:ph type="title"/>
          </p:nvPr>
        </p:nvSpPr>
        <p:spPr>
          <a:xfrm>
            <a:off x="422025" y="445025"/>
            <a:ext cx="673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6" name="Google Shape;236;g3e652085058_0_15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7" name="Google Shape;237;g3e652085058_0_1550"/>
          <p:cNvSpPr txBox="1"/>
          <p:nvPr>
            <p:ph idx="1" type="subTitle"/>
          </p:nvPr>
        </p:nvSpPr>
        <p:spPr>
          <a:xfrm>
            <a:off x="422025" y="974925"/>
            <a:ext cx="5341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g3e652085058_0_1550"/>
          <p:cNvSpPr txBox="1"/>
          <p:nvPr>
            <p:ph idx="2" type="body"/>
          </p:nvPr>
        </p:nvSpPr>
        <p:spPr>
          <a:xfrm>
            <a:off x="422025" y="1571700"/>
            <a:ext cx="7332900" cy="29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e652085058_0_155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50" lIns="121850" spcFirstLastPara="1" rIns="121850" wrap="square" tIns="121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1" name="Google Shape;241;g3e652085058_0_15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50" lIns="121850" spcFirstLastPara="1" rIns="121850" wrap="square" tIns="121850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ant to know more slide">
  <p:cSld name="2_Design_1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oogle Shape;243;g3e652085058_0_1558"/>
          <p:cNvGrpSpPr/>
          <p:nvPr/>
        </p:nvGrpSpPr>
        <p:grpSpPr>
          <a:xfrm>
            <a:off x="0" y="0"/>
            <a:ext cx="381000" cy="1371600"/>
            <a:chOff x="0" y="0"/>
            <a:chExt cx="381000" cy="1371600"/>
          </a:xfrm>
        </p:grpSpPr>
        <p:sp>
          <p:nvSpPr>
            <p:cNvPr id="244" name="Google Shape;244;g3e652085058_0_1558"/>
            <p:cNvSpPr/>
            <p:nvPr/>
          </p:nvSpPr>
          <p:spPr>
            <a:xfrm>
              <a:off x="0" y="0"/>
              <a:ext cx="381000" cy="685800"/>
            </a:xfrm>
            <a:prstGeom prst="rect">
              <a:avLst/>
            </a:prstGeom>
            <a:solidFill>
              <a:srgbClr val="0F75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g3e652085058_0_1558"/>
            <p:cNvSpPr/>
            <p:nvPr/>
          </p:nvSpPr>
          <p:spPr>
            <a:xfrm>
              <a:off x="0" y="685800"/>
              <a:ext cx="381000" cy="685800"/>
            </a:xfrm>
            <a:prstGeom prst="rect">
              <a:avLst/>
            </a:prstGeom>
            <a:solidFill>
              <a:srgbClr val="25AA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6" name="Google Shape;246;g3e652085058_0_1558"/>
          <p:cNvPicPr preferRelativeResize="0"/>
          <p:nvPr/>
        </p:nvPicPr>
        <p:blipFill rotWithShape="1">
          <a:blip r:embed="rId2">
            <a:alphaModFix/>
          </a:blip>
          <a:srcRect b="8176" l="0" r="12633" t="14765"/>
          <a:stretch/>
        </p:blipFill>
        <p:spPr>
          <a:xfrm>
            <a:off x="422025" y="319000"/>
            <a:ext cx="1379783" cy="7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g3e652085058_0_1558"/>
          <p:cNvSpPr txBox="1"/>
          <p:nvPr>
            <p:ph idx="1" type="subTitle"/>
          </p:nvPr>
        </p:nvSpPr>
        <p:spPr>
          <a:xfrm>
            <a:off x="422025" y="974925"/>
            <a:ext cx="53412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g3e652085058_0_1558"/>
          <p:cNvSpPr txBox="1"/>
          <p:nvPr>
            <p:ph idx="2" type="body"/>
          </p:nvPr>
        </p:nvSpPr>
        <p:spPr>
          <a:xfrm>
            <a:off x="422025" y="1571700"/>
            <a:ext cx="7332900" cy="29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302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lease Note Slide">
  <p:cSld name="TITLE_ONLY_1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e652085058_0_15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1" name="Google Shape;251;g3e652085058_0_1565"/>
          <p:cNvPicPr preferRelativeResize="0"/>
          <p:nvPr/>
        </p:nvPicPr>
        <p:blipFill rotWithShape="1">
          <a:blip r:embed="rId2">
            <a:alphaModFix/>
          </a:blip>
          <a:srcRect b="4688" l="11595" r="10693" t="4096"/>
          <a:stretch/>
        </p:blipFill>
        <p:spPr>
          <a:xfrm>
            <a:off x="422025" y="162950"/>
            <a:ext cx="944050" cy="811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g3e652085058_0_1565"/>
          <p:cNvSpPr txBox="1"/>
          <p:nvPr>
            <p:ph idx="1" type="subTitle"/>
          </p:nvPr>
        </p:nvSpPr>
        <p:spPr>
          <a:xfrm>
            <a:off x="422025" y="974925"/>
            <a:ext cx="53412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g3e652085058_0_1565"/>
          <p:cNvSpPr txBox="1"/>
          <p:nvPr>
            <p:ph idx="2" type="body"/>
          </p:nvPr>
        </p:nvSpPr>
        <p:spPr>
          <a:xfrm>
            <a:off x="422025" y="1571700"/>
            <a:ext cx="7332900" cy="29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302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Y Slide">
  <p:cSld name="TITLE_ONLY_2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e652085058_0_15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6" name="Google Shape;256;g3e652085058_0_1570"/>
          <p:cNvPicPr preferRelativeResize="0"/>
          <p:nvPr/>
        </p:nvPicPr>
        <p:blipFill rotWithShape="1">
          <a:blip r:embed="rId2">
            <a:alphaModFix/>
          </a:blip>
          <a:srcRect b="23341" l="18269" r="27374" t="18234"/>
          <a:stretch/>
        </p:blipFill>
        <p:spPr>
          <a:xfrm>
            <a:off x="422025" y="300050"/>
            <a:ext cx="1067350" cy="674876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g3e652085058_0_1570"/>
          <p:cNvSpPr txBox="1"/>
          <p:nvPr>
            <p:ph idx="1" type="subTitle"/>
          </p:nvPr>
        </p:nvSpPr>
        <p:spPr>
          <a:xfrm>
            <a:off x="422025" y="974925"/>
            <a:ext cx="5341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g3e652085058_0_1570"/>
          <p:cNvSpPr txBox="1"/>
          <p:nvPr>
            <p:ph idx="2" type="body"/>
          </p:nvPr>
        </p:nvSpPr>
        <p:spPr>
          <a:xfrm>
            <a:off x="422025" y="1571700"/>
            <a:ext cx="7332900" cy="29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302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- Content 2 columns">
  <p:cSld name="TITLE_AND_TWO_COLUMNS_1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e652085058_0_1575"/>
          <p:cNvSpPr txBox="1"/>
          <p:nvPr>
            <p:ph idx="1" type="body"/>
          </p:nvPr>
        </p:nvSpPr>
        <p:spPr>
          <a:xfrm>
            <a:off x="4934975" y="15717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1" name="Google Shape;261;g3e652085058_0_15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g3e652085058_0_1575"/>
          <p:cNvSpPr txBox="1"/>
          <p:nvPr>
            <p:ph type="title"/>
          </p:nvPr>
        </p:nvSpPr>
        <p:spPr>
          <a:xfrm>
            <a:off x="422025" y="445025"/>
            <a:ext cx="673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3" name="Google Shape;263;g3e652085058_0_1575"/>
          <p:cNvSpPr txBox="1"/>
          <p:nvPr>
            <p:ph idx="2" type="subTitle"/>
          </p:nvPr>
        </p:nvSpPr>
        <p:spPr>
          <a:xfrm>
            <a:off x="422025" y="974925"/>
            <a:ext cx="5341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200">
                <a:solidFill>
                  <a:srgbClr val="000000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g3e652085058_0_1575"/>
          <p:cNvSpPr txBox="1"/>
          <p:nvPr>
            <p:ph idx="3" type="body"/>
          </p:nvPr>
        </p:nvSpPr>
        <p:spPr>
          <a:xfrm>
            <a:off x="422025" y="1571700"/>
            <a:ext cx="3999900" cy="29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e652085058_0_15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50" lIns="121850" spcFirstLastPara="1" rIns="121850" wrap="square" tIns="121850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652085058_0_15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50" lIns="121850" spcFirstLastPara="1" rIns="121850" wrap="square" tIns="121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9" name="Google Shape;269;g3e652085058_0_158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50" lIns="121850" spcFirstLastPara="1" rIns="121850" wrap="square" tIns="12185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70" name="Google Shape;270;g3e652085058_0_15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50" lIns="121850" spcFirstLastPara="1" rIns="121850" wrap="square" tIns="121850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e652085058_0_15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50" lIns="121850" spcFirstLastPara="1" rIns="121850" wrap="square" tIns="121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73" name="Google Shape;273;g3e652085058_0_158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50" lIns="121850" spcFirstLastPara="1" rIns="121850" wrap="square" tIns="12185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74" name="Google Shape;274;g3e652085058_0_158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50" lIns="121850" spcFirstLastPara="1" rIns="121850" wrap="square" tIns="12185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75" name="Google Shape;275;g3e652085058_0_15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50" lIns="121850" spcFirstLastPara="1" rIns="121850" wrap="square" tIns="121850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e652085058_0_159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50" lIns="121850" spcFirstLastPara="1" rIns="121850" wrap="square" tIns="121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78" name="Google Shape;278;g3e652085058_0_15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50" lIns="121850" spcFirstLastPara="1" rIns="121850" wrap="square" tIns="121850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e652085058_0_159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850" lIns="121850" spcFirstLastPara="1" rIns="121850" wrap="square" tIns="121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281" name="Google Shape;281;g3e652085058_0_159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50" lIns="121850" spcFirstLastPara="1" rIns="121850" wrap="square" tIns="12185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82" name="Google Shape;282;g3e652085058_0_159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50" lIns="121850" spcFirstLastPara="1" rIns="121850" wrap="square" tIns="121850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e652085058_0_1599"/>
          <p:cNvSpPr txBox="1"/>
          <p:nvPr>
            <p:ph type="title"/>
          </p:nvPr>
        </p:nvSpPr>
        <p:spPr>
          <a:xfrm>
            <a:off x="490250" y="450150"/>
            <a:ext cx="6367800" cy="40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50" lIns="121850" spcFirstLastPara="1" rIns="121850" wrap="square" tIns="121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285" name="Google Shape;285;g3e652085058_0_159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50" lIns="121850" spcFirstLastPara="1" rIns="121850" wrap="square" tIns="121850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e652085058_0_160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850" lIns="121850" spcFirstLastPara="1" rIns="121850" wrap="square" tIns="121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e652085058_0_160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850" lIns="121850" spcFirstLastPara="1" rIns="121850" wrap="square" tIns="121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289" name="Google Shape;289;g3e652085058_0_160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50" lIns="121850" spcFirstLastPara="1" rIns="121850" wrap="square" tIns="121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90" name="Google Shape;290;g3e652085058_0_160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50" lIns="121850" spcFirstLastPara="1" rIns="121850" wrap="square" tIns="12185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91" name="Google Shape;291;g3e652085058_0_160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50" lIns="121850" spcFirstLastPara="1" rIns="121850" wrap="square" tIns="121850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e652085058_0_160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50" lIns="121850" spcFirstLastPara="1" rIns="121850" wrap="square" tIns="121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294" name="Google Shape;294;g3e652085058_0_160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50" lIns="121850" spcFirstLastPara="1" rIns="121850" wrap="square" tIns="121850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e652085058_0_16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850" lIns="121850" spcFirstLastPara="1" rIns="121850" wrap="square" tIns="121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297" name="Google Shape;297;g3e652085058_0_16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50" lIns="121850" spcFirstLastPara="1" rIns="121850" wrap="square" tIns="12185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98" name="Google Shape;298;g3e652085058_0_16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50" lIns="121850" spcFirstLastPara="1" rIns="121850" wrap="square" tIns="121850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obj">
  <p:cSld name="OBJECT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e652085058_0_1615"/>
          <p:cNvSpPr txBox="1"/>
          <p:nvPr>
            <p:ph type="title"/>
          </p:nvPr>
        </p:nvSpPr>
        <p:spPr>
          <a:xfrm>
            <a:off x="3638550" y="2318266"/>
            <a:ext cx="1866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b="0" i="0" sz="4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01" name="Google Shape;301;g3e652085058_0_1615"/>
          <p:cNvSpPr txBox="1"/>
          <p:nvPr>
            <p:ph idx="11" type="ftr"/>
          </p:nvPr>
        </p:nvSpPr>
        <p:spPr>
          <a:xfrm>
            <a:off x="2817622" y="4944462"/>
            <a:ext cx="35136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800" u="none" cap="none" strike="noStrike">
                <a:solidFill>
                  <a:srgbClr val="7D7D7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2" name="Google Shape;302;g3e652085058_0_161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3" name="Google Shape;303;g3e652085058_0_1615"/>
          <p:cNvSpPr txBox="1"/>
          <p:nvPr>
            <p:ph idx="12" type="sldNum"/>
          </p:nvPr>
        </p:nvSpPr>
        <p:spPr>
          <a:xfrm>
            <a:off x="6583680" y="4783455"/>
            <a:ext cx="2103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e652085058_0_1620"/>
          <p:cNvSpPr txBox="1"/>
          <p:nvPr>
            <p:ph type="title"/>
          </p:nvPr>
        </p:nvSpPr>
        <p:spPr>
          <a:xfrm>
            <a:off x="3638550" y="2318266"/>
            <a:ext cx="1866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b="0" i="0" sz="4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06" name="Google Shape;306;g3e652085058_0_1620"/>
          <p:cNvSpPr txBox="1"/>
          <p:nvPr>
            <p:ph idx="1" type="body"/>
          </p:nvPr>
        </p:nvSpPr>
        <p:spPr>
          <a:xfrm>
            <a:off x="4319015" y="1927004"/>
            <a:ext cx="4631700" cy="25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900"/>
              <a:buNone/>
              <a:defRPr/>
            </a:lvl9pPr>
          </a:lstStyle>
          <a:p/>
        </p:txBody>
      </p:sp>
      <p:sp>
        <p:nvSpPr>
          <p:cNvPr id="307" name="Google Shape;307;g3e652085058_0_1620"/>
          <p:cNvSpPr txBox="1"/>
          <p:nvPr>
            <p:ph idx="11" type="ftr"/>
          </p:nvPr>
        </p:nvSpPr>
        <p:spPr>
          <a:xfrm>
            <a:off x="2817622" y="4944462"/>
            <a:ext cx="35136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800" u="none" cap="none" strike="noStrike">
                <a:solidFill>
                  <a:srgbClr val="7D7D7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8" name="Google Shape;308;g3e652085058_0_1620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9" name="Google Shape;309;g3e652085058_0_1620"/>
          <p:cNvSpPr txBox="1"/>
          <p:nvPr>
            <p:ph idx="12" type="sldNum"/>
          </p:nvPr>
        </p:nvSpPr>
        <p:spPr>
          <a:xfrm>
            <a:off x="6583680" y="4783455"/>
            <a:ext cx="2103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e652085058_0_1626"/>
          <p:cNvSpPr txBox="1"/>
          <p:nvPr>
            <p:ph idx="11" type="ftr"/>
          </p:nvPr>
        </p:nvSpPr>
        <p:spPr>
          <a:xfrm>
            <a:off x="2817622" y="4944462"/>
            <a:ext cx="35136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800" u="none" cap="none" strike="noStrike">
                <a:solidFill>
                  <a:srgbClr val="7D7D7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2" name="Google Shape;312;g3e652085058_0_162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3" name="Google Shape;313;g3e652085058_0_1626"/>
          <p:cNvSpPr txBox="1"/>
          <p:nvPr>
            <p:ph idx="12" type="sldNum"/>
          </p:nvPr>
        </p:nvSpPr>
        <p:spPr>
          <a:xfrm>
            <a:off x="6583680" y="4783455"/>
            <a:ext cx="2103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e652085058_0_1630"/>
          <p:cNvSpPr txBox="1"/>
          <p:nvPr>
            <p:ph type="ctrTitle"/>
          </p:nvPr>
        </p:nvSpPr>
        <p:spPr>
          <a:xfrm>
            <a:off x="578612" y="210129"/>
            <a:ext cx="79869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16" name="Google Shape;316;g3e652085058_0_1630"/>
          <p:cNvSpPr txBox="1"/>
          <p:nvPr>
            <p:ph idx="1" type="subTitle"/>
          </p:nvPr>
        </p:nvSpPr>
        <p:spPr>
          <a:xfrm>
            <a:off x="1371600" y="2880360"/>
            <a:ext cx="6400800" cy="12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900"/>
              <a:buNone/>
              <a:defRPr/>
            </a:lvl9pPr>
          </a:lstStyle>
          <a:p/>
        </p:txBody>
      </p:sp>
      <p:sp>
        <p:nvSpPr>
          <p:cNvPr id="317" name="Google Shape;317;g3e652085058_0_1630"/>
          <p:cNvSpPr txBox="1"/>
          <p:nvPr>
            <p:ph idx="11" type="ftr"/>
          </p:nvPr>
        </p:nvSpPr>
        <p:spPr>
          <a:xfrm>
            <a:off x="2817622" y="4944462"/>
            <a:ext cx="35136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800" u="none" cap="none" strike="noStrike">
                <a:solidFill>
                  <a:srgbClr val="7D7D7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8" name="Google Shape;318;g3e652085058_0_1630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9" name="Google Shape;319;g3e652085058_0_1630"/>
          <p:cNvSpPr txBox="1"/>
          <p:nvPr>
            <p:ph idx="12" type="sldNum"/>
          </p:nvPr>
        </p:nvSpPr>
        <p:spPr>
          <a:xfrm>
            <a:off x="6583680" y="4783455"/>
            <a:ext cx="2103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Design">
  <p:cSld name="2_Design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OBJECT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652085058_0_1637"/>
          <p:cNvSpPr txBox="1"/>
          <p:nvPr>
            <p:ph type="ctrTitle"/>
          </p:nvPr>
        </p:nvSpPr>
        <p:spPr>
          <a:xfrm>
            <a:off x="1077742" y="159935"/>
            <a:ext cx="69885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3" name="Google Shape;323;g3e652085058_0_1637"/>
          <p:cNvSpPr txBox="1"/>
          <p:nvPr>
            <p:ph idx="1" type="subTitle"/>
          </p:nvPr>
        </p:nvSpPr>
        <p:spPr>
          <a:xfrm>
            <a:off x="1371600" y="2880360"/>
            <a:ext cx="64008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4" name="Google Shape;324;g3e652085058_0_1637"/>
          <p:cNvSpPr txBox="1"/>
          <p:nvPr>
            <p:ph idx="11" type="ftr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5" name="Google Shape;325;g3e652085058_0_1637"/>
          <p:cNvSpPr txBox="1"/>
          <p:nvPr>
            <p:ph idx="10" type="dt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6" name="Google Shape;326;g3e652085058_0_16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e652085058_0_16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9" name="Google Shape;329;g3e652085058_0_1643"/>
          <p:cNvSpPr txBox="1"/>
          <p:nvPr>
            <p:ph idx="1" type="body"/>
          </p:nvPr>
        </p:nvSpPr>
        <p:spPr>
          <a:xfrm>
            <a:off x="457200" y="1183005"/>
            <a:ext cx="39777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0" name="Google Shape;330;g3e652085058_0_1643"/>
          <p:cNvSpPr txBox="1"/>
          <p:nvPr>
            <p:ph idx="2" type="body"/>
          </p:nvPr>
        </p:nvSpPr>
        <p:spPr>
          <a:xfrm>
            <a:off x="4709160" y="1183005"/>
            <a:ext cx="39777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1" name="Google Shape;331;g3e652085058_0_1643"/>
          <p:cNvSpPr txBox="1"/>
          <p:nvPr>
            <p:ph idx="11" type="ftr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2" name="Google Shape;332;g3e652085058_0_1643"/>
          <p:cNvSpPr txBox="1"/>
          <p:nvPr>
            <p:ph idx="10" type="dt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3" name="Google Shape;333;g3e652085058_0_16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e652085058_0_1650"/>
          <p:cNvSpPr txBox="1"/>
          <p:nvPr>
            <p:ph idx="11" type="ftr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6" name="Google Shape;336;g3e652085058_0_1650"/>
          <p:cNvSpPr txBox="1"/>
          <p:nvPr>
            <p:ph idx="10" type="dt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7" name="Google Shape;337;g3e652085058_0_16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e652085058_0_1654"/>
          <p:cNvSpPr txBox="1"/>
          <p:nvPr>
            <p:ph type="ctrTitle"/>
          </p:nvPr>
        </p:nvSpPr>
        <p:spPr>
          <a:xfrm>
            <a:off x="685800" y="514350"/>
            <a:ext cx="7772400" cy="15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2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e652085058_0_1656"/>
          <p:cNvSpPr txBox="1"/>
          <p:nvPr>
            <p:ph type="title"/>
          </p:nvPr>
        </p:nvSpPr>
        <p:spPr>
          <a:xfrm>
            <a:off x="457200" y="208359"/>
            <a:ext cx="82296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2" name="Google Shape;342;g3e652085058_0_1656"/>
          <p:cNvSpPr txBox="1"/>
          <p:nvPr>
            <p:ph idx="1" type="body"/>
          </p:nvPr>
        </p:nvSpPr>
        <p:spPr>
          <a:xfrm>
            <a:off x="806450" y="925115"/>
            <a:ext cx="8229600" cy="3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  <a:defRPr/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4"/>
              <a:defRPr/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»"/>
              <a:defRPr/>
            </a:lvl6pPr>
            <a:lvl7pPr indent="-3175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»"/>
              <a:defRPr/>
            </a:lvl7pPr>
            <a:lvl8pPr indent="-3175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»"/>
              <a:defRPr/>
            </a:lvl8pPr>
            <a:lvl9pPr indent="-3175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e652085058_0_1659"/>
          <p:cNvSpPr txBox="1"/>
          <p:nvPr>
            <p:ph type="title"/>
          </p:nvPr>
        </p:nvSpPr>
        <p:spPr>
          <a:xfrm>
            <a:off x="457200" y="208361"/>
            <a:ext cx="82296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5" name="Google Shape;345;g3e652085058_0_1659"/>
          <p:cNvSpPr txBox="1"/>
          <p:nvPr>
            <p:ph idx="1" type="body"/>
          </p:nvPr>
        </p:nvSpPr>
        <p:spPr>
          <a:xfrm>
            <a:off x="806450" y="925118"/>
            <a:ext cx="4038600" cy="3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  <a:defRPr/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4"/>
              <a:defRPr/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»"/>
              <a:defRPr/>
            </a:lvl6pPr>
            <a:lvl7pPr indent="-3175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»"/>
              <a:defRPr/>
            </a:lvl7pPr>
            <a:lvl8pPr indent="-3175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»"/>
              <a:defRPr/>
            </a:lvl8pPr>
            <a:lvl9pPr indent="-3175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»"/>
              <a:defRPr/>
            </a:lvl9pPr>
          </a:lstStyle>
          <a:p/>
        </p:txBody>
      </p:sp>
      <p:sp>
        <p:nvSpPr>
          <p:cNvPr id="346" name="Google Shape;346;g3e652085058_0_1659"/>
          <p:cNvSpPr txBox="1"/>
          <p:nvPr>
            <p:ph idx="2" type="body"/>
          </p:nvPr>
        </p:nvSpPr>
        <p:spPr>
          <a:xfrm>
            <a:off x="4997450" y="925118"/>
            <a:ext cx="4038600" cy="33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655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  <a:defRPr/>
            </a:lvl2pPr>
            <a:lvl3pPr indent="-3175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4"/>
              <a:defRPr/>
            </a:lvl3pPr>
            <a:lvl4pPr indent="-3175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»"/>
              <a:defRPr/>
            </a:lvl6pPr>
            <a:lvl7pPr indent="-3175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»"/>
              <a:defRPr/>
            </a:lvl7pPr>
            <a:lvl8pPr indent="-3175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»"/>
              <a:defRPr/>
            </a:lvl8pPr>
            <a:lvl9pPr indent="-3175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 1">
  <p:cSld name="OBJECT_3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e652085058_0_1663"/>
          <p:cNvSpPr txBox="1"/>
          <p:nvPr>
            <p:ph type="title"/>
          </p:nvPr>
        </p:nvSpPr>
        <p:spPr>
          <a:xfrm>
            <a:off x="146209" y="145494"/>
            <a:ext cx="88515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9" name="Google Shape;349;g3e652085058_0_1663"/>
          <p:cNvSpPr txBox="1"/>
          <p:nvPr>
            <p:ph idx="1" type="body"/>
          </p:nvPr>
        </p:nvSpPr>
        <p:spPr>
          <a:xfrm>
            <a:off x="103822" y="1225724"/>
            <a:ext cx="3091200" cy="31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0" name="Google Shape;350;g3e652085058_0_1663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1" name="Google Shape;351;g3e652085058_0_1663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52" name="Google Shape;352;g3e652085058_0_166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53" name="Google Shape;353;g3e652085058_0_1663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 1">
  <p:cSld name="OBJECT_1_1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e652085058_0_167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6" name="Google Shape;356;g3e652085058_0_167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7" name="Google Shape;357;g3e652085058_0_167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58" name="Google Shape;358;g3e652085058_0_167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59" name="Google Shape;359;g3e652085058_0_167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3">
  <p:cSld name="OBJECT_3_1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e652085058_0_1676"/>
          <p:cNvSpPr txBox="1"/>
          <p:nvPr>
            <p:ph type="title"/>
          </p:nvPr>
        </p:nvSpPr>
        <p:spPr>
          <a:xfrm>
            <a:off x="-270937" y="240300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62" name="Google Shape;362;g3e652085058_0_167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363" name="Google Shape;363;g3e652085058_0_167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64" name="Google Shape;364;g3e652085058_0_167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65" name="Google Shape;365;g3e652085058_0_167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 showMasterSp="0">
  <p:cSld name="Title Only">
    <p:bg>
      <p:bgPr>
        <a:solidFill>
          <a:schemeClr val="lt1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e652085058_0_1682"/>
          <p:cNvSpPr/>
          <p:nvPr/>
        </p:nvSpPr>
        <p:spPr>
          <a:xfrm>
            <a:off x="628650" y="271463"/>
            <a:ext cx="7886700" cy="371475"/>
          </a:xfrm>
          <a:custGeom>
            <a:rect b="b" l="l" r="r" t="t"/>
            <a:pathLst>
              <a:path extrusionOk="0" h="495300" w="10515600">
                <a:moveTo>
                  <a:pt x="10515600" y="0"/>
                </a:moveTo>
                <a:lnTo>
                  <a:pt x="0" y="0"/>
                </a:lnTo>
                <a:lnTo>
                  <a:pt x="0" y="495300"/>
                </a:lnTo>
                <a:lnTo>
                  <a:pt x="10515600" y="4953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EC7C3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3e652085058_0_1682"/>
          <p:cNvSpPr txBox="1"/>
          <p:nvPr>
            <p:ph type="title"/>
          </p:nvPr>
        </p:nvSpPr>
        <p:spPr>
          <a:xfrm>
            <a:off x="146209" y="145494"/>
            <a:ext cx="88515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9" name="Google Shape;369;g3e652085058_0_1682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70" name="Google Shape;370;g3e652085058_0_1682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71" name="Google Shape;371;g3e652085058_0_1682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OBJECT_4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e652085058_0_168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4" name="Google Shape;374;g3e652085058_0_168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5" name="Google Shape;375;g3e652085058_0_168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76" name="Google Shape;376;g3e652085058_0_168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77" name="Google Shape;377;g3e652085058_0_168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 1">
  <p:cSld name="1_Title and Content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e652085058_0_1694"/>
          <p:cNvSpPr txBox="1"/>
          <p:nvPr>
            <p:ph type="title"/>
          </p:nvPr>
        </p:nvSpPr>
        <p:spPr>
          <a:xfrm>
            <a:off x="390424" y="497080"/>
            <a:ext cx="83631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g3e652085058_0_1694"/>
          <p:cNvSpPr txBox="1"/>
          <p:nvPr>
            <p:ph idx="1" type="body"/>
          </p:nvPr>
        </p:nvSpPr>
        <p:spPr>
          <a:xfrm>
            <a:off x="390424" y="1214436"/>
            <a:ext cx="8363100" cy="27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381" name="Google Shape;381;g3e652085058_0_1694"/>
          <p:cNvSpPr txBox="1"/>
          <p:nvPr>
            <p:ph idx="11" type="ftr"/>
          </p:nvPr>
        </p:nvSpPr>
        <p:spPr>
          <a:xfrm>
            <a:off x="2879185" y="4948409"/>
            <a:ext cx="35034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D7D7D"/>
              </a:buClr>
              <a:buSzPts val="1400"/>
              <a:buFont typeface="Arial"/>
              <a:buNone/>
              <a:defRPr b="0" i="0" sz="600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9pPr>
          </a:lstStyle>
          <a:p/>
        </p:txBody>
      </p:sp>
      <p:sp>
        <p:nvSpPr>
          <p:cNvPr id="382" name="Google Shape;382;g3e652085058_0_169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9pPr>
          </a:lstStyle>
          <a:p/>
        </p:txBody>
      </p:sp>
      <p:sp>
        <p:nvSpPr>
          <p:cNvPr id="383" name="Google Shape;383;g3e652085058_0_1694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4">
  <p:cSld name="OBJECT_5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e652085058_0_170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86" name="Google Shape;386;g3e652085058_0_170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387" name="Google Shape;387;g3e652085058_0_170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88" name="Google Shape;388;g3e652085058_0_170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89" name="Google Shape;389;g3e652085058_0_170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5">
  <p:cSld name="OBJECT_6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e652085058_0_170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92" name="Google Shape;392;g3e652085058_0_170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393" name="Google Shape;393;g3e652085058_0_170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94" name="Google Shape;394;g3e652085058_0_170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95" name="Google Shape;395;g3e652085058_0_170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6">
  <p:cSld name="OBJECT_7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e652085058_0_171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98" name="Google Shape;398;g3e652085058_0_171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399" name="Google Shape;399;g3e652085058_0_17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00" name="Google Shape;400;g3e652085058_0_17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01" name="Google Shape;401;g3e652085058_0_17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7">
  <p:cSld name="OBJECT_8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e652085058_0_171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04" name="Google Shape;404;g3e652085058_0_171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05" name="Google Shape;405;g3e652085058_0_17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406" name="Google Shape;406;g3e652085058_0_17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407" name="Google Shape;407;g3e652085058_0_17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8">
  <p:cSld name="OBJECT_9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e652085058_0_172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10" name="Google Shape;410;g3e652085058_0_172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11" name="Google Shape;411;g3e652085058_0_17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412" name="Google Shape;412;g3e652085058_0_17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413" name="Google Shape;413;g3e652085058_0_17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9">
  <p:cSld name="OBJECT_10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e652085058_0_173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16" name="Google Shape;416;g3e652085058_0_173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17" name="Google Shape;417;g3e652085058_0_173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418" name="Google Shape;418;g3e652085058_0_173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419" name="Google Shape;419;g3e652085058_0_173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0">
  <p:cSld name="OBJECT_11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e652085058_0_173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22" name="Google Shape;422;g3e652085058_0_173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23" name="Google Shape;423;g3e652085058_0_173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424" name="Google Shape;424;g3e652085058_0_173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425" name="Google Shape;425;g3e652085058_0_173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1">
  <p:cSld name="OBJECT_12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e652085058_0_174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28" name="Google Shape;428;g3e652085058_0_1742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29" name="Google Shape;429;g3e652085058_0_174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430" name="Google Shape;430;g3e652085058_0_174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431" name="Google Shape;431;g3e652085058_0_174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2">
  <p:cSld name="OBJECT_13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e652085058_0_174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34" name="Google Shape;434;g3e652085058_0_174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35" name="Google Shape;435;g3e652085058_0_174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436" name="Google Shape;436;g3e652085058_0_174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437" name="Google Shape;437;g3e652085058_0_174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3">
  <p:cSld name="OBJECT_14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e652085058_0_175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40" name="Google Shape;440;g3e652085058_0_175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41" name="Google Shape;441;g3e652085058_0_175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442" name="Google Shape;442;g3e652085058_0_175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443" name="Google Shape;443;g3e652085058_0_175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e652085058_0_1760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46" name="Google Shape;446;g3e652085058_0_1760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7" name="Google Shape;447;g3e652085058_0_176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448" name="Google Shape;448;g3e652085058_0_176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449" name="Google Shape;449;g3e652085058_0_176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1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21.xml"/><Relationship Id="rId44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20.xml"/><Relationship Id="rId43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23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22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29" Type="http://schemas.openxmlformats.org/officeDocument/2006/relationships/slideLayout" Target="../slideLayouts/slideLayout28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0.xml"/><Relationship Id="rId33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9.xml"/><Relationship Id="rId3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12.xml"/><Relationship Id="rId35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11.xml"/><Relationship Id="rId34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14.xml"/><Relationship Id="rId37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13.xml"/><Relationship Id="rId36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16.xml"/><Relationship Id="rId39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15.xml"/><Relationship Id="rId38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83.xml"/><Relationship Id="rId20" Type="http://schemas.openxmlformats.org/officeDocument/2006/relationships/slideLayout" Target="../slideLayouts/slideLayout63.xml"/><Relationship Id="rId42" Type="http://schemas.openxmlformats.org/officeDocument/2006/relationships/slideLayout" Target="../slideLayouts/slideLayout85.xml"/><Relationship Id="rId41" Type="http://schemas.openxmlformats.org/officeDocument/2006/relationships/slideLayout" Target="../slideLayouts/slideLayout84.xml"/><Relationship Id="rId22" Type="http://schemas.openxmlformats.org/officeDocument/2006/relationships/slideLayout" Target="../slideLayouts/slideLayout65.xml"/><Relationship Id="rId44" Type="http://schemas.openxmlformats.org/officeDocument/2006/relationships/slideLayout" Target="../slideLayouts/slideLayout87.xml"/><Relationship Id="rId21" Type="http://schemas.openxmlformats.org/officeDocument/2006/relationships/slideLayout" Target="../slideLayouts/slideLayout64.xml"/><Relationship Id="rId43" Type="http://schemas.openxmlformats.org/officeDocument/2006/relationships/slideLayout" Target="../slideLayouts/slideLayout86.xml"/><Relationship Id="rId24" Type="http://schemas.openxmlformats.org/officeDocument/2006/relationships/slideLayout" Target="../slideLayouts/slideLayout67.xml"/><Relationship Id="rId46" Type="http://schemas.openxmlformats.org/officeDocument/2006/relationships/slideLayout" Target="../slideLayouts/slideLayout89.xml"/><Relationship Id="rId23" Type="http://schemas.openxmlformats.org/officeDocument/2006/relationships/slideLayout" Target="../slideLayouts/slideLayout66.xml"/><Relationship Id="rId45" Type="http://schemas.openxmlformats.org/officeDocument/2006/relationships/slideLayout" Target="../slideLayouts/slideLayout88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Relationship Id="rId26" Type="http://schemas.openxmlformats.org/officeDocument/2006/relationships/slideLayout" Target="../slideLayouts/slideLayout69.xml"/><Relationship Id="rId25" Type="http://schemas.openxmlformats.org/officeDocument/2006/relationships/slideLayout" Target="../slideLayouts/slideLayout68.xml"/><Relationship Id="rId47" Type="http://schemas.openxmlformats.org/officeDocument/2006/relationships/theme" Target="../theme/theme3.xml"/><Relationship Id="rId28" Type="http://schemas.openxmlformats.org/officeDocument/2006/relationships/slideLayout" Target="../slideLayouts/slideLayout71.xml"/><Relationship Id="rId27" Type="http://schemas.openxmlformats.org/officeDocument/2006/relationships/slideLayout" Target="../slideLayouts/slideLayout70.xml"/><Relationship Id="rId5" Type="http://schemas.openxmlformats.org/officeDocument/2006/relationships/slideLayout" Target="../slideLayouts/slideLayout48.xml"/><Relationship Id="rId6" Type="http://schemas.openxmlformats.org/officeDocument/2006/relationships/slideLayout" Target="../slideLayouts/slideLayout49.xml"/><Relationship Id="rId29" Type="http://schemas.openxmlformats.org/officeDocument/2006/relationships/slideLayout" Target="../slideLayouts/slideLayout72.xml"/><Relationship Id="rId7" Type="http://schemas.openxmlformats.org/officeDocument/2006/relationships/slideLayout" Target="../slideLayouts/slideLayout50.xml"/><Relationship Id="rId8" Type="http://schemas.openxmlformats.org/officeDocument/2006/relationships/slideLayout" Target="../slideLayouts/slideLayout51.xml"/><Relationship Id="rId31" Type="http://schemas.openxmlformats.org/officeDocument/2006/relationships/slideLayout" Target="../slideLayouts/slideLayout74.xml"/><Relationship Id="rId30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54.xml"/><Relationship Id="rId33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53.xml"/><Relationship Id="rId32" Type="http://schemas.openxmlformats.org/officeDocument/2006/relationships/slideLayout" Target="../slideLayouts/slideLayout75.xml"/><Relationship Id="rId13" Type="http://schemas.openxmlformats.org/officeDocument/2006/relationships/slideLayout" Target="../slideLayouts/slideLayout56.xml"/><Relationship Id="rId35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55.xml"/><Relationship Id="rId34" Type="http://schemas.openxmlformats.org/officeDocument/2006/relationships/slideLayout" Target="../slideLayouts/slideLayout77.xml"/><Relationship Id="rId15" Type="http://schemas.openxmlformats.org/officeDocument/2006/relationships/slideLayout" Target="../slideLayouts/slideLayout58.xml"/><Relationship Id="rId37" Type="http://schemas.openxmlformats.org/officeDocument/2006/relationships/slideLayout" Target="../slideLayouts/slideLayout80.xml"/><Relationship Id="rId14" Type="http://schemas.openxmlformats.org/officeDocument/2006/relationships/slideLayout" Target="../slideLayouts/slideLayout57.xml"/><Relationship Id="rId36" Type="http://schemas.openxmlformats.org/officeDocument/2006/relationships/slideLayout" Target="../slideLayouts/slideLayout79.xml"/><Relationship Id="rId17" Type="http://schemas.openxmlformats.org/officeDocument/2006/relationships/slideLayout" Target="../slideLayouts/slideLayout60.xml"/><Relationship Id="rId39" Type="http://schemas.openxmlformats.org/officeDocument/2006/relationships/slideLayout" Target="../slideLayouts/slideLayout82.xml"/><Relationship Id="rId16" Type="http://schemas.openxmlformats.org/officeDocument/2006/relationships/slideLayout" Target="../slideLayouts/slideLayout59.xml"/><Relationship Id="rId38" Type="http://schemas.openxmlformats.org/officeDocument/2006/relationships/slideLayout" Target="../slideLayouts/slideLayout81.xml"/><Relationship Id="rId19" Type="http://schemas.openxmlformats.org/officeDocument/2006/relationships/slideLayout" Target="../slideLayouts/slideLayout62.xml"/><Relationship Id="rId18" Type="http://schemas.openxmlformats.org/officeDocument/2006/relationships/slideLayout" Target="../slideLayouts/slideLayout6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475ce9fe8c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50" lIns="121850" spcFirstLastPara="1" rIns="121850" wrap="square" tIns="12185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475ce9fe8c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50" lIns="121850" spcFirstLastPara="1" rIns="121850" wrap="square" tIns="12185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3475ce9fe8c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50" lIns="121850" spcFirstLastPara="1" rIns="121850" wrap="square" tIns="12185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g3475ce9fe8c_0_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400625" y="4462"/>
            <a:ext cx="1275962" cy="49443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e652085058_0_15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50" lIns="121850" spcFirstLastPara="1" rIns="121850" wrap="square" tIns="12185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7" name="Google Shape;227;g3e652085058_0_15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50" lIns="121850" spcFirstLastPara="1" rIns="121850" wrap="square" tIns="121850">
            <a:normAutofit/>
          </a:bodyPr>
          <a:lstStyle>
            <a:lvl1pPr indent="-3810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8" name="Google Shape;228;g3e652085058_0_15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50" lIns="121850" spcFirstLastPara="1" rIns="121850" wrap="square" tIns="121850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9" name="Google Shape;229;g3e652085058_0_154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400625" y="4462"/>
            <a:ext cx="1275962" cy="49443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  <p:sldLayoutId id="2147483722" r:id="rId30"/>
    <p:sldLayoutId id="2147483723" r:id="rId31"/>
    <p:sldLayoutId id="2147483724" r:id="rId32"/>
    <p:sldLayoutId id="2147483725" r:id="rId33"/>
    <p:sldLayoutId id="2147483726" r:id="rId34"/>
    <p:sldLayoutId id="2147483727" r:id="rId35"/>
    <p:sldLayoutId id="2147483728" r:id="rId36"/>
    <p:sldLayoutId id="2147483729" r:id="rId37"/>
    <p:sldLayoutId id="2147483730" r:id="rId38"/>
    <p:sldLayoutId id="2147483731" r:id="rId39"/>
    <p:sldLayoutId id="2147483732" r:id="rId40"/>
    <p:sldLayoutId id="2147483733" r:id="rId41"/>
    <p:sldLayoutId id="2147483734" r:id="rId42"/>
    <p:sldLayoutId id="2147483735" r:id="rId43"/>
    <p:sldLayoutId id="2147483736" r:id="rId44"/>
    <p:sldLayoutId id="2147483737" r:id="rId45"/>
    <p:sldLayoutId id="2147483738" r:id="rId4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github.com/Zjh-819/LLMDataHub" TargetMode="External"/><Relationship Id="rId4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arxiv.org/pdf/2311.16989.pdf" TargetMode="External"/><Relationship Id="rId4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arxiv.org/pdf/2307.06435.pdf" TargetMode="External"/><Relationship Id="rId4" Type="http://schemas.openxmlformats.org/officeDocument/2006/relationships/image" Target="../media/image2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hyperlink" Target="https://docs.google.com/spreadsheets/d/1SZ6yD9QRPrtpI9SAXDsGDaEXOLsaJcvGoFc1VjYR1VI/edit#gid=0" TargetMode="External"/><Relationship Id="rId4" Type="http://schemas.openxmlformats.org/officeDocument/2006/relationships/hyperlink" Target="https://docs.google.com/spreadsheets/d/1jr8ZAvAyCkOfDm3618lPQP9hlsdQizpAbTidXxDeIfg/edit#gid=0" TargetMode="External"/><Relationship Id="rId5" Type="http://schemas.openxmlformats.org/officeDocument/2006/relationships/hyperlink" Target="https://docs.google.com/spreadsheets/d/1UQgBJlb6a8QGx7LeenJbNecBvYF6-fQ_l-SRJZoy2wU/edit?usp=sharing" TargetMode="External"/><Relationship Id="rId6" Type="http://schemas.openxmlformats.org/officeDocument/2006/relationships/hyperlink" Target="https://docs.google.com/spreadsheets/d/11Z_lyzrZK6ZLomvacaIPDFGYaJonBoNNuCcvgN0C9hI/edit?usp=sharing" TargetMode="Externa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6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4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2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6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4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3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Google Shape;45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625" y="152400"/>
            <a:ext cx="5161281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1"/>
          <p:cNvSpPr txBox="1"/>
          <p:nvPr/>
        </p:nvSpPr>
        <p:spPr>
          <a:xfrm>
            <a:off x="5581500" y="1956000"/>
            <a:ext cx="29535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434343"/>
                </a:solidFill>
                <a:latin typeface="Georgia"/>
                <a:ea typeface="Georgia"/>
                <a:cs typeface="Georgia"/>
                <a:sym typeface="Georgia"/>
              </a:rPr>
              <a:t>Generative AI</a:t>
            </a:r>
            <a:endParaRPr b="0" i="0" sz="2400" u="none" cap="none" strike="noStrike">
              <a:solidFill>
                <a:srgbClr val="434343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" sz="1200" u="none" cap="none" strike="noStrike">
                <a:solidFill>
                  <a:srgbClr val="434343"/>
                </a:solidFill>
                <a:latin typeface="Georgia"/>
                <a:ea typeface="Georgia"/>
                <a:cs typeface="Georgia"/>
                <a:sym typeface="Georgia"/>
              </a:rPr>
              <a:t>using</a:t>
            </a:r>
            <a:endParaRPr b="0" i="1" sz="1200" u="none" cap="none" strike="noStrike">
              <a:solidFill>
                <a:srgbClr val="434343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434343"/>
                </a:solidFill>
                <a:latin typeface="Georgia"/>
                <a:ea typeface="Georgia"/>
                <a:cs typeface="Georgia"/>
                <a:sym typeface="Georgia"/>
              </a:rPr>
              <a:t>LLM</a:t>
            </a:r>
            <a:endParaRPr b="0" i="0" sz="2400" u="none" cap="none" strike="noStrike">
              <a:solidFill>
                <a:srgbClr val="434343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"/>
          <p:cNvSpPr txBox="1"/>
          <p:nvPr/>
        </p:nvSpPr>
        <p:spPr>
          <a:xfrm>
            <a:off x="296075" y="0"/>
            <a:ext cx="51639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 Agenda</a:t>
            </a:r>
            <a:endParaRPr b="1" i="0" sz="2400" u="none" cap="none" strike="noStrike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2" name="Google Shape;462;p2"/>
          <p:cNvCxnSpPr/>
          <p:nvPr/>
        </p:nvCxnSpPr>
        <p:spPr>
          <a:xfrm flipH="1" rot="10800000">
            <a:off x="0" y="642350"/>
            <a:ext cx="9144000" cy="1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3" name="Google Shape;463;p2"/>
          <p:cNvSpPr txBox="1"/>
          <p:nvPr/>
        </p:nvSpPr>
        <p:spPr>
          <a:xfrm>
            <a:off x="447175" y="943025"/>
            <a:ext cx="6758700" cy="5259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1. What is Generative AI</a:t>
            </a:r>
            <a:endParaRPr b="1" i="0" sz="14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4" name="Google Shape;464;p2"/>
          <p:cNvSpPr txBox="1"/>
          <p:nvPr/>
        </p:nvSpPr>
        <p:spPr>
          <a:xfrm>
            <a:off x="447175" y="2311750"/>
            <a:ext cx="6758700" cy="5259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 3. Using LLMs  - Zero Shot Learning</a:t>
            </a:r>
            <a:endParaRPr b="1" i="0" sz="14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5" name="Google Shape;465;p2"/>
          <p:cNvSpPr txBox="1"/>
          <p:nvPr/>
        </p:nvSpPr>
        <p:spPr>
          <a:xfrm>
            <a:off x="447175" y="4360534"/>
            <a:ext cx="6758700" cy="5259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 6. Diffusion Models</a:t>
            </a:r>
            <a:endParaRPr b="1" i="0" sz="14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2"/>
          <p:cNvSpPr txBox="1"/>
          <p:nvPr/>
        </p:nvSpPr>
        <p:spPr>
          <a:xfrm>
            <a:off x="447175" y="2994681"/>
            <a:ext cx="6758700" cy="5259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 4. Using LLMs  - Fine Tuning LLMs</a:t>
            </a:r>
            <a:endParaRPr b="1" i="0" sz="14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7" name="Google Shape;467;p2"/>
          <p:cNvSpPr txBox="1"/>
          <p:nvPr/>
        </p:nvSpPr>
        <p:spPr>
          <a:xfrm>
            <a:off x="447175" y="1628825"/>
            <a:ext cx="6758700" cy="5259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2. What is LLM?</a:t>
            </a:r>
            <a:endParaRPr b="1" i="0" sz="14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8" name="Google Shape;468;p2"/>
          <p:cNvSpPr txBox="1"/>
          <p:nvPr/>
        </p:nvSpPr>
        <p:spPr>
          <a:xfrm>
            <a:off x="447175" y="3677609"/>
            <a:ext cx="6758700" cy="5259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 5. LangChain</a:t>
            </a:r>
            <a:endParaRPr b="1" i="0" sz="14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"/>
          <p:cNvSpPr txBox="1"/>
          <p:nvPr/>
        </p:nvSpPr>
        <p:spPr>
          <a:xfrm>
            <a:off x="5868375" y="1769250"/>
            <a:ext cx="2286000" cy="16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What is a the price of a house?</a:t>
            </a:r>
            <a:endParaRPr b="0" baseline="-2500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4" name="Google Shape;47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1775" y="1297350"/>
            <a:ext cx="3398400" cy="254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3"/>
          <p:cNvSpPr txBox="1"/>
          <p:nvPr/>
        </p:nvSpPr>
        <p:spPr>
          <a:xfrm>
            <a:off x="1221575" y="4197475"/>
            <a:ext cx="70539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So far, we have build models which predict things like...</a:t>
            </a:r>
            <a:endParaRPr b="0" baseline="-25000" i="0" sz="18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6-04-12 at 13.15.36.png" id="480" name="Google Shape;48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3164" y="1135825"/>
            <a:ext cx="1277325" cy="1506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1" name="Google Shape;481;p4"/>
          <p:cNvCxnSpPr/>
          <p:nvPr/>
        </p:nvCxnSpPr>
        <p:spPr>
          <a:xfrm>
            <a:off x="2951025" y="1889186"/>
            <a:ext cx="598500" cy="0"/>
          </a:xfrm>
          <a:prstGeom prst="straightConnector1">
            <a:avLst/>
          </a:prstGeom>
          <a:noFill/>
          <a:ln cap="flat" cmpd="sng" w="9525">
            <a:solidFill>
              <a:srgbClr val="19191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2" name="Google Shape;482;p4"/>
          <p:cNvSpPr txBox="1"/>
          <p:nvPr/>
        </p:nvSpPr>
        <p:spPr>
          <a:xfrm>
            <a:off x="2778412" y="1489400"/>
            <a:ext cx="944400" cy="3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28x28 pixels</a:t>
            </a:r>
            <a:endParaRPr b="0"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3" name="Google Shape;483;p4"/>
          <p:cNvSpPr txBox="1"/>
          <p:nvPr/>
        </p:nvSpPr>
        <p:spPr>
          <a:xfrm>
            <a:off x="3345675" y="2971025"/>
            <a:ext cx="9075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softmax</a:t>
            </a:r>
            <a:endParaRPr b="0"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484" name="Google Shape;484;p4"/>
          <p:cNvGrpSpPr/>
          <p:nvPr/>
        </p:nvGrpSpPr>
        <p:grpSpPr>
          <a:xfrm>
            <a:off x="3654549" y="1711535"/>
            <a:ext cx="3650079" cy="2342444"/>
            <a:chOff x="3612549" y="1485860"/>
            <a:chExt cx="3650079" cy="2342444"/>
          </a:xfrm>
        </p:grpSpPr>
        <p:grpSp>
          <p:nvGrpSpPr>
            <p:cNvPr id="485" name="Google Shape;485;p4"/>
            <p:cNvGrpSpPr/>
            <p:nvPr/>
          </p:nvGrpSpPr>
          <p:grpSpPr>
            <a:xfrm>
              <a:off x="3612549" y="1485860"/>
              <a:ext cx="3650079" cy="334061"/>
              <a:chOff x="3473109" y="1556504"/>
              <a:chExt cx="2863481" cy="262071"/>
            </a:xfrm>
          </p:grpSpPr>
          <p:sp>
            <p:nvSpPr>
              <p:cNvPr id="486" name="Google Shape;486;p4"/>
              <p:cNvSpPr/>
              <p:nvPr/>
            </p:nvSpPr>
            <p:spPr>
              <a:xfrm>
                <a:off x="4780974" y="1556504"/>
                <a:ext cx="247800" cy="247800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4"/>
              <p:cNvSpPr/>
              <p:nvPr/>
            </p:nvSpPr>
            <p:spPr>
              <a:xfrm>
                <a:off x="5042572" y="1556504"/>
                <a:ext cx="247800" cy="247800"/>
              </a:xfrm>
              <a:prstGeom prst="rect">
                <a:avLst/>
              </a:pr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4"/>
              <p:cNvSpPr/>
              <p:nvPr/>
            </p:nvSpPr>
            <p:spPr>
              <a:xfrm>
                <a:off x="5304150" y="1556504"/>
                <a:ext cx="247800" cy="247800"/>
              </a:xfrm>
              <a:prstGeom prst="rect">
                <a:avLst/>
              </a:pr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" name="Google Shape;489;p4"/>
              <p:cNvSpPr/>
              <p:nvPr/>
            </p:nvSpPr>
            <p:spPr>
              <a:xfrm>
                <a:off x="5565706" y="1556504"/>
                <a:ext cx="247800" cy="247800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p4"/>
              <p:cNvSpPr/>
              <p:nvPr/>
            </p:nvSpPr>
            <p:spPr>
              <a:xfrm>
                <a:off x="6088790" y="1556578"/>
                <a:ext cx="247800" cy="247800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4"/>
              <p:cNvSpPr/>
              <p:nvPr/>
            </p:nvSpPr>
            <p:spPr>
              <a:xfrm>
                <a:off x="3473109" y="1556504"/>
                <a:ext cx="247800" cy="247800"/>
              </a:xfrm>
              <a:prstGeom prst="rect">
                <a:avLst/>
              </a:pr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4"/>
              <p:cNvSpPr/>
              <p:nvPr/>
            </p:nvSpPr>
            <p:spPr>
              <a:xfrm>
                <a:off x="3734665" y="1556504"/>
                <a:ext cx="247800" cy="247800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4"/>
              <p:cNvSpPr/>
              <p:nvPr/>
            </p:nvSpPr>
            <p:spPr>
              <a:xfrm>
                <a:off x="3996242" y="1556504"/>
                <a:ext cx="247800" cy="247800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p4"/>
              <p:cNvSpPr/>
              <p:nvPr/>
            </p:nvSpPr>
            <p:spPr>
              <a:xfrm>
                <a:off x="4257820" y="1556504"/>
                <a:ext cx="247800" cy="247800"/>
              </a:xfrm>
              <a:prstGeom prst="rect">
                <a:avLst/>
              </a:pr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4"/>
              <p:cNvSpPr/>
              <p:nvPr/>
            </p:nvSpPr>
            <p:spPr>
              <a:xfrm>
                <a:off x="4519418" y="1556504"/>
                <a:ext cx="247800" cy="247800"/>
              </a:xfrm>
              <a:prstGeom prst="rect">
                <a:avLst/>
              </a:prstGeom>
              <a:solidFill>
                <a:srgbClr val="434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4"/>
              <p:cNvSpPr/>
              <p:nvPr/>
            </p:nvSpPr>
            <p:spPr>
              <a:xfrm>
                <a:off x="5827303" y="1556578"/>
                <a:ext cx="2478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Arial"/>
                  <a:buNone/>
                </a:pPr>
                <a:r>
                  <a:t/>
                </a:r>
                <a:endParaRPr b="1" i="0" sz="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4"/>
              <p:cNvSpPr txBox="1"/>
              <p:nvPr/>
            </p:nvSpPr>
            <p:spPr>
              <a:xfrm>
                <a:off x="5749000" y="1570775"/>
                <a:ext cx="4134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n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...</a:t>
                </a:r>
                <a:endParaRPr b="1" i="0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498" name="Google Shape;498;p4"/>
            <p:cNvCxnSpPr>
              <a:stCxn id="491" idx="2"/>
              <a:endCxn id="499" idx="0"/>
            </p:cNvCxnSpPr>
            <p:nvPr/>
          </p:nvCxnSpPr>
          <p:spPr>
            <a:xfrm>
              <a:off x="3770484" y="1801730"/>
              <a:ext cx="6519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0" name="Google Shape;500;p4"/>
            <p:cNvCxnSpPr>
              <a:stCxn id="493" idx="2"/>
              <a:endCxn id="499" idx="0"/>
            </p:cNvCxnSpPr>
            <p:nvPr/>
          </p:nvCxnSpPr>
          <p:spPr>
            <a:xfrm flipH="1">
              <a:off x="4422322" y="1801730"/>
              <a:ext cx="150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1" name="Google Shape;501;p4"/>
            <p:cNvCxnSpPr>
              <a:stCxn id="494" idx="2"/>
              <a:endCxn id="499" idx="0"/>
            </p:cNvCxnSpPr>
            <p:nvPr/>
          </p:nvCxnSpPr>
          <p:spPr>
            <a:xfrm flipH="1">
              <a:off x="4422455" y="1801730"/>
              <a:ext cx="3483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2" name="Google Shape;502;p4"/>
            <p:cNvCxnSpPr>
              <a:stCxn id="495" idx="2"/>
              <a:endCxn id="499" idx="0"/>
            </p:cNvCxnSpPr>
            <p:nvPr/>
          </p:nvCxnSpPr>
          <p:spPr>
            <a:xfrm flipH="1">
              <a:off x="4422314" y="1801730"/>
              <a:ext cx="6819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3" name="Google Shape;503;p4"/>
            <p:cNvCxnSpPr>
              <a:stCxn id="487" idx="2"/>
              <a:endCxn id="499" idx="0"/>
            </p:cNvCxnSpPr>
            <p:nvPr/>
          </p:nvCxnSpPr>
          <p:spPr>
            <a:xfrm flipH="1">
              <a:off x="4422279" y="1801730"/>
              <a:ext cx="13488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4" name="Google Shape;504;p4"/>
            <p:cNvCxnSpPr>
              <a:stCxn id="488" idx="2"/>
              <a:endCxn id="499" idx="0"/>
            </p:cNvCxnSpPr>
            <p:nvPr/>
          </p:nvCxnSpPr>
          <p:spPr>
            <a:xfrm flipH="1">
              <a:off x="4422412" y="1801730"/>
              <a:ext cx="16821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5" name="Google Shape;505;p4"/>
            <p:cNvCxnSpPr>
              <a:stCxn id="489" idx="2"/>
              <a:endCxn id="499" idx="0"/>
            </p:cNvCxnSpPr>
            <p:nvPr/>
          </p:nvCxnSpPr>
          <p:spPr>
            <a:xfrm flipH="1">
              <a:off x="4422218" y="1801730"/>
              <a:ext cx="20157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6" name="Google Shape;506;p4"/>
            <p:cNvCxnSpPr>
              <a:stCxn id="492" idx="2"/>
              <a:endCxn id="507" idx="0"/>
            </p:cNvCxnSpPr>
            <p:nvPr/>
          </p:nvCxnSpPr>
          <p:spPr>
            <a:xfrm>
              <a:off x="4103890" y="1801730"/>
              <a:ext cx="8478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8" name="Google Shape;508;p4"/>
            <p:cNvCxnSpPr>
              <a:stCxn id="494" idx="2"/>
              <a:endCxn id="507" idx="0"/>
            </p:cNvCxnSpPr>
            <p:nvPr/>
          </p:nvCxnSpPr>
          <p:spPr>
            <a:xfrm>
              <a:off x="4770755" y="1801730"/>
              <a:ext cx="1809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9" name="Google Shape;509;p4"/>
            <p:cNvCxnSpPr>
              <a:stCxn id="495" idx="2"/>
              <a:endCxn id="507" idx="0"/>
            </p:cNvCxnSpPr>
            <p:nvPr/>
          </p:nvCxnSpPr>
          <p:spPr>
            <a:xfrm flipH="1">
              <a:off x="4951814" y="1801730"/>
              <a:ext cx="1524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0" name="Google Shape;510;p4"/>
            <p:cNvCxnSpPr>
              <a:stCxn id="486" idx="2"/>
              <a:endCxn id="507" idx="0"/>
            </p:cNvCxnSpPr>
            <p:nvPr/>
          </p:nvCxnSpPr>
          <p:spPr>
            <a:xfrm flipH="1">
              <a:off x="4951620" y="1801730"/>
              <a:ext cx="4860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1" name="Google Shape;511;p4"/>
            <p:cNvCxnSpPr>
              <a:stCxn id="487" idx="2"/>
              <a:endCxn id="507" idx="0"/>
            </p:cNvCxnSpPr>
            <p:nvPr/>
          </p:nvCxnSpPr>
          <p:spPr>
            <a:xfrm flipH="1">
              <a:off x="4951779" y="1801730"/>
              <a:ext cx="8193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2" name="Google Shape;512;p4"/>
            <p:cNvCxnSpPr>
              <a:stCxn id="488" idx="2"/>
              <a:endCxn id="507" idx="0"/>
            </p:cNvCxnSpPr>
            <p:nvPr/>
          </p:nvCxnSpPr>
          <p:spPr>
            <a:xfrm flipH="1">
              <a:off x="4951612" y="1801730"/>
              <a:ext cx="11529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3" name="Google Shape;513;p4"/>
            <p:cNvCxnSpPr>
              <a:stCxn id="489" idx="2"/>
              <a:endCxn id="507" idx="0"/>
            </p:cNvCxnSpPr>
            <p:nvPr/>
          </p:nvCxnSpPr>
          <p:spPr>
            <a:xfrm flipH="1">
              <a:off x="4951718" y="1801730"/>
              <a:ext cx="14862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4" name="Google Shape;514;p4"/>
            <p:cNvCxnSpPr>
              <a:stCxn id="490" idx="2"/>
              <a:endCxn id="507" idx="0"/>
            </p:cNvCxnSpPr>
            <p:nvPr/>
          </p:nvCxnSpPr>
          <p:spPr>
            <a:xfrm flipH="1">
              <a:off x="4951593" y="1801824"/>
              <a:ext cx="21531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5" name="Google Shape;515;p4"/>
            <p:cNvCxnSpPr>
              <a:stCxn id="491" idx="2"/>
              <a:endCxn id="516" idx="0"/>
            </p:cNvCxnSpPr>
            <p:nvPr/>
          </p:nvCxnSpPr>
          <p:spPr>
            <a:xfrm>
              <a:off x="3770484" y="1801730"/>
              <a:ext cx="28749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7" name="Google Shape;517;p4"/>
            <p:cNvCxnSpPr>
              <a:stCxn id="494" idx="2"/>
              <a:endCxn id="516" idx="0"/>
            </p:cNvCxnSpPr>
            <p:nvPr/>
          </p:nvCxnSpPr>
          <p:spPr>
            <a:xfrm>
              <a:off x="4770755" y="1801730"/>
              <a:ext cx="18744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8" name="Google Shape;518;p4"/>
            <p:cNvCxnSpPr>
              <a:stCxn id="495" idx="2"/>
              <a:endCxn id="516" idx="0"/>
            </p:cNvCxnSpPr>
            <p:nvPr/>
          </p:nvCxnSpPr>
          <p:spPr>
            <a:xfrm>
              <a:off x="5104214" y="1801730"/>
              <a:ext cx="15411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9" name="Google Shape;519;p4"/>
            <p:cNvCxnSpPr>
              <a:stCxn id="495" idx="2"/>
              <a:endCxn id="520" idx="0"/>
            </p:cNvCxnSpPr>
            <p:nvPr/>
          </p:nvCxnSpPr>
          <p:spPr>
            <a:xfrm>
              <a:off x="5104214" y="1801730"/>
              <a:ext cx="3768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1" name="Google Shape;521;p4"/>
            <p:cNvCxnSpPr>
              <a:stCxn id="489" idx="2"/>
              <a:endCxn id="520" idx="0"/>
            </p:cNvCxnSpPr>
            <p:nvPr/>
          </p:nvCxnSpPr>
          <p:spPr>
            <a:xfrm flipH="1">
              <a:off x="5480918" y="1801730"/>
              <a:ext cx="9570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2" name="Google Shape;522;p4"/>
            <p:cNvCxnSpPr>
              <a:stCxn id="490" idx="2"/>
              <a:endCxn id="520" idx="0"/>
            </p:cNvCxnSpPr>
            <p:nvPr/>
          </p:nvCxnSpPr>
          <p:spPr>
            <a:xfrm flipH="1">
              <a:off x="5481093" y="1801824"/>
              <a:ext cx="16236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3" name="Google Shape;523;p4"/>
            <p:cNvCxnSpPr>
              <a:stCxn id="493" idx="2"/>
              <a:endCxn id="507" idx="0"/>
            </p:cNvCxnSpPr>
            <p:nvPr/>
          </p:nvCxnSpPr>
          <p:spPr>
            <a:xfrm>
              <a:off x="4437322" y="1801730"/>
              <a:ext cx="5145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4" name="Google Shape;524;p4"/>
            <p:cNvCxnSpPr>
              <a:stCxn id="491" idx="2"/>
              <a:endCxn id="507" idx="0"/>
            </p:cNvCxnSpPr>
            <p:nvPr/>
          </p:nvCxnSpPr>
          <p:spPr>
            <a:xfrm>
              <a:off x="3770484" y="1801730"/>
              <a:ext cx="11811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5" name="Google Shape;525;p4"/>
            <p:cNvCxnSpPr>
              <a:stCxn id="492" idx="2"/>
              <a:endCxn id="499" idx="0"/>
            </p:cNvCxnSpPr>
            <p:nvPr/>
          </p:nvCxnSpPr>
          <p:spPr>
            <a:xfrm>
              <a:off x="4103890" y="1801730"/>
              <a:ext cx="3186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6" name="Google Shape;526;p4"/>
            <p:cNvCxnSpPr>
              <a:stCxn id="499" idx="0"/>
              <a:endCxn id="490" idx="2"/>
            </p:cNvCxnSpPr>
            <p:nvPr/>
          </p:nvCxnSpPr>
          <p:spPr>
            <a:xfrm flipH="1" rot="10800000">
              <a:off x="4422345" y="1801736"/>
              <a:ext cx="26823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7" name="Google Shape;527;p4"/>
            <p:cNvCxnSpPr>
              <a:stCxn id="486" idx="2"/>
              <a:endCxn id="499" idx="0"/>
            </p:cNvCxnSpPr>
            <p:nvPr/>
          </p:nvCxnSpPr>
          <p:spPr>
            <a:xfrm flipH="1">
              <a:off x="4422420" y="1801730"/>
              <a:ext cx="10152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8" name="Google Shape;528;p4"/>
            <p:cNvCxnSpPr>
              <a:stCxn id="520" idx="0"/>
              <a:endCxn id="488" idx="2"/>
            </p:cNvCxnSpPr>
            <p:nvPr/>
          </p:nvCxnSpPr>
          <p:spPr>
            <a:xfrm flipH="1" rot="10800000">
              <a:off x="5481029" y="1801736"/>
              <a:ext cx="6234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9" name="Google Shape;529;p4"/>
            <p:cNvCxnSpPr>
              <a:stCxn id="520" idx="0"/>
              <a:endCxn id="487" idx="2"/>
            </p:cNvCxnSpPr>
            <p:nvPr/>
          </p:nvCxnSpPr>
          <p:spPr>
            <a:xfrm flipH="1" rot="10800000">
              <a:off x="5481029" y="1801736"/>
              <a:ext cx="2901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0" name="Google Shape;530;p4"/>
            <p:cNvCxnSpPr>
              <a:stCxn id="520" idx="0"/>
              <a:endCxn id="486" idx="2"/>
            </p:cNvCxnSpPr>
            <p:nvPr/>
          </p:nvCxnSpPr>
          <p:spPr>
            <a:xfrm rot="10800000">
              <a:off x="5437529" y="1801736"/>
              <a:ext cx="435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1" name="Google Shape;531;p4"/>
            <p:cNvCxnSpPr>
              <a:stCxn id="520" idx="0"/>
              <a:endCxn id="493" idx="2"/>
            </p:cNvCxnSpPr>
            <p:nvPr/>
          </p:nvCxnSpPr>
          <p:spPr>
            <a:xfrm rot="10800000">
              <a:off x="4437329" y="1801736"/>
              <a:ext cx="10437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2" name="Google Shape;532;p4"/>
            <p:cNvCxnSpPr>
              <a:stCxn id="520" idx="0"/>
              <a:endCxn id="492" idx="2"/>
            </p:cNvCxnSpPr>
            <p:nvPr/>
          </p:nvCxnSpPr>
          <p:spPr>
            <a:xfrm rot="10800000">
              <a:off x="4104029" y="1801736"/>
              <a:ext cx="13770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3" name="Google Shape;533;p4"/>
            <p:cNvCxnSpPr>
              <a:stCxn id="520" idx="0"/>
              <a:endCxn id="491" idx="2"/>
            </p:cNvCxnSpPr>
            <p:nvPr/>
          </p:nvCxnSpPr>
          <p:spPr>
            <a:xfrm rot="10800000">
              <a:off x="3770429" y="1801736"/>
              <a:ext cx="17106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4" name="Google Shape;534;p4"/>
            <p:cNvCxnSpPr>
              <a:stCxn id="520" idx="0"/>
              <a:endCxn id="494" idx="2"/>
            </p:cNvCxnSpPr>
            <p:nvPr/>
          </p:nvCxnSpPr>
          <p:spPr>
            <a:xfrm rot="10800000">
              <a:off x="4770629" y="1801736"/>
              <a:ext cx="7104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5" name="Google Shape;535;p4"/>
            <p:cNvCxnSpPr>
              <a:stCxn id="516" idx="0"/>
              <a:endCxn id="492" idx="2"/>
            </p:cNvCxnSpPr>
            <p:nvPr/>
          </p:nvCxnSpPr>
          <p:spPr>
            <a:xfrm rot="10800000">
              <a:off x="4103966" y="1801736"/>
              <a:ext cx="25413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6" name="Google Shape;536;p4"/>
            <p:cNvCxnSpPr>
              <a:stCxn id="516" idx="0"/>
              <a:endCxn id="493" idx="2"/>
            </p:cNvCxnSpPr>
            <p:nvPr/>
          </p:nvCxnSpPr>
          <p:spPr>
            <a:xfrm rot="10800000">
              <a:off x="4437266" y="1801736"/>
              <a:ext cx="22080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7" name="Google Shape;537;p4"/>
            <p:cNvCxnSpPr>
              <a:stCxn id="516" idx="0"/>
              <a:endCxn id="486" idx="2"/>
            </p:cNvCxnSpPr>
            <p:nvPr/>
          </p:nvCxnSpPr>
          <p:spPr>
            <a:xfrm rot="10800000">
              <a:off x="5437766" y="1801736"/>
              <a:ext cx="12075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8" name="Google Shape;538;p4"/>
            <p:cNvCxnSpPr>
              <a:stCxn id="516" idx="0"/>
              <a:endCxn id="487" idx="2"/>
            </p:cNvCxnSpPr>
            <p:nvPr/>
          </p:nvCxnSpPr>
          <p:spPr>
            <a:xfrm rot="10800000">
              <a:off x="5771066" y="1801736"/>
              <a:ext cx="8742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9" name="Google Shape;539;p4"/>
            <p:cNvCxnSpPr>
              <a:stCxn id="516" idx="0"/>
              <a:endCxn id="488" idx="2"/>
            </p:cNvCxnSpPr>
            <p:nvPr/>
          </p:nvCxnSpPr>
          <p:spPr>
            <a:xfrm rot="10800000">
              <a:off x="6104366" y="1801736"/>
              <a:ext cx="5409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0" name="Google Shape;540;p4"/>
            <p:cNvCxnSpPr>
              <a:stCxn id="516" idx="0"/>
              <a:endCxn id="489" idx="2"/>
            </p:cNvCxnSpPr>
            <p:nvPr/>
          </p:nvCxnSpPr>
          <p:spPr>
            <a:xfrm rot="10800000">
              <a:off x="6437966" y="1801736"/>
              <a:ext cx="2073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1" name="Google Shape;541;p4"/>
            <p:cNvCxnSpPr>
              <a:stCxn id="516" idx="0"/>
              <a:endCxn id="490" idx="2"/>
            </p:cNvCxnSpPr>
            <p:nvPr/>
          </p:nvCxnSpPr>
          <p:spPr>
            <a:xfrm flipH="1" rot="10800000">
              <a:off x="6645266" y="1801736"/>
              <a:ext cx="459300" cy="900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542" name="Google Shape;542;p4"/>
            <p:cNvGrpSpPr/>
            <p:nvPr/>
          </p:nvGrpSpPr>
          <p:grpSpPr>
            <a:xfrm>
              <a:off x="4211637" y="2702036"/>
              <a:ext cx="2644337" cy="1126268"/>
              <a:chOff x="4185722" y="2510592"/>
              <a:chExt cx="2074478" cy="883555"/>
            </a:xfrm>
          </p:grpSpPr>
          <p:sp>
            <p:nvSpPr>
              <p:cNvPr id="507" name="Google Shape;507;p4"/>
              <p:cNvSpPr/>
              <p:nvPr/>
            </p:nvSpPr>
            <p:spPr>
              <a:xfrm>
                <a:off x="4600986" y="2510592"/>
                <a:ext cx="330600" cy="330600"/>
              </a:xfrm>
              <a:prstGeom prst="ellipse">
                <a:avLst/>
              </a:prstGeom>
              <a:noFill/>
              <a:ln cap="flat" cmpd="sng" w="9525">
                <a:solidFill>
                  <a:srgbClr val="43434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16" name="Google Shape;516;p4"/>
              <p:cNvSpPr/>
              <p:nvPr/>
            </p:nvSpPr>
            <p:spPr>
              <a:xfrm>
                <a:off x="5929600" y="2510592"/>
                <a:ext cx="330600" cy="330600"/>
              </a:xfrm>
              <a:prstGeom prst="ellipse">
                <a:avLst/>
              </a:prstGeom>
              <a:noFill/>
              <a:ln cap="flat" cmpd="sng" w="9525">
                <a:solidFill>
                  <a:srgbClr val="43434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20" name="Google Shape;520;p4"/>
              <p:cNvSpPr/>
              <p:nvPr/>
            </p:nvSpPr>
            <p:spPr>
              <a:xfrm>
                <a:off x="5016258" y="2510592"/>
                <a:ext cx="330600" cy="330600"/>
              </a:xfrm>
              <a:prstGeom prst="ellipse">
                <a:avLst/>
              </a:prstGeom>
              <a:noFill/>
              <a:ln cap="flat" cmpd="sng" w="9525">
                <a:solidFill>
                  <a:srgbClr val="43434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cxnSp>
            <p:nvCxnSpPr>
              <p:cNvPr id="543" name="Google Shape;543;p4"/>
              <p:cNvCxnSpPr>
                <a:stCxn id="499" idx="4"/>
              </p:cNvCxnSpPr>
              <p:nvPr/>
            </p:nvCxnSpPr>
            <p:spPr>
              <a:xfrm>
                <a:off x="4351022" y="2841192"/>
                <a:ext cx="0" cy="247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19191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4" name="Google Shape;544;p4"/>
              <p:cNvCxnSpPr/>
              <p:nvPr/>
            </p:nvCxnSpPr>
            <p:spPr>
              <a:xfrm>
                <a:off x="4766300" y="2841345"/>
                <a:ext cx="0" cy="247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19191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5" name="Google Shape;545;p4"/>
              <p:cNvCxnSpPr/>
              <p:nvPr/>
            </p:nvCxnSpPr>
            <p:spPr>
              <a:xfrm>
                <a:off x="5181592" y="2841345"/>
                <a:ext cx="0" cy="247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19191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6" name="Google Shape;546;p4"/>
              <p:cNvCxnSpPr/>
              <p:nvPr/>
            </p:nvCxnSpPr>
            <p:spPr>
              <a:xfrm>
                <a:off x="6094951" y="2841259"/>
                <a:ext cx="0" cy="247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19191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547" name="Google Shape;547;p4"/>
              <p:cNvSpPr txBox="1"/>
              <p:nvPr/>
            </p:nvSpPr>
            <p:spPr>
              <a:xfrm>
                <a:off x="5431525" y="2552000"/>
                <a:ext cx="413400" cy="24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n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...</a:t>
                </a:r>
                <a:endParaRPr b="1" i="0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4"/>
              <p:cNvSpPr txBox="1"/>
              <p:nvPr/>
            </p:nvSpPr>
            <p:spPr>
              <a:xfrm>
                <a:off x="4185725" y="3054297"/>
                <a:ext cx="330600" cy="33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" sz="1400" u="none" cap="none" strike="noStrike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0</a:t>
                </a:r>
                <a:endParaRPr b="0" i="0" sz="1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49" name="Google Shape;549;p4"/>
              <p:cNvSpPr txBox="1"/>
              <p:nvPr/>
            </p:nvSpPr>
            <p:spPr>
              <a:xfrm>
                <a:off x="4600975" y="3054547"/>
                <a:ext cx="330600" cy="33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" sz="1400" u="none" cap="none" strike="noStrike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1</a:t>
                </a:r>
                <a:endParaRPr b="0" i="0" sz="1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50" name="Google Shape;550;p4"/>
              <p:cNvSpPr txBox="1"/>
              <p:nvPr/>
            </p:nvSpPr>
            <p:spPr>
              <a:xfrm>
                <a:off x="5016225" y="3054547"/>
                <a:ext cx="330600" cy="33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" sz="1400" u="none" cap="none" strike="noStrike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2</a:t>
                </a:r>
                <a:endParaRPr b="0" i="0" sz="1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551" name="Google Shape;551;p4"/>
              <p:cNvSpPr txBox="1"/>
              <p:nvPr/>
            </p:nvSpPr>
            <p:spPr>
              <a:xfrm>
                <a:off x="5929600" y="3054297"/>
                <a:ext cx="330600" cy="33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" sz="1400" u="none" cap="none" strike="noStrike">
                    <a:solidFill>
                      <a:srgbClr val="00000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9</a:t>
                </a:r>
                <a:endParaRPr b="0" i="0" sz="1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499" name="Google Shape;499;p4"/>
              <p:cNvSpPr/>
              <p:nvPr/>
            </p:nvSpPr>
            <p:spPr>
              <a:xfrm>
                <a:off x="4185722" y="2510592"/>
                <a:ext cx="330600" cy="330600"/>
              </a:xfrm>
              <a:prstGeom prst="ellipse">
                <a:avLst/>
              </a:prstGeom>
              <a:noFill/>
              <a:ln cap="flat" cmpd="sng" w="9525">
                <a:solidFill>
                  <a:srgbClr val="43434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sp>
        <p:nvSpPr>
          <p:cNvPr id="552" name="Google Shape;552;p4"/>
          <p:cNvSpPr txBox="1"/>
          <p:nvPr/>
        </p:nvSpPr>
        <p:spPr>
          <a:xfrm>
            <a:off x="3921875" y="1268724"/>
            <a:ext cx="30459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CC0000"/>
                </a:solidFill>
                <a:latin typeface="Nothing You Could Do"/>
                <a:ea typeface="Nothing You Could Do"/>
                <a:cs typeface="Nothing You Could Do"/>
                <a:sym typeface="Nothing You Could Do"/>
              </a:rPr>
              <a:t>784 pixels</a:t>
            </a:r>
            <a:endParaRPr b="0" i="0" sz="1800" u="none" cap="none" strike="noStrike">
              <a:solidFill>
                <a:srgbClr val="CC0000"/>
              </a:solidFill>
              <a:latin typeface="Nothing You Could Do"/>
              <a:ea typeface="Nothing You Could Do"/>
              <a:cs typeface="Nothing You Could Do"/>
              <a:sym typeface="Nothing You Could Do"/>
            </a:endParaRPr>
          </a:p>
        </p:txBody>
      </p:sp>
      <p:sp>
        <p:nvSpPr>
          <p:cNvPr id="553" name="Google Shape;553;p4"/>
          <p:cNvSpPr/>
          <p:nvPr/>
        </p:nvSpPr>
        <p:spPr>
          <a:xfrm flipH="1" rot="6136422">
            <a:off x="6565224" y="901490"/>
            <a:ext cx="132107" cy="1190919"/>
          </a:xfrm>
          <a:custGeom>
            <a:rect b="b" l="l" r="r" t="t"/>
            <a:pathLst>
              <a:path extrusionOk="0" h="27305" w="19368">
                <a:moveTo>
                  <a:pt x="19368" y="0"/>
                </a:moveTo>
                <a:cubicBezTo>
                  <a:pt x="14836" y="10197"/>
                  <a:pt x="7891" y="19414"/>
                  <a:pt x="0" y="27305"/>
                </a:cubicBezTo>
              </a:path>
            </a:pathLst>
          </a:custGeom>
          <a:noFill/>
          <a:ln cap="flat" cmpd="sng" w="9525">
            <a:solidFill>
              <a:srgbClr val="D8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4"/>
          <p:cNvSpPr/>
          <p:nvPr/>
        </p:nvSpPr>
        <p:spPr>
          <a:xfrm flipH="1" rot="5630324">
            <a:off x="4208806" y="936651"/>
            <a:ext cx="194552" cy="1103086"/>
          </a:xfrm>
          <a:custGeom>
            <a:rect b="b" l="l" r="r" t="t"/>
            <a:pathLst>
              <a:path extrusionOk="0" h="27305" w="19368">
                <a:moveTo>
                  <a:pt x="19368" y="0"/>
                </a:moveTo>
                <a:cubicBezTo>
                  <a:pt x="14836" y="10197"/>
                  <a:pt x="7891" y="19414"/>
                  <a:pt x="0" y="27305"/>
                </a:cubicBezTo>
              </a:path>
            </a:pathLst>
          </a:custGeom>
          <a:noFill/>
          <a:ln cap="flat" cmpd="sng" w="9525">
            <a:solidFill>
              <a:srgbClr val="D8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4"/>
          <p:cNvSpPr txBox="1"/>
          <p:nvPr/>
        </p:nvSpPr>
        <p:spPr>
          <a:xfrm>
            <a:off x="587900" y="3469550"/>
            <a:ext cx="2286000" cy="9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What is this number?</a:t>
            </a:r>
            <a:endParaRPr b="0" i="0" sz="2400" u="none" cap="none" strike="noStrike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baseline="-25000" i="0" sz="2400" u="none" cap="none" strike="noStrike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"/>
          <p:cNvSpPr txBox="1"/>
          <p:nvPr/>
        </p:nvSpPr>
        <p:spPr>
          <a:xfrm>
            <a:off x="691800" y="2075250"/>
            <a:ext cx="2286000" cy="9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Where are the Faces?</a:t>
            </a:r>
            <a:endParaRPr b="0" baseline="-25000" i="0" sz="18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1" name="Google Shape;56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6625" y="1106200"/>
            <a:ext cx="4382950" cy="293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6"/>
          <p:cNvSpPr txBox="1"/>
          <p:nvPr/>
        </p:nvSpPr>
        <p:spPr>
          <a:xfrm>
            <a:off x="1148375" y="827700"/>
            <a:ext cx="2286000" cy="9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434343"/>
                </a:solidFill>
                <a:latin typeface="Georgia"/>
                <a:ea typeface="Georgia"/>
                <a:cs typeface="Georgia"/>
                <a:sym typeface="Georgia"/>
              </a:rPr>
              <a:t>What is a House’s Price?</a:t>
            </a:r>
            <a:endParaRPr b="0" baseline="-25000" i="0" sz="1800" u="none" cap="none" strike="noStrike">
              <a:solidFill>
                <a:srgbClr val="434343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7" name="Google Shape;567;p6"/>
          <p:cNvSpPr txBox="1"/>
          <p:nvPr/>
        </p:nvSpPr>
        <p:spPr>
          <a:xfrm>
            <a:off x="1148375" y="2046900"/>
            <a:ext cx="2286000" cy="9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AA84F"/>
                </a:solidFill>
                <a:latin typeface="Georgia"/>
                <a:ea typeface="Georgia"/>
                <a:cs typeface="Georgia"/>
                <a:sym typeface="Georgia"/>
              </a:rPr>
              <a:t>What is this number?</a:t>
            </a:r>
            <a:endParaRPr b="0" baseline="-25000" i="0" sz="1800" u="none" cap="none" strike="noStrike">
              <a:solidFill>
                <a:srgbClr val="6AA84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8" name="Google Shape;568;p6"/>
          <p:cNvSpPr txBox="1"/>
          <p:nvPr/>
        </p:nvSpPr>
        <p:spPr>
          <a:xfrm>
            <a:off x="1148375" y="3189900"/>
            <a:ext cx="2286000" cy="9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FF"/>
                </a:solidFill>
                <a:latin typeface="Georgia"/>
                <a:ea typeface="Georgia"/>
                <a:cs typeface="Georgia"/>
                <a:sym typeface="Georgia"/>
              </a:rPr>
              <a:t>Where are the Faces?</a:t>
            </a:r>
            <a:endParaRPr b="0" baseline="-25000" i="0" sz="1800" u="none" cap="none" strike="noStrike">
              <a:solidFill>
                <a:srgbClr val="0000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9" name="Google Shape;569;p6"/>
          <p:cNvSpPr txBox="1"/>
          <p:nvPr/>
        </p:nvSpPr>
        <p:spPr>
          <a:xfrm>
            <a:off x="5224750" y="827700"/>
            <a:ext cx="2286000" cy="9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434343"/>
                </a:solidFill>
                <a:latin typeface="Georgia"/>
                <a:ea typeface="Georgia"/>
                <a:cs typeface="Georgia"/>
                <a:sym typeface="Georgia"/>
              </a:rPr>
              <a:t>What is a House?</a:t>
            </a:r>
            <a:endParaRPr b="0" baseline="-25000" i="0" sz="1800" u="none" cap="none" strike="noStrike">
              <a:solidFill>
                <a:srgbClr val="434343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70" name="Google Shape;570;p6"/>
          <p:cNvSpPr txBox="1"/>
          <p:nvPr/>
        </p:nvSpPr>
        <p:spPr>
          <a:xfrm>
            <a:off x="5224750" y="2046900"/>
            <a:ext cx="2286000" cy="9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434343"/>
                </a:solidFill>
                <a:latin typeface="Georgia"/>
                <a:ea typeface="Georgia"/>
                <a:cs typeface="Georgia"/>
                <a:sym typeface="Georgia"/>
              </a:rPr>
              <a:t>What is a number or number ‘8’?</a:t>
            </a:r>
            <a:endParaRPr b="0" baseline="-25000" i="0" sz="1800" u="none" cap="none" strike="noStrike">
              <a:solidFill>
                <a:srgbClr val="434343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71" name="Google Shape;571;p6"/>
          <p:cNvSpPr txBox="1"/>
          <p:nvPr/>
        </p:nvSpPr>
        <p:spPr>
          <a:xfrm>
            <a:off x="5224750" y="3189900"/>
            <a:ext cx="2286000" cy="9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434343"/>
                </a:solidFill>
                <a:latin typeface="Georgia"/>
                <a:ea typeface="Georgia"/>
                <a:cs typeface="Georgia"/>
                <a:sym typeface="Georgia"/>
              </a:rPr>
              <a:t>What is a Face?</a:t>
            </a:r>
            <a:endParaRPr b="0" baseline="-25000" i="0" sz="1800" u="none" cap="none" strike="noStrike">
              <a:solidFill>
                <a:srgbClr val="434343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572" name="Google Shape;572;p6"/>
          <p:cNvCxnSpPr>
            <a:stCxn id="566" idx="3"/>
            <a:endCxn id="569" idx="1"/>
          </p:cNvCxnSpPr>
          <p:nvPr/>
        </p:nvCxnSpPr>
        <p:spPr>
          <a:xfrm>
            <a:off x="3434375" y="1324200"/>
            <a:ext cx="179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3" name="Google Shape;573;p6"/>
          <p:cNvCxnSpPr>
            <a:endCxn id="570" idx="1"/>
          </p:cNvCxnSpPr>
          <p:nvPr/>
        </p:nvCxnSpPr>
        <p:spPr>
          <a:xfrm flipH="1" rot="10800000">
            <a:off x="3438550" y="2543400"/>
            <a:ext cx="1786200" cy="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4" name="Google Shape;574;p6"/>
          <p:cNvCxnSpPr>
            <a:stCxn id="568" idx="3"/>
            <a:endCxn id="571" idx="1"/>
          </p:cNvCxnSpPr>
          <p:nvPr/>
        </p:nvCxnSpPr>
        <p:spPr>
          <a:xfrm>
            <a:off x="3434375" y="3686400"/>
            <a:ext cx="179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75" name="Google Shape;575;p6"/>
          <p:cNvSpPr/>
          <p:nvPr/>
        </p:nvSpPr>
        <p:spPr>
          <a:xfrm>
            <a:off x="935175" y="429100"/>
            <a:ext cx="2739300" cy="41184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6"/>
          <p:cNvSpPr txBox="1"/>
          <p:nvPr/>
        </p:nvSpPr>
        <p:spPr>
          <a:xfrm>
            <a:off x="1148375" y="4642150"/>
            <a:ext cx="22860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Discriminative Model</a:t>
            </a:r>
            <a:endParaRPr b="0" baseline="-25000" i="0" sz="1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6"/>
          <p:cNvSpPr/>
          <p:nvPr/>
        </p:nvSpPr>
        <p:spPr>
          <a:xfrm>
            <a:off x="5126175" y="429100"/>
            <a:ext cx="2739300" cy="41184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6"/>
          <p:cNvSpPr txBox="1"/>
          <p:nvPr/>
        </p:nvSpPr>
        <p:spPr>
          <a:xfrm>
            <a:off x="5415575" y="4642150"/>
            <a:ext cx="22860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Generative Model</a:t>
            </a:r>
            <a:endParaRPr b="0" baseline="-25000" i="0" sz="1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7"/>
          <p:cNvSpPr txBox="1"/>
          <p:nvPr/>
        </p:nvSpPr>
        <p:spPr>
          <a:xfrm>
            <a:off x="2623950" y="4115150"/>
            <a:ext cx="38961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Text to </a:t>
            </a:r>
            <a:r>
              <a:rPr b="1" i="0" lang="en" sz="18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Label </a:t>
            </a:r>
            <a:r>
              <a:rPr b="0" i="0" lang="en" sz="18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examples</a:t>
            </a:r>
            <a:endParaRPr b="0" i="0" sz="18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(Discriminative)</a:t>
            </a:r>
            <a:endParaRPr b="0" i="0" sz="12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84" name="Google Shape;584;p7"/>
          <p:cNvGraphicFramePr/>
          <p:nvPr/>
        </p:nvGraphicFramePr>
        <p:xfrm>
          <a:off x="488325" y="68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{63C98FC0-1F2D-477D-8DF7-2778A623739D}</a:tableStyleId>
              </a:tblPr>
              <a:tblGrid>
                <a:gridCol w="575800"/>
                <a:gridCol w="2512300"/>
                <a:gridCol w="2276650"/>
                <a:gridCol w="2840175"/>
              </a:tblGrid>
              <a:tr h="18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Text to Label Task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Input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Classes or Categories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</a:tr>
              <a:tr h="232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Customer Support ticket classification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Customer support tickets or emails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Billing Issue, Technical Support, Product Inquiry, etc.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18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Sentiment Analysis for Product Reviews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Product reviews or comments</a:t>
                      </a:r>
                      <a:endParaRPr sz="1000" u="none" cap="none" strike="noStrike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Positive, Negative or Neutral</a:t>
                      </a:r>
                      <a:endParaRPr sz="1000" u="none" cap="none" strike="noStrike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18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Topic Categorization for News Articles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New Articles</a:t>
                      </a:r>
                      <a:endParaRPr sz="1000" u="none" cap="none" strike="noStrike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Politics, Sports, Entertainment, etc</a:t>
                      </a:r>
                      <a:endParaRPr sz="1000" u="none" cap="none" strike="noStrike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18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Resume Screening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Job applications</a:t>
                      </a:r>
                      <a:endParaRPr sz="1000" u="none" cap="none" strike="noStrike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Suitable for Interview, Not Suitable, etc.</a:t>
                      </a:r>
                      <a:endParaRPr sz="1000" u="none" cap="none" strike="noStrike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18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Social Media Post Classification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Social media posts</a:t>
                      </a:r>
                      <a:endParaRPr sz="1000" u="none" cap="none" strike="noStrike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News, Events, Personal Updates, etc.</a:t>
                      </a:r>
                      <a:endParaRPr sz="1000" u="none" cap="none" strike="noStrike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18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Legal Document Categorization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Legal documents</a:t>
                      </a:r>
                      <a:endParaRPr sz="1000" u="none" cap="none" strike="noStrike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Contract, Complaint, Agreement, etc.</a:t>
                      </a:r>
                      <a:endParaRPr sz="1000" u="none" cap="none" strike="noStrike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18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7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Product Categorization for eCommerce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Product descriptions</a:t>
                      </a:r>
                      <a:endParaRPr sz="1000" u="none" cap="none" strike="noStrike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Electronics, Clothing, Home Appliances, etc.</a:t>
                      </a:r>
                      <a:endParaRPr sz="1000" u="none" cap="none" strike="noStrike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18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8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Medical Record Classification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Electronic Health Records</a:t>
                      </a:r>
                      <a:endParaRPr sz="1000" u="none" cap="none" strike="noStrike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Diagnosis, Medication, Treatment Plan, etc.</a:t>
                      </a:r>
                      <a:endParaRPr sz="1000" u="none" cap="none" strike="noStrike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8"/>
          <p:cNvSpPr txBox="1"/>
          <p:nvPr/>
        </p:nvSpPr>
        <p:spPr>
          <a:xfrm>
            <a:off x="2623950" y="4115150"/>
            <a:ext cx="38961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Text to </a:t>
            </a:r>
            <a:r>
              <a:rPr b="1" i="0" lang="en" sz="18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Text </a:t>
            </a:r>
            <a:r>
              <a:rPr b="0" i="0" lang="en" sz="18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examples</a:t>
            </a:r>
            <a:endParaRPr b="0" i="0" sz="18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(Generative)</a:t>
            </a:r>
            <a:endParaRPr b="0" i="0" sz="12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90" name="Google Shape;590;p8"/>
          <p:cNvGraphicFramePr/>
          <p:nvPr/>
        </p:nvGraphicFramePr>
        <p:xfrm>
          <a:off x="469525" y="582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{63C98FC0-1F2D-477D-8DF7-2778A623739D}</a:tableStyleId>
              </a:tblPr>
              <a:tblGrid>
                <a:gridCol w="575800"/>
                <a:gridCol w="2512300"/>
                <a:gridCol w="2276650"/>
                <a:gridCol w="2840175"/>
              </a:tblGrid>
              <a:tr h="18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#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Text to Text Task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Input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Classes or Categories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38761D"/>
                    </a:solidFill>
                  </a:tcPr>
                </a:tc>
              </a:tr>
              <a:tr h="232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Customer Support Automation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Customer inquiries or complaints in text form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Automated responses or suggested solutions generated in response to customer queries.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18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Email Autoresponders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Incoming emails</a:t>
                      </a:r>
                      <a:endParaRPr sz="1000" u="none" cap="none" strike="noStrike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Automatic email responses generated based on predefined rules or machine learning algorithms.</a:t>
                      </a:r>
                      <a:endParaRPr sz="1000" u="none" cap="none" strike="noStrike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18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Text Summarization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Long documents, articles, or text passages.</a:t>
                      </a:r>
                      <a:endParaRPr sz="1000" u="none" cap="none" strike="noStrike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Summarized versions of the input text, condensing the key information</a:t>
                      </a:r>
                      <a:endParaRPr sz="1000" u="none" cap="none" strike="noStrike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18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Content Generation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Prompts or specifications for content creation</a:t>
                      </a:r>
                      <a:endParaRPr sz="1000" u="none" cap="none" strike="noStrike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Generated articles, stories, or creative pieces in response to the input</a:t>
                      </a:r>
                      <a:endParaRPr sz="1000" u="none" cap="none" strike="noStrike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18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Code Generation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Descriptions or requirements for a program</a:t>
                      </a:r>
                      <a:endParaRPr sz="1000" u="none" cap="none" strike="noStrike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Automatically generated code based on the input specifications</a:t>
                      </a:r>
                      <a:endParaRPr sz="1000" u="none" cap="none" strike="noStrike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18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Social Media Posts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Drafts or prompts for social media posts</a:t>
                      </a:r>
                      <a:endParaRPr sz="1000" u="none" cap="none" strike="noStrike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cap="none" strike="noStrike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Published social media content</a:t>
                      </a:r>
                      <a:endParaRPr sz="1000" u="none" cap="none" strike="noStrike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9"/>
          <p:cNvSpPr txBox="1"/>
          <p:nvPr/>
        </p:nvSpPr>
        <p:spPr>
          <a:xfrm>
            <a:off x="4457700" y="2168400"/>
            <a:ext cx="4187100" cy="10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What is </a:t>
            </a:r>
            <a:r>
              <a:rPr b="1" i="0" lang="en" sz="18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Generative AI</a:t>
            </a:r>
            <a:r>
              <a:rPr b="0" i="0" lang="en" sz="18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8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6" name="Google Shape;59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9675" y="1313850"/>
            <a:ext cx="2515801" cy="251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e652085058_0_177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g3e652085058_0_1771"/>
          <p:cNvSpPr/>
          <p:nvPr/>
        </p:nvSpPr>
        <p:spPr>
          <a:xfrm>
            <a:off x="320040" y="73152"/>
            <a:ext cx="850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Generative AI?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g3e652085058_0_1771"/>
          <p:cNvSpPr/>
          <p:nvPr/>
        </p:nvSpPr>
        <p:spPr>
          <a:xfrm>
            <a:off x="320040" y="822960"/>
            <a:ext cx="4114800" cy="1737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g3e652085058_0_1771"/>
          <p:cNvSpPr/>
          <p:nvPr/>
        </p:nvSpPr>
        <p:spPr>
          <a:xfrm>
            <a:off x="320040" y="822960"/>
            <a:ext cx="4114800" cy="639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g3e652085058_0_1771"/>
          <p:cNvSpPr/>
          <p:nvPr/>
        </p:nvSpPr>
        <p:spPr>
          <a:xfrm>
            <a:off x="457200" y="932688"/>
            <a:ext cx="3840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📌 Definition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g3e652085058_0_1771"/>
          <p:cNvSpPr/>
          <p:nvPr/>
        </p:nvSpPr>
        <p:spPr>
          <a:xfrm>
            <a:off x="457200" y="1371600"/>
            <a:ext cx="38406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Generative AI refers to models that can create new content — text, images, audio, code, video — by learning patterns from training data and generating statistically likely continuations or transformations.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g3e652085058_0_1771"/>
          <p:cNvSpPr/>
          <p:nvPr/>
        </p:nvSpPr>
        <p:spPr>
          <a:xfrm>
            <a:off x="4709160" y="822960"/>
            <a:ext cx="4114800" cy="1737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g3e652085058_0_1771"/>
          <p:cNvSpPr/>
          <p:nvPr/>
        </p:nvSpPr>
        <p:spPr>
          <a:xfrm>
            <a:off x="4709160" y="822960"/>
            <a:ext cx="4114800" cy="639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g3e652085058_0_1771"/>
          <p:cNvSpPr/>
          <p:nvPr/>
        </p:nvSpPr>
        <p:spPr>
          <a:xfrm>
            <a:off x="4846320" y="932688"/>
            <a:ext cx="3840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🧠 Core Idea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g3e652085058_0_1771"/>
          <p:cNvSpPr/>
          <p:nvPr/>
        </p:nvSpPr>
        <p:spPr>
          <a:xfrm>
            <a:off x="4846320" y="1371600"/>
            <a:ext cx="38406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Unlike discriminative models (which classify inputs), generative models learn the joint distribution P(X) or P(X|Y) and sample from it — producing novel, coherent outputs.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g3e652085058_0_1771"/>
          <p:cNvSpPr/>
          <p:nvPr/>
        </p:nvSpPr>
        <p:spPr>
          <a:xfrm>
            <a:off x="320040" y="2697480"/>
            <a:ext cx="4114800" cy="210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g3e652085058_0_1771"/>
          <p:cNvSpPr/>
          <p:nvPr/>
        </p:nvSpPr>
        <p:spPr>
          <a:xfrm>
            <a:off x="320040" y="2697480"/>
            <a:ext cx="4114800" cy="639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g3e652085058_0_1771"/>
          <p:cNvSpPr/>
          <p:nvPr/>
        </p:nvSpPr>
        <p:spPr>
          <a:xfrm>
            <a:off x="457200" y="2807208"/>
            <a:ext cx="3840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🔑 Key Modalities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g3e652085058_0_1771"/>
          <p:cNvSpPr/>
          <p:nvPr/>
        </p:nvSpPr>
        <p:spPr>
          <a:xfrm>
            <a:off x="457200" y="3246120"/>
            <a:ext cx="38406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Text (GPT, LLaMA)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Images (DALL·E, Stable Diffusion)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Audio (Whisper, MusicGen)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Code (Codex, CodeLLaMA)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Video (Sora, Runway)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g3e652085058_0_1771"/>
          <p:cNvSpPr/>
          <p:nvPr/>
        </p:nvSpPr>
        <p:spPr>
          <a:xfrm>
            <a:off x="4709160" y="2697480"/>
            <a:ext cx="4114800" cy="210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g3e652085058_0_1771"/>
          <p:cNvSpPr/>
          <p:nvPr/>
        </p:nvSpPr>
        <p:spPr>
          <a:xfrm>
            <a:off x="4709160" y="2697480"/>
            <a:ext cx="4114800" cy="6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g3e652085058_0_1771"/>
          <p:cNvSpPr/>
          <p:nvPr/>
        </p:nvSpPr>
        <p:spPr>
          <a:xfrm>
            <a:off x="4846320" y="2807208"/>
            <a:ext cx="3840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📊 Scale (2025)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g3e652085058_0_1771"/>
          <p:cNvSpPr/>
          <p:nvPr/>
        </p:nvSpPr>
        <p:spPr>
          <a:xfrm>
            <a:off x="4846320" y="3246120"/>
            <a:ext cx="38406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ChatGPT: 300M+ weekly users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Gemini: integrated in 1B+ devices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LLM market: $40B → $1.3T by 2032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Tokens processed daily: trillions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1"/>
          <p:cNvSpPr txBox="1"/>
          <p:nvPr/>
        </p:nvSpPr>
        <p:spPr>
          <a:xfrm>
            <a:off x="4457700" y="2168400"/>
            <a:ext cx="4187100" cy="10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What are Large Language Models </a:t>
            </a:r>
            <a:r>
              <a:rPr b="1" i="0" lang="en" sz="18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(LLMs)</a:t>
            </a:r>
            <a:r>
              <a:rPr b="0" i="0" lang="en" sz="18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8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5" name="Google Shape;62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9675" y="1313850"/>
            <a:ext cx="2515801" cy="251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e652085058_0_179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g3e652085058_0_1796"/>
          <p:cNvSpPr/>
          <p:nvPr/>
        </p:nvSpPr>
        <p:spPr>
          <a:xfrm>
            <a:off x="320040" y="73152"/>
            <a:ext cx="850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 Large Language Model (LLM)?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g3e652085058_0_1796"/>
          <p:cNvSpPr/>
          <p:nvPr/>
        </p:nvSpPr>
        <p:spPr>
          <a:xfrm>
            <a:off x="365760" y="777240"/>
            <a:ext cx="8412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 Large Language Model is a neural network trained on massive text corpora to predict the next token — and through that simple objective, emergent capabilities arise.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g3e652085058_0_1796"/>
          <p:cNvSpPr/>
          <p:nvPr/>
        </p:nvSpPr>
        <p:spPr>
          <a:xfrm>
            <a:off x="320040" y="1508760"/>
            <a:ext cx="2743200" cy="32004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g3e652085058_0_1796"/>
          <p:cNvSpPr/>
          <p:nvPr/>
        </p:nvSpPr>
        <p:spPr>
          <a:xfrm>
            <a:off x="457200" y="1645920"/>
            <a:ext cx="2469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Scale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g3e652085058_0_1796"/>
          <p:cNvSpPr/>
          <p:nvPr/>
        </p:nvSpPr>
        <p:spPr>
          <a:xfrm>
            <a:off x="457200" y="2240280"/>
            <a:ext cx="2469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Billions–Trillions of parameters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Trillions of training tokens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Thousands of GPUs for months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g3e652085058_0_1796"/>
          <p:cNvSpPr/>
          <p:nvPr/>
        </p:nvSpPr>
        <p:spPr>
          <a:xfrm>
            <a:off x="3246120" y="1508760"/>
            <a:ext cx="2743200" cy="32004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g3e652085058_0_1796"/>
          <p:cNvSpPr/>
          <p:nvPr/>
        </p:nvSpPr>
        <p:spPr>
          <a:xfrm>
            <a:off x="3383280" y="1645920"/>
            <a:ext cx="2469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Architecture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g3e652085058_0_1796"/>
          <p:cNvSpPr/>
          <p:nvPr/>
        </p:nvSpPr>
        <p:spPr>
          <a:xfrm>
            <a:off x="3383280" y="2240280"/>
            <a:ext cx="2469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Transformer-based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Self-attention mechanism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Decoder-only or Enc-Dec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g3e652085058_0_1796"/>
          <p:cNvSpPr/>
          <p:nvPr/>
        </p:nvSpPr>
        <p:spPr>
          <a:xfrm>
            <a:off x="6172200" y="1508760"/>
            <a:ext cx="2743200" cy="32004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g3e652085058_0_1796"/>
          <p:cNvSpPr/>
          <p:nvPr/>
        </p:nvSpPr>
        <p:spPr>
          <a:xfrm>
            <a:off x="6309360" y="1645920"/>
            <a:ext cx="2469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Emergence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g3e652085058_0_1796"/>
          <p:cNvSpPr/>
          <p:nvPr/>
        </p:nvSpPr>
        <p:spPr>
          <a:xfrm>
            <a:off x="6309360" y="2240280"/>
            <a:ext cx="2469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Chain-of-thought reasoning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Few-shot learning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Instruction following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12"/>
          <p:cNvSpPr/>
          <p:nvPr/>
        </p:nvSpPr>
        <p:spPr>
          <a:xfrm>
            <a:off x="3608750" y="1156225"/>
            <a:ext cx="2102700" cy="26013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8" name="Google Shape;648;p12"/>
          <p:cNvSpPr/>
          <p:nvPr/>
        </p:nvSpPr>
        <p:spPr>
          <a:xfrm>
            <a:off x="6732950" y="1156319"/>
            <a:ext cx="2102700" cy="26013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9" name="Google Shape;649;p12"/>
          <p:cNvSpPr/>
          <p:nvPr/>
        </p:nvSpPr>
        <p:spPr>
          <a:xfrm>
            <a:off x="3608600" y="4135975"/>
            <a:ext cx="2103000" cy="373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Input Sequences Embeddings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0" name="Google Shape;650;p12"/>
          <p:cNvSpPr/>
          <p:nvPr/>
        </p:nvSpPr>
        <p:spPr>
          <a:xfrm>
            <a:off x="6732500" y="4199575"/>
            <a:ext cx="2103000" cy="373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Target Sequences Embeddings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1" name="Google Shape;651;p12"/>
          <p:cNvCxnSpPr>
            <a:stCxn id="650" idx="0"/>
            <a:endCxn id="648" idx="2"/>
          </p:cNvCxnSpPr>
          <p:nvPr/>
        </p:nvCxnSpPr>
        <p:spPr>
          <a:xfrm flipH="1" rot="10800000">
            <a:off x="7784000" y="3757675"/>
            <a:ext cx="300" cy="441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52" name="Google Shape;652;p12"/>
          <p:cNvSpPr/>
          <p:nvPr/>
        </p:nvSpPr>
        <p:spPr>
          <a:xfrm>
            <a:off x="6869900" y="618100"/>
            <a:ext cx="1828800" cy="373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Prediction Layer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3" name="Google Shape;653;p12"/>
          <p:cNvCxnSpPr>
            <a:stCxn id="648" idx="0"/>
            <a:endCxn id="652" idx="2"/>
          </p:cNvCxnSpPr>
          <p:nvPr/>
        </p:nvCxnSpPr>
        <p:spPr>
          <a:xfrm rot="10800000">
            <a:off x="7784300" y="991919"/>
            <a:ext cx="0" cy="16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54" name="Google Shape;654;p12"/>
          <p:cNvSpPr txBox="1"/>
          <p:nvPr/>
        </p:nvSpPr>
        <p:spPr>
          <a:xfrm>
            <a:off x="181750" y="1879025"/>
            <a:ext cx="2963100" cy="1259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LLMs typically use </a:t>
            </a:r>
            <a:r>
              <a:rPr b="1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Transformer </a:t>
            </a:r>
            <a:r>
              <a:rPr b="0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architecture</a:t>
            </a:r>
            <a:endParaRPr b="0" i="0" sz="1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5" name="Google Shape;655;p12"/>
          <p:cNvSpPr/>
          <p:nvPr/>
        </p:nvSpPr>
        <p:spPr>
          <a:xfrm>
            <a:off x="3745700" y="3259600"/>
            <a:ext cx="1828800" cy="259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Encoder # 1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6" name="Google Shape;656;p12"/>
          <p:cNvSpPr/>
          <p:nvPr/>
        </p:nvSpPr>
        <p:spPr>
          <a:xfrm>
            <a:off x="6869900" y="3259600"/>
            <a:ext cx="1828800" cy="2595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Decoder # 1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7" name="Google Shape;657;p12"/>
          <p:cNvSpPr/>
          <p:nvPr/>
        </p:nvSpPr>
        <p:spPr>
          <a:xfrm>
            <a:off x="3745700" y="2878600"/>
            <a:ext cx="1828800" cy="259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Encoder # 2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8" name="Google Shape;658;p12"/>
          <p:cNvSpPr/>
          <p:nvPr/>
        </p:nvSpPr>
        <p:spPr>
          <a:xfrm>
            <a:off x="3745700" y="2497600"/>
            <a:ext cx="1828800" cy="259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Encoder # 3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9" name="Google Shape;659;p12"/>
          <p:cNvSpPr/>
          <p:nvPr/>
        </p:nvSpPr>
        <p:spPr>
          <a:xfrm>
            <a:off x="3745700" y="2116600"/>
            <a:ext cx="1828800" cy="259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Encoder # 4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0" name="Google Shape;660;p12"/>
          <p:cNvSpPr/>
          <p:nvPr/>
        </p:nvSpPr>
        <p:spPr>
          <a:xfrm>
            <a:off x="3745700" y="1735600"/>
            <a:ext cx="1828800" cy="259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Encoder # 5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1" name="Google Shape;661;p12"/>
          <p:cNvSpPr/>
          <p:nvPr/>
        </p:nvSpPr>
        <p:spPr>
          <a:xfrm>
            <a:off x="3745700" y="1354600"/>
            <a:ext cx="1828800" cy="259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Encoder # 6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2" name="Google Shape;662;p12"/>
          <p:cNvSpPr/>
          <p:nvPr/>
        </p:nvSpPr>
        <p:spPr>
          <a:xfrm>
            <a:off x="6869900" y="2878600"/>
            <a:ext cx="1828800" cy="2595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Decoder # 2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3" name="Google Shape;663;p12"/>
          <p:cNvSpPr/>
          <p:nvPr/>
        </p:nvSpPr>
        <p:spPr>
          <a:xfrm>
            <a:off x="6869900" y="2497600"/>
            <a:ext cx="1828800" cy="2595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Decoder # 3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4" name="Google Shape;664;p12"/>
          <p:cNvSpPr/>
          <p:nvPr/>
        </p:nvSpPr>
        <p:spPr>
          <a:xfrm>
            <a:off x="6869900" y="2116600"/>
            <a:ext cx="1828800" cy="2595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Decoder # 4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5" name="Google Shape;665;p12"/>
          <p:cNvSpPr/>
          <p:nvPr/>
        </p:nvSpPr>
        <p:spPr>
          <a:xfrm>
            <a:off x="6869900" y="1735600"/>
            <a:ext cx="1828800" cy="2595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Decoder # 5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6" name="Google Shape;666;p12"/>
          <p:cNvSpPr/>
          <p:nvPr/>
        </p:nvSpPr>
        <p:spPr>
          <a:xfrm>
            <a:off x="6869900" y="1354600"/>
            <a:ext cx="1828800" cy="2595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Decoder # 6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7" name="Google Shape;667;p12"/>
          <p:cNvCxnSpPr>
            <a:stCxn id="649" idx="0"/>
            <a:endCxn id="647" idx="2"/>
          </p:cNvCxnSpPr>
          <p:nvPr/>
        </p:nvCxnSpPr>
        <p:spPr>
          <a:xfrm rot="10800000">
            <a:off x="4660100" y="3757375"/>
            <a:ext cx="0" cy="37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68" name="Google Shape;668;p12"/>
          <p:cNvSpPr/>
          <p:nvPr/>
        </p:nvSpPr>
        <p:spPr>
          <a:xfrm>
            <a:off x="4663325" y="667587"/>
            <a:ext cx="2219875" cy="819275"/>
          </a:xfrm>
          <a:custGeom>
            <a:rect b="b" l="l" r="r" t="t"/>
            <a:pathLst>
              <a:path extrusionOk="0" h="32771" w="88795">
                <a:moveTo>
                  <a:pt x="0" y="19546"/>
                </a:moveTo>
                <a:cubicBezTo>
                  <a:pt x="2960" y="16334"/>
                  <a:pt x="2960" y="-1928"/>
                  <a:pt x="17759" y="276"/>
                </a:cubicBezTo>
                <a:cubicBezTo>
                  <a:pt x="32558" y="2480"/>
                  <a:pt x="76956" y="27355"/>
                  <a:pt x="88795" y="32771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12"/>
          <p:cNvSpPr/>
          <p:nvPr/>
        </p:nvSpPr>
        <p:spPr>
          <a:xfrm>
            <a:off x="6439225" y="1270100"/>
            <a:ext cx="415624" cy="594607"/>
          </a:xfrm>
          <a:custGeom>
            <a:rect b="b" l="l" r="r" t="t"/>
            <a:pathLst>
              <a:path extrusionOk="0" h="23049" w="16248">
                <a:moveTo>
                  <a:pt x="0" y="0"/>
                </a:moveTo>
                <a:cubicBezTo>
                  <a:pt x="2708" y="3842"/>
                  <a:pt x="13540" y="19208"/>
                  <a:pt x="16248" y="2304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12"/>
          <p:cNvSpPr/>
          <p:nvPr/>
        </p:nvSpPr>
        <p:spPr>
          <a:xfrm>
            <a:off x="6354200" y="1231800"/>
            <a:ext cx="519550" cy="1029650"/>
          </a:xfrm>
          <a:custGeom>
            <a:rect b="b" l="l" r="r" t="t"/>
            <a:pathLst>
              <a:path extrusionOk="0" h="41186" w="20782">
                <a:moveTo>
                  <a:pt x="0" y="0"/>
                </a:moveTo>
                <a:cubicBezTo>
                  <a:pt x="3464" y="6864"/>
                  <a:pt x="17318" y="34322"/>
                  <a:pt x="20782" y="41186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12"/>
          <p:cNvSpPr/>
          <p:nvPr/>
        </p:nvSpPr>
        <p:spPr>
          <a:xfrm>
            <a:off x="6193600" y="1146775"/>
            <a:ext cx="689600" cy="1483075"/>
          </a:xfrm>
          <a:custGeom>
            <a:rect b="b" l="l" r="r" t="t"/>
            <a:pathLst>
              <a:path extrusionOk="0" h="59323" w="27584">
                <a:moveTo>
                  <a:pt x="0" y="0"/>
                </a:moveTo>
                <a:cubicBezTo>
                  <a:pt x="4597" y="9887"/>
                  <a:pt x="22987" y="49436"/>
                  <a:pt x="27584" y="5932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12"/>
          <p:cNvSpPr/>
          <p:nvPr/>
        </p:nvSpPr>
        <p:spPr>
          <a:xfrm>
            <a:off x="6099150" y="1099550"/>
            <a:ext cx="784050" cy="1910863"/>
          </a:xfrm>
          <a:custGeom>
            <a:rect b="b" l="l" r="r" t="t"/>
            <a:pathLst>
              <a:path extrusionOk="0" h="77082" w="31362">
                <a:moveTo>
                  <a:pt x="0" y="0"/>
                </a:moveTo>
                <a:cubicBezTo>
                  <a:pt x="5227" y="12847"/>
                  <a:pt x="26135" y="64235"/>
                  <a:pt x="31362" y="77082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12"/>
          <p:cNvSpPr/>
          <p:nvPr/>
        </p:nvSpPr>
        <p:spPr>
          <a:xfrm>
            <a:off x="6042475" y="1071200"/>
            <a:ext cx="821825" cy="2333250"/>
          </a:xfrm>
          <a:custGeom>
            <a:rect b="b" l="l" r="r" t="t"/>
            <a:pathLst>
              <a:path extrusionOk="0" h="93330" w="32873">
                <a:moveTo>
                  <a:pt x="0" y="0"/>
                </a:moveTo>
                <a:cubicBezTo>
                  <a:pt x="5479" y="15555"/>
                  <a:pt x="27394" y="77775"/>
                  <a:pt x="32873" y="9333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12"/>
          <p:cNvSpPr txBox="1"/>
          <p:nvPr/>
        </p:nvSpPr>
        <p:spPr>
          <a:xfrm>
            <a:off x="3608750" y="4780675"/>
            <a:ext cx="21027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Input Text</a:t>
            </a:r>
            <a:endParaRPr b="1" i="0" sz="10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5" name="Google Shape;675;p12"/>
          <p:cNvSpPr txBox="1"/>
          <p:nvPr/>
        </p:nvSpPr>
        <p:spPr>
          <a:xfrm>
            <a:off x="6732650" y="162325"/>
            <a:ext cx="2102700" cy="30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Output</a:t>
            </a:r>
            <a:endParaRPr b="1" i="0" sz="10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6" name="Google Shape;676;p12"/>
          <p:cNvCxnSpPr>
            <a:endCxn id="675" idx="2"/>
          </p:cNvCxnSpPr>
          <p:nvPr/>
        </p:nvCxnSpPr>
        <p:spPr>
          <a:xfrm rot="10800000">
            <a:off x="7784000" y="463225"/>
            <a:ext cx="300" cy="15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77" name="Google Shape;677;p12"/>
          <p:cNvCxnSpPr>
            <a:stCxn id="674" idx="0"/>
            <a:endCxn id="649" idx="2"/>
          </p:cNvCxnSpPr>
          <p:nvPr/>
        </p:nvCxnSpPr>
        <p:spPr>
          <a:xfrm rot="10800000">
            <a:off x="4660100" y="4509775"/>
            <a:ext cx="0" cy="27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3"/>
          <p:cNvSpPr/>
          <p:nvPr/>
        </p:nvSpPr>
        <p:spPr>
          <a:xfrm>
            <a:off x="3608750" y="1156225"/>
            <a:ext cx="2102700" cy="26013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3" name="Google Shape;683;p13"/>
          <p:cNvSpPr/>
          <p:nvPr/>
        </p:nvSpPr>
        <p:spPr>
          <a:xfrm>
            <a:off x="6732950" y="1156319"/>
            <a:ext cx="2102700" cy="26013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4" name="Google Shape;684;p13"/>
          <p:cNvSpPr/>
          <p:nvPr/>
        </p:nvSpPr>
        <p:spPr>
          <a:xfrm>
            <a:off x="3608600" y="4135975"/>
            <a:ext cx="2103000" cy="373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Input Sequences Embeddings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5" name="Google Shape;685;p13"/>
          <p:cNvSpPr/>
          <p:nvPr/>
        </p:nvSpPr>
        <p:spPr>
          <a:xfrm>
            <a:off x="6732500" y="4199575"/>
            <a:ext cx="2103000" cy="373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Target Sequences Embeddings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6" name="Google Shape;686;p13"/>
          <p:cNvCxnSpPr>
            <a:stCxn id="685" idx="0"/>
            <a:endCxn id="683" idx="2"/>
          </p:cNvCxnSpPr>
          <p:nvPr/>
        </p:nvCxnSpPr>
        <p:spPr>
          <a:xfrm flipH="1" rot="10800000">
            <a:off x="7784000" y="3757675"/>
            <a:ext cx="300" cy="441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7" name="Google Shape;687;p13"/>
          <p:cNvSpPr/>
          <p:nvPr/>
        </p:nvSpPr>
        <p:spPr>
          <a:xfrm>
            <a:off x="6869900" y="618100"/>
            <a:ext cx="1828800" cy="373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Prediction Layer</a:t>
            </a:r>
            <a:endParaRPr b="1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8" name="Google Shape;688;p13"/>
          <p:cNvCxnSpPr>
            <a:stCxn id="683" idx="0"/>
            <a:endCxn id="687" idx="2"/>
          </p:cNvCxnSpPr>
          <p:nvPr/>
        </p:nvCxnSpPr>
        <p:spPr>
          <a:xfrm rot="10800000">
            <a:off x="7784300" y="991919"/>
            <a:ext cx="0" cy="16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9" name="Google Shape;689;p13"/>
          <p:cNvSpPr txBox="1"/>
          <p:nvPr/>
        </p:nvSpPr>
        <p:spPr>
          <a:xfrm>
            <a:off x="181750" y="1879025"/>
            <a:ext cx="2963100" cy="125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LLMs are usually trained to predict </a:t>
            </a:r>
            <a:r>
              <a:rPr b="1" i="0" lang="en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NEXT WORD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0" name="Google Shape;690;p13"/>
          <p:cNvSpPr/>
          <p:nvPr/>
        </p:nvSpPr>
        <p:spPr>
          <a:xfrm>
            <a:off x="3745700" y="3259600"/>
            <a:ext cx="1828800" cy="259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Encoder # 1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1" name="Google Shape;691;p13"/>
          <p:cNvSpPr/>
          <p:nvPr/>
        </p:nvSpPr>
        <p:spPr>
          <a:xfrm>
            <a:off x="6869900" y="3259600"/>
            <a:ext cx="1828800" cy="2595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Decoder # 1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2" name="Google Shape;692;p13"/>
          <p:cNvSpPr/>
          <p:nvPr/>
        </p:nvSpPr>
        <p:spPr>
          <a:xfrm>
            <a:off x="3745700" y="2878600"/>
            <a:ext cx="1828800" cy="259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Encoder # 2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3" name="Google Shape;693;p13"/>
          <p:cNvSpPr/>
          <p:nvPr/>
        </p:nvSpPr>
        <p:spPr>
          <a:xfrm>
            <a:off x="3745700" y="2497600"/>
            <a:ext cx="1828800" cy="259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Encoder # 3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4" name="Google Shape;694;p13"/>
          <p:cNvSpPr/>
          <p:nvPr/>
        </p:nvSpPr>
        <p:spPr>
          <a:xfrm>
            <a:off x="3745700" y="2116600"/>
            <a:ext cx="1828800" cy="259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Encoder # 4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5" name="Google Shape;695;p13"/>
          <p:cNvSpPr/>
          <p:nvPr/>
        </p:nvSpPr>
        <p:spPr>
          <a:xfrm>
            <a:off x="3745700" y="1735600"/>
            <a:ext cx="1828800" cy="259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Encoder # 5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6" name="Google Shape;696;p13"/>
          <p:cNvSpPr/>
          <p:nvPr/>
        </p:nvSpPr>
        <p:spPr>
          <a:xfrm>
            <a:off x="3745700" y="1354600"/>
            <a:ext cx="1828800" cy="259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Encoder # 6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7" name="Google Shape;697;p13"/>
          <p:cNvSpPr/>
          <p:nvPr/>
        </p:nvSpPr>
        <p:spPr>
          <a:xfrm>
            <a:off x="6869900" y="2878600"/>
            <a:ext cx="1828800" cy="2595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Decoder # 2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8" name="Google Shape;698;p13"/>
          <p:cNvSpPr/>
          <p:nvPr/>
        </p:nvSpPr>
        <p:spPr>
          <a:xfrm>
            <a:off x="6869900" y="2497600"/>
            <a:ext cx="1828800" cy="2595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Decoder # 3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9" name="Google Shape;699;p13"/>
          <p:cNvSpPr/>
          <p:nvPr/>
        </p:nvSpPr>
        <p:spPr>
          <a:xfrm>
            <a:off x="6869900" y="2116600"/>
            <a:ext cx="1828800" cy="2595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Decoder # 4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0" name="Google Shape;700;p13"/>
          <p:cNvSpPr/>
          <p:nvPr/>
        </p:nvSpPr>
        <p:spPr>
          <a:xfrm>
            <a:off x="6869900" y="1735600"/>
            <a:ext cx="1828800" cy="2595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Decoder # 5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1" name="Google Shape;701;p13"/>
          <p:cNvSpPr/>
          <p:nvPr/>
        </p:nvSpPr>
        <p:spPr>
          <a:xfrm>
            <a:off x="6869900" y="1354600"/>
            <a:ext cx="1828800" cy="2595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Decoder # 6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02" name="Google Shape;702;p13"/>
          <p:cNvCxnSpPr>
            <a:stCxn id="684" idx="0"/>
            <a:endCxn id="682" idx="2"/>
          </p:cNvCxnSpPr>
          <p:nvPr/>
        </p:nvCxnSpPr>
        <p:spPr>
          <a:xfrm rot="10800000">
            <a:off x="4660100" y="3757375"/>
            <a:ext cx="0" cy="37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03" name="Google Shape;703;p13"/>
          <p:cNvSpPr/>
          <p:nvPr/>
        </p:nvSpPr>
        <p:spPr>
          <a:xfrm>
            <a:off x="4663325" y="667587"/>
            <a:ext cx="2219875" cy="819275"/>
          </a:xfrm>
          <a:custGeom>
            <a:rect b="b" l="l" r="r" t="t"/>
            <a:pathLst>
              <a:path extrusionOk="0" h="32771" w="88795">
                <a:moveTo>
                  <a:pt x="0" y="19546"/>
                </a:moveTo>
                <a:cubicBezTo>
                  <a:pt x="2960" y="16334"/>
                  <a:pt x="2960" y="-1928"/>
                  <a:pt x="17759" y="276"/>
                </a:cubicBezTo>
                <a:cubicBezTo>
                  <a:pt x="32558" y="2480"/>
                  <a:pt x="76956" y="27355"/>
                  <a:pt x="88795" y="32771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13"/>
          <p:cNvSpPr/>
          <p:nvPr/>
        </p:nvSpPr>
        <p:spPr>
          <a:xfrm>
            <a:off x="6439225" y="1270100"/>
            <a:ext cx="415624" cy="594607"/>
          </a:xfrm>
          <a:custGeom>
            <a:rect b="b" l="l" r="r" t="t"/>
            <a:pathLst>
              <a:path extrusionOk="0" h="23049" w="16248">
                <a:moveTo>
                  <a:pt x="0" y="0"/>
                </a:moveTo>
                <a:cubicBezTo>
                  <a:pt x="2708" y="3842"/>
                  <a:pt x="13540" y="19208"/>
                  <a:pt x="16248" y="2304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13"/>
          <p:cNvSpPr/>
          <p:nvPr/>
        </p:nvSpPr>
        <p:spPr>
          <a:xfrm>
            <a:off x="6354200" y="1231800"/>
            <a:ext cx="519550" cy="1029650"/>
          </a:xfrm>
          <a:custGeom>
            <a:rect b="b" l="l" r="r" t="t"/>
            <a:pathLst>
              <a:path extrusionOk="0" h="41186" w="20782">
                <a:moveTo>
                  <a:pt x="0" y="0"/>
                </a:moveTo>
                <a:cubicBezTo>
                  <a:pt x="3464" y="6864"/>
                  <a:pt x="17318" y="34322"/>
                  <a:pt x="20782" y="41186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13"/>
          <p:cNvSpPr/>
          <p:nvPr/>
        </p:nvSpPr>
        <p:spPr>
          <a:xfrm>
            <a:off x="6193600" y="1146775"/>
            <a:ext cx="689600" cy="1483075"/>
          </a:xfrm>
          <a:custGeom>
            <a:rect b="b" l="l" r="r" t="t"/>
            <a:pathLst>
              <a:path extrusionOk="0" h="59323" w="27584">
                <a:moveTo>
                  <a:pt x="0" y="0"/>
                </a:moveTo>
                <a:cubicBezTo>
                  <a:pt x="4597" y="9887"/>
                  <a:pt x="22987" y="49436"/>
                  <a:pt x="27584" y="5932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13"/>
          <p:cNvSpPr/>
          <p:nvPr/>
        </p:nvSpPr>
        <p:spPr>
          <a:xfrm>
            <a:off x="6099150" y="1099550"/>
            <a:ext cx="784050" cy="1910863"/>
          </a:xfrm>
          <a:custGeom>
            <a:rect b="b" l="l" r="r" t="t"/>
            <a:pathLst>
              <a:path extrusionOk="0" h="77082" w="31362">
                <a:moveTo>
                  <a:pt x="0" y="0"/>
                </a:moveTo>
                <a:cubicBezTo>
                  <a:pt x="5227" y="12847"/>
                  <a:pt x="26135" y="64235"/>
                  <a:pt x="31362" y="77082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13"/>
          <p:cNvSpPr/>
          <p:nvPr/>
        </p:nvSpPr>
        <p:spPr>
          <a:xfrm>
            <a:off x="6042475" y="1071200"/>
            <a:ext cx="821825" cy="2333250"/>
          </a:xfrm>
          <a:custGeom>
            <a:rect b="b" l="l" r="r" t="t"/>
            <a:pathLst>
              <a:path extrusionOk="0" h="93330" w="32873">
                <a:moveTo>
                  <a:pt x="0" y="0"/>
                </a:moveTo>
                <a:cubicBezTo>
                  <a:pt x="5479" y="15555"/>
                  <a:pt x="27394" y="77775"/>
                  <a:pt x="32873" y="9333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13"/>
          <p:cNvSpPr txBox="1"/>
          <p:nvPr/>
        </p:nvSpPr>
        <p:spPr>
          <a:xfrm>
            <a:off x="3608750" y="4780675"/>
            <a:ext cx="21027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I am in a class for machine</a:t>
            </a:r>
            <a:endParaRPr b="1" i="0" sz="10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0" name="Google Shape;710;p13"/>
          <p:cNvSpPr txBox="1"/>
          <p:nvPr/>
        </p:nvSpPr>
        <p:spPr>
          <a:xfrm>
            <a:off x="6732650" y="162325"/>
            <a:ext cx="2102700" cy="30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learning</a:t>
            </a:r>
            <a:endParaRPr b="1" i="0" sz="10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11" name="Google Shape;711;p13"/>
          <p:cNvCxnSpPr>
            <a:endCxn id="710" idx="2"/>
          </p:cNvCxnSpPr>
          <p:nvPr/>
        </p:nvCxnSpPr>
        <p:spPr>
          <a:xfrm rot="10800000">
            <a:off x="7784000" y="463225"/>
            <a:ext cx="300" cy="15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12" name="Google Shape;712;p13"/>
          <p:cNvCxnSpPr>
            <a:stCxn id="709" idx="0"/>
            <a:endCxn id="684" idx="2"/>
          </p:cNvCxnSpPr>
          <p:nvPr/>
        </p:nvCxnSpPr>
        <p:spPr>
          <a:xfrm rot="10800000">
            <a:off x="4660100" y="4509775"/>
            <a:ext cx="0" cy="27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13" name="Google Shape;713;p13"/>
          <p:cNvSpPr/>
          <p:nvPr/>
        </p:nvSpPr>
        <p:spPr>
          <a:xfrm rot="1838850">
            <a:off x="2952896" y="4494700"/>
            <a:ext cx="689744" cy="30103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13"/>
          <p:cNvSpPr/>
          <p:nvPr/>
        </p:nvSpPr>
        <p:spPr>
          <a:xfrm rot="-686218">
            <a:off x="6763489" y="198425"/>
            <a:ext cx="689899" cy="30111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e652085058_0_181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g3e652085058_0_1814"/>
          <p:cNvSpPr/>
          <p:nvPr/>
        </p:nvSpPr>
        <p:spPr>
          <a:xfrm>
            <a:off x="320040" y="73152"/>
            <a:ext cx="850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LLMs works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g3e652085058_0_1814"/>
          <p:cNvSpPr/>
          <p:nvPr/>
        </p:nvSpPr>
        <p:spPr>
          <a:xfrm>
            <a:off x="320040" y="822960"/>
            <a:ext cx="4114800" cy="2011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g3e652085058_0_1814"/>
          <p:cNvSpPr/>
          <p:nvPr/>
        </p:nvSpPr>
        <p:spPr>
          <a:xfrm>
            <a:off x="320040" y="822960"/>
            <a:ext cx="4114800" cy="639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g3e652085058_0_1814"/>
          <p:cNvSpPr/>
          <p:nvPr/>
        </p:nvSpPr>
        <p:spPr>
          <a:xfrm>
            <a:off x="457200" y="932688"/>
            <a:ext cx="3840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🔤 What is a Token?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g3e652085058_0_1814"/>
          <p:cNvSpPr/>
          <p:nvPr/>
        </p:nvSpPr>
        <p:spPr>
          <a:xfrm>
            <a:off x="457200" y="1371600"/>
            <a:ext cx="38406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token is the atomic unit of text an LLM processes. "tokenization" = 3 tokens. A token ≈ 0.75 words.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Example: "Hello, world!" → ["Hello", ",", " world", "!"]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g3e652085058_0_1814"/>
          <p:cNvSpPr/>
          <p:nvPr/>
        </p:nvSpPr>
        <p:spPr>
          <a:xfrm>
            <a:off x="4709160" y="822960"/>
            <a:ext cx="4114800" cy="2011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g3e652085058_0_1814"/>
          <p:cNvSpPr/>
          <p:nvPr/>
        </p:nvSpPr>
        <p:spPr>
          <a:xfrm>
            <a:off x="4709160" y="822960"/>
            <a:ext cx="4114800" cy="639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g3e652085058_0_1814"/>
          <p:cNvSpPr/>
          <p:nvPr/>
        </p:nvSpPr>
        <p:spPr>
          <a:xfrm>
            <a:off x="4846320" y="932688"/>
            <a:ext cx="3840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📐 What is an Embedding?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g3e652085058_0_1814"/>
          <p:cNvSpPr/>
          <p:nvPr/>
        </p:nvSpPr>
        <p:spPr>
          <a:xfrm>
            <a:off x="4846320" y="1371600"/>
            <a:ext cx="38406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 embedding is a dense vector (e.g. 4096 dimensions) that represents a token in semantic space. Similar meanings → similar vectors. This is how LLMs understand context.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g3e652085058_0_1814"/>
          <p:cNvSpPr/>
          <p:nvPr/>
        </p:nvSpPr>
        <p:spPr>
          <a:xfrm>
            <a:off x="320040" y="3017520"/>
            <a:ext cx="8503800" cy="178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g3e652085058_0_1814"/>
          <p:cNvSpPr/>
          <p:nvPr/>
        </p:nvSpPr>
        <p:spPr>
          <a:xfrm>
            <a:off x="320040" y="3017520"/>
            <a:ext cx="8503800" cy="639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g3e652085058_0_1814"/>
          <p:cNvSpPr/>
          <p:nvPr/>
        </p:nvSpPr>
        <p:spPr>
          <a:xfrm>
            <a:off x="457200" y="3127248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💡 Why This Matters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g3e652085058_0_1814"/>
          <p:cNvSpPr/>
          <p:nvPr/>
        </p:nvSpPr>
        <p:spPr>
          <a:xfrm>
            <a:off x="457200" y="3566160"/>
            <a:ext cx="8229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Context window = max tokens the model can "see" at once.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GPT-4: 128K tokens | Gemini 1.5: 1M tokens | Claude 3.5: 200K tokens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More context = longer conversations, bigger codebases, larger documents in memory.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g3e652085058_0_14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67952"/>
            <a:ext cx="9143999" cy="4007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3e652085058_0_183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g3e652085058_0_1834"/>
          <p:cNvSpPr/>
          <p:nvPr/>
        </p:nvSpPr>
        <p:spPr>
          <a:xfrm>
            <a:off x="320040" y="100477"/>
            <a:ext cx="850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Pre-training — How LLMs Learn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g3e652085058_0_1834"/>
          <p:cNvSpPr/>
          <p:nvPr/>
        </p:nvSpPr>
        <p:spPr>
          <a:xfrm>
            <a:off x="320040" y="804672"/>
            <a:ext cx="8503800" cy="594300"/>
          </a:xfrm>
          <a:prstGeom prst="rect">
            <a:avLst/>
          </a:prstGeom>
          <a:solidFill>
            <a:srgbClr val="2563EB">
              <a:alpha val="1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g3e652085058_0_1834"/>
          <p:cNvSpPr/>
          <p:nvPr/>
        </p:nvSpPr>
        <p:spPr>
          <a:xfrm>
            <a:off x="457200" y="841248"/>
            <a:ext cx="8229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Objective: Predict the next token given all previous tokens  →  Causal Language Modeling (CLM)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g3e652085058_0_1834"/>
          <p:cNvSpPr/>
          <p:nvPr/>
        </p:nvSpPr>
        <p:spPr>
          <a:xfrm>
            <a:off x="320040" y="1554480"/>
            <a:ext cx="54900" cy="5943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g3e652085058_0_1834"/>
          <p:cNvSpPr/>
          <p:nvPr/>
        </p:nvSpPr>
        <p:spPr>
          <a:xfrm>
            <a:off x="502920" y="1554480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Training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g3e652085058_0_1834"/>
          <p:cNvSpPr/>
          <p:nvPr/>
        </p:nvSpPr>
        <p:spPr>
          <a:xfrm>
            <a:off x="502920" y="18288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CommonCrawl, Wikipedia, Books, GitHub, ArXiv — trillions of tokens scraped and filtered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g3e652085058_0_1834"/>
          <p:cNvSpPr/>
          <p:nvPr/>
        </p:nvSpPr>
        <p:spPr>
          <a:xfrm>
            <a:off x="320040" y="2377440"/>
            <a:ext cx="54900" cy="5943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g3e652085058_0_1834"/>
          <p:cNvSpPr/>
          <p:nvPr/>
        </p:nvSpPr>
        <p:spPr>
          <a:xfrm>
            <a:off x="502920" y="2377440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Compute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g3e652085058_0_1834"/>
          <p:cNvSpPr/>
          <p:nvPr/>
        </p:nvSpPr>
        <p:spPr>
          <a:xfrm>
            <a:off x="502920" y="265176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GPT-4 training: est. $100M+, months on thousands of A100/H100 GPUs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g3e652085058_0_1834"/>
          <p:cNvSpPr/>
          <p:nvPr/>
        </p:nvSpPr>
        <p:spPr>
          <a:xfrm>
            <a:off x="320040" y="3200400"/>
            <a:ext cx="54900" cy="5943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g3e652085058_0_1834"/>
          <p:cNvSpPr/>
          <p:nvPr/>
        </p:nvSpPr>
        <p:spPr>
          <a:xfrm>
            <a:off x="502920" y="3200400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g3e652085058_0_1834"/>
          <p:cNvSpPr/>
          <p:nvPr/>
        </p:nvSpPr>
        <p:spPr>
          <a:xfrm>
            <a:off x="502920" y="347472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Cross-entropy loss: minimize -log P(next_token | context)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g3e652085058_0_1834"/>
          <p:cNvSpPr/>
          <p:nvPr/>
        </p:nvSpPr>
        <p:spPr>
          <a:xfrm>
            <a:off x="320040" y="4023360"/>
            <a:ext cx="54900" cy="5943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g3e652085058_0_1834"/>
          <p:cNvSpPr/>
          <p:nvPr/>
        </p:nvSpPr>
        <p:spPr>
          <a:xfrm>
            <a:off x="502920" y="4023360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g3e652085058_0_1834"/>
          <p:cNvSpPr/>
          <p:nvPr/>
        </p:nvSpPr>
        <p:spPr>
          <a:xfrm>
            <a:off x="502920" y="429768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Model implicitly learns grammar, facts, reasoning, code, math — all from next-token prediction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e652085058_0_185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g3e652085058_0_1854"/>
          <p:cNvSpPr/>
          <p:nvPr/>
        </p:nvSpPr>
        <p:spPr>
          <a:xfrm>
            <a:off x="320040" y="73152"/>
            <a:ext cx="850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RLHF — Making LLMs Helpful &amp; Safe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g3e652085058_0_1854"/>
          <p:cNvSpPr/>
          <p:nvPr/>
        </p:nvSpPr>
        <p:spPr>
          <a:xfrm>
            <a:off x="365760" y="794328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Reinforcement Learning from Human Feedback (RLHF) aligns pre-trained LLMs with human values, preferences, and safety constraints.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g3e652085058_0_1854"/>
          <p:cNvSpPr/>
          <p:nvPr/>
        </p:nvSpPr>
        <p:spPr>
          <a:xfrm>
            <a:off x="320040" y="1480128"/>
            <a:ext cx="502800" cy="8229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g3e652085058_0_1854"/>
          <p:cNvSpPr/>
          <p:nvPr/>
        </p:nvSpPr>
        <p:spPr>
          <a:xfrm>
            <a:off x="320040" y="1617288"/>
            <a:ext cx="502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g3e652085058_0_1854"/>
          <p:cNvSpPr/>
          <p:nvPr/>
        </p:nvSpPr>
        <p:spPr>
          <a:xfrm>
            <a:off x="960120" y="1498416"/>
            <a:ext cx="7772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Supervised Fine-Tuning (SFT)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g3e652085058_0_1854"/>
          <p:cNvSpPr/>
          <p:nvPr/>
        </p:nvSpPr>
        <p:spPr>
          <a:xfrm>
            <a:off x="960120" y="18276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Human annotators write ideal responses. Model fine-tuned on these demonstrations.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g3e652085058_0_1854"/>
          <p:cNvSpPr/>
          <p:nvPr/>
        </p:nvSpPr>
        <p:spPr>
          <a:xfrm>
            <a:off x="320040" y="2623128"/>
            <a:ext cx="502800" cy="8229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g3e652085058_0_1854"/>
          <p:cNvSpPr/>
          <p:nvPr/>
        </p:nvSpPr>
        <p:spPr>
          <a:xfrm>
            <a:off x="320040" y="2760288"/>
            <a:ext cx="502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g3e652085058_0_1854"/>
          <p:cNvSpPr/>
          <p:nvPr/>
        </p:nvSpPr>
        <p:spPr>
          <a:xfrm>
            <a:off x="960120" y="2641416"/>
            <a:ext cx="7772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Reward Model Training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g3e652085058_0_1854"/>
          <p:cNvSpPr/>
          <p:nvPr/>
        </p:nvSpPr>
        <p:spPr>
          <a:xfrm>
            <a:off x="960120" y="29706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Humans rank multiple model outputs. A reward model learns to predict human preference scores.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g3e652085058_0_1854"/>
          <p:cNvSpPr/>
          <p:nvPr/>
        </p:nvSpPr>
        <p:spPr>
          <a:xfrm>
            <a:off x="320040" y="3766128"/>
            <a:ext cx="502800" cy="8229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g3e652085058_0_1854"/>
          <p:cNvSpPr/>
          <p:nvPr/>
        </p:nvSpPr>
        <p:spPr>
          <a:xfrm>
            <a:off x="320040" y="3903288"/>
            <a:ext cx="502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g3e652085058_0_1854"/>
          <p:cNvSpPr/>
          <p:nvPr/>
        </p:nvSpPr>
        <p:spPr>
          <a:xfrm>
            <a:off x="960120" y="3784416"/>
            <a:ext cx="7772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PPO Optimization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g3e652085058_0_1854"/>
          <p:cNvSpPr/>
          <p:nvPr/>
        </p:nvSpPr>
        <p:spPr>
          <a:xfrm>
            <a:off x="960120" y="41136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LLM is updated via Proximal Policy Optimization to maximize reward model scores — constrained to not drift too far from SFT baseline.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14"/>
          <p:cNvSpPr txBox="1"/>
          <p:nvPr/>
        </p:nvSpPr>
        <p:spPr>
          <a:xfrm>
            <a:off x="2120850" y="1942200"/>
            <a:ext cx="4902300" cy="125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LLMs are trained using </a:t>
            </a:r>
            <a:r>
              <a:rPr b="1" i="0" lang="en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HUGE DATA</a:t>
            </a:r>
            <a:r>
              <a:rPr b="0" i="0" lang="en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in </a:t>
            </a:r>
            <a:r>
              <a:rPr b="1" i="0" lang="en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Self-Supervised</a:t>
            </a:r>
            <a:r>
              <a:rPr b="0" i="0" lang="en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Learning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15"/>
          <p:cNvSpPr txBox="1"/>
          <p:nvPr/>
        </p:nvSpPr>
        <p:spPr>
          <a:xfrm>
            <a:off x="4110700" y="2464225"/>
            <a:ext cx="4686300" cy="10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Check out the list of datasets available (not a comprehensive list)</a:t>
            </a:r>
            <a:endParaRPr b="0" i="0" sz="16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https://github.com/Zjh-819/LLMDataHub</a:t>
            </a:r>
            <a:endParaRPr b="0" i="0" sz="16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0" name="Google Shape;79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59675" y="1313850"/>
            <a:ext cx="2515801" cy="2515801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15"/>
          <p:cNvSpPr txBox="1"/>
          <p:nvPr/>
        </p:nvSpPr>
        <p:spPr>
          <a:xfrm>
            <a:off x="4110775" y="1553025"/>
            <a:ext cx="4686300" cy="10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Where do we get huge datasets?</a:t>
            </a:r>
            <a:endParaRPr b="1" i="0" sz="18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16"/>
          <p:cNvSpPr txBox="1"/>
          <p:nvPr/>
        </p:nvSpPr>
        <p:spPr>
          <a:xfrm>
            <a:off x="4241700" y="3650400"/>
            <a:ext cx="4902300" cy="94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brief history of LLMs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" sz="10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https://arxiv.org/pdf/2311.16989.pdf</a:t>
            </a:r>
            <a:endParaRPr b="0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97" name="Google Shape;79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6338" y="552000"/>
            <a:ext cx="7531330" cy="326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7"/>
          <p:cNvSpPr txBox="1"/>
          <p:nvPr/>
        </p:nvSpPr>
        <p:spPr>
          <a:xfrm>
            <a:off x="2120850" y="1942200"/>
            <a:ext cx="4902300" cy="125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LLMs are usually quite </a:t>
            </a:r>
            <a:r>
              <a:rPr b="1" i="0" lang="en" sz="1800" u="sng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Big</a:t>
            </a:r>
            <a:r>
              <a:rPr b="0" i="0" lang="en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in number of parameters (Weights &amp; Bias)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18"/>
          <p:cNvSpPr txBox="1"/>
          <p:nvPr/>
        </p:nvSpPr>
        <p:spPr>
          <a:xfrm>
            <a:off x="5760300" y="1942200"/>
            <a:ext cx="3240300" cy="125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Source</a:t>
            </a:r>
            <a:endParaRPr b="0" i="0" sz="1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https://arxiv.org/pdf/2307.06435.pdf</a:t>
            </a:r>
            <a:endParaRPr b="0" i="0" sz="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08" name="Google Shape;80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52400"/>
            <a:ext cx="526614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3" name="Google Shape;81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113" y="418800"/>
            <a:ext cx="8085775" cy="3764151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19"/>
          <p:cNvSpPr txBox="1"/>
          <p:nvPr/>
        </p:nvSpPr>
        <p:spPr>
          <a:xfrm>
            <a:off x="2120850" y="4440625"/>
            <a:ext cx="4902300" cy="611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LLMs Chronology &gt;10B</a:t>
            </a:r>
            <a:endParaRPr b="1" i="0" sz="1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3e652085058_0_1766"/>
          <p:cNvSpPr txBox="1"/>
          <p:nvPr/>
        </p:nvSpPr>
        <p:spPr>
          <a:xfrm>
            <a:off x="4457700" y="2168400"/>
            <a:ext cx="4187100" cy="10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How do we allow Models to be </a:t>
            </a:r>
            <a:r>
              <a:rPr b="1" i="0" lang="en" sz="18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Generative</a:t>
            </a:r>
            <a:r>
              <a:rPr b="0" i="0" lang="en" sz="1800" u="none" cap="none" strike="noStrik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800" u="none" cap="none" strike="noStrike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0" name="Google Shape;820;g3e652085058_0_17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9675" y="1313850"/>
            <a:ext cx="2515801" cy="251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10"/>
          <p:cNvSpPr txBox="1"/>
          <p:nvPr/>
        </p:nvSpPr>
        <p:spPr>
          <a:xfrm>
            <a:off x="6539025" y="2326200"/>
            <a:ext cx="18315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timeline of Generative AI </a:t>
            </a:r>
            <a:endParaRPr b="1" i="1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26" name="Google Shape;826;p10"/>
          <p:cNvGrpSpPr/>
          <p:nvPr/>
        </p:nvGrpSpPr>
        <p:grpSpPr>
          <a:xfrm>
            <a:off x="1387200" y="471478"/>
            <a:ext cx="4094300" cy="861172"/>
            <a:chOff x="3562350" y="909418"/>
            <a:chExt cx="4094300" cy="765282"/>
          </a:xfrm>
        </p:grpSpPr>
        <p:sp>
          <p:nvSpPr>
            <p:cNvPr id="827" name="Google Shape;827;p10"/>
            <p:cNvSpPr txBox="1"/>
            <p:nvPr/>
          </p:nvSpPr>
          <p:spPr>
            <a:xfrm>
              <a:off x="4928450" y="909418"/>
              <a:ext cx="2728200" cy="24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085630"/>
                  </a:solidFill>
                  <a:latin typeface="Roboto"/>
                  <a:ea typeface="Roboto"/>
                  <a:cs typeface="Roboto"/>
                  <a:sym typeface="Roboto"/>
                </a:rPr>
                <a:t>Generative Adversarial Network (GANs)</a:t>
              </a:r>
              <a:endParaRPr b="1" i="0" sz="1100" u="none" cap="none" strike="noStrike">
                <a:solidFill>
                  <a:srgbClr val="08563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28" name="Google Shape;828;p10"/>
            <p:cNvSpPr txBox="1"/>
            <p:nvPr/>
          </p:nvSpPr>
          <p:spPr>
            <a:xfrm>
              <a:off x="4928450" y="1154904"/>
              <a:ext cx="27282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085630"/>
                  </a:solidFill>
                  <a:latin typeface="Roboto"/>
                  <a:ea typeface="Roboto"/>
                  <a:cs typeface="Roboto"/>
                  <a:sym typeface="Roboto"/>
                </a:rPr>
                <a:t>Generative realistic images</a:t>
              </a:r>
              <a:endParaRPr b="0" i="0" sz="700" u="none" cap="none" strike="noStrike">
                <a:solidFill>
                  <a:srgbClr val="08563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29" name="Google Shape;829;p10"/>
            <p:cNvSpPr txBox="1"/>
            <p:nvPr/>
          </p:nvSpPr>
          <p:spPr>
            <a:xfrm>
              <a:off x="3562350" y="934025"/>
              <a:ext cx="7584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85630"/>
                  </a:solidFill>
                  <a:latin typeface="Roboto"/>
                  <a:ea typeface="Roboto"/>
                  <a:cs typeface="Roboto"/>
                  <a:sym typeface="Roboto"/>
                </a:rPr>
                <a:t>2014</a:t>
              </a:r>
              <a:endParaRPr b="0" i="0" sz="900" u="none" cap="none" strike="noStrike">
                <a:solidFill>
                  <a:srgbClr val="08563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30" name="Google Shape;830;p10"/>
            <p:cNvSpPr/>
            <p:nvPr/>
          </p:nvSpPr>
          <p:spPr>
            <a:xfrm>
              <a:off x="4517125" y="1086100"/>
              <a:ext cx="133500" cy="588600"/>
            </a:xfrm>
            <a:prstGeom prst="rect">
              <a:avLst/>
            </a:prstGeom>
            <a:solidFill>
              <a:srgbClr val="0856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31" name="Google Shape;831;p10"/>
            <p:cNvCxnSpPr/>
            <p:nvPr/>
          </p:nvCxnSpPr>
          <p:spPr>
            <a:xfrm rot="10800000">
              <a:off x="4318975" y="1083450"/>
              <a:ext cx="529800" cy="0"/>
            </a:xfrm>
            <a:prstGeom prst="straightConnector1">
              <a:avLst/>
            </a:prstGeom>
            <a:noFill/>
            <a:ln cap="flat" cmpd="sng" w="9525">
              <a:solidFill>
                <a:srgbClr val="08563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832" name="Google Shape;832;p10"/>
          <p:cNvGrpSpPr/>
          <p:nvPr/>
        </p:nvGrpSpPr>
        <p:grpSpPr>
          <a:xfrm>
            <a:off x="1387200" y="1139354"/>
            <a:ext cx="4094300" cy="861172"/>
            <a:chOff x="3562350" y="909418"/>
            <a:chExt cx="4094300" cy="765282"/>
          </a:xfrm>
        </p:grpSpPr>
        <p:sp>
          <p:nvSpPr>
            <p:cNvPr id="833" name="Google Shape;833;p10"/>
            <p:cNvSpPr txBox="1"/>
            <p:nvPr/>
          </p:nvSpPr>
          <p:spPr>
            <a:xfrm>
              <a:off x="4928450" y="909418"/>
              <a:ext cx="2728200" cy="24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085630"/>
                  </a:solidFill>
                  <a:latin typeface="Roboto"/>
                  <a:ea typeface="Roboto"/>
                  <a:cs typeface="Roboto"/>
                  <a:sym typeface="Roboto"/>
                </a:rPr>
                <a:t>Transformer Model</a:t>
              </a:r>
              <a:endParaRPr b="1" i="0" sz="1100" u="none" cap="none" strike="noStrike">
                <a:solidFill>
                  <a:srgbClr val="08563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34" name="Google Shape;834;p10"/>
            <p:cNvSpPr txBox="1"/>
            <p:nvPr/>
          </p:nvSpPr>
          <p:spPr>
            <a:xfrm>
              <a:off x="4928450" y="1154904"/>
              <a:ext cx="27282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085630"/>
                  </a:solidFill>
                  <a:latin typeface="Roboto"/>
                  <a:ea typeface="Roboto"/>
                  <a:cs typeface="Roboto"/>
                  <a:sym typeface="Roboto"/>
                </a:rPr>
                <a:t>A breakthrough in NLP.</a:t>
              </a:r>
              <a:endParaRPr b="0" i="0" sz="700" u="none" cap="none" strike="noStrike">
                <a:solidFill>
                  <a:srgbClr val="08563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35" name="Google Shape;835;p10"/>
            <p:cNvSpPr txBox="1"/>
            <p:nvPr/>
          </p:nvSpPr>
          <p:spPr>
            <a:xfrm>
              <a:off x="3562350" y="934025"/>
              <a:ext cx="7584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085630"/>
                  </a:solidFill>
                  <a:latin typeface="Roboto"/>
                  <a:ea typeface="Roboto"/>
                  <a:cs typeface="Roboto"/>
                  <a:sym typeface="Roboto"/>
                </a:rPr>
                <a:t>2017</a:t>
              </a:r>
              <a:endParaRPr b="0" i="0" sz="900" u="none" cap="none" strike="noStrike">
                <a:solidFill>
                  <a:srgbClr val="08563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36" name="Google Shape;836;p10"/>
            <p:cNvSpPr/>
            <p:nvPr/>
          </p:nvSpPr>
          <p:spPr>
            <a:xfrm>
              <a:off x="4517125" y="1086100"/>
              <a:ext cx="133500" cy="588600"/>
            </a:xfrm>
            <a:prstGeom prst="rect">
              <a:avLst/>
            </a:prstGeom>
            <a:solidFill>
              <a:srgbClr val="0856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37" name="Google Shape;837;p10"/>
            <p:cNvCxnSpPr/>
            <p:nvPr/>
          </p:nvCxnSpPr>
          <p:spPr>
            <a:xfrm rot="10800000">
              <a:off x="4318975" y="1083450"/>
              <a:ext cx="529800" cy="0"/>
            </a:xfrm>
            <a:prstGeom prst="straightConnector1">
              <a:avLst/>
            </a:prstGeom>
            <a:noFill/>
            <a:ln cap="flat" cmpd="sng" w="9525">
              <a:solidFill>
                <a:srgbClr val="08563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838" name="Google Shape;838;p10"/>
          <p:cNvGrpSpPr/>
          <p:nvPr/>
        </p:nvGrpSpPr>
        <p:grpSpPr>
          <a:xfrm>
            <a:off x="1387200" y="1807229"/>
            <a:ext cx="4094300" cy="861172"/>
            <a:chOff x="3562350" y="909418"/>
            <a:chExt cx="4094300" cy="765282"/>
          </a:xfrm>
        </p:grpSpPr>
        <p:sp>
          <p:nvSpPr>
            <p:cNvPr id="839" name="Google Shape;839;p10"/>
            <p:cNvSpPr txBox="1"/>
            <p:nvPr/>
          </p:nvSpPr>
          <p:spPr>
            <a:xfrm>
              <a:off x="4928450" y="909418"/>
              <a:ext cx="2728200" cy="24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Start of Large Language Models (LLMs)</a:t>
              </a:r>
              <a:endParaRPr b="1" i="0" sz="1100" u="none" cap="none" strike="noStrike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40" name="Google Shape;840;p10"/>
            <p:cNvSpPr txBox="1"/>
            <p:nvPr/>
          </p:nvSpPr>
          <p:spPr>
            <a:xfrm>
              <a:off x="4928450" y="1154904"/>
              <a:ext cx="27282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BERT, GPT etc</a:t>
              </a:r>
              <a:endParaRPr b="0" i="0" sz="700" u="none" cap="none" strike="noStrike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41" name="Google Shape;841;p10"/>
            <p:cNvSpPr txBox="1"/>
            <p:nvPr/>
          </p:nvSpPr>
          <p:spPr>
            <a:xfrm>
              <a:off x="3562350" y="934025"/>
              <a:ext cx="7584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2018</a:t>
              </a:r>
              <a:endParaRPr b="0" i="0" sz="900" u="none" cap="none" strike="noStrike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42" name="Google Shape;842;p10"/>
            <p:cNvSpPr/>
            <p:nvPr/>
          </p:nvSpPr>
          <p:spPr>
            <a:xfrm>
              <a:off x="4517125" y="1086100"/>
              <a:ext cx="133500" cy="588600"/>
            </a:xfrm>
            <a:prstGeom prst="rect">
              <a:avLst/>
            </a:prstGeom>
            <a:solidFill>
              <a:srgbClr val="C2C2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43" name="Google Shape;843;p10"/>
            <p:cNvCxnSpPr/>
            <p:nvPr/>
          </p:nvCxnSpPr>
          <p:spPr>
            <a:xfrm rot="10800000">
              <a:off x="4318975" y="1083450"/>
              <a:ext cx="529800" cy="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844" name="Google Shape;844;p10"/>
          <p:cNvGrpSpPr/>
          <p:nvPr/>
        </p:nvGrpSpPr>
        <p:grpSpPr>
          <a:xfrm>
            <a:off x="1387200" y="2475105"/>
            <a:ext cx="4094300" cy="861172"/>
            <a:chOff x="3562350" y="909418"/>
            <a:chExt cx="4094300" cy="765282"/>
          </a:xfrm>
        </p:grpSpPr>
        <p:sp>
          <p:nvSpPr>
            <p:cNvPr id="845" name="Google Shape;845;p10"/>
            <p:cNvSpPr txBox="1"/>
            <p:nvPr/>
          </p:nvSpPr>
          <p:spPr>
            <a:xfrm>
              <a:off x="4928450" y="909418"/>
              <a:ext cx="2728200" cy="24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Vision Transformers</a:t>
              </a:r>
              <a:endParaRPr b="1" i="0" sz="1100" u="none" cap="none" strike="noStrike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46" name="Google Shape;846;p10"/>
            <p:cNvSpPr txBox="1"/>
            <p:nvPr/>
          </p:nvSpPr>
          <p:spPr>
            <a:xfrm>
              <a:off x="4928450" y="1154904"/>
              <a:ext cx="27282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CLIP, DAL- E</a:t>
              </a:r>
              <a:endParaRPr b="0" i="0" sz="700" u="none" cap="none" strike="noStrike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47" name="Google Shape;847;p10"/>
            <p:cNvSpPr txBox="1"/>
            <p:nvPr/>
          </p:nvSpPr>
          <p:spPr>
            <a:xfrm>
              <a:off x="3562350" y="934025"/>
              <a:ext cx="7584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2021</a:t>
              </a:r>
              <a:endParaRPr b="0" i="0" sz="900" u="none" cap="none" strike="noStrike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48" name="Google Shape;848;p10"/>
            <p:cNvSpPr/>
            <p:nvPr/>
          </p:nvSpPr>
          <p:spPr>
            <a:xfrm>
              <a:off x="4517125" y="1086100"/>
              <a:ext cx="133500" cy="588600"/>
            </a:xfrm>
            <a:prstGeom prst="rect">
              <a:avLst/>
            </a:prstGeom>
            <a:solidFill>
              <a:srgbClr val="C2C2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49" name="Google Shape;849;p10"/>
            <p:cNvCxnSpPr/>
            <p:nvPr/>
          </p:nvCxnSpPr>
          <p:spPr>
            <a:xfrm rot="10800000">
              <a:off x="4318975" y="1083450"/>
              <a:ext cx="529800" cy="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850" name="Google Shape;850;p10"/>
          <p:cNvGrpSpPr/>
          <p:nvPr/>
        </p:nvGrpSpPr>
        <p:grpSpPr>
          <a:xfrm>
            <a:off x="1387200" y="3142980"/>
            <a:ext cx="4094300" cy="861172"/>
            <a:chOff x="3562350" y="909418"/>
            <a:chExt cx="4094300" cy="765282"/>
          </a:xfrm>
        </p:grpSpPr>
        <p:sp>
          <p:nvSpPr>
            <p:cNvPr id="851" name="Google Shape;851;p10"/>
            <p:cNvSpPr txBox="1"/>
            <p:nvPr/>
          </p:nvSpPr>
          <p:spPr>
            <a:xfrm>
              <a:off x="4928450" y="909418"/>
              <a:ext cx="2728200" cy="24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OpenAI ChatGPT</a:t>
              </a:r>
              <a:endParaRPr b="1" i="0" sz="1100" u="none" cap="none" strike="noStrike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52" name="Google Shape;852;p10"/>
            <p:cNvSpPr txBox="1"/>
            <p:nvPr/>
          </p:nvSpPr>
          <p:spPr>
            <a:xfrm>
              <a:off x="4928450" y="1154904"/>
              <a:ext cx="27282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Dialog based LLMs, DALL-E</a:t>
              </a:r>
              <a:endParaRPr b="0" i="0" sz="700" u="none" cap="none" strike="noStrike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53" name="Google Shape;853;p10"/>
            <p:cNvSpPr txBox="1"/>
            <p:nvPr/>
          </p:nvSpPr>
          <p:spPr>
            <a:xfrm>
              <a:off x="3562350" y="934025"/>
              <a:ext cx="7584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2022</a:t>
              </a:r>
              <a:endParaRPr b="0" i="0" sz="900" u="none" cap="none" strike="noStrike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54" name="Google Shape;854;p10"/>
            <p:cNvSpPr/>
            <p:nvPr/>
          </p:nvSpPr>
          <p:spPr>
            <a:xfrm>
              <a:off x="4517125" y="1086100"/>
              <a:ext cx="133500" cy="588600"/>
            </a:xfrm>
            <a:prstGeom prst="rect">
              <a:avLst/>
            </a:prstGeom>
            <a:solidFill>
              <a:srgbClr val="C2C2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55" name="Google Shape;855;p10"/>
            <p:cNvCxnSpPr/>
            <p:nvPr/>
          </p:nvCxnSpPr>
          <p:spPr>
            <a:xfrm rot="10800000">
              <a:off x="4318975" y="1083450"/>
              <a:ext cx="529800" cy="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856" name="Google Shape;856;p10"/>
          <p:cNvGrpSpPr/>
          <p:nvPr/>
        </p:nvGrpSpPr>
        <p:grpSpPr>
          <a:xfrm>
            <a:off x="1387200" y="3810856"/>
            <a:ext cx="4094300" cy="861172"/>
            <a:chOff x="3562350" y="909418"/>
            <a:chExt cx="4094300" cy="765282"/>
          </a:xfrm>
        </p:grpSpPr>
        <p:sp>
          <p:nvSpPr>
            <p:cNvPr id="857" name="Google Shape;857;p10"/>
            <p:cNvSpPr txBox="1"/>
            <p:nvPr/>
          </p:nvSpPr>
          <p:spPr>
            <a:xfrm>
              <a:off x="4928450" y="909418"/>
              <a:ext cx="2728200" cy="24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Diffusion Models</a:t>
              </a:r>
              <a:endParaRPr b="1" i="0" sz="1100" u="none" cap="none" strike="noStrike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58" name="Google Shape;858;p10"/>
            <p:cNvSpPr txBox="1"/>
            <p:nvPr/>
          </p:nvSpPr>
          <p:spPr>
            <a:xfrm>
              <a:off x="4928450" y="1154904"/>
              <a:ext cx="27282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n" sz="700" u="none" cap="none" strike="noStrike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Stable Diffusion, Mid-journey, GPT-4.</a:t>
              </a:r>
              <a:endParaRPr b="0" i="0" sz="700" u="none" cap="none" strike="noStrike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59" name="Google Shape;859;p10"/>
            <p:cNvSpPr txBox="1"/>
            <p:nvPr/>
          </p:nvSpPr>
          <p:spPr>
            <a:xfrm>
              <a:off x="3562350" y="934025"/>
              <a:ext cx="758400" cy="3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2023</a:t>
              </a:r>
              <a:endParaRPr b="0" i="0" sz="900" u="none" cap="none" strike="noStrike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60" name="Google Shape;860;p10"/>
            <p:cNvSpPr/>
            <p:nvPr/>
          </p:nvSpPr>
          <p:spPr>
            <a:xfrm>
              <a:off x="4517125" y="1086100"/>
              <a:ext cx="133500" cy="588600"/>
            </a:xfrm>
            <a:prstGeom prst="rect">
              <a:avLst/>
            </a:prstGeom>
            <a:solidFill>
              <a:srgbClr val="C2C2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61" name="Google Shape;861;p10"/>
            <p:cNvCxnSpPr/>
            <p:nvPr/>
          </p:nvCxnSpPr>
          <p:spPr>
            <a:xfrm rot="10800000">
              <a:off x="4318975" y="1083450"/>
              <a:ext cx="529800" cy="0"/>
            </a:xfrm>
            <a:prstGeom prst="straightConnector1">
              <a:avLst/>
            </a:prstGeom>
            <a:noFill/>
            <a:ln cap="flat" cmpd="sng" w="9525">
              <a:solidFill>
                <a:srgbClr val="C2C2C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3e652085058_0_187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g3e652085058_0_1875"/>
          <p:cNvSpPr/>
          <p:nvPr/>
        </p:nvSpPr>
        <p:spPr>
          <a:xfrm>
            <a:off x="320040" y="73152"/>
            <a:ext cx="850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GPT Lineage — OpenAI's Scaling Story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g3e652085058_0_1875"/>
          <p:cNvSpPr/>
          <p:nvPr/>
        </p:nvSpPr>
        <p:spPr>
          <a:xfrm>
            <a:off x="320040" y="896112"/>
            <a:ext cx="137100" cy="3657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g3e652085058_0_1875"/>
          <p:cNvSpPr/>
          <p:nvPr/>
        </p:nvSpPr>
        <p:spPr>
          <a:xfrm>
            <a:off x="548640" y="850392"/>
            <a:ext cx="164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GPT-1 (2018)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g3e652085058_0_1875"/>
          <p:cNvSpPr/>
          <p:nvPr/>
        </p:nvSpPr>
        <p:spPr>
          <a:xfrm>
            <a:off x="2286000" y="850392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117M params  ·  1B tokens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g3e652085058_0_1875"/>
          <p:cNvSpPr/>
          <p:nvPr/>
        </p:nvSpPr>
        <p:spPr>
          <a:xfrm>
            <a:off x="4663440" y="850392"/>
            <a:ext cx="4206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Unsupervised pre-training + fine-tuning showed viability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g3e652085058_0_1875"/>
          <p:cNvSpPr/>
          <p:nvPr/>
        </p:nvSpPr>
        <p:spPr>
          <a:xfrm>
            <a:off x="320040" y="1508760"/>
            <a:ext cx="333000" cy="3657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g3e652085058_0_1875"/>
          <p:cNvSpPr/>
          <p:nvPr/>
        </p:nvSpPr>
        <p:spPr>
          <a:xfrm>
            <a:off x="744583" y="1463040"/>
            <a:ext cx="164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GPT-2 (2019)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g3e652085058_0_1875"/>
          <p:cNvSpPr/>
          <p:nvPr/>
        </p:nvSpPr>
        <p:spPr>
          <a:xfrm>
            <a:off x="2481943" y="1463040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1.5B params  ·  40B tokens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g3e652085058_0_1875"/>
          <p:cNvSpPr/>
          <p:nvPr/>
        </p:nvSpPr>
        <p:spPr>
          <a:xfrm>
            <a:off x="4663440" y="1463040"/>
            <a:ext cx="4206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"Too dangerous to release" — generated coherent long-form 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g3e652085058_0_1875"/>
          <p:cNvSpPr/>
          <p:nvPr/>
        </p:nvSpPr>
        <p:spPr>
          <a:xfrm>
            <a:off x="320040" y="2121408"/>
            <a:ext cx="528900" cy="3657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g3e652085058_0_1875"/>
          <p:cNvSpPr/>
          <p:nvPr/>
        </p:nvSpPr>
        <p:spPr>
          <a:xfrm>
            <a:off x="940526" y="2075688"/>
            <a:ext cx="164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GPT-3 (2020)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g3e652085058_0_1875"/>
          <p:cNvSpPr/>
          <p:nvPr/>
        </p:nvSpPr>
        <p:spPr>
          <a:xfrm>
            <a:off x="2677886" y="2075688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175B params  ·  300B tokens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g3e652085058_0_1875"/>
          <p:cNvSpPr/>
          <p:nvPr/>
        </p:nvSpPr>
        <p:spPr>
          <a:xfrm>
            <a:off x="4663440" y="2075688"/>
            <a:ext cx="4206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Few-shot learning without fine-tuning; in-context learning emerged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g3e652085058_0_1875"/>
          <p:cNvSpPr/>
          <p:nvPr/>
        </p:nvSpPr>
        <p:spPr>
          <a:xfrm>
            <a:off x="320040" y="2734056"/>
            <a:ext cx="725100" cy="3657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g3e652085058_0_1875"/>
          <p:cNvSpPr/>
          <p:nvPr/>
        </p:nvSpPr>
        <p:spPr>
          <a:xfrm>
            <a:off x="1136469" y="2688336"/>
            <a:ext cx="164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InstructGPT (2022)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g3e652085058_0_1875"/>
          <p:cNvSpPr/>
          <p:nvPr/>
        </p:nvSpPr>
        <p:spPr>
          <a:xfrm>
            <a:off x="2873829" y="2688336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~175B params  ·  +RLHF tokens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g3e652085058_0_1875"/>
          <p:cNvSpPr/>
          <p:nvPr/>
        </p:nvSpPr>
        <p:spPr>
          <a:xfrm>
            <a:off x="4663440" y="2688336"/>
            <a:ext cx="4206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RLHF introduced — aligned to follow instructions safely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g3e652085058_0_1875"/>
          <p:cNvSpPr/>
          <p:nvPr/>
        </p:nvSpPr>
        <p:spPr>
          <a:xfrm>
            <a:off x="320040" y="3346704"/>
            <a:ext cx="921000" cy="3657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g3e652085058_0_1875"/>
          <p:cNvSpPr/>
          <p:nvPr/>
        </p:nvSpPr>
        <p:spPr>
          <a:xfrm>
            <a:off x="1332411" y="3300984"/>
            <a:ext cx="164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GPT-4 (2023)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g3e652085058_0_1875"/>
          <p:cNvSpPr/>
          <p:nvPr/>
        </p:nvSpPr>
        <p:spPr>
          <a:xfrm>
            <a:off x="3069771" y="3300984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~1.8T (est) params  ·  13T tokens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g3e652085058_0_1875"/>
          <p:cNvSpPr/>
          <p:nvPr/>
        </p:nvSpPr>
        <p:spPr>
          <a:xfrm>
            <a:off x="4765968" y="3300984"/>
            <a:ext cx="4206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Multimodal, MMLU top-performer; passes bar exam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g3e652085058_0_1875"/>
          <p:cNvSpPr/>
          <p:nvPr/>
        </p:nvSpPr>
        <p:spPr>
          <a:xfrm>
            <a:off x="320040" y="3959352"/>
            <a:ext cx="1116900" cy="3657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g3e652085058_0_1875"/>
          <p:cNvSpPr/>
          <p:nvPr/>
        </p:nvSpPr>
        <p:spPr>
          <a:xfrm>
            <a:off x="1528354" y="3913632"/>
            <a:ext cx="164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GPT-4o (2024)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g3e652085058_0_1875"/>
          <p:cNvSpPr/>
          <p:nvPr/>
        </p:nvSpPr>
        <p:spPr>
          <a:xfrm>
            <a:off x="3265714" y="3913632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N/A params  ·  N/A tokens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g3e652085058_0_1875"/>
          <p:cNvSpPr/>
          <p:nvPr/>
        </p:nvSpPr>
        <p:spPr>
          <a:xfrm>
            <a:off x="4663440" y="3913632"/>
            <a:ext cx="4206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Omni-model: native speech+vision+text, 2× faster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g3e652085058_0_1875"/>
          <p:cNvSpPr/>
          <p:nvPr/>
        </p:nvSpPr>
        <p:spPr>
          <a:xfrm>
            <a:off x="320040" y="4572000"/>
            <a:ext cx="1312800" cy="3657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g3e652085058_0_1875"/>
          <p:cNvSpPr/>
          <p:nvPr/>
        </p:nvSpPr>
        <p:spPr>
          <a:xfrm>
            <a:off x="1724297" y="4526280"/>
            <a:ext cx="164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o1 / o3 (2025)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g3e652085058_0_1875"/>
          <p:cNvSpPr/>
          <p:nvPr/>
        </p:nvSpPr>
        <p:spPr>
          <a:xfrm>
            <a:off x="3461657" y="4526280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N/A params  ·  N/A tokens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g3e652085058_0_1875"/>
          <p:cNvSpPr/>
          <p:nvPr/>
        </p:nvSpPr>
        <p:spPr>
          <a:xfrm>
            <a:off x="4834320" y="4526280"/>
            <a:ext cx="4206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Chain-of-thought reasoning; competitive math/code scores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e652085058_0_1909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g3e652085058_0_1909"/>
          <p:cNvSpPr/>
          <p:nvPr/>
        </p:nvSpPr>
        <p:spPr>
          <a:xfrm>
            <a:off x="320040" y="73152"/>
            <a:ext cx="850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Open-Source LLM Explosion (2023–2026)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g3e652085058_0_1909"/>
          <p:cNvSpPr/>
          <p:nvPr/>
        </p:nvSpPr>
        <p:spPr>
          <a:xfrm>
            <a:off x="365760" y="868680"/>
            <a:ext cx="4114800" cy="3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🦙 LLaMA 1 (Feb 2023) — Meta released weights; enabled academic/community fine-tuning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🦙 LLaMA 2 (Jul 2023) — Commercializable license; Llama 2-Chat became ChatGPT competitor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🦙 LLaMA 3.1 (2024) — 405B model rivals GPT-4 on benchmarks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🌬 Mistral 7B — Outperforms Llama 2-13B despite 2× fewer params (efficient arch)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🔮 Mixtral 8x7B — Mixture-of-Experts; 2 experts active per token → 12.9B effective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g3e652085058_0_1909"/>
          <p:cNvSpPr/>
          <p:nvPr/>
        </p:nvSpPr>
        <p:spPr>
          <a:xfrm>
            <a:off x="4663440" y="868680"/>
            <a:ext cx="4114800" cy="3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🤗 Hugging Face ecosystem — 500K+ model repos; democratizing AI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🛠 PEFT / LoRA / QLoRA — Fine-tune 7B model on a single GPU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⚡ Ollama / LMStudio — Run LLMs locally on laptop; privacy-first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📦 GGUF quantization — 4-bit models; GPT-3 level on MacBook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🌍 Impact — LLM development no longer only for billion-dollar labs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6" name="Google Shape;906;g3e652085058_0_1909"/>
          <p:cNvCxnSpPr/>
          <p:nvPr/>
        </p:nvCxnSpPr>
        <p:spPr>
          <a:xfrm>
            <a:off x="4572000" y="960120"/>
            <a:ext cx="0" cy="365760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3e652085058_0_191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g3e652085058_0_1918"/>
          <p:cNvSpPr/>
          <p:nvPr/>
        </p:nvSpPr>
        <p:spPr>
          <a:xfrm>
            <a:off x="320040" y="73152"/>
            <a:ext cx="850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2024–2026: Multimodal, Agents &amp; the Agentic Turn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g3e652085058_0_1918"/>
          <p:cNvSpPr/>
          <p:nvPr/>
        </p:nvSpPr>
        <p:spPr>
          <a:xfrm>
            <a:off x="320040" y="804672"/>
            <a:ext cx="2743200" cy="2011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g3e652085058_0_1918"/>
          <p:cNvSpPr/>
          <p:nvPr/>
        </p:nvSpPr>
        <p:spPr>
          <a:xfrm>
            <a:off x="320040" y="804672"/>
            <a:ext cx="2743200" cy="639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g3e652085058_0_1918"/>
          <p:cNvSpPr/>
          <p:nvPr/>
        </p:nvSpPr>
        <p:spPr>
          <a:xfrm>
            <a:off x="457200" y="914400"/>
            <a:ext cx="246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Multimodal LLMs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g3e652085058_0_1918"/>
          <p:cNvSpPr/>
          <p:nvPr/>
        </p:nvSpPr>
        <p:spPr>
          <a:xfrm>
            <a:off x="457200" y="1353312"/>
            <a:ext cx="24690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GPT-4V, Gemini 1.5, Claude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Text + Images + Audio + Video natively. "See" a PDF, hear a question, respond across modalities.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g3e652085058_0_1918"/>
          <p:cNvSpPr/>
          <p:nvPr/>
        </p:nvSpPr>
        <p:spPr>
          <a:xfrm>
            <a:off x="3246120" y="804672"/>
            <a:ext cx="2743200" cy="2011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g3e652085058_0_1918"/>
          <p:cNvSpPr/>
          <p:nvPr/>
        </p:nvSpPr>
        <p:spPr>
          <a:xfrm>
            <a:off x="3246120" y="804672"/>
            <a:ext cx="2743200" cy="639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g3e652085058_0_1918"/>
          <p:cNvSpPr/>
          <p:nvPr/>
        </p:nvSpPr>
        <p:spPr>
          <a:xfrm>
            <a:off x="3383280" y="914400"/>
            <a:ext cx="246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Long Context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g3e652085058_0_1918"/>
          <p:cNvSpPr/>
          <p:nvPr/>
        </p:nvSpPr>
        <p:spPr>
          <a:xfrm>
            <a:off x="3383280" y="1353312"/>
            <a:ext cx="24690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Gemini 1.5 Pro: 1M tokens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= 5 full novels in context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Code repos, legal docs, full videos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g3e652085058_0_1918"/>
          <p:cNvSpPr/>
          <p:nvPr/>
        </p:nvSpPr>
        <p:spPr>
          <a:xfrm>
            <a:off x="6172200" y="804672"/>
            <a:ext cx="2743200" cy="2011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g3e652085058_0_1918"/>
          <p:cNvSpPr/>
          <p:nvPr/>
        </p:nvSpPr>
        <p:spPr>
          <a:xfrm>
            <a:off x="6172200" y="804672"/>
            <a:ext cx="2743200" cy="639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g3e652085058_0_1918"/>
          <p:cNvSpPr/>
          <p:nvPr/>
        </p:nvSpPr>
        <p:spPr>
          <a:xfrm>
            <a:off x="6309360" y="914400"/>
            <a:ext cx="246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AI Agents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g3e652085058_0_1918"/>
          <p:cNvSpPr/>
          <p:nvPr/>
        </p:nvSpPr>
        <p:spPr>
          <a:xfrm>
            <a:off x="6309360" y="1353312"/>
            <a:ext cx="24690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LLMs that plan, use tools, browse web, write+execute code, call APIs. AutoGPT → CrewAI → OpenAI Swarms → Anthropic MCP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g3e652085058_0_1918"/>
          <p:cNvSpPr/>
          <p:nvPr/>
        </p:nvSpPr>
        <p:spPr>
          <a:xfrm>
            <a:off x="320040" y="2999232"/>
            <a:ext cx="2743200" cy="2011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g3e652085058_0_1918"/>
          <p:cNvSpPr/>
          <p:nvPr/>
        </p:nvSpPr>
        <p:spPr>
          <a:xfrm>
            <a:off x="320040" y="2999232"/>
            <a:ext cx="2743200" cy="6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g3e652085058_0_1918"/>
          <p:cNvSpPr/>
          <p:nvPr/>
        </p:nvSpPr>
        <p:spPr>
          <a:xfrm>
            <a:off x="457200" y="3108960"/>
            <a:ext cx="246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SLMs / Edge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g3e652085058_0_1918"/>
          <p:cNvSpPr/>
          <p:nvPr/>
        </p:nvSpPr>
        <p:spPr>
          <a:xfrm>
            <a:off x="457200" y="3547872"/>
            <a:ext cx="24690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Phi-3-mini (3.8B) matches GPT-3.5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On-device models in phones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Apple Intelligence, Gemini Nano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g3e652085058_0_1918"/>
          <p:cNvSpPr/>
          <p:nvPr/>
        </p:nvSpPr>
        <p:spPr>
          <a:xfrm>
            <a:off x="3246120" y="2999232"/>
            <a:ext cx="2743200" cy="2011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g3e652085058_0_1918"/>
          <p:cNvSpPr/>
          <p:nvPr/>
        </p:nvSpPr>
        <p:spPr>
          <a:xfrm>
            <a:off x="3246120" y="2999232"/>
            <a:ext cx="2743200" cy="639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g3e652085058_0_1918"/>
          <p:cNvSpPr/>
          <p:nvPr/>
        </p:nvSpPr>
        <p:spPr>
          <a:xfrm>
            <a:off x="3383280" y="3108960"/>
            <a:ext cx="246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Reasoning Models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g3e652085058_0_1918"/>
          <p:cNvSpPr/>
          <p:nvPr/>
        </p:nvSpPr>
        <p:spPr>
          <a:xfrm>
            <a:off x="3383280" y="3547872"/>
            <a:ext cx="24690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o1/o3 "think before answering"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Internal scratchpad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Competitive math olympiad scores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g3e652085058_0_1918"/>
          <p:cNvSpPr/>
          <p:nvPr/>
        </p:nvSpPr>
        <p:spPr>
          <a:xfrm>
            <a:off x="6172200" y="2999232"/>
            <a:ext cx="2743200" cy="2011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g3e652085058_0_1918"/>
          <p:cNvSpPr/>
          <p:nvPr/>
        </p:nvSpPr>
        <p:spPr>
          <a:xfrm>
            <a:off x="6172200" y="2999232"/>
            <a:ext cx="2743200" cy="63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g3e652085058_0_1918"/>
          <p:cNvSpPr/>
          <p:nvPr/>
        </p:nvSpPr>
        <p:spPr>
          <a:xfrm>
            <a:off x="6309360" y="3108960"/>
            <a:ext cx="246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Vibe Coding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g3e652085058_0_1918"/>
          <p:cNvSpPr/>
          <p:nvPr/>
        </p:nvSpPr>
        <p:spPr>
          <a:xfrm>
            <a:off x="6309360" y="3547872"/>
            <a:ext cx="24690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Claude Code, Cursor, GitHub Copilot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LLMs write entire codebases from prompts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"Programmer" role redefined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3e652085058_0_195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g3e652085058_0_1950"/>
          <p:cNvSpPr/>
          <p:nvPr/>
        </p:nvSpPr>
        <p:spPr>
          <a:xfrm>
            <a:off x="320040" y="73152"/>
            <a:ext cx="850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Traditional DNN vs LLM — High-Level Contrast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g3e652085058_0_1950"/>
          <p:cNvSpPr/>
          <p:nvPr/>
        </p:nvSpPr>
        <p:spPr>
          <a:xfrm>
            <a:off x="320040" y="777240"/>
            <a:ext cx="4114800" cy="41148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g3e652085058_0_1950"/>
          <p:cNvSpPr/>
          <p:nvPr/>
        </p:nvSpPr>
        <p:spPr>
          <a:xfrm>
            <a:off x="4709160" y="777240"/>
            <a:ext cx="4114800" cy="4114800"/>
          </a:xfrm>
          <a:prstGeom prst="rect">
            <a:avLst/>
          </a:prstGeom>
          <a:solidFill>
            <a:srgbClr val="F43F5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g3e652085058_0_1950"/>
          <p:cNvSpPr/>
          <p:nvPr/>
        </p:nvSpPr>
        <p:spPr>
          <a:xfrm>
            <a:off x="320040" y="82296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Traditional DNN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g3e652085058_0_1950"/>
          <p:cNvSpPr/>
          <p:nvPr/>
        </p:nvSpPr>
        <p:spPr>
          <a:xfrm>
            <a:off x="4709160" y="82296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Large Language Model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g3e652085058_0_1950"/>
          <p:cNvSpPr/>
          <p:nvPr/>
        </p:nvSpPr>
        <p:spPr>
          <a:xfrm>
            <a:off x="457200" y="1417320"/>
            <a:ext cx="3840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Task-specific (e.g. classify cats)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g3e652085058_0_1950"/>
          <p:cNvSpPr/>
          <p:nvPr/>
        </p:nvSpPr>
        <p:spPr>
          <a:xfrm>
            <a:off x="457200" y="1856232"/>
            <a:ext cx="3840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Trained per task from scratch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g3e652085058_0_1950"/>
          <p:cNvSpPr/>
          <p:nvPr/>
        </p:nvSpPr>
        <p:spPr>
          <a:xfrm>
            <a:off x="457200" y="2295144"/>
            <a:ext cx="3840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Fixed input/output format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g3e652085058_0_1950"/>
          <p:cNvSpPr/>
          <p:nvPr/>
        </p:nvSpPr>
        <p:spPr>
          <a:xfrm>
            <a:off x="457200" y="2734056"/>
            <a:ext cx="3840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Supervised labels required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g3e652085058_0_1950"/>
          <p:cNvSpPr/>
          <p:nvPr/>
        </p:nvSpPr>
        <p:spPr>
          <a:xfrm>
            <a:off x="457200" y="3172968"/>
            <a:ext cx="3840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Hundreds of MBs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g3e652085058_0_1950"/>
          <p:cNvSpPr/>
          <p:nvPr/>
        </p:nvSpPr>
        <p:spPr>
          <a:xfrm>
            <a:off x="457200" y="3611880"/>
            <a:ext cx="3840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No language understanding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g3e652085058_0_1950"/>
          <p:cNvSpPr/>
          <p:nvPr/>
        </p:nvSpPr>
        <p:spPr>
          <a:xfrm>
            <a:off x="457200" y="4050792"/>
            <a:ext cx="3840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No generalization to new tasks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g3e652085058_0_1950"/>
          <p:cNvSpPr/>
          <p:nvPr/>
        </p:nvSpPr>
        <p:spPr>
          <a:xfrm>
            <a:off x="4846320" y="1417320"/>
            <a:ext cx="3840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General-purpose across tasks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g3e652085058_0_1950"/>
          <p:cNvSpPr/>
          <p:nvPr/>
        </p:nvSpPr>
        <p:spPr>
          <a:xfrm>
            <a:off x="4846320" y="1856232"/>
            <a:ext cx="3840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Pre-trained once, adapt via prompts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g3e652085058_0_1950"/>
          <p:cNvSpPr/>
          <p:nvPr/>
        </p:nvSpPr>
        <p:spPr>
          <a:xfrm>
            <a:off x="4846320" y="2295144"/>
            <a:ext cx="3840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Natural language in/out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g3e652085058_0_1950"/>
          <p:cNvSpPr/>
          <p:nvPr/>
        </p:nvSpPr>
        <p:spPr>
          <a:xfrm>
            <a:off x="4846320" y="2734056"/>
            <a:ext cx="3840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Self-supervised (next token)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g3e652085058_0_1950"/>
          <p:cNvSpPr/>
          <p:nvPr/>
        </p:nvSpPr>
        <p:spPr>
          <a:xfrm>
            <a:off x="4846320" y="3172968"/>
            <a:ext cx="3840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Hundreds of GBs / TBs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g3e652085058_0_1950"/>
          <p:cNvSpPr/>
          <p:nvPr/>
        </p:nvSpPr>
        <p:spPr>
          <a:xfrm>
            <a:off x="4846320" y="3611880"/>
            <a:ext cx="3840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Deep language understanding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g3e652085058_0_1950"/>
          <p:cNvSpPr/>
          <p:nvPr/>
        </p:nvSpPr>
        <p:spPr>
          <a:xfrm>
            <a:off x="4846320" y="4050792"/>
            <a:ext cx="3840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Zero-shot to new tasks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3e652085058_0_197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g3e652085058_0_1974"/>
          <p:cNvSpPr/>
          <p:nvPr/>
        </p:nvSpPr>
        <p:spPr>
          <a:xfrm>
            <a:off x="320040" y="73152"/>
            <a:ext cx="850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Training Paradigm: Supervised vs Self-Supervised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g3e652085058_0_1974"/>
          <p:cNvSpPr/>
          <p:nvPr/>
        </p:nvSpPr>
        <p:spPr>
          <a:xfrm>
            <a:off x="320040" y="822960"/>
            <a:ext cx="4114800" cy="2011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g3e652085058_0_1974"/>
          <p:cNvSpPr/>
          <p:nvPr/>
        </p:nvSpPr>
        <p:spPr>
          <a:xfrm>
            <a:off x="320040" y="822960"/>
            <a:ext cx="4114800" cy="639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g3e652085058_0_1974"/>
          <p:cNvSpPr/>
          <p:nvPr/>
        </p:nvSpPr>
        <p:spPr>
          <a:xfrm>
            <a:off x="457200" y="932688"/>
            <a:ext cx="3840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🏷️ Traditional: Supervised Learning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g3e652085058_0_1974"/>
          <p:cNvSpPr/>
          <p:nvPr/>
        </p:nvSpPr>
        <p:spPr>
          <a:xfrm>
            <a:off x="457200" y="1371600"/>
            <a:ext cx="38406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Requires labeled data: (input, label) pairs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Example: 10,000 cat/dog images labeled by humans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Limitation: Expensive labels; can't scale infinitely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Model: learns f(x) → y for THAT task only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g3e652085058_0_1974"/>
          <p:cNvSpPr/>
          <p:nvPr/>
        </p:nvSpPr>
        <p:spPr>
          <a:xfrm>
            <a:off x="4709160" y="822960"/>
            <a:ext cx="4114800" cy="2011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g3e652085058_0_1974"/>
          <p:cNvSpPr/>
          <p:nvPr/>
        </p:nvSpPr>
        <p:spPr>
          <a:xfrm>
            <a:off x="4709160" y="822960"/>
            <a:ext cx="4114800" cy="639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g3e652085058_0_1974"/>
          <p:cNvSpPr/>
          <p:nvPr/>
        </p:nvSpPr>
        <p:spPr>
          <a:xfrm>
            <a:off x="4846320" y="932688"/>
            <a:ext cx="3840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🔄 LLM: Self-Supervised Learning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g3e652085058_0_1974"/>
          <p:cNvSpPr/>
          <p:nvPr/>
        </p:nvSpPr>
        <p:spPr>
          <a:xfrm>
            <a:off x="4846320" y="1371600"/>
            <a:ext cx="38406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Labels ARE the data. Next token = label.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"The cat sat on the [MASK]" → "mat"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Uses all text on the internet as training signal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Model: learns rich representations of language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g3e652085058_0_1974"/>
          <p:cNvSpPr/>
          <p:nvPr/>
        </p:nvSpPr>
        <p:spPr>
          <a:xfrm>
            <a:off x="320040" y="3017520"/>
            <a:ext cx="8503800" cy="178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g3e652085058_0_1974"/>
          <p:cNvSpPr/>
          <p:nvPr/>
        </p:nvSpPr>
        <p:spPr>
          <a:xfrm>
            <a:off x="320040" y="3017520"/>
            <a:ext cx="8503800" cy="639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g3e652085058_0_1974"/>
          <p:cNvSpPr/>
          <p:nvPr/>
        </p:nvSpPr>
        <p:spPr>
          <a:xfrm>
            <a:off x="457200" y="3127248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🔑 Key Insight — The Scaling Hypothesis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g3e652085058_0_1974"/>
          <p:cNvSpPr/>
          <p:nvPr/>
        </p:nvSpPr>
        <p:spPr>
          <a:xfrm>
            <a:off x="457200" y="3566160"/>
            <a:ext cx="8229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With enough data + compute + parameters, next-token prediction forces the model to internalize all knowledge needed to predict language — including facts, reasoning, and world models. This is why "just predicting the next word" produces such capable systems.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3e652085058_0_199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g3e652085058_0_1992"/>
          <p:cNvSpPr/>
          <p:nvPr/>
        </p:nvSpPr>
        <p:spPr>
          <a:xfrm>
            <a:off x="320040" y="73152"/>
            <a:ext cx="850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Architecture: CNN/RNN vs Transformer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89" name="Google Shape;989;g3e652085058_0_1992"/>
          <p:cNvGraphicFramePr/>
          <p:nvPr/>
        </p:nvGraphicFramePr>
        <p:xfrm>
          <a:off x="320040" y="8046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{CF7AC964-058A-49CF-B518-6342E6411703}</a:tableStyleId>
              </a:tblPr>
              <a:tblGrid>
                <a:gridCol w="1645925"/>
                <a:gridCol w="1371600"/>
                <a:gridCol w="1645925"/>
                <a:gridCol w="3840475"/>
              </a:tblGrid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" sz="1300" u="none" cap="none" strike="noStrike">
                          <a:solidFill>
                            <a:srgbClr val="FFFFFF"/>
                          </a:solidFill>
                        </a:rPr>
                        <a:t>Feature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" sz="1300" u="none" cap="none" strike="noStrike">
                          <a:solidFill>
                            <a:srgbClr val="FFFFFF"/>
                          </a:solidFill>
                        </a:rPr>
                        <a:t>CNN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" sz="1300" u="none" cap="none" strike="noStrike">
                          <a:solidFill>
                            <a:srgbClr val="FFFFFF"/>
                          </a:solidFill>
                        </a:rPr>
                        <a:t>RNN / LSTM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" sz="1300" u="none" cap="none" strike="noStrike">
                          <a:solidFill>
                            <a:srgbClr val="FFFFFF"/>
                          </a:solidFill>
                        </a:rPr>
                        <a:t>Transformer (LLM)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63EB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" sz="1300" u="none" cap="none" strike="noStrike">
                          <a:solidFill>
                            <a:srgbClr val="334155"/>
                          </a:solidFill>
                        </a:rPr>
                        <a:t>Core Op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334155"/>
                          </a:solidFill>
                        </a:rPr>
                        <a:t>Convolution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334155"/>
                          </a:solidFill>
                        </a:rPr>
                        <a:t>Sequential recurrence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D9488"/>
                          </a:solidFill>
                        </a:rPr>
                        <a:t>Self-attention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" sz="1300" u="none" cap="none" strike="noStrike">
                          <a:solidFill>
                            <a:srgbClr val="334155"/>
                          </a:solidFill>
                        </a:rPr>
                        <a:t>Long-range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334155"/>
                          </a:solidFill>
                        </a:rPr>
                        <a:t>Limited by kernel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334155"/>
                          </a:solidFill>
                        </a:rPr>
                        <a:t>Vanishing gradient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D9488"/>
                          </a:solidFill>
                        </a:rPr>
                        <a:t>Full context access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" sz="1300" u="none" cap="none" strike="noStrike">
                          <a:solidFill>
                            <a:srgbClr val="334155"/>
                          </a:solidFill>
                        </a:rPr>
                        <a:t>Parallelism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334155"/>
                          </a:solidFill>
                        </a:rPr>
                        <a:t>High (spatial)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334155"/>
                          </a:solidFill>
                        </a:rPr>
                        <a:t>Low (sequential)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D9488"/>
                          </a:solidFill>
                        </a:rPr>
                        <a:t>High (attention heads)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" sz="1300" u="none" cap="none" strike="noStrike">
                          <a:solidFill>
                            <a:srgbClr val="334155"/>
                          </a:solidFill>
                        </a:rPr>
                        <a:t>Best For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334155"/>
                          </a:solidFill>
                        </a:rPr>
                        <a:t>Images, local patterns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334155"/>
                          </a:solidFill>
                        </a:rPr>
                        <a:t>Time-series, short seq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D9488"/>
                          </a:solidFill>
                        </a:rPr>
                        <a:t>Language, long sequences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" sz="1300" u="none" cap="none" strike="noStrike">
                          <a:solidFill>
                            <a:srgbClr val="334155"/>
                          </a:solidFill>
                        </a:rPr>
                        <a:t>Scale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334155"/>
                          </a:solidFill>
                        </a:rPr>
                        <a:t>Millions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334155"/>
                          </a:solidFill>
                        </a:rPr>
                        <a:t>Millions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D9488"/>
                          </a:solidFill>
                        </a:rPr>
                        <a:t>Billions–Trillions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" sz="1300" u="none" cap="none" strike="noStrike">
                          <a:solidFill>
                            <a:srgbClr val="334155"/>
                          </a:solidFill>
                        </a:rPr>
                        <a:t>In-context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334155"/>
                          </a:solidFill>
                        </a:rPr>
                        <a:t>No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334155"/>
                          </a:solidFill>
                        </a:rPr>
                        <a:t>No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0D9488"/>
                          </a:solidFill>
                        </a:rPr>
                        <a:t>Yes — via prompts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3e652085058_0_1999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g3e652085058_0_1999"/>
          <p:cNvSpPr/>
          <p:nvPr/>
        </p:nvSpPr>
        <p:spPr>
          <a:xfrm>
            <a:off x="320040" y="73152"/>
            <a:ext cx="850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Generalization — The Key LLM Superpower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g3e652085058_0_1999"/>
          <p:cNvSpPr/>
          <p:nvPr/>
        </p:nvSpPr>
        <p:spPr>
          <a:xfrm>
            <a:off x="365760" y="777240"/>
            <a:ext cx="8412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 traditional model trained for sentiment analysis CANNOT translate text. An LLM trained on language can do BOTH — and hundreds of other tasks — with just a prompt change.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g3e652085058_0_1999"/>
          <p:cNvSpPr/>
          <p:nvPr/>
        </p:nvSpPr>
        <p:spPr>
          <a:xfrm>
            <a:off x="320040" y="1554480"/>
            <a:ext cx="2743200" cy="7773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g3e652085058_0_1999"/>
          <p:cNvSpPr/>
          <p:nvPr/>
        </p:nvSpPr>
        <p:spPr>
          <a:xfrm>
            <a:off x="457200" y="1664208"/>
            <a:ext cx="2469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Sentiment Analysis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g3e652085058_0_1999"/>
          <p:cNvSpPr/>
          <p:nvPr/>
        </p:nvSpPr>
        <p:spPr>
          <a:xfrm>
            <a:off x="3246120" y="1554480"/>
            <a:ext cx="2743200" cy="7773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g3e652085058_0_1999"/>
          <p:cNvSpPr/>
          <p:nvPr/>
        </p:nvSpPr>
        <p:spPr>
          <a:xfrm>
            <a:off x="3383280" y="1664208"/>
            <a:ext cx="2469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Translation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g3e652085058_0_1999"/>
          <p:cNvSpPr/>
          <p:nvPr/>
        </p:nvSpPr>
        <p:spPr>
          <a:xfrm>
            <a:off x="6172200" y="1554480"/>
            <a:ext cx="2743200" cy="7773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g3e652085058_0_1999"/>
          <p:cNvSpPr/>
          <p:nvPr/>
        </p:nvSpPr>
        <p:spPr>
          <a:xfrm>
            <a:off x="6309360" y="1664208"/>
            <a:ext cx="2469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Summarization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g3e652085058_0_1999"/>
          <p:cNvSpPr/>
          <p:nvPr/>
        </p:nvSpPr>
        <p:spPr>
          <a:xfrm>
            <a:off x="320040" y="2606040"/>
            <a:ext cx="2743200" cy="7773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g3e652085058_0_1999"/>
          <p:cNvSpPr/>
          <p:nvPr/>
        </p:nvSpPr>
        <p:spPr>
          <a:xfrm>
            <a:off x="457200" y="2715768"/>
            <a:ext cx="2469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Code Generation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g3e652085058_0_1999"/>
          <p:cNvSpPr/>
          <p:nvPr/>
        </p:nvSpPr>
        <p:spPr>
          <a:xfrm>
            <a:off x="3246120" y="2606040"/>
            <a:ext cx="2743200" cy="7773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g3e652085058_0_1999"/>
          <p:cNvSpPr/>
          <p:nvPr/>
        </p:nvSpPr>
        <p:spPr>
          <a:xfrm>
            <a:off x="3383280" y="2715768"/>
            <a:ext cx="2469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Question Answering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g3e652085058_0_1999"/>
          <p:cNvSpPr/>
          <p:nvPr/>
        </p:nvSpPr>
        <p:spPr>
          <a:xfrm>
            <a:off x="6172200" y="2606040"/>
            <a:ext cx="2743200" cy="7773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g3e652085058_0_1999"/>
          <p:cNvSpPr/>
          <p:nvPr/>
        </p:nvSpPr>
        <p:spPr>
          <a:xfrm>
            <a:off x="6309360" y="2715768"/>
            <a:ext cx="2469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Data Extraction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g3e652085058_0_1999"/>
          <p:cNvSpPr/>
          <p:nvPr/>
        </p:nvSpPr>
        <p:spPr>
          <a:xfrm>
            <a:off x="320040" y="3657600"/>
            <a:ext cx="2743200" cy="7773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g3e652085058_0_1999"/>
          <p:cNvSpPr/>
          <p:nvPr/>
        </p:nvSpPr>
        <p:spPr>
          <a:xfrm>
            <a:off x="457200" y="3767328"/>
            <a:ext cx="2469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Creative Writing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g3e652085058_0_1999"/>
          <p:cNvSpPr/>
          <p:nvPr/>
        </p:nvSpPr>
        <p:spPr>
          <a:xfrm>
            <a:off x="3246120" y="3657600"/>
            <a:ext cx="2743200" cy="7773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g3e652085058_0_1999"/>
          <p:cNvSpPr/>
          <p:nvPr/>
        </p:nvSpPr>
        <p:spPr>
          <a:xfrm>
            <a:off x="3383280" y="3767328"/>
            <a:ext cx="2469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Classification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g3e652085058_0_1999"/>
          <p:cNvSpPr/>
          <p:nvPr/>
        </p:nvSpPr>
        <p:spPr>
          <a:xfrm>
            <a:off x="6172200" y="3657600"/>
            <a:ext cx="2743200" cy="7773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g3e652085058_0_1999"/>
          <p:cNvSpPr/>
          <p:nvPr/>
        </p:nvSpPr>
        <p:spPr>
          <a:xfrm>
            <a:off x="6309360" y="3767328"/>
            <a:ext cx="2469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Reasoning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g3e652085058_0_1999"/>
          <p:cNvSpPr/>
          <p:nvPr/>
        </p:nvSpPr>
        <p:spPr>
          <a:xfrm>
            <a:off x="320040" y="4663440"/>
            <a:ext cx="8503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All achieved with a single LLM — no retraining, just prompting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g3e652085058_0_202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g3e652085058_0_2025"/>
          <p:cNvSpPr/>
          <p:nvPr/>
        </p:nvSpPr>
        <p:spPr>
          <a:xfrm>
            <a:off x="320040" y="73152"/>
            <a:ext cx="850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Emergent Capabilities — What Scale Unlocks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g3e652085058_0_2025"/>
          <p:cNvSpPr/>
          <p:nvPr/>
        </p:nvSpPr>
        <p:spPr>
          <a:xfrm>
            <a:off x="365760" y="777240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Emergent abilities are capabilities that appear suddenly at certain scale thresholds — not present in smaller models.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g3e652085058_0_2025"/>
          <p:cNvSpPr/>
          <p:nvPr/>
        </p:nvSpPr>
        <p:spPr>
          <a:xfrm>
            <a:off x="320040" y="1371600"/>
            <a:ext cx="8503800" cy="5943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g3e652085058_0_2025"/>
          <p:cNvSpPr/>
          <p:nvPr/>
        </p:nvSpPr>
        <p:spPr>
          <a:xfrm>
            <a:off x="320040" y="1371600"/>
            <a:ext cx="54900" cy="5943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g3e652085058_0_2025"/>
          <p:cNvSpPr/>
          <p:nvPr/>
        </p:nvSpPr>
        <p:spPr>
          <a:xfrm>
            <a:off x="502920" y="1417320"/>
            <a:ext cx="201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Chain-of-Thought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g3e652085058_0_2025"/>
          <p:cNvSpPr/>
          <p:nvPr/>
        </p:nvSpPr>
        <p:spPr>
          <a:xfrm>
            <a:off x="502920" y="1673352"/>
            <a:ext cx="640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Step-by-step reasoning emerges at ~100B params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g3e652085058_0_2025"/>
          <p:cNvSpPr/>
          <p:nvPr/>
        </p:nvSpPr>
        <p:spPr>
          <a:xfrm>
            <a:off x="7132320" y="1481328"/>
            <a:ext cx="1371600" cy="3657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g3e652085058_0_2025"/>
          <p:cNvSpPr/>
          <p:nvPr/>
        </p:nvSpPr>
        <p:spPr>
          <a:xfrm>
            <a:off x="7132320" y="1499616"/>
            <a:ext cx="1371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100B+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g3e652085058_0_2025"/>
          <p:cNvSpPr/>
          <p:nvPr/>
        </p:nvSpPr>
        <p:spPr>
          <a:xfrm>
            <a:off x="320040" y="2084832"/>
            <a:ext cx="8503800" cy="594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g3e652085058_0_2025"/>
          <p:cNvSpPr/>
          <p:nvPr/>
        </p:nvSpPr>
        <p:spPr>
          <a:xfrm>
            <a:off x="320040" y="2084832"/>
            <a:ext cx="54900" cy="5943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g3e652085058_0_2025"/>
          <p:cNvSpPr/>
          <p:nvPr/>
        </p:nvSpPr>
        <p:spPr>
          <a:xfrm>
            <a:off x="502920" y="2130552"/>
            <a:ext cx="201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Arithmetic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g3e652085058_0_2025"/>
          <p:cNvSpPr/>
          <p:nvPr/>
        </p:nvSpPr>
        <p:spPr>
          <a:xfrm>
            <a:off x="502920" y="2386584"/>
            <a:ext cx="640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Multi-digit arithmetic without calculators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g3e652085058_0_2025"/>
          <p:cNvSpPr/>
          <p:nvPr/>
        </p:nvSpPr>
        <p:spPr>
          <a:xfrm>
            <a:off x="7132320" y="2194560"/>
            <a:ext cx="1371600" cy="3657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g3e652085058_0_2025"/>
          <p:cNvSpPr/>
          <p:nvPr/>
        </p:nvSpPr>
        <p:spPr>
          <a:xfrm>
            <a:off x="7132320" y="2212848"/>
            <a:ext cx="1371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50B+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g3e652085058_0_2025"/>
          <p:cNvSpPr/>
          <p:nvPr/>
        </p:nvSpPr>
        <p:spPr>
          <a:xfrm>
            <a:off x="320040" y="2798064"/>
            <a:ext cx="8503800" cy="5943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g3e652085058_0_2025"/>
          <p:cNvSpPr/>
          <p:nvPr/>
        </p:nvSpPr>
        <p:spPr>
          <a:xfrm>
            <a:off x="320040" y="2798064"/>
            <a:ext cx="54900" cy="5943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g3e652085058_0_2025"/>
          <p:cNvSpPr/>
          <p:nvPr/>
        </p:nvSpPr>
        <p:spPr>
          <a:xfrm>
            <a:off x="502920" y="2843784"/>
            <a:ext cx="201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Code Execution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g3e652085058_0_2025"/>
          <p:cNvSpPr/>
          <p:nvPr/>
        </p:nvSpPr>
        <p:spPr>
          <a:xfrm>
            <a:off x="502920" y="3099816"/>
            <a:ext cx="640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Write + debug code from natural language specs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g3e652085058_0_2025"/>
          <p:cNvSpPr/>
          <p:nvPr/>
        </p:nvSpPr>
        <p:spPr>
          <a:xfrm>
            <a:off x="7132320" y="2907792"/>
            <a:ext cx="1371600" cy="3657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g3e652085058_0_2025"/>
          <p:cNvSpPr/>
          <p:nvPr/>
        </p:nvSpPr>
        <p:spPr>
          <a:xfrm>
            <a:off x="7132320" y="2926080"/>
            <a:ext cx="1371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20B+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g3e652085058_0_2025"/>
          <p:cNvSpPr/>
          <p:nvPr/>
        </p:nvSpPr>
        <p:spPr>
          <a:xfrm>
            <a:off x="320040" y="3511296"/>
            <a:ext cx="8503800" cy="594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g3e652085058_0_2025"/>
          <p:cNvSpPr/>
          <p:nvPr/>
        </p:nvSpPr>
        <p:spPr>
          <a:xfrm>
            <a:off x="320040" y="3511296"/>
            <a:ext cx="54900" cy="5943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g3e652085058_0_2025"/>
          <p:cNvSpPr/>
          <p:nvPr/>
        </p:nvSpPr>
        <p:spPr>
          <a:xfrm>
            <a:off x="502920" y="3557016"/>
            <a:ext cx="201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Instruction Follow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g3e652085058_0_2025"/>
          <p:cNvSpPr/>
          <p:nvPr/>
        </p:nvSpPr>
        <p:spPr>
          <a:xfrm>
            <a:off x="502920" y="3813048"/>
            <a:ext cx="640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Follows complex multi-step instructions reliably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g3e652085058_0_2025"/>
          <p:cNvSpPr/>
          <p:nvPr/>
        </p:nvSpPr>
        <p:spPr>
          <a:xfrm>
            <a:off x="7132320" y="3621024"/>
            <a:ext cx="1371600" cy="3657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g3e652085058_0_2025"/>
          <p:cNvSpPr/>
          <p:nvPr/>
        </p:nvSpPr>
        <p:spPr>
          <a:xfrm>
            <a:off x="7132320" y="3639312"/>
            <a:ext cx="1371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7B+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g3e652085058_0_2025"/>
          <p:cNvSpPr/>
          <p:nvPr/>
        </p:nvSpPr>
        <p:spPr>
          <a:xfrm>
            <a:off x="320040" y="4224528"/>
            <a:ext cx="8503800" cy="5943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g3e652085058_0_2025"/>
          <p:cNvSpPr/>
          <p:nvPr/>
        </p:nvSpPr>
        <p:spPr>
          <a:xfrm>
            <a:off x="320040" y="4224528"/>
            <a:ext cx="54900" cy="5943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g3e652085058_0_2025"/>
          <p:cNvSpPr/>
          <p:nvPr/>
        </p:nvSpPr>
        <p:spPr>
          <a:xfrm>
            <a:off x="502920" y="4270248"/>
            <a:ext cx="201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Theory of Mind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g3e652085058_0_2025"/>
          <p:cNvSpPr/>
          <p:nvPr/>
        </p:nvSpPr>
        <p:spPr>
          <a:xfrm>
            <a:off x="502920" y="4526280"/>
            <a:ext cx="640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Models others' beliefs and intentions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g3e652085058_0_2025"/>
          <p:cNvSpPr/>
          <p:nvPr/>
        </p:nvSpPr>
        <p:spPr>
          <a:xfrm>
            <a:off x="7132320" y="4334256"/>
            <a:ext cx="1371600" cy="3657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g3e652085058_0_2025"/>
          <p:cNvSpPr/>
          <p:nvPr/>
        </p:nvSpPr>
        <p:spPr>
          <a:xfrm>
            <a:off x="7132320" y="4352544"/>
            <a:ext cx="1371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175B+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9" name="Google Shape;1059;g3e652085058_0_14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1046" y="892969"/>
            <a:ext cx="3821906" cy="3357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4" name="Google Shape;1064;g3e652085058_0_14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115" y="296465"/>
            <a:ext cx="7293769" cy="45505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9" name="Google Shape;1069;g3e652085058_0_14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61365"/>
            <a:ext cx="9144001" cy="4820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4" name="Google Shape;1074;g3e652085058_0_14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4556"/>
            <a:ext cx="9144000" cy="4794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9" name="Google Shape;1079;g3e652085058_0_14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1870"/>
            <a:ext cx="9144001" cy="4839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4" name="Google Shape;1084;g3e652085058_0_14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7652"/>
            <a:ext cx="9144001" cy="43681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9" name="Google Shape;1089;g3e652085058_0_14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498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4" name="Google Shape;1094;g3e652085058_0_14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1" cy="500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9" name="Google Shape;1099;g3e652085058_0_14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8772"/>
            <a:ext cx="9144000" cy="51059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4" name="Google Shape;1104;g3e652085058_0_14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77916"/>
            <a:ext cx="9144001" cy="3387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9" name="Google Shape;1109;g3e652085058_0_14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33164"/>
            <a:ext cx="9143999" cy="4477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4" name="Google Shape;1114;g3e652085058_0_14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08281"/>
            <a:ext cx="9144000" cy="4126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9" name="Google Shape;1119;g3e652085058_0_15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590" y="53578"/>
            <a:ext cx="8836819" cy="5036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3e652085058_0_206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g3e652085058_0_2066"/>
          <p:cNvSpPr/>
          <p:nvPr/>
        </p:nvSpPr>
        <p:spPr>
          <a:xfrm>
            <a:off x="320040" y="73152"/>
            <a:ext cx="850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Prompting Matters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g3e652085058_0_2066"/>
          <p:cNvSpPr/>
          <p:nvPr/>
        </p:nvSpPr>
        <p:spPr>
          <a:xfrm>
            <a:off x="320040" y="804672"/>
            <a:ext cx="2560200" cy="14172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g3e652085058_0_2066"/>
          <p:cNvSpPr/>
          <p:nvPr/>
        </p:nvSpPr>
        <p:spPr>
          <a:xfrm>
            <a:off x="320040" y="941832"/>
            <a:ext cx="2560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10×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g3e652085058_0_2066"/>
          <p:cNvSpPr/>
          <p:nvPr/>
        </p:nvSpPr>
        <p:spPr>
          <a:xfrm>
            <a:off x="320040" y="1581912"/>
            <a:ext cx="256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 quality difference between a vague and a well-engineered prompt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g3e652085058_0_2066"/>
          <p:cNvSpPr/>
          <p:nvPr/>
        </p:nvSpPr>
        <p:spPr>
          <a:xfrm>
            <a:off x="3154680" y="804672"/>
            <a:ext cx="2560200" cy="14172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g3e652085058_0_2066"/>
          <p:cNvSpPr/>
          <p:nvPr/>
        </p:nvSpPr>
        <p:spPr>
          <a:xfrm>
            <a:off x="3154680" y="941832"/>
            <a:ext cx="2560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$0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g3e652085058_0_2066"/>
          <p:cNvSpPr/>
          <p:nvPr/>
        </p:nvSpPr>
        <p:spPr>
          <a:xfrm>
            <a:off x="3154680" y="1581912"/>
            <a:ext cx="256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Cost to improve results with better prompting vs fine-tuning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g3e652085058_0_2066"/>
          <p:cNvSpPr/>
          <p:nvPr/>
        </p:nvSpPr>
        <p:spPr>
          <a:xfrm>
            <a:off x="5989320" y="804672"/>
            <a:ext cx="2560200" cy="14172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g3e652085058_0_2066"/>
          <p:cNvSpPr/>
          <p:nvPr/>
        </p:nvSpPr>
        <p:spPr>
          <a:xfrm>
            <a:off x="5989320" y="941832"/>
            <a:ext cx="2560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~95%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g3e652085058_0_2066"/>
          <p:cNvSpPr/>
          <p:nvPr/>
        </p:nvSpPr>
        <p:spPr>
          <a:xfrm>
            <a:off x="5989320" y="1581912"/>
            <a:ext cx="256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Tasks solvable with prompting alone; no retraining needed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g3e652085058_0_2066"/>
          <p:cNvSpPr/>
          <p:nvPr/>
        </p:nvSpPr>
        <p:spPr>
          <a:xfrm>
            <a:off x="365760" y="2377440"/>
            <a:ext cx="8412600" cy="3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Prompting is the new programming — it replaces writing code for many automation tasks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Bad prompt: "Summarize this"  →  vague, inconsistent output every time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Good prompt: "Summarize this contract in 5 bullet points. Focus on obligations, deadlines, and payment terms. Output as JSON."  →  reliable, structured, usable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Prompt engineering is the highest-ROI skill in AI adoption — costs nothing, yields everything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Tools like LangChain, DSPy, and PromptFlow exist entirely to manage and optimize prompts at scale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3e652085058_0_208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g3e652085058_0_2082"/>
          <p:cNvSpPr/>
          <p:nvPr/>
        </p:nvSpPr>
        <p:spPr>
          <a:xfrm>
            <a:off x="320040" y="73152"/>
            <a:ext cx="850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Zero-Shot Prompting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g3e652085058_0_2082"/>
          <p:cNvSpPr/>
          <p:nvPr/>
        </p:nvSpPr>
        <p:spPr>
          <a:xfrm>
            <a:off x="365760" y="777240"/>
            <a:ext cx="841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Ask the model to perform a task without any examples. The model relies purely on pre-trained knowledge.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g3e652085058_0_2082"/>
          <p:cNvSpPr/>
          <p:nvPr/>
        </p:nvSpPr>
        <p:spPr>
          <a:xfrm>
            <a:off x="320040" y="1371600"/>
            <a:ext cx="8503800" cy="3657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g3e652085058_0_2082"/>
          <p:cNvSpPr/>
          <p:nvPr/>
        </p:nvSpPr>
        <p:spPr>
          <a:xfrm>
            <a:off x="457200" y="141732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g3e652085058_0_2082"/>
          <p:cNvSpPr/>
          <p:nvPr/>
        </p:nvSpPr>
        <p:spPr>
          <a:xfrm>
            <a:off x="320040" y="1737360"/>
            <a:ext cx="8503800" cy="12801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g3e652085058_0_2082"/>
          <p:cNvSpPr/>
          <p:nvPr/>
        </p:nvSpPr>
        <p:spPr>
          <a:xfrm>
            <a:off x="457200" y="178308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300"/>
              <a:buFont typeface="Consolas"/>
              <a:buNone/>
            </a:pPr>
            <a:r>
              <a:rPr b="0" i="0" lang="en" sz="13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Classify the sentiment of this review as Positive, Neutral, or Negative: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300"/>
              <a:buFont typeface="Consolas"/>
              <a:buNone/>
            </a:pPr>
            <a:r>
              <a:rPr b="0" i="0" lang="en" sz="13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"The product arrived quickly but the quality was disappointing."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g3e652085058_0_2082"/>
          <p:cNvSpPr/>
          <p:nvPr/>
        </p:nvSpPr>
        <p:spPr>
          <a:xfrm>
            <a:off x="320040" y="3108960"/>
            <a:ext cx="8503800" cy="640200"/>
          </a:xfrm>
          <a:prstGeom prst="rect">
            <a:avLst/>
          </a:prstGeom>
          <a:solidFill>
            <a:srgbClr val="10B981">
              <a:alpha val="1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g3e652085058_0_208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onsolas"/>
              <a:buNone/>
            </a:pPr>
            <a:r>
              <a:rPr b="1" i="0" lang="en" sz="1400" u="none" cap="none" strike="noStrik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Model Output: Negative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g3e652085058_0_2082"/>
          <p:cNvSpPr/>
          <p:nvPr/>
        </p:nvSpPr>
        <p:spPr>
          <a:xfrm>
            <a:off x="365760" y="3840480"/>
            <a:ext cx="8412600" cy="3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Best for: common, well-defined tasks the model has seen during training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Works well with large models (GPT-4, Claude 3, Gemini 1.5)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Can fail on niche, domain-specific, or ambiguous tasks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3e652085058_0_209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g3e652085058_0_2096"/>
          <p:cNvSpPr/>
          <p:nvPr/>
        </p:nvSpPr>
        <p:spPr>
          <a:xfrm>
            <a:off x="320040" y="73152"/>
            <a:ext cx="850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Few-Shot Prompting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g3e652085058_0_2096"/>
          <p:cNvSpPr/>
          <p:nvPr/>
        </p:nvSpPr>
        <p:spPr>
          <a:xfrm>
            <a:off x="365760" y="777240"/>
            <a:ext cx="841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Include 2–5 examples of desired input→output pairs before your actual query. Dramatically improves accuracy.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g3e652085058_0_2096"/>
          <p:cNvSpPr/>
          <p:nvPr/>
        </p:nvSpPr>
        <p:spPr>
          <a:xfrm>
            <a:off x="320040" y="1325880"/>
            <a:ext cx="8503800" cy="3200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g3e652085058_0_2096"/>
          <p:cNvSpPr/>
          <p:nvPr/>
        </p:nvSpPr>
        <p:spPr>
          <a:xfrm>
            <a:off x="457200" y="1389888"/>
            <a:ext cx="82296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300"/>
              <a:buFont typeface="Consolas"/>
              <a:buNone/>
            </a:pPr>
            <a:r>
              <a:rPr b="0" i="0" lang="en" sz="13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Review: "Fast shipping, great product!" → Positive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300"/>
              <a:buFont typeface="Consolas"/>
              <a:buNone/>
            </a:pPr>
            <a:r>
              <a:rPr b="0" i="0" lang="en" sz="13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Review: "It broke after 2 days." → Negative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300"/>
              <a:buFont typeface="Consolas"/>
              <a:buNone/>
            </a:pPr>
            <a:r>
              <a:rPr b="0" i="0" lang="en" sz="13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Review: "Not bad, works as described." → Neutral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300"/>
              <a:buFont typeface="Consolas"/>
              <a:buNone/>
            </a:pPr>
            <a:r>
              <a:rPr b="0" i="0" lang="en" sz="13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Now classify: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300"/>
              <a:buFont typeface="Consolas"/>
              <a:buNone/>
            </a:pPr>
            <a:r>
              <a:rPr b="0" i="0" lang="en" sz="13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Review: "Came late but works perfectly." → 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g3e652085058_0_2096"/>
          <p:cNvSpPr/>
          <p:nvPr/>
        </p:nvSpPr>
        <p:spPr>
          <a:xfrm>
            <a:off x="320040" y="4617720"/>
            <a:ext cx="8503800" cy="365700"/>
          </a:xfrm>
          <a:prstGeom prst="rect">
            <a:avLst/>
          </a:prstGeom>
          <a:solidFill>
            <a:srgbClr val="10B981">
              <a:alpha val="1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g3e652085058_0_2096"/>
          <p:cNvSpPr/>
          <p:nvPr/>
        </p:nvSpPr>
        <p:spPr>
          <a:xfrm>
            <a:off x="457200" y="466344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onsolas"/>
              <a:buNone/>
            </a:pPr>
            <a:r>
              <a:rPr b="1" i="0" lang="en" sz="1300" u="none" cap="none" strike="noStrik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Output: Positive  (model learned the pattern from examples)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g3e652085058_0_210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g3e652085058_0_2107"/>
          <p:cNvSpPr/>
          <p:nvPr/>
        </p:nvSpPr>
        <p:spPr>
          <a:xfrm>
            <a:off x="320040" y="73152"/>
            <a:ext cx="850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Chain-of-Thought (CoT) Prompting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g3e652085058_0_2107"/>
          <p:cNvSpPr/>
          <p:nvPr/>
        </p:nvSpPr>
        <p:spPr>
          <a:xfrm>
            <a:off x="365760" y="777240"/>
            <a:ext cx="841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Instruct the model to reason step by step before giving its final answer. Dramatically improves multi-step reasoning.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g3e652085058_0_2107"/>
          <p:cNvSpPr/>
          <p:nvPr/>
        </p:nvSpPr>
        <p:spPr>
          <a:xfrm>
            <a:off x="320040" y="1371600"/>
            <a:ext cx="4114800" cy="3474600"/>
          </a:xfrm>
          <a:prstGeom prst="rect">
            <a:avLst/>
          </a:prstGeom>
          <a:solidFill>
            <a:srgbClr val="F43F5E">
              <a:alpha val="10200"/>
            </a:srgbClr>
          </a:solidFill>
          <a:ln cap="flat" cmpd="sng" w="1270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g3e652085058_0_2107"/>
          <p:cNvSpPr/>
          <p:nvPr/>
        </p:nvSpPr>
        <p:spPr>
          <a:xfrm>
            <a:off x="457200" y="1417320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43F5E"/>
                </a:solidFill>
                <a:latin typeface="Calibri"/>
                <a:ea typeface="Calibri"/>
                <a:cs typeface="Calibri"/>
                <a:sym typeface="Calibri"/>
              </a:rPr>
              <a:t>❌ Without CoT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g3e652085058_0_2107"/>
          <p:cNvSpPr/>
          <p:nvPr/>
        </p:nvSpPr>
        <p:spPr>
          <a:xfrm>
            <a:off x="457200" y="1783080"/>
            <a:ext cx="38406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Q: A store had 24 apples. They sold 1/3 and then got 15 more. How many now?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onsolas"/>
              <a:buNone/>
            </a:pPr>
            <a:r>
              <a:rPr b="0" i="0" lang="en" sz="120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Model: 24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g3e652085058_0_2107"/>
          <p:cNvSpPr/>
          <p:nvPr/>
        </p:nvSpPr>
        <p:spPr>
          <a:xfrm>
            <a:off x="457200" y="3337560"/>
            <a:ext cx="384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3F5E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43F5E"/>
                </a:solidFill>
                <a:latin typeface="Calibri"/>
                <a:ea typeface="Calibri"/>
                <a:cs typeface="Calibri"/>
                <a:sym typeface="Calibri"/>
              </a:rPr>
              <a:t>Wrong! (correct = 31)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g3e652085058_0_2107"/>
          <p:cNvSpPr/>
          <p:nvPr/>
        </p:nvSpPr>
        <p:spPr>
          <a:xfrm>
            <a:off x="4709160" y="1371600"/>
            <a:ext cx="4114800" cy="3474600"/>
          </a:xfrm>
          <a:prstGeom prst="rect">
            <a:avLst/>
          </a:prstGeom>
          <a:solidFill>
            <a:srgbClr val="10B981">
              <a:alpha val="10200"/>
            </a:srgbClr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g3e652085058_0_2107"/>
          <p:cNvSpPr/>
          <p:nvPr/>
        </p:nvSpPr>
        <p:spPr>
          <a:xfrm>
            <a:off x="4846320" y="1417320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✅ With CoT ("Think step by step")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g3e652085058_0_2107"/>
          <p:cNvSpPr/>
          <p:nvPr/>
        </p:nvSpPr>
        <p:spPr>
          <a:xfrm>
            <a:off x="4846320" y="1783080"/>
            <a:ext cx="3840600" cy="28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Step 1: Start with 24 apples.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Step 2: Sold 1/3 → 24 × 1/3 = 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Step 3: Remaining = 24 - 8 = 16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Step 4: Received 15 more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Step 5: 16 + 15 = 31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Answer: 31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31"/>
          <p:cNvSpPr txBox="1"/>
          <p:nvPr/>
        </p:nvSpPr>
        <p:spPr>
          <a:xfrm>
            <a:off x="2443325" y="3673250"/>
            <a:ext cx="4380300" cy="10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Text Classification</a:t>
            </a:r>
            <a:endParaRPr b="1" i="0" sz="1800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7F6000"/>
                </a:solidFill>
                <a:latin typeface="Roboto"/>
                <a:ea typeface="Roboto"/>
                <a:cs typeface="Roboto"/>
                <a:sym typeface="Roboto"/>
              </a:rPr>
              <a:t>Twitter US Airline Sentiment Analysis</a:t>
            </a:r>
            <a:endParaRPr b="1" i="0" sz="1600" u="none" cap="none" strike="noStrike">
              <a:solidFill>
                <a:srgbClr val="7F6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184" name="Google Shape;1184;p31"/>
          <p:cNvGraphicFramePr/>
          <p:nvPr/>
        </p:nvGraphicFramePr>
        <p:xfrm>
          <a:off x="1013963" y="958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{63C98FC0-1F2D-477D-8DF7-2778A623739D}</a:tableStyleId>
              </a:tblPr>
              <a:tblGrid>
                <a:gridCol w="3745825"/>
                <a:gridCol w="1802925"/>
                <a:gridCol w="16902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 Name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Accuracy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Source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ChatGPT (Zero Shot)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73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sng" cap="none" strike="noStrike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Link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ChatGPT (10 Examples - Few Shot)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80.8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sng" cap="none" strike="noStrike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4"/>
                        </a:rPr>
                        <a:t>Link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ChatGPT (20 Examples - Few Shot)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82.8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sng" cap="none" strike="noStrike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5"/>
                        </a:rPr>
                        <a:t>Link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ChatGPT (30 Examples - Few Shot)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83.0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sng" cap="none" strike="noStrike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6"/>
                        </a:rPr>
                        <a:t>Link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Fine Tuned BERT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84.0</a:t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g3e652085058_0_212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1" name="Google Shape;1191;g3e652085058_0_2121"/>
          <p:cNvSpPr/>
          <p:nvPr/>
        </p:nvSpPr>
        <p:spPr>
          <a:xfrm>
            <a:off x="320040" y="73152"/>
            <a:ext cx="850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Role &amp; Persona Prompting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g3e652085058_0_2121"/>
          <p:cNvSpPr/>
          <p:nvPr/>
        </p:nvSpPr>
        <p:spPr>
          <a:xfrm>
            <a:off x="365760" y="777240"/>
            <a:ext cx="841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Assigning a role to the model dramatically shifts its tone, depth, vocabulary, and priorities.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g3e652085058_0_2121"/>
          <p:cNvSpPr/>
          <p:nvPr/>
        </p:nvSpPr>
        <p:spPr>
          <a:xfrm>
            <a:off x="320040" y="1371600"/>
            <a:ext cx="8503800" cy="7497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g3e652085058_0_2121"/>
          <p:cNvSpPr/>
          <p:nvPr/>
        </p:nvSpPr>
        <p:spPr>
          <a:xfrm>
            <a:off x="457200" y="1444752"/>
            <a:ext cx="137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👨‍⚕️ Doctor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g3e652085058_0_2121"/>
          <p:cNvSpPr/>
          <p:nvPr/>
        </p:nvSpPr>
        <p:spPr>
          <a:xfrm>
            <a:off x="1920240" y="1417320"/>
            <a:ext cx="4389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"You are a licensed physician. Explain the risks of mixing ibuprofen and alcohol."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g3e652085058_0_2121"/>
          <p:cNvSpPr/>
          <p:nvPr/>
        </p:nvSpPr>
        <p:spPr>
          <a:xfrm>
            <a:off x="6492240" y="1463040"/>
            <a:ext cx="224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→ Clinical, cautious, cites guidelines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g3e652085058_0_2121"/>
          <p:cNvSpPr/>
          <p:nvPr/>
        </p:nvSpPr>
        <p:spPr>
          <a:xfrm>
            <a:off x="320040" y="2286000"/>
            <a:ext cx="8503800" cy="749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g3e652085058_0_2121"/>
          <p:cNvSpPr/>
          <p:nvPr/>
        </p:nvSpPr>
        <p:spPr>
          <a:xfrm>
            <a:off x="457200" y="2359152"/>
            <a:ext cx="137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👶 Teacher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g3e652085058_0_2121"/>
          <p:cNvSpPr/>
          <p:nvPr/>
        </p:nvSpPr>
        <p:spPr>
          <a:xfrm>
            <a:off x="1920240" y="2331720"/>
            <a:ext cx="4389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"You are a 5th-grade science teacher. Explain how black holes work."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g3e652085058_0_2121"/>
          <p:cNvSpPr/>
          <p:nvPr/>
        </p:nvSpPr>
        <p:spPr>
          <a:xfrm>
            <a:off x="6492240" y="2377440"/>
            <a:ext cx="224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→ Simple analogies, no jargon, engaging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g3e652085058_0_2121"/>
          <p:cNvSpPr/>
          <p:nvPr/>
        </p:nvSpPr>
        <p:spPr>
          <a:xfrm>
            <a:off x="320040" y="3200400"/>
            <a:ext cx="8503800" cy="7497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g3e652085058_0_2121"/>
          <p:cNvSpPr/>
          <p:nvPr/>
        </p:nvSpPr>
        <p:spPr>
          <a:xfrm>
            <a:off x="457200" y="3273552"/>
            <a:ext cx="137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💼 CFO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g3e652085058_0_2121"/>
          <p:cNvSpPr/>
          <p:nvPr/>
        </p:nvSpPr>
        <p:spPr>
          <a:xfrm>
            <a:off x="1920240" y="3246120"/>
            <a:ext cx="4389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"You are a CFO reviewing a startup pitch deck. Give brutally honest financial feedback."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g3e652085058_0_2121"/>
          <p:cNvSpPr/>
          <p:nvPr/>
        </p:nvSpPr>
        <p:spPr>
          <a:xfrm>
            <a:off x="6492240" y="3291840"/>
            <a:ext cx="224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→ Financial metrics focused, direct, critical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g3e652085058_0_2121"/>
          <p:cNvSpPr/>
          <p:nvPr/>
        </p:nvSpPr>
        <p:spPr>
          <a:xfrm>
            <a:off x="320040" y="4114800"/>
            <a:ext cx="8503800" cy="749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g3e652085058_0_2121"/>
          <p:cNvSpPr/>
          <p:nvPr/>
        </p:nvSpPr>
        <p:spPr>
          <a:xfrm>
            <a:off x="457200" y="4187952"/>
            <a:ext cx="137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🧑‍💻 Hacker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g3e652085058_0_2121"/>
          <p:cNvSpPr/>
          <p:nvPr/>
        </p:nvSpPr>
        <p:spPr>
          <a:xfrm>
            <a:off x="1920240" y="4160520"/>
            <a:ext cx="4389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onsolas"/>
              <a:buNone/>
            </a:pPr>
            <a:r>
              <a:rPr b="0" i="0" lang="en" sz="1100" u="none" cap="none" strike="noStrike">
                <a:solidFill>
                  <a:srgbClr val="334155"/>
                </a:solidFill>
                <a:latin typeface="Consolas"/>
                <a:ea typeface="Consolas"/>
                <a:cs typeface="Consolas"/>
                <a:sym typeface="Consolas"/>
              </a:rPr>
              <a:t>"You are a senior red-team security engineer. Review this code for vulnerabilities."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g3e652085058_0_2121"/>
          <p:cNvSpPr/>
          <p:nvPr/>
        </p:nvSpPr>
        <p:spPr>
          <a:xfrm>
            <a:off x="6492240" y="4206240"/>
            <a:ext cx="2240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→ Finds edge cases, CVE references, adversarial thinking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g3e652085058_0_214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g3e652085058_0_2144"/>
          <p:cNvSpPr/>
          <p:nvPr/>
        </p:nvSpPr>
        <p:spPr>
          <a:xfrm>
            <a:off x="320040" y="73152"/>
            <a:ext cx="850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 Templates, Systems &amp; Engineering Patterns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g3e652085058_0_2144"/>
          <p:cNvSpPr/>
          <p:nvPr/>
        </p:nvSpPr>
        <p:spPr>
          <a:xfrm>
            <a:off x="365760" y="868680"/>
            <a:ext cx="4114800" cy="3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📋 Template Pattern — Parameterize reusable prompts: "Summarize {{document}} in {{n}} bullets targeting {{audience}}"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🔗 Chained Prompts — Break complex tasks into a pipeline: extract → analyze → format → validate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🛡️ Constitutional Prompting — Add constraints/rules: "Never reveal personal data; always cite sources"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🎯 Self-Consistency — Run same prompt N times, take majority vote for reliability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g3e652085058_0_2144"/>
          <p:cNvSpPr/>
          <p:nvPr/>
        </p:nvSpPr>
        <p:spPr>
          <a:xfrm>
            <a:off x="4663440" y="868680"/>
            <a:ext cx="4114800" cy="3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🔍 ReAct (Reason + Act) — Model alternates between reasoning and tool calls: think, act, observe, repeat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📐 Structured Output — Force JSON/XML schema: "Respond ONLY with JSON matching this schema: {name, score, reason}"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🪞 Self-Critique — "Review your previous answer and identify any errors or missing info"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🧩 Meta-Prompting — Ask the model to write a better prompt for itself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8" name="Google Shape;1218;g3e652085058_0_2144"/>
          <p:cNvCxnSpPr/>
          <p:nvPr/>
        </p:nvCxnSpPr>
        <p:spPr>
          <a:xfrm>
            <a:off x="4572000" y="960120"/>
            <a:ext cx="0" cy="365760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3" name="Google Shape;1223;g3e652085058_0_15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3281"/>
            <a:ext cx="9144002" cy="4976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" name="Google Shape;1228;g3e652085058_0_15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06" y="225028"/>
            <a:ext cx="9043988" cy="46934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3" name="Google Shape;1233;g3e652085058_0_15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890" y="500063"/>
            <a:ext cx="8608219" cy="414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8" name="Google Shape;1238;g3e652085058_0_15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613" y="600075"/>
            <a:ext cx="8486775" cy="394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3" name="Google Shape;1243;g3e652085058_0_15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159" y="628650"/>
            <a:ext cx="8879681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8" name="Google Shape;1248;g3e652085058_0_15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2232"/>
            <a:ext cx="9144000" cy="4759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23"/>
          <p:cNvSpPr txBox="1"/>
          <p:nvPr/>
        </p:nvSpPr>
        <p:spPr>
          <a:xfrm>
            <a:off x="2986650" y="4114350"/>
            <a:ext cx="31707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Using Large Language Models </a:t>
            </a:r>
            <a:endParaRPr b="1" i="1" sz="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4" name="Google Shape;1254;p23"/>
          <p:cNvSpPr/>
          <p:nvPr/>
        </p:nvSpPr>
        <p:spPr>
          <a:xfrm>
            <a:off x="1333050" y="1764900"/>
            <a:ext cx="2490900" cy="1613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Zero Shot Learning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 further training of the model on a task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5" name="Google Shape;1255;p23"/>
          <p:cNvSpPr/>
          <p:nvPr/>
        </p:nvSpPr>
        <p:spPr>
          <a:xfrm>
            <a:off x="5277550" y="1764900"/>
            <a:ext cx="2490900" cy="1613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Fine Tuning LLMs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Further training of the task or domain specific data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g3e652085058_0_215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g3e652085058_0_2156"/>
          <p:cNvSpPr/>
          <p:nvPr/>
        </p:nvSpPr>
        <p:spPr>
          <a:xfrm>
            <a:off x="320040" y="73152"/>
            <a:ext cx="850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Zero-Shot Learning — Deep Dive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g3e652085058_0_2156"/>
          <p:cNvSpPr/>
          <p:nvPr/>
        </p:nvSpPr>
        <p:spPr>
          <a:xfrm>
            <a:off x="320040" y="804672"/>
            <a:ext cx="8503800" cy="100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g3e652085058_0_2156"/>
          <p:cNvSpPr/>
          <p:nvPr/>
        </p:nvSpPr>
        <p:spPr>
          <a:xfrm>
            <a:off x="320040" y="804672"/>
            <a:ext cx="8503800" cy="6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g3e652085058_0_2156"/>
          <p:cNvSpPr/>
          <p:nvPr/>
        </p:nvSpPr>
        <p:spPr>
          <a:xfrm>
            <a:off x="457200" y="91440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📖 Definition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g3e652085058_0_2156"/>
          <p:cNvSpPr/>
          <p:nvPr/>
        </p:nvSpPr>
        <p:spPr>
          <a:xfrm>
            <a:off x="457200" y="1353312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Zero-shot = using the pre-trained LLM with no task-specific examples or parameter updates. The model applies its general knowledge to a new task purely through the prompt instruction.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g3e652085058_0_2156"/>
          <p:cNvSpPr/>
          <p:nvPr/>
        </p:nvSpPr>
        <p:spPr>
          <a:xfrm>
            <a:off x="365760" y="1965960"/>
            <a:ext cx="8412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Calibri"/>
              <a:buNone/>
            </a:pPr>
            <a:r>
              <a:rPr b="1" i="0" lang="en" sz="15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When to use Zero-Shot: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g3e652085058_0_2156"/>
          <p:cNvSpPr/>
          <p:nvPr/>
        </p:nvSpPr>
        <p:spPr>
          <a:xfrm>
            <a:off x="365760" y="2395728"/>
            <a:ext cx="8412600" cy="3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✅ Task is common and well-represented in training data (summarization, translation, classification)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✅ You need a quick prototype or don't have labeled examples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✅ Using a frontier model (GPT-4, Claude 3.5, Gemini 1.5) — they generalize extremely well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❌ Avoid for highly specialized domains (medical coding, proprietary jargon, niche legal formats)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❌ Avoid when consistent structured output format is critical in production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3e652085058_0_216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g3e652085058_0_2168"/>
          <p:cNvSpPr/>
          <p:nvPr/>
        </p:nvSpPr>
        <p:spPr>
          <a:xfrm>
            <a:off x="320040" y="73152"/>
            <a:ext cx="850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Supervised Fine-Tuning (SFT) — Deep Dive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g3e652085058_0_2168"/>
          <p:cNvSpPr/>
          <p:nvPr/>
        </p:nvSpPr>
        <p:spPr>
          <a:xfrm>
            <a:off x="365760" y="777240"/>
            <a:ext cx="841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Fine-tuning updates the model's weights on a curated dataset of (prompt, ideal_response) pairs for your specific task.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g3e652085058_0_2168"/>
          <p:cNvSpPr/>
          <p:nvPr/>
        </p:nvSpPr>
        <p:spPr>
          <a:xfrm>
            <a:off x="320040" y="1417320"/>
            <a:ext cx="1600200" cy="3291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g3e652085058_0_2168"/>
          <p:cNvSpPr/>
          <p:nvPr/>
        </p:nvSpPr>
        <p:spPr>
          <a:xfrm>
            <a:off x="320040" y="1508760"/>
            <a:ext cx="160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g3e652085058_0_2168"/>
          <p:cNvSpPr/>
          <p:nvPr/>
        </p:nvSpPr>
        <p:spPr>
          <a:xfrm>
            <a:off x="393192" y="2103120"/>
            <a:ext cx="1463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Collect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g3e652085058_0_2168"/>
          <p:cNvSpPr/>
          <p:nvPr/>
        </p:nvSpPr>
        <p:spPr>
          <a:xfrm>
            <a:off x="393192" y="2578608"/>
            <a:ext cx="14631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Curate 1K–100K (prompt, response) pairs. Quality &gt; quantity — noisy data hurts.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g3e652085058_0_2168"/>
          <p:cNvSpPr/>
          <p:nvPr/>
        </p:nvSpPr>
        <p:spPr>
          <a:xfrm>
            <a:off x="2057400" y="1417320"/>
            <a:ext cx="1600200" cy="32919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g3e652085058_0_2168"/>
          <p:cNvSpPr/>
          <p:nvPr/>
        </p:nvSpPr>
        <p:spPr>
          <a:xfrm>
            <a:off x="2057400" y="1508760"/>
            <a:ext cx="160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3" name="Google Shape;1283;g3e652085058_0_2168"/>
          <p:cNvSpPr/>
          <p:nvPr/>
        </p:nvSpPr>
        <p:spPr>
          <a:xfrm>
            <a:off x="2130552" y="2103120"/>
            <a:ext cx="1463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Choose Base Model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4" name="Google Shape;1284;g3e652085058_0_2168"/>
          <p:cNvSpPr/>
          <p:nvPr/>
        </p:nvSpPr>
        <p:spPr>
          <a:xfrm>
            <a:off x="2130552" y="2578608"/>
            <a:ext cx="14631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LLaMA 3.1, Mistral, GPT-3.5-turbo. Larger base = better ceiling but more cost.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g3e652085058_0_2168"/>
          <p:cNvSpPr/>
          <p:nvPr/>
        </p:nvSpPr>
        <p:spPr>
          <a:xfrm>
            <a:off x="3794760" y="1417320"/>
            <a:ext cx="1600200" cy="32919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g3e652085058_0_2168"/>
          <p:cNvSpPr/>
          <p:nvPr/>
        </p:nvSpPr>
        <p:spPr>
          <a:xfrm>
            <a:off x="3794760" y="1508760"/>
            <a:ext cx="160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g3e652085058_0_2168"/>
          <p:cNvSpPr/>
          <p:nvPr/>
        </p:nvSpPr>
        <p:spPr>
          <a:xfrm>
            <a:off x="3867912" y="2103120"/>
            <a:ext cx="1463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Configure Training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g3e652085058_0_2168"/>
          <p:cNvSpPr/>
          <p:nvPr/>
        </p:nvSpPr>
        <p:spPr>
          <a:xfrm>
            <a:off x="3867912" y="2578608"/>
            <a:ext cx="14631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Learning rate, epochs, batch size. Use PEFT/LoRA to reduce compute 10–100×.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g3e652085058_0_2168"/>
          <p:cNvSpPr/>
          <p:nvPr/>
        </p:nvSpPr>
        <p:spPr>
          <a:xfrm>
            <a:off x="5532120" y="1417320"/>
            <a:ext cx="1600200" cy="329190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g3e652085058_0_2168"/>
          <p:cNvSpPr/>
          <p:nvPr/>
        </p:nvSpPr>
        <p:spPr>
          <a:xfrm>
            <a:off x="5532120" y="1508760"/>
            <a:ext cx="160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g3e652085058_0_2168"/>
          <p:cNvSpPr/>
          <p:nvPr/>
        </p:nvSpPr>
        <p:spPr>
          <a:xfrm>
            <a:off x="5605272" y="2103120"/>
            <a:ext cx="1463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g3e652085058_0_2168"/>
          <p:cNvSpPr/>
          <p:nvPr/>
        </p:nvSpPr>
        <p:spPr>
          <a:xfrm>
            <a:off x="5605272" y="2578608"/>
            <a:ext cx="14631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Benchmark on held-out test set. Compare to zero-shot baseline. Check for catastrophic forgetting.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g3e652085058_0_2168"/>
          <p:cNvSpPr/>
          <p:nvPr/>
        </p:nvSpPr>
        <p:spPr>
          <a:xfrm>
            <a:off x="7269480" y="1417320"/>
            <a:ext cx="1600200" cy="3291900"/>
          </a:xfrm>
          <a:prstGeom prst="rect">
            <a:avLst/>
          </a:prstGeom>
          <a:solidFill>
            <a:srgbClr val="F43F5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g3e652085058_0_2168"/>
          <p:cNvSpPr/>
          <p:nvPr/>
        </p:nvSpPr>
        <p:spPr>
          <a:xfrm>
            <a:off x="7269480" y="1508760"/>
            <a:ext cx="160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g3e652085058_0_2168"/>
          <p:cNvSpPr/>
          <p:nvPr/>
        </p:nvSpPr>
        <p:spPr>
          <a:xfrm>
            <a:off x="7342632" y="2103120"/>
            <a:ext cx="1463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g3e652085058_0_2168"/>
          <p:cNvSpPr/>
          <p:nvPr/>
        </p:nvSpPr>
        <p:spPr>
          <a:xfrm>
            <a:off x="7342632" y="2578608"/>
            <a:ext cx="14631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Serve via vLLM / TGI / API. Monitor drift and retrain periodically.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g3e652085058_0_219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g3e652085058_0_2195"/>
          <p:cNvSpPr/>
          <p:nvPr/>
        </p:nvSpPr>
        <p:spPr>
          <a:xfrm>
            <a:off x="320040" y="73152"/>
            <a:ext cx="8503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LoRA &amp; PEFT — Efficient Fine-Tuning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g3e652085058_0_2195"/>
          <p:cNvSpPr/>
          <p:nvPr/>
        </p:nvSpPr>
        <p:spPr>
          <a:xfrm>
            <a:off x="320040" y="804672"/>
            <a:ext cx="8503800" cy="1097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g3e652085058_0_2195"/>
          <p:cNvSpPr/>
          <p:nvPr/>
        </p:nvSpPr>
        <p:spPr>
          <a:xfrm>
            <a:off x="320040" y="804672"/>
            <a:ext cx="8503800" cy="63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g3e652085058_0_2195"/>
          <p:cNvSpPr/>
          <p:nvPr/>
        </p:nvSpPr>
        <p:spPr>
          <a:xfrm>
            <a:off x="457200" y="91440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🔬 Why PEFT?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g3e652085058_0_2195"/>
          <p:cNvSpPr/>
          <p:nvPr/>
        </p:nvSpPr>
        <p:spPr>
          <a:xfrm>
            <a:off x="457200" y="1353312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Full fine-tuning a 70B model requires 8× A100 80GB GPUs for days ($5K+). PEFT (Parameter-Efficient Fine-Tuning) methods train a tiny fraction of parameters, achieving 95%+ of full fine-tune quality at 1/100th the cost.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g3e652085058_0_2195"/>
          <p:cNvSpPr/>
          <p:nvPr/>
        </p:nvSpPr>
        <p:spPr>
          <a:xfrm>
            <a:off x="320040" y="2057400"/>
            <a:ext cx="411480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g3e652085058_0_2195"/>
          <p:cNvSpPr/>
          <p:nvPr/>
        </p:nvSpPr>
        <p:spPr>
          <a:xfrm>
            <a:off x="320040" y="2057400"/>
            <a:ext cx="4114800" cy="639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g3e652085058_0_2195"/>
          <p:cNvSpPr/>
          <p:nvPr/>
        </p:nvSpPr>
        <p:spPr>
          <a:xfrm>
            <a:off x="457200" y="2167128"/>
            <a:ext cx="3840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🔧 LoRA (Low-Rank Adaptation)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g3e652085058_0_2195"/>
          <p:cNvSpPr/>
          <p:nvPr/>
        </p:nvSpPr>
        <p:spPr>
          <a:xfrm>
            <a:off x="457200" y="2606040"/>
            <a:ext cx="3840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Instead of updating full weight matrix W, train two small matrices A and B where W' = W + AB. Typically 0.1–1% of total params trained. Works on any linear layer. Merge at inference = zero latency overhead.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g3e652085058_0_2195"/>
          <p:cNvSpPr/>
          <p:nvPr/>
        </p:nvSpPr>
        <p:spPr>
          <a:xfrm>
            <a:off x="4709160" y="2057400"/>
            <a:ext cx="411480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g3e652085058_0_2195"/>
          <p:cNvSpPr/>
          <p:nvPr/>
        </p:nvSpPr>
        <p:spPr>
          <a:xfrm>
            <a:off x="4709160" y="2057400"/>
            <a:ext cx="4114800" cy="639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4" name="Google Shape;1314;g3e652085058_0_2195"/>
          <p:cNvSpPr/>
          <p:nvPr/>
        </p:nvSpPr>
        <p:spPr>
          <a:xfrm>
            <a:off x="4846320" y="2167128"/>
            <a:ext cx="3840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⚡ QLoRA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g3e652085058_0_2195"/>
          <p:cNvSpPr/>
          <p:nvPr/>
        </p:nvSpPr>
        <p:spPr>
          <a:xfrm>
            <a:off x="4846320" y="2606040"/>
            <a:ext cx="3840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LoRA + quantization: load the base model in 4-bit NF4 format, saving 4–8× memory. Fine-tune a 70B model on a single A100 GPU. Benchmark: within 1–2% of full fine-tune. Key paper: Dettmers et al., 2023.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g3e652085058_0_2195"/>
          <p:cNvSpPr/>
          <p:nvPr/>
        </p:nvSpPr>
        <p:spPr>
          <a:xfrm>
            <a:off x="320040" y="4023360"/>
            <a:ext cx="8503800" cy="86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g3e652085058_0_2195"/>
          <p:cNvSpPr/>
          <p:nvPr/>
        </p:nvSpPr>
        <p:spPr>
          <a:xfrm>
            <a:off x="320040" y="4023360"/>
            <a:ext cx="8503800" cy="639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g3e652085058_0_2195"/>
          <p:cNvSpPr/>
          <p:nvPr/>
        </p:nvSpPr>
        <p:spPr>
          <a:xfrm>
            <a:off x="457200" y="4133088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📊 Real-World Cost Comparison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9" name="Google Shape;1319;g3e652085058_0_2195"/>
          <p:cNvSpPr/>
          <p:nvPr/>
        </p:nvSpPr>
        <p:spPr>
          <a:xfrm>
            <a:off x="457200" y="4572000"/>
            <a:ext cx="822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Full fine-tune 7B model: ~$200, 8 hours on 4× A100  |  QLoRA 7B: ~$8, 2 hours on 1× A100  |  QLoRA 70B: ~$50, 4 hours on 1× A100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